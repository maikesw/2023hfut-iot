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1" r:id="rId2"/>
    <p:sldId id="285" r:id="rId3"/>
    <p:sldId id="286" r:id="rId4"/>
    <p:sldId id="287" r:id="rId5"/>
    <p:sldId id="288" r:id="rId6"/>
    <p:sldId id="289" r:id="rId7"/>
    <p:sldId id="271" r:id="rId8"/>
    <p:sldId id="281" r:id="rId9"/>
    <p:sldId id="282" r:id="rId10"/>
    <p:sldId id="283" r:id="rId11"/>
    <p:sldId id="28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65" userDrawn="1">
          <p15:clr>
            <a:srgbClr val="A4A3A4"/>
          </p15:clr>
        </p15:guide>
        <p15:guide id="4" orient="horz" pos="3339" userDrawn="1">
          <p15:clr>
            <a:srgbClr val="A4A3A4"/>
          </p15:clr>
        </p15:guide>
        <p15:guide id="5" pos="7083" userDrawn="1">
          <p15:clr>
            <a:srgbClr val="A4A3A4"/>
          </p15:clr>
        </p15:guide>
        <p15:guide id="6" pos="937" userDrawn="1">
          <p15:clr>
            <a:srgbClr val="A4A3A4"/>
          </p15:clr>
        </p15:guide>
        <p15:guide id="7" orient="horz" pos="39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C8F2"/>
    <a:srgbClr val="185EDA"/>
    <a:srgbClr val="FFFFFF"/>
    <a:srgbClr val="B3CBF7"/>
    <a:srgbClr val="EE7A5D"/>
    <a:srgbClr val="248DE4"/>
    <a:srgbClr val="07B2C4"/>
    <a:srgbClr val="F47121"/>
    <a:srgbClr val="FCBA03"/>
    <a:srgbClr val="814F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135D4-2FB4-44CA-9090-F09B9F18EE20}" v="3" dt="2022-01-27T09:12:38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276" autoAdjust="0"/>
  </p:normalViewPr>
  <p:slideViewPr>
    <p:cSldViewPr snapToGrid="0" showGuides="1">
      <p:cViewPr varScale="1">
        <p:scale>
          <a:sx n="70" d="100"/>
          <a:sy n="70" d="100"/>
        </p:scale>
        <p:origin x="970" y="53"/>
      </p:cViewPr>
      <p:guideLst>
        <p:guide orient="horz" pos="686"/>
        <p:guide pos="3840"/>
        <p:guide pos="665"/>
        <p:guide orient="horz" pos="3339"/>
        <p:guide pos="7083"/>
        <p:guide pos="937"/>
        <p:guide orient="horz" pos="392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9B4C7F-CBA3-4DBA-BE38-84CE3FD6C2BD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A6748-8D59-4824-B9F4-DCA41D8664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903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A6748-8D59-4824-B9F4-DCA41D8664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222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身着宇航服的宇航员在白色的未来派隧道">
            <a:extLst>
              <a:ext uri="{FF2B5EF4-FFF2-40B4-BE49-F238E27FC236}">
                <a16:creationId xmlns:a16="http://schemas.microsoft.com/office/drawing/2014/main" id="{362AB12E-6471-4319-BFDF-17B7F5DCB4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3" t="22820" r="36765" b="382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1558993-62AE-4EDD-BA78-BC7428B5B6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FAE2F-E712-4C15-9E7E-4D828CB31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562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32283B-1E60-4DD0-B94E-F9607B142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FAE2F-E712-4C15-9E7E-4D828CB31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87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房间的摆设布局&#10;&#10;中度可信度描述已自动生成">
            <a:extLst>
              <a:ext uri="{FF2B5EF4-FFF2-40B4-BE49-F238E27FC236}">
                <a16:creationId xmlns:a16="http://schemas.microsoft.com/office/drawing/2014/main" id="{7CE97D0E-6843-4EEA-BEAD-8CD9A1187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A8FA06-D177-4B0C-9126-5CDF7CA32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356350"/>
            <a:ext cx="2743200" cy="365125"/>
          </a:xfrm>
        </p:spPr>
        <p:txBody>
          <a:bodyPr/>
          <a:lstStyle/>
          <a:p>
            <a:fld id="{A25FAE2F-E712-4C15-9E7E-4D828CB31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264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身着宇航服的宇航员在白色的未来派隧道">
            <a:extLst>
              <a:ext uri="{FF2B5EF4-FFF2-40B4-BE49-F238E27FC236}">
                <a16:creationId xmlns:a16="http://schemas.microsoft.com/office/drawing/2014/main" id="{134D1D8F-072D-441A-B3F5-87BC0A9303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" t="52066" r="58240" b="15505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A26594-A885-4933-9219-C4CC8980A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13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FAE2F-E712-4C15-9E7E-4D828CB31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803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49" r:id="rId2"/>
    <p:sldLayoutId id="2147483650" r:id="rId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5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A1EF522-E357-4D8F-B608-3E48DB1F4731}"/>
              </a:ext>
            </a:extLst>
          </p:cNvPr>
          <p:cNvGrpSpPr/>
          <p:nvPr/>
        </p:nvGrpSpPr>
        <p:grpSpPr>
          <a:xfrm>
            <a:off x="124227" y="446024"/>
            <a:ext cx="1308333" cy="576829"/>
            <a:chOff x="124227" y="446024"/>
            <a:chExt cx="1477187" cy="576829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D5B2285C-F6CC-4F9D-B42C-573328AEEF50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478F9723-D8DF-4482-A80D-D1010DA825EA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C1706735-14DE-485D-A9CE-7B3CD3F97DA6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E85E13D7-4BF2-4C04-9005-B020C5653556}"/>
              </a:ext>
            </a:extLst>
          </p:cNvPr>
          <p:cNvSpPr txBox="1"/>
          <p:nvPr/>
        </p:nvSpPr>
        <p:spPr>
          <a:xfrm>
            <a:off x="1387824" y="140317"/>
            <a:ext cx="32944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+mj-ea"/>
                <a:ea typeface="+mj-ea"/>
              </a:defRPr>
            </a:lvl1pPr>
          </a:lstStyle>
          <a:p>
            <a:r>
              <a:rPr lang="en-US" altLang="zh-CN" dirty="0"/>
              <a:t>DEFINITION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5AA344-A0C1-433D-B80A-4D142EA96CDE}"/>
              </a:ext>
            </a:extLst>
          </p:cNvPr>
          <p:cNvSpPr txBox="1"/>
          <p:nvPr/>
        </p:nvSpPr>
        <p:spPr>
          <a:xfrm>
            <a:off x="1341914" y="449513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+mj-ea"/>
                <a:ea typeface="+mj-ea"/>
              </a:rPr>
              <a:t>一、概述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A3319E-E604-4F22-881E-33E725033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FB99BB-C1B6-F5F6-2512-7B7AC2F7B36D}"/>
              </a:ext>
            </a:extLst>
          </p:cNvPr>
          <p:cNvSpPr txBox="1"/>
          <p:nvPr/>
        </p:nvSpPr>
        <p:spPr>
          <a:xfrm>
            <a:off x="865747" y="1212770"/>
            <a:ext cx="962950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深度学习特征提取</a:t>
            </a:r>
            <a:endParaRPr lang="zh-CN" altLang="zh-CN" sz="2400" dirty="0"/>
          </a:p>
          <a:p>
            <a:r>
              <a:rPr lang="zh-CN" altLang="zh-CN" sz="2400" dirty="0"/>
              <a:t>我们使用预训练的</a:t>
            </a:r>
            <a:r>
              <a:rPr lang="en-US" altLang="zh-CN" sz="2400" dirty="0"/>
              <a:t>ResNet18</a:t>
            </a:r>
            <a:r>
              <a:rPr lang="zh-CN" altLang="zh-CN" sz="2400" dirty="0"/>
              <a:t>模型作为特征提取器。</a:t>
            </a:r>
            <a:r>
              <a:rPr lang="en-US" altLang="zh-CN" sz="2400" dirty="0" err="1"/>
              <a:t>ResNet</a:t>
            </a:r>
            <a:r>
              <a:rPr lang="zh-CN" altLang="zh-CN" sz="2400" dirty="0"/>
              <a:t>（残差网络）是一种深度卷积神经网络架构，通过引入残差连接解决了深层网络训练中的梯度消失问题。具体实现中：</a:t>
            </a:r>
          </a:p>
          <a:p>
            <a:r>
              <a:rPr lang="zh-CN" altLang="zh-CN" sz="2400" dirty="0"/>
              <a:t>使用</a:t>
            </a:r>
            <a:r>
              <a:rPr lang="en-US" altLang="zh-CN" sz="2400" dirty="0" err="1"/>
              <a:t>PyTorch</a:t>
            </a:r>
            <a:r>
              <a:rPr lang="zh-CN" altLang="zh-CN" sz="2400" dirty="0"/>
              <a:t>框架加载预训练的</a:t>
            </a:r>
            <a:r>
              <a:rPr lang="en-US" altLang="zh-CN" sz="2400" dirty="0"/>
              <a:t>ResNet18</a:t>
            </a:r>
            <a:r>
              <a:rPr lang="zh-CN" altLang="zh-CN" sz="2400" dirty="0"/>
              <a:t>模型</a:t>
            </a:r>
          </a:p>
          <a:p>
            <a:r>
              <a:rPr lang="zh-CN" altLang="zh-CN" sz="2400" dirty="0"/>
              <a:t>移除最后的全连接层，仅保留卷积层部分用于特征提取</a:t>
            </a:r>
          </a:p>
          <a:p>
            <a:r>
              <a:rPr lang="zh-CN" altLang="zh-CN" sz="2400" dirty="0"/>
              <a:t>将输入图像调整为</a:t>
            </a:r>
            <a:r>
              <a:rPr lang="en-US" altLang="zh-CN" sz="2400" dirty="0"/>
              <a:t>224×224</a:t>
            </a:r>
            <a:r>
              <a:rPr lang="zh-CN" altLang="zh-CN" sz="2400" dirty="0"/>
              <a:t>大小，并进行标准化预处理</a:t>
            </a:r>
          </a:p>
          <a:p>
            <a:r>
              <a:rPr lang="zh-CN" altLang="zh-CN" sz="2400" dirty="0"/>
              <a:t>通过模型前向传播获取特征图，作为图像的深度表示</a:t>
            </a:r>
          </a:p>
          <a:p>
            <a:r>
              <a:rPr lang="en-US" altLang="zh-CN" sz="2400" b="1" dirty="0"/>
              <a:t>ResNet18</a:t>
            </a:r>
            <a:r>
              <a:rPr lang="zh-CN" altLang="zh-CN" sz="2400" b="1" dirty="0"/>
              <a:t>模型结构如下：</a:t>
            </a:r>
            <a:endParaRPr lang="zh-CN" altLang="zh-CN" sz="2400" dirty="0"/>
          </a:p>
          <a:p>
            <a:pPr lvl="0"/>
            <a:r>
              <a:rPr lang="zh-CN" altLang="zh-CN" sz="2400" dirty="0"/>
              <a:t>包含</a:t>
            </a:r>
            <a:r>
              <a:rPr lang="en-US" altLang="zh-CN" sz="2400" dirty="0"/>
              <a:t>18</a:t>
            </a:r>
            <a:r>
              <a:rPr lang="zh-CN" altLang="zh-CN" sz="2400" dirty="0"/>
              <a:t>层卷积层，组织为多个残差块</a:t>
            </a:r>
          </a:p>
          <a:p>
            <a:pPr lvl="0"/>
            <a:r>
              <a:rPr lang="zh-CN" altLang="zh-CN" sz="2400" dirty="0"/>
              <a:t>每个残差块包含两个</a:t>
            </a:r>
            <a:r>
              <a:rPr lang="en-US" altLang="zh-CN" sz="2400" dirty="0"/>
              <a:t>3×3</a:t>
            </a:r>
            <a:r>
              <a:rPr lang="zh-CN" altLang="zh-CN" sz="2400" dirty="0"/>
              <a:t>卷积层和一个跳跃连接</a:t>
            </a:r>
          </a:p>
          <a:p>
            <a:pPr lvl="0"/>
            <a:r>
              <a:rPr lang="zh-CN" altLang="zh-CN" sz="2400" dirty="0"/>
              <a:t>使用批量归一化和</a:t>
            </a:r>
            <a:r>
              <a:rPr lang="en-US" altLang="zh-CN" sz="2400" dirty="0"/>
              <a:t>ReLU</a:t>
            </a:r>
            <a:r>
              <a:rPr lang="zh-CN" altLang="zh-CN" sz="2400" dirty="0"/>
              <a:t>激活函数</a:t>
            </a:r>
          </a:p>
          <a:p>
            <a:r>
              <a:rPr lang="zh-CN" altLang="zh-CN" sz="2400" dirty="0"/>
              <a:t>深度特征相比传统手工设计的特征（如</a:t>
            </a:r>
            <a:r>
              <a:rPr lang="en-US" altLang="zh-CN" sz="2400" dirty="0"/>
              <a:t>SIFT</a:t>
            </a:r>
            <a:r>
              <a:rPr lang="zh-CN" altLang="zh-CN" sz="2400" dirty="0"/>
              <a:t>、</a:t>
            </a:r>
            <a:r>
              <a:rPr lang="en-US" altLang="zh-CN" sz="2400" dirty="0"/>
              <a:t>SURF</a:t>
            </a:r>
            <a:r>
              <a:rPr lang="zh-CN" altLang="zh-CN" sz="2400" dirty="0"/>
              <a:t>等）具有更强的语义表示能力，能够在复杂场景下提供更稳定的匹配点。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336A56-39AA-FEEE-6917-934713191CEA}"/>
              </a:ext>
            </a:extLst>
          </p:cNvPr>
          <p:cNvSpPr txBox="1"/>
          <p:nvPr/>
        </p:nvSpPr>
        <p:spPr>
          <a:xfrm>
            <a:off x="3578424" y="493483"/>
            <a:ext cx="6479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3600" b="1" kern="100" dirty="0">
                <a:solidFill>
                  <a:schemeClr val="accent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基于机器学习的图片自动拼接</a:t>
            </a:r>
            <a:endParaRPr lang="zh-CN" altLang="zh-CN" sz="3600" kern="100" dirty="0">
              <a:solidFill>
                <a:schemeClr val="accent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669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74FEA-74A7-E2CB-41F8-B4CEA8DD9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44E820D-88B3-D090-F95F-08A1ABDCA6B6}"/>
              </a:ext>
            </a:extLst>
          </p:cNvPr>
          <p:cNvGrpSpPr/>
          <p:nvPr/>
        </p:nvGrpSpPr>
        <p:grpSpPr>
          <a:xfrm>
            <a:off x="124227" y="446024"/>
            <a:ext cx="1308333" cy="576829"/>
            <a:chOff x="124227" y="446024"/>
            <a:chExt cx="1477187" cy="576829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B92358A7-E5C9-B45F-965E-CF12488970D5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A36FB1C1-7365-51E0-CB23-F10EC859E5CE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94A6C89F-779C-63B5-6ECA-33D11CFFD321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3FC4DAE1-FF43-95DD-CCF6-ADDF0F763433}"/>
              </a:ext>
            </a:extLst>
          </p:cNvPr>
          <p:cNvSpPr txBox="1"/>
          <p:nvPr/>
        </p:nvSpPr>
        <p:spPr>
          <a:xfrm>
            <a:off x="1387824" y="140317"/>
            <a:ext cx="32944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+mj-ea"/>
                <a:ea typeface="+mj-ea"/>
              </a:defRPr>
            </a:lvl1pPr>
          </a:lstStyle>
          <a:p>
            <a:r>
              <a:rPr lang="en-US" altLang="zh-CN" dirty="0"/>
              <a:t>DEFINITION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FF465C-7809-5BAE-A486-7DEF17F249B9}"/>
              </a:ext>
            </a:extLst>
          </p:cNvPr>
          <p:cNvSpPr txBox="1"/>
          <p:nvPr/>
        </p:nvSpPr>
        <p:spPr>
          <a:xfrm>
            <a:off x="1341914" y="449513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+mj-ea"/>
                <a:ea typeface="+mj-ea"/>
              </a:rPr>
              <a:t>一、概述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528F16-D561-40EB-3028-5A69688E5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857479-CA7D-B340-AC54-B135B17064EE}"/>
              </a:ext>
            </a:extLst>
          </p:cNvPr>
          <p:cNvSpPr txBox="1"/>
          <p:nvPr/>
        </p:nvSpPr>
        <p:spPr>
          <a:xfrm>
            <a:off x="865747" y="1212770"/>
            <a:ext cx="962950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1. </a:t>
            </a:r>
            <a:r>
              <a:rPr lang="zh-CN" altLang="en-US" sz="2400" b="1" dirty="0"/>
              <a:t>深度学习特征提取</a:t>
            </a:r>
          </a:p>
          <a:p>
            <a:r>
              <a:rPr lang="en-US" altLang="zh-CN" dirty="0" err="1"/>
              <a:t>MLPanorama</a:t>
            </a:r>
            <a:r>
              <a:rPr lang="zh-CN" altLang="en-US" dirty="0"/>
              <a:t>使用预训练的</a:t>
            </a:r>
            <a:r>
              <a:rPr lang="en-US" altLang="zh-CN" dirty="0"/>
              <a:t>ResNet18</a:t>
            </a:r>
            <a:r>
              <a:rPr lang="zh-CN" altLang="en-US" dirty="0"/>
              <a:t>模型提取图像特征，相比传统</a:t>
            </a:r>
            <a:r>
              <a:rPr lang="en-US" altLang="zh-CN" dirty="0"/>
              <a:t>SIFT</a:t>
            </a:r>
            <a:r>
              <a:rPr lang="zh-CN" altLang="en-US" dirty="0"/>
              <a:t>特征更具语义信息：</a:t>
            </a:r>
            <a:endParaRPr lang="en-US" altLang="zh-CN" dirty="0"/>
          </a:p>
          <a:p>
            <a:r>
              <a:rPr lang="zh-CN" altLang="en-US" dirty="0"/>
              <a:t>特征提取过程：图像预处理：调整大小、标准化</a:t>
            </a:r>
          </a:p>
          <a:p>
            <a:r>
              <a:rPr lang="zh-CN" altLang="en-US" dirty="0"/>
              <a:t>通过</a:t>
            </a:r>
            <a:r>
              <a:rPr lang="en-US" altLang="zh-CN" dirty="0"/>
              <a:t>ResNet18</a:t>
            </a:r>
            <a:r>
              <a:rPr lang="zh-CN" altLang="en-US" dirty="0"/>
              <a:t>提取深度特征</a:t>
            </a:r>
          </a:p>
          <a:p>
            <a:r>
              <a:rPr lang="zh-CN" altLang="en-US" dirty="0"/>
              <a:t>将特征转换为可用于匹配的向量形式</a:t>
            </a:r>
          </a:p>
          <a:p>
            <a:r>
              <a:rPr lang="zh-CN" altLang="en-US" b="1" dirty="0"/>
              <a:t>特征提取流程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1CA65B-A5A0-3108-B18E-88A36EBCE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47" y="3050308"/>
            <a:ext cx="8173591" cy="165758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D9FAC15-112E-D239-B63E-542D5127419B}"/>
              </a:ext>
            </a:extLst>
          </p:cNvPr>
          <p:cNvSpPr txBox="1"/>
          <p:nvPr/>
        </p:nvSpPr>
        <p:spPr>
          <a:xfrm>
            <a:off x="865747" y="4707889"/>
            <a:ext cx="9584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调整大小为 </a:t>
            </a:r>
            <a:r>
              <a:rPr lang="en-US" altLang="zh-CN" dirty="0"/>
              <a:t>256×256</a:t>
            </a:r>
          </a:p>
          <a:p>
            <a:r>
              <a:rPr lang="zh-CN" altLang="en-US" dirty="0"/>
              <a:t>中心裁剪为 </a:t>
            </a:r>
            <a:r>
              <a:rPr lang="en-US" altLang="zh-CN" dirty="0"/>
              <a:t>224×224</a:t>
            </a:r>
            <a:r>
              <a:rPr lang="zh-CN" altLang="en-US" dirty="0"/>
              <a:t>（</a:t>
            </a:r>
            <a:r>
              <a:rPr lang="en-US" altLang="zh-CN" dirty="0" err="1"/>
              <a:t>ResNet</a:t>
            </a:r>
            <a:r>
              <a:rPr lang="en-US" altLang="zh-CN" dirty="0"/>
              <a:t> </a:t>
            </a:r>
            <a:r>
              <a:rPr lang="zh-CN" altLang="en-US" dirty="0"/>
              <a:t>的标准输入尺寸）</a:t>
            </a:r>
          </a:p>
          <a:p>
            <a:r>
              <a:rPr lang="zh-CN" altLang="en-US" dirty="0"/>
              <a:t>转换为张量并进行标准化</a:t>
            </a: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455B483-EB02-8451-52A3-FFC167A3E58C}"/>
              </a:ext>
            </a:extLst>
          </p:cNvPr>
          <p:cNvSpPr txBox="1"/>
          <p:nvPr/>
        </p:nvSpPr>
        <p:spPr>
          <a:xfrm>
            <a:off x="947057" y="567061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Segoe WPC"/>
              </a:rPr>
              <a:t>使用的 </a:t>
            </a:r>
            <a:r>
              <a:rPr lang="en-US" altLang="zh-CN" b="0" i="0" dirty="0">
                <a:effectLst/>
                <a:latin typeface="Segoe WPC"/>
              </a:rPr>
              <a:t>ResNet18 </a:t>
            </a:r>
            <a:r>
              <a:rPr lang="zh-CN" altLang="en-US" b="0" i="0" dirty="0">
                <a:effectLst/>
                <a:latin typeface="Segoe WPC"/>
              </a:rPr>
              <a:t>预训练模型是通过 </a:t>
            </a:r>
            <a:r>
              <a:rPr lang="en-US" altLang="zh-CN" b="0" i="0" dirty="0" err="1">
                <a:effectLst/>
                <a:latin typeface="Segoe WPC"/>
              </a:rPr>
              <a:t>PyTorch</a:t>
            </a:r>
            <a:r>
              <a:rPr lang="zh-CN" altLang="en-US" b="0" i="0" dirty="0">
                <a:effectLst/>
                <a:latin typeface="Segoe WPC"/>
              </a:rPr>
              <a:t>的 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torch.hub</a:t>
            </a:r>
            <a:r>
              <a:rPr lang="zh-CN" altLang="en-US" b="0" i="0" dirty="0">
                <a:effectLst/>
                <a:latin typeface="Segoe WPC"/>
              </a:rPr>
              <a:t> 功能直接加载的，这个模型已经在 </a:t>
            </a:r>
            <a:r>
              <a:rPr lang="en-US" altLang="zh-CN" b="0" i="0" dirty="0">
                <a:effectLst/>
                <a:latin typeface="Segoe WPC"/>
              </a:rPr>
              <a:t>ImageNet </a:t>
            </a:r>
            <a:r>
              <a:rPr lang="zh-CN" altLang="en-US" b="0" i="0" dirty="0">
                <a:effectLst/>
                <a:latin typeface="Segoe WPC"/>
              </a:rPr>
              <a:t>数据集上预先训练好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6419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42A7A-3662-C543-70EA-D0B4955A4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6402AD6-B354-DDFE-BD16-E40F907FED3D}"/>
              </a:ext>
            </a:extLst>
          </p:cNvPr>
          <p:cNvGrpSpPr/>
          <p:nvPr/>
        </p:nvGrpSpPr>
        <p:grpSpPr>
          <a:xfrm>
            <a:off x="124227" y="446024"/>
            <a:ext cx="1308333" cy="576829"/>
            <a:chOff x="124227" y="446024"/>
            <a:chExt cx="1477187" cy="576829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C59163BC-2025-77C4-9B86-8C12734ACCCA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72C8BA60-0D8A-DDC9-8699-99045C2080BC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AD27CCC-1399-6F86-8F9F-99B913C10F3D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49A51E51-9BD0-DD91-0F4E-92AD011A3EFA}"/>
              </a:ext>
            </a:extLst>
          </p:cNvPr>
          <p:cNvSpPr txBox="1"/>
          <p:nvPr/>
        </p:nvSpPr>
        <p:spPr>
          <a:xfrm>
            <a:off x="1387824" y="140317"/>
            <a:ext cx="32944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+mj-ea"/>
                <a:ea typeface="+mj-ea"/>
              </a:defRPr>
            </a:lvl1pPr>
          </a:lstStyle>
          <a:p>
            <a:r>
              <a:rPr lang="en-US" altLang="zh-CN" dirty="0"/>
              <a:t>DEFINITION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23EDD82-2636-3026-1C10-B74B4A936493}"/>
              </a:ext>
            </a:extLst>
          </p:cNvPr>
          <p:cNvSpPr txBox="1"/>
          <p:nvPr/>
        </p:nvSpPr>
        <p:spPr>
          <a:xfrm>
            <a:off x="1341914" y="449513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+mj-ea"/>
                <a:ea typeface="+mj-ea"/>
              </a:rPr>
              <a:t>一、概述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65C169-29A9-C6C0-81FA-3E4364AD5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94A9E0-5C42-5A43-38E9-B8C4B5205597}"/>
              </a:ext>
            </a:extLst>
          </p:cNvPr>
          <p:cNvSpPr txBox="1"/>
          <p:nvPr/>
        </p:nvSpPr>
        <p:spPr>
          <a:xfrm>
            <a:off x="865747" y="1212770"/>
            <a:ext cx="9629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特征提取过程</a:t>
            </a:r>
            <a:r>
              <a:rPr lang="zh-CN" altLang="en-US" dirty="0"/>
              <a:t>：</a:t>
            </a:r>
            <a:endParaRPr lang="en-US" altLang="zh-CN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B3179E6-E41F-418D-3032-03FDF8DE3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47" y="1601354"/>
            <a:ext cx="3905795" cy="41915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BD867BA-8F1A-4F18-1115-D879FB952788}"/>
              </a:ext>
            </a:extLst>
          </p:cNvPr>
          <p:cNvSpPr txBox="1"/>
          <p:nvPr/>
        </p:nvSpPr>
        <p:spPr>
          <a:xfrm>
            <a:off x="865747" y="2077388"/>
            <a:ext cx="66947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 </a:t>
            </a:r>
            <a:r>
              <a:rPr lang="en-US" altLang="zh-CN" dirty="0" err="1"/>
              <a:t>torch.no_grad</a:t>
            </a:r>
            <a:r>
              <a:rPr lang="en-US" altLang="zh-CN" dirty="0"/>
              <a:t>()</a:t>
            </a:r>
            <a:r>
              <a:rPr lang="zh-CN" altLang="en-US" dirty="0"/>
              <a:t> 避免计算梯度，提高推理速度</a:t>
            </a:r>
          </a:p>
          <a:p>
            <a:r>
              <a:rPr lang="zh-CN" altLang="en-US" dirty="0"/>
              <a:t>特征输出形状为 </a:t>
            </a:r>
            <a:r>
              <a:rPr lang="en-US" altLang="zh-CN" dirty="0"/>
              <a:t>[1, 512, 7, 7]</a:t>
            </a:r>
            <a:r>
              <a:rPr lang="zh-CN" altLang="en-US" dirty="0"/>
              <a:t>，代表 </a:t>
            </a:r>
            <a:r>
              <a:rPr lang="en-US" altLang="zh-CN" dirty="0"/>
              <a:t>512 </a:t>
            </a:r>
            <a:r>
              <a:rPr lang="zh-CN" altLang="en-US" dirty="0"/>
              <a:t>个特征通道</a:t>
            </a:r>
          </a:p>
          <a:p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91DDA7B-0E31-06FE-D46F-A736F051660A}"/>
              </a:ext>
            </a:extLst>
          </p:cNvPr>
          <p:cNvSpPr txBox="1"/>
          <p:nvPr/>
        </p:nvSpPr>
        <p:spPr>
          <a:xfrm>
            <a:off x="947057" y="2641291"/>
            <a:ext cx="6096000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b="1" dirty="0">
                <a:effectLst/>
              </a:rPr>
              <a:t>特征后处理</a:t>
            </a:r>
            <a:r>
              <a:rPr lang="zh-CN" altLang="en-US" dirty="0">
                <a:effectLst/>
              </a:rPr>
              <a:t>：</a:t>
            </a:r>
          </a:p>
          <a:p>
            <a:pPr>
              <a:buNone/>
            </a:pPr>
            <a:br>
              <a:rPr lang="en-US" altLang="zh-CN" dirty="0">
                <a:effectLst/>
              </a:rPr>
            </a:b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847DB6C-93B5-CF6A-2CDC-334FB64C9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751" y="3038449"/>
            <a:ext cx="3848637" cy="247685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3557665-9388-F718-1A74-2EF476A21D62}"/>
              </a:ext>
            </a:extLst>
          </p:cNvPr>
          <p:cNvSpPr txBox="1"/>
          <p:nvPr/>
        </p:nvSpPr>
        <p:spPr>
          <a:xfrm>
            <a:off x="1046747" y="33799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50"/>
              </a:spcBef>
              <a:spcAft>
                <a:spcPts val="600"/>
              </a:spcAft>
              <a:buNone/>
            </a:pPr>
            <a:r>
              <a:rPr lang="zh-CN" altLang="en-US" b="1" i="0" dirty="0">
                <a:effectLst/>
                <a:latin typeface="Segoe WPC"/>
              </a:rPr>
              <a:t>对比度匹配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4BD062F-1342-F71F-9364-25B2D1ABA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751" y="3749287"/>
            <a:ext cx="4706007" cy="1019317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9D2981B0-6E68-BDB2-03F3-D6A5C2CE8C2F}"/>
              </a:ext>
            </a:extLst>
          </p:cNvPr>
          <p:cNvSpPr txBox="1"/>
          <p:nvPr/>
        </p:nvSpPr>
        <p:spPr>
          <a:xfrm>
            <a:off x="1110751" y="4920343"/>
            <a:ext cx="73474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转换为灰度图以分析亮度分布</a:t>
            </a:r>
          </a:p>
          <a:p>
            <a:r>
              <a:rPr lang="zh-CN" altLang="en-US" dirty="0"/>
              <a:t>计算每张图像的平均亮度和标准差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4096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FF8F9-B36E-5C31-5517-14C94BD42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F0365AD4-25C3-44F8-F337-01D325E026C3}"/>
              </a:ext>
            </a:extLst>
          </p:cNvPr>
          <p:cNvGrpSpPr/>
          <p:nvPr/>
        </p:nvGrpSpPr>
        <p:grpSpPr>
          <a:xfrm>
            <a:off x="124227" y="446024"/>
            <a:ext cx="1308333" cy="576829"/>
            <a:chOff x="124227" y="446024"/>
            <a:chExt cx="1477187" cy="576829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2296AF98-E589-0B73-A0E8-D940CB8E4E82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E7EB2A8C-172C-774E-25E1-A54052467AE1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1E056B84-16FF-459D-7159-06F5B5E61336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ED4629D8-BCE1-3EC3-5011-6C7B1821865E}"/>
              </a:ext>
            </a:extLst>
          </p:cNvPr>
          <p:cNvSpPr txBox="1"/>
          <p:nvPr/>
        </p:nvSpPr>
        <p:spPr>
          <a:xfrm>
            <a:off x="1387824" y="140317"/>
            <a:ext cx="32944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+mj-ea"/>
                <a:ea typeface="+mj-ea"/>
              </a:defRPr>
            </a:lvl1pPr>
          </a:lstStyle>
          <a:p>
            <a:r>
              <a:rPr lang="en-US" altLang="zh-CN" dirty="0"/>
              <a:t>DEFINITION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20F8AD8-AC35-E63D-B510-E8E74CC4B2AC}"/>
              </a:ext>
            </a:extLst>
          </p:cNvPr>
          <p:cNvSpPr txBox="1"/>
          <p:nvPr/>
        </p:nvSpPr>
        <p:spPr>
          <a:xfrm>
            <a:off x="1341914" y="449513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+mj-ea"/>
                <a:ea typeface="+mj-ea"/>
              </a:rPr>
              <a:t>一、概述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37EAEF-DD18-9284-D6DE-E5F1935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3AC84E-E252-8CFD-DACD-F5801B8784DF}"/>
              </a:ext>
            </a:extLst>
          </p:cNvPr>
          <p:cNvSpPr txBox="1"/>
          <p:nvPr/>
        </p:nvSpPr>
        <p:spPr>
          <a:xfrm>
            <a:off x="660331" y="11392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effectLst/>
                <a:latin typeface="Segoe WPC"/>
              </a:rPr>
              <a:t>参考选择</a:t>
            </a:r>
            <a:r>
              <a:rPr lang="zh-CN" altLang="en-US" b="0" i="0" dirty="0">
                <a:solidFill>
                  <a:srgbClr val="D8DEE9"/>
                </a:solidFill>
                <a:effectLst/>
                <a:latin typeface="Segoe WPC"/>
              </a:rPr>
              <a:t>：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65CB450-D0D3-D9DD-C7DF-9DC59884F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1" y="1442493"/>
            <a:ext cx="7068536" cy="196242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FD8AD04-96C0-4332-C8B3-13A48CA04E36}"/>
              </a:ext>
            </a:extLst>
          </p:cNvPr>
          <p:cNvSpPr txBox="1"/>
          <p:nvPr/>
        </p:nvSpPr>
        <p:spPr>
          <a:xfrm>
            <a:off x="562359" y="3404917"/>
            <a:ext cx="10181840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Segoe WPC"/>
              </a:rPr>
              <a:t>自动选择对比度较低的图像作为参考</a:t>
            </a:r>
          </a:p>
          <a:p>
            <a:pPr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Segoe WPC"/>
              </a:rPr>
              <a:t>计算线性变换参数 </a:t>
            </a:r>
            <a:r>
              <a:rPr lang="en-US" altLang="zh-CN" b="0" i="0" dirty="0">
                <a:effectLst/>
                <a:latin typeface="Segoe WPC"/>
              </a:rPr>
              <a:t>alpha</a:t>
            </a:r>
            <a:r>
              <a:rPr lang="zh-CN" altLang="en-US" b="0" i="0" dirty="0">
                <a:effectLst/>
                <a:latin typeface="Segoe WPC"/>
              </a:rPr>
              <a:t>（对比度系数）和 </a:t>
            </a:r>
            <a:r>
              <a:rPr lang="en-US" altLang="zh-CN" b="0" i="0" dirty="0">
                <a:effectLst/>
                <a:latin typeface="Segoe WPC"/>
              </a:rPr>
              <a:t>beta</a:t>
            </a:r>
            <a:r>
              <a:rPr lang="zh-CN" altLang="en-US" b="0" i="0" dirty="0">
                <a:effectLst/>
                <a:latin typeface="Segoe WPC"/>
              </a:rPr>
              <a:t>（亮度偏移）</a:t>
            </a:r>
          </a:p>
          <a:p>
            <a:pPr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Segoe WPC"/>
              </a:rPr>
              <a:t>使用 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convertScaleAbs</a:t>
            </a:r>
            <a:r>
              <a:rPr lang="zh-CN" altLang="en-US" b="0" i="0" dirty="0">
                <a:effectLst/>
                <a:latin typeface="Segoe WPC"/>
              </a:rPr>
              <a:t> 应用线性变换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98339BE-3C7C-D00E-5A10-92A45E27ADA4}"/>
              </a:ext>
            </a:extLst>
          </p:cNvPr>
          <p:cNvSpPr txBox="1"/>
          <p:nvPr/>
        </p:nvSpPr>
        <p:spPr>
          <a:xfrm>
            <a:off x="660331" y="442409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特征可视化</a:t>
            </a:r>
            <a:endParaRPr lang="en-US" altLang="zh-CN" b="1" dirty="0"/>
          </a:p>
          <a:p>
            <a:r>
              <a:rPr lang="zh-CN" altLang="en-US" dirty="0"/>
              <a:t>提供了特征可视化功能，：</a:t>
            </a:r>
            <a:endParaRPr lang="zh-CN" altLang="en-US" b="1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49327272-9F14-6D53-87D8-A5499D17FE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79"/>
          <a:stretch>
            <a:fillRect/>
          </a:stretch>
        </p:blipFill>
        <p:spPr>
          <a:xfrm>
            <a:off x="3740988" y="4430839"/>
            <a:ext cx="5567939" cy="207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400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F9281-88B6-0838-3F71-ED73547D3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A86B447-8110-8A0F-7500-F957E3E52FFF}"/>
              </a:ext>
            </a:extLst>
          </p:cNvPr>
          <p:cNvGrpSpPr/>
          <p:nvPr/>
        </p:nvGrpSpPr>
        <p:grpSpPr>
          <a:xfrm>
            <a:off x="124227" y="446024"/>
            <a:ext cx="1308333" cy="576829"/>
            <a:chOff x="124227" y="446024"/>
            <a:chExt cx="1477187" cy="576829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8E6AF162-C78F-8932-E47C-BA3F6ECF338F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5A208450-5144-6D10-04D7-8F6FE8B158F1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B0F176BC-4862-6D42-381D-B1FDF61F75DD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41224EF8-74F0-2127-87D8-263967FE5D2A}"/>
              </a:ext>
            </a:extLst>
          </p:cNvPr>
          <p:cNvSpPr txBox="1"/>
          <p:nvPr/>
        </p:nvSpPr>
        <p:spPr>
          <a:xfrm>
            <a:off x="1387824" y="140317"/>
            <a:ext cx="32944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+mj-ea"/>
                <a:ea typeface="+mj-ea"/>
              </a:defRPr>
            </a:lvl1pPr>
          </a:lstStyle>
          <a:p>
            <a:r>
              <a:rPr lang="en-US" altLang="zh-CN" dirty="0"/>
              <a:t>DEFINITION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7AB2A8-5607-EA56-A498-C9594A370B05}"/>
              </a:ext>
            </a:extLst>
          </p:cNvPr>
          <p:cNvSpPr txBox="1"/>
          <p:nvPr/>
        </p:nvSpPr>
        <p:spPr>
          <a:xfrm>
            <a:off x="1341914" y="449513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+mj-ea"/>
                <a:ea typeface="+mj-ea"/>
              </a:rPr>
              <a:t>一、概述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1F3BB0-AD59-A967-7C25-C413BF7F4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245C6F-8E0E-3D66-3F06-31BE0DC17DB6}"/>
              </a:ext>
            </a:extLst>
          </p:cNvPr>
          <p:cNvSpPr txBox="1"/>
          <p:nvPr/>
        </p:nvSpPr>
        <p:spPr>
          <a:xfrm>
            <a:off x="753835" y="12819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50"/>
              </a:spcBef>
              <a:spcAft>
                <a:spcPts val="600"/>
              </a:spcAft>
              <a:buNone/>
            </a:pPr>
            <a:r>
              <a:rPr lang="zh-CN" altLang="en-US" b="1" i="0" dirty="0">
                <a:effectLst/>
                <a:latin typeface="Segoe WPC"/>
              </a:rPr>
              <a:t>特征匹配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65E1245-289E-0BDD-2E7E-B767B4C5B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35" y="1651261"/>
            <a:ext cx="7944959" cy="231489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EF40388-6A58-87F4-BCFB-4D63AC9322B0}"/>
              </a:ext>
            </a:extLst>
          </p:cNvPr>
          <p:cNvSpPr txBox="1"/>
          <p:nvPr/>
        </p:nvSpPr>
        <p:spPr>
          <a:xfrm>
            <a:off x="753835" y="4180817"/>
            <a:ext cx="6096000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Segoe WPC"/>
              </a:rPr>
              <a:t>使用</a:t>
            </a:r>
            <a:r>
              <a:rPr lang="en-US" altLang="zh-CN" b="0" i="0" dirty="0">
                <a:effectLst/>
                <a:latin typeface="Segoe WPC"/>
              </a:rPr>
              <a:t>k</a:t>
            </a:r>
            <a:r>
              <a:rPr lang="zh-CN" altLang="en-US" b="0" i="0" dirty="0">
                <a:effectLst/>
                <a:latin typeface="Segoe WPC"/>
              </a:rPr>
              <a:t>最近邻</a:t>
            </a:r>
            <a:r>
              <a:rPr lang="en-US" altLang="zh-CN" b="0" i="0" dirty="0">
                <a:effectLst/>
                <a:latin typeface="Segoe WPC"/>
              </a:rPr>
              <a:t>(KNN)</a:t>
            </a:r>
            <a:r>
              <a:rPr lang="zh-CN" altLang="en-US" b="0" i="0" dirty="0">
                <a:effectLst/>
                <a:latin typeface="Segoe WPC"/>
              </a:rPr>
              <a:t>算法找到所有可能的匹配</a:t>
            </a:r>
          </a:p>
          <a:p>
            <a:pPr algn="l"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2"/>
            </a:pPr>
            <a:r>
              <a:rPr lang="zh-CN" altLang="en-US" b="0" i="0" dirty="0">
                <a:effectLst/>
                <a:latin typeface="Segoe WPC"/>
              </a:rPr>
              <a:t>应用</a:t>
            </a:r>
            <a:r>
              <a:rPr lang="en-US" altLang="zh-CN" b="0" i="0" dirty="0">
                <a:effectLst/>
                <a:latin typeface="Segoe WPC"/>
              </a:rPr>
              <a:t>Lowe's</a:t>
            </a:r>
            <a:r>
              <a:rPr lang="zh-CN" altLang="en-US" b="0" i="0" dirty="0">
                <a:effectLst/>
                <a:latin typeface="Segoe WPC"/>
              </a:rPr>
              <a:t>比率测试筛选高质量匹配</a:t>
            </a:r>
          </a:p>
          <a:p>
            <a:pPr algn="l"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3"/>
            </a:pPr>
            <a:r>
              <a:rPr lang="zh-CN" altLang="en-US" b="0" i="0" dirty="0">
                <a:effectLst/>
                <a:latin typeface="Segoe WPC"/>
              </a:rPr>
              <a:t>从匹配中提取对应点坐标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F5C6AC9-8907-DD81-972D-1A97A8272AF8}"/>
              </a:ext>
            </a:extLst>
          </p:cNvPr>
          <p:cNvSpPr txBox="1"/>
          <p:nvPr/>
        </p:nvSpPr>
        <p:spPr>
          <a:xfrm>
            <a:off x="835004" y="5312474"/>
            <a:ext cx="1853767" cy="838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b="1" i="0" dirty="0">
                <a:effectLst/>
                <a:latin typeface="Segoe WPC"/>
              </a:rPr>
              <a:t>计算单应性矩阵</a:t>
            </a:r>
          </a:p>
          <a:p>
            <a:pPr>
              <a:buNone/>
            </a:pPr>
            <a:br>
              <a:rPr lang="en-US" altLang="zh-CN" b="1" i="0" dirty="0">
                <a:solidFill>
                  <a:srgbClr val="D8DEE9"/>
                </a:solidFill>
                <a:effectLst/>
                <a:latin typeface="Segoe WPC"/>
              </a:rPr>
            </a:br>
            <a:endParaRPr lang="zh-CN" alt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FDD6C8C-E393-C18C-10C7-019C46AB8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771" y="5279817"/>
            <a:ext cx="6154009" cy="51442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008201C5-F17E-DCDD-DE26-1C47E061E302}"/>
              </a:ext>
            </a:extLst>
          </p:cNvPr>
          <p:cNvSpPr txBox="1"/>
          <p:nvPr/>
        </p:nvSpPr>
        <p:spPr>
          <a:xfrm>
            <a:off x="865747" y="573181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Segoe WPC"/>
              </a:rPr>
              <a:t>使用</a:t>
            </a:r>
            <a:r>
              <a:rPr lang="en-US" altLang="zh-CN" b="0" i="0" dirty="0">
                <a:effectLst/>
                <a:latin typeface="Segoe WPC"/>
              </a:rPr>
              <a:t>RANSAC</a:t>
            </a:r>
            <a:r>
              <a:rPr lang="zh-CN" altLang="en-US" b="0" i="0" dirty="0">
                <a:effectLst/>
                <a:latin typeface="Segoe WPC"/>
              </a:rPr>
              <a:t>算法计算两张图像之间的单应性变换矩阵，这一步是拼接的核心，决定了如何将一张图像变换到另一张图像的坐标系中。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159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44F3A-25A1-4A12-54B4-8613F54A2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A21FFD5-F191-52CB-A518-C6FB5936970D}"/>
              </a:ext>
            </a:extLst>
          </p:cNvPr>
          <p:cNvGrpSpPr/>
          <p:nvPr/>
        </p:nvGrpSpPr>
        <p:grpSpPr>
          <a:xfrm>
            <a:off x="124227" y="446024"/>
            <a:ext cx="1308333" cy="576829"/>
            <a:chOff x="124227" y="446024"/>
            <a:chExt cx="1477187" cy="576829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9325D262-20B1-9514-E32F-58CA8044ACD4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2F0513E3-DED4-7CBF-8C28-F61EE4B7FB31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B30534F-9775-6266-1968-6B045B7774BF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0C9E6B8D-A76D-9619-8DC0-B73E0D7BAD74}"/>
              </a:ext>
            </a:extLst>
          </p:cNvPr>
          <p:cNvSpPr txBox="1"/>
          <p:nvPr/>
        </p:nvSpPr>
        <p:spPr>
          <a:xfrm>
            <a:off x="1387824" y="140317"/>
            <a:ext cx="32944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+mj-ea"/>
                <a:ea typeface="+mj-ea"/>
              </a:defRPr>
            </a:lvl1pPr>
          </a:lstStyle>
          <a:p>
            <a:r>
              <a:rPr lang="en-US" altLang="zh-CN" dirty="0"/>
              <a:t>DEFINITION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DE6351-3523-6432-DA02-A1BDA883AC52}"/>
              </a:ext>
            </a:extLst>
          </p:cNvPr>
          <p:cNvSpPr txBox="1"/>
          <p:nvPr/>
        </p:nvSpPr>
        <p:spPr>
          <a:xfrm>
            <a:off x="1341914" y="449513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+mj-ea"/>
                <a:ea typeface="+mj-ea"/>
              </a:rPr>
              <a:t>一、概述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EB58E6-EA54-B199-BC7A-A9CFEA047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6490DB-D16C-7B5A-0471-2D7196B225C5}"/>
              </a:ext>
            </a:extLst>
          </p:cNvPr>
          <p:cNvSpPr txBox="1"/>
          <p:nvPr/>
        </p:nvSpPr>
        <p:spPr>
          <a:xfrm>
            <a:off x="660331" y="11392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50"/>
              </a:spcBef>
              <a:spcAft>
                <a:spcPts val="600"/>
              </a:spcAft>
              <a:buNone/>
            </a:pPr>
            <a:r>
              <a:rPr lang="zh-CN" altLang="en-US" b="1" i="0" dirty="0">
                <a:effectLst/>
                <a:latin typeface="Segoe WPC"/>
              </a:rPr>
              <a:t>透视变换与拼接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035CC8F-DFD8-B239-A530-0AE2AEE86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1" y="1508608"/>
            <a:ext cx="6611273" cy="161947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8351B43-7950-BEB5-D977-690FE515C38E}"/>
              </a:ext>
            </a:extLst>
          </p:cNvPr>
          <p:cNvSpPr txBox="1"/>
          <p:nvPr/>
        </p:nvSpPr>
        <p:spPr>
          <a:xfrm>
            <a:off x="530424" y="3317949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zh-CN" altLang="en-US" b="0" i="0" dirty="0">
                <a:effectLst/>
                <a:latin typeface="Segoe WPC"/>
              </a:rPr>
              <a:t>创建足够大的画布（宽度为两张图像宽度之和）</a:t>
            </a:r>
          </a:p>
          <a:p>
            <a:pPr algn="l"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2"/>
            </a:pPr>
            <a:r>
              <a:rPr lang="zh-CN" altLang="en-US" b="0" i="0" dirty="0">
                <a:effectLst/>
                <a:latin typeface="Segoe WPC"/>
              </a:rPr>
              <a:t>使用单应性矩阵对第一张图像进行透视变换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4"/>
            </a:pPr>
            <a:r>
              <a:rPr lang="zh-CN" altLang="en-US" b="0" i="0" dirty="0">
                <a:effectLst/>
                <a:latin typeface="Segoe WPC"/>
              </a:rPr>
              <a:t>变换后的第一张图像会与第二张图像在</a:t>
            </a:r>
            <a:r>
              <a:rPr lang="zh-CN" altLang="en-US" dirty="0">
                <a:latin typeface="Segoe WPC"/>
              </a:rPr>
              <a:t>将第二张图像直接放置在结果图像的左侧</a:t>
            </a:r>
          </a:p>
          <a:p>
            <a:pPr algn="l"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4"/>
            </a:pPr>
            <a:r>
              <a:rPr lang="zh-CN" altLang="en-US" b="0" i="0" dirty="0">
                <a:effectLst/>
                <a:latin typeface="Segoe WPC"/>
              </a:rPr>
              <a:t>重叠区域自然融合</a:t>
            </a:r>
          </a:p>
        </p:txBody>
      </p:sp>
    </p:spTree>
    <p:extLst>
      <p:ext uri="{BB962C8B-B14F-4D97-AF65-F5344CB8AC3E}">
        <p14:creationId xmlns:p14="http://schemas.microsoft.com/office/powerpoint/2010/main" val="2786044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526E5-C138-676A-3082-9116BE27C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F6FAD447-9874-7B4B-1000-67EEB2DCAD7D}"/>
              </a:ext>
            </a:extLst>
          </p:cNvPr>
          <p:cNvGrpSpPr/>
          <p:nvPr/>
        </p:nvGrpSpPr>
        <p:grpSpPr>
          <a:xfrm>
            <a:off x="124227" y="446024"/>
            <a:ext cx="1308333" cy="576829"/>
            <a:chOff x="124227" y="446024"/>
            <a:chExt cx="1477187" cy="576829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AFB56E6B-3B16-A7EF-5956-596C4300539A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B39AF74-C9EE-9ECB-4D6A-A2E0A3C3258F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70B0DC7D-E0D3-264F-26EF-31A855A8C9F4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3B20D0C3-889D-B2F7-F19E-751EE9466709}"/>
              </a:ext>
            </a:extLst>
          </p:cNvPr>
          <p:cNvSpPr txBox="1"/>
          <p:nvPr/>
        </p:nvSpPr>
        <p:spPr>
          <a:xfrm>
            <a:off x="1387824" y="140317"/>
            <a:ext cx="32944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+mj-ea"/>
                <a:ea typeface="+mj-ea"/>
              </a:defRPr>
            </a:lvl1pPr>
          </a:lstStyle>
          <a:p>
            <a:r>
              <a:rPr lang="en-US" altLang="zh-CN" dirty="0"/>
              <a:t>DEFINITION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5502E2-B1A5-22AB-E97A-C9C5EAB4A9D7}"/>
              </a:ext>
            </a:extLst>
          </p:cNvPr>
          <p:cNvSpPr txBox="1"/>
          <p:nvPr/>
        </p:nvSpPr>
        <p:spPr>
          <a:xfrm>
            <a:off x="1371142" y="710587"/>
            <a:ext cx="5827236" cy="127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i="0" dirty="0">
                <a:solidFill>
                  <a:srgbClr val="4F4F4F"/>
                </a:solidFill>
                <a:effectLst/>
                <a:latin typeface="PingFang SC"/>
              </a:rPr>
              <a:t>二、</a:t>
            </a:r>
            <a:r>
              <a:rPr lang="zh-CN" altLang="zh-CN" sz="4000" b="1" dirty="0">
                <a:solidFill>
                  <a:srgbClr val="4F4F4F"/>
                </a:solidFill>
                <a:latin typeface="PingFang SC"/>
              </a:rPr>
              <a:t>传统计算机视觉算法</a:t>
            </a:r>
          </a:p>
          <a:p>
            <a:pPr algn="l">
              <a:lnSpc>
                <a:spcPts val="2100"/>
              </a:lnSpc>
              <a:spcBef>
                <a:spcPts val="1800"/>
              </a:spcBef>
              <a:spcAft>
                <a:spcPts val="600"/>
              </a:spcAft>
            </a:pPr>
            <a:endParaRPr lang="zh-CN" altLang="en-US" sz="4000" b="1" i="0" dirty="0">
              <a:solidFill>
                <a:srgbClr val="4F4F4F"/>
              </a:solidFill>
              <a:effectLst/>
              <a:latin typeface="PingFang SC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003515-EB18-2F45-301B-C5FC0B1B8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439A2A-3B9D-ADF7-018E-B32BB711842A}"/>
              </a:ext>
            </a:extLst>
          </p:cNvPr>
          <p:cNvSpPr txBox="1"/>
          <p:nvPr/>
        </p:nvSpPr>
        <p:spPr>
          <a:xfrm>
            <a:off x="925286" y="1458686"/>
            <a:ext cx="96012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我们保留了传统计算机视觉方法作为系统的基础，主要包括：</a:t>
            </a:r>
          </a:p>
          <a:p>
            <a:pPr lvl="0"/>
            <a:r>
              <a:rPr lang="en-US" altLang="zh-CN" sz="2400" b="1" dirty="0"/>
              <a:t>SIFT</a:t>
            </a:r>
            <a:r>
              <a:rPr lang="zh-CN" altLang="zh-CN" sz="2400" b="1" dirty="0"/>
              <a:t>特征提取与匹配</a:t>
            </a:r>
            <a:r>
              <a:rPr lang="zh-CN" altLang="zh-CN" sz="2400" dirty="0"/>
              <a:t>：</a:t>
            </a:r>
          </a:p>
          <a:p>
            <a:pPr lvl="0"/>
            <a:r>
              <a:rPr lang="zh-CN" altLang="zh-CN" sz="2400" dirty="0"/>
              <a:t>尺度不变特征变换</a:t>
            </a:r>
            <a:r>
              <a:rPr lang="en-US" altLang="zh-CN" sz="2400" dirty="0"/>
              <a:t>(SIFT)</a:t>
            </a:r>
            <a:r>
              <a:rPr lang="zh-CN" altLang="zh-CN" sz="2400" dirty="0"/>
              <a:t>算法用于检测和描述图像中的局部特征</a:t>
            </a:r>
          </a:p>
          <a:p>
            <a:pPr lvl="0"/>
            <a:r>
              <a:rPr lang="zh-CN" altLang="zh-CN" sz="2400" dirty="0"/>
              <a:t>特征点匹配使用</a:t>
            </a:r>
            <a:r>
              <a:rPr lang="en-US" altLang="zh-CN" sz="2400" dirty="0"/>
              <a:t>k</a:t>
            </a:r>
            <a:r>
              <a:rPr lang="zh-CN" altLang="zh-CN" sz="2400" dirty="0"/>
              <a:t>最近邻</a:t>
            </a:r>
            <a:r>
              <a:rPr lang="en-US" altLang="zh-CN" sz="2400" dirty="0"/>
              <a:t>(</a:t>
            </a:r>
            <a:r>
              <a:rPr lang="en-US" altLang="zh-CN" sz="2400" dirty="0" err="1"/>
              <a:t>kNN</a:t>
            </a:r>
            <a:r>
              <a:rPr lang="en-US" altLang="zh-CN" sz="2400" dirty="0"/>
              <a:t>)</a:t>
            </a:r>
            <a:r>
              <a:rPr lang="zh-CN" altLang="zh-CN" sz="2400" dirty="0"/>
              <a:t>和比率测试方法</a:t>
            </a:r>
          </a:p>
          <a:p>
            <a:pPr lvl="0"/>
            <a:r>
              <a:rPr lang="en-US" altLang="zh-CN" sz="2400" dirty="0"/>
              <a:t>RANSAC</a:t>
            </a:r>
            <a:r>
              <a:rPr lang="zh-CN" altLang="zh-CN" sz="2400" dirty="0"/>
              <a:t>算法用于剔除错误匹配</a:t>
            </a:r>
          </a:p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A88559D-4D28-5652-FB07-116DAB3B04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86" y="3399816"/>
            <a:ext cx="4350661" cy="323139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99AAD6A-91E6-49AC-AC71-7AE1B3DC227D}"/>
              </a:ext>
            </a:extLst>
          </p:cNvPr>
          <p:cNvSpPr txBox="1"/>
          <p:nvPr/>
        </p:nvSpPr>
        <p:spPr>
          <a:xfrm>
            <a:off x="5878286" y="3124200"/>
            <a:ext cx="598986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sz="2400" b="1" dirty="0"/>
              <a:t>单应性矩阵计算</a:t>
            </a:r>
            <a:r>
              <a:rPr lang="zh-CN" altLang="zh-CN" sz="2400" dirty="0"/>
              <a:t>：</a:t>
            </a:r>
          </a:p>
          <a:p>
            <a:pPr lvl="0"/>
            <a:r>
              <a:rPr lang="zh-CN" altLang="zh-CN" sz="2400" dirty="0"/>
              <a:t>使用</a:t>
            </a:r>
            <a:r>
              <a:rPr lang="en-US" altLang="zh-CN" sz="2400" dirty="0"/>
              <a:t>RANSAC</a:t>
            </a:r>
            <a:r>
              <a:rPr lang="zh-CN" altLang="zh-CN" sz="2400" dirty="0"/>
              <a:t>算法估计两图像间的单应性矩阵</a:t>
            </a:r>
          </a:p>
          <a:p>
            <a:pPr lvl="0"/>
            <a:r>
              <a:rPr lang="zh-CN" altLang="zh-CN" sz="2400" dirty="0"/>
              <a:t>单应性矩阵描述了两个平面之间的投影变换关系</a:t>
            </a:r>
          </a:p>
          <a:p>
            <a:pPr lvl="0"/>
            <a:r>
              <a:rPr lang="zh-CN" altLang="zh-CN" sz="2400" b="1" dirty="0"/>
              <a:t>图像变换与融合</a:t>
            </a:r>
            <a:r>
              <a:rPr lang="zh-CN" altLang="zh-CN" sz="2400" dirty="0"/>
              <a:t>：</a:t>
            </a:r>
          </a:p>
          <a:p>
            <a:pPr lvl="0"/>
            <a:r>
              <a:rPr lang="zh-CN" altLang="zh-CN" sz="2400" dirty="0"/>
              <a:t>透视变换</a:t>
            </a:r>
            <a:r>
              <a:rPr lang="en-US" altLang="zh-CN" sz="2400" dirty="0"/>
              <a:t>(</a:t>
            </a:r>
            <a:r>
              <a:rPr lang="en-US" altLang="zh-CN" sz="2400" dirty="0" err="1"/>
              <a:t>warpPerspective</a:t>
            </a:r>
            <a:r>
              <a:rPr lang="en-US" altLang="zh-CN" sz="2400" dirty="0"/>
              <a:t>)</a:t>
            </a:r>
            <a:r>
              <a:rPr lang="zh-CN" altLang="zh-CN" sz="2400" dirty="0"/>
              <a:t>将图像映射到共同平面</a:t>
            </a:r>
          </a:p>
          <a:p>
            <a:pPr lvl="0"/>
            <a:r>
              <a:rPr lang="zh-CN" altLang="zh-CN" sz="2400" dirty="0"/>
              <a:t>图像融合处理重叠区域，实现平滑过渡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9655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F4A12-00AD-58FB-F097-798036981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07AC0A6-E02D-BA92-F426-3CA2B36D2493}"/>
              </a:ext>
            </a:extLst>
          </p:cNvPr>
          <p:cNvGrpSpPr/>
          <p:nvPr/>
        </p:nvGrpSpPr>
        <p:grpSpPr>
          <a:xfrm>
            <a:off x="124227" y="446024"/>
            <a:ext cx="1308333" cy="576829"/>
            <a:chOff x="124227" y="446024"/>
            <a:chExt cx="1477187" cy="576829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0785565F-3DD2-EA08-AF1D-06D638EFC590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313DF917-0ED7-07AE-29AE-82220D5BC209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4584E3FE-D82F-708C-1B18-DCD40FEA677B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9D659A08-8579-E6C7-F214-EA9E62595C20}"/>
              </a:ext>
            </a:extLst>
          </p:cNvPr>
          <p:cNvSpPr txBox="1"/>
          <p:nvPr/>
        </p:nvSpPr>
        <p:spPr>
          <a:xfrm>
            <a:off x="1387824" y="140317"/>
            <a:ext cx="32944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+mj-ea"/>
                <a:ea typeface="+mj-ea"/>
              </a:defRPr>
            </a:lvl1pPr>
          </a:lstStyle>
          <a:p>
            <a:r>
              <a:rPr lang="en-US" altLang="zh-CN" dirty="0"/>
              <a:t>DEFINITION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1B952E-5529-5D93-D004-AAAB31EE136D}"/>
              </a:ext>
            </a:extLst>
          </p:cNvPr>
          <p:cNvSpPr txBox="1"/>
          <p:nvPr/>
        </p:nvSpPr>
        <p:spPr>
          <a:xfrm>
            <a:off x="1371142" y="710587"/>
            <a:ext cx="4288353" cy="127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rgbClr val="4F4F4F"/>
                </a:solidFill>
                <a:latin typeface="PingFang SC"/>
              </a:rPr>
              <a:t>三</a:t>
            </a:r>
            <a:r>
              <a:rPr lang="zh-CN" altLang="en-US" sz="4000" b="1" i="0" dirty="0">
                <a:solidFill>
                  <a:srgbClr val="4F4F4F"/>
                </a:solidFill>
                <a:effectLst/>
                <a:latin typeface="PingFang SC"/>
              </a:rPr>
              <a:t>、</a:t>
            </a:r>
            <a:r>
              <a:rPr lang="zh-CN" altLang="zh-CN" sz="4000" b="1" dirty="0">
                <a:solidFill>
                  <a:srgbClr val="4F4F4F"/>
                </a:solidFill>
                <a:latin typeface="PingFang SC"/>
              </a:rPr>
              <a:t>用户界面设计</a:t>
            </a:r>
          </a:p>
          <a:p>
            <a:pPr algn="l">
              <a:lnSpc>
                <a:spcPts val="2100"/>
              </a:lnSpc>
              <a:spcBef>
                <a:spcPts val="1800"/>
              </a:spcBef>
              <a:spcAft>
                <a:spcPts val="600"/>
              </a:spcAft>
            </a:pPr>
            <a:endParaRPr lang="zh-CN" altLang="en-US" sz="4000" b="1" i="0" dirty="0">
              <a:solidFill>
                <a:srgbClr val="4F4F4F"/>
              </a:solidFill>
              <a:effectLst/>
              <a:latin typeface="PingFang SC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745062-6453-BC44-F9EE-8217F726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81EE703-31B4-D2A6-E162-DC41A7049FBE}"/>
              </a:ext>
            </a:extLst>
          </p:cNvPr>
          <p:cNvSpPr txBox="1"/>
          <p:nvPr/>
        </p:nvSpPr>
        <p:spPr>
          <a:xfrm>
            <a:off x="925286" y="1458686"/>
            <a:ext cx="96012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用户界面设计</a:t>
            </a:r>
            <a:endParaRPr lang="zh-CN" altLang="zh-CN" sz="2400" dirty="0"/>
          </a:p>
          <a:p>
            <a:r>
              <a:rPr lang="zh-CN" altLang="zh-CN" sz="2400" dirty="0"/>
              <a:t>系统采用</a:t>
            </a:r>
            <a:r>
              <a:rPr lang="en-US" altLang="zh-CN" sz="2400" dirty="0"/>
              <a:t>PySide6</a:t>
            </a:r>
            <a:r>
              <a:rPr lang="zh-CN" altLang="zh-CN" sz="2400" dirty="0"/>
              <a:t>（</a:t>
            </a:r>
            <a:r>
              <a:rPr lang="en-US" altLang="zh-CN" sz="2400" dirty="0"/>
              <a:t>Qt for Python</a:t>
            </a:r>
            <a:r>
              <a:rPr lang="zh-CN" altLang="zh-CN" sz="2400" dirty="0"/>
              <a:t>）构建图形用户界面，主要包括以下组件：</a:t>
            </a:r>
          </a:p>
          <a:p>
            <a:pPr lvl="0"/>
            <a:r>
              <a:rPr lang="zh-CN" altLang="zh-CN" sz="2400" b="1" dirty="0"/>
              <a:t>图像列表区域</a:t>
            </a:r>
            <a:r>
              <a:rPr lang="zh-CN" altLang="zh-CN" sz="2400" dirty="0"/>
              <a:t>：显示待拼接的图像，支持拖放操作和顺序调整</a:t>
            </a:r>
          </a:p>
          <a:p>
            <a:pPr lvl="0"/>
            <a:r>
              <a:rPr lang="zh-CN" altLang="zh-CN" sz="2400" b="1" dirty="0"/>
              <a:t>预览区域</a:t>
            </a:r>
            <a:r>
              <a:rPr lang="zh-CN" altLang="zh-CN" sz="2400" dirty="0"/>
              <a:t>：显示原始图像、特征可视化和拼接结果</a:t>
            </a:r>
          </a:p>
          <a:p>
            <a:pPr lvl="0"/>
            <a:r>
              <a:rPr lang="zh-CN" altLang="zh-CN" sz="2400" b="1" dirty="0"/>
              <a:t>控制面板</a:t>
            </a:r>
            <a:r>
              <a:rPr lang="zh-CN" altLang="zh-CN" sz="2400" dirty="0"/>
              <a:t>：包含添加、移除、清空、拼接和保存等操作按钮</a:t>
            </a:r>
          </a:p>
          <a:p>
            <a:pPr lvl="0"/>
            <a:r>
              <a:rPr lang="zh-CN" altLang="zh-CN" sz="2400" b="1" dirty="0"/>
              <a:t>拼接方法选择</a:t>
            </a:r>
            <a:r>
              <a:rPr lang="zh-CN" altLang="zh-CN" sz="2400" dirty="0"/>
              <a:t>：提供传统方法和机器学习方法的切换选项</a:t>
            </a:r>
          </a:p>
          <a:p>
            <a:pPr lvl="0"/>
            <a:r>
              <a:rPr lang="zh-CN" altLang="zh-CN" sz="2400" b="1" dirty="0"/>
              <a:t>机器学习选项</a:t>
            </a:r>
            <a:r>
              <a:rPr lang="zh-CN" altLang="zh-CN" sz="2400" dirty="0"/>
              <a:t>：控制是否使用深度学习特征和图像增强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5107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715C1-85E5-FE74-31E5-EF28C8408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E86D8F3-7F1C-2B4B-5552-8E8CBE735799}"/>
              </a:ext>
            </a:extLst>
          </p:cNvPr>
          <p:cNvGrpSpPr/>
          <p:nvPr/>
        </p:nvGrpSpPr>
        <p:grpSpPr>
          <a:xfrm>
            <a:off x="124227" y="446024"/>
            <a:ext cx="1308333" cy="576829"/>
            <a:chOff x="124227" y="446024"/>
            <a:chExt cx="1477187" cy="576829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37F799D4-D846-1D50-990B-3E864E663595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5BB526CF-2448-EED0-0B0C-EB9FC6FBEA0C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FE1083E6-8659-5C3D-2716-E2F6E2A7EA30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10589C63-F1BF-ED21-0EEB-D1E1A638AB6D}"/>
              </a:ext>
            </a:extLst>
          </p:cNvPr>
          <p:cNvSpPr txBox="1"/>
          <p:nvPr/>
        </p:nvSpPr>
        <p:spPr>
          <a:xfrm>
            <a:off x="1387824" y="140317"/>
            <a:ext cx="32944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+mj-ea"/>
                <a:ea typeface="+mj-ea"/>
              </a:defRPr>
            </a:lvl1pPr>
          </a:lstStyle>
          <a:p>
            <a:r>
              <a:rPr lang="en-US" altLang="zh-CN" dirty="0"/>
              <a:t>DEFINITION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9DB1FF-298C-2930-CFB8-0A2C387AAF7F}"/>
              </a:ext>
            </a:extLst>
          </p:cNvPr>
          <p:cNvSpPr txBox="1"/>
          <p:nvPr/>
        </p:nvSpPr>
        <p:spPr>
          <a:xfrm>
            <a:off x="1371142" y="710587"/>
            <a:ext cx="66607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rgbClr val="4F4F4F"/>
                </a:solidFill>
                <a:latin typeface="PingFang SC"/>
              </a:rPr>
              <a:t>三、对比</a:t>
            </a:r>
            <a:r>
              <a:rPr lang="en-US" altLang="zh-CN" sz="4000" b="1" dirty="0">
                <a:solidFill>
                  <a:srgbClr val="4F4F4F"/>
                </a:solidFill>
                <a:latin typeface="PingFang SC"/>
              </a:rPr>
              <a:t>(</a:t>
            </a:r>
            <a:r>
              <a:rPr lang="zh-CN" altLang="en-US" sz="4000" b="1" dirty="0">
                <a:solidFill>
                  <a:srgbClr val="4F4F4F"/>
                </a:solidFill>
                <a:latin typeface="PingFang SC"/>
              </a:rPr>
              <a:t>使用深度学习模型</a:t>
            </a:r>
            <a:r>
              <a:rPr lang="en-US" altLang="zh-CN" sz="4000" b="1" dirty="0">
                <a:solidFill>
                  <a:srgbClr val="4F4F4F"/>
                </a:solidFill>
                <a:latin typeface="PingFang SC"/>
              </a:rPr>
              <a:t>)</a:t>
            </a:r>
            <a:endParaRPr lang="zh-CN" altLang="en-US" sz="4000" b="1" i="0" dirty="0">
              <a:solidFill>
                <a:srgbClr val="4F4F4F"/>
              </a:solidFill>
              <a:effectLst/>
              <a:latin typeface="PingFang SC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7E3E2F-C1AC-4579-7798-D4B5BE3A2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D3FBF0-3415-979B-624F-509825B6F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1" y="1418473"/>
            <a:ext cx="8408126" cy="511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37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CBF75-3E5A-E555-6BC6-C0D28F706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3F4FA72-F1F1-70A2-48B7-A8A9AECF8EF6}"/>
              </a:ext>
            </a:extLst>
          </p:cNvPr>
          <p:cNvGrpSpPr/>
          <p:nvPr/>
        </p:nvGrpSpPr>
        <p:grpSpPr>
          <a:xfrm>
            <a:off x="124227" y="446024"/>
            <a:ext cx="1308333" cy="576829"/>
            <a:chOff x="124227" y="446024"/>
            <a:chExt cx="1477187" cy="576829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A5092421-85F6-4134-7595-50C7D822E929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65EDF8E3-AE1F-EF81-2B53-6FF1286EADBC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F7B95D0A-9C42-C69A-90CD-46C949C81028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04C33856-E9EE-14A6-3318-2BD32A0250EA}"/>
              </a:ext>
            </a:extLst>
          </p:cNvPr>
          <p:cNvSpPr txBox="1"/>
          <p:nvPr/>
        </p:nvSpPr>
        <p:spPr>
          <a:xfrm>
            <a:off x="1387824" y="140317"/>
            <a:ext cx="32944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+mj-ea"/>
                <a:ea typeface="+mj-ea"/>
              </a:defRPr>
            </a:lvl1pPr>
          </a:lstStyle>
          <a:p>
            <a:r>
              <a:rPr lang="en-US" altLang="zh-CN" dirty="0"/>
              <a:t>DEFINITION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2B42CF-E7E6-1C03-8A06-B5EFC32CCBF7}"/>
              </a:ext>
            </a:extLst>
          </p:cNvPr>
          <p:cNvSpPr txBox="1"/>
          <p:nvPr/>
        </p:nvSpPr>
        <p:spPr>
          <a:xfrm>
            <a:off x="1371142" y="710587"/>
            <a:ext cx="46089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rgbClr val="4F4F4F"/>
                </a:solidFill>
                <a:latin typeface="PingFang SC"/>
              </a:rPr>
              <a:t>三、对比</a:t>
            </a:r>
            <a:r>
              <a:rPr lang="en-US" altLang="zh-CN" sz="4000" b="1" dirty="0">
                <a:solidFill>
                  <a:srgbClr val="4F4F4F"/>
                </a:solidFill>
                <a:latin typeface="PingFang SC"/>
              </a:rPr>
              <a:t>(</a:t>
            </a:r>
            <a:r>
              <a:rPr lang="zh-CN" altLang="en-US" sz="4000" b="1" dirty="0">
                <a:solidFill>
                  <a:srgbClr val="4F4F4F"/>
                </a:solidFill>
                <a:latin typeface="PingFang SC"/>
              </a:rPr>
              <a:t>传统方法</a:t>
            </a:r>
            <a:r>
              <a:rPr lang="en-US" altLang="zh-CN" sz="4000" b="1" dirty="0">
                <a:solidFill>
                  <a:srgbClr val="4F4F4F"/>
                </a:solidFill>
                <a:latin typeface="PingFang SC"/>
              </a:rPr>
              <a:t>)</a:t>
            </a:r>
            <a:endParaRPr lang="zh-CN" altLang="en-US" sz="4000" b="1" i="0" dirty="0">
              <a:solidFill>
                <a:srgbClr val="4F4F4F"/>
              </a:solidFill>
              <a:effectLst/>
              <a:latin typeface="PingFang SC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238119-4EF7-C35C-1983-5C6E01FA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727FE81-90D8-2C09-86F4-6612C9B2A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435" y="1616688"/>
            <a:ext cx="8274136" cy="503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467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90650-1BE3-83C6-61FE-1B98ABB73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59A5CED-8A80-3634-6DE8-89472691F07F}"/>
              </a:ext>
            </a:extLst>
          </p:cNvPr>
          <p:cNvGrpSpPr/>
          <p:nvPr/>
        </p:nvGrpSpPr>
        <p:grpSpPr>
          <a:xfrm>
            <a:off x="124227" y="446024"/>
            <a:ext cx="1308333" cy="576829"/>
            <a:chOff x="124227" y="446024"/>
            <a:chExt cx="1477187" cy="576829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8DE75C6C-8A08-C495-311F-34FA48A56718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D0F39546-10DD-FCBE-9B73-2B521BD3DF22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5F869E9-9A11-281D-86B9-77BDF4B7E502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56355DB0-085E-3B3F-ECCF-7B632A4A5D18}"/>
              </a:ext>
            </a:extLst>
          </p:cNvPr>
          <p:cNvSpPr txBox="1"/>
          <p:nvPr/>
        </p:nvSpPr>
        <p:spPr>
          <a:xfrm>
            <a:off x="1387824" y="140317"/>
            <a:ext cx="32944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+mj-ea"/>
                <a:ea typeface="+mj-ea"/>
              </a:defRPr>
            </a:lvl1pPr>
          </a:lstStyle>
          <a:p>
            <a:r>
              <a:rPr lang="en-US" altLang="zh-CN" dirty="0"/>
              <a:t>DEFINITION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D2865D-B2F7-16CA-856B-D135773E5C22}"/>
              </a:ext>
            </a:extLst>
          </p:cNvPr>
          <p:cNvSpPr txBox="1"/>
          <p:nvPr/>
        </p:nvSpPr>
        <p:spPr>
          <a:xfrm>
            <a:off x="1371142" y="710587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rgbClr val="4F4F4F"/>
                </a:solidFill>
                <a:latin typeface="PingFang SC"/>
              </a:rPr>
              <a:t>三、对比</a:t>
            </a:r>
            <a:endParaRPr lang="zh-CN" altLang="en-US" sz="4000" b="1" i="0" dirty="0">
              <a:solidFill>
                <a:srgbClr val="4F4F4F"/>
              </a:solidFill>
              <a:effectLst/>
              <a:latin typeface="PingFang SC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D4D5F9-29A5-2EA6-430F-FC2D647E3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735339-F34E-BAA1-C8CC-C6A8263F5C9F}"/>
              </a:ext>
            </a:extLst>
          </p:cNvPr>
          <p:cNvSpPr txBox="1"/>
          <p:nvPr/>
        </p:nvSpPr>
        <p:spPr>
          <a:xfrm>
            <a:off x="1006927" y="1576985"/>
            <a:ext cx="90297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拼接效果对比</a:t>
            </a:r>
          </a:p>
          <a:p>
            <a:r>
              <a:rPr lang="zh-CN" altLang="zh-CN" sz="2400" dirty="0"/>
              <a:t>可以看到，虽然两种方法都可以拼接图片，但是机器学习方法拼接的图片并不理想，问题最大的可能就是图片的锐度过高，但是相对于传统方法，机器学习训练出的模型，通过预处理和深度特征提取，能够在传统方法难以提取足够特征点的情况下仍然实现拼接。虽然质量不高，但是仍然有进步的空间，这也是进一步改进的方向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6189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85EDA"/>
      </a:accent1>
      <a:accent2>
        <a:srgbClr val="F4711E"/>
      </a:accent2>
      <a:accent3>
        <a:srgbClr val="EE7A5D"/>
      </a:accent3>
      <a:accent4>
        <a:srgbClr val="814FEC"/>
      </a:accent4>
      <a:accent5>
        <a:srgbClr val="FCBA03"/>
      </a:accent5>
      <a:accent6>
        <a:srgbClr val="07B2C4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 Nova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4092</TotalTime>
  <Words>851</Words>
  <Application>Microsoft Office PowerPoint</Application>
  <PresentationFormat>宽屏</PresentationFormat>
  <Paragraphs>102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PingFang SC</vt:lpstr>
      <vt:lpstr>Segoe WPC</vt:lpstr>
      <vt:lpstr>等线</vt:lpstr>
      <vt:lpstr>Arial</vt:lpstr>
      <vt:lpstr>Arial Nova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萧敬聪</dc:creator>
  <cp:lastModifiedBy>maikesw D</cp:lastModifiedBy>
  <cp:revision>39</cp:revision>
  <dcterms:created xsi:type="dcterms:W3CDTF">2021-11-24T02:19:56Z</dcterms:created>
  <dcterms:modified xsi:type="dcterms:W3CDTF">2025-07-15T12:59:35Z</dcterms:modified>
</cp:coreProperties>
</file>