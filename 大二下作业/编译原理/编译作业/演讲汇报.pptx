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3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4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5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6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7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8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9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10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28"/>
  </p:notesMasterIdLst>
  <p:sldIdLst>
    <p:sldId id="298" r:id="rId3"/>
    <p:sldId id="1133" r:id="rId4"/>
    <p:sldId id="379" r:id="rId5"/>
    <p:sldId id="11089982" r:id="rId6"/>
    <p:sldId id="11090070" r:id="rId7"/>
    <p:sldId id="11090072" r:id="rId8"/>
    <p:sldId id="11090049" r:id="rId9"/>
    <p:sldId id="11090051" r:id="rId10"/>
    <p:sldId id="11090040" r:id="rId11"/>
    <p:sldId id="382" r:id="rId12"/>
    <p:sldId id="11090063" r:id="rId13"/>
    <p:sldId id="11090064" r:id="rId14"/>
    <p:sldId id="11090069" r:id="rId15"/>
    <p:sldId id="11090073" r:id="rId16"/>
    <p:sldId id="11090075" r:id="rId17"/>
    <p:sldId id="11090074" r:id="rId18"/>
    <p:sldId id="11090076" r:id="rId19"/>
    <p:sldId id="11090077" r:id="rId20"/>
    <p:sldId id="11090078" r:id="rId21"/>
    <p:sldId id="11090079" r:id="rId22"/>
    <p:sldId id="11090080" r:id="rId23"/>
    <p:sldId id="11090081" r:id="rId24"/>
    <p:sldId id="11090082" r:id="rId25"/>
    <p:sldId id="11090083" r:id="rId26"/>
    <p:sldId id="11090086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5CB5-83DA-4413-A112-73BCB0B9DC0C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1E1BF-BD1D-42B3-9D8B-EB23553A3A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9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25" y="951365"/>
            <a:ext cx="7677150" cy="93503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7425" y="925966"/>
            <a:ext cx="7677150" cy="935037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25" y="951365"/>
            <a:ext cx="7677150" cy="93503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7425" y="925966"/>
            <a:ext cx="7677150" cy="935037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67723-2E09-4D6F-AD0B-CF86EF43C6DE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C1D9-153B-45BB-B5DE-7579A53756C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2952A-0647-46EA-8310-EDCEE27AFB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tags" Target="../tags/tag18.xml"/><Relationship Id="rId21" Type="http://schemas.openxmlformats.org/officeDocument/2006/relationships/tags" Target="../tags/tag36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notesSlide" Target="../notesSlides/notesSlide2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slideLayout" Target="../slideLayouts/slideLayout4.xml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2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5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4.png"/><Relationship Id="rId5" Type="http://schemas.openxmlformats.org/officeDocument/2006/relationships/tags" Target="../tags/tag58.xml"/><Relationship Id="rId10" Type="http://schemas.openxmlformats.org/officeDocument/2006/relationships/image" Target="../media/image3.png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9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8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7.png"/><Relationship Id="rId5" Type="http://schemas.openxmlformats.org/officeDocument/2006/relationships/tags" Target="../tags/tag66.xml"/><Relationship Id="rId10" Type="http://schemas.openxmlformats.org/officeDocument/2006/relationships/image" Target="../media/image6.png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4.xml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6" Type="http://schemas.openxmlformats.org/officeDocument/2006/relationships/image" Target="../media/image12.pn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image" Target="../media/image11.png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image" Target="../media/image13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83.xml"/><Relationship Id="rId16" Type="http://schemas.openxmlformats.org/officeDocument/2006/relationships/image" Target="../media/image16.png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86.xml"/><Relationship Id="rId15" Type="http://schemas.openxmlformats.org/officeDocument/2006/relationships/image" Target="../media/image15.png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9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2" Type="http://schemas.openxmlformats.org/officeDocument/2006/relationships/tags" Target="../tags/tag97.xml"/><Relationship Id="rId16" Type="http://schemas.openxmlformats.org/officeDocument/2006/relationships/image" Target="../media/image17.png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11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117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23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10" Type="http://schemas.openxmlformats.org/officeDocument/2006/relationships/image" Target="../media/image23.png"/><Relationship Id="rId4" Type="http://schemas.openxmlformats.org/officeDocument/2006/relationships/tags" Target="../tags/tag124.xm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133.xml"/><Relationship Id="rId7" Type="http://schemas.openxmlformats.org/officeDocument/2006/relationships/image" Target="../media/image24.png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35.xml"/><Relationship Id="rId4" Type="http://schemas.openxmlformats.org/officeDocument/2006/relationships/tags" Target="../tags/tag13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138.xml"/><Relationship Id="rId7" Type="http://schemas.openxmlformats.org/officeDocument/2006/relationships/image" Target="../media/image24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40.xml"/><Relationship Id="rId4" Type="http://schemas.openxmlformats.org/officeDocument/2006/relationships/tags" Target="../tags/tag13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143.xml"/><Relationship Id="rId7" Type="http://schemas.openxmlformats.org/officeDocument/2006/relationships/image" Target="../media/image27.pn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arallelogram 15"/>
          <p:cNvSpPr/>
          <p:nvPr userDrawn="1">
            <p:custDataLst>
              <p:tags r:id="rId2"/>
            </p:custDataLst>
          </p:nvPr>
        </p:nvSpPr>
        <p:spPr>
          <a:xfrm>
            <a:off x="6214745" y="0"/>
            <a:ext cx="5312410" cy="6858000"/>
          </a:xfrm>
          <a:prstGeom prst="parallelogram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Parallelogram 17"/>
          <p:cNvSpPr/>
          <p:nvPr userDrawn="1">
            <p:custDataLst>
              <p:tags r:id="rId3"/>
            </p:custDataLst>
          </p:nvPr>
        </p:nvSpPr>
        <p:spPr>
          <a:xfrm flipH="1">
            <a:off x="530225" y="0"/>
            <a:ext cx="5312410" cy="6858000"/>
          </a:xfrm>
          <a:prstGeom prst="parallelogram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val 21"/>
          <p:cNvSpPr/>
          <p:nvPr userDrawn="1">
            <p:custDataLst>
              <p:tags r:id="rId4"/>
            </p:custDataLst>
          </p:nvPr>
        </p:nvSpPr>
        <p:spPr>
          <a:xfrm>
            <a:off x="2927032" y="1749742"/>
            <a:ext cx="6575425" cy="3140710"/>
          </a:xfrm>
          <a:prstGeom prst="roundRect">
            <a:avLst>
              <a:gd name="adj" fmla="val 535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"/>
          <p:cNvSpPr/>
          <p:nvPr userDrawn="1">
            <p:custDataLst>
              <p:tags r:id="rId5"/>
            </p:custDataLst>
          </p:nvPr>
        </p:nvSpPr>
        <p:spPr>
          <a:xfrm>
            <a:off x="3120390" y="1868805"/>
            <a:ext cx="6293485" cy="2902585"/>
          </a:xfrm>
          <a:prstGeom prst="roundRect">
            <a:avLst>
              <a:gd name="adj" fmla="val 4684"/>
            </a:avLst>
          </a:prstGeom>
          <a:noFill/>
          <a:ln>
            <a:solidFill>
              <a:schemeClr val="bg1"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6"/>
          <p:cNvSpPr/>
          <p:nvPr userDrawn="1">
            <p:custDataLst>
              <p:tags r:id="rId6"/>
            </p:custDataLst>
          </p:nvPr>
        </p:nvSpPr>
        <p:spPr>
          <a:xfrm rot="5400000">
            <a:off x="8206740" y="5504815"/>
            <a:ext cx="962025" cy="93853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lumMod val="95000"/>
            </a:schemeClr>
          </a:solidFill>
          <a:ln w="571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!!平滑2"/>
          <p:cNvSpPr/>
          <p:nvPr userDrawn="1">
            <p:custDataLst>
              <p:tags r:id="rId7"/>
            </p:custDataLst>
          </p:nvPr>
        </p:nvSpPr>
        <p:spPr>
          <a:xfrm rot="7920000">
            <a:off x="-994410" y="5386070"/>
            <a:ext cx="2820035" cy="26168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/>
          </a:solidFill>
          <a:ln w="3619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!!平滑1"/>
          <p:cNvSpPr/>
          <p:nvPr userDrawn="1">
            <p:custDataLst>
              <p:tags r:id="rId8"/>
            </p:custDataLst>
          </p:nvPr>
        </p:nvSpPr>
        <p:spPr>
          <a:xfrm rot="5400000">
            <a:off x="1079500" y="818515"/>
            <a:ext cx="556895" cy="51689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lumMod val="95000"/>
            </a:schemeClr>
          </a:solidFill>
          <a:ln w="571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!!平滑4"/>
          <p:cNvSpPr/>
          <p:nvPr userDrawn="1">
            <p:custDataLst>
              <p:tags r:id="rId9"/>
            </p:custDataLst>
          </p:nvPr>
        </p:nvSpPr>
        <p:spPr>
          <a:xfrm rot="5400000">
            <a:off x="9563735" y="1038860"/>
            <a:ext cx="328295" cy="3054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" name="!!平滑3"/>
          <p:cNvSpPr/>
          <p:nvPr userDrawn="1">
            <p:custDataLst>
              <p:tags r:id="rId10"/>
            </p:custDataLst>
          </p:nvPr>
        </p:nvSpPr>
        <p:spPr>
          <a:xfrm rot="7920000">
            <a:off x="10354310" y="-963930"/>
            <a:ext cx="2820035" cy="26168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/>
          </a:solidFill>
          <a:ln w="3619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!!平滑5"/>
          <p:cNvSpPr/>
          <p:nvPr userDrawn="1">
            <p:custDataLst>
              <p:tags r:id="rId11"/>
            </p:custDataLst>
          </p:nvPr>
        </p:nvSpPr>
        <p:spPr>
          <a:xfrm rot="5400000">
            <a:off x="11011535" y="3244850"/>
            <a:ext cx="601345" cy="55880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日期"/>
          <p:cNvSpPr txBox="1"/>
          <p:nvPr>
            <p:custDataLst>
              <p:tags r:id="rId12"/>
            </p:custDataLst>
          </p:nvPr>
        </p:nvSpPr>
        <p:spPr>
          <a:xfrm>
            <a:off x="4101782" y="3667191"/>
            <a:ext cx="43218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rPr>
              <a:t>2025/4/13</a:t>
            </a:r>
          </a:p>
        </p:txBody>
      </p:sp>
      <p:sp>
        <p:nvSpPr>
          <p:cNvPr id="7" name="标题"/>
          <p:cNvSpPr txBox="1"/>
          <p:nvPr>
            <p:custDataLst>
              <p:tags r:id="rId13"/>
            </p:custDataLst>
          </p:nvPr>
        </p:nvSpPr>
        <p:spPr>
          <a:xfrm>
            <a:off x="3115945" y="2511967"/>
            <a:ext cx="6293485" cy="769620"/>
          </a:xfrm>
          <a:prstGeom prst="rect">
            <a:avLst/>
          </a:prstGeom>
          <a:noFill/>
        </p:spPr>
        <p:txBody>
          <a:bodyPr wrap="square" rtlCol="0" anchor="ctr" anchorCtr="0">
            <a:normAutofit fontScale="97500"/>
          </a:bodyPr>
          <a:lstStyle/>
          <a:p>
            <a:pPr algn="ctr" fontAlgn="ctr"/>
            <a:r>
              <a:rPr lang="zh-CN" altLang="en-US" sz="4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Heavy" panose="020B0A00000000000000" charset="-122"/>
                <a:sym typeface="+mn-ea"/>
              </a:rPr>
              <a:t> 大实例代码优化</a:t>
            </a:r>
            <a:endParaRPr lang="en-US" sz="4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" panose="00000500000000000000" pitchFamily="2" charset="0"/>
            </a:endParaRPr>
          </a:p>
        </p:txBody>
      </p:sp>
      <p:sp>
        <p:nvSpPr>
          <p:cNvPr id="2" name="汇报人"/>
          <p:cNvSpPr/>
          <p:nvPr>
            <p:custDataLst>
              <p:tags r:id="rId14"/>
            </p:custDataLst>
          </p:nvPr>
        </p:nvSpPr>
        <p:spPr>
          <a:xfrm>
            <a:off x="3421626" y="4243268"/>
            <a:ext cx="6080831" cy="368204"/>
          </a:xfrm>
          <a:prstGeom prst="rect">
            <a:avLst/>
          </a:prstGeom>
        </p:spPr>
        <p:txBody>
          <a:bodyPr wrap="square" anchor="ctr" anchorCtr="0"/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成员：邓杰湧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贾晋宇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柳希直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尹衍哲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9" grpId="0" animBg="1"/>
      <p:bldP spid="11" grpId="0" animBg="1"/>
      <p:bldP spid="13" grpId="0" animBg="1"/>
      <p:bldP spid="35" grpId="0" animBg="1"/>
      <p:bldP spid="36" grpId="0" animBg="1"/>
      <p:bldP spid="34" grpId="0" animBg="1"/>
      <p:bldP spid="8" grpId="0"/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平滑2"/>
          <p:cNvSpPr/>
          <p:nvPr>
            <p:custDataLst>
              <p:tags r:id="rId2"/>
            </p:custDataLst>
          </p:nvPr>
        </p:nvSpPr>
        <p:spPr>
          <a:xfrm rot="16200000">
            <a:off x="8784622" y="-621842"/>
            <a:ext cx="2244903" cy="22454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!!平滑3"/>
          <p:cNvSpPr/>
          <p:nvPr>
            <p:custDataLst>
              <p:tags r:id="rId3"/>
            </p:custDataLst>
          </p:nvPr>
        </p:nvSpPr>
        <p:spPr>
          <a:xfrm rot="16200000">
            <a:off x="8331655" y="5011848"/>
            <a:ext cx="2689256" cy="26899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!!平滑4"/>
          <p:cNvSpPr/>
          <p:nvPr>
            <p:custDataLst>
              <p:tags r:id="rId4"/>
            </p:custDataLst>
          </p:nvPr>
        </p:nvSpPr>
        <p:spPr>
          <a:xfrm rot="16200000">
            <a:off x="7465823" y="6039236"/>
            <a:ext cx="1318377" cy="13187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!!平滑1"/>
          <p:cNvSpPr/>
          <p:nvPr>
            <p:custDataLst>
              <p:tags r:id="rId5"/>
            </p:custDataLst>
          </p:nvPr>
        </p:nvSpPr>
        <p:spPr>
          <a:xfrm rot="16200000">
            <a:off x="-512013" y="6102415"/>
            <a:ext cx="1644180" cy="1644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!!平滑9"/>
          <p:cNvSpPr/>
          <p:nvPr>
            <p:custDataLst>
              <p:tags r:id="rId6"/>
            </p:custDataLst>
          </p:nvPr>
        </p:nvSpPr>
        <p:spPr>
          <a:xfrm rot="10800000">
            <a:off x="11178805" y="4851664"/>
            <a:ext cx="1947038" cy="1947673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!!平滑7"/>
          <p:cNvSpPr/>
          <p:nvPr>
            <p:custDataLst>
              <p:tags r:id="rId7"/>
            </p:custDataLst>
          </p:nvPr>
        </p:nvSpPr>
        <p:spPr>
          <a:xfrm rot="10800000">
            <a:off x="10776319" y="3959722"/>
            <a:ext cx="1130006" cy="11300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!!平滑5"/>
          <p:cNvSpPr/>
          <p:nvPr>
            <p:custDataLst>
              <p:tags r:id="rId8"/>
            </p:custDataLst>
          </p:nvPr>
        </p:nvSpPr>
        <p:spPr>
          <a:xfrm rot="10800000">
            <a:off x="10159261" y="343704"/>
            <a:ext cx="2797716" cy="2798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!!平滑13"/>
          <p:cNvSpPr/>
          <p:nvPr>
            <p:custDataLst>
              <p:tags r:id="rId9"/>
            </p:custDataLst>
          </p:nvPr>
        </p:nvSpPr>
        <p:spPr>
          <a:xfrm rot="10800000">
            <a:off x="11115321" y="2382158"/>
            <a:ext cx="1350928" cy="1350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!!平滑6"/>
          <p:cNvSpPr/>
          <p:nvPr>
            <p:custDataLst>
              <p:tags r:id="rId10"/>
            </p:custDataLst>
          </p:nvPr>
        </p:nvSpPr>
        <p:spPr>
          <a:xfrm rot="10800000">
            <a:off x="10007535" y="-680285"/>
            <a:ext cx="1893712" cy="1894347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!!平滑14"/>
          <p:cNvSpPr/>
          <p:nvPr>
            <p:custDataLst>
              <p:tags r:id="rId11"/>
            </p:custDataLst>
          </p:nvPr>
        </p:nvSpPr>
        <p:spPr>
          <a:xfrm rot="10800000">
            <a:off x="10204333" y="4998946"/>
            <a:ext cx="817667" cy="8176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!!平滑11"/>
          <p:cNvSpPr/>
          <p:nvPr>
            <p:custDataLst>
              <p:tags r:id="rId12"/>
            </p:custDataLst>
          </p:nvPr>
        </p:nvSpPr>
        <p:spPr>
          <a:xfrm rot="10800000">
            <a:off x="11030253" y="4998947"/>
            <a:ext cx="245046" cy="24568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!!平滑10"/>
          <p:cNvSpPr/>
          <p:nvPr>
            <p:custDataLst>
              <p:tags r:id="rId13"/>
            </p:custDataLst>
          </p:nvPr>
        </p:nvSpPr>
        <p:spPr>
          <a:xfrm rot="10800000">
            <a:off x="11390840" y="5551253"/>
            <a:ext cx="334558" cy="3345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!!平滑8"/>
          <p:cNvSpPr/>
          <p:nvPr>
            <p:custDataLst>
              <p:tags r:id="rId14"/>
            </p:custDataLst>
          </p:nvPr>
        </p:nvSpPr>
        <p:spPr>
          <a:xfrm rot="10800000">
            <a:off x="10367486" y="6295914"/>
            <a:ext cx="245046" cy="24568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!!平滑12"/>
          <p:cNvSpPr/>
          <p:nvPr>
            <p:custDataLst>
              <p:tags r:id="rId15"/>
            </p:custDataLst>
          </p:nvPr>
        </p:nvSpPr>
        <p:spPr>
          <a:xfrm rot="10800000">
            <a:off x="10539526" y="3476613"/>
            <a:ext cx="490727" cy="4907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矩形 18"/>
          <p:cNvSpPr/>
          <p:nvPr/>
        </p:nvSpPr>
        <p:spPr>
          <a:xfrm>
            <a:off x="450850" y="135890"/>
            <a:ext cx="44875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8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改进条目</a:t>
            </a:r>
          </a:p>
        </p:txBody>
      </p:sp>
      <p:sp>
        <p:nvSpPr>
          <p:cNvPr id="29" name="矩形 28"/>
          <p:cNvSpPr/>
          <p:nvPr/>
        </p:nvSpPr>
        <p:spPr>
          <a:xfrm>
            <a:off x="450764" y="830939"/>
            <a:ext cx="2203693" cy="521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8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31" name="目录1"/>
          <p:cNvGrpSpPr/>
          <p:nvPr/>
        </p:nvGrpSpPr>
        <p:grpSpPr>
          <a:xfrm>
            <a:off x="1132463" y="2061336"/>
            <a:ext cx="7651662" cy="363760"/>
            <a:chOff x="3994" y="2968"/>
            <a:chExt cx="12053" cy="573"/>
          </a:xfrm>
        </p:grpSpPr>
        <p:sp>
          <p:nvSpPr>
            <p:cNvPr id="32" name="TextBox 9"/>
            <p:cNvSpPr txBox="1"/>
            <p:nvPr>
              <p:custDataLst>
                <p:tags r:id="rId21"/>
              </p:custDataLst>
            </p:nvPr>
          </p:nvSpPr>
          <p:spPr>
            <a:xfrm>
              <a:off x="4395" y="2968"/>
              <a:ext cx="11652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en-US" altLang="zh-CN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index</a:t>
              </a:r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页面的登录注册功能</a:t>
              </a:r>
            </a:p>
          </p:txBody>
        </p:sp>
        <p:sp>
          <p:nvSpPr>
            <p:cNvPr id="34" name="Freeform 18"/>
            <p:cNvSpPr/>
            <p:nvPr>
              <p:custDataLst>
                <p:tags r:id="rId22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目录2"/>
          <p:cNvGrpSpPr/>
          <p:nvPr/>
        </p:nvGrpSpPr>
        <p:grpSpPr>
          <a:xfrm>
            <a:off x="1132463" y="2688173"/>
            <a:ext cx="7651662" cy="374552"/>
            <a:chOff x="3994" y="4039"/>
            <a:chExt cx="12053" cy="590"/>
          </a:xfrm>
        </p:grpSpPr>
        <p:sp>
          <p:nvSpPr>
            <p:cNvPr id="37" name="TextBox 12"/>
            <p:cNvSpPr txBox="1"/>
            <p:nvPr>
              <p:custDataLst>
                <p:tags r:id="rId19"/>
              </p:custDataLst>
            </p:nvPr>
          </p:nvSpPr>
          <p:spPr>
            <a:xfrm>
              <a:off x="4395" y="4039"/>
              <a:ext cx="11652" cy="590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实现首页前端界面</a:t>
              </a:r>
            </a:p>
          </p:txBody>
        </p:sp>
        <p:sp>
          <p:nvSpPr>
            <p:cNvPr id="39" name="Freeform 21"/>
            <p:cNvSpPr/>
            <p:nvPr>
              <p:custDataLst>
                <p:tags r:id="rId20"/>
              </p:custDataLst>
            </p:nvPr>
          </p:nvSpPr>
          <p:spPr>
            <a:xfrm>
              <a:off x="3994" y="4105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Freeform 24"/>
          <p:cNvSpPr/>
          <p:nvPr>
            <p:custDataLst>
              <p:tags r:id="rId16"/>
            </p:custDataLst>
          </p:nvPr>
        </p:nvSpPr>
        <p:spPr>
          <a:xfrm>
            <a:off x="1132205" y="3316605"/>
            <a:ext cx="189230" cy="189230"/>
          </a:xfrm>
          <a:custGeom>
            <a:avLst/>
            <a:gdLst>
              <a:gd name="connsiteX0" fmla="*/ 1428547 w 2857092"/>
              <a:gd name="connsiteY0" fmla="*/ 541531 h 2857094"/>
              <a:gd name="connsiteX1" fmla="*/ 541532 w 2857092"/>
              <a:gd name="connsiteY1" fmla="*/ 1428546 h 2857094"/>
              <a:gd name="connsiteX2" fmla="*/ 1428547 w 2857092"/>
              <a:gd name="connsiteY2" fmla="*/ 2315561 h 2857094"/>
              <a:gd name="connsiteX3" fmla="*/ 2315562 w 2857092"/>
              <a:gd name="connsiteY3" fmla="*/ 1428546 h 2857094"/>
              <a:gd name="connsiteX4" fmla="*/ 1428547 w 2857092"/>
              <a:gd name="connsiteY4" fmla="*/ 541531 h 2857094"/>
              <a:gd name="connsiteX5" fmla="*/ 1428546 w 2857092"/>
              <a:gd name="connsiteY5" fmla="*/ 0 h 2857094"/>
              <a:gd name="connsiteX6" fmla="*/ 2857092 w 2857092"/>
              <a:gd name="connsiteY6" fmla="*/ 1428547 h 2857094"/>
              <a:gd name="connsiteX7" fmla="*/ 1428546 w 2857092"/>
              <a:gd name="connsiteY7" fmla="*/ 2857094 h 2857094"/>
              <a:gd name="connsiteX8" fmla="*/ 0 w 2857092"/>
              <a:gd name="connsiteY8" fmla="*/ 1428547 h 2857094"/>
              <a:gd name="connsiteX9" fmla="*/ 1428546 w 2857092"/>
              <a:gd name="connsiteY9" fmla="*/ 0 h 2857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57092" h="2857094">
                <a:moveTo>
                  <a:pt x="1428547" y="541531"/>
                </a:moveTo>
                <a:cubicBezTo>
                  <a:pt x="938662" y="541531"/>
                  <a:pt x="541532" y="938661"/>
                  <a:pt x="541532" y="1428546"/>
                </a:cubicBezTo>
                <a:cubicBezTo>
                  <a:pt x="541532" y="1918431"/>
                  <a:pt x="938662" y="2315561"/>
                  <a:pt x="1428547" y="2315561"/>
                </a:cubicBezTo>
                <a:cubicBezTo>
                  <a:pt x="1918432" y="2315561"/>
                  <a:pt x="2315562" y="1918431"/>
                  <a:pt x="2315562" y="1428546"/>
                </a:cubicBezTo>
                <a:cubicBezTo>
                  <a:pt x="2315562" y="938661"/>
                  <a:pt x="1918432" y="541531"/>
                  <a:pt x="1428547" y="541531"/>
                </a:cubicBezTo>
                <a:close/>
                <a:moveTo>
                  <a:pt x="1428546" y="0"/>
                </a:moveTo>
                <a:cubicBezTo>
                  <a:pt x="2217510" y="0"/>
                  <a:pt x="2857092" y="639582"/>
                  <a:pt x="2857092" y="1428547"/>
                </a:cubicBezTo>
                <a:cubicBezTo>
                  <a:pt x="2857092" y="2217512"/>
                  <a:pt x="2217510" y="2857094"/>
                  <a:pt x="1428546" y="2857094"/>
                </a:cubicBezTo>
                <a:cubicBezTo>
                  <a:pt x="639582" y="2857094"/>
                  <a:pt x="0" y="2217512"/>
                  <a:pt x="0" y="1428547"/>
                </a:cubicBezTo>
                <a:cubicBezTo>
                  <a:pt x="0" y="639582"/>
                  <a:pt x="639582" y="0"/>
                  <a:pt x="14285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736" tIns="36186" rIns="71736" bIns="36186" rtlCol="0" anchor="ctr" anchorCtr="0">
            <a:noAutofit/>
          </a:bodyPr>
          <a:lstStyle/>
          <a:p>
            <a:pPr algn="ctr"/>
            <a:endParaRPr 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Freeform 24"/>
          <p:cNvSpPr/>
          <p:nvPr>
            <p:custDataLst>
              <p:tags r:id="rId17"/>
            </p:custDataLst>
          </p:nvPr>
        </p:nvSpPr>
        <p:spPr>
          <a:xfrm>
            <a:off x="1132205" y="3903980"/>
            <a:ext cx="189230" cy="189230"/>
          </a:xfrm>
          <a:custGeom>
            <a:avLst/>
            <a:gdLst>
              <a:gd name="connsiteX0" fmla="*/ 1428547 w 2857092"/>
              <a:gd name="connsiteY0" fmla="*/ 541531 h 2857094"/>
              <a:gd name="connsiteX1" fmla="*/ 541532 w 2857092"/>
              <a:gd name="connsiteY1" fmla="*/ 1428546 h 2857094"/>
              <a:gd name="connsiteX2" fmla="*/ 1428547 w 2857092"/>
              <a:gd name="connsiteY2" fmla="*/ 2315561 h 2857094"/>
              <a:gd name="connsiteX3" fmla="*/ 2315562 w 2857092"/>
              <a:gd name="connsiteY3" fmla="*/ 1428546 h 2857094"/>
              <a:gd name="connsiteX4" fmla="*/ 1428547 w 2857092"/>
              <a:gd name="connsiteY4" fmla="*/ 541531 h 2857094"/>
              <a:gd name="connsiteX5" fmla="*/ 1428546 w 2857092"/>
              <a:gd name="connsiteY5" fmla="*/ 0 h 2857094"/>
              <a:gd name="connsiteX6" fmla="*/ 2857092 w 2857092"/>
              <a:gd name="connsiteY6" fmla="*/ 1428547 h 2857094"/>
              <a:gd name="connsiteX7" fmla="*/ 1428546 w 2857092"/>
              <a:gd name="connsiteY7" fmla="*/ 2857094 h 2857094"/>
              <a:gd name="connsiteX8" fmla="*/ 0 w 2857092"/>
              <a:gd name="connsiteY8" fmla="*/ 1428547 h 2857094"/>
              <a:gd name="connsiteX9" fmla="*/ 1428546 w 2857092"/>
              <a:gd name="connsiteY9" fmla="*/ 0 h 2857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57092" h="2857094">
                <a:moveTo>
                  <a:pt x="1428547" y="541531"/>
                </a:moveTo>
                <a:cubicBezTo>
                  <a:pt x="938662" y="541531"/>
                  <a:pt x="541532" y="938661"/>
                  <a:pt x="541532" y="1428546"/>
                </a:cubicBezTo>
                <a:cubicBezTo>
                  <a:pt x="541532" y="1918431"/>
                  <a:pt x="938662" y="2315561"/>
                  <a:pt x="1428547" y="2315561"/>
                </a:cubicBezTo>
                <a:cubicBezTo>
                  <a:pt x="1918432" y="2315561"/>
                  <a:pt x="2315562" y="1918431"/>
                  <a:pt x="2315562" y="1428546"/>
                </a:cubicBezTo>
                <a:cubicBezTo>
                  <a:pt x="2315562" y="938661"/>
                  <a:pt x="1918432" y="541531"/>
                  <a:pt x="1428547" y="541531"/>
                </a:cubicBezTo>
                <a:close/>
                <a:moveTo>
                  <a:pt x="1428546" y="0"/>
                </a:moveTo>
                <a:cubicBezTo>
                  <a:pt x="2217510" y="0"/>
                  <a:pt x="2857092" y="639582"/>
                  <a:pt x="2857092" y="1428547"/>
                </a:cubicBezTo>
                <a:cubicBezTo>
                  <a:pt x="2857092" y="2217512"/>
                  <a:pt x="2217510" y="2857094"/>
                  <a:pt x="1428546" y="2857094"/>
                </a:cubicBezTo>
                <a:cubicBezTo>
                  <a:pt x="639582" y="2857094"/>
                  <a:pt x="0" y="2217512"/>
                  <a:pt x="0" y="1428547"/>
                </a:cubicBezTo>
                <a:cubicBezTo>
                  <a:pt x="0" y="639582"/>
                  <a:pt x="639582" y="0"/>
                  <a:pt x="14285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736" tIns="36186" rIns="71736" bIns="36186" rtlCol="0" anchor="ctr" anchorCtr="0">
            <a:noAutofit/>
          </a:bodyPr>
          <a:lstStyle/>
          <a:p>
            <a:pPr algn="ctr"/>
            <a:endParaRPr 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15"/>
          <p:cNvSpPr txBox="1"/>
          <p:nvPr>
            <p:custDataLst>
              <p:tags r:id="rId18"/>
            </p:custDataLst>
          </p:nvPr>
        </p:nvSpPr>
        <p:spPr>
          <a:xfrm>
            <a:off x="1387667" y="4397908"/>
            <a:ext cx="7396458" cy="374552"/>
          </a:xfrm>
          <a:prstGeom prst="rect">
            <a:avLst/>
          </a:prstGeom>
          <a:noFill/>
        </p:spPr>
        <p:txBody>
          <a:bodyPr wrap="square" lIns="71736" tIns="36186" rIns="71736" bIns="36186" rtlCol="0" anchor="ctr" anchorCtr="0">
            <a:noAutofit/>
          </a:bodyPr>
          <a:lstStyle/>
          <a:p>
            <a:pPr algn="l" fontAlgn="auto">
              <a:lnSpc>
                <a:spcPct val="100000"/>
              </a:lnSpc>
              <a:buClrTx/>
              <a:buSzTx/>
              <a:buFontTx/>
            </a:pPr>
            <a:endParaRPr lang="en-US" altLang="zh-CN" sz="1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6840" y="3237230"/>
            <a:ext cx="6096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实现找回密码功能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369695" y="3845560"/>
            <a:ext cx="6096000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实现数据统计看板可视化功能</a:t>
            </a:r>
          </a:p>
          <a:p>
            <a:endParaRPr lang="zh-CN" altLang="en-US" sz="1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55034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en-US" altLang="en-GB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实现注册功能</a:t>
            </a: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327908" y="4904835"/>
            <a:ext cx="7536180" cy="706187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柳希直 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2023212360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2256471" y="3637041"/>
            <a:ext cx="7679055" cy="730250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40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4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2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6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49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50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0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1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63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64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2" grpId="0" animBg="1"/>
      <p:bldP spid="12" grpId="0"/>
      <p:bldP spid="29" grpId="0"/>
      <p:bldP spid="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7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8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9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0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1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注册功能</a:t>
            </a:r>
          </a:p>
        </p:txBody>
      </p:sp>
      <p:sp>
        <p:nvSpPr>
          <p:cNvPr id="13" name="内容"/>
          <p:cNvSpPr/>
          <p:nvPr>
            <p:custDataLst>
              <p:tags r:id="rId6"/>
            </p:custDataLst>
          </p:nvPr>
        </p:nvSpPr>
        <p:spPr>
          <a:xfrm>
            <a:off x="847725" y="1677310"/>
            <a:ext cx="3439140" cy="31972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it-IT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UI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设计：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仿照</a:t>
            </a:r>
            <a:r>
              <a:rPr lang="en-US" altLang="zh-CN" sz="1600" dirty="0" err="1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login.vue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设计</a:t>
            </a:r>
            <a:r>
              <a:rPr lang="en-US" altLang="zh-CN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UI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根据数据库中部门项的特殊性质（存在包含）选择</a:t>
            </a:r>
            <a:r>
              <a:rPr lang="en-US" altLang="zh-CN" sz="1600" dirty="0" err="1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el-cascader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控件实现树表选择功能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数据库：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实现用户初始角色和页面分配。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2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  <a:sym typeface="思源黑体 CN" panose="020B0500000000000000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587" y="4943199"/>
            <a:ext cx="10553098" cy="176237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6516" y="748370"/>
            <a:ext cx="7079226" cy="3487156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19" grpId="0" animBg="1"/>
      <p:bldP spid="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3" name="5"/>
            <p:cNvSpPr/>
            <p:nvPr>
              <p:custDataLst>
                <p:tags r:id="rId4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4"/>
            <p:cNvSpPr/>
            <p:nvPr>
              <p:custDataLst>
                <p:tags r:id="rId5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3"/>
            <p:cNvSpPr/>
            <p:nvPr>
              <p:custDataLst>
                <p:tags r:id="rId6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2"/>
            <p:cNvSpPr/>
            <p:nvPr>
              <p:custDataLst>
                <p:tags r:id="rId7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1"/>
            <p:cNvSpPr/>
            <p:nvPr>
              <p:custDataLst>
                <p:tags r:id="rId8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!!平滑8"/>
          <p:cNvSpPr/>
          <p:nvPr>
            <p:custDataLst>
              <p:tags r:id="rId1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8"/>
          <p:cNvSpPr/>
          <p:nvPr>
            <p:custDataLst>
              <p:tags r:id="rId2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"/>
          <p:cNvSpPr txBox="1"/>
          <p:nvPr>
            <p:custDataLst>
              <p:tags r:id="rId3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注册前后端代码（部分）：部门数据获取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9216" y="1206125"/>
            <a:ext cx="5152783" cy="380832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09172" y="836792"/>
            <a:ext cx="352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前端调用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226030" y="836792"/>
            <a:ext cx="270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293669"/>
            <a:ext cx="6173061" cy="2238687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733629"/>
            <a:ext cx="6601746" cy="2124371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56309" y="4229816"/>
            <a:ext cx="304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3" name="5"/>
            <p:cNvSpPr/>
            <p:nvPr>
              <p:custDataLst>
                <p:tags r:id="rId4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4"/>
            <p:cNvSpPr/>
            <p:nvPr>
              <p:custDataLst>
                <p:tags r:id="rId5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3"/>
            <p:cNvSpPr/>
            <p:nvPr>
              <p:custDataLst>
                <p:tags r:id="rId6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2"/>
            <p:cNvSpPr/>
            <p:nvPr>
              <p:custDataLst>
                <p:tags r:id="rId7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1"/>
            <p:cNvSpPr/>
            <p:nvPr>
              <p:custDataLst>
                <p:tags r:id="rId8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!!平滑8"/>
          <p:cNvSpPr/>
          <p:nvPr>
            <p:custDataLst>
              <p:tags r:id="rId1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8"/>
          <p:cNvSpPr/>
          <p:nvPr>
            <p:custDataLst>
              <p:tags r:id="rId2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"/>
          <p:cNvSpPr txBox="1"/>
          <p:nvPr>
            <p:custDataLst>
              <p:tags r:id="rId3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注册前后端代码（部分）：注册功能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9172" y="836792"/>
            <a:ext cx="352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前端调用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226030" y="836792"/>
            <a:ext cx="270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359194"/>
            <a:ext cx="6302477" cy="149880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" y="1332351"/>
            <a:ext cx="5633202" cy="278168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2426" y="4835165"/>
            <a:ext cx="270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5989630" y="1244919"/>
            <a:ext cx="6513830" cy="3984079"/>
            <a:chOff x="5678170" y="1332351"/>
            <a:chExt cx="6513830" cy="3984079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78170" y="2723195"/>
              <a:ext cx="5428526" cy="2593235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347619" y="1957701"/>
              <a:ext cx="5174932" cy="2942598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16385" y="1332351"/>
              <a:ext cx="5175615" cy="30006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8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9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10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1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2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登录注册后端业务流程：</a:t>
            </a:r>
          </a:p>
        </p:txBody>
      </p:sp>
      <p:sp>
        <p:nvSpPr>
          <p:cNvPr id="16" name="标题"/>
          <p:cNvSpPr txBox="1"/>
          <p:nvPr>
            <p:custDataLst>
              <p:tags r:id="rId6"/>
            </p:custDataLst>
          </p:nvPr>
        </p:nvSpPr>
        <p:spPr>
          <a:xfrm>
            <a:off x="1160780" y="710565"/>
            <a:ext cx="84074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</a:t>
            </a:r>
          </a:p>
        </p:txBody>
      </p:sp>
      <p:sp>
        <p:nvSpPr>
          <p:cNvPr id="17" name="标题"/>
          <p:cNvSpPr txBox="1"/>
          <p:nvPr>
            <p:custDataLst>
              <p:tags r:id="rId7"/>
            </p:custDataLst>
          </p:nvPr>
        </p:nvSpPr>
        <p:spPr>
          <a:xfrm>
            <a:off x="3900170" y="698500"/>
            <a:ext cx="774065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02" y="1336524"/>
            <a:ext cx="1762125" cy="46767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187" y="1388895"/>
            <a:ext cx="1530030" cy="4135509"/>
          </a:xfrm>
          <a:prstGeom prst="rect">
            <a:avLst/>
          </a:prstGeom>
        </p:spPr>
      </p:pic>
      <p:sp>
        <p:nvSpPr>
          <p:cNvPr id="24" name="箭头: 右 23"/>
          <p:cNvSpPr/>
          <p:nvPr/>
        </p:nvSpPr>
        <p:spPr>
          <a:xfrm>
            <a:off x="7610475" y="2143305"/>
            <a:ext cx="1530030" cy="1313344"/>
          </a:xfrm>
          <a:prstGeom prst="rightArrow">
            <a:avLst/>
          </a:pr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6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7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8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9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0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638" y="7432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登录注册效果展示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6516"/>
            <a:ext cx="5628255" cy="27687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616" y="3241949"/>
            <a:ext cx="5850872" cy="342195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616" y="1034997"/>
            <a:ext cx="5873384" cy="268264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4620"/>
            <a:ext cx="5624052" cy="3005659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65119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实现前端首页的优化</a:t>
            </a:r>
            <a:endParaRPr lang="en-GB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348268" y="4808553"/>
            <a:ext cx="7536180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邓杰湧 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2023212351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2" grpId="0" animBg="1"/>
      <p:bldP spid="12" grpId="0"/>
      <p:bldP spid="29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!!平滑1"/>
          <p:cNvSpPr/>
          <p:nvPr>
            <p:custDataLst>
              <p:tags r:id="rId3"/>
            </p:custDataLst>
          </p:nvPr>
        </p:nvSpPr>
        <p:spPr>
          <a:xfrm rot="14340000">
            <a:off x="1876425" y="-4815205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标题"/>
          <p:cNvSpPr txBox="1"/>
          <p:nvPr>
            <p:custDataLst>
              <p:tags r:id="rId4"/>
            </p:custDataLst>
          </p:nvPr>
        </p:nvSpPr>
        <p:spPr>
          <a:xfrm>
            <a:off x="2588337" y="262321"/>
            <a:ext cx="6351115" cy="706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endParaRPr lang="zh-CN" altLang="en-GB" sz="3200" b="1" dirty="0">
              <a:solidFill>
                <a:schemeClr val="accent1"/>
              </a:solidFill>
              <a:latin typeface="思源黑体 CN" panose="020B0500000000000000" pitchFamily="34" charset="-122"/>
              <a:ea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7" name="内容"/>
          <p:cNvSpPr txBox="1"/>
          <p:nvPr>
            <p:custDataLst>
              <p:tags r:id="rId5"/>
            </p:custDataLst>
          </p:nvPr>
        </p:nvSpPr>
        <p:spPr>
          <a:xfrm>
            <a:off x="1054472" y="5175827"/>
            <a:ext cx="9418843" cy="1506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</a:pPr>
            <a:r>
              <a:rPr lang="zh-CN" altLang="en-GB" sz="2800" dirty="0">
                <a:latin typeface="黑体" panose="02010609060101010101" charset="-122"/>
                <a:ea typeface="黑体" panose="02010609060101010101" charset="-122"/>
                <a:sym typeface="思源黑体 CN" panose="020B0500000000000000" pitchFamily="34" charset="-122"/>
              </a:rPr>
              <a:t>通过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sym typeface="思源黑体 CN" panose="020B0500000000000000" pitchFamily="34" charset="-122"/>
              </a:rPr>
              <a:t>CSS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sym typeface="思源黑体 CN" panose="020B0500000000000000" pitchFamily="34" charset="-122"/>
              </a:rPr>
              <a:t>样式给网页添加渐变的轮播图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sym typeface="思源黑体 CN" panose="020B0500000000000000" pitchFamily="34" charset="-122"/>
              </a:rPr>
              <a:t>,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首页轮播图的实现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在 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front/</a:t>
            </a:r>
            <a:r>
              <a:rPr lang="en-US" altLang="zh-CN" sz="2800" b="1" dirty="0" err="1">
                <a:latin typeface="黑体" panose="02010609060101010101" charset="-122"/>
                <a:ea typeface="黑体" panose="02010609060101010101" charset="-122"/>
              </a:rPr>
              <a:t>src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/views/website-page/pages/</a:t>
            </a:r>
            <a:r>
              <a:rPr lang="en-US" altLang="zh-CN" sz="2800" b="1" dirty="0" err="1">
                <a:latin typeface="黑体" panose="02010609060101010101" charset="-122"/>
                <a:ea typeface="黑体" panose="02010609060101010101" charset="-122"/>
              </a:rPr>
              <a:t>Homepage.vue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  <a:sym typeface="思源黑体 CN" panose="020B0500000000000000" pitchFamily="34" charset="-122"/>
            </a:endParaRPr>
          </a:p>
        </p:txBody>
      </p:sp>
      <p:sp>
        <p:nvSpPr>
          <p:cNvPr id="28" name="子标题"/>
          <p:cNvSpPr txBox="1"/>
          <p:nvPr>
            <p:custDataLst>
              <p:tags r:id="rId6"/>
            </p:custDataLst>
          </p:nvPr>
        </p:nvSpPr>
        <p:spPr>
          <a:xfrm>
            <a:off x="408620" y="2213668"/>
            <a:ext cx="4999806" cy="66802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sym typeface="思源黑体 CN" panose="020B0500000000000000" pitchFamily="34" charset="-122"/>
              </a:rPr>
              <a:t>修改后首页轮播图如图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sym typeface="思源黑体 CN" panose="020B0500000000000000" pitchFamily="34" charset="-122"/>
              </a:rPr>
              <a:t>:</a:t>
            </a:r>
            <a:endParaRPr lang="en-GB" sz="2800" dirty="0">
              <a:latin typeface="黑体" panose="02010609060101010101" charset="-122"/>
              <a:ea typeface="黑体" panose="02010609060101010101" charset="-122"/>
              <a:sym typeface="思源黑体 CN" panose="020B0500000000000000" pitchFamily="34" charset="-122"/>
            </a:endParaRPr>
          </a:p>
        </p:txBody>
      </p:sp>
      <p:cxnSp>
        <p:nvCxnSpPr>
          <p:cNvPr id="30" name="Straight Connector 5"/>
          <p:cNvCxnSpPr/>
          <p:nvPr>
            <p:custDataLst>
              <p:tags r:id="rId7"/>
            </p:custDataLst>
          </p:nvPr>
        </p:nvCxnSpPr>
        <p:spPr>
          <a:xfrm>
            <a:off x="662685" y="3710212"/>
            <a:ext cx="312356" cy="0"/>
          </a:xfrm>
          <a:prstGeom prst="line">
            <a:avLst/>
          </a:prstGeom>
          <a:ln w="254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副标题"/>
          <p:cNvSpPr txBox="1"/>
          <p:nvPr>
            <p:custDataLst>
              <p:tags r:id="rId8"/>
            </p:custDataLst>
          </p:nvPr>
        </p:nvSpPr>
        <p:spPr>
          <a:xfrm>
            <a:off x="662767" y="3373066"/>
            <a:ext cx="4161790" cy="352425"/>
          </a:xfrm>
          <a:prstGeom prst="rect">
            <a:avLst/>
          </a:prstGeom>
          <a:noFill/>
          <a:effectLst/>
        </p:spPr>
        <p:txBody>
          <a:bodyPr wrap="square" rtlCol="0">
            <a:normAutofit/>
          </a:bodyPr>
          <a:lstStyle/>
          <a:p>
            <a:pPr indent="0" fontAlgn="auto">
              <a:lnSpc>
                <a:spcPct val="100000"/>
              </a:lnSpc>
            </a:pPr>
            <a:endParaRPr lang="en-US" altLang="en-GB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" panose="020B0500000000000000" pitchFamily="34" charset="-122"/>
              <a:ea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8349" y="771525"/>
            <a:ext cx="67862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原实例中的首页部分通过链接数据库给出对应的图片，但是由于对应地址的图片丢失导致无法显示图片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2671" y="1839360"/>
            <a:ext cx="7250709" cy="3179280"/>
          </a:xfrm>
          <a:prstGeom prst="rect">
            <a:avLst/>
          </a:prstGeom>
        </p:spPr>
      </p:pic>
      <p:grpSp>
        <p:nvGrpSpPr>
          <p:cNvPr id="3" name="平滑3">
            <a:extLst>
              <a:ext uri="{FF2B5EF4-FFF2-40B4-BE49-F238E27FC236}">
                <a16:creationId xmlns:a16="http://schemas.microsoft.com/office/drawing/2014/main" id="{2E4FBD84-5562-2E5D-9CCA-4F6B3BF7D76D}"/>
              </a:ext>
            </a:extLst>
          </p:cNvPr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>
              <a:extLst>
                <a:ext uri="{FF2B5EF4-FFF2-40B4-BE49-F238E27FC236}">
                  <a16:creationId xmlns:a16="http://schemas.microsoft.com/office/drawing/2014/main" id="{5F88ED5E-F3B0-ADEA-2599-F25092DBA6D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>
              <a:extLst>
                <a:ext uri="{FF2B5EF4-FFF2-40B4-BE49-F238E27FC236}">
                  <a16:creationId xmlns:a16="http://schemas.microsoft.com/office/drawing/2014/main" id="{8B2380EC-20FF-B84F-E188-588376F723F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>
              <a:extLst>
                <a:ext uri="{FF2B5EF4-FFF2-40B4-BE49-F238E27FC236}">
                  <a16:creationId xmlns:a16="http://schemas.microsoft.com/office/drawing/2014/main" id="{FA24C52A-1644-E8BB-D6C9-ED586721C34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2">
              <a:extLst>
                <a:ext uri="{FF2B5EF4-FFF2-40B4-BE49-F238E27FC236}">
                  <a16:creationId xmlns:a16="http://schemas.microsoft.com/office/drawing/2014/main" id="{353193D2-884C-6799-5396-66F401B2801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1">
              <a:extLst>
                <a:ext uri="{FF2B5EF4-FFF2-40B4-BE49-F238E27FC236}">
                  <a16:creationId xmlns:a16="http://schemas.microsoft.com/office/drawing/2014/main" id="{D8DAB85B-CC98-9860-D22A-130405A0C35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E7A645F0-C454-8D7A-763D-30DD24D2B8F3}"/>
              </a:ext>
            </a:extLst>
          </p:cNvPr>
          <p:cNvSpPr txBox="1"/>
          <p:nvPr/>
        </p:nvSpPr>
        <p:spPr>
          <a:xfrm>
            <a:off x="1503680" y="162560"/>
            <a:ext cx="3904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前端代码</a:t>
            </a: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8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1.01281 0 L 0 0 E" pathEditMode="relative">
                                      <p:cBhvr>
                                        <p:cTn id="2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9" grpId="0"/>
      <p:bldP spid="7" grpId="0"/>
      <p:bldP spid="28" grpId="0"/>
      <p:bldP spid="3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64774" y="735330"/>
            <a:ext cx="8384151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轮播图的循环时间设置为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5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秒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在 </a:t>
            </a:r>
            <a:r>
              <a:rPr lang="en-US" altLang="zh-CN" sz="2800" b="0" i="0" dirty="0" err="1">
                <a:effectLst/>
                <a:latin typeface="黑体" panose="02010609060101010101" charset="-122"/>
                <a:ea typeface="黑体" panose="02010609060101010101" charset="-122"/>
              </a:rPr>
              <a:t>Homepage.vue</a:t>
            </a:r>
            <a:r>
              <a:rPr lang="en-US" altLang="zh-CN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 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文件中，通过 </a:t>
            </a:r>
            <a:r>
              <a:rPr lang="en-US" altLang="zh-CN" sz="2800" b="0" i="0" dirty="0" err="1">
                <a:effectLst/>
                <a:latin typeface="黑体" panose="02010609060101010101" charset="-122"/>
                <a:ea typeface="黑体" panose="02010609060101010101" charset="-122"/>
              </a:rPr>
              <a:t>el</a:t>
            </a:r>
            <a:r>
              <a:rPr lang="en-US" altLang="zh-CN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-carousel 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组件的 </a:t>
            </a:r>
            <a:r>
              <a:rPr lang="en-US" altLang="zh-CN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:interval 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属性控制</a:t>
            </a:r>
            <a:r>
              <a:rPr lang="zh-CN" altLang="en-US" sz="2800" b="0" i="0" dirty="0">
                <a:effectLst/>
                <a:latin typeface="Segoe WPC"/>
              </a:rPr>
              <a:t>。</a:t>
            </a:r>
            <a:endParaRPr lang="zh-CN" altLang="en-US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B768CFB-9467-DCAC-1E89-E64A29D0B1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755" y="1689437"/>
            <a:ext cx="11212490" cy="4991797"/>
          </a:xfrm>
          <a:prstGeom prst="rect">
            <a:avLst/>
          </a:prstGeom>
        </p:spPr>
      </p:pic>
      <p:grpSp>
        <p:nvGrpSpPr>
          <p:cNvPr id="3" name="平滑3">
            <a:extLst>
              <a:ext uri="{FF2B5EF4-FFF2-40B4-BE49-F238E27FC236}">
                <a16:creationId xmlns:a16="http://schemas.microsoft.com/office/drawing/2014/main" id="{F0047522-E3E9-5F13-F424-E4E8B7DEDE14}"/>
              </a:ext>
            </a:extLst>
          </p:cNvPr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5" name="5">
              <a:extLst>
                <a:ext uri="{FF2B5EF4-FFF2-40B4-BE49-F238E27FC236}">
                  <a16:creationId xmlns:a16="http://schemas.microsoft.com/office/drawing/2014/main" id="{8FF96DD4-6B19-7219-1A55-63FBDD60213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4">
              <a:extLst>
                <a:ext uri="{FF2B5EF4-FFF2-40B4-BE49-F238E27FC236}">
                  <a16:creationId xmlns:a16="http://schemas.microsoft.com/office/drawing/2014/main" id="{CFD17771-1C5D-2A0D-765F-D04BD93E25A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3">
              <a:extLst>
                <a:ext uri="{FF2B5EF4-FFF2-40B4-BE49-F238E27FC236}">
                  <a16:creationId xmlns:a16="http://schemas.microsoft.com/office/drawing/2014/main" id="{2FB96EF6-DEBF-9597-02A3-9DD2858BA57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2">
              <a:extLst>
                <a:ext uri="{FF2B5EF4-FFF2-40B4-BE49-F238E27FC236}">
                  <a16:creationId xmlns:a16="http://schemas.microsoft.com/office/drawing/2014/main" id="{2E6AD607-EFC0-DDD2-C050-FBFE3FF8F7E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1">
              <a:extLst>
                <a:ext uri="{FF2B5EF4-FFF2-40B4-BE49-F238E27FC236}">
                  <a16:creationId xmlns:a16="http://schemas.microsoft.com/office/drawing/2014/main" id="{CB13DFE5-520F-D5EF-41F2-21879EC5A04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1EE15636-F94E-628C-29FB-1AA76E8FC606}"/>
              </a:ext>
            </a:extLst>
          </p:cNvPr>
          <p:cNvSpPr txBox="1"/>
          <p:nvPr/>
        </p:nvSpPr>
        <p:spPr>
          <a:xfrm>
            <a:off x="1676400" y="176766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部分代码示例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339090" y="-405638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23456" y="658761"/>
            <a:ext cx="573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滚动新闻组件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106516" y="1068956"/>
            <a:ext cx="99797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>
                <a:effectLst/>
                <a:latin typeface="黑体" panose="02010609060101010101" charset="-122"/>
                <a:ea typeface="黑体" panose="02010609060101010101" charset="-122"/>
              </a:rPr>
              <a:t>动画效果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：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使用 </a:t>
            </a:r>
            <a:r>
              <a:rPr lang="en-US" altLang="zh-CN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animate-in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 类实现入场动画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通过 </a:t>
            </a:r>
            <a:r>
              <a:rPr lang="en-US" altLang="zh-CN" sz="2800" b="0" i="0" dirty="0" err="1">
                <a:effectLst/>
                <a:latin typeface="黑体" panose="02010609060101010101" charset="-122"/>
                <a:ea typeface="黑体" panose="02010609060101010101" charset="-122"/>
              </a:rPr>
              <a:t>animationDelay</a:t>
            </a: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 实现动画效果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鼠标悬停时的上浮效果</a:t>
            </a: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935" y="3306270"/>
            <a:ext cx="3890883" cy="33993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5B29664-BC44-674B-18BB-96A0C451A4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361" y="499653"/>
            <a:ext cx="7039957" cy="5858693"/>
          </a:xfrm>
          <a:prstGeom prst="rect">
            <a:avLst/>
          </a:prstGeom>
        </p:spPr>
      </p:pic>
      <p:grpSp>
        <p:nvGrpSpPr>
          <p:cNvPr id="4" name="平滑3">
            <a:extLst>
              <a:ext uri="{FF2B5EF4-FFF2-40B4-BE49-F238E27FC236}">
                <a16:creationId xmlns:a16="http://schemas.microsoft.com/office/drawing/2014/main" id="{2B62D4C9-3380-3C83-65C1-216E15DB375E}"/>
              </a:ext>
            </a:extLst>
          </p:cNvPr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5" name="5">
              <a:extLst>
                <a:ext uri="{FF2B5EF4-FFF2-40B4-BE49-F238E27FC236}">
                  <a16:creationId xmlns:a16="http://schemas.microsoft.com/office/drawing/2014/main" id="{86BBB162-D9F2-487B-E31A-6ED03ACCF94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4">
              <a:extLst>
                <a:ext uri="{FF2B5EF4-FFF2-40B4-BE49-F238E27FC236}">
                  <a16:creationId xmlns:a16="http://schemas.microsoft.com/office/drawing/2014/main" id="{6D72BF59-086E-A8BF-FA75-7933A3920AB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3">
              <a:extLst>
                <a:ext uri="{FF2B5EF4-FFF2-40B4-BE49-F238E27FC236}">
                  <a16:creationId xmlns:a16="http://schemas.microsoft.com/office/drawing/2014/main" id="{336D4403-4333-08D5-BFAE-A7F4D0B3C6B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2">
              <a:extLst>
                <a:ext uri="{FF2B5EF4-FFF2-40B4-BE49-F238E27FC236}">
                  <a16:creationId xmlns:a16="http://schemas.microsoft.com/office/drawing/2014/main" id="{2769D8DE-FD85-765E-B2F4-AB283B9C699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1">
              <a:extLst>
                <a:ext uri="{FF2B5EF4-FFF2-40B4-BE49-F238E27FC236}">
                  <a16:creationId xmlns:a16="http://schemas.microsoft.com/office/drawing/2014/main" id="{6BFCB145-6BC9-5B8A-781B-28628FB8940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339090" y="-405638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23456" y="658761"/>
            <a:ext cx="573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charset="-122"/>
                <a:ea typeface="黑体" panose="02010609060101010101" charset="-122"/>
              </a:rPr>
              <a:t>通知公告组件动画效果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5593" y="1370933"/>
            <a:ext cx="2791215" cy="11622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962" y="444054"/>
            <a:ext cx="2657846" cy="9526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21120" y="3851974"/>
            <a:ext cx="370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黑体" panose="02010609060101010101" charset="-122"/>
                <a:ea typeface="黑体" panose="02010609060101010101" charset="-122"/>
              </a:rPr>
              <a:t>Css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代码如左图所示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21120" y="2672630"/>
            <a:ext cx="449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组件如上图所示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83CFBA-82C2-78D5-E18D-764CAAF0003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295" r="37627"/>
          <a:stretch/>
        </p:blipFill>
        <p:spPr>
          <a:xfrm>
            <a:off x="619432" y="1089551"/>
            <a:ext cx="5291784" cy="576844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43B0CE6-5114-02D1-3761-864041FC080F}"/>
              </a:ext>
            </a:extLst>
          </p:cNvPr>
          <p:cNvSpPr txBox="1"/>
          <p:nvPr/>
        </p:nvSpPr>
        <p:spPr>
          <a:xfrm>
            <a:off x="1592209" y="157242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部分代码示例</a:t>
            </a:r>
          </a:p>
        </p:txBody>
      </p:sp>
      <p:grpSp>
        <p:nvGrpSpPr>
          <p:cNvPr id="10" name="平滑3">
            <a:extLst>
              <a:ext uri="{FF2B5EF4-FFF2-40B4-BE49-F238E27FC236}">
                <a16:creationId xmlns:a16="http://schemas.microsoft.com/office/drawing/2014/main" id="{F0E72C2B-0F4D-1E1A-44BC-4BCFA3548686}"/>
              </a:ext>
            </a:extLst>
          </p:cNvPr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11" name="5">
              <a:extLst>
                <a:ext uri="{FF2B5EF4-FFF2-40B4-BE49-F238E27FC236}">
                  <a16:creationId xmlns:a16="http://schemas.microsoft.com/office/drawing/2014/main" id="{109C8B9C-0FAF-8296-5902-BACF4087FEA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4">
              <a:extLst>
                <a:ext uri="{FF2B5EF4-FFF2-40B4-BE49-F238E27FC236}">
                  <a16:creationId xmlns:a16="http://schemas.microsoft.com/office/drawing/2014/main" id="{4E5F0D8F-6669-A1B3-5062-7FEC0406C4B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3">
              <a:extLst>
                <a:ext uri="{FF2B5EF4-FFF2-40B4-BE49-F238E27FC236}">
                  <a16:creationId xmlns:a16="http://schemas.microsoft.com/office/drawing/2014/main" id="{78E79282-2DB7-AB52-D1B2-44A850E4FB5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2">
              <a:extLst>
                <a:ext uri="{FF2B5EF4-FFF2-40B4-BE49-F238E27FC236}">
                  <a16:creationId xmlns:a16="http://schemas.microsoft.com/office/drawing/2014/main" id="{539C59B0-DF5C-A6D1-2348-EDA22DA54C2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1">
              <a:extLst>
                <a:ext uri="{FF2B5EF4-FFF2-40B4-BE49-F238E27FC236}">
                  <a16:creationId xmlns:a16="http://schemas.microsoft.com/office/drawing/2014/main" id="{9559DFB7-4552-BD1C-220A-C0F15B6EDE6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65119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找回密码功能的实现</a:t>
            </a: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421293" y="4808553"/>
            <a:ext cx="7536180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尹衍哲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2023212356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6" grpId="0" bldLvl="0" animBg="1"/>
      <p:bldP spid="7" grpId="0" bldLvl="0" animBg="1"/>
      <p:bldP spid="22" grpId="0" bldLvl="0" animBg="1"/>
      <p:bldP spid="12" grpId="0"/>
      <p:bldP spid="29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找回密码功能</a:t>
            </a:r>
          </a:p>
        </p:txBody>
      </p:sp>
      <p:sp>
        <p:nvSpPr>
          <p:cNvPr id="13" name="内容"/>
          <p:cNvSpPr/>
          <p:nvPr>
            <p:custDataLst>
              <p:tags r:id="rId3"/>
            </p:custDataLst>
          </p:nvPr>
        </p:nvSpPr>
        <p:spPr>
          <a:xfrm>
            <a:off x="4006850" y="79375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实现用户管理系统中的找回密码功能，通过手机号验证的方式帮助用户重置密码。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2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  <a:sym typeface="思源黑体 CN" panose="020B0500000000000000" pitchFamily="34" charset="-122"/>
            </a:endParaRPr>
          </a:p>
        </p:txBody>
      </p:sp>
      <p:sp>
        <p:nvSpPr>
          <p:cNvPr id="5" name="内容"/>
          <p:cNvSpPr/>
          <p:nvPr>
            <p:custDataLst>
              <p:tags r:id="rId4"/>
            </p:custDataLst>
          </p:nvPr>
        </p:nvSpPr>
        <p:spPr>
          <a:xfrm>
            <a:off x="820420" y="179070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初始链接</a:t>
            </a:r>
            <a:r>
              <a:rPr lang="en-US" altLang="zh-CN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UI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设计</a:t>
            </a:r>
          </a:p>
        </p:txBody>
      </p:sp>
      <p:sp>
        <p:nvSpPr>
          <p:cNvPr id="8" name="内容"/>
          <p:cNvSpPr/>
          <p:nvPr>
            <p:custDataLst>
              <p:tags r:id="rId5"/>
            </p:custDataLst>
          </p:nvPr>
        </p:nvSpPr>
        <p:spPr>
          <a:xfrm>
            <a:off x="6751955" y="179070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发送并验证验证码</a:t>
            </a:r>
          </a:p>
        </p:txBody>
      </p:sp>
      <p:pic>
        <p:nvPicPr>
          <p:cNvPr id="3" name="图片 -21474826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1955" y="2404745"/>
            <a:ext cx="5118735" cy="3912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6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" y="2438400"/>
            <a:ext cx="3642360" cy="38785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  <p:bldP spid="13" grpId="0"/>
      <p:bldP spid="5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找回密码功能</a:t>
            </a:r>
          </a:p>
        </p:txBody>
      </p:sp>
      <p:sp>
        <p:nvSpPr>
          <p:cNvPr id="13" name="内容"/>
          <p:cNvSpPr/>
          <p:nvPr>
            <p:custDataLst>
              <p:tags r:id="rId3"/>
            </p:custDataLst>
          </p:nvPr>
        </p:nvSpPr>
        <p:spPr>
          <a:xfrm>
            <a:off x="4006850" y="79375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实现用户管理系统中的找回密码功能，通过手机号验证的方式帮助用户重置密码。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2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  <a:sym typeface="思源黑体 CN" panose="020B0500000000000000" pitchFamily="34" charset="-122"/>
            </a:endParaRPr>
          </a:p>
        </p:txBody>
      </p:sp>
      <p:sp>
        <p:nvSpPr>
          <p:cNvPr id="5" name="内容"/>
          <p:cNvSpPr/>
          <p:nvPr>
            <p:custDataLst>
              <p:tags r:id="rId4"/>
            </p:custDataLst>
          </p:nvPr>
        </p:nvSpPr>
        <p:spPr>
          <a:xfrm>
            <a:off x="820420" y="179070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验证手机号码是否存在</a:t>
            </a:r>
          </a:p>
        </p:txBody>
      </p:sp>
      <p:sp>
        <p:nvSpPr>
          <p:cNvPr id="8" name="内容"/>
          <p:cNvSpPr/>
          <p:nvPr>
            <p:custDataLst>
              <p:tags r:id="rId5"/>
            </p:custDataLst>
          </p:nvPr>
        </p:nvSpPr>
        <p:spPr>
          <a:xfrm>
            <a:off x="7256145" y="179070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indent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重置密码</a:t>
            </a:r>
          </a:p>
        </p:txBody>
      </p:sp>
      <p:pic>
        <p:nvPicPr>
          <p:cNvPr id="3" name="图片 -2147482618"/>
          <p:cNvPicPr>
            <a:picLocks noChangeAspect="1"/>
          </p:cNvPicPr>
          <p:nvPr/>
        </p:nvPicPr>
        <p:blipFill>
          <a:blip r:embed="rId7"/>
          <a:srcRect l="55489" t="12709"/>
          <a:stretch>
            <a:fillRect/>
          </a:stretch>
        </p:blipFill>
        <p:spPr>
          <a:xfrm>
            <a:off x="7256145" y="2334260"/>
            <a:ext cx="3163570" cy="47415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6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" y="2404745"/>
            <a:ext cx="5471160" cy="3942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  <p:bldP spid="13" grpId="0"/>
      <p:bldP spid="5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找回密码功能</a:t>
            </a:r>
          </a:p>
        </p:txBody>
      </p:sp>
      <p:sp>
        <p:nvSpPr>
          <p:cNvPr id="13" name="内容"/>
          <p:cNvSpPr/>
          <p:nvPr>
            <p:custDataLst>
              <p:tags r:id="rId3"/>
            </p:custDataLst>
          </p:nvPr>
        </p:nvSpPr>
        <p:spPr>
          <a:xfrm>
            <a:off x="4006850" y="79375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实现用户管理系统中的找回密码功能，通过手机号验证的方式帮助用户重置密码。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2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  <a:sym typeface="思源黑体 CN" panose="020B0500000000000000" pitchFamily="34" charset="-122"/>
            </a:endParaRPr>
          </a:p>
        </p:txBody>
      </p:sp>
      <p:sp>
        <p:nvSpPr>
          <p:cNvPr id="5" name="内容"/>
          <p:cNvSpPr/>
          <p:nvPr>
            <p:custDataLst>
              <p:tags r:id="rId4"/>
            </p:custDataLst>
          </p:nvPr>
        </p:nvSpPr>
        <p:spPr>
          <a:xfrm>
            <a:off x="820420" y="179070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前端</a:t>
            </a:r>
            <a:r>
              <a:rPr 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UI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交互逻辑</a:t>
            </a:r>
          </a:p>
        </p:txBody>
      </p:sp>
      <p:sp>
        <p:nvSpPr>
          <p:cNvPr id="8" name="内容"/>
          <p:cNvSpPr/>
          <p:nvPr>
            <p:custDataLst>
              <p:tags r:id="rId5"/>
            </p:custDataLst>
          </p:nvPr>
        </p:nvSpPr>
        <p:spPr>
          <a:xfrm>
            <a:off x="6751955" y="179070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发送并验证验证码实现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845" y="2289810"/>
            <a:ext cx="5668645" cy="355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765" y="2478405"/>
            <a:ext cx="5692140" cy="22466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650" y="2938780"/>
            <a:ext cx="4573905" cy="2773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  <p:bldP spid="13" grpId="0"/>
      <p:bldP spid="5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45" y="1228725"/>
            <a:ext cx="9048750" cy="4152900"/>
          </a:xfrm>
          <a:prstGeom prst="rect">
            <a:avLst/>
          </a:prstGeom>
        </p:spPr>
      </p:pic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"/>
          <p:cNvSpPr/>
          <p:nvPr>
            <p:custDataLst>
              <p:tags r:id="rId2"/>
            </p:custDataLst>
          </p:nvPr>
        </p:nvSpPr>
        <p:spPr>
          <a:xfrm>
            <a:off x="369570" y="392430"/>
            <a:ext cx="5226685" cy="8616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重置密码功能实现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685" y="1847215"/>
            <a:ext cx="8279765" cy="46850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450" y="2623820"/>
            <a:ext cx="7381240" cy="3801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1946910" y="-3110865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" y="467677"/>
            <a:ext cx="5080000" cy="104013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L="0" indent="0">
              <a:spcBef>
                <a:spcPts val="100"/>
              </a:spcBef>
              <a:spcAft>
                <a:spcPts val="100"/>
              </a:spcAft>
              <a:buAutoNum type="arabicPeriod"/>
            </a:pPr>
            <a:r>
              <a:rPr lang="zh-CN" altLang="en-US" sz="4000" b="1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</a:rPr>
              <a:t>前端流程</a:t>
            </a:r>
            <a:r>
              <a:rPr lang="zh-CN" altLang="en-US" sz="2000" b="1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</a:rPr>
              <a:t>：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AutoNum type="arabicPeriod"/>
            </a:pPr>
            <a:endParaRPr lang="zh-CN" altLang="en-US" sz="2000" b="1">
              <a:ln w="15875"/>
              <a:gradFill>
                <a:gsLst>
                  <a:gs pos="0">
                    <a:schemeClr val="accent1">
                      <a:lumOff val="-19997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7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7480" y="2000885"/>
            <a:ext cx="217678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用户输入手机号</a:t>
            </a:r>
          </a:p>
        </p:txBody>
      </p:sp>
      <p:sp>
        <p:nvSpPr>
          <p:cNvPr id="4" name="矩形 3"/>
          <p:cNvSpPr/>
          <p:nvPr/>
        </p:nvSpPr>
        <p:spPr>
          <a:xfrm>
            <a:off x="157480" y="2071370"/>
            <a:ext cx="2176780" cy="3867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用户输入手机号</a:t>
            </a:r>
          </a:p>
        </p:txBody>
      </p:sp>
      <p:sp>
        <p:nvSpPr>
          <p:cNvPr id="7" name="矩形 6"/>
          <p:cNvSpPr/>
          <p:nvPr/>
        </p:nvSpPr>
        <p:spPr>
          <a:xfrm>
            <a:off x="60960" y="2979420"/>
            <a:ext cx="330073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点击获取验证码按钮，调用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 </a:t>
            </a:r>
            <a:r>
              <a:rPr lang="en-US" altLang="zh-CN">
                <a:solidFill>
                  <a:schemeClr val="tx1"/>
                </a:solidFill>
                <a:latin typeface="Consolas" panose="020B0609020204030204"/>
                <a:ea typeface="Consolas" panose="020B0609020204030204"/>
                <a:sym typeface="+mn-ea"/>
              </a:rPr>
              <a:t>sendVerifyCode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 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接口</a:t>
            </a:r>
          </a:p>
        </p:txBody>
      </p:sp>
      <p:sp>
        <p:nvSpPr>
          <p:cNvPr id="8" name="矩形 7"/>
          <p:cNvSpPr/>
          <p:nvPr/>
        </p:nvSpPr>
        <p:spPr>
          <a:xfrm>
            <a:off x="157480" y="4798695"/>
            <a:ext cx="296354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点击重置密码按钮，调用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 </a:t>
            </a:r>
            <a:r>
              <a:rPr lang="en-US" altLang="zh-CN">
                <a:solidFill>
                  <a:schemeClr val="tx1"/>
                </a:solidFill>
                <a:latin typeface="Consolas" panose="020B0609020204030204"/>
                <a:ea typeface="Consolas" panose="020B0609020204030204"/>
                <a:sym typeface="+mn-ea"/>
              </a:rPr>
              <a:t>resetPassword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 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接口</a:t>
            </a:r>
          </a:p>
        </p:txBody>
      </p:sp>
      <p:sp>
        <p:nvSpPr>
          <p:cNvPr id="9" name="矩形 8"/>
          <p:cNvSpPr/>
          <p:nvPr/>
        </p:nvSpPr>
        <p:spPr>
          <a:xfrm>
            <a:off x="157480" y="3906520"/>
            <a:ext cx="234442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输入验证码和新密码</a:t>
            </a:r>
          </a:p>
        </p:txBody>
      </p:sp>
      <p:sp>
        <p:nvSpPr>
          <p:cNvPr id="11" name="矩形 10"/>
          <p:cNvSpPr/>
          <p:nvPr/>
        </p:nvSpPr>
        <p:spPr>
          <a:xfrm>
            <a:off x="157480" y="5775960"/>
            <a:ext cx="217678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根据接口返回结果显示成功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失败提示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96000" y="35179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zh-CN" altLang="en-US" sz="4000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sym typeface="+mn-ea"/>
              </a:rPr>
              <a:t>2.后端流程</a:t>
            </a:r>
          </a:p>
        </p:txBody>
      </p:sp>
      <p:sp>
        <p:nvSpPr>
          <p:cNvPr id="13" name="内容"/>
          <p:cNvSpPr/>
          <p:nvPr>
            <p:custDataLst>
              <p:tags r:id="rId2"/>
            </p:custDataLst>
          </p:nvPr>
        </p:nvSpPr>
        <p:spPr>
          <a:xfrm>
            <a:off x="4590415" y="1278255"/>
            <a:ext cx="1867535" cy="5518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发送验证码</a:t>
            </a:r>
          </a:p>
        </p:txBody>
      </p:sp>
      <p:sp>
        <p:nvSpPr>
          <p:cNvPr id="23" name="矩形 22"/>
          <p:cNvSpPr/>
          <p:nvPr/>
        </p:nvSpPr>
        <p:spPr>
          <a:xfrm>
            <a:off x="4436110" y="2049780"/>
            <a:ext cx="256603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验证手机号是否已注册</a:t>
            </a:r>
          </a:p>
        </p:txBody>
      </p:sp>
      <p:sp>
        <p:nvSpPr>
          <p:cNvPr id="25" name="矩形 24"/>
          <p:cNvSpPr/>
          <p:nvPr/>
        </p:nvSpPr>
        <p:spPr>
          <a:xfrm>
            <a:off x="4436110" y="2978150"/>
            <a:ext cx="256603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检查发送频率限制（1分钟内不能重复发送）</a:t>
            </a:r>
          </a:p>
        </p:txBody>
      </p:sp>
      <p:sp>
        <p:nvSpPr>
          <p:cNvPr id="26" name="矩形 25"/>
          <p:cNvSpPr/>
          <p:nvPr/>
        </p:nvSpPr>
        <p:spPr>
          <a:xfrm>
            <a:off x="4436110" y="4798695"/>
            <a:ext cx="256603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将验证码保存到Redis（有效期5分钟</a:t>
            </a:r>
          </a:p>
        </p:txBody>
      </p:sp>
      <p:sp>
        <p:nvSpPr>
          <p:cNvPr id="27" name="矩形 26"/>
          <p:cNvSpPr/>
          <p:nvPr/>
        </p:nvSpPr>
        <p:spPr>
          <a:xfrm>
            <a:off x="4436110" y="3906520"/>
            <a:ext cx="256603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生成6位随机验证码</a:t>
            </a:r>
          </a:p>
        </p:txBody>
      </p:sp>
      <p:sp>
        <p:nvSpPr>
          <p:cNvPr id="28" name="矩形 27"/>
          <p:cNvSpPr/>
          <p:nvPr/>
        </p:nvSpPr>
        <p:spPr>
          <a:xfrm>
            <a:off x="4436110" y="5775960"/>
            <a:ext cx="256667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发送短信验证码（目前是测试环境，直接返回验证码</a:t>
            </a:r>
            <a:r>
              <a:rPr lang="zh-CN" altLang="en-US">
                <a:solidFill>
                  <a:srgbClr val="D8DEE9"/>
                </a:solidFill>
                <a:latin typeface="Segoe WPC"/>
                <a:ea typeface="Segoe WPC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12000" y="1455420"/>
            <a:ext cx="5080000" cy="6089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8DEE9"/>
                </a:solidFill>
                <a:latin typeface="Segoe WPC"/>
                <a:ea typeface="Segoe WPC"/>
              </a:rPr>
              <a:t>）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endParaRPr lang="zh-CN" altLang="en-US" sz="1600" b="0" i="0">
              <a:solidFill>
                <a:srgbClr val="D8DEE9"/>
              </a:solidFill>
              <a:latin typeface="Segoe WPC"/>
              <a:ea typeface="Segoe WPC"/>
            </a:endParaRPr>
          </a:p>
        </p:txBody>
      </p:sp>
      <p:sp>
        <p:nvSpPr>
          <p:cNvPr id="30" name="内容"/>
          <p:cNvSpPr/>
          <p:nvPr>
            <p:custDataLst>
              <p:tags r:id="rId3"/>
            </p:custDataLst>
          </p:nvPr>
        </p:nvSpPr>
        <p:spPr>
          <a:xfrm>
            <a:off x="8619490" y="1334135"/>
            <a:ext cx="1867535" cy="5518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32" name="内容"/>
          <p:cNvSpPr/>
          <p:nvPr>
            <p:custDataLst>
              <p:tags r:id="rId4"/>
            </p:custDataLst>
          </p:nvPr>
        </p:nvSpPr>
        <p:spPr>
          <a:xfrm>
            <a:off x="8619490" y="1223645"/>
            <a:ext cx="1867535" cy="5518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重置密码</a:t>
            </a:r>
          </a:p>
        </p:txBody>
      </p:sp>
      <p:sp>
        <p:nvSpPr>
          <p:cNvPr id="33" name="矩形 32"/>
          <p:cNvSpPr/>
          <p:nvPr/>
        </p:nvSpPr>
        <p:spPr>
          <a:xfrm>
            <a:off x="8234045" y="2049780"/>
            <a:ext cx="276098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验证手机号是否存在</a:t>
            </a:r>
          </a:p>
        </p:txBody>
      </p:sp>
      <p:sp>
        <p:nvSpPr>
          <p:cNvPr id="34" name="矩形 33"/>
          <p:cNvSpPr/>
          <p:nvPr/>
        </p:nvSpPr>
        <p:spPr>
          <a:xfrm>
            <a:off x="8234045" y="2978150"/>
            <a:ext cx="276098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校验验证码是否正确且未过期</a:t>
            </a:r>
          </a:p>
        </p:txBody>
      </p:sp>
      <p:sp>
        <p:nvSpPr>
          <p:cNvPr id="35" name="矩形 34"/>
          <p:cNvSpPr/>
          <p:nvPr/>
        </p:nvSpPr>
        <p:spPr>
          <a:xfrm>
            <a:off x="8234680" y="3888105"/>
            <a:ext cx="2760980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使用SHA256加密新密码</a:t>
            </a:r>
          </a:p>
        </p:txBody>
      </p:sp>
      <p:sp>
        <p:nvSpPr>
          <p:cNvPr id="36" name="矩形 35"/>
          <p:cNvSpPr/>
          <p:nvPr/>
        </p:nvSpPr>
        <p:spPr>
          <a:xfrm>
            <a:off x="8235315" y="5796280"/>
            <a:ext cx="276034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删除Redis中的验证码</a:t>
            </a:r>
          </a:p>
        </p:txBody>
      </p:sp>
      <p:sp>
        <p:nvSpPr>
          <p:cNvPr id="37" name="矩形 36"/>
          <p:cNvSpPr/>
          <p:nvPr/>
        </p:nvSpPr>
        <p:spPr>
          <a:xfrm>
            <a:off x="8233410" y="4863465"/>
            <a:ext cx="2761615" cy="682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更新用户密码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3" grpId="0"/>
      <p:bldP spid="30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65119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找回密码功能的实现</a:t>
            </a: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421293" y="4808553"/>
            <a:ext cx="7536180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贾晋宇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2023212350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6" grpId="0" bldLvl="0" animBg="1"/>
      <p:bldP spid="7" grpId="0" bldLvl="0" animBg="1"/>
      <p:bldP spid="22" grpId="0" bldLvl="0" animBg="1"/>
      <p:bldP spid="12" grpId="0"/>
      <p:bldP spid="29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可视化数据展板设计开发</a:t>
            </a:r>
          </a:p>
        </p:txBody>
      </p:sp>
      <p:sp>
        <p:nvSpPr>
          <p:cNvPr id="13" name="内容"/>
          <p:cNvSpPr/>
          <p:nvPr>
            <p:custDataLst>
              <p:tags r:id="rId3"/>
            </p:custDataLst>
          </p:nvPr>
        </p:nvSpPr>
        <p:spPr>
          <a:xfrm>
            <a:off x="9075420" y="2527935"/>
            <a:ext cx="2982595" cy="398399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总览页面：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所有的图表都是使用</a:t>
            </a:r>
            <a:r>
              <a:rPr lang="en-US" altLang="zh-CN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 ECharts 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实现的，并且做了适当的样式优化和布局调整，确保数据展示清晰美观。</a:t>
            </a: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" y="1983105"/>
            <a:ext cx="8564880" cy="47034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可视化数据展板设计开发</a:t>
            </a:r>
          </a:p>
        </p:txBody>
      </p:sp>
      <p:sp>
        <p:nvSpPr>
          <p:cNvPr id="13" name="内容"/>
          <p:cNvSpPr/>
          <p:nvPr>
            <p:custDataLst>
              <p:tags r:id="rId3"/>
            </p:custDataLst>
          </p:nvPr>
        </p:nvSpPr>
        <p:spPr>
          <a:xfrm>
            <a:off x="9114790" y="2396490"/>
            <a:ext cx="2982595" cy="398399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进入入口：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收归入左侧管理系统目录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" y="2396490"/>
            <a:ext cx="8741410" cy="34302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可视化数据展板设计开发</a:t>
            </a:r>
          </a:p>
        </p:txBody>
      </p:sp>
      <p:sp>
        <p:nvSpPr>
          <p:cNvPr id="13" name="内容"/>
          <p:cNvSpPr/>
          <p:nvPr>
            <p:custDataLst>
              <p:tags r:id="rId3"/>
            </p:custDataLst>
          </p:nvPr>
        </p:nvSpPr>
        <p:spPr>
          <a:xfrm>
            <a:off x="8858885" y="2288540"/>
            <a:ext cx="2982595" cy="398399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时间区域自由选择：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首先，是选择我要统计的时间区域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在这里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我既可以点击选中首尾时间也可以滑动选择首尾时间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 </a:t>
            </a:r>
          </a:p>
        </p:txBody>
      </p:sp>
      <p:pic>
        <p:nvPicPr>
          <p:cNvPr id="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90" y="1968500"/>
            <a:ext cx="8341995" cy="4624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8794750" cy="840105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10000"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当鼠标压上的时候会有该节点的</a:t>
            </a:r>
            <a:r>
              <a:rPr lang="en-US" altLang="zh-CN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数据详细信息</a:t>
            </a:r>
            <a:r>
              <a:rPr lang="en-US" altLang="zh-CN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并且会放大原部分</a:t>
            </a:r>
            <a:r>
              <a:rPr lang="en-US" altLang="zh-CN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便于用户</a:t>
            </a:r>
            <a:r>
              <a:rPr lang="en-US" altLang="zh-CN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观察数据</a:t>
            </a:r>
            <a:r>
              <a:rPr lang="en-US" altLang="zh-CN" sz="3200" b="1" spc="100" dirty="0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</a:p>
        </p:txBody>
      </p:sp>
      <p:pic>
        <p:nvPicPr>
          <p:cNvPr id="3" name="图片 -2147482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5" y="2279650"/>
            <a:ext cx="8434070" cy="36772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6" descr="屏幕截图 2025-04-14 0316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185" y="2867025"/>
            <a:ext cx="7085330" cy="29279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2"/>
            </p:custDataLst>
          </p:nvPr>
        </p:nvSpPr>
        <p:spPr>
          <a:xfrm>
            <a:off x="935355" y="932815"/>
            <a:ext cx="8794750" cy="840105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10000"/>
          </a:bodyPr>
          <a:lstStyle/>
          <a:p>
            <a:pPr indent="0" fontAlgn="auto"/>
            <a:r>
              <a:rPr lang="zh-CN" altLang="en-US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当鼠标压上的时候会有该节点的</a:t>
            </a:r>
            <a:r>
              <a:rPr lang="en-US" altLang="zh-CN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数据详细信息</a:t>
            </a:r>
            <a:r>
              <a:rPr lang="en-US" altLang="zh-CN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并且会放大原部分</a:t>
            </a:r>
            <a:r>
              <a:rPr lang="en-US" altLang="zh-CN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便于用户</a:t>
            </a:r>
            <a:r>
              <a:rPr lang="en-US" altLang="zh-CN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  <a:r>
              <a:rPr lang="zh-CN" altLang="en-US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观察数据</a:t>
            </a:r>
            <a:r>
              <a:rPr lang="en-US" altLang="zh-CN" sz="3200" b="1" spc="100" dirty="0"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 </a:t>
            </a:r>
          </a:p>
        </p:txBody>
      </p:sp>
      <p:pic>
        <p:nvPicPr>
          <p:cNvPr id="3" name="图片 -2147482615" descr="屏幕截图 2025-04-14 0317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90190"/>
            <a:ext cx="8288655" cy="33724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614" descr="屏幕截图 2025-04-14 031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155" y="3020060"/>
            <a:ext cx="8283575" cy="34550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PPT_THEMETITLE" val=" 优化代码: 提升代码质量"/>
  <p:tag name="TAG_PRESENTATION_STYLE" val="扁平"/>
  <p:tag name="YOO_CHATPPT" val="1"/>
  <p:tag name="KSO_WPP_MARK_KEY" val="86f34338-31a7-43a2-b6cb-b159d31aaeea"/>
  <p:tag name="COMMONDATA" val="eyJoZGlkIjoiODExMjIwMGVmZDljNWE3NWJkNmRmY2E3ZDljNjI3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OV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YOO_CHATSHAPE_TYPE" val="YOO_CHATSHAPE_DATE"/>
  <p:tag name="YOO_CHATSHAPE_DATE" val="2023/6/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AUTHOR"/>
  <p:tag name="YOO_CHATSHAPE_AUTHOR" val="尤小优235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ATLO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2图"/>
  <p:tag name="YOO_CHATPAGE_TYPE" val="YOO_CHATPAGE_CONTENT"/>
  <p:tag name="YOO_CHATPPT_CONTENT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CONTEN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  <p:tag name="YOO_CHATSHAPE_TYPE" val="YOO_CHATSHAPE_CHILD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-0.35"/>
  <p:tag name="KSO_WM_UNIT_LINE_FORE_SCHEMECOLOR_INDEX" val="14"/>
  <p:tag name="KSO_WM_UNIT_LINE_FILL_TYPE" val="2"/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  <p:tag name="YOO_CHATSHAPE_TYPE" val="YOO_CHATSHAPE_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heme/theme1.xml><?xml version="1.0" encoding="utf-8"?>
<a:theme xmlns:a="http://schemas.openxmlformats.org/drawingml/2006/main" name="1_Office Theme">
  <a:themeElements>
    <a:clrScheme name="自定义 76">
      <a:dk1>
        <a:srgbClr val="1F423F"/>
      </a:dk1>
      <a:lt1>
        <a:srgbClr val="FFFFFF"/>
      </a:lt1>
      <a:dk2>
        <a:srgbClr val="FFFFFF"/>
      </a:dk2>
      <a:lt2>
        <a:srgbClr val="ECFFFF"/>
      </a:lt2>
      <a:accent1>
        <a:srgbClr val="66CDAA"/>
      </a:accent1>
      <a:accent2>
        <a:srgbClr val="44E5E7"/>
      </a:accent2>
      <a:accent3>
        <a:srgbClr val="59D2FE"/>
      </a:accent3>
      <a:accent4>
        <a:srgbClr val="4A8FE7"/>
      </a:accent4>
      <a:accent5>
        <a:srgbClr val="5C7AFF"/>
      </a:accent5>
      <a:accent6>
        <a:srgbClr val="32CBFF"/>
      </a:accent6>
      <a:hlink>
        <a:srgbClr val="15BCAC"/>
      </a:hlink>
      <a:folHlink>
        <a:srgbClr val="44E5E7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_2025855840">
  <a:themeElements>
    <a:clrScheme name="自定义 76">
      <a:dk1>
        <a:srgbClr val="1F423F"/>
      </a:dk1>
      <a:lt1>
        <a:srgbClr val="FFFFFF"/>
      </a:lt1>
      <a:dk2>
        <a:srgbClr val="FFFFFF"/>
      </a:dk2>
      <a:lt2>
        <a:srgbClr val="ECFFFF"/>
      </a:lt2>
      <a:accent1>
        <a:srgbClr val="66CDAA"/>
      </a:accent1>
      <a:accent2>
        <a:srgbClr val="44E5E7"/>
      </a:accent2>
      <a:accent3>
        <a:srgbClr val="59D2FE"/>
      </a:accent3>
      <a:accent4>
        <a:srgbClr val="4A8FE7"/>
      </a:accent4>
      <a:accent5>
        <a:srgbClr val="5C7AFF"/>
      </a:accent5>
      <a:accent6>
        <a:srgbClr val="32CBFF"/>
      </a:accent6>
      <a:hlink>
        <a:srgbClr val="15BCAC"/>
      </a:hlink>
      <a:folHlink>
        <a:srgbClr val="44E5E7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2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3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4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5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6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7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8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9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10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95439f16be7f450d9558afbbd6b34c09</Template>
  <TotalTime>16</TotalTime>
  <Words>841</Words>
  <Application>Microsoft Office PowerPoint</Application>
  <PresentationFormat>宽屏</PresentationFormat>
  <Paragraphs>119</Paragraphs>
  <Slides>25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Segoe WPC</vt:lpstr>
      <vt:lpstr>等线</vt:lpstr>
      <vt:lpstr>黑体</vt:lpstr>
      <vt:lpstr>思源黑体 CN</vt:lpstr>
      <vt:lpstr>微软雅黑</vt:lpstr>
      <vt:lpstr>Arial</vt:lpstr>
      <vt:lpstr>Consolas</vt:lpstr>
      <vt:lpstr>Franklin Gothic Book</vt:lpstr>
      <vt:lpstr>Franklin Gothic Medium</vt:lpstr>
      <vt:lpstr>1_Office Theme</vt:lpstr>
      <vt:lpstr>1_Office Theme_2025855840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maikesw D</cp:lastModifiedBy>
  <cp:revision>18</cp:revision>
  <dcterms:created xsi:type="dcterms:W3CDTF">2023-06-01T12:20:00Z</dcterms:created>
  <dcterms:modified xsi:type="dcterms:W3CDTF">2025-04-14T05:14:38Z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D23B886951D44C20B949C1997D201115_13</vt:lpwstr>
  </property>
  <property fmtid="{D5CDD505-2E9C-101B-9397-08002B2CF9AE}" pid="3" name="KSOProductBuildVer">
    <vt:lpwstr>2052-12.1.0.20305</vt:lpwstr>
  </property>
</Properties>
</file>