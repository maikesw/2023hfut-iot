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6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7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9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5"/>
  </p:notesMasterIdLst>
  <p:sldIdLst>
    <p:sldId id="298" r:id="rId3"/>
    <p:sldId id="1133" r:id="rId4"/>
    <p:sldId id="379" r:id="rId5"/>
    <p:sldId id="11089982" r:id="rId6"/>
    <p:sldId id="11090049" r:id="rId7"/>
    <p:sldId id="11090051" r:id="rId8"/>
    <p:sldId id="11090050" r:id="rId9"/>
    <p:sldId id="11090040" r:id="rId10"/>
    <p:sldId id="382" r:id="rId11"/>
    <p:sldId id="11090063" r:id="rId12"/>
    <p:sldId id="11090064" r:id="rId13"/>
    <p:sldId id="11090069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5CB5-83DA-4413-A112-73BCB0B9DC0C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1E1BF-BD1D-42B3-9D8B-EB23553A3A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9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C1D9-153B-45BB-B5DE-7579A53756C5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2952A-0647-46EA-8310-EDCEE27AFB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tags" Target="../tags/tag1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notesSlide" Target="../notesSlides/notesSlide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slideLayout" Target="../slideLayouts/slideLayout4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38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4.png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image" Target="../media/image3.png"/><Relationship Id="rId2" Type="http://schemas.openxmlformats.org/officeDocument/2006/relationships/tags" Target="../tags/tag56.xml"/><Relationship Id="rId16" Type="http://schemas.openxmlformats.org/officeDocument/2006/relationships/image" Target="../media/image2.png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image" Target="../media/image1.png"/><Relationship Id="rId10" Type="http://schemas.openxmlformats.org/officeDocument/2006/relationships/tags" Target="../tags/tag64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image" Target="../media/image5.png"/><Relationship Id="rId18" Type="http://schemas.openxmlformats.org/officeDocument/2006/relationships/image" Target="../media/image10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notesSlide" Target="../notesSlides/notesSlide6.xml"/><Relationship Id="rId17" Type="http://schemas.openxmlformats.org/officeDocument/2006/relationships/image" Target="../media/image9.png"/><Relationship Id="rId2" Type="http://schemas.openxmlformats.org/officeDocument/2006/relationships/tags" Target="../tags/tag68.xml"/><Relationship Id="rId16" Type="http://schemas.openxmlformats.org/officeDocument/2006/relationships/image" Target="../media/image8.png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71.xml"/><Relationship Id="rId15" Type="http://schemas.openxmlformats.org/officeDocument/2006/relationships/image" Target="../media/image7.png"/><Relationship Id="rId10" Type="http://schemas.openxmlformats.org/officeDocument/2006/relationships/tags" Target="../tags/tag76.xml"/><Relationship Id="rId19" Type="http://schemas.openxmlformats.org/officeDocument/2006/relationships/image" Target="../media/image11.png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notesSlide" Target="../notesSlides/notesSlide7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78.xml"/><Relationship Id="rId16" Type="http://schemas.openxmlformats.org/officeDocument/2006/relationships/image" Target="../media/image14.pn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image" Target="../media/image13.png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9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image" Target="../media/image15.png"/><Relationship Id="rId5" Type="http://schemas.openxmlformats.org/officeDocument/2006/relationships/tags" Target="../tags/tag96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95.xml"/><Relationship Id="rId9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rallelogram 15"/>
          <p:cNvSpPr/>
          <p:nvPr userDrawn="1">
            <p:custDataLst>
              <p:tags r:id="rId2"/>
            </p:custDataLst>
          </p:nvPr>
        </p:nvSpPr>
        <p:spPr>
          <a:xfrm>
            <a:off x="621474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Parallelogram 17"/>
          <p:cNvSpPr/>
          <p:nvPr userDrawn="1">
            <p:custDataLst>
              <p:tags r:id="rId3"/>
            </p:custDataLst>
          </p:nvPr>
        </p:nvSpPr>
        <p:spPr>
          <a:xfrm flipH="1">
            <a:off x="53022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val 21"/>
          <p:cNvSpPr/>
          <p:nvPr userDrawn="1">
            <p:custDataLst>
              <p:tags r:id="rId4"/>
            </p:custDataLst>
          </p:nvPr>
        </p:nvSpPr>
        <p:spPr>
          <a:xfrm>
            <a:off x="2927032" y="1749742"/>
            <a:ext cx="6575425" cy="3140710"/>
          </a:xfrm>
          <a:prstGeom prst="roundRect">
            <a:avLst>
              <a:gd name="adj" fmla="val 535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"/>
          <p:cNvSpPr/>
          <p:nvPr userDrawn="1">
            <p:custDataLst>
              <p:tags r:id="rId5"/>
            </p:custDataLst>
          </p:nvPr>
        </p:nvSpPr>
        <p:spPr>
          <a:xfrm>
            <a:off x="3120390" y="1868805"/>
            <a:ext cx="6293485" cy="2902585"/>
          </a:xfrm>
          <a:prstGeom prst="roundRect">
            <a:avLst>
              <a:gd name="adj" fmla="val 4684"/>
            </a:avLst>
          </a:prstGeom>
          <a:noFill/>
          <a:ln>
            <a:solidFill>
              <a:schemeClr val="bg1"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6"/>
          <p:cNvSpPr/>
          <p:nvPr userDrawn="1">
            <p:custDataLst>
              <p:tags r:id="rId6"/>
            </p:custDataLst>
          </p:nvPr>
        </p:nvSpPr>
        <p:spPr>
          <a:xfrm rot="5400000">
            <a:off x="8206740" y="5504815"/>
            <a:ext cx="962025" cy="93853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!!平滑2"/>
          <p:cNvSpPr/>
          <p:nvPr userDrawn="1">
            <p:custDataLst>
              <p:tags r:id="rId7"/>
            </p:custDataLst>
          </p:nvPr>
        </p:nvSpPr>
        <p:spPr>
          <a:xfrm rot="7920000">
            <a:off x="-994410" y="538607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!!平滑1"/>
          <p:cNvSpPr/>
          <p:nvPr userDrawn="1">
            <p:custDataLst>
              <p:tags r:id="rId8"/>
            </p:custDataLst>
          </p:nvPr>
        </p:nvSpPr>
        <p:spPr>
          <a:xfrm rot="5400000">
            <a:off x="1079500" y="818515"/>
            <a:ext cx="556895" cy="51689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!!平滑4"/>
          <p:cNvSpPr/>
          <p:nvPr userDrawn="1">
            <p:custDataLst>
              <p:tags r:id="rId9"/>
            </p:custDataLst>
          </p:nvPr>
        </p:nvSpPr>
        <p:spPr>
          <a:xfrm rot="5400000">
            <a:off x="9563735" y="1038860"/>
            <a:ext cx="328295" cy="3054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" name="!!平滑3"/>
          <p:cNvSpPr/>
          <p:nvPr userDrawn="1">
            <p:custDataLst>
              <p:tags r:id="rId10"/>
            </p:custDataLst>
          </p:nvPr>
        </p:nvSpPr>
        <p:spPr>
          <a:xfrm rot="7920000">
            <a:off x="10354310" y="-96393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!!平滑5"/>
          <p:cNvSpPr/>
          <p:nvPr userDrawn="1">
            <p:custDataLst>
              <p:tags r:id="rId11"/>
            </p:custDataLst>
          </p:nvPr>
        </p:nvSpPr>
        <p:spPr>
          <a:xfrm rot="5400000">
            <a:off x="11011535" y="3244850"/>
            <a:ext cx="601345" cy="55880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日期"/>
          <p:cNvSpPr txBox="1"/>
          <p:nvPr>
            <p:custDataLst>
              <p:tags r:id="rId12"/>
            </p:custDataLst>
          </p:nvPr>
        </p:nvSpPr>
        <p:spPr>
          <a:xfrm>
            <a:off x="4101782" y="3667191"/>
            <a:ext cx="43218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rPr>
              <a:t>2023/6/1</a:t>
            </a:r>
          </a:p>
        </p:txBody>
      </p:sp>
      <p:sp>
        <p:nvSpPr>
          <p:cNvPr id="7" name="标题"/>
          <p:cNvSpPr txBox="1"/>
          <p:nvPr>
            <p:custDataLst>
              <p:tags r:id="rId13"/>
            </p:custDataLst>
          </p:nvPr>
        </p:nvSpPr>
        <p:spPr>
          <a:xfrm>
            <a:off x="3115945" y="2511967"/>
            <a:ext cx="6293485" cy="769620"/>
          </a:xfrm>
          <a:prstGeom prst="rect">
            <a:avLst/>
          </a:prstGeom>
          <a:noFill/>
        </p:spPr>
        <p:txBody>
          <a:bodyPr wrap="square" rtlCol="0" anchor="ctr" anchorCtr="0">
            <a:normAutofit fontScale="97500"/>
          </a:bodyPr>
          <a:lstStyle/>
          <a:p>
            <a:pPr algn="ctr" fontAlgn="ctr"/>
            <a:r>
              <a:rPr lang="zh-CN" altLang="en-US" sz="4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Heavy" panose="020B0A00000000000000" charset="-122"/>
                <a:sym typeface="+mn-ea"/>
              </a:rPr>
              <a:t> 大实例代码优化</a:t>
            </a:r>
            <a:endParaRPr lang="en-US" sz="4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" panose="00000500000000000000" pitchFamily="2" charset="0"/>
            </a:endParaRPr>
          </a:p>
        </p:txBody>
      </p:sp>
      <p:sp>
        <p:nvSpPr>
          <p:cNvPr id="2" name="汇报人"/>
          <p:cNvSpPr/>
          <p:nvPr>
            <p:custDataLst>
              <p:tags r:id="rId14"/>
            </p:custDataLst>
          </p:nvPr>
        </p:nvSpPr>
        <p:spPr>
          <a:xfrm>
            <a:off x="3421626" y="4243268"/>
            <a:ext cx="6080831" cy="368204"/>
          </a:xfrm>
          <a:prstGeom prst="rect">
            <a:avLst/>
          </a:prstGeom>
        </p:spPr>
        <p:txBody>
          <a:bodyPr wrap="square" anchor="ctr" anchorCtr="0"/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成员：邓杰湧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贾晋宇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柳希直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尹衍哲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9" grpId="0" animBg="1"/>
      <p:bldP spid="11" grpId="0" animBg="1"/>
      <p:bldP spid="13" grpId="0" animBg="1"/>
      <p:bldP spid="35" grpId="0" animBg="1"/>
      <p:bldP spid="36" grpId="0" animBg="1"/>
      <p:bldP spid="34" grpId="0" animBg="1"/>
      <p:bldP spid="8" grpId="0"/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平滑2"/>
          <p:cNvSpPr/>
          <p:nvPr>
            <p:custDataLst>
              <p:tags r:id="rId2"/>
            </p:custDataLst>
          </p:nvPr>
        </p:nvSpPr>
        <p:spPr>
          <a:xfrm rot="16200000">
            <a:off x="8784622" y="-621842"/>
            <a:ext cx="2244903" cy="22454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!!平滑3"/>
          <p:cNvSpPr/>
          <p:nvPr>
            <p:custDataLst>
              <p:tags r:id="rId3"/>
            </p:custDataLst>
          </p:nvPr>
        </p:nvSpPr>
        <p:spPr>
          <a:xfrm rot="16200000">
            <a:off x="8331655" y="5011848"/>
            <a:ext cx="2689256" cy="26899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!!平滑4"/>
          <p:cNvSpPr/>
          <p:nvPr>
            <p:custDataLst>
              <p:tags r:id="rId4"/>
            </p:custDataLst>
          </p:nvPr>
        </p:nvSpPr>
        <p:spPr>
          <a:xfrm rot="16200000">
            <a:off x="7465823" y="6039236"/>
            <a:ext cx="1318377" cy="1318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!!平滑1"/>
          <p:cNvSpPr/>
          <p:nvPr>
            <p:custDataLst>
              <p:tags r:id="rId5"/>
            </p:custDataLst>
          </p:nvPr>
        </p:nvSpPr>
        <p:spPr>
          <a:xfrm rot="16200000">
            <a:off x="-512013" y="6102415"/>
            <a:ext cx="1644180" cy="1644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!!平滑9"/>
          <p:cNvSpPr/>
          <p:nvPr>
            <p:custDataLst>
              <p:tags r:id="rId6"/>
            </p:custDataLst>
          </p:nvPr>
        </p:nvSpPr>
        <p:spPr>
          <a:xfrm rot="10800000">
            <a:off x="11178805" y="4851664"/>
            <a:ext cx="1947038" cy="1947673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!!平滑7"/>
          <p:cNvSpPr/>
          <p:nvPr>
            <p:custDataLst>
              <p:tags r:id="rId7"/>
            </p:custDataLst>
          </p:nvPr>
        </p:nvSpPr>
        <p:spPr>
          <a:xfrm rot="10800000">
            <a:off x="10776319" y="3959722"/>
            <a:ext cx="1130006" cy="11300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!!平滑5"/>
          <p:cNvSpPr/>
          <p:nvPr>
            <p:custDataLst>
              <p:tags r:id="rId8"/>
            </p:custDataLst>
          </p:nvPr>
        </p:nvSpPr>
        <p:spPr>
          <a:xfrm rot="10800000">
            <a:off x="10159261" y="343704"/>
            <a:ext cx="2797716" cy="2798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!!平滑13"/>
          <p:cNvSpPr/>
          <p:nvPr>
            <p:custDataLst>
              <p:tags r:id="rId9"/>
            </p:custDataLst>
          </p:nvPr>
        </p:nvSpPr>
        <p:spPr>
          <a:xfrm rot="10800000">
            <a:off x="11115321" y="2382158"/>
            <a:ext cx="1350928" cy="1350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!!平滑6"/>
          <p:cNvSpPr/>
          <p:nvPr>
            <p:custDataLst>
              <p:tags r:id="rId10"/>
            </p:custDataLst>
          </p:nvPr>
        </p:nvSpPr>
        <p:spPr>
          <a:xfrm rot="10800000">
            <a:off x="10007535" y="-680285"/>
            <a:ext cx="1893712" cy="1894347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!!平滑14"/>
          <p:cNvSpPr/>
          <p:nvPr>
            <p:custDataLst>
              <p:tags r:id="rId11"/>
            </p:custDataLst>
          </p:nvPr>
        </p:nvSpPr>
        <p:spPr>
          <a:xfrm rot="10800000">
            <a:off x="10204333" y="4998946"/>
            <a:ext cx="817667" cy="8176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!!平滑11"/>
          <p:cNvSpPr/>
          <p:nvPr>
            <p:custDataLst>
              <p:tags r:id="rId12"/>
            </p:custDataLst>
          </p:nvPr>
        </p:nvSpPr>
        <p:spPr>
          <a:xfrm rot="10800000">
            <a:off x="11030253" y="4998947"/>
            <a:ext cx="245046" cy="24568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!!平滑10"/>
          <p:cNvSpPr/>
          <p:nvPr>
            <p:custDataLst>
              <p:tags r:id="rId13"/>
            </p:custDataLst>
          </p:nvPr>
        </p:nvSpPr>
        <p:spPr>
          <a:xfrm rot="10800000">
            <a:off x="11390840" y="5551253"/>
            <a:ext cx="334558" cy="3345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!!平滑8"/>
          <p:cNvSpPr/>
          <p:nvPr>
            <p:custDataLst>
              <p:tags r:id="rId14"/>
            </p:custDataLst>
          </p:nvPr>
        </p:nvSpPr>
        <p:spPr>
          <a:xfrm rot="10800000">
            <a:off x="10367486" y="6295914"/>
            <a:ext cx="245046" cy="24568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!!平滑12"/>
          <p:cNvSpPr/>
          <p:nvPr>
            <p:custDataLst>
              <p:tags r:id="rId15"/>
            </p:custDataLst>
          </p:nvPr>
        </p:nvSpPr>
        <p:spPr>
          <a:xfrm rot="10800000">
            <a:off x="10539526" y="3476613"/>
            <a:ext cx="490727" cy="4907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矩形 18"/>
          <p:cNvSpPr/>
          <p:nvPr/>
        </p:nvSpPr>
        <p:spPr>
          <a:xfrm>
            <a:off x="450850" y="135890"/>
            <a:ext cx="44875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改进条目</a:t>
            </a:r>
          </a:p>
        </p:txBody>
      </p:sp>
      <p:sp>
        <p:nvSpPr>
          <p:cNvPr id="29" name="矩形 28"/>
          <p:cNvSpPr/>
          <p:nvPr/>
        </p:nvSpPr>
        <p:spPr>
          <a:xfrm>
            <a:off x="450764" y="830939"/>
            <a:ext cx="2203693" cy="521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8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31" name="目录1"/>
          <p:cNvGrpSpPr/>
          <p:nvPr/>
        </p:nvGrpSpPr>
        <p:grpSpPr>
          <a:xfrm>
            <a:off x="1132463" y="2061336"/>
            <a:ext cx="7651662" cy="363760"/>
            <a:chOff x="3994" y="2968"/>
            <a:chExt cx="12053" cy="573"/>
          </a:xfrm>
        </p:grpSpPr>
        <p:sp>
          <p:nvSpPr>
            <p:cNvPr id="32" name="TextBox 9"/>
            <p:cNvSpPr txBox="1"/>
            <p:nvPr>
              <p:custDataLst>
                <p:tags r:id="rId22"/>
              </p:custDataLst>
            </p:nvPr>
          </p:nvSpPr>
          <p:spPr>
            <a:xfrm>
              <a:off x="4395" y="2968"/>
              <a:ext cx="11652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en-US" altLang="zh-CN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index</a:t>
              </a:r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页面的登录注册功能</a:t>
              </a:r>
            </a:p>
          </p:txBody>
        </p:sp>
        <p:sp>
          <p:nvSpPr>
            <p:cNvPr id="34" name="Freeform 18"/>
            <p:cNvSpPr/>
            <p:nvPr>
              <p:custDataLst>
                <p:tags r:id="rId23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目录2"/>
          <p:cNvGrpSpPr/>
          <p:nvPr/>
        </p:nvGrpSpPr>
        <p:grpSpPr>
          <a:xfrm>
            <a:off x="1132463" y="2688173"/>
            <a:ext cx="7651662" cy="374552"/>
            <a:chOff x="3994" y="4039"/>
            <a:chExt cx="12053" cy="590"/>
          </a:xfrm>
        </p:grpSpPr>
        <p:sp>
          <p:nvSpPr>
            <p:cNvPr id="37" name="TextBox 12"/>
            <p:cNvSpPr txBox="1"/>
            <p:nvPr>
              <p:custDataLst>
                <p:tags r:id="rId20"/>
              </p:custDataLst>
            </p:nvPr>
          </p:nvSpPr>
          <p:spPr>
            <a:xfrm>
              <a:off x="4395" y="4039"/>
              <a:ext cx="11652" cy="590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实现首页前端界面</a:t>
              </a:r>
            </a:p>
          </p:txBody>
        </p:sp>
        <p:sp>
          <p:nvSpPr>
            <p:cNvPr id="39" name="Freeform 21"/>
            <p:cNvSpPr/>
            <p:nvPr>
              <p:custDataLst>
                <p:tags r:id="rId21"/>
              </p:custDataLst>
            </p:nvPr>
          </p:nvSpPr>
          <p:spPr>
            <a:xfrm>
              <a:off x="3994" y="4105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目录3"/>
          <p:cNvGrpSpPr/>
          <p:nvPr/>
        </p:nvGrpSpPr>
        <p:grpSpPr>
          <a:xfrm>
            <a:off x="1132463" y="3224226"/>
            <a:ext cx="7651662" cy="374552"/>
            <a:chOff x="3994" y="4967"/>
            <a:chExt cx="12053" cy="590"/>
          </a:xfrm>
        </p:grpSpPr>
        <p:sp>
          <p:nvSpPr>
            <p:cNvPr id="42" name="TextBox 15"/>
            <p:cNvSpPr txBox="1"/>
            <p:nvPr>
              <p:custDataLst>
                <p:tags r:id="rId18"/>
              </p:custDataLst>
            </p:nvPr>
          </p:nvSpPr>
          <p:spPr>
            <a:xfrm>
              <a:off x="4395" y="4967"/>
              <a:ext cx="11652" cy="590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pPr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</a:p>
          </p:txBody>
        </p:sp>
        <p:sp>
          <p:nvSpPr>
            <p:cNvPr id="44" name="Freeform 24"/>
            <p:cNvSpPr/>
            <p:nvPr>
              <p:custDataLst>
                <p:tags r:id="rId19"/>
              </p:custDataLst>
            </p:nvPr>
          </p:nvSpPr>
          <p:spPr>
            <a:xfrm>
              <a:off x="3994" y="5113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Freeform 24"/>
          <p:cNvSpPr/>
          <p:nvPr>
            <p:custDataLst>
              <p:tags r:id="rId16"/>
            </p:custDataLst>
          </p:nvPr>
        </p:nvSpPr>
        <p:spPr>
          <a:xfrm>
            <a:off x="1132205" y="3903980"/>
            <a:ext cx="189230" cy="189230"/>
          </a:xfrm>
          <a:custGeom>
            <a:avLst/>
            <a:gdLst>
              <a:gd name="connsiteX0" fmla="*/ 1428547 w 2857092"/>
              <a:gd name="connsiteY0" fmla="*/ 541531 h 2857094"/>
              <a:gd name="connsiteX1" fmla="*/ 541532 w 2857092"/>
              <a:gd name="connsiteY1" fmla="*/ 1428546 h 2857094"/>
              <a:gd name="connsiteX2" fmla="*/ 1428547 w 2857092"/>
              <a:gd name="connsiteY2" fmla="*/ 2315561 h 2857094"/>
              <a:gd name="connsiteX3" fmla="*/ 2315562 w 2857092"/>
              <a:gd name="connsiteY3" fmla="*/ 1428546 h 2857094"/>
              <a:gd name="connsiteX4" fmla="*/ 1428547 w 2857092"/>
              <a:gd name="connsiteY4" fmla="*/ 541531 h 2857094"/>
              <a:gd name="connsiteX5" fmla="*/ 1428546 w 2857092"/>
              <a:gd name="connsiteY5" fmla="*/ 0 h 2857094"/>
              <a:gd name="connsiteX6" fmla="*/ 2857092 w 2857092"/>
              <a:gd name="connsiteY6" fmla="*/ 1428547 h 2857094"/>
              <a:gd name="connsiteX7" fmla="*/ 1428546 w 2857092"/>
              <a:gd name="connsiteY7" fmla="*/ 2857094 h 2857094"/>
              <a:gd name="connsiteX8" fmla="*/ 0 w 2857092"/>
              <a:gd name="connsiteY8" fmla="*/ 1428547 h 2857094"/>
              <a:gd name="connsiteX9" fmla="*/ 1428546 w 2857092"/>
              <a:gd name="connsiteY9" fmla="*/ 0 h 285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57092" h="2857094">
                <a:moveTo>
                  <a:pt x="1428547" y="541531"/>
                </a:moveTo>
                <a:cubicBezTo>
                  <a:pt x="938662" y="541531"/>
                  <a:pt x="541532" y="938661"/>
                  <a:pt x="541532" y="1428546"/>
                </a:cubicBezTo>
                <a:cubicBezTo>
                  <a:pt x="541532" y="1918431"/>
                  <a:pt x="938662" y="2315561"/>
                  <a:pt x="1428547" y="2315561"/>
                </a:cubicBezTo>
                <a:cubicBezTo>
                  <a:pt x="1918432" y="2315561"/>
                  <a:pt x="2315562" y="1918431"/>
                  <a:pt x="2315562" y="1428546"/>
                </a:cubicBezTo>
                <a:cubicBezTo>
                  <a:pt x="2315562" y="938661"/>
                  <a:pt x="1918432" y="541531"/>
                  <a:pt x="1428547" y="541531"/>
                </a:cubicBezTo>
                <a:close/>
                <a:moveTo>
                  <a:pt x="1428546" y="0"/>
                </a:moveTo>
                <a:cubicBezTo>
                  <a:pt x="2217510" y="0"/>
                  <a:pt x="2857092" y="639582"/>
                  <a:pt x="2857092" y="1428547"/>
                </a:cubicBezTo>
                <a:cubicBezTo>
                  <a:pt x="2857092" y="2217512"/>
                  <a:pt x="2217510" y="2857094"/>
                  <a:pt x="1428546" y="2857094"/>
                </a:cubicBezTo>
                <a:cubicBezTo>
                  <a:pt x="639582" y="2857094"/>
                  <a:pt x="0" y="2217512"/>
                  <a:pt x="0" y="1428547"/>
                </a:cubicBezTo>
                <a:cubicBezTo>
                  <a:pt x="0" y="639582"/>
                  <a:pt x="639582" y="0"/>
                  <a:pt x="14285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736" tIns="36186" rIns="71736" bIns="36186" rtlCol="0" anchor="ctr" anchorCtr="0">
            <a:noAutofit/>
          </a:bodyPr>
          <a:lstStyle/>
          <a:p>
            <a:pPr algn="ctr"/>
            <a:endParaRPr 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15"/>
          <p:cNvSpPr txBox="1"/>
          <p:nvPr>
            <p:custDataLst>
              <p:tags r:id="rId17"/>
            </p:custDataLst>
          </p:nvPr>
        </p:nvSpPr>
        <p:spPr>
          <a:xfrm>
            <a:off x="1387667" y="4397908"/>
            <a:ext cx="7396458" cy="374552"/>
          </a:xfrm>
          <a:prstGeom prst="rect">
            <a:avLst/>
          </a:prstGeom>
          <a:noFill/>
        </p:spPr>
        <p:txBody>
          <a:bodyPr wrap="square" lIns="71736" tIns="36186" rIns="71736" bIns="36186" rtlCol="0" anchor="ctr" anchorCtr="0">
            <a:noAutofit/>
          </a:bodyPr>
          <a:lstStyle/>
          <a:p>
            <a:pPr algn="l" fontAlgn="auto">
              <a:lnSpc>
                <a:spcPct val="100000"/>
              </a:lnSpc>
              <a:buClrTx/>
              <a:buSzTx/>
              <a:buFontTx/>
            </a:pPr>
            <a:endParaRPr lang="en-US" altLang="zh-CN" sz="1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55034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en-US" altLang="en-GB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实现登录注册功能</a:t>
            </a: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27908" y="4904835"/>
            <a:ext cx="7536180" cy="706187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柳希直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2023212360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2256471" y="3637041"/>
            <a:ext cx="7679055" cy="730250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0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4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2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5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0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63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64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7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8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9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0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1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登录注册功能</a:t>
            </a:r>
          </a:p>
        </p:txBody>
      </p:sp>
      <p:sp>
        <p:nvSpPr>
          <p:cNvPr id="13" name="内容"/>
          <p:cNvSpPr/>
          <p:nvPr>
            <p:custDataLst>
              <p:tags r:id="rId6"/>
            </p:custDataLst>
          </p:nvPr>
        </p:nvSpPr>
        <p:spPr>
          <a:xfrm>
            <a:off x="1050925" y="2279650"/>
            <a:ext cx="5673090" cy="31972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it-IT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UI</a:t>
            </a:r>
            <a:r>
              <a:rPr lang="zh-CN" altLang="en-US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设计：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沿袭图片的布局风格，采用 标题-用户名输入框-密码输入框-登录按钮-注	            册按钮 垂直布局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用户名和密码的输入框采用ext:TextField控件来实现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底部的登录和注册按钮采用ext:Button 控件来实现，布局采用flex布局，使其摆放位	置更加平均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总体样式采用CSS来完成</a:t>
            </a:r>
          </a:p>
        </p:txBody>
      </p:sp>
      <p:sp>
        <p:nvSpPr>
          <p:cNvPr id="12" name="右箭头 11"/>
          <p:cNvSpPr/>
          <p:nvPr/>
        </p:nvSpPr>
        <p:spPr>
          <a:xfrm>
            <a:off x="8874125" y="2857500"/>
            <a:ext cx="786130" cy="7696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19" grpId="0" animBg="1"/>
      <p:bldP spid="2" grpId="0"/>
      <p:bldP spid="13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8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9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10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1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2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登录注册后端业务流程：</a:t>
            </a:r>
          </a:p>
        </p:txBody>
      </p:sp>
      <p:pic>
        <p:nvPicPr>
          <p:cNvPr id="10" name="图片 -2147482622" descr="ascnodcoqw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6308" y="1281748"/>
            <a:ext cx="2258695" cy="5070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-2147482618" descr="egwrtgwr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3795" y="1220470"/>
            <a:ext cx="2347595" cy="5193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标题"/>
          <p:cNvSpPr txBox="1"/>
          <p:nvPr>
            <p:custDataLst>
              <p:tags r:id="rId6"/>
            </p:custDataLst>
          </p:nvPr>
        </p:nvSpPr>
        <p:spPr>
          <a:xfrm>
            <a:off x="1160780" y="710565"/>
            <a:ext cx="84074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</a:t>
            </a:r>
          </a:p>
        </p:txBody>
      </p:sp>
      <p:sp>
        <p:nvSpPr>
          <p:cNvPr id="17" name="标题"/>
          <p:cNvSpPr txBox="1"/>
          <p:nvPr>
            <p:custDataLst>
              <p:tags r:id="rId7"/>
            </p:custDataLst>
          </p:nvPr>
        </p:nvSpPr>
        <p:spPr>
          <a:xfrm>
            <a:off x="3900170" y="698500"/>
            <a:ext cx="774065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2500" y="1135380"/>
            <a:ext cx="6159500" cy="18821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77025" y="3836670"/>
            <a:ext cx="4236720" cy="2065020"/>
          </a:xfrm>
          <a:prstGeom prst="rect">
            <a:avLst/>
          </a:prstGeom>
        </p:spPr>
      </p:pic>
      <p:cxnSp>
        <p:nvCxnSpPr>
          <p:cNvPr id="22" name="直接箭头连接符 21"/>
          <p:cNvCxnSpPr/>
          <p:nvPr/>
        </p:nvCxnSpPr>
        <p:spPr>
          <a:xfrm>
            <a:off x="1674495" y="2120265"/>
            <a:ext cx="4244340" cy="76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788795" y="4893945"/>
            <a:ext cx="4739640" cy="36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6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7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8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9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0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登录注册效果展示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" y="1706245"/>
            <a:ext cx="3902075" cy="17227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680" y="2858770"/>
            <a:ext cx="4167505" cy="181673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0240" y="1158240"/>
            <a:ext cx="5458460" cy="23850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6"/>
          <a:srcRect t="449" b="33950"/>
          <a:stretch>
            <a:fillRect/>
          </a:stretch>
        </p:blipFill>
        <p:spPr>
          <a:xfrm>
            <a:off x="201930" y="4002405"/>
            <a:ext cx="5194300" cy="14859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7"/>
          <a:srcRect r="44478"/>
          <a:stretch>
            <a:fillRect/>
          </a:stretch>
        </p:blipFill>
        <p:spPr>
          <a:xfrm>
            <a:off x="262890" y="5196840"/>
            <a:ext cx="5191125" cy="12649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73090" y="2647315"/>
            <a:ext cx="5836920" cy="25495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48985" y="3184525"/>
            <a:ext cx="5546725" cy="3277235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7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8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9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0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1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视频播放器</a:t>
            </a:r>
          </a:p>
        </p:txBody>
      </p:sp>
      <p:sp>
        <p:nvSpPr>
          <p:cNvPr id="13" name="内容"/>
          <p:cNvSpPr/>
          <p:nvPr>
            <p:custDataLst>
              <p:tags r:id="rId6"/>
            </p:custDataLst>
          </p:nvPr>
        </p:nvSpPr>
        <p:spPr>
          <a:xfrm>
            <a:off x="1050925" y="2279650"/>
            <a:ext cx="5673090" cy="31972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925" y="2186940"/>
            <a:ext cx="4465320" cy="35356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3590" y="2255520"/>
            <a:ext cx="6221730" cy="30175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6"/>
          <a:srcRect r="13665"/>
          <a:stretch>
            <a:fillRect/>
          </a:stretch>
        </p:blipFill>
        <p:spPr>
          <a:xfrm>
            <a:off x="204470" y="2381250"/>
            <a:ext cx="6157595" cy="3413125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65119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实现前端首页的优化</a:t>
            </a:r>
            <a:endParaRPr lang="en-GB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48268" y="4808553"/>
            <a:ext cx="7536180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邓杰湧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2023212351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!!平滑1"/>
          <p:cNvSpPr/>
          <p:nvPr>
            <p:custDataLst>
              <p:tags r:id="rId3"/>
            </p:custDataLst>
          </p:nvPr>
        </p:nvSpPr>
        <p:spPr>
          <a:xfrm rot="14340000">
            <a:off x="1876425" y="-4815205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4"/>
            </p:custDataLst>
          </p:nvPr>
        </p:nvSpPr>
        <p:spPr>
          <a:xfrm>
            <a:off x="2588337" y="262321"/>
            <a:ext cx="6351115" cy="706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zh-CN" altLang="en-GB" sz="3200" b="1" dirty="0">
              <a:solidFill>
                <a:schemeClr val="accent1"/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7" name="内容"/>
          <p:cNvSpPr txBox="1"/>
          <p:nvPr>
            <p:custDataLst>
              <p:tags r:id="rId5"/>
            </p:custDataLst>
          </p:nvPr>
        </p:nvSpPr>
        <p:spPr>
          <a:xfrm>
            <a:off x="1054472" y="5175827"/>
            <a:ext cx="9418843" cy="1506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</a:pPr>
            <a:r>
              <a:rPr lang="zh-CN" altLang="en-GB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通过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CSS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样式给网页添加渐变的轮播图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,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首页轮播图的实现在 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front/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src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/views/website-page/pages/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Homepage.vue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sym typeface="思源黑体 CN" panose="020B0500000000000000" pitchFamily="34" charset="-122"/>
            </a:endParaRPr>
          </a:p>
        </p:txBody>
      </p:sp>
      <p:sp>
        <p:nvSpPr>
          <p:cNvPr id="28" name="子标题"/>
          <p:cNvSpPr txBox="1"/>
          <p:nvPr>
            <p:custDataLst>
              <p:tags r:id="rId6"/>
            </p:custDataLst>
          </p:nvPr>
        </p:nvSpPr>
        <p:spPr>
          <a:xfrm>
            <a:off x="408620" y="2213668"/>
            <a:ext cx="4999806" cy="6680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修改后首页轮播图如图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:</a:t>
            </a:r>
            <a:endParaRPr lang="en-GB" sz="2800" dirty="0">
              <a:latin typeface="黑体" panose="02010609060101010101" pitchFamily="49" charset="-122"/>
              <a:ea typeface="黑体" panose="02010609060101010101" pitchFamily="49" charset="-122"/>
              <a:sym typeface="思源黑体 CN" panose="020B0500000000000000" pitchFamily="34" charset="-122"/>
            </a:endParaRPr>
          </a:p>
        </p:txBody>
      </p:sp>
      <p:cxnSp>
        <p:nvCxnSpPr>
          <p:cNvPr id="30" name="Straight Connector 5"/>
          <p:cNvCxnSpPr/>
          <p:nvPr>
            <p:custDataLst>
              <p:tags r:id="rId7"/>
            </p:custDataLst>
          </p:nvPr>
        </p:nvCxnSpPr>
        <p:spPr>
          <a:xfrm>
            <a:off x="662685" y="3710212"/>
            <a:ext cx="312356" cy="0"/>
          </a:xfrm>
          <a:prstGeom prst="line">
            <a:avLst/>
          </a:prstGeom>
          <a:ln w="254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副标题"/>
          <p:cNvSpPr txBox="1"/>
          <p:nvPr>
            <p:custDataLst>
              <p:tags r:id="rId8"/>
            </p:custDataLst>
          </p:nvPr>
        </p:nvSpPr>
        <p:spPr>
          <a:xfrm>
            <a:off x="662767" y="3373066"/>
            <a:ext cx="4161790" cy="352425"/>
          </a:xfrm>
          <a:prstGeom prst="rect">
            <a:avLst/>
          </a:prstGeom>
          <a:noFill/>
          <a:effectLst/>
        </p:spPr>
        <p:txBody>
          <a:bodyPr wrap="square" rtlCol="0">
            <a:normAutofit/>
          </a:bodyPr>
          <a:lstStyle/>
          <a:p>
            <a:pPr indent="0" fontAlgn="auto">
              <a:lnSpc>
                <a:spcPct val="100000"/>
              </a:lnSpc>
            </a:pPr>
            <a:endParaRPr lang="en-US" altLang="en-GB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8349" y="771525"/>
            <a:ext cx="6786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原实例中的首页部分通过链接数据库给出对应的图片，但是由于对应地址的图片丢失导致无法显示图片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472226-AA7E-A68E-A648-EC1082B6B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2671" y="1839360"/>
            <a:ext cx="7250709" cy="3179280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1.01281 0 L 0 0 E" pathEditMode="relative">
                                      <p:cBhvr>
                                        <p:cTn id="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9" grpId="0"/>
      <p:bldP spid="7" grpId="0"/>
      <p:bldP spid="28" grpId="0"/>
      <p:bldP spid="3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64774" y="735330"/>
            <a:ext cx="8384151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轮播图的循环时间设置为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秒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Homepage.vue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文件中，通过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-carousel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组件的 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:interval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属性控制</a:t>
            </a:r>
            <a:r>
              <a:rPr lang="zh-CN" altLang="en-US" sz="2800" b="0" i="0" dirty="0">
                <a:effectLst/>
                <a:latin typeface="Segoe WPC"/>
              </a:rPr>
              <a:t>。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A2D308-73D0-2584-7410-1AA8C06B2F7F}"/>
              </a:ext>
            </a:extLst>
          </p:cNvPr>
          <p:cNvSpPr txBox="1"/>
          <p:nvPr/>
        </p:nvSpPr>
        <p:spPr>
          <a:xfrm>
            <a:off x="1029622" y="1865076"/>
            <a:ext cx="9419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1600" b="0" dirty="0" err="1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1600" b="0" dirty="0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-carousel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"box"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height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"660px"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arrow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"always"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indicator-position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"outside"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:autoplay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"true"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:interval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"5000"</a:t>
            </a: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en-US" altLang="zh-CN" sz="1600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 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&lt;!-- </a:t>
            </a:r>
            <a:r>
              <a:rPr lang="zh-CN" altLang="en-US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这里设置了轮播间隔时间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--&gt;</a:t>
            </a:r>
            <a:endParaRPr lang="zh-CN" altLang="en-US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sz="1600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&lt;!-- ... </a:t>
            </a:r>
            <a:r>
              <a:rPr lang="zh-CN" altLang="en-US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轮播内容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... --&gt;</a:t>
            </a:r>
            <a:endParaRPr lang="zh-CN" altLang="en-US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</a:pP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&lt;/</a:t>
            </a:r>
            <a:r>
              <a:rPr lang="en-US" altLang="zh-CN" sz="1600" b="0" dirty="0" err="1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1600" b="0" dirty="0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-carousel</a:t>
            </a: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A3CC6C-6871-F195-F434-4D0C742E9C96}"/>
              </a:ext>
            </a:extLst>
          </p:cNvPr>
          <p:cNvSpPr txBox="1"/>
          <p:nvPr/>
        </p:nvSpPr>
        <p:spPr>
          <a:xfrm>
            <a:off x="1117600" y="3810000"/>
            <a:ext cx="8991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添加定时器确保轮播正常工作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setInterval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checkCarouselStatus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3000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beforeDestroy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clearInterval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7B614E-090F-E908-0A6A-88C3A1841BD9}"/>
              </a:ext>
            </a:extLst>
          </p:cNvPr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滚动新闻组件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04812D-3BAC-F05E-6771-3DE9AC4F69F7}"/>
              </a:ext>
            </a:extLst>
          </p:cNvPr>
          <p:cNvSpPr txBox="1"/>
          <p:nvPr/>
        </p:nvSpPr>
        <p:spPr>
          <a:xfrm>
            <a:off x="-106516" y="1068956"/>
            <a:ext cx="99797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动画效果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使用 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animate-in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类实现入场动画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通过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animationDelay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实现错落有致的动画效果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鼠标悬停时的上浮效果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A69D22-DD28-54D8-B185-06A660CC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5" y="3306270"/>
            <a:ext cx="3890883" cy="33993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46C664C-DDEB-5E5E-5850-A9CBE2CF338B}"/>
              </a:ext>
            </a:extLst>
          </p:cNvPr>
          <p:cNvSpPr txBox="1"/>
          <p:nvPr/>
        </p:nvSpPr>
        <p:spPr>
          <a:xfrm>
            <a:off x="5093268" y="2031295"/>
            <a:ext cx="708905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mounted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C1808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this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$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nextTick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(()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设置交叉观察器来触发动画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setupIntersectionObserver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},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methods: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setupIntersectionObserver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options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root: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null,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rootMargin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'0px'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threshold: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endParaRPr lang="en-US" altLang="zh-CN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};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entries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entries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forEach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isIntersecting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当元素进入视口时添加可见类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target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classList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add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'is-visible'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元素已显示后，停止观察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unobserve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target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});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}, </a:t>
            </a:r>
            <a:r>
              <a:rPr lang="en-US" altLang="zh-CN" b="0" dirty="0">
                <a:solidFill>
                  <a:srgbClr val="94C1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options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观察所有新闻项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newsItems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document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querySelectorAll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'.news-item'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newsItems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forEach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94C1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7082-EFBC-EC31-345D-863FF88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>
            <a:extLst>
              <a:ext uri="{FF2B5EF4-FFF2-40B4-BE49-F238E27FC236}">
                <a16:creationId xmlns:a16="http://schemas.microsoft.com/office/drawing/2014/main" id="{E185B2A5-1B65-4E59-425E-B2D7751161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BFDF63-C8E5-F504-2EAE-B0C4029FA8EE}"/>
              </a:ext>
            </a:extLst>
          </p:cNvPr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通知公告组件动画效果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C7D27E-9A35-CCB7-7694-A5EF7EC8D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93" y="1370933"/>
            <a:ext cx="2791215" cy="116221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FDB535-BD52-2197-2CB9-C44862E5B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62" y="444054"/>
            <a:ext cx="2657846" cy="9526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3264FF-33F4-D3CE-B27F-81BEDCEE1AE1}"/>
              </a:ext>
            </a:extLst>
          </p:cNvPr>
          <p:cNvSpPr txBox="1"/>
          <p:nvPr/>
        </p:nvSpPr>
        <p:spPr>
          <a:xfrm>
            <a:off x="548640" y="1611394"/>
            <a:ext cx="5648960" cy="532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...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其他样式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悬停时触发图标动画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:hover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.feature-icon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transform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EFB080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rotateY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180deg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轴上旋转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180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.feature-icon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width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60px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height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60px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background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F59E0B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border-radius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12px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display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flex;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align-items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center;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justify-content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center;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margin-right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15px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添加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3D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转换效果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transform-style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preserve-3d;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保持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3D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perspective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1000px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        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设置透视效果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transition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all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0.5s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ease;  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添加过渡动画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font-size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28px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color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white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防止图标文本模糊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backface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-visibility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hidden;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背面不可见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CA8174-7EF6-F34E-417A-B0AD29DB7ABD}"/>
              </a:ext>
            </a:extLst>
          </p:cNvPr>
          <p:cNvSpPr txBox="1"/>
          <p:nvPr/>
        </p:nvSpPr>
        <p:spPr>
          <a:xfrm>
            <a:off x="6421120" y="3851974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Css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代码如左图所示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EE1ADE-F0A3-04E6-0DB4-BE2AFBE49716}"/>
              </a:ext>
            </a:extLst>
          </p:cNvPr>
          <p:cNvSpPr txBox="1"/>
          <p:nvPr/>
        </p:nvSpPr>
        <p:spPr>
          <a:xfrm>
            <a:off x="6421120" y="2672630"/>
            <a:ext cx="449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组件如上图所示</a:t>
            </a:r>
          </a:p>
        </p:txBody>
      </p:sp>
    </p:spTree>
    <p:extLst>
      <p:ext uri="{BB962C8B-B14F-4D97-AF65-F5344CB8AC3E}">
        <p14:creationId xmlns:p14="http://schemas.microsoft.com/office/powerpoint/2010/main" val="375862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PPT_THEMETITLE" val=" 优化代码: 提升代码质量"/>
  <p:tag name="TAG_PRESENTATION_STYLE" val="扁平"/>
  <p:tag name="YOO_CHATPPT" val="1"/>
  <p:tag name="KSO_WPP_MARK_KEY" val="86f34338-31a7-43a2-b6cb-b159d31aaeea"/>
  <p:tag name="COMMONDATA" val="eyJoZGlkIjoiODExMjIwMGVmZDljNWE3NWJkNmRmY2E3ZDljNjI3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OV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YOO_CHATSHAPE_TYPE" val="YOO_CHATSHAPE_DATE"/>
  <p:tag name="YOO_CHATSHAPE_DATE" val="2023/6/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AUTHOR"/>
  <p:tag name="YOO_CHATSHAPE_AUTHOR" val="尤小优235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ATLO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2图"/>
  <p:tag name="YOO_CHATPAGE_TYPE" val="YOO_CHATPAGE_CONTENT"/>
  <p:tag name="YOO_CHATPPT_CONTENT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CHILD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35"/>
  <p:tag name="KSO_WM_UNIT_LINE_FORE_SCHEMECOLOR_INDEX" val="14"/>
  <p:tag name="KSO_WM_UNIT_LINE_FILL_TYPE" val="2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SUB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Theme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_2025855840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2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3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4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5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6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7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8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9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10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95439f16be7f450d9558afbbd6b34c09</Template>
  <TotalTime>61</TotalTime>
  <Words>822</Words>
  <Application>Microsoft Office PowerPoint</Application>
  <PresentationFormat>宽屏</PresentationFormat>
  <Paragraphs>135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Segoe WPC</vt:lpstr>
      <vt:lpstr>等线</vt:lpstr>
      <vt:lpstr>黑体</vt:lpstr>
      <vt:lpstr>思源黑体 CN</vt:lpstr>
      <vt:lpstr>微软雅黑</vt:lpstr>
      <vt:lpstr>Arial</vt:lpstr>
      <vt:lpstr>Consolas</vt:lpstr>
      <vt:lpstr>Franklin Gothic Book</vt:lpstr>
      <vt:lpstr>Franklin Gothic Medium</vt:lpstr>
      <vt:lpstr>1_Office Theme</vt:lpstr>
      <vt:lpstr>1_Office Theme_2025855840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程锦 杨</dc:creator>
  <cp:lastModifiedBy>maikesw D</cp:lastModifiedBy>
  <cp:revision>7</cp:revision>
  <dcterms:created xsi:type="dcterms:W3CDTF">2023-06-01T12:20:00Z</dcterms:created>
  <dcterms:modified xsi:type="dcterms:W3CDTF">2025-04-13T15:06:20Z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B0F385E909204C9E828204A17CB95C15_13</vt:lpwstr>
  </property>
  <property fmtid="{D5CDD505-2E9C-101B-9397-08002B2CF9AE}" pid="3" name="KSOProductBuildVer">
    <vt:lpwstr>2052-11.1.0.14309</vt:lpwstr>
  </property>
</Properties>
</file>