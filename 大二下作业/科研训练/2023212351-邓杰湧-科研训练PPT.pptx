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1" r:id="rId2"/>
  </p:sldMasterIdLst>
  <p:notesMasterIdLst>
    <p:notesMasterId r:id="rId14"/>
  </p:notesMasterIdLst>
  <p:handoutMasterIdLst>
    <p:handoutMasterId r:id="rId15"/>
  </p:handoutMasterIdLst>
  <p:sldIdLst>
    <p:sldId id="634" r:id="rId3"/>
    <p:sldId id="606" r:id="rId4"/>
    <p:sldId id="638" r:id="rId5"/>
    <p:sldId id="639" r:id="rId6"/>
    <p:sldId id="640" r:id="rId7"/>
    <p:sldId id="641" r:id="rId8"/>
    <p:sldId id="643" r:id="rId9"/>
    <p:sldId id="644" r:id="rId10"/>
    <p:sldId id="645" r:id="rId11"/>
    <p:sldId id="646" r:id="rId12"/>
    <p:sldId id="647" r:id="rId1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5200" b="1" i="0" u="none" kern="1200" baseline="0">
        <a:solidFill>
          <a:srgbClr val="CC3300"/>
        </a:solidFill>
        <a:latin typeface="Times New Roman" panose="02020603050405020304" pitchFamily="18" charset="0"/>
        <a:ea typeface="华文新魏" panose="020108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CC3300"/>
    <a:srgbClr val="66FF66"/>
    <a:srgbClr val="CC9900"/>
    <a:srgbClr val="FF9900"/>
    <a:srgbClr val="CC66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2"/>
    <p:restoredTop sz="94660"/>
  </p:normalViewPr>
  <p:slideViewPr>
    <p:cSldViewPr showGuides="1">
      <p:cViewPr varScale="1">
        <p:scale>
          <a:sx n="78" d="100"/>
          <a:sy n="78" d="100"/>
        </p:scale>
        <p:origin x="12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70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709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9CDA248-F199-4704-8F28-B22C08F0F03A}" type="datetime1">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709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709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solidFill>
                  <a:schemeClr val="tx1"/>
                </a:solidFill>
                <a:latin typeface="Arial" panose="020B0604020202020204" pitchFamily="34" charset="0"/>
                <a:ea typeface="宋体" panose="02010600030101010101" pitchFamily="2" charset="-122"/>
              </a:rPr>
              <a:t>‹#›</a:t>
            </a:fld>
            <a:endParaRPr lang="en-US" altLang="zh-CN" sz="1200" b="0" dirty="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17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5B4DDA5-F62A-4603-980C-00F3DA538895}" type="datetime1">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617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617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spcBef>
                <a:spcPct val="0"/>
              </a:spcBef>
              <a:buClrTx/>
              <a:buFontTx/>
              <a:buNone/>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17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solidFill>
                  <a:schemeClr val="tx1"/>
                </a:solidFill>
                <a:latin typeface="Arial" panose="020B0604020202020204" pitchFamily="34" charset="0"/>
                <a:ea typeface="宋体" panose="02010600030101010101" pitchFamily="2" charset="-122"/>
              </a:rPr>
              <a:t>‹#›</a:t>
            </a:fld>
            <a:endParaRPr lang="en-US" altLang="zh-CN" sz="1200" b="0" dirty="0">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p:spPr>
      </p:sp>
      <p:sp>
        <p:nvSpPr>
          <p:cNvPr id="7171" name="备注占位符 2"/>
          <p:cNvSpPr>
            <a:spLocks noGrp="1"/>
          </p:cNvSpPr>
          <p:nvPr>
            <p:ph type="body" idx="1"/>
          </p:nvPr>
        </p:nvSpPr>
        <p:spPr>
          <a:ln/>
        </p:spPr>
        <p:txBody>
          <a:bodyPr wrap="square" lIns="91440" tIns="45720" rIns="91440" bIns="45720" anchor="t" anchorCtr="0"/>
          <a:lstStyle/>
          <a:p>
            <a:pPr lvl="0" eaLnBrk="1" hangingPunct="1"/>
            <a:endParaRPr lang="zh-CN" altLang="en-US" dirty="0"/>
          </a:p>
        </p:txBody>
      </p:sp>
      <p:sp>
        <p:nvSpPr>
          <p:cNvPr id="7172" name="日期占位符 3"/>
          <p:cNvSpPr txBox="1">
            <a:spLocks noGrp="1"/>
          </p:cNvSpPr>
          <p:nvPr>
            <p:ph type="dt" sz="half"/>
          </p:nvPr>
        </p:nvSpPr>
        <p:spPr>
          <a:xfrm>
            <a:off x="3884613" y="0"/>
            <a:ext cx="2971800" cy="457200"/>
          </a:xfrm>
          <a:prstGeom prst="rect">
            <a:avLst/>
          </a:prstGeom>
          <a:noFill/>
          <a:ln w="9525">
            <a:noFill/>
          </a:ln>
        </p:spPr>
        <p:txBody>
          <a:bodyPr/>
          <a:lstStyle/>
          <a:p>
            <a:pPr lvl="0" algn="r" eaLnBrk="1" hangingPunct="1"/>
            <a:fld id="{BB962C8B-B14F-4D97-AF65-F5344CB8AC3E}" type="datetime1">
              <a:rPr lang="zh-CN" altLang="en-US" sz="1200" b="0" dirty="0">
                <a:solidFill>
                  <a:schemeClr val="tx1"/>
                </a:solidFill>
                <a:latin typeface="Arial" panose="020B0604020202020204" pitchFamily="34" charset="0"/>
                <a:ea typeface="宋体" panose="02010600030101010101" pitchFamily="2" charset="-122"/>
              </a:rPr>
              <a:t>2025/7/9</a:t>
            </a:fld>
            <a:endParaRPr lang="zh-CN" altLang="en-US" sz="1200" b="0" dirty="0">
              <a:solidFill>
                <a:schemeClr val="tx1"/>
              </a:solidFill>
              <a:latin typeface="Arial" panose="020B0604020202020204" pitchFamily="34" charset="0"/>
              <a:ea typeface="宋体" panose="02010600030101010101" pitchFamily="2" charset="-122"/>
            </a:endParaRPr>
          </a:p>
        </p:txBody>
      </p:sp>
      <p:sp>
        <p:nvSpPr>
          <p:cNvPr id="7173" name="灯片编号占位符 4"/>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chemeClr val="tx1"/>
                </a:solidFill>
                <a:latin typeface="Arial" panose="020B0604020202020204" pitchFamily="34" charset="0"/>
                <a:ea typeface="宋体" panose="02010600030101010101" pitchFamily="2" charset="-122"/>
              </a:rPr>
              <a:t>2</a:t>
            </a:fld>
            <a:endParaRPr lang="en-US"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4" name="AutoShape 7"/>
          <p:cNvSpPr/>
          <p:nvPr/>
        </p:nvSpPr>
        <p:spPr>
          <a:xfrm>
            <a:off x="684213" y="2708275"/>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pic>
        <p:nvPicPr>
          <p:cNvPr id="2055" name="Picture 15" descr="050907c"/>
          <p:cNvPicPr>
            <a:picLocks noChangeAspect="1"/>
          </p:cNvPicPr>
          <p:nvPr userDrawn="1"/>
        </p:nvPicPr>
        <p:blipFill>
          <a:blip r:embed="rId2">
            <a:clrChange>
              <a:clrFrom>
                <a:srgbClr val="FFFFFF"/>
              </a:clrFrom>
              <a:clrTo>
                <a:srgbClr val="FFFFFF">
                  <a:alpha val="0"/>
                </a:srgbClr>
              </a:clrTo>
            </a:clrChange>
            <a:grayscl/>
            <a:lum bright="39999" contrast="-39999"/>
          </a:blip>
          <a:srcRect b="12874"/>
          <a:stretch>
            <a:fillRect/>
          </a:stretch>
        </p:blipFill>
        <p:spPr>
          <a:xfrm>
            <a:off x="4283075" y="2420938"/>
            <a:ext cx="3168650" cy="2952750"/>
          </a:xfrm>
          <a:prstGeom prst="rect">
            <a:avLst/>
          </a:prstGeom>
          <a:noFill/>
          <a:ln w="9525">
            <a:noFill/>
          </a:ln>
        </p:spPr>
      </p:pic>
      <p:sp>
        <p:nvSpPr>
          <p:cNvPr id="147458" name="Rectangle 2"/>
          <p:cNvSpPr>
            <a:spLocks noGrp="1" noChangeArrowheads="1"/>
          </p:cNvSpPr>
          <p:nvPr>
            <p:ph type="ctrTitle"/>
          </p:nvPr>
        </p:nvSpPr>
        <p:spPr>
          <a:xfrm>
            <a:off x="684213" y="1196975"/>
            <a:ext cx="7772400" cy="1371600"/>
          </a:xfrm>
        </p:spPr>
        <p:txBody>
          <a:bodyPr/>
          <a:lstStyle>
            <a:lvl1pPr>
              <a:defRPr sz="3300"/>
            </a:lvl1pPr>
          </a:lstStyle>
          <a:p>
            <a:r>
              <a:rPr lang="zh-CN" altLang="en-US"/>
              <a:t>单击此处编辑母版标题样式</a:t>
            </a:r>
          </a:p>
        </p:txBody>
      </p:sp>
      <p:sp>
        <p:nvSpPr>
          <p:cNvPr id="147459" name="Rectangle 3"/>
          <p:cNvSpPr>
            <a:spLocks noGrp="1" noChangeArrowheads="1"/>
          </p:cNvSpPr>
          <p:nvPr>
            <p:ph type="subTitle" idx="1"/>
          </p:nvPr>
        </p:nvSpPr>
        <p:spPr>
          <a:xfrm>
            <a:off x="1476375" y="3429000"/>
            <a:ext cx="7010400" cy="1600200"/>
          </a:xfrm>
        </p:spPr>
        <p:txBody>
          <a:bodyPr/>
          <a:lstStyle>
            <a:lvl1pPr marL="0" indent="0">
              <a:buFont typeface="Wingdings" panose="05000000000000000000" pitchFamily="2" charset="2"/>
              <a:buNone/>
              <a:defRPr sz="2800"/>
            </a:lvl1pPr>
          </a:lstStyle>
          <a:p>
            <a:r>
              <a:rPr lang="zh-CN" altLang="en-US"/>
              <a:t>单击此处编辑母版副标题样式</a:t>
            </a:r>
          </a:p>
        </p:txBody>
      </p:sp>
      <p:sp>
        <p:nvSpPr>
          <p:cNvPr id="4"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F2705FC-6ADF-4AB0-B22C-EE7C1ED33DAD}"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D356512-32F2-40A8-8DB9-7CC9334B289F}"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4" name="AutoShape 7"/>
          <p:cNvSpPr/>
          <p:nvPr/>
        </p:nvSpPr>
        <p:spPr>
          <a:xfrm>
            <a:off x="684213" y="2708275"/>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pic>
        <p:nvPicPr>
          <p:cNvPr id="2055" name="Picture 15" descr="050907c"/>
          <p:cNvPicPr>
            <a:picLocks noChangeAspect="1"/>
          </p:cNvPicPr>
          <p:nvPr userDrawn="1"/>
        </p:nvPicPr>
        <p:blipFill>
          <a:blip r:embed="rId2">
            <a:clrChange>
              <a:clrFrom>
                <a:srgbClr val="FFFFFF"/>
              </a:clrFrom>
              <a:clrTo>
                <a:srgbClr val="FFFFFF">
                  <a:alpha val="0"/>
                </a:srgbClr>
              </a:clrTo>
            </a:clrChange>
            <a:grayscl/>
            <a:lum bright="39999" contrast="-39999"/>
          </a:blip>
          <a:srcRect b="12874"/>
          <a:stretch>
            <a:fillRect/>
          </a:stretch>
        </p:blipFill>
        <p:spPr>
          <a:xfrm>
            <a:off x="4283075" y="2420938"/>
            <a:ext cx="3168650" cy="2952750"/>
          </a:xfrm>
          <a:prstGeom prst="rect">
            <a:avLst/>
          </a:prstGeom>
          <a:noFill/>
          <a:ln w="9525">
            <a:noFill/>
          </a:ln>
        </p:spPr>
      </p:pic>
      <p:sp>
        <p:nvSpPr>
          <p:cNvPr id="147458" name="Rectangle 2"/>
          <p:cNvSpPr>
            <a:spLocks noGrp="1" noChangeArrowheads="1"/>
          </p:cNvSpPr>
          <p:nvPr>
            <p:ph type="ctrTitle"/>
          </p:nvPr>
        </p:nvSpPr>
        <p:spPr>
          <a:xfrm>
            <a:off x="684213" y="1196975"/>
            <a:ext cx="7772400" cy="1371600"/>
          </a:xfrm>
        </p:spPr>
        <p:txBody>
          <a:bodyPr/>
          <a:lstStyle>
            <a:lvl1pPr>
              <a:defRPr sz="3300"/>
            </a:lvl1pPr>
          </a:lstStyle>
          <a:p>
            <a:r>
              <a:rPr lang="zh-CN" altLang="en-US"/>
              <a:t>单击此处编辑母版标题样式</a:t>
            </a:r>
          </a:p>
        </p:txBody>
      </p:sp>
      <p:sp>
        <p:nvSpPr>
          <p:cNvPr id="147459" name="Rectangle 3"/>
          <p:cNvSpPr>
            <a:spLocks noGrp="1" noChangeArrowheads="1"/>
          </p:cNvSpPr>
          <p:nvPr>
            <p:ph type="subTitle" idx="1"/>
          </p:nvPr>
        </p:nvSpPr>
        <p:spPr>
          <a:xfrm>
            <a:off x="1476375" y="3429000"/>
            <a:ext cx="7010400" cy="1600200"/>
          </a:xfrm>
        </p:spPr>
        <p:txBody>
          <a:bodyPr/>
          <a:lstStyle>
            <a:lvl1pPr marL="0" indent="0">
              <a:buFont typeface="Wingdings" panose="05000000000000000000" pitchFamily="2" charset="2"/>
              <a:buNone/>
              <a:defRPr sz="2800"/>
            </a:lvl1pPr>
          </a:lstStyle>
          <a:p>
            <a:r>
              <a:rPr lang="zh-CN" altLang="en-US"/>
              <a:t>单击此处编辑母版副标题样式</a:t>
            </a:r>
          </a:p>
        </p:txBody>
      </p:sp>
      <p:sp>
        <p:nvSpPr>
          <p:cNvPr id="4"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F2705FC-6ADF-4AB0-B22C-EE7C1ED33DAD}"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D356512-32F2-40A8-8DB9-7CC9334B289F}"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4"/>
          <a:stretch>
            <a:fillRect/>
          </a:stretch>
        </p:blipFill>
        <p:spPr>
          <a:xfrm>
            <a:off x="7740650" y="346075"/>
            <a:ext cx="1333500" cy="511175"/>
          </a:xfrm>
          <a:prstGeom prst="rect">
            <a:avLst/>
          </a:prstGeom>
          <a:noFill/>
          <a:ln w="9525">
            <a:noFill/>
          </a:ln>
        </p:spPr>
      </p:pic>
      <p:sp>
        <p:nvSpPr>
          <p:cNvPr id="1027" name="Rectangle 2"/>
          <p:cNvSpPr>
            <a:spLocks noGrp="1"/>
          </p:cNvSpPr>
          <p:nvPr>
            <p:ph type="title"/>
          </p:nvPr>
        </p:nvSpPr>
        <p:spPr>
          <a:xfrm>
            <a:off x="539750" y="233363"/>
            <a:ext cx="8001000" cy="747712"/>
          </a:xfrm>
          <a:prstGeom prst="rect">
            <a:avLst/>
          </a:prstGeom>
          <a:noFill/>
          <a:ln w="9525">
            <a:noFill/>
          </a:ln>
        </p:spPr>
        <p:txBody>
          <a:bodyPr anchor="b" anchorCtr="0"/>
          <a:lstStyle/>
          <a:p>
            <a:pPr lvl="0"/>
            <a:r>
              <a:rPr lang="zh-CN" altLang="en-US" dirty="0"/>
              <a:t>单击此处编辑母版标题样式</a:t>
            </a:r>
          </a:p>
        </p:txBody>
      </p:sp>
      <p:sp>
        <p:nvSpPr>
          <p:cNvPr id="1028" name="Rectangle 3"/>
          <p:cNvSpPr>
            <a:spLocks noGrp="1"/>
          </p:cNvSpPr>
          <p:nvPr>
            <p:ph type="body" idx="1"/>
          </p:nvPr>
        </p:nvSpPr>
        <p:spPr>
          <a:xfrm>
            <a:off x="539750" y="1341438"/>
            <a:ext cx="8207375" cy="4770437"/>
          </a:xfrm>
          <a:prstGeom prst="rect">
            <a:avLst/>
          </a:prstGeom>
          <a:noFill/>
          <a:ln w="9525">
            <a:noFill/>
          </a:ln>
        </p:spPr>
        <p:txBody>
          <a:bodyPr/>
          <a:lstStyle/>
          <a:p>
            <a:pPr lvl="0"/>
            <a:r>
              <a:rPr lang="en-US" altLang="zh-CN" dirty="0"/>
              <a:t>a</a:t>
            </a:r>
            <a:r>
              <a:rPr lang="zh-CN" altLang="en-US" dirty="0"/>
              <a:t>单击此处编辑母版文本样式</a:t>
            </a:r>
          </a:p>
          <a:p>
            <a:pPr lvl="1"/>
            <a:r>
              <a:rPr lang="en-US" altLang="zh-CN" dirty="0"/>
              <a:t>a</a:t>
            </a:r>
            <a:r>
              <a:rPr lang="zh-CN" altLang="en-US" dirty="0"/>
              <a:t>第二级</a:t>
            </a:r>
          </a:p>
        </p:txBody>
      </p:sp>
      <p:sp>
        <p:nvSpPr>
          <p:cNvPr id="1029" name="AutoShape 4"/>
          <p:cNvSpPr/>
          <p:nvPr/>
        </p:nvSpPr>
        <p:spPr>
          <a:xfrm>
            <a:off x="539750" y="1087438"/>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1030" name="Line 5"/>
          <p:cNvSpPr/>
          <p:nvPr/>
        </p:nvSpPr>
        <p:spPr>
          <a:xfrm flipV="1">
            <a:off x="609600" y="6172200"/>
            <a:ext cx="7924800" cy="0"/>
          </a:xfrm>
          <a:prstGeom prst="line">
            <a:avLst/>
          </a:prstGeom>
          <a:ln w="3175" cap="flat" cmpd="sng">
            <a:solidFill>
              <a:schemeClr val="accent2"/>
            </a:solidFill>
            <a:prstDash val="solid"/>
            <a:headEnd type="none" w="med" len="med"/>
            <a:tailEnd type="none" w="med" len="med"/>
          </a:ln>
        </p:spPr>
      </p:sp>
      <p:sp>
        <p:nvSpPr>
          <p:cNvPr id="146438" name="Rectangle 6"/>
          <p:cNvSpPr>
            <a:spLocks noGrp="1" noChangeArrowheads="1"/>
          </p:cNvSpPr>
          <p:nvPr>
            <p:ph type="dt" sz="half" idx="2"/>
          </p:nvPr>
        </p:nvSpPr>
        <p:spPr bwMode="auto">
          <a:xfrm>
            <a:off x="609600" y="6453188"/>
            <a:ext cx="1370013" cy="268288"/>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0">
                <a:solidFill>
                  <a:schemeClr val="tx1"/>
                </a:solidFill>
                <a:latin typeface="+mj-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D356512-32F2-40A8-8DB9-7CC9334B289F}"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46439" name="Rectangle 7"/>
          <p:cNvSpPr>
            <a:spLocks noGrp="1" noChangeArrowheads="1"/>
          </p:cNvSpPr>
          <p:nvPr>
            <p:ph type="ftr" sz="quarter" idx="3"/>
          </p:nvPr>
        </p:nvSpPr>
        <p:spPr bwMode="auto">
          <a:xfrm>
            <a:off x="3124200" y="6237288"/>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lnSpc>
                <a:spcPct val="100000"/>
              </a:lnSpc>
              <a:spcBef>
                <a:spcPct val="0"/>
              </a:spcBef>
              <a:buClrTx/>
              <a:buFontTx/>
              <a:buNone/>
              <a:defRPr sz="1200" b="0">
                <a:solidFill>
                  <a:schemeClr val="tx1"/>
                </a:solidFill>
                <a:latin typeface="+mj-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034" name="Rectangle 6"/>
          <p:cNvSpPr>
            <a:spLocks noChangeArrowheads="1"/>
          </p:cNvSpPr>
          <p:nvPr/>
        </p:nvSpPr>
        <p:spPr bwMode="auto">
          <a:xfrm>
            <a:off x="7235825" y="6375400"/>
            <a:ext cx="1370013" cy="268288"/>
          </a:xfrm>
          <a:prstGeom prst="rect">
            <a:avLst/>
          </a:prstGeom>
          <a:noFill/>
          <a:ln>
            <a:noFill/>
          </a:ln>
        </p:spPr>
        <p:txBody>
          <a:bodyPr/>
          <a:lstStyle/>
          <a:p>
            <a:pPr lvl="0" algn="r" eaLnBrk="1" hangingPunct="1">
              <a:buNone/>
            </a:pPr>
            <a:fld id="{9A0DB2DC-4C9A-4742-B13C-FB6460FD3503}" type="slidenum">
              <a:rPr lang="en-US" altLang="zh-CN" sz="1200" b="0" dirty="0">
                <a:solidFill>
                  <a:schemeClr val="tx1"/>
                </a:solidFill>
                <a:latin typeface="Verdana" panose="020B0604030504040204" pitchFamily="34" charset="0"/>
                <a:ea typeface="宋体" panose="02010600030101010101" pitchFamily="2" charset="-122"/>
              </a:rPr>
              <a:t>‹#›</a:t>
            </a:fld>
            <a:endParaRPr lang="en-US" altLang="zh-CN" sz="1200" b="0" dirty="0">
              <a:solidFill>
                <a:schemeClr val="tx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hf sldNum="0" hdr="0" ftr="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2pPr>
      <a:lvl3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3pPr>
      <a:lvl4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4pPr>
      <a:lvl5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5pPr>
      <a:lvl6pPr marL="4572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6pPr>
      <a:lvl7pPr marL="9144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7pPr>
      <a:lvl8pPr marL="13716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8pPr>
      <a:lvl9pPr marL="18288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Char char="o"/>
        <a:defRPr sz="2800">
          <a:solidFill>
            <a:schemeClr val="tx1"/>
          </a:solidFill>
          <a:latin typeface="黑体" panose="02010609060101010101" pitchFamily="2" charset="-122"/>
          <a:ea typeface="黑体" panose="02010609060101010101" pitchFamily="2" charset="-122"/>
          <a:cs typeface="+mn-cs"/>
        </a:defRPr>
      </a:lvl1pPr>
      <a:lvl2pPr marL="908050" indent="-43688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a:solidFill>
            <a:schemeClr val="tx1"/>
          </a:solidFill>
          <a:latin typeface="黑体" panose="02010609060101010101" pitchFamily="2" charset="-122"/>
          <a:ea typeface="黑体" panose="02010609060101010101"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4"/>
          <a:stretch>
            <a:fillRect/>
          </a:stretch>
        </p:blipFill>
        <p:spPr>
          <a:xfrm>
            <a:off x="7740650" y="346075"/>
            <a:ext cx="1333500" cy="511175"/>
          </a:xfrm>
          <a:prstGeom prst="rect">
            <a:avLst/>
          </a:prstGeom>
          <a:noFill/>
          <a:ln w="9525">
            <a:noFill/>
          </a:ln>
        </p:spPr>
      </p:pic>
      <p:sp>
        <p:nvSpPr>
          <p:cNvPr id="1027" name="Rectangle 2"/>
          <p:cNvSpPr>
            <a:spLocks noGrp="1"/>
          </p:cNvSpPr>
          <p:nvPr>
            <p:ph type="title"/>
          </p:nvPr>
        </p:nvSpPr>
        <p:spPr>
          <a:xfrm>
            <a:off x="539750" y="233363"/>
            <a:ext cx="8001000" cy="747712"/>
          </a:xfrm>
          <a:prstGeom prst="rect">
            <a:avLst/>
          </a:prstGeom>
          <a:noFill/>
          <a:ln w="9525">
            <a:noFill/>
          </a:ln>
        </p:spPr>
        <p:txBody>
          <a:bodyPr anchor="b" anchorCtr="0"/>
          <a:lstStyle/>
          <a:p>
            <a:pPr lvl="0"/>
            <a:r>
              <a:rPr lang="zh-CN" altLang="en-US" dirty="0"/>
              <a:t>单击此处编辑母版标题样式</a:t>
            </a:r>
          </a:p>
        </p:txBody>
      </p:sp>
      <p:sp>
        <p:nvSpPr>
          <p:cNvPr id="1028" name="Rectangle 3"/>
          <p:cNvSpPr>
            <a:spLocks noGrp="1"/>
          </p:cNvSpPr>
          <p:nvPr>
            <p:ph type="body" idx="1"/>
          </p:nvPr>
        </p:nvSpPr>
        <p:spPr>
          <a:xfrm>
            <a:off x="539750" y="1341438"/>
            <a:ext cx="8207375" cy="4770437"/>
          </a:xfrm>
          <a:prstGeom prst="rect">
            <a:avLst/>
          </a:prstGeom>
          <a:noFill/>
          <a:ln w="9525">
            <a:noFill/>
          </a:ln>
        </p:spPr>
        <p:txBody>
          <a:bodyPr/>
          <a:lstStyle/>
          <a:p>
            <a:pPr lvl="0"/>
            <a:r>
              <a:rPr lang="en-US" altLang="zh-CN" dirty="0"/>
              <a:t>a</a:t>
            </a:r>
            <a:r>
              <a:rPr lang="zh-CN" altLang="en-US" dirty="0"/>
              <a:t>单击此处编辑母版文本样式</a:t>
            </a:r>
          </a:p>
          <a:p>
            <a:pPr lvl="1"/>
            <a:r>
              <a:rPr lang="en-US" altLang="zh-CN" dirty="0"/>
              <a:t>a</a:t>
            </a:r>
            <a:r>
              <a:rPr lang="zh-CN" altLang="en-US" dirty="0"/>
              <a:t>第二级</a:t>
            </a:r>
          </a:p>
        </p:txBody>
      </p:sp>
      <p:sp>
        <p:nvSpPr>
          <p:cNvPr id="1029" name="AutoShape 4"/>
          <p:cNvSpPr/>
          <p:nvPr/>
        </p:nvSpPr>
        <p:spPr>
          <a:xfrm>
            <a:off x="539750" y="1087438"/>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1030" name="Line 5"/>
          <p:cNvSpPr/>
          <p:nvPr/>
        </p:nvSpPr>
        <p:spPr>
          <a:xfrm flipV="1">
            <a:off x="609600" y="6172200"/>
            <a:ext cx="7924800" cy="0"/>
          </a:xfrm>
          <a:prstGeom prst="line">
            <a:avLst/>
          </a:prstGeom>
          <a:ln w="3175" cap="flat" cmpd="sng">
            <a:solidFill>
              <a:schemeClr val="accent2"/>
            </a:solidFill>
            <a:prstDash val="solid"/>
            <a:headEnd type="none" w="med" len="med"/>
            <a:tailEnd type="none" w="med" len="med"/>
          </a:ln>
        </p:spPr>
      </p:sp>
      <p:sp>
        <p:nvSpPr>
          <p:cNvPr id="146438" name="Rectangle 6"/>
          <p:cNvSpPr>
            <a:spLocks noGrp="1" noChangeArrowheads="1"/>
          </p:cNvSpPr>
          <p:nvPr>
            <p:ph type="dt" sz="half" idx="2"/>
          </p:nvPr>
        </p:nvSpPr>
        <p:spPr bwMode="auto">
          <a:xfrm>
            <a:off x="609600" y="6453188"/>
            <a:ext cx="1370013" cy="268288"/>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0">
                <a:solidFill>
                  <a:schemeClr val="tx1"/>
                </a:solidFill>
                <a:latin typeface="+mj-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D356512-32F2-40A8-8DB9-7CC9334B289F}" type="datetime1">
              <a:rPr kumimoji="0" lang="zh-CN" altLang="en-US" sz="1200" b="0" i="0" u="none" strike="noStrike" kern="1200" cap="none" spc="0" normalizeH="0" baseline="0" noProof="0">
                <a:ln>
                  <a:noFill/>
                </a:ln>
                <a:solidFill>
                  <a:schemeClr val="tx1"/>
                </a:solidFill>
                <a:effectLst/>
                <a:uLnTx/>
                <a:uFillTx/>
                <a:latin typeface="+mj-lt"/>
                <a:ea typeface="宋体" panose="02010600030101010101" pitchFamily="2" charset="-122"/>
                <a:cs typeface="+mn-cs"/>
              </a:rPr>
              <a:t>2025/7/9</a:t>
            </a:fld>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46439" name="Rectangle 7"/>
          <p:cNvSpPr>
            <a:spLocks noGrp="1" noChangeArrowheads="1"/>
          </p:cNvSpPr>
          <p:nvPr>
            <p:ph type="ftr" sz="quarter" idx="3"/>
          </p:nvPr>
        </p:nvSpPr>
        <p:spPr bwMode="auto">
          <a:xfrm>
            <a:off x="3124200" y="6237288"/>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lnSpc>
                <a:spcPct val="100000"/>
              </a:lnSpc>
              <a:spcBef>
                <a:spcPct val="0"/>
              </a:spcBef>
              <a:buClrTx/>
              <a:buFontTx/>
              <a:buNone/>
              <a:defRPr sz="1200" b="0">
                <a:solidFill>
                  <a:schemeClr val="tx1"/>
                </a:solidFill>
                <a:latin typeface="+mj-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034" name="Rectangle 6"/>
          <p:cNvSpPr>
            <a:spLocks noChangeArrowheads="1"/>
          </p:cNvSpPr>
          <p:nvPr/>
        </p:nvSpPr>
        <p:spPr bwMode="auto">
          <a:xfrm>
            <a:off x="7235825" y="6375400"/>
            <a:ext cx="1370013" cy="268288"/>
          </a:xfrm>
          <a:prstGeom prst="rect">
            <a:avLst/>
          </a:prstGeom>
          <a:noFill/>
          <a:ln>
            <a:noFill/>
          </a:ln>
        </p:spPr>
        <p:txBody>
          <a:bodyPr/>
          <a:lstStyle/>
          <a:p>
            <a:pPr lvl="0" algn="r" eaLnBrk="1" hangingPunct="1">
              <a:buNone/>
            </a:pPr>
            <a:fld id="{9A0DB2DC-4C9A-4742-B13C-FB6460FD3503}" type="slidenum">
              <a:rPr lang="en-US" altLang="zh-CN" sz="1200" b="0" dirty="0">
                <a:solidFill>
                  <a:schemeClr val="tx1"/>
                </a:solidFill>
                <a:latin typeface="Verdana" panose="020B0604030504040204" pitchFamily="34" charset="0"/>
                <a:ea typeface="宋体" panose="02010600030101010101" pitchFamily="2" charset="-122"/>
              </a:rPr>
              <a:t>‹#›</a:t>
            </a:fld>
            <a:endParaRPr lang="en-US" altLang="zh-CN" sz="1200" b="0" dirty="0">
              <a:solidFill>
                <a:schemeClr val="tx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ransition spd="med"/>
  <p:hf sldNum="0" hdr="0" ftr="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2pPr>
      <a:lvl3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3pPr>
      <a:lvl4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4pPr>
      <a:lvl5pPr algn="l" rtl="0" eaLnBrk="0" fontAlgn="base" hangingPunct="0">
        <a:spcBef>
          <a:spcPct val="0"/>
        </a:spcBef>
        <a:spcAft>
          <a:spcPct val="0"/>
        </a:spcAft>
        <a:defRPr sz="3200">
          <a:solidFill>
            <a:schemeClr val="tx2"/>
          </a:solidFill>
          <a:latin typeface="Verdana" panose="020B0604030504040204" pitchFamily="34" charset="0"/>
          <a:ea typeface="黑体" panose="02010609060101010101" pitchFamily="2" charset="-122"/>
        </a:defRPr>
      </a:lvl5pPr>
      <a:lvl6pPr marL="4572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6pPr>
      <a:lvl7pPr marL="9144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7pPr>
      <a:lvl8pPr marL="13716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8pPr>
      <a:lvl9pPr marL="1828800" algn="ctr" rtl="0" eaLnBrk="1" fontAlgn="base" hangingPunct="1">
        <a:spcBef>
          <a:spcPct val="0"/>
        </a:spcBef>
        <a:spcAft>
          <a:spcPct val="0"/>
        </a:spcAft>
        <a:defRPr sz="3200">
          <a:solidFill>
            <a:schemeClr val="tx2"/>
          </a:solidFill>
          <a:latin typeface="Verdana" panose="020B0604030504040204" pitchFamily="34" charset="0"/>
          <a:ea typeface="黑体" panose="02010609060101010101" pitchFamily="2"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Char char="o"/>
        <a:defRPr sz="2800">
          <a:solidFill>
            <a:schemeClr val="tx1"/>
          </a:solidFill>
          <a:latin typeface="黑体" panose="02010609060101010101" pitchFamily="2" charset="-122"/>
          <a:ea typeface="黑体" panose="02010609060101010101" pitchFamily="2" charset="-122"/>
          <a:cs typeface="+mn-cs"/>
        </a:defRPr>
      </a:lvl1pPr>
      <a:lvl2pPr marL="908050" indent="-43688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a:solidFill>
            <a:schemeClr val="tx1"/>
          </a:solidFill>
          <a:latin typeface="黑体" panose="02010609060101010101" pitchFamily="2" charset="-122"/>
          <a:ea typeface="黑体" panose="02010609060101010101"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nvSpPr>
        <p:spPr bwMode="auto">
          <a:xfrm>
            <a:off x="609600" y="6453188"/>
            <a:ext cx="1370013" cy="268288"/>
          </a:xfrm>
          <a:prstGeom prst="rect">
            <a:avLst/>
          </a:prstGeom>
          <a:noFill/>
          <a:ln>
            <a:miter lim="800000"/>
          </a:ln>
        </p:spPr>
        <p:txBody>
          <a:bodyPr/>
          <a:lstStyle/>
          <a:p>
            <a:pPr marR="0" defTabSz="914400" eaLnBrk="1" hangingPunct="1">
              <a:buClrTx/>
              <a:buSzTx/>
              <a:buFontTx/>
              <a:buNone/>
              <a:defRPr/>
            </a:pPr>
            <a:endParaRPr kumimoji="0" lang="en-US" altLang="zh-CN" sz="1200" b="0" kern="1200" cap="none" spc="0" normalizeH="0" baseline="0" noProof="0">
              <a:solidFill>
                <a:schemeClr val="tx1"/>
              </a:solidFill>
              <a:latin typeface="+mj-lt"/>
              <a:ea typeface="宋体" panose="02010600030101010101" pitchFamily="2" charset="-122"/>
              <a:cs typeface="+mn-cs"/>
            </a:endParaRPr>
          </a:p>
        </p:txBody>
      </p:sp>
      <p:sp>
        <p:nvSpPr>
          <p:cNvPr id="5123" name="Rectangle 2"/>
          <p:cNvSpPr>
            <a:spLocks noGrp="1"/>
          </p:cNvSpPr>
          <p:nvPr>
            <p:ph type="title"/>
          </p:nvPr>
        </p:nvSpPr>
        <p:spPr>
          <a:xfrm>
            <a:off x="395536" y="944263"/>
            <a:ext cx="7785735" cy="2393315"/>
          </a:xfrm>
          <a:ln/>
        </p:spPr>
        <p:txBody>
          <a:bodyPr vert="horz" wrap="square" lIns="91440" tIns="45720" rIns="91440" bIns="45720" anchor="b" anchorCtr="0"/>
          <a:lstStyle/>
          <a:p>
            <a:pPr eaLnBrk="1" hangingPunct="1"/>
            <a:r>
              <a:rPr lang="zh-CN" altLang="en-US" sz="3600" dirty="0"/>
              <a:t>题目：</a:t>
            </a:r>
            <a:r>
              <a:rPr lang="zh-CN" altLang="zh-CN" b="1" dirty="0"/>
              <a:t>基于计算机辅助设计的文创灯罩创新研究</a:t>
            </a:r>
            <a:br>
              <a:rPr lang="zh-CN" altLang="zh-CN" dirty="0"/>
            </a:br>
            <a:br>
              <a:rPr lang="zh-CN" altLang="en-US" dirty="0"/>
            </a:br>
            <a:endParaRPr lang="zh-CN" altLang="en-US" dirty="0"/>
          </a:p>
        </p:txBody>
      </p:sp>
      <p:sp>
        <p:nvSpPr>
          <p:cNvPr id="5124" name="Text Box 6"/>
          <p:cNvSpPr txBox="1"/>
          <p:nvPr/>
        </p:nvSpPr>
        <p:spPr>
          <a:xfrm>
            <a:off x="1835150" y="0"/>
            <a:ext cx="7308850" cy="1281113"/>
          </a:xfrm>
          <a:prstGeom prst="rect">
            <a:avLst/>
          </a:prstGeom>
          <a:noFill/>
          <a:ln w="9525">
            <a:noFill/>
          </a:ln>
        </p:spPr>
        <p:txBody>
          <a:bodyPr>
            <a:spAutoFit/>
          </a:bodyPr>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Char char="o"/>
              <a:defRPr sz="2800" b="0">
                <a:solidFill>
                  <a:schemeClr val="tx1"/>
                </a:solidFill>
                <a:latin typeface="黑体" panose="02010609060101010101" pitchFamily="2" charset="-122"/>
                <a:ea typeface="黑体" panose="02010609060101010101" pitchFamily="2" charset="-122"/>
                <a:cs typeface="+mn-cs"/>
              </a:defRPr>
            </a:lvl1pPr>
            <a:lvl2pPr marL="908050" indent="-43688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a:solidFill>
                  <a:schemeClr val="tx1"/>
                </a:solidFill>
                <a:latin typeface="黑体" panose="02010609060101010101" pitchFamily="2" charset="-122"/>
                <a:ea typeface="黑体" panose="02010609060101010101"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812800" lvl="0" indent="-812800" algn="ctr" eaLnBrk="1" hangingPunct="1">
              <a:lnSpc>
                <a:spcPct val="150000"/>
              </a:lnSpc>
              <a:spcBef>
                <a:spcPct val="50000"/>
              </a:spcBef>
              <a:buClr>
                <a:schemeClr val="tx1"/>
              </a:buClr>
              <a:buNone/>
            </a:pPr>
            <a:endParaRPr lang="zh-CN" altLang="en-US" sz="5200" b="1" dirty="0">
              <a:solidFill>
                <a:srgbClr val="CC3300"/>
              </a:solidFill>
              <a:latin typeface="Times New Roman" panose="02020603050405020304" pitchFamily="18" charset="0"/>
              <a:ea typeface="华文新魏" panose="02010800040101010101" pitchFamily="2" charset="-122"/>
            </a:endParaRPr>
          </a:p>
        </p:txBody>
      </p:sp>
      <p:sp>
        <p:nvSpPr>
          <p:cNvPr id="5125" name="Text Box 7"/>
          <p:cNvSpPr txBox="1"/>
          <p:nvPr/>
        </p:nvSpPr>
        <p:spPr>
          <a:xfrm>
            <a:off x="611188" y="188913"/>
            <a:ext cx="7848600" cy="757237"/>
          </a:xfrm>
          <a:prstGeom prst="rect">
            <a:avLst/>
          </a:prstGeom>
          <a:noFill/>
          <a:ln w="9525">
            <a:noFill/>
          </a:ln>
        </p:spPr>
        <p:txBody>
          <a:bodyPr>
            <a:spAutoFit/>
          </a:bodyPr>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Char char="o"/>
              <a:defRPr sz="2800" b="0">
                <a:solidFill>
                  <a:schemeClr val="tx1"/>
                </a:solidFill>
                <a:latin typeface="黑体" panose="02010609060101010101" pitchFamily="2" charset="-122"/>
                <a:ea typeface="黑体" panose="02010609060101010101" pitchFamily="2" charset="-122"/>
                <a:cs typeface="+mn-cs"/>
              </a:defRPr>
            </a:lvl1pPr>
            <a:lvl2pPr marL="908050" indent="-43688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a:solidFill>
                  <a:schemeClr val="tx1"/>
                </a:solidFill>
                <a:latin typeface="黑体" panose="02010609060101010101" pitchFamily="2" charset="-122"/>
                <a:ea typeface="黑体" panose="02010609060101010101"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812800" lvl="0" indent="-812800" algn="ctr" eaLnBrk="1" hangingPunct="1">
              <a:lnSpc>
                <a:spcPct val="150000"/>
              </a:lnSpc>
              <a:spcBef>
                <a:spcPct val="50000"/>
              </a:spcBef>
              <a:buClr>
                <a:schemeClr val="tx1"/>
              </a:buClr>
              <a:buNone/>
            </a:pPr>
            <a:r>
              <a:rPr lang="en-US" altLang="zh-CN" sz="3200" b="1" dirty="0">
                <a:solidFill>
                  <a:srgbClr val="CC3300"/>
                </a:solidFill>
                <a:latin typeface="Times New Roman" panose="02020603050405020304" pitchFamily="18" charset="0"/>
                <a:ea typeface="华文新魏" panose="02010800040101010101" pitchFamily="2" charset="-122"/>
              </a:rPr>
              <a:t>2023</a:t>
            </a:r>
            <a:r>
              <a:rPr lang="zh-CN" altLang="en-US" sz="3200" b="1" dirty="0">
                <a:solidFill>
                  <a:srgbClr val="CC3300"/>
                </a:solidFill>
                <a:latin typeface="Times New Roman" panose="02020603050405020304" pitchFamily="18" charset="0"/>
                <a:ea typeface="华文新魏" panose="02010800040101010101" pitchFamily="2" charset="-122"/>
              </a:rPr>
              <a:t>级本科科研实训汇报</a:t>
            </a:r>
          </a:p>
        </p:txBody>
      </p:sp>
      <p:sp>
        <p:nvSpPr>
          <p:cNvPr id="5126" name="Rectangle 2"/>
          <p:cNvSpPr/>
          <p:nvPr/>
        </p:nvSpPr>
        <p:spPr>
          <a:xfrm>
            <a:off x="1479550" y="2493010"/>
            <a:ext cx="6417310" cy="3060700"/>
          </a:xfrm>
          <a:prstGeom prst="rect">
            <a:avLst/>
          </a:prstGeom>
          <a:noFill/>
          <a:ln w="9525">
            <a:noFill/>
          </a:ln>
        </p:spPr>
        <p:txBody>
          <a:bodyPr anchor="b" anchorCtr="0"/>
          <a:lst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Char char="o"/>
              <a:defRPr sz="2800" b="0">
                <a:solidFill>
                  <a:schemeClr val="tx1"/>
                </a:solidFill>
                <a:latin typeface="黑体" panose="02010609060101010101" pitchFamily="2" charset="-122"/>
                <a:ea typeface="黑体" panose="02010609060101010101" pitchFamily="2" charset="-122"/>
                <a:cs typeface="+mn-cs"/>
              </a:defRPr>
            </a:lvl1pPr>
            <a:lvl2pPr marL="908050" indent="-436880" algn="l" rtl="0" eaLnBrk="0" fontAlgn="base" hangingPunct="0">
              <a:lnSpc>
                <a:spcPct val="120000"/>
              </a:lnSpc>
              <a:spcBef>
                <a:spcPct val="20000"/>
              </a:spcBef>
              <a:spcAft>
                <a:spcPct val="0"/>
              </a:spcAft>
              <a:buClr>
                <a:schemeClr val="accent2"/>
              </a:buClr>
              <a:buFont typeface="Wingdings" panose="05000000000000000000" pitchFamily="2" charset="2"/>
              <a:buChar char="n"/>
              <a:defRPr sz="2800">
                <a:solidFill>
                  <a:schemeClr val="tx1"/>
                </a:solidFill>
                <a:latin typeface="黑体" panose="02010609060101010101" pitchFamily="2" charset="-122"/>
                <a:ea typeface="黑体" panose="02010609060101010101" pitchFamily="2" charset="-122"/>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4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nSpc>
                <a:spcPct val="110000"/>
              </a:lnSpc>
              <a:spcBef>
                <a:spcPct val="0"/>
              </a:spcBef>
              <a:buClrTx/>
              <a:buFontTx/>
              <a:buNone/>
            </a:pPr>
            <a:r>
              <a:rPr lang="zh-CN" altLang="en-US" dirty="0">
                <a:solidFill>
                  <a:schemeClr val="tx2"/>
                </a:solidFill>
              </a:rPr>
              <a:t>姓    名：邓杰湧</a:t>
            </a:r>
            <a:br>
              <a:rPr lang="zh-CN" altLang="en-US" dirty="0">
                <a:solidFill>
                  <a:schemeClr val="tx2"/>
                </a:solidFill>
              </a:rPr>
            </a:br>
            <a:r>
              <a:rPr lang="zh-CN" altLang="en-US" dirty="0">
                <a:solidFill>
                  <a:schemeClr val="tx2"/>
                </a:solidFill>
              </a:rPr>
              <a:t>学    号：</a:t>
            </a:r>
            <a:r>
              <a:rPr lang="en-US" altLang="zh-CN" dirty="0">
                <a:solidFill>
                  <a:schemeClr val="tx2"/>
                </a:solidFill>
              </a:rPr>
              <a:t>2023212351</a:t>
            </a:r>
            <a:br>
              <a:rPr lang="zh-CN" altLang="en-US" dirty="0">
                <a:solidFill>
                  <a:schemeClr val="tx2"/>
                </a:solidFill>
              </a:rPr>
            </a:br>
            <a:r>
              <a:rPr lang="zh-CN" altLang="en-US" dirty="0">
                <a:solidFill>
                  <a:schemeClr val="tx2"/>
                </a:solidFill>
              </a:rPr>
              <a:t>专业班级：物联网工程</a:t>
            </a:r>
            <a:r>
              <a:rPr lang="en-US" altLang="zh-CN" dirty="0">
                <a:solidFill>
                  <a:schemeClr val="tx2"/>
                </a:solidFill>
              </a:rPr>
              <a:t>23-1</a:t>
            </a:r>
            <a:r>
              <a:rPr lang="zh-CN" altLang="en-US" dirty="0">
                <a:solidFill>
                  <a:schemeClr val="tx2"/>
                </a:solidFill>
              </a:rPr>
              <a:t>班</a:t>
            </a:r>
            <a:br>
              <a:rPr lang="zh-CN" altLang="en-US" dirty="0">
                <a:solidFill>
                  <a:schemeClr val="tx2"/>
                </a:solidFill>
              </a:rPr>
            </a:br>
            <a:r>
              <a:rPr lang="zh-CN" altLang="en-US" dirty="0">
                <a:solidFill>
                  <a:schemeClr val="tx2"/>
                </a:solidFill>
              </a:rPr>
              <a:t>指导教师：曹力</a:t>
            </a:r>
            <a:br>
              <a:rPr lang="zh-CN" altLang="en-US" dirty="0">
                <a:solidFill>
                  <a:schemeClr val="tx2"/>
                </a:solidFill>
              </a:rPr>
            </a:br>
            <a:r>
              <a:rPr lang="zh-CN" altLang="en-US" dirty="0">
                <a:solidFill>
                  <a:schemeClr val="tx2"/>
                </a:solidFill>
              </a:rPr>
              <a:t>汇报日期：</a:t>
            </a:r>
            <a:r>
              <a:rPr lang="en-US" altLang="zh-CN" dirty="0">
                <a:solidFill>
                  <a:schemeClr val="tx2"/>
                </a:solidFill>
              </a:rPr>
              <a:t>2025-7-6</a:t>
            </a:r>
            <a:endParaRPr lang="zh-CN" altLang="en-US" dirty="0">
              <a:solidFill>
                <a:srgbClr val="FF0000"/>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nvSpPr>
        <p:spPr bwMode="auto">
          <a:xfrm>
            <a:off x="539750" y="6394450"/>
            <a:ext cx="1370013" cy="268288"/>
          </a:xfrm>
          <a:prstGeom prst="rect">
            <a:avLst/>
          </a:prstGeom>
          <a:noFill/>
          <a:ln>
            <a:miter lim="800000"/>
          </a:ln>
        </p:spPr>
        <p:txBody>
          <a:bodyPr/>
          <a:lstStyle/>
          <a:p>
            <a:pPr marR="0" defTabSz="914400" eaLnBrk="1" hangingPunct="1">
              <a:buClrTx/>
              <a:buSzTx/>
              <a:buFontTx/>
              <a:buNone/>
              <a:defRPr/>
            </a:pPr>
            <a:endParaRPr kumimoji="0" lang="en-US" altLang="zh-CN" sz="1200" b="0" kern="1200" cap="none" spc="0" normalizeH="0" baseline="0" noProof="0">
              <a:solidFill>
                <a:schemeClr val="tx1"/>
              </a:solidFill>
              <a:latin typeface="+mj-lt"/>
              <a:ea typeface="宋体" panose="02010600030101010101" pitchFamily="2" charset="-122"/>
              <a:cs typeface="+mn-cs"/>
            </a:endParaRPr>
          </a:p>
        </p:txBody>
      </p:sp>
      <p:sp>
        <p:nvSpPr>
          <p:cNvPr id="6147" name="Rectangle 2"/>
          <p:cNvSpPr>
            <a:spLocks noGrp="1"/>
          </p:cNvSpPr>
          <p:nvPr>
            <p:ph type="title"/>
          </p:nvPr>
        </p:nvSpPr>
        <p:spPr>
          <a:xfrm>
            <a:off x="539750" y="1052736"/>
            <a:ext cx="0" cy="0"/>
          </a:xfrm>
          <a:ln/>
        </p:spPr>
        <p:txBody>
          <a:bodyPr vert="horz" wrap="square" lIns="91440" tIns="45720" rIns="91440" bIns="45720" anchor="b" anchorCtr="0"/>
          <a:lstStyle/>
          <a:p>
            <a:pPr eaLnBrk="1" hangingPunct="1"/>
            <a:r>
              <a:rPr lang="zh-CN" altLang="en-US" sz="3600" dirty="0"/>
              <a:t>汇报提纲</a:t>
            </a:r>
          </a:p>
        </p:txBody>
      </p:sp>
      <p:sp>
        <p:nvSpPr>
          <p:cNvPr id="6148" name="Text Box 4"/>
          <p:cNvSpPr>
            <a:spLocks noGrp="1"/>
          </p:cNvSpPr>
          <p:nvPr>
            <p:ph type="body"/>
          </p:nvPr>
        </p:nvSpPr>
        <p:spPr>
          <a:xfrm>
            <a:off x="539750" y="1052736"/>
            <a:ext cx="0" cy="0"/>
          </a:xfrm>
          <a:ln/>
        </p:spPr>
        <p:txBody>
          <a:bodyPr vert="horz" wrap="square" lIns="91440" tIns="45720" rIns="91440" bIns="45720" anchor="t" anchorCtr="0"/>
          <a:lstStyle/>
          <a:p>
            <a:pPr>
              <a:lnSpc>
                <a:spcPct val="170000"/>
              </a:lnSpc>
              <a:spcBef>
                <a:spcPct val="0"/>
              </a:spcBef>
            </a:pPr>
            <a:r>
              <a:rPr lang="zh-CN" altLang="en-US" dirty="0"/>
              <a:t> 内容与目标</a:t>
            </a:r>
          </a:p>
          <a:p>
            <a:pPr>
              <a:lnSpc>
                <a:spcPct val="170000"/>
              </a:lnSpc>
              <a:spcBef>
                <a:spcPct val="0"/>
              </a:spcBef>
            </a:pPr>
            <a:r>
              <a:rPr lang="zh-CN" altLang="en-US" dirty="0"/>
              <a:t> 相关工作</a:t>
            </a:r>
          </a:p>
          <a:p>
            <a:pPr>
              <a:lnSpc>
                <a:spcPct val="170000"/>
              </a:lnSpc>
              <a:spcBef>
                <a:spcPct val="0"/>
              </a:spcBef>
            </a:pPr>
            <a:r>
              <a:rPr lang="zh-CN" altLang="en-US" dirty="0"/>
              <a:t> 方法介绍</a:t>
            </a:r>
          </a:p>
          <a:p>
            <a:pPr>
              <a:lnSpc>
                <a:spcPct val="170000"/>
              </a:lnSpc>
              <a:spcBef>
                <a:spcPct val="0"/>
              </a:spcBef>
            </a:pPr>
            <a:r>
              <a:rPr lang="zh-CN" altLang="en-US" dirty="0"/>
              <a:t> 实现与结果分析</a:t>
            </a:r>
          </a:p>
          <a:p>
            <a:pPr>
              <a:lnSpc>
                <a:spcPct val="170000"/>
              </a:lnSpc>
              <a:spcBef>
                <a:spcPct val="0"/>
              </a:spcBef>
            </a:pPr>
            <a:r>
              <a:rPr lang="zh-CN" altLang="en-US" dirty="0"/>
              <a:t> 结论与展望</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11505" y="320675"/>
            <a:ext cx="3687445" cy="891540"/>
          </a:xfrm>
          <a:prstGeom prst="rect">
            <a:avLst/>
          </a:prstGeom>
          <a:noFill/>
        </p:spPr>
        <p:txBody>
          <a:bodyPr wrap="square" rtlCol="0">
            <a:spAutoFit/>
          </a:bodyPr>
          <a:lstStyle/>
          <a:p>
            <a:r>
              <a:rPr lang="zh-CN" altLang="en-US" dirty="0">
                <a:solidFill>
                  <a:schemeClr val="tx1"/>
                </a:solidFill>
                <a:latin typeface="宋体" panose="02010600030101010101" pitchFamily="2" charset="-122"/>
                <a:ea typeface="宋体" panose="02010600030101010101" pitchFamily="2" charset="-122"/>
                <a:sym typeface="+mn-ea"/>
              </a:rPr>
              <a:t>内容与目标</a:t>
            </a:r>
          </a:p>
        </p:txBody>
      </p:sp>
      <p:sp>
        <p:nvSpPr>
          <p:cNvPr id="4" name="文本框 3"/>
          <p:cNvSpPr txBox="1"/>
          <p:nvPr/>
        </p:nvSpPr>
        <p:spPr>
          <a:xfrm>
            <a:off x="785495" y="1484630"/>
            <a:ext cx="7385050" cy="2677656"/>
          </a:xfrm>
          <a:prstGeom prst="rect">
            <a:avLst/>
          </a:prstGeom>
          <a:noFill/>
        </p:spPr>
        <p:txBody>
          <a:bodyPr wrap="square" rtlCol="0">
            <a:spAutoFit/>
          </a:bodyPr>
          <a:lstStyle/>
          <a:p>
            <a:r>
              <a:rPr lang="zh-CN" altLang="zh-CN" sz="2400" dirty="0">
                <a:solidFill>
                  <a:schemeClr val="tx1"/>
                </a:solidFill>
                <a:latin typeface="宋体" panose="02010600030101010101" pitchFamily="2" charset="-122"/>
                <a:ea typeface="宋体" panose="02010600030101010101" pitchFamily="2" charset="-122"/>
              </a:rPr>
              <a:t>本研究旨在开发一套基于计算机辅助设计的文创灯罩设计系统，主要包括以下研究内容：</a:t>
            </a:r>
          </a:p>
          <a:p>
            <a:pPr lvl="0"/>
            <a:r>
              <a:rPr lang="zh-CN" altLang="zh-CN" sz="2400" dirty="0">
                <a:solidFill>
                  <a:schemeClr val="tx1"/>
                </a:solidFill>
                <a:latin typeface="宋体" panose="02010600030101010101" pitchFamily="2" charset="-122"/>
                <a:ea typeface="宋体" panose="02010600030101010101" pitchFamily="2" charset="-122"/>
              </a:rPr>
              <a:t>分析传统文化元素在灯罩设计中的应用特点。</a:t>
            </a:r>
          </a:p>
          <a:p>
            <a:pPr lvl="0"/>
            <a:r>
              <a:rPr lang="zh-CN" altLang="zh-CN" sz="2400" dirty="0">
                <a:solidFill>
                  <a:schemeClr val="tx1"/>
                </a:solidFill>
                <a:latin typeface="宋体" panose="02010600030101010101" pitchFamily="2" charset="-122"/>
                <a:ea typeface="宋体" panose="02010600030101010101" pitchFamily="2" charset="-122"/>
              </a:rPr>
              <a:t>探索参数化设计方法在灯罩造型中的实现。</a:t>
            </a:r>
          </a:p>
          <a:p>
            <a:pPr lvl="0"/>
            <a:r>
              <a:rPr lang="zh-CN" altLang="zh-CN" sz="2400" dirty="0">
                <a:solidFill>
                  <a:schemeClr val="tx1"/>
                </a:solidFill>
                <a:latin typeface="宋体" panose="02010600030101010101" pitchFamily="2" charset="-122"/>
                <a:ea typeface="宋体" panose="02010600030101010101" pitchFamily="2" charset="-122"/>
              </a:rPr>
              <a:t>开发基于计算机算法的灯罩图案生成系统。</a:t>
            </a:r>
          </a:p>
          <a:p>
            <a:pPr lvl="0"/>
            <a:r>
              <a:rPr lang="zh-CN" altLang="zh-CN" sz="2400" dirty="0">
                <a:solidFill>
                  <a:schemeClr val="tx1"/>
                </a:solidFill>
                <a:latin typeface="宋体" panose="02010600030101010101" pitchFamily="2" charset="-122"/>
                <a:ea typeface="宋体" panose="02010600030101010101" pitchFamily="2" charset="-122"/>
              </a:rPr>
              <a:t>设计并实现数字化制造流程。</a:t>
            </a:r>
          </a:p>
          <a:p>
            <a:pPr lvl="0"/>
            <a:r>
              <a:rPr lang="zh-CN" altLang="zh-CN" sz="2400" dirty="0">
                <a:solidFill>
                  <a:schemeClr val="tx1"/>
                </a:solidFill>
                <a:latin typeface="宋体" panose="02010600030101010101" pitchFamily="2" charset="-122"/>
                <a:ea typeface="宋体" panose="02010600030101010101" pitchFamily="2" charset="-122"/>
              </a:rPr>
              <a:t>进行案例设计与验证。</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3687445" cy="891540"/>
          </a:xfrm>
          <a:prstGeom prst="rect">
            <a:avLst/>
          </a:prstGeom>
          <a:noFill/>
        </p:spPr>
        <p:txBody>
          <a:bodyPr wrap="square" rtlCol="0">
            <a:spAutoFit/>
          </a:bodyPr>
          <a:lstStyle/>
          <a:p>
            <a:r>
              <a:rPr lang="zh-CN" altLang="en-US" dirty="0">
                <a:solidFill>
                  <a:schemeClr val="tx1"/>
                </a:solidFill>
                <a:latin typeface="宋体" panose="02010600030101010101" pitchFamily="2" charset="-122"/>
                <a:ea typeface="宋体" panose="02010600030101010101" pitchFamily="2" charset="-122"/>
                <a:sym typeface="+mn-ea"/>
              </a:rPr>
              <a:t>相关工作</a:t>
            </a:r>
          </a:p>
        </p:txBody>
      </p:sp>
      <p:sp>
        <p:nvSpPr>
          <p:cNvPr id="4" name="文本框 3"/>
          <p:cNvSpPr txBox="1"/>
          <p:nvPr/>
        </p:nvSpPr>
        <p:spPr>
          <a:xfrm>
            <a:off x="1187624" y="1571149"/>
            <a:ext cx="7033260" cy="4247317"/>
          </a:xfrm>
          <a:prstGeom prst="rect">
            <a:avLst/>
          </a:prstGeom>
          <a:noFill/>
        </p:spPr>
        <p:txBody>
          <a:bodyPr wrap="square" rtlCol="0">
            <a:spAutoFit/>
          </a:bodyPr>
          <a:lstStyle/>
          <a:p>
            <a:r>
              <a:rPr lang="zh-CN" altLang="en-US" sz="1800" dirty="0">
                <a:solidFill>
                  <a:schemeClr val="tx1"/>
                </a:solidFill>
                <a:latin typeface="宋体" panose="02010600030101010101" pitchFamily="2" charset="-122"/>
                <a:ea typeface="宋体" panose="02010600030101010101" pitchFamily="2" charset="-122"/>
              </a:rPr>
              <a:t>本研究设计的文创灯罩设计系统采用模块化架构，包含四个核心模块：文化元素数据库、参数化设计引擎、光影效果模拟器和数字制造接口。系统工作流程包括：用户从文化元素数据库选择文化符号；通过参数化设计引擎进行灯罩形态设计与图案生成；利用光影效果模拟器预览效果；通过数字制造接口生成制造文件。文化元素数据库通过传统图案采集与分类、图案参数化处理和文化语义标注三个维度构建。参数化设计引擎开发了灯罩形态生成算法和文化图案映射算法，前者基于几何变换和拓扑约束支持多种基本形态，后者解决了平面图案到三维表面的映射问题。光影效果模拟器建立了材料光学特性模型，基于光线追踪算法预测不同图案对光影效果的影响。数字制造接口支持</a:t>
            </a:r>
            <a:r>
              <a:rPr lang="en-US" altLang="zh-CN" sz="1800" dirty="0">
                <a:solidFill>
                  <a:schemeClr val="tx1"/>
                </a:solidFill>
                <a:latin typeface="宋体" panose="02010600030101010101" pitchFamily="2" charset="-122"/>
                <a:ea typeface="宋体" panose="02010600030101010101" pitchFamily="2" charset="-122"/>
              </a:rPr>
              <a:t>3D</a:t>
            </a:r>
            <a:r>
              <a:rPr lang="zh-CN" altLang="en-US" sz="1800" dirty="0">
                <a:solidFill>
                  <a:schemeClr val="tx1"/>
                </a:solidFill>
                <a:latin typeface="宋体" panose="02010600030101010101" pitchFamily="2" charset="-122"/>
                <a:ea typeface="宋体" panose="02010600030101010101" pitchFamily="2" charset="-122"/>
              </a:rPr>
              <a:t>打印和激光切割两种主要制造方式，开发了模型优化算法和二维切割图纸转换算法。系统采用多层次技术架构，前端基于</a:t>
            </a:r>
            <a:r>
              <a:rPr lang="en-US" altLang="zh-CN" sz="1800" dirty="0">
                <a:solidFill>
                  <a:schemeClr val="tx1"/>
                </a:solidFill>
                <a:latin typeface="宋体" panose="02010600030101010101" pitchFamily="2" charset="-122"/>
                <a:ea typeface="宋体" panose="02010600030101010101" pitchFamily="2" charset="-122"/>
              </a:rPr>
              <a:t>WebGL</a:t>
            </a:r>
            <a:r>
              <a:rPr lang="zh-CN" altLang="en-US" sz="1800" dirty="0">
                <a:solidFill>
                  <a:schemeClr val="tx1"/>
                </a:solidFill>
                <a:latin typeface="宋体" panose="02010600030101010101" pitchFamily="2" charset="-122"/>
                <a:ea typeface="宋体" panose="02010600030101010101" pitchFamily="2" charset="-122"/>
              </a:rPr>
              <a:t>构建交互式界面，核心算法采用</a:t>
            </a:r>
            <a:r>
              <a:rPr lang="en-US" altLang="zh-CN" sz="1800" dirty="0">
                <a:solidFill>
                  <a:schemeClr val="tx1"/>
                </a:solidFill>
                <a:latin typeface="宋体" panose="02010600030101010101" pitchFamily="2" charset="-122"/>
                <a:ea typeface="宋体" panose="02010600030101010101" pitchFamily="2" charset="-122"/>
              </a:rPr>
              <a:t>C++</a:t>
            </a:r>
            <a:r>
              <a:rPr lang="zh-CN" altLang="en-US" sz="1800" dirty="0">
                <a:solidFill>
                  <a:schemeClr val="tx1"/>
                </a:solidFill>
                <a:latin typeface="宋体" panose="02010600030101010101" pitchFamily="2" charset="-122"/>
                <a:ea typeface="宋体" panose="02010600030101010101" pitchFamily="2" charset="-122"/>
              </a:rPr>
              <a:t>实现，数据存储使用</a:t>
            </a:r>
            <a:r>
              <a:rPr lang="en-US" altLang="zh-CN" sz="1800" dirty="0">
                <a:solidFill>
                  <a:schemeClr val="tx1"/>
                </a:solidFill>
                <a:latin typeface="宋体" panose="02010600030101010101" pitchFamily="2" charset="-122"/>
                <a:ea typeface="宋体" panose="02010600030101010101" pitchFamily="2" charset="-122"/>
              </a:rPr>
              <a:t>MongoDB</a:t>
            </a:r>
            <a:r>
              <a:rPr lang="zh-CN" altLang="en-US" sz="1800" dirty="0">
                <a:solidFill>
                  <a:schemeClr val="tx1"/>
                </a:solidFill>
                <a:latin typeface="宋体" panose="02010600030101010101" pitchFamily="2" charset="-122"/>
                <a:ea typeface="宋体" panose="02010600030101010101" pitchFamily="2" charset="-122"/>
              </a:rPr>
              <a:t>，各模块间通过</a:t>
            </a:r>
            <a:r>
              <a:rPr lang="en-US" altLang="zh-CN" sz="1800" dirty="0">
                <a:solidFill>
                  <a:schemeClr val="tx1"/>
                </a:solidFill>
                <a:latin typeface="宋体" panose="02010600030101010101" pitchFamily="2" charset="-122"/>
                <a:ea typeface="宋体" panose="02010600030101010101" pitchFamily="2" charset="-122"/>
              </a:rPr>
              <a:t>RESTful API</a:t>
            </a:r>
            <a:r>
              <a:rPr lang="zh-CN" altLang="en-US" sz="1800" dirty="0">
                <a:solidFill>
                  <a:schemeClr val="tx1"/>
                </a:solidFill>
                <a:latin typeface="宋体" panose="02010600030101010101" pitchFamily="2" charset="-122"/>
                <a:ea typeface="宋体" panose="02010600030101010101" pitchFamily="2" charset="-122"/>
              </a:rPr>
              <a:t>实现数据交互，确保系统高性能运行和良好扩展性。</a:t>
            </a:r>
            <a:endPar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3687445" cy="891540"/>
          </a:xfrm>
          <a:prstGeom prst="rect">
            <a:avLst/>
          </a:prstGeom>
          <a:noFill/>
        </p:spPr>
        <p:txBody>
          <a:bodyPr wrap="square" rtlCol="0">
            <a:spAutoFit/>
          </a:bodyPr>
          <a:lstStyle/>
          <a:p>
            <a:r>
              <a:rPr lang="zh-CN" altLang="en-US" dirty="0">
                <a:solidFill>
                  <a:schemeClr val="tx1"/>
                </a:solidFill>
                <a:latin typeface="宋体" panose="02010600030101010101" pitchFamily="2" charset="-122"/>
                <a:ea typeface="宋体" panose="02010600030101010101" pitchFamily="2" charset="-122"/>
                <a:sym typeface="+mn-ea"/>
              </a:rPr>
              <a:t>相关工作</a:t>
            </a:r>
          </a:p>
        </p:txBody>
      </p:sp>
      <p:pic>
        <p:nvPicPr>
          <p:cNvPr id="7" name="图片 6">
            <a:extLst>
              <a:ext uri="{FF2B5EF4-FFF2-40B4-BE49-F238E27FC236}">
                <a16:creationId xmlns:a16="http://schemas.microsoft.com/office/drawing/2014/main" id="{E2E8C391-0806-C1DB-05EB-CD70FA5A176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289"/>
          <a:stretch>
            <a:fillRect/>
          </a:stretch>
        </p:blipFill>
        <p:spPr bwMode="auto">
          <a:xfrm>
            <a:off x="-108520" y="2204864"/>
            <a:ext cx="5871845" cy="3001645"/>
          </a:xfrm>
          <a:prstGeom prst="rect">
            <a:avLst/>
          </a:prstGeom>
          <a:noFill/>
          <a:ln>
            <a:noFill/>
          </a:ln>
          <a:extLst>
            <a:ext uri="{53640926-AAD7-44D8-BBD7-CCE9431645EC}">
              <a14:shadowObscured xmlns:a14="http://schemas.microsoft.com/office/drawing/2010/main"/>
            </a:ext>
          </a:extLst>
        </p:spPr>
      </p:pic>
      <p:sp>
        <p:nvSpPr>
          <p:cNvPr id="8" name="文本框 7">
            <a:extLst>
              <a:ext uri="{FF2B5EF4-FFF2-40B4-BE49-F238E27FC236}">
                <a16:creationId xmlns:a16="http://schemas.microsoft.com/office/drawing/2014/main" id="{BDF3CE8F-4CA7-5051-92C0-F2CC416BF6B6}"/>
              </a:ext>
            </a:extLst>
          </p:cNvPr>
          <p:cNvSpPr txBox="1"/>
          <p:nvPr/>
        </p:nvSpPr>
        <p:spPr>
          <a:xfrm>
            <a:off x="5652120" y="1700808"/>
            <a:ext cx="2736304" cy="4247317"/>
          </a:xfrm>
          <a:prstGeom prst="rect">
            <a:avLst/>
          </a:prstGeom>
          <a:noFill/>
        </p:spPr>
        <p:txBody>
          <a:bodyPr wrap="square" rtlCol="0">
            <a:spAutoFit/>
          </a:bodyPr>
          <a:lstStyle/>
          <a:p>
            <a:r>
              <a:rPr lang="zh-CN" altLang="zh-CN" sz="1800" dirty="0">
                <a:solidFill>
                  <a:schemeClr val="tx1"/>
                </a:solidFill>
                <a:latin typeface="宋体" panose="02010600030101010101" pitchFamily="2" charset="-122"/>
                <a:ea typeface="宋体" panose="02010600030101010101" pitchFamily="2" charset="-122"/>
              </a:rPr>
              <a:t>为解决平面图案到三维曲面的映射问题，本研究实现了基于</a:t>
            </a:r>
            <a:r>
              <a:rPr lang="en-US" altLang="zh-CN" sz="1800" dirty="0">
                <a:solidFill>
                  <a:schemeClr val="tx1"/>
                </a:solidFill>
                <a:latin typeface="宋体" panose="02010600030101010101" pitchFamily="2" charset="-122"/>
                <a:ea typeface="宋体" panose="02010600030101010101" pitchFamily="2" charset="-122"/>
              </a:rPr>
              <a:t>UV</a:t>
            </a:r>
            <a:r>
              <a:rPr lang="zh-CN" altLang="zh-CN" sz="1800" dirty="0">
                <a:solidFill>
                  <a:schemeClr val="tx1"/>
                </a:solidFill>
                <a:latin typeface="宋体" panose="02010600030101010101" pitchFamily="2" charset="-122"/>
                <a:ea typeface="宋体" panose="02010600030101010101" pitchFamily="2" charset="-122"/>
              </a:rPr>
              <a:t>展开的映射算法。首先将三维模型通过</a:t>
            </a:r>
            <a:r>
              <a:rPr lang="en-US" altLang="zh-CN" sz="1800" dirty="0">
                <a:solidFill>
                  <a:schemeClr val="tx1"/>
                </a:solidFill>
                <a:latin typeface="宋体" panose="02010600030101010101" pitchFamily="2" charset="-122"/>
                <a:ea typeface="宋体" panose="02010600030101010101" pitchFamily="2" charset="-122"/>
              </a:rPr>
              <a:t>LSCM (Least Squares Conformal Maps) </a:t>
            </a:r>
            <a:r>
              <a:rPr lang="zh-CN" altLang="zh-CN" sz="1800" dirty="0">
                <a:solidFill>
                  <a:schemeClr val="tx1"/>
                </a:solidFill>
                <a:latin typeface="宋体" panose="02010600030101010101" pitchFamily="2" charset="-122"/>
                <a:ea typeface="宋体" panose="02010600030101010101" pitchFamily="2" charset="-122"/>
              </a:rPr>
              <a:t>方法展开为二维</a:t>
            </a:r>
            <a:r>
              <a:rPr lang="en-US" altLang="zh-CN" sz="1800" dirty="0">
                <a:solidFill>
                  <a:schemeClr val="tx1"/>
                </a:solidFill>
                <a:latin typeface="宋体" panose="02010600030101010101" pitchFamily="2" charset="-122"/>
                <a:ea typeface="宋体" panose="02010600030101010101" pitchFamily="2" charset="-122"/>
              </a:rPr>
              <a:t>UV</a:t>
            </a:r>
            <a:r>
              <a:rPr lang="zh-CN" altLang="zh-CN" sz="1800" dirty="0">
                <a:solidFill>
                  <a:schemeClr val="tx1"/>
                </a:solidFill>
                <a:latin typeface="宋体" panose="02010600030101010101" pitchFamily="2" charset="-122"/>
                <a:ea typeface="宋体" panose="02010600030101010101" pitchFamily="2" charset="-122"/>
              </a:rPr>
              <a:t>平面，然后在</a:t>
            </a:r>
            <a:r>
              <a:rPr lang="en-US" altLang="zh-CN" sz="1800" dirty="0">
                <a:solidFill>
                  <a:schemeClr val="tx1"/>
                </a:solidFill>
                <a:latin typeface="宋体" panose="02010600030101010101" pitchFamily="2" charset="-122"/>
                <a:ea typeface="宋体" panose="02010600030101010101" pitchFamily="2" charset="-122"/>
              </a:rPr>
              <a:t>UV</a:t>
            </a:r>
            <a:r>
              <a:rPr lang="zh-CN" altLang="zh-CN" sz="1800" dirty="0">
                <a:solidFill>
                  <a:schemeClr val="tx1"/>
                </a:solidFill>
                <a:latin typeface="宋体" panose="02010600030101010101" pitchFamily="2" charset="-122"/>
                <a:ea typeface="宋体" panose="02010600030101010101" pitchFamily="2" charset="-122"/>
              </a:rPr>
              <a:t>平面上应用图案，最后反向映射到三维模型。算法关键步骤包括：</a:t>
            </a:r>
          </a:p>
          <a:p>
            <a:r>
              <a:rPr lang="zh-CN" altLang="zh-CN" sz="1800" dirty="0">
                <a:solidFill>
                  <a:schemeClr val="tx1"/>
                </a:solidFill>
                <a:latin typeface="宋体" panose="02010600030101010101" pitchFamily="2" charset="-122"/>
                <a:ea typeface="宋体" panose="02010600030101010101" pitchFamily="2" charset="-122"/>
              </a:rPr>
              <a:t>网格模型三角化预处理</a:t>
            </a:r>
          </a:p>
          <a:p>
            <a:r>
              <a:rPr lang="zh-CN" altLang="zh-CN" sz="1800" dirty="0">
                <a:solidFill>
                  <a:schemeClr val="tx1"/>
                </a:solidFill>
                <a:latin typeface="宋体" panose="02010600030101010101" pitchFamily="2" charset="-122"/>
                <a:ea typeface="宋体" panose="02010600030101010101" pitchFamily="2" charset="-122"/>
              </a:rPr>
              <a:t>边界约束计算</a:t>
            </a:r>
          </a:p>
          <a:p>
            <a:r>
              <a:rPr lang="zh-CN" altLang="zh-CN" sz="1800" dirty="0">
                <a:solidFill>
                  <a:schemeClr val="tx1"/>
                </a:solidFill>
                <a:latin typeface="宋体" panose="02010600030101010101" pitchFamily="2" charset="-122"/>
                <a:ea typeface="宋体" panose="02010600030101010101" pitchFamily="2" charset="-122"/>
              </a:rPr>
              <a:t>最小二乘共形映射求解</a:t>
            </a:r>
          </a:p>
          <a:p>
            <a:r>
              <a:rPr lang="zh-CN" altLang="zh-CN" sz="1800" dirty="0">
                <a:solidFill>
                  <a:schemeClr val="tx1"/>
                </a:solidFill>
                <a:latin typeface="宋体" panose="02010600030101010101" pitchFamily="2" charset="-122"/>
                <a:ea typeface="宋体" panose="02010600030101010101" pitchFamily="2" charset="-122"/>
              </a:rPr>
              <a:t>纹理坐标生成与映射</a:t>
            </a:r>
          </a:p>
          <a:p>
            <a:endParaRPr lang="zh-CN" altLang="en-US" sz="1800"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368744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方法介绍</a:t>
            </a:r>
          </a:p>
        </p:txBody>
      </p:sp>
      <p:sp>
        <p:nvSpPr>
          <p:cNvPr id="6" name="文本框 5"/>
          <p:cNvSpPr txBox="1"/>
          <p:nvPr/>
        </p:nvSpPr>
        <p:spPr>
          <a:xfrm>
            <a:off x="683260" y="1341120"/>
            <a:ext cx="7994650" cy="4154984"/>
          </a:xfrm>
          <a:prstGeom prst="rect">
            <a:avLst/>
          </a:prstGeom>
          <a:noFill/>
        </p:spPr>
        <p:txBody>
          <a:bodyPr wrap="square" rtlCol="0">
            <a:spAutoFit/>
          </a:bodyPr>
          <a:lstStyle/>
          <a:p>
            <a:r>
              <a:rPr lang="zh-CN" altLang="en-US" sz="2400" b="0" dirty="0">
                <a:solidFill>
                  <a:schemeClr val="tx1"/>
                </a:solidFill>
                <a:latin typeface="宋体" panose="02010600030101010101" pitchFamily="2" charset="-122"/>
                <a:ea typeface="宋体" panose="02010600030101010101" pitchFamily="2" charset="-122"/>
              </a:rPr>
              <a:t>本研究采用模块化设计方法构建文创灯罩设计系统，包含四个核心模块：文化元素数据库通过传统图案采集分类、参数化处理和语义标注构建；参数化设计引擎开发了灯罩形态生成算法和文化图案映射算法，实现从二维图案到三维造型的转化；光影效果模拟器建立了材料光学特性模型，基于光线追踪算法预测光影效果；数字制造接口支持</a:t>
            </a:r>
            <a:r>
              <a:rPr lang="en-US" altLang="zh-CN" sz="2400" b="0" dirty="0">
                <a:solidFill>
                  <a:schemeClr val="tx1"/>
                </a:solidFill>
                <a:latin typeface="宋体" panose="02010600030101010101" pitchFamily="2" charset="-122"/>
                <a:ea typeface="宋体" panose="02010600030101010101" pitchFamily="2" charset="-122"/>
              </a:rPr>
              <a:t>3D</a:t>
            </a:r>
            <a:r>
              <a:rPr lang="zh-CN" altLang="en-US" sz="2400" b="0" dirty="0">
                <a:solidFill>
                  <a:schemeClr val="tx1"/>
                </a:solidFill>
                <a:latin typeface="宋体" panose="02010600030101010101" pitchFamily="2" charset="-122"/>
                <a:ea typeface="宋体" panose="02010600030101010101" pitchFamily="2" charset="-122"/>
              </a:rPr>
              <a:t>打印和激光切割工艺，开发了模型优化算法和切割图纸生成算法。系统采用多层次技术架构，前端基于</a:t>
            </a:r>
            <a:r>
              <a:rPr lang="en-US" altLang="zh-CN" sz="2400" b="0" dirty="0">
                <a:solidFill>
                  <a:schemeClr val="tx1"/>
                </a:solidFill>
                <a:latin typeface="宋体" panose="02010600030101010101" pitchFamily="2" charset="-122"/>
                <a:ea typeface="宋体" panose="02010600030101010101" pitchFamily="2" charset="-122"/>
              </a:rPr>
              <a:t>WebGL</a:t>
            </a:r>
            <a:r>
              <a:rPr lang="zh-CN" altLang="en-US" sz="2400" b="0" dirty="0">
                <a:solidFill>
                  <a:schemeClr val="tx1"/>
                </a:solidFill>
                <a:latin typeface="宋体" panose="02010600030101010101" pitchFamily="2" charset="-122"/>
                <a:ea typeface="宋体" panose="02010600030101010101" pitchFamily="2" charset="-122"/>
              </a:rPr>
              <a:t>构建交互界面，核心算法用</a:t>
            </a:r>
            <a:r>
              <a:rPr lang="en-US" altLang="zh-CN" sz="2400" b="0" dirty="0">
                <a:solidFill>
                  <a:schemeClr val="tx1"/>
                </a:solidFill>
                <a:latin typeface="宋体" panose="02010600030101010101" pitchFamily="2" charset="-122"/>
                <a:ea typeface="宋体" panose="02010600030101010101" pitchFamily="2" charset="-122"/>
              </a:rPr>
              <a:t>C++</a:t>
            </a:r>
            <a:r>
              <a:rPr lang="zh-CN" altLang="en-US" sz="2400" b="0" dirty="0">
                <a:solidFill>
                  <a:schemeClr val="tx1"/>
                </a:solidFill>
                <a:latin typeface="宋体" panose="02010600030101010101" pitchFamily="2" charset="-122"/>
                <a:ea typeface="宋体" panose="02010600030101010101" pitchFamily="2" charset="-122"/>
              </a:rPr>
              <a:t>实现，数据存储使用</a:t>
            </a:r>
            <a:r>
              <a:rPr lang="en-US" altLang="zh-CN" sz="2400" b="0" dirty="0">
                <a:solidFill>
                  <a:schemeClr val="tx1"/>
                </a:solidFill>
                <a:latin typeface="宋体" panose="02010600030101010101" pitchFamily="2" charset="-122"/>
                <a:ea typeface="宋体" panose="02010600030101010101" pitchFamily="2" charset="-122"/>
              </a:rPr>
              <a:t>MongoDB</a:t>
            </a:r>
            <a:r>
              <a:rPr lang="zh-CN" altLang="en-US" sz="2400" b="0" dirty="0">
                <a:solidFill>
                  <a:schemeClr val="tx1"/>
                </a:solidFill>
                <a:latin typeface="宋体" panose="02010600030101010101" pitchFamily="2" charset="-122"/>
                <a:ea typeface="宋体" panose="02010600030101010101" pitchFamily="2" charset="-122"/>
              </a:rPr>
              <a:t>，各模块通过</a:t>
            </a:r>
            <a:r>
              <a:rPr lang="en-US" altLang="zh-CN" sz="2400" b="0" dirty="0">
                <a:solidFill>
                  <a:schemeClr val="tx1"/>
                </a:solidFill>
                <a:latin typeface="宋体" panose="02010600030101010101" pitchFamily="2" charset="-122"/>
                <a:ea typeface="宋体" panose="02010600030101010101" pitchFamily="2" charset="-122"/>
              </a:rPr>
              <a:t>RESTful API</a:t>
            </a:r>
            <a:r>
              <a:rPr lang="zh-CN" altLang="en-US" sz="2400" b="0" dirty="0">
                <a:solidFill>
                  <a:schemeClr val="tx1"/>
                </a:solidFill>
                <a:latin typeface="宋体" panose="02010600030101010101" pitchFamily="2" charset="-122"/>
                <a:ea typeface="宋体" panose="02010600030101010101" pitchFamily="2" charset="-122"/>
              </a:rPr>
              <a:t>交互，确保系统高性能运行和良好扩展性。</a:t>
            </a:r>
            <a:endParaRPr lang="zh-CN" altLang="en-US" sz="2400" b="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512000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实现与结果分析</a:t>
            </a:r>
          </a:p>
        </p:txBody>
      </p:sp>
      <p:pic>
        <p:nvPicPr>
          <p:cNvPr id="5" name="图片 4">
            <a:extLst>
              <a:ext uri="{FF2B5EF4-FFF2-40B4-BE49-F238E27FC236}">
                <a16:creationId xmlns:a16="http://schemas.microsoft.com/office/drawing/2014/main" id="{1A551882-437A-D16B-1E31-5E5FF55BF1AE}"/>
              </a:ext>
            </a:extLst>
          </p:cNvPr>
          <p:cNvPicPr>
            <a:picLocks noChangeAspect="1"/>
          </p:cNvPicPr>
          <p:nvPr/>
        </p:nvPicPr>
        <p:blipFill>
          <a:blip r:embed="rId2"/>
          <a:stretch>
            <a:fillRect/>
          </a:stretch>
        </p:blipFill>
        <p:spPr>
          <a:xfrm>
            <a:off x="107504" y="1871668"/>
            <a:ext cx="8607193" cy="3393339"/>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512000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实现与结果分析</a:t>
            </a:r>
          </a:p>
        </p:txBody>
      </p:sp>
      <p:pic>
        <p:nvPicPr>
          <p:cNvPr id="4" name="图片 3">
            <a:extLst>
              <a:ext uri="{FF2B5EF4-FFF2-40B4-BE49-F238E27FC236}">
                <a16:creationId xmlns:a16="http://schemas.microsoft.com/office/drawing/2014/main" id="{1832721F-07EB-80CB-69D6-EB24D79E1324}"/>
              </a:ext>
            </a:extLst>
          </p:cNvPr>
          <p:cNvPicPr>
            <a:picLocks noChangeAspect="1"/>
          </p:cNvPicPr>
          <p:nvPr/>
        </p:nvPicPr>
        <p:blipFill>
          <a:blip r:embed="rId2"/>
          <a:stretch>
            <a:fillRect/>
          </a:stretch>
        </p:blipFill>
        <p:spPr>
          <a:xfrm>
            <a:off x="1167642" y="1772816"/>
            <a:ext cx="6258806" cy="3792167"/>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320675"/>
            <a:ext cx="512000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实现与结果分析</a:t>
            </a:r>
          </a:p>
        </p:txBody>
      </p:sp>
      <p:sp>
        <p:nvSpPr>
          <p:cNvPr id="4" name="文本框 3"/>
          <p:cNvSpPr txBox="1"/>
          <p:nvPr/>
        </p:nvSpPr>
        <p:spPr>
          <a:xfrm>
            <a:off x="302895" y="1412874"/>
            <a:ext cx="3693041" cy="4752429"/>
          </a:xfrm>
          <a:prstGeom prst="rect">
            <a:avLst/>
          </a:prstGeom>
          <a:noFill/>
        </p:spPr>
        <p:txBody>
          <a:bodyPr wrap="square" rtlCol="0">
            <a:noAutofit/>
          </a:bodyPr>
          <a:lstStyle/>
          <a:p>
            <a:r>
              <a:rPr lang="zh-CN" altLang="en-US" sz="1800" b="0" dirty="0">
                <a:solidFill>
                  <a:schemeClr val="tx1"/>
                </a:solidFill>
                <a:latin typeface="宋体" panose="02010600030101010101" pitchFamily="2" charset="-122"/>
                <a:ea typeface="宋体" panose="02010600030101010101" pitchFamily="2" charset="-122"/>
              </a:rPr>
              <a:t>本研究通过案例设计与评估验证了计算机辅助设计在文创灯罩设计中的应用价值。设计效率评估表明，与传统手工设计相比，系统辅助设计将设计时间从</a:t>
            </a:r>
            <a:r>
              <a:rPr lang="en-US" altLang="zh-CN" sz="1800" b="0" dirty="0">
                <a:solidFill>
                  <a:schemeClr val="tx1"/>
                </a:solidFill>
                <a:latin typeface="宋体" panose="02010600030101010101" pitchFamily="2" charset="-122"/>
                <a:ea typeface="宋体" panose="02010600030101010101" pitchFamily="2" charset="-122"/>
              </a:rPr>
              <a:t>24.5</a:t>
            </a:r>
            <a:r>
              <a:rPr lang="zh-CN" altLang="en-US" sz="1800" b="0" dirty="0">
                <a:solidFill>
                  <a:schemeClr val="tx1"/>
                </a:solidFill>
                <a:latin typeface="宋体" panose="02010600030101010101" pitchFamily="2" charset="-122"/>
                <a:ea typeface="宋体" panose="02010600030101010101" pitchFamily="2" charset="-122"/>
              </a:rPr>
              <a:t>小时缩短至</a:t>
            </a:r>
            <a:r>
              <a:rPr lang="en-US" altLang="zh-CN" sz="1800" b="0" dirty="0">
                <a:solidFill>
                  <a:schemeClr val="tx1"/>
                </a:solidFill>
                <a:latin typeface="宋体" panose="02010600030101010101" pitchFamily="2" charset="-122"/>
                <a:ea typeface="宋体" panose="02010600030101010101" pitchFamily="2" charset="-122"/>
              </a:rPr>
              <a:t>6.8</a:t>
            </a:r>
            <a:r>
              <a:rPr lang="zh-CN" altLang="en-US" sz="1800" b="0" dirty="0">
                <a:solidFill>
                  <a:schemeClr val="tx1"/>
                </a:solidFill>
                <a:latin typeface="宋体" panose="02010600030101010101" pitchFamily="2" charset="-122"/>
                <a:ea typeface="宋体" panose="02010600030101010101" pitchFamily="2" charset="-122"/>
              </a:rPr>
              <a:t>小时，设计方案数量从</a:t>
            </a:r>
            <a:r>
              <a:rPr lang="en-US" altLang="zh-CN" sz="1800" b="0" dirty="0">
                <a:solidFill>
                  <a:schemeClr val="tx1"/>
                </a:solidFill>
                <a:latin typeface="宋体" panose="02010600030101010101" pitchFamily="2" charset="-122"/>
                <a:ea typeface="宋体" panose="02010600030101010101" pitchFamily="2" charset="-122"/>
              </a:rPr>
              <a:t>3</a:t>
            </a:r>
            <a:r>
              <a:rPr lang="zh-CN" altLang="en-US" sz="1800" b="0" dirty="0">
                <a:solidFill>
                  <a:schemeClr val="tx1"/>
                </a:solidFill>
                <a:latin typeface="宋体" panose="02010600030101010101" pitchFamily="2" charset="-122"/>
                <a:ea typeface="宋体" panose="02010600030101010101" pitchFamily="2" charset="-122"/>
              </a:rPr>
              <a:t>个增加到</a:t>
            </a:r>
            <a:r>
              <a:rPr lang="en-US" altLang="zh-CN" sz="1800" b="0" dirty="0">
                <a:solidFill>
                  <a:schemeClr val="tx1"/>
                </a:solidFill>
                <a:latin typeface="宋体" panose="02010600030101010101" pitchFamily="2" charset="-122"/>
                <a:ea typeface="宋体" panose="02010600030101010101" pitchFamily="2" charset="-122"/>
              </a:rPr>
              <a:t>12</a:t>
            </a:r>
            <a:r>
              <a:rPr lang="zh-CN" altLang="en-US" sz="1800" b="0" dirty="0">
                <a:solidFill>
                  <a:schemeClr val="tx1"/>
                </a:solidFill>
                <a:latin typeface="宋体" panose="02010600030101010101" pitchFamily="2" charset="-122"/>
                <a:ea typeface="宋体" panose="02010600030101010101" pitchFamily="2" charset="-122"/>
              </a:rPr>
              <a:t>个，同时降低了修改难度，提高了设计一致性。用户体验评估显示，系统在功能完备性和设计满意度方面表现优秀，但学习曲线仍有改进空间。研究结果验证了计算机辅助设计不仅能提高文创产品设计效率，还能实现文化价值的有效传递与创新发展。</a:t>
            </a:r>
            <a:endParaRPr lang="en-US" altLang="zh-CN" sz="18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5" name="图片 4">
            <a:extLst>
              <a:ext uri="{FF2B5EF4-FFF2-40B4-BE49-F238E27FC236}">
                <a16:creationId xmlns:a16="http://schemas.microsoft.com/office/drawing/2014/main" id="{BA3E75FA-88FE-7ACA-9CF7-9ABB712B2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917" r="1303"/>
          <a:stretch>
            <a:fillRect/>
          </a:stretch>
        </p:blipFill>
        <p:spPr bwMode="auto">
          <a:xfrm>
            <a:off x="3851920" y="1611630"/>
            <a:ext cx="5196840" cy="3634740"/>
          </a:xfrm>
          <a:prstGeom prst="rect">
            <a:avLst/>
          </a:prstGeom>
          <a:noFill/>
          <a:ln>
            <a:noFill/>
          </a:ln>
          <a:extLst>
            <a:ext uri="{53640926-AAD7-44D8-BBD7-CCE9431645EC}">
              <a14:shadowObscured xmlns:a14="http://schemas.microsoft.com/office/drawing/2010/main"/>
            </a:ext>
          </a:extLst>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260985"/>
            <a:ext cx="512000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结论与展望</a:t>
            </a:r>
          </a:p>
        </p:txBody>
      </p:sp>
      <p:sp>
        <p:nvSpPr>
          <p:cNvPr id="5" name="文本框 4"/>
          <p:cNvSpPr txBox="1"/>
          <p:nvPr/>
        </p:nvSpPr>
        <p:spPr>
          <a:xfrm>
            <a:off x="323215" y="1268730"/>
            <a:ext cx="7900670" cy="4524315"/>
          </a:xfrm>
          <a:prstGeom prst="rect">
            <a:avLst/>
          </a:prstGeom>
          <a:noFill/>
        </p:spPr>
        <p:txBody>
          <a:bodyPr wrap="square" rtlCol="0">
            <a:spAutoFit/>
          </a:bodyPr>
          <a:lstStyle/>
          <a:p>
            <a:r>
              <a:rPr lang="zh-CN" altLang="zh-CN" sz="1800" dirty="0">
                <a:solidFill>
                  <a:schemeClr val="tx1"/>
                </a:solidFill>
                <a:latin typeface="宋体" panose="02010600030101010101" pitchFamily="2" charset="-122"/>
                <a:ea typeface="宋体" panose="02010600030101010101" pitchFamily="2" charset="-122"/>
              </a:rPr>
              <a:t>本研究构建了一套基于计算机辅助设计的文创灯罩设计系统，通过参数化设计、算法生成和数字制造技术，实现了传统文化元素在现代灯罩设计中的创新应用。研究得出以下结论： </a:t>
            </a:r>
          </a:p>
          <a:p>
            <a:r>
              <a:rPr lang="zh-CN" altLang="zh-CN" sz="1800" dirty="0">
                <a:solidFill>
                  <a:schemeClr val="tx1"/>
                </a:solidFill>
                <a:latin typeface="宋体" panose="02010600030101010101" pitchFamily="2" charset="-122"/>
                <a:ea typeface="宋体" panose="02010600030101010101" pitchFamily="2" charset="-122"/>
              </a:rPr>
              <a:t>计算机辅助设计提高文创产品设计效率</a:t>
            </a:r>
          </a:p>
          <a:p>
            <a:r>
              <a:rPr lang="zh-CN" altLang="zh-CN" sz="1800" dirty="0">
                <a:solidFill>
                  <a:schemeClr val="tx1"/>
                </a:solidFill>
                <a:latin typeface="宋体" panose="02010600030101010101" pitchFamily="2" charset="-122"/>
                <a:ea typeface="宋体" panose="02010600030101010101" pitchFamily="2" charset="-122"/>
              </a:rPr>
              <a:t>研究结果表明，基于计算机辅助设计的灯罩设计系统显著提高了设计效率。与传统手工设计相比，设计时间平均缩短了</a:t>
            </a:r>
            <a:r>
              <a:rPr lang="en-US" altLang="zh-CN" sz="1800" dirty="0">
                <a:solidFill>
                  <a:schemeClr val="tx1"/>
                </a:solidFill>
                <a:latin typeface="宋体" panose="02010600030101010101" pitchFamily="2" charset="-122"/>
                <a:ea typeface="宋体" panose="02010600030101010101" pitchFamily="2" charset="-122"/>
              </a:rPr>
              <a:t>72%</a:t>
            </a:r>
            <a:r>
              <a:rPr lang="zh-CN" altLang="zh-CN" sz="1800" dirty="0">
                <a:solidFill>
                  <a:schemeClr val="tx1"/>
                </a:solidFill>
                <a:latin typeface="宋体" panose="02010600030101010101" pitchFamily="2" charset="-122"/>
                <a:ea typeface="宋体" panose="02010600030101010101" pitchFamily="2" charset="-122"/>
              </a:rPr>
              <a:t>，设计方案数量增加了</a:t>
            </a:r>
            <a:r>
              <a:rPr lang="en-US" altLang="zh-CN" sz="1800" dirty="0">
                <a:solidFill>
                  <a:schemeClr val="tx1"/>
                </a:solidFill>
                <a:latin typeface="宋体" panose="02010600030101010101" pitchFamily="2" charset="-122"/>
                <a:ea typeface="宋体" panose="02010600030101010101" pitchFamily="2" charset="-122"/>
              </a:rPr>
              <a:t>300%</a:t>
            </a:r>
            <a:r>
              <a:rPr lang="zh-CN" altLang="zh-CN" sz="1800" dirty="0">
                <a:solidFill>
                  <a:schemeClr val="tx1"/>
                </a:solidFill>
                <a:latin typeface="宋体" panose="02010600030101010101" pitchFamily="2" charset="-122"/>
                <a:ea typeface="宋体" panose="02010600030101010101" pitchFamily="2" charset="-122"/>
              </a:rPr>
              <a:t>。这一结果验证了计算机技术在提高文创产品设计效率方面的显著价值。</a:t>
            </a:r>
          </a:p>
          <a:p>
            <a:r>
              <a:rPr lang="zh-CN" altLang="zh-CN" sz="1800" dirty="0">
                <a:solidFill>
                  <a:schemeClr val="tx1"/>
                </a:solidFill>
                <a:latin typeface="宋体" panose="02010600030101010101" pitchFamily="2" charset="-122"/>
                <a:ea typeface="宋体" panose="02010600030101010101" pitchFamily="2" charset="-122"/>
              </a:rPr>
              <a:t>参数化设计促进文化元素创新表达</a:t>
            </a:r>
          </a:p>
          <a:p>
            <a:r>
              <a:rPr lang="zh-CN" altLang="zh-CN" sz="1800" dirty="0">
                <a:solidFill>
                  <a:schemeClr val="tx1"/>
                </a:solidFill>
                <a:latin typeface="宋体" panose="02010600030101010101" pitchFamily="2" charset="-122"/>
                <a:ea typeface="宋体" panose="02010600030101010101" pitchFamily="2" charset="-122"/>
              </a:rPr>
              <a:t>参数化设计方法为传统文化元素提供了新的表达方式。通过将传统图案参数化处理，设计者能够在保留文化符号核心特征的同时，实现灵活变形与创新组合。研究中的案例表明，参数化处理后的传统元素具有更强的适应性和表现力。</a:t>
            </a:r>
          </a:p>
          <a:p>
            <a:r>
              <a:rPr lang="zh-CN" altLang="zh-CN" sz="1800" dirty="0">
                <a:solidFill>
                  <a:schemeClr val="tx1"/>
                </a:solidFill>
                <a:latin typeface="宋体" panose="02010600030101010101" pitchFamily="2" charset="-122"/>
                <a:ea typeface="宋体" panose="02010600030101010101" pitchFamily="2" charset="-122"/>
              </a:rPr>
              <a:t>数字制造技术扩展灯罩设计可能性</a:t>
            </a:r>
          </a:p>
          <a:p>
            <a:r>
              <a:rPr lang="zh-CN" altLang="zh-CN" sz="1800" dirty="0">
                <a:solidFill>
                  <a:schemeClr val="tx1"/>
                </a:solidFill>
                <a:latin typeface="宋体" panose="02010600030101010101" pitchFamily="2" charset="-122"/>
                <a:ea typeface="宋体" panose="02010600030101010101" pitchFamily="2" charset="-122"/>
              </a:rPr>
              <a:t>数字制造技术，特别是</a:t>
            </a:r>
            <a:r>
              <a:rPr lang="en-US" altLang="zh-CN" sz="1800" dirty="0">
                <a:solidFill>
                  <a:schemeClr val="tx1"/>
                </a:solidFill>
                <a:latin typeface="宋体" panose="02010600030101010101" pitchFamily="2" charset="-122"/>
                <a:ea typeface="宋体" panose="02010600030101010101" pitchFamily="2" charset="-122"/>
              </a:rPr>
              <a:t>3D</a:t>
            </a:r>
            <a:r>
              <a:rPr lang="zh-CN" altLang="zh-CN" sz="1800" dirty="0">
                <a:solidFill>
                  <a:schemeClr val="tx1"/>
                </a:solidFill>
                <a:latin typeface="宋体" panose="02010600030101010101" pitchFamily="2" charset="-122"/>
                <a:ea typeface="宋体" panose="02010600030101010101" pitchFamily="2" charset="-122"/>
              </a:rPr>
              <a:t>打印和激光切割，为灯罩设计提供了更广阔的形态与结构可能性。研究表明，数字制造技术能够实现传统工艺难以完成的复杂结构和精细图案，为文创灯罩设计开辟了新的领域。</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文本框 2"/>
          <p:cNvSpPr txBox="1"/>
          <p:nvPr/>
        </p:nvSpPr>
        <p:spPr>
          <a:xfrm>
            <a:off x="609600" y="260985"/>
            <a:ext cx="5120005" cy="891540"/>
          </a:xfrm>
          <a:prstGeom prst="rect">
            <a:avLst/>
          </a:prstGeom>
          <a:noFill/>
        </p:spPr>
        <p:txBody>
          <a:bodyPr wrap="square" rtlCol="0">
            <a:spAutoFit/>
          </a:bodyPr>
          <a:lstStyle/>
          <a:p>
            <a:pPr algn="l">
              <a:lnSpc>
                <a:spcPct val="100000"/>
              </a:lnSpc>
              <a:buClrTx/>
              <a:buSzTx/>
              <a:buFontTx/>
            </a:pPr>
            <a:r>
              <a:rPr lang="zh-CN" altLang="en-US" dirty="0">
                <a:solidFill>
                  <a:schemeClr val="tx1"/>
                </a:solidFill>
                <a:latin typeface="宋体" panose="02010600030101010101" pitchFamily="2" charset="-122"/>
                <a:ea typeface="宋体" panose="02010600030101010101" pitchFamily="2" charset="-122"/>
                <a:sym typeface="+mn-ea"/>
              </a:rPr>
              <a:t>结论与展望</a:t>
            </a:r>
          </a:p>
        </p:txBody>
      </p:sp>
      <p:sp>
        <p:nvSpPr>
          <p:cNvPr id="5" name="文本框 4"/>
          <p:cNvSpPr txBox="1"/>
          <p:nvPr/>
        </p:nvSpPr>
        <p:spPr>
          <a:xfrm>
            <a:off x="407035" y="1854200"/>
            <a:ext cx="7900670" cy="3693319"/>
          </a:xfrm>
          <a:prstGeom prst="rect">
            <a:avLst/>
          </a:prstGeom>
          <a:noFill/>
        </p:spPr>
        <p:txBody>
          <a:bodyPr wrap="square" rtlCol="0">
            <a:spAutoFit/>
          </a:bodyPr>
          <a:lstStyle/>
          <a:p>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未来研究方向</a:t>
            </a:r>
          </a:p>
          <a:p>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基于本研究的成果和局限性，未来研究可以在以下方向进一步探索：</a:t>
            </a:r>
          </a:p>
          <a:p>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未来研究可以扩展文化元素数据库，纳入更丰富的文化形式，如传统故事、民间艺术、戏曲表演等非物质文化遗产元素，并探索这些元素的参数化表达方法。研究表明，将传统文化元素如灯彩融入现代设计中，能够有效提升产品的文化价值和市场竞争力。</a:t>
            </a:r>
          </a:p>
          <a:p>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引入深度学习和生成对抗网络等人工智能技术，可以进一步提升系统的智能化水平。提出了基于关键技术的水晶灯平面分布式</a:t>
            </a:r>
            <a:r>
              <a:rPr lang="en-US" altLang="zh-CN" sz="1800" b="0" dirty="0">
                <a:solidFill>
                  <a:schemeClr val="tx1"/>
                </a:solidFill>
                <a:latin typeface="宋体" panose="02010600030101010101" pitchFamily="2" charset="-122"/>
                <a:ea typeface="宋体" panose="02010600030101010101" pitchFamily="2" charset="-122"/>
                <a:cs typeface="宋体" panose="02010600030101010101" pitchFamily="2" charset="-122"/>
              </a:rPr>
              <a:t>CAD</a:t>
            </a:r>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系统，为灯具设计的参数化建模提供了新思路。例如，开发基于风格迁移的传统图案生成算法，或基于用户偏好的设计方案智能推荐系统。加强材料物理特性和制造工艺的模拟，开发更精确的光学材料模型和制造约束检查工具，减少设计与制造之间的差距，提高设计方案的可行性。王世栋等</a:t>
            </a:r>
            <a:r>
              <a:rPr lang="en-US" altLang="zh-CN" sz="1800" b="0" dirty="0">
                <a:solidFill>
                  <a:schemeClr val="tx1"/>
                </a:solidFill>
                <a:latin typeface="宋体" panose="02010600030101010101" pitchFamily="2" charset="-122"/>
                <a:ea typeface="宋体" panose="02010600030101010101" pitchFamily="2" charset="-122"/>
                <a:cs typeface="宋体" panose="02010600030101010101" pitchFamily="2" charset="-122"/>
              </a:rPr>
              <a:t>(2015)</a:t>
            </a:r>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研究了</a:t>
            </a:r>
            <a:r>
              <a:rPr lang="en-US" altLang="zh-CN" sz="1800" b="0" dirty="0">
                <a:solidFill>
                  <a:schemeClr val="tx1"/>
                </a:solidFill>
                <a:latin typeface="宋体" panose="02010600030101010101" pitchFamily="2" charset="-122"/>
                <a:ea typeface="宋体" panose="02010600030101010101" pitchFamily="2" charset="-122"/>
                <a:cs typeface="宋体" panose="02010600030101010101" pitchFamily="2" charset="-122"/>
              </a:rPr>
              <a:t>3D</a:t>
            </a:r>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打印灯罩的结构设计，证明了合理的材料选择和结构设计对灯罩光影效果的重要性</a:t>
            </a:r>
            <a:r>
              <a:rPr lang="en-US" altLang="zh-CN" sz="1800" b="0" dirty="0">
                <a:solidFill>
                  <a:schemeClr val="tx1"/>
                </a:solidFill>
                <a:latin typeface="宋体" panose="02010600030101010101" pitchFamily="2" charset="-122"/>
                <a:ea typeface="宋体" panose="02010600030101010101" pitchFamily="2" charset="-122"/>
                <a:cs typeface="宋体" panose="02010600030101010101" pitchFamily="2" charset="-122"/>
              </a:rPr>
              <a:t>[8]</a:t>
            </a:r>
            <a:r>
              <a:rPr lang="zh-CN"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p:transition spd="med"/>
</p:sld>
</file>

<file path=ppt/theme/theme1.xml><?xml version="1.0" encoding="utf-8"?>
<a:theme xmlns:a="http://schemas.openxmlformats.org/drawingml/2006/main" name="计算机与信息学院本科毕业设计中期检查">
  <a:themeElements>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zdy">
      <a:majorFont>
        <a:latin typeface="Verdana"/>
        <a:ea typeface="黑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812800" marR="0" indent="-812800" algn="ctr" defTabSz="914400" rtl="0" eaLnBrk="1" fontAlgn="base" latinLnBrk="0" hangingPunct="1">
          <a:lnSpc>
            <a:spcPct val="150000"/>
          </a:lnSpc>
          <a:spcBef>
            <a:spcPct val="20000"/>
          </a:spcBef>
          <a:spcAft>
            <a:spcPct val="0"/>
          </a:spcAft>
          <a:buClr>
            <a:schemeClr val="tx1"/>
          </a:buClr>
          <a:buSzTx/>
          <a:buFont typeface="Wingdings" panose="05000000000000000000" pitchFamily="2" charset="2"/>
          <a:buNone/>
          <a:defRPr kumimoji="0" lang="zh-CN" altLang="en-US" sz="5200" b="1" i="0" u="none" strike="noStrike" cap="none" normalizeH="0" baseline="0" smtClean="0">
            <a:ln>
              <a:noFill/>
            </a:ln>
            <a:solidFill>
              <a:srgbClr val="CC3300"/>
            </a:solidFill>
            <a:effectLst/>
            <a:latin typeface="Times New Roman" panose="02020603050405020304" pitchFamily="18" charset="0"/>
            <a:ea typeface="华文新魏" panose="020108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812800" marR="0" indent="-812800" algn="ctr" defTabSz="914400" rtl="0" eaLnBrk="1" fontAlgn="base" latinLnBrk="0" hangingPunct="1">
          <a:lnSpc>
            <a:spcPct val="150000"/>
          </a:lnSpc>
          <a:spcBef>
            <a:spcPct val="20000"/>
          </a:spcBef>
          <a:spcAft>
            <a:spcPct val="0"/>
          </a:spcAft>
          <a:buClr>
            <a:schemeClr val="tx1"/>
          </a:buClr>
          <a:buSzTx/>
          <a:buFont typeface="Wingdings" panose="05000000000000000000" pitchFamily="2" charset="2"/>
          <a:buNone/>
          <a:defRPr kumimoji="0" lang="zh-CN" altLang="en-US" sz="5200" b="1" i="0" u="none" strike="noStrike" cap="none" normalizeH="0" baseline="0" smtClean="0">
            <a:ln>
              <a:noFill/>
            </a:ln>
            <a:solidFill>
              <a:srgbClr val="CC3300"/>
            </a:solidFill>
            <a:effectLst/>
            <a:latin typeface="Times New Roman" panose="02020603050405020304" pitchFamily="18" charset="0"/>
            <a:ea typeface="华文新魏" panose="02010800040101010101" pitchFamily="2" charset="-122"/>
          </a:defRPr>
        </a:defPPr>
      </a:lstStyle>
    </a:lnDef>
  </a:objectDefaults>
  <a:extraClrSchemeLst>
    <a:extraClrScheme>
      <a:clrScheme name="zd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zd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zd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zd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zd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zd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zd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zd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计算机与信息学院本科毕业设计中期检查">
  <a:themeElements>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zdy">
      <a:majorFont>
        <a:latin typeface="Verdana"/>
        <a:ea typeface="黑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812800" marR="0" indent="-812800" algn="ctr" defTabSz="914400" rtl="0" eaLnBrk="1" fontAlgn="base" latinLnBrk="0" hangingPunct="1">
          <a:lnSpc>
            <a:spcPct val="150000"/>
          </a:lnSpc>
          <a:spcBef>
            <a:spcPct val="20000"/>
          </a:spcBef>
          <a:spcAft>
            <a:spcPct val="0"/>
          </a:spcAft>
          <a:buClr>
            <a:schemeClr val="tx1"/>
          </a:buClr>
          <a:buSzTx/>
          <a:buFont typeface="Wingdings" panose="05000000000000000000" pitchFamily="2" charset="2"/>
          <a:buNone/>
          <a:defRPr kumimoji="0" lang="zh-CN" altLang="en-US" sz="5200" b="1" i="0" u="none" strike="noStrike" cap="none" normalizeH="0" baseline="0" smtClean="0">
            <a:ln>
              <a:noFill/>
            </a:ln>
            <a:solidFill>
              <a:srgbClr val="CC3300"/>
            </a:solidFill>
            <a:effectLst/>
            <a:latin typeface="Times New Roman" panose="02020603050405020304" pitchFamily="18" charset="0"/>
            <a:ea typeface="华文新魏" panose="020108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812800" marR="0" indent="-812800" algn="ctr" defTabSz="914400" rtl="0" eaLnBrk="1" fontAlgn="base" latinLnBrk="0" hangingPunct="1">
          <a:lnSpc>
            <a:spcPct val="150000"/>
          </a:lnSpc>
          <a:spcBef>
            <a:spcPct val="20000"/>
          </a:spcBef>
          <a:spcAft>
            <a:spcPct val="0"/>
          </a:spcAft>
          <a:buClr>
            <a:schemeClr val="tx1"/>
          </a:buClr>
          <a:buSzTx/>
          <a:buFont typeface="Wingdings" panose="05000000000000000000" pitchFamily="2" charset="2"/>
          <a:buNone/>
          <a:defRPr kumimoji="0" lang="zh-CN" altLang="en-US" sz="5200" b="1" i="0" u="none" strike="noStrike" cap="none" normalizeH="0" baseline="0" smtClean="0">
            <a:ln>
              <a:noFill/>
            </a:ln>
            <a:solidFill>
              <a:srgbClr val="CC3300"/>
            </a:solidFill>
            <a:effectLst/>
            <a:latin typeface="Times New Roman" panose="02020603050405020304" pitchFamily="18" charset="0"/>
            <a:ea typeface="华文新魏" panose="02010800040101010101" pitchFamily="2" charset="-122"/>
          </a:defRPr>
        </a:defPPr>
      </a:lstStyle>
    </a:lnDef>
  </a:objectDefaults>
  <a:extraClrSchemeLst>
    <a:extraClrScheme>
      <a:clrScheme name="zd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zd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zd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zd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zd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zd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zd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zd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zd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校领导学院调研汇报200911</Template>
  <TotalTime>74</TotalTime>
  <Words>1193</Words>
  <Application>Microsoft Office PowerPoint</Application>
  <PresentationFormat>全屏显示(4:3)</PresentationFormat>
  <Paragraphs>45</Paragraphs>
  <Slides>11</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11</vt:i4>
      </vt:variant>
    </vt:vector>
  </HeadingPairs>
  <TitlesOfParts>
    <vt:vector size="19" baseType="lpstr">
      <vt:lpstr>黑体</vt:lpstr>
      <vt:lpstr>宋体</vt:lpstr>
      <vt:lpstr>Arial</vt:lpstr>
      <vt:lpstr>Times New Roman</vt:lpstr>
      <vt:lpstr>Verdana</vt:lpstr>
      <vt:lpstr>Wingdings</vt:lpstr>
      <vt:lpstr>计算机与信息学院本科毕业设计中期检查</vt:lpstr>
      <vt:lpstr>1_计算机与信息学院本科毕业设计中期检查</vt:lpstr>
      <vt:lpstr>题目：基于计算机辅助设计的文创灯罩创新研究  </vt:lpstr>
      <vt:lpstr>汇报提纲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合肥工业大学计算机与信息学院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毕业设计中期检查</dc:title>
  <dc:creator>luqiang</dc:creator>
  <cp:lastModifiedBy>maikesw D</cp:lastModifiedBy>
  <cp:revision>186</cp:revision>
  <dcterms:created xsi:type="dcterms:W3CDTF">2009-11-14T07:16:50Z</dcterms:created>
  <dcterms:modified xsi:type="dcterms:W3CDTF">2025-07-08T17:21:05Z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7F7C3136A9224D2B84F39873E1C2E668_13</vt:lpwstr>
  </property>
  <property fmtid="{D5CDD505-2E9C-101B-9397-08002B2CF9AE}" pid="3" name="KSOProductBuildVer">
    <vt:lpwstr>2052-12.1.0.21915</vt:lpwstr>
  </property>
</Properties>
</file>