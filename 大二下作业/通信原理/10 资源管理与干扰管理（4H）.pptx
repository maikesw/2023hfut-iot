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3"/>
  </p:notesMasterIdLst>
  <p:handoutMasterIdLst>
    <p:handoutMasterId r:id="rId74"/>
  </p:handoutMasterIdLst>
  <p:sldIdLst>
    <p:sldId id="256" r:id="rId2"/>
    <p:sldId id="375" r:id="rId3"/>
    <p:sldId id="380" r:id="rId4"/>
    <p:sldId id="433" r:id="rId5"/>
    <p:sldId id="431" r:id="rId6"/>
    <p:sldId id="432" r:id="rId7"/>
    <p:sldId id="416" r:id="rId8"/>
    <p:sldId id="417" r:id="rId9"/>
    <p:sldId id="418" r:id="rId10"/>
    <p:sldId id="419" r:id="rId11"/>
    <p:sldId id="473" r:id="rId12"/>
    <p:sldId id="362" r:id="rId13"/>
    <p:sldId id="364" r:id="rId14"/>
    <p:sldId id="423" r:id="rId15"/>
    <p:sldId id="421" r:id="rId16"/>
    <p:sldId id="426" r:id="rId17"/>
    <p:sldId id="427" r:id="rId18"/>
    <p:sldId id="434" r:id="rId19"/>
    <p:sldId id="258" r:id="rId20"/>
    <p:sldId id="260" r:id="rId21"/>
    <p:sldId id="428" r:id="rId22"/>
    <p:sldId id="535" r:id="rId23"/>
    <p:sldId id="317" r:id="rId24"/>
    <p:sldId id="320" r:id="rId25"/>
    <p:sldId id="271" r:id="rId26"/>
    <p:sldId id="273" r:id="rId27"/>
    <p:sldId id="278" r:id="rId28"/>
    <p:sldId id="277" r:id="rId29"/>
    <p:sldId id="373" r:id="rId30"/>
    <p:sldId id="291" r:id="rId31"/>
    <p:sldId id="290" r:id="rId32"/>
    <p:sldId id="328" r:id="rId33"/>
    <p:sldId id="329" r:id="rId34"/>
    <p:sldId id="330" r:id="rId35"/>
    <p:sldId id="331" r:id="rId36"/>
    <p:sldId id="332" r:id="rId37"/>
    <p:sldId id="333" r:id="rId38"/>
    <p:sldId id="334" r:id="rId39"/>
    <p:sldId id="335" r:id="rId40"/>
    <p:sldId id="336" r:id="rId41"/>
    <p:sldId id="337" r:id="rId42"/>
    <p:sldId id="338" r:id="rId43"/>
    <p:sldId id="534" r:id="rId44"/>
    <p:sldId id="505" r:id="rId45"/>
    <p:sldId id="506" r:id="rId46"/>
    <p:sldId id="507" r:id="rId47"/>
    <p:sldId id="508" r:id="rId48"/>
    <p:sldId id="509" r:id="rId49"/>
    <p:sldId id="510" r:id="rId50"/>
    <p:sldId id="511" r:id="rId51"/>
    <p:sldId id="512" r:id="rId52"/>
    <p:sldId id="513" r:id="rId53"/>
    <p:sldId id="514" r:id="rId54"/>
    <p:sldId id="515" r:id="rId55"/>
    <p:sldId id="516" r:id="rId56"/>
    <p:sldId id="517" r:id="rId57"/>
    <p:sldId id="518" r:id="rId58"/>
    <p:sldId id="519" r:id="rId59"/>
    <p:sldId id="520" r:id="rId60"/>
    <p:sldId id="521" r:id="rId61"/>
    <p:sldId id="522" r:id="rId62"/>
    <p:sldId id="523" r:id="rId63"/>
    <p:sldId id="524" r:id="rId64"/>
    <p:sldId id="525" r:id="rId65"/>
    <p:sldId id="526" r:id="rId66"/>
    <p:sldId id="527" r:id="rId67"/>
    <p:sldId id="528" r:id="rId68"/>
    <p:sldId id="529" r:id="rId69"/>
    <p:sldId id="530" r:id="rId70"/>
    <p:sldId id="531" r:id="rId71"/>
    <p:sldId id="532" r:id="rId72"/>
  </p:sldIdLst>
  <p:sldSz cx="9144000" cy="6858000" type="screen4x3"/>
  <p:notesSz cx="7099300" cy="10234613"/>
  <p:custDataLst>
    <p:tags r:id="rId75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/>
    <p:restoredTop sz="90369"/>
  </p:normalViewPr>
  <p:slideViewPr>
    <p:cSldViewPr showGuides="1">
      <p:cViewPr>
        <p:scale>
          <a:sx n="60" d="100"/>
          <a:sy n="60" d="100"/>
        </p:scale>
        <p:origin x="-1368" y="-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4506"/>
    </p:cViewPr>
  </p:sorterViewPr>
  <p:gridSpacing cx="45003" cy="45003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handoutMaster" Target="handoutMasters/handout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fr-FR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7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fr-FR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7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fr-FR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7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/>
          <a:p>
            <a:pPr lvl="0" algn="r" defTabSz="990600" eaLnBrk="1" fontAlgn="base" hangingPunct="1"/>
            <a:fld id="{9A0DB2DC-4C9A-4742-B13C-FB6460FD3503}" type="slidenum">
              <a:rPr lang="fr-FR" altLang="zh-CN" sz="13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fr-FR" altLang="zh-CN" sz="1300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7525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0600" y="768350"/>
            <a:ext cx="5118100" cy="38369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/>
          <a:p>
            <a:pPr lvl="0" algn="r" defTabSz="990600" eaLnBrk="1" fontAlgn="base" hangingPunct="1"/>
            <a:fld id="{9A0DB2DC-4C9A-4742-B13C-FB6460FD3503}" type="slidenum">
              <a:rPr lang="en-US" altLang="zh-CN" sz="13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z="1300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8790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3314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 anchorCtr="0"/>
          <a:lstStyle/>
          <a:p>
            <a:pPr lvl="0"/>
            <a:r>
              <a:rPr lang="en-US" altLang="zh-CN" dirty="0"/>
              <a:t>i^2 + j^2 + ij</a:t>
            </a:r>
            <a:endParaRPr lang="zh-CN" altLang="en-US" dirty="0"/>
          </a:p>
        </p:txBody>
      </p:sp>
      <p:sp>
        <p:nvSpPr>
          <p:cNvPr id="1331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 defTabSz="990600"/>
            <a:fld id="{9A0DB2DC-4C9A-4742-B13C-FB6460FD3503}" type="slidenum">
              <a:rPr lang="en-US" altLang="zh-CN" sz="1300" dirty="0">
                <a:latin typeface="Arial" panose="020B0604020202020204" pitchFamily="34" charset="0"/>
              </a:rPr>
              <a:t>9</a:t>
            </a:fld>
            <a:endParaRPr lang="en-US" altLang="zh-CN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 anchorCtr="0"/>
          <a:lstStyle/>
          <a:p>
            <a:pPr lvl="0"/>
            <a:r>
              <a:rPr lang="en-US" altLang="zh-CN" dirty="0"/>
              <a:t>Surrey University, UK</a:t>
            </a:r>
            <a:endParaRPr lang="zh-CN" altLang="en-US" dirty="0"/>
          </a:p>
        </p:txBody>
      </p:sp>
      <p:sp>
        <p:nvSpPr>
          <p:cNvPr id="2048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 defTabSz="990600"/>
            <a:fld id="{9A0DB2DC-4C9A-4742-B13C-FB6460FD3503}" type="slidenum">
              <a:rPr lang="en-US" altLang="zh-CN" sz="1300" dirty="0">
                <a:latin typeface="Arial" panose="020B0604020202020204" pitchFamily="34" charset="0"/>
              </a:rPr>
              <a:t>15</a:t>
            </a:fld>
            <a:endParaRPr lang="en-US" altLang="zh-CN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 anchorCtr="0"/>
          <a:lstStyle/>
          <a:p>
            <a:pPr lvl="0"/>
            <a:r>
              <a:rPr lang="zh-CN" altLang="en-US" dirty="0"/>
              <a:t>关于干扰协调的研究成果，都有可能应用于以其他目标为主的资源分配方案中。</a:t>
            </a:r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 defTabSz="990600"/>
            <a:fld id="{9A0DB2DC-4C9A-4742-B13C-FB6460FD3503}" type="slidenum">
              <a:rPr lang="en-US" altLang="zh-CN" sz="1300" dirty="0">
                <a:latin typeface="Arial" panose="020B0604020202020204" pitchFamily="34" charset="0"/>
              </a:rPr>
              <a:t>16</a:t>
            </a:fld>
            <a:endParaRPr lang="en-US" altLang="zh-CN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2457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 anchorCtr="0"/>
          <a:lstStyle/>
          <a:p>
            <a:pPr lvl="0"/>
            <a:r>
              <a:rPr lang="zh-CN" altLang="en-US" dirty="0"/>
              <a:t>比如：干扰对齐与干扰协调的跨层联合优化</a:t>
            </a:r>
          </a:p>
        </p:txBody>
      </p:sp>
      <p:sp>
        <p:nvSpPr>
          <p:cNvPr id="2457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 defTabSz="990600"/>
            <a:fld id="{9A0DB2DC-4C9A-4742-B13C-FB6460FD3503}" type="slidenum">
              <a:rPr lang="en-US" altLang="zh-CN" sz="1300" dirty="0">
                <a:latin typeface="Arial" panose="020B0604020202020204" pitchFamily="34" charset="0"/>
              </a:rPr>
              <a:t>17</a:t>
            </a:fld>
            <a:endParaRPr lang="en-US" altLang="zh-CN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2770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 anchorCtr="0"/>
          <a:lstStyle/>
          <a:p>
            <a:pPr lvl="0"/>
            <a:endParaRPr lang="zh-CN" altLang="en-US" dirty="0"/>
          </a:p>
        </p:txBody>
      </p:sp>
      <p:sp>
        <p:nvSpPr>
          <p:cNvPr id="3277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 defTabSz="990600"/>
            <a:fld id="{9A0DB2DC-4C9A-4742-B13C-FB6460FD3503}" type="slidenum">
              <a:rPr lang="en-US" altLang="zh-CN" sz="1300" dirty="0">
                <a:latin typeface="Arial" panose="020B0604020202020204" pitchFamily="34" charset="0"/>
              </a:rPr>
              <a:t>25</a:t>
            </a:fld>
            <a:endParaRPr lang="en-US" altLang="zh-CN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481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 anchorCtr="0"/>
          <a:lstStyle/>
          <a:p>
            <a:pPr lvl="0"/>
            <a:r>
              <a:rPr lang="en-US" altLang="zh-CN" dirty="0"/>
              <a:t>Rizwan and Raymond</a:t>
            </a:r>
            <a:endParaRPr lang="zh-CN" altLang="en-US" dirty="0"/>
          </a:p>
        </p:txBody>
      </p:sp>
      <p:sp>
        <p:nvSpPr>
          <p:cNvPr id="348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 defTabSz="990600"/>
            <a:fld id="{9A0DB2DC-4C9A-4742-B13C-FB6460FD3503}" type="slidenum">
              <a:rPr lang="en-US" altLang="zh-CN" sz="1300" dirty="0">
                <a:latin typeface="Arial" panose="020B0604020202020204" pitchFamily="34" charset="0"/>
              </a:rPr>
              <a:t>26</a:t>
            </a:fld>
            <a:endParaRPr lang="en-US" altLang="zh-CN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5529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 anchorCtr="0"/>
          <a:lstStyle/>
          <a:p>
            <a:pPr lvl="0"/>
            <a:endParaRPr lang="zh-CN" altLang="en-US" dirty="0"/>
          </a:p>
        </p:txBody>
      </p:sp>
      <p:sp>
        <p:nvSpPr>
          <p:cNvPr id="5529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 defTabSz="990600"/>
            <a:fld id="{9A0DB2DC-4C9A-4742-B13C-FB6460FD3503}" type="slidenum">
              <a:rPr lang="en-US" altLang="zh-CN" sz="1300" dirty="0">
                <a:latin typeface="Arial" panose="020B0604020202020204" pitchFamily="34" charset="0"/>
              </a:rPr>
              <a:t>46</a:t>
            </a:fld>
            <a:endParaRPr lang="en-US" altLang="zh-CN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58370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 anchorCtr="0"/>
          <a:lstStyle/>
          <a:p>
            <a:pPr lvl="0"/>
            <a:endParaRPr lang="zh-CN" altLang="en-US" dirty="0"/>
          </a:p>
        </p:txBody>
      </p:sp>
      <p:sp>
        <p:nvSpPr>
          <p:cNvPr id="5837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 defTabSz="990600"/>
            <a:fld id="{9A0DB2DC-4C9A-4742-B13C-FB6460FD3503}" type="slidenum">
              <a:rPr lang="en-US" altLang="zh-CN" sz="1300" dirty="0">
                <a:latin typeface="Arial" panose="020B0604020202020204" pitchFamily="34" charset="0"/>
              </a:rPr>
              <a:t>48</a:t>
            </a:fld>
            <a:endParaRPr lang="en-US" altLang="zh-CN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63490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 anchorCtr="0"/>
          <a:lstStyle/>
          <a:p>
            <a:pPr lvl="0"/>
            <a:r>
              <a:rPr lang="zh-CN" altLang="en-US" dirty="0"/>
              <a:t>校徽！！！！</a:t>
            </a:r>
          </a:p>
        </p:txBody>
      </p:sp>
      <p:sp>
        <p:nvSpPr>
          <p:cNvPr id="6349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 defTabSz="990600"/>
            <a:fld id="{9A0DB2DC-4C9A-4742-B13C-FB6460FD3503}" type="slidenum">
              <a:rPr lang="en-US" altLang="zh-CN" sz="1300" dirty="0">
                <a:latin typeface="Arial" panose="020B0604020202020204" pitchFamily="34" charset="0"/>
              </a:rPr>
              <a:t>52</a:t>
            </a:fld>
            <a:endParaRPr lang="en-US" altLang="zh-CN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6553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 anchorCtr="0"/>
          <a:lstStyle/>
          <a:p>
            <a:pPr lvl="0"/>
            <a:r>
              <a:rPr lang="zh-CN" altLang="en-US" dirty="0"/>
              <a:t>校徽！！！！</a:t>
            </a:r>
          </a:p>
        </p:txBody>
      </p:sp>
      <p:sp>
        <p:nvSpPr>
          <p:cNvPr id="6553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 defTabSz="990600"/>
            <a:fld id="{9A0DB2DC-4C9A-4742-B13C-FB6460FD3503}" type="slidenum">
              <a:rPr lang="en-US" altLang="zh-CN" sz="1300" dirty="0">
                <a:latin typeface="Arial" panose="020B0604020202020204" pitchFamily="34" charset="0"/>
              </a:rPr>
              <a:t>53</a:t>
            </a:fld>
            <a:endParaRPr lang="en-US" altLang="zh-CN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67586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 anchorCtr="0"/>
          <a:lstStyle/>
          <a:p>
            <a:pPr lvl="0"/>
            <a:r>
              <a:rPr lang="zh-CN" altLang="en-US" dirty="0"/>
              <a:t>校徽！！！！</a:t>
            </a:r>
          </a:p>
        </p:txBody>
      </p:sp>
      <p:sp>
        <p:nvSpPr>
          <p:cNvPr id="6758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 defTabSz="990600"/>
            <a:fld id="{9A0DB2DC-4C9A-4742-B13C-FB6460FD3503}" type="slidenum">
              <a:rPr lang="en-US" altLang="zh-CN" sz="1300" dirty="0">
                <a:latin typeface="Arial" panose="020B0604020202020204" pitchFamily="34" charset="0"/>
              </a:rPr>
              <a:t>54</a:t>
            </a:fld>
            <a:endParaRPr lang="en-US" altLang="zh-CN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69634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 anchorCtr="0"/>
          <a:lstStyle/>
          <a:p>
            <a:pPr lvl="0"/>
            <a:r>
              <a:rPr lang="zh-CN" altLang="en-US" dirty="0"/>
              <a:t>校徽！！！！</a:t>
            </a:r>
          </a:p>
        </p:txBody>
      </p:sp>
      <p:sp>
        <p:nvSpPr>
          <p:cNvPr id="6963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 defTabSz="990600"/>
            <a:fld id="{9A0DB2DC-4C9A-4742-B13C-FB6460FD3503}" type="slidenum">
              <a:rPr lang="en-US" altLang="zh-CN" sz="1300" dirty="0">
                <a:latin typeface="Arial" panose="020B0604020202020204" pitchFamily="34" charset="0"/>
              </a:rPr>
              <a:t>55</a:t>
            </a:fld>
            <a:endParaRPr lang="en-US" altLang="zh-CN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华文行楷" panose="02010800040101010101" pitchFamily="2" charset="-122"/>
                <a:ea typeface="华文行楷" panose="02010800040101010101" pitchFamily="2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latin typeface="华文行楷" panose="02010800040101010101" pitchFamily="2" charset="-122"/>
                <a:ea typeface="华文行楷" panose="02010800040101010101" pitchFamily="2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546" y="1448780"/>
            <a:ext cx="8492830" cy="4905545"/>
          </a:xfrm>
        </p:spPr>
        <p:txBody>
          <a:bodyPr>
            <a:normAutofit/>
          </a:bodyPr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rmAutofit/>
          </a:bodyPr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9" y="214313"/>
            <a:ext cx="6886446" cy="919162"/>
          </a:xfrm>
        </p:spPr>
        <p:txBody>
          <a:bodyPr>
            <a:normAutofit/>
          </a:bodyPr>
          <a:lstStyle>
            <a:lvl1pPr>
              <a:defRPr sz="4800">
                <a:latin typeface="华文行楷" panose="02010800040101010101" pitchFamily="2" charset="-122"/>
                <a:ea typeface="华文行楷" panose="02010800040101010101" pitchFamily="2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540" y="1403775"/>
            <a:ext cx="4050450" cy="499555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2010" y="1403775"/>
            <a:ext cx="4307365" cy="499555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59600" y="214313"/>
            <a:ext cx="2009775" cy="6643687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27100" y="214313"/>
            <a:ext cx="5880100" cy="664368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919162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27100" y="1223963"/>
            <a:ext cx="3944938" cy="563403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24438" y="1223963"/>
            <a:ext cx="3944937" cy="563403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919162"/>
          </a:xfrm>
        </p:spPr>
        <p:txBody>
          <a:bodyPr>
            <a:normAutofit/>
          </a:bodyPr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27100" y="1223963"/>
            <a:ext cx="8042275" cy="5634037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200900" cy="91916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 dirty="0"/>
              <a:t>通信原理</a:t>
            </a:r>
            <a:r>
              <a:rPr lang="en-US" altLang="zh-CN" dirty="0"/>
              <a:t>(</a:t>
            </a:r>
            <a:r>
              <a:rPr lang="zh-CN" altLang="en-US" dirty="0"/>
              <a:t>王禄生</a:t>
            </a:r>
            <a:r>
              <a:rPr lang="en-US" altLang="zh-CN" dirty="0"/>
              <a:t>)</a:t>
            </a:r>
          </a:p>
        </p:txBody>
      </p:sp>
      <p:sp>
        <p:nvSpPr>
          <p:cNvPr id="1027" name="Rectangle 10"/>
          <p:cNvSpPr>
            <a:spLocks noGrp="1"/>
          </p:cNvSpPr>
          <p:nvPr>
            <p:ph type="body"/>
          </p:nvPr>
        </p:nvSpPr>
        <p:spPr>
          <a:xfrm>
            <a:off x="476250" y="1449388"/>
            <a:ext cx="8493125" cy="49942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  <a:p>
            <a:pPr lvl="4" indent="-228600"/>
            <a:endParaRPr lang="en-US" altLang="zh-CN" dirty="0"/>
          </a:p>
        </p:txBody>
      </p:sp>
      <p:sp>
        <p:nvSpPr>
          <p:cNvPr id="1639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  <p:pic>
        <p:nvPicPr>
          <p:cNvPr id="1031" name="Picture 15" descr="5884230_133949003984_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6288088"/>
            <a:ext cx="2185988" cy="569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407" name="Freeform 23"/>
          <p:cNvSpPr/>
          <p:nvPr/>
        </p:nvSpPr>
        <p:spPr bwMode="auto">
          <a:xfrm>
            <a:off x="533400" y="1068388"/>
            <a:ext cx="8382000" cy="152400"/>
          </a:xfrm>
          <a:custGeom>
            <a:avLst/>
            <a:gdLst/>
            <a:ahLst/>
            <a:cxnLst>
              <a:cxn ang="0">
                <a:pos x="0" y="336"/>
              </a:cxn>
              <a:cxn ang="0">
                <a:pos x="4800" y="336"/>
              </a:cxn>
              <a:cxn ang="0">
                <a:pos x="6000" y="0"/>
              </a:cxn>
            </a:cxnLst>
            <a:rect l="0" t="0" r="r" b="b"/>
            <a:pathLst>
              <a:path w="6000" h="392">
                <a:moveTo>
                  <a:pt x="0" y="336"/>
                </a:moveTo>
                <a:cubicBezTo>
                  <a:pt x="1900" y="364"/>
                  <a:pt x="3800" y="392"/>
                  <a:pt x="4800" y="336"/>
                </a:cubicBezTo>
                <a:cubicBezTo>
                  <a:pt x="5800" y="280"/>
                  <a:pt x="5824" y="224"/>
                  <a:pt x="6000" y="0"/>
                </a:cubicBezTo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  <a:alpha val="0"/>
                </a:schemeClr>
              </a:gs>
            </a:gsLst>
            <a:lin ang="18900000" scaled="1"/>
          </a:gra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2"/>
          <p:cNvSpPr/>
          <p:nvPr/>
        </p:nvSpPr>
        <p:spPr>
          <a:xfrm>
            <a:off x="417513" y="414338"/>
            <a:ext cx="438150" cy="474662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lstStyle/>
          <a:p>
            <a:pPr lvl="0" algn="ctr"/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ltGray">
          <a:xfrm>
            <a:off x="800100" y="414338"/>
            <a:ext cx="328613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folHlink">
                  <a:gamma/>
                  <a:shade val="46275"/>
                  <a:invGamma/>
                  <a:alpha val="0"/>
                </a:scheme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Rectangle 4"/>
          <p:cNvSpPr/>
          <p:nvPr/>
        </p:nvSpPr>
        <p:spPr>
          <a:xfrm>
            <a:off x="541338" y="836613"/>
            <a:ext cx="422275" cy="474662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 wrap="none" anchor="ctr" anchorCtr="0"/>
          <a:lstStyle/>
          <a:p>
            <a:pPr lvl="0" algn="ctr"/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6" name="Rectangle 5"/>
          <p:cNvSpPr/>
          <p:nvPr/>
        </p:nvSpPr>
        <p:spPr>
          <a:xfrm>
            <a:off x="911225" y="836613"/>
            <a:ext cx="368300" cy="474662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algn="ctr"/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ltGray">
          <a:xfrm>
            <a:off x="127000" y="763588"/>
            <a:ext cx="560388" cy="422275"/>
          </a:xfrm>
          <a:prstGeom prst="rect">
            <a:avLst/>
          </a:prstGeom>
          <a:gradFill rotWithShape="0">
            <a:gsLst>
              <a:gs pos="0">
                <a:schemeClr val="hlink">
                  <a:gamma/>
                  <a:shade val="6275"/>
                  <a:invGamma/>
                  <a:alpha val="0"/>
                </a:schemeClr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8" name="Freeform 21"/>
          <p:cNvSpPr/>
          <p:nvPr/>
        </p:nvSpPr>
        <p:spPr>
          <a:xfrm>
            <a:off x="762000" y="306388"/>
            <a:ext cx="76200" cy="1143000"/>
          </a:xfrm>
          <a:custGeom>
            <a:avLst/>
            <a:gdLst/>
            <a:ahLst/>
            <a:cxnLst>
              <a:cxn ang="0">
                <a:pos x="48" y="0"/>
              </a:cxn>
              <a:cxn ang="0">
                <a:pos x="0" y="672"/>
              </a:cxn>
            </a:cxnLst>
            <a:rect l="0" t="0" r="0" b="0"/>
            <a:pathLst>
              <a:path w="48" h="672">
                <a:moveTo>
                  <a:pt x="48" y="0"/>
                </a:moveTo>
                <a:cubicBezTo>
                  <a:pt x="44" y="276"/>
                  <a:pt x="40" y="552"/>
                  <a:pt x="0" y="672"/>
                </a:cubicBezTo>
              </a:path>
            </a:pathLst>
          </a:custGeom>
          <a:solidFill>
            <a:srgbClr val="6C735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9" name="Freeform 22"/>
          <p:cNvSpPr/>
          <p:nvPr/>
        </p:nvSpPr>
        <p:spPr>
          <a:xfrm flipH="1">
            <a:off x="838200" y="306388"/>
            <a:ext cx="76200" cy="1143000"/>
          </a:xfrm>
          <a:custGeom>
            <a:avLst/>
            <a:gdLst/>
            <a:ahLst/>
            <a:cxnLst>
              <a:cxn ang="0">
                <a:pos x="48" y="0"/>
              </a:cxn>
              <a:cxn ang="0">
                <a:pos x="0" y="672"/>
              </a:cxn>
            </a:cxnLst>
            <a:rect l="0" t="0" r="0" b="0"/>
            <a:pathLst>
              <a:path w="48" h="672">
                <a:moveTo>
                  <a:pt x="48" y="0"/>
                </a:moveTo>
                <a:cubicBezTo>
                  <a:pt x="44" y="276"/>
                  <a:pt x="40" y="552"/>
                  <a:pt x="0" y="672"/>
                </a:cubicBezTo>
              </a:path>
            </a:pathLst>
          </a:custGeom>
          <a:solidFill>
            <a:srgbClr val="6C735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2"/>
          </a:solidFill>
          <a:latin typeface="华文行楷" panose="02010800040101010101" pitchFamily="2" charset="-122"/>
          <a:ea typeface="华文行楷" panose="020108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2"/>
          </a:solidFill>
          <a:latin typeface="华文行楷" panose="02010800040101010101" pitchFamily="2" charset="-122"/>
          <a:ea typeface="华文行楷" panose="020108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2"/>
          </a:solidFill>
          <a:latin typeface="华文行楷" panose="02010800040101010101" pitchFamily="2" charset="-122"/>
          <a:ea typeface="华文行楷" panose="020108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2"/>
          </a:solidFill>
          <a:latin typeface="华文行楷" panose="02010800040101010101" pitchFamily="2" charset="-122"/>
          <a:ea typeface="华文行楷" panose="020108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2"/>
          </a:solidFill>
          <a:latin typeface="华文行楷" panose="02010800040101010101" pitchFamily="2" charset="-122"/>
          <a:ea typeface="华文行楷" panose="0201080004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l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p"/>
        <a:defRPr sz="22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Ø"/>
        <a:defRPr sz="22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Ø"/>
        <a:defRPr sz="2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Ø"/>
        <a:defRPr sz="2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Ø"/>
        <a:defRPr sz="2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Ø"/>
        <a:defRPr sz="2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7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30.emf"/><Relationship Id="rId12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33.png"/><Relationship Id="rId5" Type="http://schemas.openxmlformats.org/officeDocument/2006/relationships/image" Target="../media/image29.emf"/><Relationship Id="rId10" Type="http://schemas.openxmlformats.org/officeDocument/2006/relationships/image" Target="../media/image32.png"/><Relationship Id="rId4" Type="http://schemas.openxmlformats.org/officeDocument/2006/relationships/oleObject" Target="../embeddings/oleObject5.bin"/><Relationship Id="rId9" Type="http://schemas.openxmlformats.org/officeDocument/2006/relationships/image" Target="../media/image31.em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7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4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 anchorCtr="0"/>
          <a:lstStyle/>
          <a:p>
            <a:pPr>
              <a:buClrTx/>
              <a:buSzTx/>
              <a:buFontTx/>
            </a:pPr>
            <a:r>
              <a:rPr lang="zh-CN" altLang="en-US" sz="4400" dirty="0" smtClean="0"/>
              <a:t>通信系统中的资源管理</a:t>
            </a:r>
            <a:r>
              <a:rPr lang="en-US" altLang="zh-CN" sz="4400" dirty="0" smtClean="0"/>
              <a:t/>
            </a:r>
            <a:br>
              <a:rPr lang="en-US" altLang="zh-CN" sz="4400" dirty="0" smtClean="0"/>
            </a:br>
            <a:r>
              <a:rPr lang="zh-CN" altLang="en-US" sz="4400" dirty="0" smtClean="0"/>
              <a:t>与干扰</a:t>
            </a:r>
            <a:r>
              <a:rPr lang="zh-CN" altLang="en-US" sz="4400" dirty="0"/>
              <a:t>管理</a:t>
            </a:r>
          </a:p>
        </p:txBody>
      </p:sp>
      <p:sp>
        <p:nvSpPr>
          <p:cNvPr id="4098" name="Rectangle 5"/>
          <p:cNvSpPr>
            <a:spLocks noGrp="1"/>
          </p:cNvSpPr>
          <p:nvPr>
            <p:ph type="subTitle" idx="1"/>
          </p:nvPr>
        </p:nvSpPr>
        <p:spPr/>
        <p:txBody>
          <a:bodyPr vert="horz" wrap="square" lIns="91440" tIns="45720" rIns="91440" bIns="45720" anchor="t" anchorCtr="0"/>
          <a:lstStyle/>
          <a:p>
            <a:pPr>
              <a:buSzPct val="60000"/>
            </a:pPr>
            <a:r>
              <a:rPr lang="zh-CN" altLang="en-US" dirty="0"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王禄生（</a:t>
            </a:r>
            <a:r>
              <a:rPr lang="en-US" altLang="zh-CN" dirty="0"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wanglusheng@hfut.edu.cn</a:t>
            </a:r>
            <a:r>
              <a:rPr lang="zh-CN" altLang="en-US" dirty="0"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）</a:t>
            </a:r>
            <a:endParaRPr lang="en-US" altLang="zh-CN" dirty="0"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>
              <a:buSzPct val="60000"/>
            </a:pPr>
            <a:r>
              <a:rPr lang="zh-CN" altLang="en-US" dirty="0"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合肥工业大学</a:t>
            </a:r>
            <a:r>
              <a:rPr lang="en-US" altLang="zh-CN" dirty="0"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  </a:t>
            </a:r>
            <a:r>
              <a:rPr lang="zh-CN" altLang="en-US" dirty="0"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计算机与信息学院</a:t>
            </a:r>
            <a:endParaRPr lang="en-US" altLang="zh-CN" dirty="0"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蜂窝的久远历史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905375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移动通信最早采用的体制是单基站的大区制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覆盖半径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30-50km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天线高度为几十米至百余米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1947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年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12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月，贝尔实验室的科学家</a:t>
            </a:r>
            <a:r>
              <a:rPr kumimoji="0" lang="en-US" altLang="zh-CN" sz="32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D.H.Ring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在内部刊物上发表了一篇论文“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Mobile telephony – wide area coverage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”，该文提出了蜂窝通信的几个重要概念，包括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小功率发射机、六边形拓扑、频率复用、切换等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1967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年，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AT&amp;T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推出汽车蜂窝电话系统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1974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年，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Motorola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制成世界上第一部蜂窝移动电话手机，当时重量为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公斤左右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1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2</a:t>
            </a:fld>
            <a:endParaRPr lang="en-US" altLang="zh-CN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正六边形蜂窝</a:t>
            </a:r>
          </a:p>
        </p:txBody>
      </p:sp>
      <p:sp>
        <p:nvSpPr>
          <p:cNvPr id="6146" name="Rectangle 3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905375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正六边形是能够无缝覆盖整个平面，且最接近圆形的图形</a:t>
            </a:r>
            <a:endParaRPr lang="en-US" altLang="zh-CN" dirty="0"/>
          </a:p>
          <a:p>
            <a:r>
              <a:rPr lang="zh-CN" altLang="en-US" dirty="0"/>
              <a:t>能无缝覆盖平面的无非是正三角形、正方形、正六边形</a:t>
            </a:r>
          </a:p>
        </p:txBody>
      </p:sp>
      <p:sp>
        <p:nvSpPr>
          <p:cNvPr id="614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3</a:t>
            </a:fld>
            <a:endParaRPr lang="en-US" altLang="zh-CN" sz="1400" dirty="0"/>
          </a:p>
        </p:txBody>
      </p:sp>
      <p:grpSp>
        <p:nvGrpSpPr>
          <p:cNvPr id="6148" name="Group 21"/>
          <p:cNvGrpSpPr/>
          <p:nvPr/>
        </p:nvGrpSpPr>
        <p:grpSpPr>
          <a:xfrm>
            <a:off x="552450" y="3556000"/>
            <a:ext cx="3657600" cy="2628900"/>
            <a:chOff x="1560" y="1728"/>
            <a:chExt cx="2400" cy="1644"/>
          </a:xfrm>
        </p:grpSpPr>
        <p:grpSp>
          <p:nvGrpSpPr>
            <p:cNvPr id="6149" name="Group 16"/>
            <p:cNvGrpSpPr/>
            <p:nvPr/>
          </p:nvGrpSpPr>
          <p:grpSpPr>
            <a:xfrm>
              <a:off x="2040" y="1728"/>
              <a:ext cx="1920" cy="1644"/>
              <a:chOff x="780" y="1632"/>
              <a:chExt cx="1920" cy="1644"/>
            </a:xfrm>
          </p:grpSpPr>
          <p:grpSp>
            <p:nvGrpSpPr>
              <p:cNvPr id="6150" name="Group 7"/>
              <p:cNvGrpSpPr/>
              <p:nvPr/>
            </p:nvGrpSpPr>
            <p:grpSpPr>
              <a:xfrm>
                <a:off x="1656" y="2304"/>
                <a:ext cx="1044" cy="972"/>
                <a:chOff x="1092" y="1536"/>
                <a:chExt cx="1044" cy="972"/>
              </a:xfrm>
            </p:grpSpPr>
            <p:sp>
              <p:nvSpPr>
                <p:cNvPr id="6151" name="Oval 4"/>
                <p:cNvSpPr/>
                <p:nvPr/>
              </p:nvSpPr>
              <p:spPr>
                <a:xfrm>
                  <a:off x="1104" y="1980"/>
                  <a:ext cx="600" cy="528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52" name="Oval 5"/>
                <p:cNvSpPr/>
                <p:nvPr/>
              </p:nvSpPr>
              <p:spPr>
                <a:xfrm>
                  <a:off x="1536" y="1752"/>
                  <a:ext cx="600" cy="528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53" name="Oval 6"/>
                <p:cNvSpPr/>
                <p:nvPr/>
              </p:nvSpPr>
              <p:spPr>
                <a:xfrm>
                  <a:off x="1092" y="1536"/>
                  <a:ext cx="600" cy="528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6154" name="Group 8"/>
              <p:cNvGrpSpPr/>
              <p:nvPr/>
            </p:nvGrpSpPr>
            <p:grpSpPr>
              <a:xfrm>
                <a:off x="1188" y="1632"/>
                <a:ext cx="1044" cy="972"/>
                <a:chOff x="1092" y="1536"/>
                <a:chExt cx="1044" cy="972"/>
              </a:xfrm>
            </p:grpSpPr>
            <p:sp>
              <p:nvSpPr>
                <p:cNvPr id="6155" name="Oval 9"/>
                <p:cNvSpPr/>
                <p:nvPr/>
              </p:nvSpPr>
              <p:spPr>
                <a:xfrm>
                  <a:off x="1104" y="1980"/>
                  <a:ext cx="600" cy="528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56" name="Oval 10"/>
                <p:cNvSpPr/>
                <p:nvPr/>
              </p:nvSpPr>
              <p:spPr>
                <a:xfrm>
                  <a:off x="1536" y="1752"/>
                  <a:ext cx="600" cy="528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57" name="Oval 11"/>
                <p:cNvSpPr/>
                <p:nvPr/>
              </p:nvSpPr>
              <p:spPr>
                <a:xfrm>
                  <a:off x="1092" y="1536"/>
                  <a:ext cx="600" cy="528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6158" name="Group 12"/>
              <p:cNvGrpSpPr/>
              <p:nvPr/>
            </p:nvGrpSpPr>
            <p:grpSpPr>
              <a:xfrm>
                <a:off x="780" y="2304"/>
                <a:ext cx="1044" cy="972"/>
                <a:chOff x="1092" y="1536"/>
                <a:chExt cx="1044" cy="972"/>
              </a:xfrm>
            </p:grpSpPr>
            <p:sp>
              <p:nvSpPr>
                <p:cNvPr id="6159" name="Oval 13"/>
                <p:cNvSpPr/>
                <p:nvPr/>
              </p:nvSpPr>
              <p:spPr>
                <a:xfrm>
                  <a:off x="1104" y="1980"/>
                  <a:ext cx="600" cy="528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60" name="Oval 14"/>
                <p:cNvSpPr/>
                <p:nvPr/>
              </p:nvSpPr>
              <p:spPr>
                <a:xfrm>
                  <a:off x="1536" y="1752"/>
                  <a:ext cx="600" cy="528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61" name="Oval 15"/>
                <p:cNvSpPr/>
                <p:nvPr/>
              </p:nvSpPr>
              <p:spPr>
                <a:xfrm>
                  <a:off x="1092" y="1536"/>
                  <a:ext cx="600" cy="528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6162" name="Group 17"/>
            <p:cNvGrpSpPr/>
            <p:nvPr/>
          </p:nvGrpSpPr>
          <p:grpSpPr>
            <a:xfrm>
              <a:off x="1560" y="1740"/>
              <a:ext cx="1044" cy="972"/>
              <a:chOff x="1092" y="1536"/>
              <a:chExt cx="1044" cy="972"/>
            </a:xfrm>
          </p:grpSpPr>
          <p:sp>
            <p:nvSpPr>
              <p:cNvPr id="6163" name="Oval 18"/>
              <p:cNvSpPr/>
              <p:nvPr/>
            </p:nvSpPr>
            <p:spPr>
              <a:xfrm>
                <a:off x="1104" y="1980"/>
                <a:ext cx="600" cy="52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64" name="Oval 19"/>
              <p:cNvSpPr/>
              <p:nvPr/>
            </p:nvSpPr>
            <p:spPr>
              <a:xfrm>
                <a:off x="1536" y="1752"/>
                <a:ext cx="600" cy="52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65" name="Oval 20"/>
              <p:cNvSpPr/>
              <p:nvPr/>
            </p:nvSpPr>
            <p:spPr>
              <a:xfrm>
                <a:off x="1092" y="1536"/>
                <a:ext cx="600" cy="52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6166" name="Group 164"/>
          <p:cNvGrpSpPr/>
          <p:nvPr/>
        </p:nvGrpSpPr>
        <p:grpSpPr>
          <a:xfrm>
            <a:off x="5357813" y="3492500"/>
            <a:ext cx="3219450" cy="2647950"/>
            <a:chOff x="3111" y="2004"/>
            <a:chExt cx="1896" cy="1560"/>
          </a:xfrm>
        </p:grpSpPr>
        <p:grpSp>
          <p:nvGrpSpPr>
            <p:cNvPr id="6167" name="Group 23"/>
            <p:cNvGrpSpPr/>
            <p:nvPr/>
          </p:nvGrpSpPr>
          <p:grpSpPr>
            <a:xfrm>
              <a:off x="3471" y="2196"/>
              <a:ext cx="1176" cy="1032"/>
              <a:chOff x="3276" y="1716"/>
              <a:chExt cx="1176" cy="1032"/>
            </a:xfrm>
          </p:grpSpPr>
          <p:grpSp>
            <p:nvGrpSpPr>
              <p:cNvPr id="6168" name="Group 24"/>
              <p:cNvGrpSpPr/>
              <p:nvPr/>
            </p:nvGrpSpPr>
            <p:grpSpPr>
              <a:xfrm>
                <a:off x="3636" y="1716"/>
                <a:ext cx="468" cy="348"/>
                <a:chOff x="3540" y="1956"/>
                <a:chExt cx="468" cy="312"/>
              </a:xfrm>
            </p:grpSpPr>
            <p:sp>
              <p:nvSpPr>
                <p:cNvPr id="6169" name="Line 25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70" name="Line 26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71" name="Line 27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72" name="Line 28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73" name="Line 29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74" name="Line 30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175" name="Group 31"/>
              <p:cNvGrpSpPr/>
              <p:nvPr/>
            </p:nvGrpSpPr>
            <p:grpSpPr>
              <a:xfrm>
                <a:off x="3984" y="1896"/>
                <a:ext cx="468" cy="348"/>
                <a:chOff x="3540" y="1956"/>
                <a:chExt cx="468" cy="312"/>
              </a:xfrm>
            </p:grpSpPr>
            <p:sp>
              <p:nvSpPr>
                <p:cNvPr id="6176" name="Line 32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77" name="Line 33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78" name="Line 34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79" name="Line 35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80" name="Line 36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81" name="Line 37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182" name="Group 38"/>
              <p:cNvGrpSpPr/>
              <p:nvPr/>
            </p:nvGrpSpPr>
            <p:grpSpPr>
              <a:xfrm>
                <a:off x="3276" y="2208"/>
                <a:ext cx="468" cy="336"/>
                <a:chOff x="3540" y="1956"/>
                <a:chExt cx="468" cy="312"/>
              </a:xfrm>
            </p:grpSpPr>
            <p:sp>
              <p:nvSpPr>
                <p:cNvPr id="6183" name="Line 39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84" name="Line 40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85" name="Line 41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86" name="Line 42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87" name="Line 43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88" name="Line 44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189" name="Group 45"/>
              <p:cNvGrpSpPr/>
              <p:nvPr/>
            </p:nvGrpSpPr>
            <p:grpSpPr>
              <a:xfrm>
                <a:off x="3276" y="1872"/>
                <a:ext cx="468" cy="348"/>
                <a:chOff x="3540" y="1956"/>
                <a:chExt cx="468" cy="312"/>
              </a:xfrm>
            </p:grpSpPr>
            <p:sp>
              <p:nvSpPr>
                <p:cNvPr id="6190" name="Line 46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91" name="Line 47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92" name="Line 48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93" name="Line 49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94" name="Line 50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95" name="Line 51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196" name="Group 52"/>
              <p:cNvGrpSpPr/>
              <p:nvPr/>
            </p:nvGrpSpPr>
            <p:grpSpPr>
              <a:xfrm>
                <a:off x="3624" y="2052"/>
                <a:ext cx="468" cy="348"/>
                <a:chOff x="3540" y="1956"/>
                <a:chExt cx="468" cy="312"/>
              </a:xfrm>
            </p:grpSpPr>
            <p:sp>
              <p:nvSpPr>
                <p:cNvPr id="6197" name="Line 53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98" name="Line 54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99" name="Line 55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200" name="Line 56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201" name="Line 57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202" name="Line 58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203" name="Group 59"/>
              <p:cNvGrpSpPr/>
              <p:nvPr/>
            </p:nvGrpSpPr>
            <p:grpSpPr>
              <a:xfrm>
                <a:off x="3624" y="2400"/>
                <a:ext cx="468" cy="348"/>
                <a:chOff x="3540" y="1956"/>
                <a:chExt cx="468" cy="312"/>
              </a:xfrm>
            </p:grpSpPr>
            <p:sp>
              <p:nvSpPr>
                <p:cNvPr id="6204" name="Line 60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205" name="Line 61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206" name="Line 62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207" name="Line 63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208" name="Line 64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209" name="Line 65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6210" name="Group 66"/>
            <p:cNvGrpSpPr/>
            <p:nvPr/>
          </p:nvGrpSpPr>
          <p:grpSpPr>
            <a:xfrm>
              <a:off x="4167" y="2724"/>
              <a:ext cx="468" cy="348"/>
              <a:chOff x="3540" y="1956"/>
              <a:chExt cx="468" cy="312"/>
            </a:xfrm>
          </p:grpSpPr>
          <p:sp>
            <p:nvSpPr>
              <p:cNvPr id="6211" name="Line 67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12" name="Line 68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13" name="Line 69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14" name="Line 70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15" name="Line 71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16" name="Line 72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217" name="Group 73"/>
            <p:cNvGrpSpPr/>
            <p:nvPr/>
          </p:nvGrpSpPr>
          <p:grpSpPr>
            <a:xfrm>
              <a:off x="3459" y="3024"/>
              <a:ext cx="468" cy="348"/>
              <a:chOff x="3540" y="1956"/>
              <a:chExt cx="468" cy="312"/>
            </a:xfrm>
          </p:grpSpPr>
          <p:sp>
            <p:nvSpPr>
              <p:cNvPr id="6218" name="Line 74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19" name="Line 75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20" name="Line 76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21" name="Line 77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22" name="Line 78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23" name="Line 79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224" name="Group 80"/>
            <p:cNvGrpSpPr/>
            <p:nvPr/>
          </p:nvGrpSpPr>
          <p:grpSpPr>
            <a:xfrm>
              <a:off x="4179" y="3060"/>
              <a:ext cx="468" cy="348"/>
              <a:chOff x="3540" y="1956"/>
              <a:chExt cx="468" cy="312"/>
            </a:xfrm>
          </p:grpSpPr>
          <p:sp>
            <p:nvSpPr>
              <p:cNvPr id="6225" name="Line 81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26" name="Line 82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27" name="Line 83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28" name="Line 84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29" name="Line 85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30" name="Line 86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231" name="Group 87"/>
            <p:cNvGrpSpPr/>
            <p:nvPr/>
          </p:nvGrpSpPr>
          <p:grpSpPr>
            <a:xfrm>
              <a:off x="4527" y="2580"/>
              <a:ext cx="468" cy="348"/>
              <a:chOff x="3540" y="1956"/>
              <a:chExt cx="468" cy="312"/>
            </a:xfrm>
          </p:grpSpPr>
          <p:sp>
            <p:nvSpPr>
              <p:cNvPr id="6232" name="Line 88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33" name="Line 89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34" name="Line 90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35" name="Line 91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36" name="Line 92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37" name="Line 93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238" name="Group 94"/>
            <p:cNvGrpSpPr/>
            <p:nvPr/>
          </p:nvGrpSpPr>
          <p:grpSpPr>
            <a:xfrm>
              <a:off x="3819" y="3216"/>
              <a:ext cx="468" cy="348"/>
              <a:chOff x="3540" y="1956"/>
              <a:chExt cx="468" cy="312"/>
            </a:xfrm>
          </p:grpSpPr>
          <p:sp>
            <p:nvSpPr>
              <p:cNvPr id="6239" name="Line 95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40" name="Line 96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41" name="Line 97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42" name="Line 98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43" name="Line 99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44" name="Line 100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245" name="Group 101"/>
            <p:cNvGrpSpPr/>
            <p:nvPr/>
          </p:nvGrpSpPr>
          <p:grpSpPr>
            <a:xfrm>
              <a:off x="4179" y="2040"/>
              <a:ext cx="468" cy="348"/>
              <a:chOff x="3540" y="1956"/>
              <a:chExt cx="468" cy="312"/>
            </a:xfrm>
          </p:grpSpPr>
          <p:sp>
            <p:nvSpPr>
              <p:cNvPr id="6246" name="Line 102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47" name="Line 103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48" name="Line 104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49" name="Line 105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50" name="Line 106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51" name="Line 107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252" name="Group 108"/>
            <p:cNvGrpSpPr/>
            <p:nvPr/>
          </p:nvGrpSpPr>
          <p:grpSpPr>
            <a:xfrm>
              <a:off x="3483" y="2004"/>
              <a:ext cx="468" cy="348"/>
              <a:chOff x="3540" y="1956"/>
              <a:chExt cx="468" cy="312"/>
            </a:xfrm>
          </p:grpSpPr>
          <p:sp>
            <p:nvSpPr>
              <p:cNvPr id="6253" name="Line 109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54" name="Line 110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55" name="Line 111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56" name="Line 112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57" name="Line 113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58" name="Line 114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259" name="Group 115"/>
            <p:cNvGrpSpPr/>
            <p:nvPr/>
          </p:nvGrpSpPr>
          <p:grpSpPr>
            <a:xfrm>
              <a:off x="4539" y="2244"/>
              <a:ext cx="468" cy="348"/>
              <a:chOff x="3540" y="1956"/>
              <a:chExt cx="468" cy="312"/>
            </a:xfrm>
          </p:grpSpPr>
          <p:sp>
            <p:nvSpPr>
              <p:cNvPr id="6260" name="Line 116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61" name="Line 117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62" name="Line 118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63" name="Line 119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64" name="Line 120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65" name="Line 121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266" name="Group 122"/>
            <p:cNvGrpSpPr/>
            <p:nvPr/>
          </p:nvGrpSpPr>
          <p:grpSpPr>
            <a:xfrm>
              <a:off x="4527" y="2916"/>
              <a:ext cx="468" cy="348"/>
              <a:chOff x="3540" y="1956"/>
              <a:chExt cx="468" cy="312"/>
            </a:xfrm>
          </p:grpSpPr>
          <p:sp>
            <p:nvSpPr>
              <p:cNvPr id="6267" name="Line 123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68" name="Line 124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69" name="Line 125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70" name="Line 126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71" name="Line 127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72" name="Line 128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273" name="Group 143"/>
            <p:cNvGrpSpPr/>
            <p:nvPr/>
          </p:nvGrpSpPr>
          <p:grpSpPr>
            <a:xfrm>
              <a:off x="3123" y="2148"/>
              <a:ext cx="468" cy="348"/>
              <a:chOff x="3540" y="1956"/>
              <a:chExt cx="468" cy="312"/>
            </a:xfrm>
          </p:grpSpPr>
          <p:sp>
            <p:nvSpPr>
              <p:cNvPr id="6274" name="Line 144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75" name="Line 145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76" name="Line 146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77" name="Line 147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78" name="Line 148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79" name="Line 149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280" name="Group 150"/>
            <p:cNvGrpSpPr/>
            <p:nvPr/>
          </p:nvGrpSpPr>
          <p:grpSpPr>
            <a:xfrm>
              <a:off x="3111" y="2496"/>
              <a:ext cx="468" cy="348"/>
              <a:chOff x="3540" y="1956"/>
              <a:chExt cx="468" cy="312"/>
            </a:xfrm>
          </p:grpSpPr>
          <p:sp>
            <p:nvSpPr>
              <p:cNvPr id="6281" name="Line 151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82" name="Line 152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83" name="Line 153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84" name="Line 154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85" name="Line 155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86" name="Line 156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287" name="Group 157"/>
            <p:cNvGrpSpPr/>
            <p:nvPr/>
          </p:nvGrpSpPr>
          <p:grpSpPr>
            <a:xfrm>
              <a:off x="3123" y="2832"/>
              <a:ext cx="468" cy="348"/>
              <a:chOff x="3540" y="1956"/>
              <a:chExt cx="468" cy="312"/>
            </a:xfrm>
          </p:grpSpPr>
          <p:sp>
            <p:nvSpPr>
              <p:cNvPr id="6288" name="Line 158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89" name="Line 159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90" name="Line 160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91" name="Line 161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92" name="Line 162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293" name="Line 163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6294" name="Line 165"/>
          <p:cNvSpPr/>
          <p:nvPr/>
        </p:nvSpPr>
        <p:spPr>
          <a:xfrm>
            <a:off x="4210050" y="4673600"/>
            <a:ext cx="762000" cy="0"/>
          </a:xfrm>
          <a:prstGeom prst="line">
            <a:avLst/>
          </a:prstGeom>
          <a:ln w="762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频率复用（</a:t>
            </a:r>
            <a:r>
              <a:rPr lang="en-US" altLang="zh-CN" dirty="0"/>
              <a:t>Frequency Reuse</a:t>
            </a:r>
            <a:r>
              <a:rPr lang="zh-CN" altLang="en-US" dirty="0"/>
              <a:t>）</a:t>
            </a:r>
          </a:p>
        </p:txBody>
      </p:sp>
      <p:sp>
        <p:nvSpPr>
          <p:cNvPr id="7170" name="内容占位符 2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905375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如果将一个区域分成许多蜂窝，每个蜂窝根据一定规则使用某一频段，就可以在相互干扰较小的蜂窝之间使用相同频段，这就是频率复用</a:t>
            </a:r>
            <a:endParaRPr lang="en-US" altLang="zh-CN" dirty="0"/>
          </a:p>
          <a:p>
            <a:pPr lvl="1"/>
            <a:r>
              <a:rPr lang="en-US" altLang="zh-CN" i="1" dirty="0"/>
              <a:t>Reuse</a:t>
            </a:r>
            <a:r>
              <a:rPr lang="zh-CN" altLang="en-US" i="1" dirty="0"/>
              <a:t>（翻译做“再用”更清楚）</a:t>
            </a:r>
            <a:endParaRPr lang="en-US" altLang="zh-CN" i="1" dirty="0"/>
          </a:p>
          <a:p>
            <a:r>
              <a:rPr lang="en-US" altLang="zh-CN" dirty="0"/>
              <a:t>GSM</a:t>
            </a:r>
            <a:r>
              <a:rPr lang="zh-CN" altLang="en-US" dirty="0"/>
              <a:t>中的频率复用方式有：“</a:t>
            </a:r>
            <a:r>
              <a:rPr lang="en-US" altLang="zh-CN" dirty="0"/>
              <a:t>4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dirty="0"/>
              <a:t>3”</a:t>
            </a:r>
            <a:r>
              <a:rPr lang="zh-CN" altLang="en-US" dirty="0"/>
              <a:t>多重复用， “</a:t>
            </a:r>
            <a:r>
              <a:rPr lang="en-US" altLang="zh-CN" dirty="0"/>
              <a:t>3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dirty="0"/>
              <a:t>3”</a:t>
            </a:r>
            <a:r>
              <a:rPr lang="zh-CN" altLang="en-US" dirty="0"/>
              <a:t>多重复用，以及更为紧密的“</a:t>
            </a:r>
            <a:r>
              <a:rPr lang="en-US" altLang="zh-CN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dirty="0"/>
              <a:t>3”</a:t>
            </a:r>
            <a:r>
              <a:rPr lang="zh-CN" altLang="en-US" dirty="0"/>
              <a:t>复用。不同频率复用方式具有不同的复用因子</a:t>
            </a:r>
          </a:p>
          <a:p>
            <a:endParaRPr lang="en-US" altLang="zh-CN" i="1" dirty="0"/>
          </a:p>
        </p:txBody>
      </p:sp>
      <p:sp>
        <p:nvSpPr>
          <p:cNvPr id="717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4</a:t>
            </a:fld>
            <a:endParaRPr lang="en-US" altLang="zh-CN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蜂窝间干扰从何而来</a:t>
            </a:r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1535113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正是频率复用带来的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复用因子是大于等于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1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的整数，越小干扰越大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为何要频率复用？（频谱利用率提升）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</p:txBody>
      </p:sp>
      <p:sp>
        <p:nvSpPr>
          <p:cNvPr id="819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5</a:t>
            </a:fld>
            <a:endParaRPr lang="en-US" altLang="zh-CN" sz="1400" dirty="0"/>
          </a:p>
        </p:txBody>
      </p:sp>
      <p:pic>
        <p:nvPicPr>
          <p:cNvPr id="8196" name="Picture 2" descr="C:\Users\dell\Desktop\Arts2015\100 Xs Primer\资料\第7章 频率复用与干扰协调\蜂窝间干扰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738" y="3654425"/>
            <a:ext cx="4964112" cy="2041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7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33700"/>
            <a:ext cx="4076700" cy="3924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蜂窝间干扰从何而来</a:t>
            </a:r>
          </a:p>
        </p:txBody>
      </p:sp>
      <p:sp>
        <p:nvSpPr>
          <p:cNvPr id="9218" name="Rectangle 3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1530350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一般可以简单理解为来自多个蜂窝的干扰的总合</a:t>
            </a:r>
            <a:endParaRPr lang="en-US" altLang="zh-CN" dirty="0"/>
          </a:p>
        </p:txBody>
      </p:sp>
      <p:sp>
        <p:nvSpPr>
          <p:cNvPr id="92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6</a:t>
            </a:fld>
            <a:endParaRPr lang="en-US" altLang="zh-CN" sz="1400" dirty="0"/>
          </a:p>
        </p:txBody>
      </p:sp>
      <p:graphicFrame>
        <p:nvGraphicFramePr>
          <p:cNvPr id="9220" name="Object 2"/>
          <p:cNvGraphicFramePr/>
          <p:nvPr/>
        </p:nvGraphicFramePr>
        <p:xfrm>
          <a:off x="490538" y="2528888"/>
          <a:ext cx="4970462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r:id="rId3" imgW="3771900" imgH="2964180" progId="Word.Picture.8">
                  <p:embed/>
                </p:oleObj>
              </mc:Choice>
              <mc:Fallback>
                <p:oleObj r:id="rId3" imgW="3771900" imgH="2964180" progId="Word.Pictur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0538" y="2528888"/>
                        <a:ext cx="4970462" cy="3905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21" name="Group 5"/>
          <p:cNvGrpSpPr/>
          <p:nvPr/>
        </p:nvGrpSpPr>
        <p:grpSpPr>
          <a:xfrm>
            <a:off x="7002463" y="3270250"/>
            <a:ext cx="1833562" cy="1193800"/>
            <a:chOff x="2439" y="2080"/>
            <a:chExt cx="1066" cy="752"/>
          </a:xfrm>
        </p:grpSpPr>
        <p:sp>
          <p:nvSpPr>
            <p:cNvPr id="9222" name="Line 7"/>
            <p:cNvSpPr/>
            <p:nvPr/>
          </p:nvSpPr>
          <p:spPr>
            <a:xfrm>
              <a:off x="2600" y="2380"/>
              <a:ext cx="905" cy="1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223" name="Rectangle 8"/>
            <p:cNvSpPr/>
            <p:nvPr/>
          </p:nvSpPr>
          <p:spPr>
            <a:xfrm>
              <a:off x="2845" y="2448"/>
              <a:ext cx="22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4000" dirty="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å</a:t>
              </a:r>
              <a:endParaRPr lang="en-US" altLang="zh-CN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24" name="Rectangle 9"/>
            <p:cNvSpPr/>
            <p:nvPr/>
          </p:nvSpPr>
          <p:spPr>
            <a:xfrm>
              <a:off x="2439" y="2242"/>
              <a:ext cx="1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600" dirty="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=</a:t>
              </a:r>
              <a:endParaRPr lang="en-US" altLang="zh-CN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25" name="Rectangle 11"/>
            <p:cNvSpPr/>
            <p:nvPr/>
          </p:nvSpPr>
          <p:spPr>
            <a:xfrm>
              <a:off x="3103" y="2210"/>
              <a:ext cx="60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1500" dirty="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_</a:t>
              </a:r>
              <a:endParaRPr lang="en-US" altLang="zh-CN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26" name="Rectangle 13"/>
            <p:cNvSpPr/>
            <p:nvPr/>
          </p:nvSpPr>
          <p:spPr>
            <a:xfrm>
              <a:off x="3238" y="2662"/>
              <a:ext cx="33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1500" i="1" dirty="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i</a:t>
              </a:r>
              <a:endParaRPr lang="en-US" altLang="zh-CN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27" name="Rectangle 14"/>
            <p:cNvSpPr/>
            <p:nvPr/>
          </p:nvSpPr>
          <p:spPr>
            <a:xfrm>
              <a:off x="3193" y="2210"/>
              <a:ext cx="172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1500" i="1" dirty="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cell</a:t>
              </a:r>
              <a:endParaRPr lang="en-US" altLang="zh-CN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28" name="Rectangle 15"/>
            <p:cNvSpPr/>
            <p:nvPr/>
          </p:nvSpPr>
          <p:spPr>
            <a:xfrm>
              <a:off x="2879" y="2210"/>
              <a:ext cx="200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1500" i="1" dirty="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own</a:t>
              </a:r>
              <a:endParaRPr lang="en-US" altLang="zh-CN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29" name="Rectangle 16"/>
            <p:cNvSpPr/>
            <p:nvPr/>
          </p:nvSpPr>
          <p:spPr>
            <a:xfrm>
              <a:off x="3090" y="2533"/>
              <a:ext cx="12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600" i="1" dirty="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P</a:t>
              </a:r>
              <a:endParaRPr lang="en-US" altLang="zh-CN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30" name="Rectangle 17"/>
            <p:cNvSpPr/>
            <p:nvPr/>
          </p:nvSpPr>
          <p:spPr>
            <a:xfrm>
              <a:off x="2790" y="2080"/>
              <a:ext cx="12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600" i="1" dirty="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P</a:t>
              </a:r>
              <a:endParaRPr lang="en-US" altLang="zh-CN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231" name="矩形 18"/>
          <p:cNvSpPr/>
          <p:nvPr/>
        </p:nvSpPr>
        <p:spPr>
          <a:xfrm>
            <a:off x="5967413" y="351948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信扰比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簇（</a:t>
            </a:r>
            <a:r>
              <a:rPr lang="en-US" altLang="zh-CN" dirty="0"/>
              <a:t>Cluster</a:t>
            </a:r>
            <a:r>
              <a:rPr lang="zh-CN" altLang="en-US" dirty="0"/>
              <a:t>）的概念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476250" y="1449388"/>
            <a:ext cx="4851400" cy="4905375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由所有不同频率的蜂窝形成的集合，组成一个簇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簇中蜂窝的个数</a:t>
            </a:r>
            <a:r>
              <a:rPr kumimoji="0" lang="en-US" altLang="zh-CN" sz="32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称为簇的尺寸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不同簇之间使用相同频段蜂窝的最小距离</a:t>
            </a:r>
            <a:r>
              <a:rPr kumimoji="0" lang="en-US" altLang="zh-CN" sz="32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称为再用距离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整个区域的覆盖可以通过簇的平移复制完成</a:t>
            </a:r>
          </a:p>
        </p:txBody>
      </p:sp>
      <p:sp>
        <p:nvSpPr>
          <p:cNvPr id="1024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7</a:t>
            </a:fld>
            <a:endParaRPr lang="en-US" altLang="zh-CN" sz="1400" dirty="0"/>
          </a:p>
        </p:txBody>
      </p:sp>
      <p:grpSp>
        <p:nvGrpSpPr>
          <p:cNvPr id="10244" name="Group 543"/>
          <p:cNvGrpSpPr/>
          <p:nvPr/>
        </p:nvGrpSpPr>
        <p:grpSpPr>
          <a:xfrm>
            <a:off x="5251450" y="1879600"/>
            <a:ext cx="3048000" cy="3935413"/>
            <a:chOff x="3180" y="1056"/>
            <a:chExt cx="1920" cy="2479"/>
          </a:xfrm>
        </p:grpSpPr>
        <p:sp>
          <p:nvSpPr>
            <p:cNvPr id="10245" name="Text Box 544"/>
            <p:cNvSpPr txBox="1"/>
            <p:nvPr/>
          </p:nvSpPr>
          <p:spPr>
            <a:xfrm>
              <a:off x="3974" y="3283"/>
              <a:ext cx="562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zh-CN" sz="2000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 </a:t>
              </a:r>
              <a:r>
                <a:rPr lang="zh-CN" altLang="en-US" sz="2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＝ </a:t>
              </a:r>
              <a:r>
                <a:rPr lang="en-US" altLang="zh-CN" sz="2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grpSp>
          <p:nvGrpSpPr>
            <p:cNvPr id="10246" name="Group 545"/>
            <p:cNvGrpSpPr/>
            <p:nvPr/>
          </p:nvGrpSpPr>
          <p:grpSpPr>
            <a:xfrm>
              <a:off x="3912" y="1752"/>
              <a:ext cx="468" cy="348"/>
              <a:chOff x="3540" y="1956"/>
              <a:chExt cx="468" cy="312"/>
            </a:xfrm>
          </p:grpSpPr>
          <p:sp>
            <p:nvSpPr>
              <p:cNvPr id="10247" name="Line 546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48" name="Line 547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49" name="Line 548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50" name="Line 549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51" name="Line 550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52" name="Line 551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0253" name="Group 552"/>
            <p:cNvGrpSpPr/>
            <p:nvPr/>
          </p:nvGrpSpPr>
          <p:grpSpPr>
            <a:xfrm>
              <a:off x="3552" y="1908"/>
              <a:ext cx="468" cy="348"/>
              <a:chOff x="3540" y="1956"/>
              <a:chExt cx="468" cy="312"/>
            </a:xfrm>
          </p:grpSpPr>
          <p:sp>
            <p:nvSpPr>
              <p:cNvPr id="10254" name="Line 553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55" name="Line 554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56" name="Line 555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57" name="Line 556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58" name="Line 557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59" name="Line 558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0260" name="Group 559"/>
            <p:cNvGrpSpPr/>
            <p:nvPr/>
          </p:nvGrpSpPr>
          <p:grpSpPr>
            <a:xfrm>
              <a:off x="3900" y="2100"/>
              <a:ext cx="468" cy="348"/>
              <a:chOff x="3540" y="1956"/>
              <a:chExt cx="468" cy="312"/>
            </a:xfrm>
          </p:grpSpPr>
          <p:sp>
            <p:nvSpPr>
              <p:cNvPr id="10261" name="Line 560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62" name="Line 561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63" name="Line 562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64" name="Line 563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65" name="Line 564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66" name="Line 565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0267" name="Group 566"/>
            <p:cNvGrpSpPr/>
            <p:nvPr/>
          </p:nvGrpSpPr>
          <p:grpSpPr>
            <a:xfrm>
              <a:off x="4260" y="1956"/>
              <a:ext cx="468" cy="348"/>
              <a:chOff x="3540" y="1956"/>
              <a:chExt cx="468" cy="312"/>
            </a:xfrm>
          </p:grpSpPr>
          <p:sp>
            <p:nvSpPr>
              <p:cNvPr id="10268" name="Line 567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69" name="Line 568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70" name="Line 569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71" name="Line 570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72" name="Line 571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73" name="Line 572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0274" name="Text Box 573"/>
            <p:cNvSpPr txBox="1"/>
            <p:nvPr/>
          </p:nvSpPr>
          <p:spPr>
            <a:xfrm>
              <a:off x="4022" y="1807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en-US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f</a:t>
              </a:r>
              <a:r>
                <a:rPr lang="en-US" altLang="en-US" sz="2000" baseline="-25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3</a:t>
              </a:r>
              <a:endParaRPr lang="en-US" altLang="zh-CN" sz="2000" dirty="0">
                <a:solidFill>
                  <a:srgbClr val="000066"/>
                </a:solidFill>
                <a:latin typeface="Tahoma" panose="020B0604030504040204" pitchFamily="34" charset="0"/>
                <a:ea typeface="仿宋_GB2312" pitchFamily="49" charset="-122"/>
              </a:endParaRPr>
            </a:p>
          </p:txBody>
        </p:sp>
        <p:sp>
          <p:nvSpPr>
            <p:cNvPr id="10275" name="Text Box 574"/>
            <p:cNvSpPr txBox="1"/>
            <p:nvPr/>
          </p:nvSpPr>
          <p:spPr>
            <a:xfrm>
              <a:off x="3686" y="1927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zh-CN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f</a:t>
              </a:r>
              <a:r>
                <a:rPr lang="en-US" altLang="zh-CN" sz="2000" baseline="-25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4</a:t>
              </a:r>
              <a:endParaRPr lang="en-US" altLang="zh-CN" sz="2000" dirty="0">
                <a:solidFill>
                  <a:srgbClr val="000066"/>
                </a:solidFill>
                <a:latin typeface="Tahoma" panose="020B0604030504040204" pitchFamily="34" charset="0"/>
                <a:ea typeface="仿宋_GB2312" pitchFamily="49" charset="-122"/>
              </a:endParaRPr>
            </a:p>
          </p:txBody>
        </p:sp>
        <p:sp>
          <p:nvSpPr>
            <p:cNvPr id="10276" name="Text Box 575"/>
            <p:cNvSpPr txBox="1"/>
            <p:nvPr/>
          </p:nvSpPr>
          <p:spPr>
            <a:xfrm>
              <a:off x="4418" y="1999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zh-CN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f</a:t>
              </a:r>
              <a:r>
                <a:rPr lang="en-US" altLang="zh-CN" sz="2000" baseline="-25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2</a:t>
              </a:r>
              <a:endParaRPr lang="en-US" altLang="zh-CN" sz="2000" dirty="0">
                <a:solidFill>
                  <a:srgbClr val="000066"/>
                </a:solidFill>
                <a:latin typeface="Tahoma" panose="020B0604030504040204" pitchFamily="34" charset="0"/>
                <a:ea typeface="仿宋_GB2312" pitchFamily="49" charset="-122"/>
              </a:endParaRPr>
            </a:p>
          </p:txBody>
        </p:sp>
        <p:sp>
          <p:nvSpPr>
            <p:cNvPr id="10277" name="Text Box 576"/>
            <p:cNvSpPr txBox="1"/>
            <p:nvPr/>
          </p:nvSpPr>
          <p:spPr>
            <a:xfrm>
              <a:off x="4034" y="2143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zh-CN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f</a:t>
              </a:r>
              <a:r>
                <a:rPr lang="en-US" altLang="zh-CN" sz="2000" baseline="-25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1</a:t>
              </a:r>
              <a:endParaRPr lang="en-US" altLang="zh-CN" sz="2000" dirty="0">
                <a:solidFill>
                  <a:srgbClr val="000066"/>
                </a:solidFill>
                <a:latin typeface="Tahoma" panose="020B0604030504040204" pitchFamily="34" charset="0"/>
                <a:ea typeface="仿宋_GB2312" pitchFamily="49" charset="-122"/>
              </a:endParaRPr>
            </a:p>
          </p:txBody>
        </p:sp>
        <p:grpSp>
          <p:nvGrpSpPr>
            <p:cNvPr id="10278" name="Group 577"/>
            <p:cNvGrpSpPr/>
            <p:nvPr/>
          </p:nvGrpSpPr>
          <p:grpSpPr>
            <a:xfrm>
              <a:off x="3912" y="2448"/>
              <a:ext cx="468" cy="348"/>
              <a:chOff x="3540" y="1956"/>
              <a:chExt cx="468" cy="312"/>
            </a:xfrm>
          </p:grpSpPr>
          <p:sp>
            <p:nvSpPr>
              <p:cNvPr id="10279" name="Line 578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80" name="Line 579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81" name="Line 580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82" name="Line 581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83" name="Line 582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84" name="Line 583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0285" name="Group 584"/>
            <p:cNvGrpSpPr/>
            <p:nvPr/>
          </p:nvGrpSpPr>
          <p:grpSpPr>
            <a:xfrm>
              <a:off x="3528" y="2592"/>
              <a:ext cx="468" cy="348"/>
              <a:chOff x="3540" y="1956"/>
              <a:chExt cx="468" cy="312"/>
            </a:xfrm>
          </p:grpSpPr>
          <p:sp>
            <p:nvSpPr>
              <p:cNvPr id="10286" name="Line 585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87" name="Line 586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88" name="Line 587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89" name="Line 588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90" name="Line 589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91" name="Line 590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0292" name="Group 591"/>
            <p:cNvGrpSpPr/>
            <p:nvPr/>
          </p:nvGrpSpPr>
          <p:grpSpPr>
            <a:xfrm>
              <a:off x="3876" y="2784"/>
              <a:ext cx="468" cy="348"/>
              <a:chOff x="3540" y="1956"/>
              <a:chExt cx="468" cy="312"/>
            </a:xfrm>
          </p:grpSpPr>
          <p:sp>
            <p:nvSpPr>
              <p:cNvPr id="10293" name="Line 592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94" name="Line 593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95" name="Line 594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96" name="Line 595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97" name="Line 596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98" name="Line 597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0299" name="Group 598"/>
            <p:cNvGrpSpPr/>
            <p:nvPr/>
          </p:nvGrpSpPr>
          <p:grpSpPr>
            <a:xfrm>
              <a:off x="4236" y="2640"/>
              <a:ext cx="468" cy="348"/>
              <a:chOff x="3540" y="1956"/>
              <a:chExt cx="468" cy="312"/>
            </a:xfrm>
          </p:grpSpPr>
          <p:sp>
            <p:nvSpPr>
              <p:cNvPr id="10300" name="Line 599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01" name="Line 600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02" name="Line 601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03" name="Line 602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04" name="Line 603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05" name="Line 604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0306" name="Text Box 605"/>
            <p:cNvSpPr txBox="1"/>
            <p:nvPr/>
          </p:nvSpPr>
          <p:spPr>
            <a:xfrm>
              <a:off x="4022" y="2503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en-US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f</a:t>
              </a:r>
              <a:r>
                <a:rPr lang="en-US" altLang="en-US" sz="2000" baseline="-25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3</a:t>
              </a:r>
              <a:endParaRPr lang="en-US" altLang="zh-CN" sz="2000" dirty="0">
                <a:solidFill>
                  <a:srgbClr val="000066"/>
                </a:solidFill>
                <a:latin typeface="Tahoma" panose="020B0604030504040204" pitchFamily="34" charset="0"/>
                <a:ea typeface="仿宋_GB2312" pitchFamily="49" charset="-122"/>
              </a:endParaRPr>
            </a:p>
          </p:txBody>
        </p:sp>
        <p:sp>
          <p:nvSpPr>
            <p:cNvPr id="10307" name="Text Box 606"/>
            <p:cNvSpPr txBox="1"/>
            <p:nvPr/>
          </p:nvSpPr>
          <p:spPr>
            <a:xfrm>
              <a:off x="3686" y="2623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zh-CN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f</a:t>
              </a:r>
              <a:r>
                <a:rPr lang="en-US" altLang="zh-CN" sz="2000" baseline="-25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4</a:t>
              </a:r>
              <a:endParaRPr lang="en-US" altLang="zh-CN" sz="2000" dirty="0">
                <a:solidFill>
                  <a:srgbClr val="000066"/>
                </a:solidFill>
                <a:latin typeface="Tahoma" panose="020B0604030504040204" pitchFamily="34" charset="0"/>
                <a:ea typeface="仿宋_GB2312" pitchFamily="49" charset="-122"/>
              </a:endParaRPr>
            </a:p>
          </p:txBody>
        </p:sp>
        <p:sp>
          <p:nvSpPr>
            <p:cNvPr id="10308" name="Text Box 607"/>
            <p:cNvSpPr txBox="1"/>
            <p:nvPr/>
          </p:nvSpPr>
          <p:spPr>
            <a:xfrm>
              <a:off x="4418" y="2695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zh-CN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f</a:t>
              </a:r>
              <a:r>
                <a:rPr lang="en-US" altLang="zh-CN" sz="2000" baseline="-25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2</a:t>
              </a:r>
              <a:endParaRPr lang="en-US" altLang="zh-CN" sz="2000" dirty="0">
                <a:solidFill>
                  <a:srgbClr val="000066"/>
                </a:solidFill>
                <a:latin typeface="Tahoma" panose="020B0604030504040204" pitchFamily="34" charset="0"/>
                <a:ea typeface="仿宋_GB2312" pitchFamily="49" charset="-122"/>
              </a:endParaRPr>
            </a:p>
          </p:txBody>
        </p:sp>
        <p:sp>
          <p:nvSpPr>
            <p:cNvPr id="10309" name="Text Box 608"/>
            <p:cNvSpPr txBox="1"/>
            <p:nvPr/>
          </p:nvSpPr>
          <p:spPr>
            <a:xfrm>
              <a:off x="4034" y="2839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zh-CN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f</a:t>
              </a:r>
              <a:r>
                <a:rPr lang="en-US" altLang="zh-CN" sz="2000" baseline="-25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1</a:t>
              </a:r>
              <a:endParaRPr lang="en-US" altLang="zh-CN" sz="2000" dirty="0">
                <a:solidFill>
                  <a:srgbClr val="000066"/>
                </a:solidFill>
                <a:latin typeface="Tahoma" panose="020B0604030504040204" pitchFamily="34" charset="0"/>
                <a:ea typeface="仿宋_GB2312" pitchFamily="49" charset="-122"/>
              </a:endParaRPr>
            </a:p>
          </p:txBody>
        </p:sp>
        <p:grpSp>
          <p:nvGrpSpPr>
            <p:cNvPr id="10310" name="Group 609"/>
            <p:cNvGrpSpPr/>
            <p:nvPr/>
          </p:nvGrpSpPr>
          <p:grpSpPr>
            <a:xfrm>
              <a:off x="3912" y="1056"/>
              <a:ext cx="468" cy="348"/>
              <a:chOff x="3540" y="1956"/>
              <a:chExt cx="468" cy="312"/>
            </a:xfrm>
          </p:grpSpPr>
          <p:sp>
            <p:nvSpPr>
              <p:cNvPr id="10311" name="Line 610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12" name="Line 611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13" name="Line 612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14" name="Line 613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15" name="Line 614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16" name="Line 615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0317" name="Group 616"/>
            <p:cNvGrpSpPr/>
            <p:nvPr/>
          </p:nvGrpSpPr>
          <p:grpSpPr>
            <a:xfrm>
              <a:off x="3552" y="1212"/>
              <a:ext cx="468" cy="348"/>
              <a:chOff x="3540" y="1956"/>
              <a:chExt cx="468" cy="312"/>
            </a:xfrm>
          </p:grpSpPr>
          <p:sp>
            <p:nvSpPr>
              <p:cNvPr id="10318" name="Line 617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19" name="Line 618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20" name="Line 619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21" name="Line 620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22" name="Line 621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23" name="Line 622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0324" name="Group 623"/>
            <p:cNvGrpSpPr/>
            <p:nvPr/>
          </p:nvGrpSpPr>
          <p:grpSpPr>
            <a:xfrm>
              <a:off x="3900" y="1404"/>
              <a:ext cx="468" cy="348"/>
              <a:chOff x="3540" y="1956"/>
              <a:chExt cx="468" cy="312"/>
            </a:xfrm>
          </p:grpSpPr>
          <p:sp>
            <p:nvSpPr>
              <p:cNvPr id="10325" name="Line 624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26" name="Line 625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27" name="Line 626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28" name="Line 627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29" name="Line 628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30" name="Line 629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0331" name="Group 630"/>
            <p:cNvGrpSpPr/>
            <p:nvPr/>
          </p:nvGrpSpPr>
          <p:grpSpPr>
            <a:xfrm>
              <a:off x="4260" y="1260"/>
              <a:ext cx="468" cy="348"/>
              <a:chOff x="3540" y="1956"/>
              <a:chExt cx="468" cy="312"/>
            </a:xfrm>
          </p:grpSpPr>
          <p:sp>
            <p:nvSpPr>
              <p:cNvPr id="10332" name="Line 631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33" name="Line 632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34" name="Line 633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35" name="Line 634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36" name="Line 635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37" name="Line 636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0338" name="Text Box 637"/>
            <p:cNvSpPr txBox="1"/>
            <p:nvPr/>
          </p:nvSpPr>
          <p:spPr>
            <a:xfrm>
              <a:off x="4022" y="1111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en-US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f</a:t>
              </a:r>
              <a:r>
                <a:rPr lang="en-US" altLang="en-US" sz="2000" baseline="-25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3</a:t>
              </a:r>
              <a:endParaRPr lang="en-US" altLang="zh-CN" sz="2000" dirty="0">
                <a:solidFill>
                  <a:srgbClr val="000066"/>
                </a:solidFill>
                <a:latin typeface="Tahoma" panose="020B0604030504040204" pitchFamily="34" charset="0"/>
                <a:ea typeface="仿宋_GB2312" pitchFamily="49" charset="-122"/>
              </a:endParaRPr>
            </a:p>
          </p:txBody>
        </p:sp>
        <p:sp>
          <p:nvSpPr>
            <p:cNvPr id="10339" name="Text Box 638"/>
            <p:cNvSpPr txBox="1"/>
            <p:nvPr/>
          </p:nvSpPr>
          <p:spPr>
            <a:xfrm>
              <a:off x="3686" y="1231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zh-CN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f</a:t>
              </a:r>
              <a:r>
                <a:rPr lang="en-US" altLang="zh-CN" sz="2000" baseline="-25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4</a:t>
              </a:r>
              <a:endParaRPr lang="en-US" altLang="zh-CN" sz="2000" dirty="0">
                <a:solidFill>
                  <a:srgbClr val="000066"/>
                </a:solidFill>
                <a:latin typeface="Tahoma" panose="020B0604030504040204" pitchFamily="34" charset="0"/>
                <a:ea typeface="仿宋_GB2312" pitchFamily="49" charset="-122"/>
              </a:endParaRPr>
            </a:p>
          </p:txBody>
        </p:sp>
        <p:sp>
          <p:nvSpPr>
            <p:cNvPr id="10340" name="Text Box 639"/>
            <p:cNvSpPr txBox="1"/>
            <p:nvPr/>
          </p:nvSpPr>
          <p:spPr>
            <a:xfrm>
              <a:off x="4418" y="1303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zh-CN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f</a:t>
              </a:r>
              <a:r>
                <a:rPr lang="en-US" altLang="zh-CN" sz="2000" baseline="-25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2</a:t>
              </a:r>
              <a:endParaRPr lang="en-US" altLang="zh-CN" sz="2000" dirty="0">
                <a:solidFill>
                  <a:srgbClr val="000066"/>
                </a:solidFill>
                <a:latin typeface="Tahoma" panose="020B0604030504040204" pitchFamily="34" charset="0"/>
                <a:ea typeface="仿宋_GB2312" pitchFamily="49" charset="-122"/>
              </a:endParaRPr>
            </a:p>
          </p:txBody>
        </p:sp>
        <p:sp>
          <p:nvSpPr>
            <p:cNvPr id="10341" name="Text Box 640"/>
            <p:cNvSpPr txBox="1"/>
            <p:nvPr/>
          </p:nvSpPr>
          <p:spPr>
            <a:xfrm>
              <a:off x="4034" y="1447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zh-CN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f</a:t>
              </a:r>
              <a:r>
                <a:rPr lang="en-US" altLang="zh-CN" sz="2000" baseline="-25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1</a:t>
              </a:r>
              <a:endParaRPr lang="en-US" altLang="zh-CN" sz="2000" dirty="0">
                <a:solidFill>
                  <a:srgbClr val="000066"/>
                </a:solidFill>
                <a:latin typeface="Tahoma" panose="020B0604030504040204" pitchFamily="34" charset="0"/>
                <a:ea typeface="仿宋_GB2312" pitchFamily="49" charset="-122"/>
              </a:endParaRPr>
            </a:p>
          </p:txBody>
        </p:sp>
        <p:grpSp>
          <p:nvGrpSpPr>
            <p:cNvPr id="10342" name="Group 641"/>
            <p:cNvGrpSpPr/>
            <p:nvPr/>
          </p:nvGrpSpPr>
          <p:grpSpPr>
            <a:xfrm>
              <a:off x="3216" y="1356"/>
              <a:ext cx="468" cy="348"/>
              <a:chOff x="3540" y="1956"/>
              <a:chExt cx="468" cy="312"/>
            </a:xfrm>
          </p:grpSpPr>
          <p:sp>
            <p:nvSpPr>
              <p:cNvPr id="10343" name="Line 642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44" name="Line 643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45" name="Line 644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46" name="Line 645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47" name="Line 646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48" name="Line 647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0349" name="Group 648"/>
            <p:cNvGrpSpPr/>
            <p:nvPr/>
          </p:nvGrpSpPr>
          <p:grpSpPr>
            <a:xfrm>
              <a:off x="3204" y="1704"/>
              <a:ext cx="468" cy="348"/>
              <a:chOff x="3540" y="1956"/>
              <a:chExt cx="468" cy="312"/>
            </a:xfrm>
          </p:grpSpPr>
          <p:sp>
            <p:nvSpPr>
              <p:cNvPr id="10350" name="Line 649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51" name="Line 650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52" name="Line 651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53" name="Line 652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54" name="Line 653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55" name="Line 654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0356" name="Group 655"/>
            <p:cNvGrpSpPr/>
            <p:nvPr/>
          </p:nvGrpSpPr>
          <p:grpSpPr>
            <a:xfrm>
              <a:off x="3564" y="1560"/>
              <a:ext cx="468" cy="348"/>
              <a:chOff x="3540" y="1956"/>
              <a:chExt cx="468" cy="312"/>
            </a:xfrm>
          </p:grpSpPr>
          <p:sp>
            <p:nvSpPr>
              <p:cNvPr id="10357" name="Line 656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58" name="Line 657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59" name="Line 658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60" name="Line 659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61" name="Line 660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62" name="Line 661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0363" name="Text Box 662"/>
            <p:cNvSpPr txBox="1"/>
            <p:nvPr/>
          </p:nvSpPr>
          <p:spPr>
            <a:xfrm>
              <a:off x="3326" y="1411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en-US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f</a:t>
              </a:r>
              <a:r>
                <a:rPr lang="en-US" altLang="en-US" sz="2000" baseline="-25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3</a:t>
              </a:r>
              <a:endParaRPr lang="en-US" altLang="zh-CN" sz="2000" dirty="0">
                <a:solidFill>
                  <a:srgbClr val="000066"/>
                </a:solidFill>
                <a:latin typeface="Tahoma" panose="020B0604030504040204" pitchFamily="34" charset="0"/>
                <a:ea typeface="仿宋_GB2312" pitchFamily="49" charset="-122"/>
              </a:endParaRPr>
            </a:p>
          </p:txBody>
        </p:sp>
        <p:sp>
          <p:nvSpPr>
            <p:cNvPr id="10364" name="Text Box 663"/>
            <p:cNvSpPr txBox="1"/>
            <p:nvPr/>
          </p:nvSpPr>
          <p:spPr>
            <a:xfrm>
              <a:off x="3722" y="1603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zh-CN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f</a:t>
              </a:r>
              <a:r>
                <a:rPr lang="en-US" altLang="zh-CN" sz="2000" baseline="-25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2</a:t>
              </a:r>
              <a:endParaRPr lang="en-US" altLang="zh-CN" sz="2000" dirty="0">
                <a:solidFill>
                  <a:srgbClr val="000066"/>
                </a:solidFill>
                <a:latin typeface="Tahoma" panose="020B0604030504040204" pitchFamily="34" charset="0"/>
                <a:ea typeface="仿宋_GB2312" pitchFamily="49" charset="-122"/>
              </a:endParaRPr>
            </a:p>
          </p:txBody>
        </p:sp>
        <p:sp>
          <p:nvSpPr>
            <p:cNvPr id="10365" name="Text Box 664"/>
            <p:cNvSpPr txBox="1"/>
            <p:nvPr/>
          </p:nvSpPr>
          <p:spPr>
            <a:xfrm>
              <a:off x="3338" y="1747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zh-CN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f</a:t>
              </a:r>
              <a:r>
                <a:rPr lang="en-US" altLang="zh-CN" sz="2000" baseline="-25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1</a:t>
              </a:r>
              <a:endParaRPr lang="en-US" altLang="zh-CN" sz="2000" dirty="0">
                <a:solidFill>
                  <a:srgbClr val="000066"/>
                </a:solidFill>
                <a:latin typeface="Tahoma" panose="020B0604030504040204" pitchFamily="34" charset="0"/>
                <a:ea typeface="仿宋_GB2312" pitchFamily="49" charset="-122"/>
              </a:endParaRPr>
            </a:p>
          </p:txBody>
        </p:sp>
        <p:grpSp>
          <p:nvGrpSpPr>
            <p:cNvPr id="10366" name="Group 665"/>
            <p:cNvGrpSpPr/>
            <p:nvPr/>
          </p:nvGrpSpPr>
          <p:grpSpPr>
            <a:xfrm>
              <a:off x="3192" y="2052"/>
              <a:ext cx="468" cy="348"/>
              <a:chOff x="3540" y="1956"/>
              <a:chExt cx="468" cy="312"/>
            </a:xfrm>
          </p:grpSpPr>
          <p:sp>
            <p:nvSpPr>
              <p:cNvPr id="10367" name="Line 666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68" name="Line 667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69" name="Line 668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70" name="Line 669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71" name="Line 670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72" name="Line 671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0373" name="Group 672"/>
            <p:cNvGrpSpPr/>
            <p:nvPr/>
          </p:nvGrpSpPr>
          <p:grpSpPr>
            <a:xfrm>
              <a:off x="3180" y="2400"/>
              <a:ext cx="468" cy="348"/>
              <a:chOff x="3540" y="1956"/>
              <a:chExt cx="468" cy="312"/>
            </a:xfrm>
          </p:grpSpPr>
          <p:sp>
            <p:nvSpPr>
              <p:cNvPr id="10374" name="Line 673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75" name="Line 674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76" name="Line 675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77" name="Line 676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78" name="Line 677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79" name="Line 678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0380" name="Group 679"/>
            <p:cNvGrpSpPr/>
            <p:nvPr/>
          </p:nvGrpSpPr>
          <p:grpSpPr>
            <a:xfrm>
              <a:off x="3540" y="2256"/>
              <a:ext cx="468" cy="348"/>
              <a:chOff x="3540" y="1956"/>
              <a:chExt cx="468" cy="312"/>
            </a:xfrm>
          </p:grpSpPr>
          <p:sp>
            <p:nvSpPr>
              <p:cNvPr id="10381" name="Line 680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82" name="Line 681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83" name="Line 682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84" name="Line 683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85" name="Line 684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86" name="Line 685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0387" name="Text Box 686"/>
            <p:cNvSpPr txBox="1"/>
            <p:nvPr/>
          </p:nvSpPr>
          <p:spPr>
            <a:xfrm>
              <a:off x="3302" y="2107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en-US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f</a:t>
              </a:r>
              <a:r>
                <a:rPr lang="en-US" altLang="en-US" sz="2000" baseline="-25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3</a:t>
              </a:r>
              <a:endParaRPr lang="en-US" altLang="zh-CN" sz="2000" dirty="0">
                <a:solidFill>
                  <a:srgbClr val="000066"/>
                </a:solidFill>
                <a:latin typeface="Tahoma" panose="020B0604030504040204" pitchFamily="34" charset="0"/>
                <a:ea typeface="仿宋_GB2312" pitchFamily="49" charset="-122"/>
              </a:endParaRPr>
            </a:p>
          </p:txBody>
        </p:sp>
        <p:sp>
          <p:nvSpPr>
            <p:cNvPr id="10388" name="Text Box 687"/>
            <p:cNvSpPr txBox="1"/>
            <p:nvPr/>
          </p:nvSpPr>
          <p:spPr>
            <a:xfrm>
              <a:off x="3698" y="2299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zh-CN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f</a:t>
              </a:r>
              <a:r>
                <a:rPr lang="en-US" altLang="zh-CN" sz="2000" baseline="-25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2</a:t>
              </a:r>
              <a:endParaRPr lang="en-US" altLang="zh-CN" sz="2000" dirty="0">
                <a:solidFill>
                  <a:srgbClr val="000066"/>
                </a:solidFill>
                <a:latin typeface="Tahoma" panose="020B0604030504040204" pitchFamily="34" charset="0"/>
                <a:ea typeface="仿宋_GB2312" pitchFamily="49" charset="-122"/>
              </a:endParaRPr>
            </a:p>
          </p:txBody>
        </p:sp>
        <p:sp>
          <p:nvSpPr>
            <p:cNvPr id="10389" name="Text Box 688"/>
            <p:cNvSpPr txBox="1"/>
            <p:nvPr/>
          </p:nvSpPr>
          <p:spPr>
            <a:xfrm>
              <a:off x="3314" y="2443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zh-CN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f</a:t>
              </a:r>
              <a:r>
                <a:rPr lang="en-US" altLang="zh-CN" sz="2000" baseline="-25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1</a:t>
              </a:r>
              <a:endParaRPr lang="en-US" altLang="zh-CN" sz="2000" dirty="0">
                <a:solidFill>
                  <a:srgbClr val="000066"/>
                </a:solidFill>
                <a:latin typeface="Tahoma" panose="020B0604030504040204" pitchFamily="34" charset="0"/>
                <a:ea typeface="仿宋_GB2312" pitchFamily="49" charset="-122"/>
              </a:endParaRPr>
            </a:p>
          </p:txBody>
        </p:sp>
        <p:grpSp>
          <p:nvGrpSpPr>
            <p:cNvPr id="10390" name="Group 689"/>
            <p:cNvGrpSpPr/>
            <p:nvPr/>
          </p:nvGrpSpPr>
          <p:grpSpPr>
            <a:xfrm>
              <a:off x="4632" y="1440"/>
              <a:ext cx="468" cy="348"/>
              <a:chOff x="3540" y="1956"/>
              <a:chExt cx="468" cy="312"/>
            </a:xfrm>
          </p:grpSpPr>
          <p:sp>
            <p:nvSpPr>
              <p:cNvPr id="10391" name="Line 690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92" name="Line 691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93" name="Line 692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94" name="Line 693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95" name="Line 694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96" name="Line 695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0397" name="Group 696"/>
            <p:cNvGrpSpPr/>
            <p:nvPr/>
          </p:nvGrpSpPr>
          <p:grpSpPr>
            <a:xfrm>
              <a:off x="4272" y="1596"/>
              <a:ext cx="468" cy="348"/>
              <a:chOff x="3540" y="1956"/>
              <a:chExt cx="468" cy="312"/>
            </a:xfrm>
          </p:grpSpPr>
          <p:sp>
            <p:nvSpPr>
              <p:cNvPr id="10398" name="Line 697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99" name="Line 698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400" name="Line 699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401" name="Line 700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402" name="Line 701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403" name="Line 702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0404" name="Group 703"/>
            <p:cNvGrpSpPr/>
            <p:nvPr/>
          </p:nvGrpSpPr>
          <p:grpSpPr>
            <a:xfrm>
              <a:off x="4620" y="1788"/>
              <a:ext cx="468" cy="348"/>
              <a:chOff x="3540" y="1956"/>
              <a:chExt cx="468" cy="312"/>
            </a:xfrm>
          </p:grpSpPr>
          <p:sp>
            <p:nvSpPr>
              <p:cNvPr id="10405" name="Line 704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406" name="Line 705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407" name="Line 706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408" name="Line 707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409" name="Line 708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410" name="Line 709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0411" name="Text Box 710"/>
            <p:cNvSpPr txBox="1"/>
            <p:nvPr/>
          </p:nvSpPr>
          <p:spPr>
            <a:xfrm>
              <a:off x="4742" y="1495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en-US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f</a:t>
              </a:r>
              <a:r>
                <a:rPr lang="en-US" altLang="en-US" sz="2000" baseline="-25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3</a:t>
              </a:r>
              <a:endParaRPr lang="en-US" altLang="zh-CN" sz="2000" dirty="0">
                <a:solidFill>
                  <a:srgbClr val="000066"/>
                </a:solidFill>
                <a:latin typeface="Tahoma" panose="020B0604030504040204" pitchFamily="34" charset="0"/>
                <a:ea typeface="仿宋_GB2312" pitchFamily="49" charset="-122"/>
              </a:endParaRPr>
            </a:p>
          </p:txBody>
        </p:sp>
        <p:sp>
          <p:nvSpPr>
            <p:cNvPr id="10412" name="Text Box 711"/>
            <p:cNvSpPr txBox="1"/>
            <p:nvPr/>
          </p:nvSpPr>
          <p:spPr>
            <a:xfrm>
              <a:off x="4406" y="1615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zh-CN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f</a:t>
              </a:r>
              <a:r>
                <a:rPr lang="en-US" altLang="zh-CN" sz="2000" baseline="-25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4</a:t>
              </a:r>
              <a:endParaRPr lang="en-US" altLang="zh-CN" sz="2000" dirty="0">
                <a:solidFill>
                  <a:srgbClr val="000066"/>
                </a:solidFill>
                <a:latin typeface="Tahoma" panose="020B0604030504040204" pitchFamily="34" charset="0"/>
                <a:ea typeface="仿宋_GB2312" pitchFamily="49" charset="-122"/>
              </a:endParaRPr>
            </a:p>
          </p:txBody>
        </p:sp>
        <p:sp>
          <p:nvSpPr>
            <p:cNvPr id="10413" name="Text Box 712"/>
            <p:cNvSpPr txBox="1"/>
            <p:nvPr/>
          </p:nvSpPr>
          <p:spPr>
            <a:xfrm>
              <a:off x="4754" y="1831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zh-CN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f</a:t>
              </a:r>
              <a:r>
                <a:rPr lang="en-US" altLang="zh-CN" sz="2000" baseline="-25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1</a:t>
              </a:r>
              <a:endParaRPr lang="en-US" altLang="zh-CN" sz="2000" dirty="0">
                <a:solidFill>
                  <a:srgbClr val="000066"/>
                </a:solidFill>
                <a:latin typeface="Tahoma" panose="020B0604030504040204" pitchFamily="34" charset="0"/>
                <a:ea typeface="仿宋_GB2312" pitchFamily="49" charset="-122"/>
              </a:endParaRPr>
            </a:p>
          </p:txBody>
        </p:sp>
        <p:grpSp>
          <p:nvGrpSpPr>
            <p:cNvPr id="10414" name="Group 713"/>
            <p:cNvGrpSpPr/>
            <p:nvPr/>
          </p:nvGrpSpPr>
          <p:grpSpPr>
            <a:xfrm>
              <a:off x="4608" y="2136"/>
              <a:ext cx="468" cy="348"/>
              <a:chOff x="3540" y="1956"/>
              <a:chExt cx="468" cy="312"/>
            </a:xfrm>
          </p:grpSpPr>
          <p:sp>
            <p:nvSpPr>
              <p:cNvPr id="10415" name="Line 714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416" name="Line 715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417" name="Line 716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418" name="Line 717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419" name="Line 718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420" name="Line 719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0421" name="Group 720"/>
            <p:cNvGrpSpPr/>
            <p:nvPr/>
          </p:nvGrpSpPr>
          <p:grpSpPr>
            <a:xfrm>
              <a:off x="4248" y="2292"/>
              <a:ext cx="468" cy="348"/>
              <a:chOff x="3540" y="1956"/>
              <a:chExt cx="468" cy="312"/>
            </a:xfrm>
          </p:grpSpPr>
          <p:sp>
            <p:nvSpPr>
              <p:cNvPr id="10422" name="Line 721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423" name="Line 722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424" name="Line 723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425" name="Line 724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426" name="Line 725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427" name="Line 726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0428" name="Group 727"/>
            <p:cNvGrpSpPr/>
            <p:nvPr/>
          </p:nvGrpSpPr>
          <p:grpSpPr>
            <a:xfrm>
              <a:off x="4584" y="2472"/>
              <a:ext cx="468" cy="348"/>
              <a:chOff x="3540" y="1956"/>
              <a:chExt cx="468" cy="312"/>
            </a:xfrm>
          </p:grpSpPr>
          <p:sp>
            <p:nvSpPr>
              <p:cNvPr id="10429" name="Line 728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430" name="Line 729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431" name="Line 730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432" name="Line 731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433" name="Line 732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434" name="Line 733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0435" name="Text Box 734"/>
            <p:cNvSpPr txBox="1"/>
            <p:nvPr/>
          </p:nvSpPr>
          <p:spPr>
            <a:xfrm>
              <a:off x="4766" y="2215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en-US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f</a:t>
              </a:r>
              <a:r>
                <a:rPr lang="en-US" altLang="en-US" sz="2000" baseline="-25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3</a:t>
              </a:r>
              <a:endParaRPr lang="en-US" altLang="zh-CN" sz="2000" dirty="0">
                <a:solidFill>
                  <a:srgbClr val="000066"/>
                </a:solidFill>
                <a:latin typeface="Tahoma" panose="020B0604030504040204" pitchFamily="34" charset="0"/>
                <a:ea typeface="仿宋_GB2312" pitchFamily="49" charset="-122"/>
              </a:endParaRPr>
            </a:p>
          </p:txBody>
        </p:sp>
        <p:sp>
          <p:nvSpPr>
            <p:cNvPr id="10436" name="Text Box 735"/>
            <p:cNvSpPr txBox="1"/>
            <p:nvPr/>
          </p:nvSpPr>
          <p:spPr>
            <a:xfrm>
              <a:off x="4430" y="2335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zh-CN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f</a:t>
              </a:r>
              <a:r>
                <a:rPr lang="en-US" altLang="zh-CN" sz="2000" baseline="-25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4</a:t>
              </a:r>
              <a:endParaRPr lang="en-US" altLang="zh-CN" sz="2000" dirty="0">
                <a:solidFill>
                  <a:srgbClr val="000066"/>
                </a:solidFill>
                <a:latin typeface="Tahoma" panose="020B0604030504040204" pitchFamily="34" charset="0"/>
                <a:ea typeface="仿宋_GB2312" pitchFamily="49" charset="-122"/>
              </a:endParaRPr>
            </a:p>
          </p:txBody>
        </p:sp>
        <p:sp>
          <p:nvSpPr>
            <p:cNvPr id="10437" name="Text Box 736"/>
            <p:cNvSpPr txBox="1"/>
            <p:nvPr/>
          </p:nvSpPr>
          <p:spPr>
            <a:xfrm>
              <a:off x="4778" y="2551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zh-CN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f</a:t>
              </a:r>
              <a:r>
                <a:rPr lang="en-US" altLang="zh-CN" sz="2000" baseline="-25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rPr>
                <a:t>1</a:t>
              </a:r>
              <a:endParaRPr lang="en-US" altLang="zh-CN" sz="2000" dirty="0">
                <a:solidFill>
                  <a:srgbClr val="000066"/>
                </a:solidFill>
                <a:latin typeface="Tahoma" panose="020B0604030504040204" pitchFamily="34" charset="0"/>
                <a:ea typeface="仿宋_GB2312" pitchFamily="49" charset="-122"/>
              </a:endParaRPr>
            </a:p>
          </p:txBody>
        </p:sp>
      </p:grpSp>
      <p:sp>
        <p:nvSpPr>
          <p:cNvPr id="10438" name="Line 737"/>
          <p:cNvSpPr/>
          <p:nvPr/>
        </p:nvSpPr>
        <p:spPr>
          <a:xfrm flipV="1">
            <a:off x="6775450" y="3327400"/>
            <a:ext cx="1162050" cy="4953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10439" name="Text Box 738"/>
          <p:cNvSpPr txBox="1"/>
          <p:nvPr/>
        </p:nvSpPr>
        <p:spPr>
          <a:xfrm>
            <a:off x="8607425" y="3808413"/>
            <a:ext cx="330200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b" anchorCtr="0">
            <a:spAutoFit/>
          </a:bodyPr>
          <a:lstStyle/>
          <a:p>
            <a:r>
              <a:rPr lang="en-US" altLang="zh-CN" sz="16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10440" name="Line 739"/>
          <p:cNvSpPr/>
          <p:nvPr/>
        </p:nvSpPr>
        <p:spPr>
          <a:xfrm>
            <a:off x="7556500" y="3613150"/>
            <a:ext cx="10287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3"/>
          <p:cNvSpPr txBox="1"/>
          <p:nvPr/>
        </p:nvSpPr>
        <p:spPr>
          <a:xfrm>
            <a:off x="927100" y="1223963"/>
            <a:ext cx="8042275" cy="53101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到相邻同频蜂窝的步长计数</a:t>
            </a:r>
          </a:p>
        </p:txBody>
      </p:sp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簇大小的计算方法</a:t>
            </a:r>
          </a:p>
        </p:txBody>
      </p:sp>
      <p:pic>
        <p:nvPicPr>
          <p:cNvPr id="11267" name="Picture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0800" y="1844675"/>
            <a:ext cx="4276725" cy="4114800"/>
          </a:xfrm>
        </p:spPr>
      </p:pic>
      <p:sp>
        <p:nvSpPr>
          <p:cNvPr id="1126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8</a:t>
            </a:fld>
            <a:endParaRPr lang="en-US" altLang="zh-CN" sz="1400" dirty="0"/>
          </a:p>
        </p:txBody>
      </p:sp>
      <p:sp>
        <p:nvSpPr>
          <p:cNvPr id="11269" name="TextBox 5"/>
          <p:cNvSpPr txBox="1"/>
          <p:nvPr/>
        </p:nvSpPr>
        <p:spPr>
          <a:xfrm>
            <a:off x="5233988" y="2990850"/>
            <a:ext cx="328612" cy="7080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40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lang="zh-CN" altLang="en-US" sz="4000" i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0" name="TextBox 6"/>
          <p:cNvSpPr txBox="1"/>
          <p:nvPr/>
        </p:nvSpPr>
        <p:spPr>
          <a:xfrm>
            <a:off x="5786438" y="2484438"/>
            <a:ext cx="328612" cy="7080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40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endParaRPr lang="zh-CN" altLang="en-US" sz="4000" i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簇大小的计算方法</a:t>
            </a:r>
          </a:p>
        </p:txBody>
      </p:sp>
      <p:sp>
        <p:nvSpPr>
          <p:cNvPr id="1229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9</a:t>
            </a:fld>
            <a:endParaRPr lang="en-US" altLang="zh-CN" sz="1400" dirty="0"/>
          </a:p>
        </p:txBody>
      </p:sp>
      <p:sp>
        <p:nvSpPr>
          <p:cNvPr id="12291" name="Text Box 279"/>
          <p:cNvSpPr txBox="1"/>
          <p:nvPr/>
        </p:nvSpPr>
        <p:spPr>
          <a:xfrm>
            <a:off x="1176338" y="5819775"/>
            <a:ext cx="892175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b" anchorCtr="0">
            <a:spAutoFit/>
          </a:bodyPr>
          <a:lstStyle/>
          <a:p>
            <a:r>
              <a:rPr lang="en-US" altLang="zh-CN" sz="20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 </a:t>
            </a:r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＝ </a:t>
            </a:r>
            <a:r>
              <a:rPr lang="en-US" altLang="zh-CN" sz="2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grpSp>
        <p:nvGrpSpPr>
          <p:cNvPr id="12292" name="Group 369"/>
          <p:cNvGrpSpPr/>
          <p:nvPr/>
        </p:nvGrpSpPr>
        <p:grpSpPr>
          <a:xfrm>
            <a:off x="3517900" y="4152900"/>
            <a:ext cx="1716088" cy="2047875"/>
            <a:chOff x="1921" y="937"/>
            <a:chExt cx="1081" cy="1290"/>
          </a:xfrm>
        </p:grpSpPr>
        <p:grpSp>
          <p:nvGrpSpPr>
            <p:cNvPr id="12293" name="Group 362"/>
            <p:cNvGrpSpPr/>
            <p:nvPr/>
          </p:nvGrpSpPr>
          <p:grpSpPr>
            <a:xfrm>
              <a:off x="1921" y="937"/>
              <a:ext cx="1081" cy="952"/>
              <a:chOff x="3721" y="853"/>
              <a:chExt cx="1081" cy="952"/>
            </a:xfrm>
          </p:grpSpPr>
          <p:grpSp>
            <p:nvGrpSpPr>
              <p:cNvPr id="12294" name="Group 311"/>
              <p:cNvGrpSpPr/>
              <p:nvPr/>
            </p:nvGrpSpPr>
            <p:grpSpPr>
              <a:xfrm>
                <a:off x="4052" y="853"/>
                <a:ext cx="430" cy="320"/>
                <a:chOff x="3540" y="1956"/>
                <a:chExt cx="468" cy="312"/>
              </a:xfrm>
            </p:grpSpPr>
            <p:sp>
              <p:nvSpPr>
                <p:cNvPr id="12295" name="Line 312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296" name="Line 313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297" name="Line 314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298" name="Line 315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299" name="Line 316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00" name="Line 317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2301" name="Group 318"/>
              <p:cNvGrpSpPr/>
              <p:nvPr/>
            </p:nvGrpSpPr>
            <p:grpSpPr>
              <a:xfrm>
                <a:off x="3721" y="996"/>
                <a:ext cx="430" cy="320"/>
                <a:chOff x="3540" y="1956"/>
                <a:chExt cx="468" cy="312"/>
              </a:xfrm>
            </p:grpSpPr>
            <p:sp>
              <p:nvSpPr>
                <p:cNvPr id="12302" name="Line 319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03" name="Line 320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04" name="Line 321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05" name="Line 322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06" name="Line 323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07" name="Line 324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2308" name="Group 325"/>
              <p:cNvGrpSpPr/>
              <p:nvPr/>
            </p:nvGrpSpPr>
            <p:grpSpPr>
              <a:xfrm>
                <a:off x="4041" y="1173"/>
                <a:ext cx="430" cy="320"/>
                <a:chOff x="3540" y="1956"/>
                <a:chExt cx="468" cy="312"/>
              </a:xfrm>
            </p:grpSpPr>
            <p:sp>
              <p:nvSpPr>
                <p:cNvPr id="12309" name="Line 326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10" name="Line 327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11" name="Line 328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12" name="Line 329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13" name="Line 330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14" name="Line 331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2315" name="Group 332"/>
              <p:cNvGrpSpPr/>
              <p:nvPr/>
            </p:nvGrpSpPr>
            <p:grpSpPr>
              <a:xfrm>
                <a:off x="4372" y="1041"/>
                <a:ext cx="430" cy="320"/>
                <a:chOff x="3540" y="1956"/>
                <a:chExt cx="468" cy="312"/>
              </a:xfrm>
            </p:grpSpPr>
            <p:sp>
              <p:nvSpPr>
                <p:cNvPr id="12316" name="Line 333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17" name="Line 334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18" name="Line 335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19" name="Line 336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20" name="Line 337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21" name="Line 338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2322" name="Group 339"/>
              <p:cNvGrpSpPr/>
              <p:nvPr/>
            </p:nvGrpSpPr>
            <p:grpSpPr>
              <a:xfrm>
                <a:off x="4360" y="1341"/>
                <a:ext cx="430" cy="320"/>
                <a:chOff x="3540" y="1956"/>
                <a:chExt cx="468" cy="312"/>
              </a:xfrm>
            </p:grpSpPr>
            <p:sp>
              <p:nvSpPr>
                <p:cNvPr id="12323" name="Line 340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24" name="Line 341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25" name="Line 342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26" name="Line 343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27" name="Line 344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28" name="Line 345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2329" name="Group 346"/>
              <p:cNvGrpSpPr/>
              <p:nvPr/>
            </p:nvGrpSpPr>
            <p:grpSpPr>
              <a:xfrm>
                <a:off x="4048" y="1485"/>
                <a:ext cx="430" cy="320"/>
                <a:chOff x="3540" y="1956"/>
                <a:chExt cx="468" cy="312"/>
              </a:xfrm>
            </p:grpSpPr>
            <p:sp>
              <p:nvSpPr>
                <p:cNvPr id="12330" name="Line 347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31" name="Line 348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32" name="Line 349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33" name="Line 350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34" name="Line 351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35" name="Line 352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2336" name="Group 353"/>
              <p:cNvGrpSpPr/>
              <p:nvPr/>
            </p:nvGrpSpPr>
            <p:grpSpPr>
              <a:xfrm>
                <a:off x="3724" y="1305"/>
                <a:ext cx="430" cy="320"/>
                <a:chOff x="3540" y="1956"/>
                <a:chExt cx="468" cy="312"/>
              </a:xfrm>
            </p:grpSpPr>
            <p:sp>
              <p:nvSpPr>
                <p:cNvPr id="12337" name="Line 354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38" name="Line 355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39" name="Line 356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40" name="Line 357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41" name="Line 358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42" name="Line 359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2343" name="Text Box 363"/>
            <p:cNvSpPr txBox="1"/>
            <p:nvPr/>
          </p:nvSpPr>
          <p:spPr>
            <a:xfrm>
              <a:off x="2234" y="1975"/>
              <a:ext cx="562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zh-CN" sz="2000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lang="en-US" altLang="zh-CN" sz="2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2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＝ </a:t>
              </a:r>
              <a:r>
                <a:rPr lang="en-US" altLang="zh-CN" sz="2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</p:grpSp>
      <p:grpSp>
        <p:nvGrpSpPr>
          <p:cNvPr id="12344" name="Group 370"/>
          <p:cNvGrpSpPr/>
          <p:nvPr/>
        </p:nvGrpSpPr>
        <p:grpSpPr>
          <a:xfrm>
            <a:off x="6397625" y="3598863"/>
            <a:ext cx="2224088" cy="2582862"/>
            <a:chOff x="3771" y="2040"/>
            <a:chExt cx="1401" cy="1627"/>
          </a:xfrm>
        </p:grpSpPr>
        <p:grpSp>
          <p:nvGrpSpPr>
            <p:cNvPr id="12345" name="Group 360"/>
            <p:cNvGrpSpPr/>
            <p:nvPr/>
          </p:nvGrpSpPr>
          <p:grpSpPr>
            <a:xfrm>
              <a:off x="3771" y="2040"/>
              <a:ext cx="1401" cy="1270"/>
              <a:chOff x="2319" y="1332"/>
              <a:chExt cx="1401" cy="1270"/>
            </a:xfrm>
          </p:grpSpPr>
          <p:grpSp>
            <p:nvGrpSpPr>
              <p:cNvPr id="12346" name="Group 15"/>
              <p:cNvGrpSpPr/>
              <p:nvPr/>
            </p:nvGrpSpPr>
            <p:grpSpPr>
              <a:xfrm>
                <a:off x="3289" y="2016"/>
                <a:ext cx="430" cy="320"/>
                <a:chOff x="3540" y="1956"/>
                <a:chExt cx="468" cy="312"/>
              </a:xfrm>
            </p:grpSpPr>
            <p:sp>
              <p:nvSpPr>
                <p:cNvPr id="12347" name="Line 16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48" name="Line 17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49" name="Line 18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50" name="Line 19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51" name="Line 20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52" name="Line 21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2353" name="Group 29"/>
              <p:cNvGrpSpPr/>
              <p:nvPr/>
            </p:nvGrpSpPr>
            <p:grpSpPr>
              <a:xfrm>
                <a:off x="2320" y="1785"/>
                <a:ext cx="430" cy="320"/>
                <a:chOff x="3540" y="1956"/>
                <a:chExt cx="468" cy="312"/>
              </a:xfrm>
            </p:grpSpPr>
            <p:sp>
              <p:nvSpPr>
                <p:cNvPr id="12354" name="Line 30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55" name="Line 31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56" name="Line 32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57" name="Line 33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58" name="Line 34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59" name="Line 35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2360" name="Text Box 37"/>
              <p:cNvSpPr txBox="1"/>
              <p:nvPr/>
            </p:nvSpPr>
            <p:spPr>
              <a:xfrm>
                <a:off x="2422" y="1792"/>
                <a:ext cx="11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b" anchorCtr="0">
                <a:spAutoFit/>
              </a:bodyPr>
              <a:lstStyle/>
              <a:p>
                <a:endParaRPr lang="zh-CN" altLang="zh-CN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endParaRPr>
              </a:p>
            </p:txBody>
          </p:sp>
          <p:grpSp>
            <p:nvGrpSpPr>
              <p:cNvPr id="12361" name="Group 41"/>
              <p:cNvGrpSpPr/>
              <p:nvPr/>
            </p:nvGrpSpPr>
            <p:grpSpPr>
              <a:xfrm>
                <a:off x="2639" y="1508"/>
                <a:ext cx="1081" cy="641"/>
                <a:chOff x="1116" y="2136"/>
                <a:chExt cx="1176" cy="696"/>
              </a:xfrm>
            </p:grpSpPr>
            <p:grpSp>
              <p:nvGrpSpPr>
                <p:cNvPr id="12362" name="Group 42"/>
                <p:cNvGrpSpPr/>
                <p:nvPr/>
              </p:nvGrpSpPr>
              <p:grpSpPr>
                <a:xfrm>
                  <a:off x="1476" y="2136"/>
                  <a:ext cx="468" cy="348"/>
                  <a:chOff x="3540" y="1956"/>
                  <a:chExt cx="468" cy="312"/>
                </a:xfrm>
              </p:grpSpPr>
              <p:sp>
                <p:nvSpPr>
                  <p:cNvPr id="12363" name="Line 43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2364" name="Line 44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2365" name="Line 45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2366" name="Line 46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2367" name="Line 47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2368" name="Line 48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2369" name="Group 49"/>
                <p:cNvGrpSpPr/>
                <p:nvPr/>
              </p:nvGrpSpPr>
              <p:grpSpPr>
                <a:xfrm>
                  <a:off x="1116" y="2292"/>
                  <a:ext cx="468" cy="348"/>
                  <a:chOff x="3540" y="1956"/>
                  <a:chExt cx="468" cy="312"/>
                </a:xfrm>
              </p:grpSpPr>
              <p:sp>
                <p:nvSpPr>
                  <p:cNvPr id="12370" name="Line 50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2371" name="Line 51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2372" name="Line 52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2373" name="Line 53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2374" name="Line 54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2375" name="Line 55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2376" name="Group 56"/>
                <p:cNvGrpSpPr/>
                <p:nvPr/>
              </p:nvGrpSpPr>
              <p:grpSpPr>
                <a:xfrm>
                  <a:off x="1464" y="2484"/>
                  <a:ext cx="468" cy="348"/>
                  <a:chOff x="3540" y="1956"/>
                  <a:chExt cx="468" cy="312"/>
                </a:xfrm>
              </p:grpSpPr>
              <p:sp>
                <p:nvSpPr>
                  <p:cNvPr id="12377" name="Line 57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2378" name="Line 58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2379" name="Line 59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2380" name="Line 60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2381" name="Line 61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2382" name="Line 62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2383" name="Group 63"/>
                <p:cNvGrpSpPr/>
                <p:nvPr/>
              </p:nvGrpSpPr>
              <p:grpSpPr>
                <a:xfrm>
                  <a:off x="1824" y="2340"/>
                  <a:ext cx="468" cy="348"/>
                  <a:chOff x="3540" y="1956"/>
                  <a:chExt cx="468" cy="312"/>
                </a:xfrm>
              </p:grpSpPr>
              <p:sp>
                <p:nvSpPr>
                  <p:cNvPr id="12384" name="Line 64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2385" name="Line 65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2386" name="Line 66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2387" name="Line 67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2388" name="Line 68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2389" name="Line 69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12390" name="Text Box 70"/>
              <p:cNvSpPr txBox="1"/>
              <p:nvPr/>
            </p:nvSpPr>
            <p:spPr>
              <a:xfrm>
                <a:off x="3071" y="1847"/>
                <a:ext cx="11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b" anchorCtr="0">
                <a:spAutoFit/>
              </a:bodyPr>
              <a:lstStyle/>
              <a:p>
                <a:endParaRPr lang="zh-CN" altLang="zh-CN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2391" name="Text Box 71"/>
              <p:cNvSpPr txBox="1"/>
              <p:nvPr/>
            </p:nvSpPr>
            <p:spPr>
              <a:xfrm>
                <a:off x="3391" y="1705"/>
                <a:ext cx="11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b" anchorCtr="0">
                <a:spAutoFit/>
              </a:bodyPr>
              <a:lstStyle/>
              <a:p>
                <a:endParaRPr lang="zh-CN" altLang="zh-CN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2392" name="Text Box 72"/>
              <p:cNvSpPr txBox="1"/>
              <p:nvPr/>
            </p:nvSpPr>
            <p:spPr>
              <a:xfrm>
                <a:off x="3071" y="1527"/>
                <a:ext cx="11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b" anchorCtr="0">
                <a:spAutoFit/>
              </a:bodyPr>
              <a:lstStyle/>
              <a:p>
                <a:endParaRPr lang="zh-CN" altLang="zh-CN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2393" name="Text Box 73"/>
              <p:cNvSpPr txBox="1"/>
              <p:nvPr/>
            </p:nvSpPr>
            <p:spPr>
              <a:xfrm>
                <a:off x="2751" y="1661"/>
                <a:ext cx="11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b" anchorCtr="0">
                <a:spAutoFit/>
              </a:bodyPr>
              <a:lstStyle/>
              <a:p>
                <a:endParaRPr lang="zh-CN" altLang="zh-CN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endParaRPr>
              </a:p>
            </p:txBody>
          </p:sp>
          <p:grpSp>
            <p:nvGrpSpPr>
              <p:cNvPr id="12394" name="Group 158"/>
              <p:cNvGrpSpPr/>
              <p:nvPr/>
            </p:nvGrpSpPr>
            <p:grpSpPr>
              <a:xfrm>
                <a:off x="2320" y="1465"/>
                <a:ext cx="429" cy="320"/>
                <a:chOff x="3540" y="1956"/>
                <a:chExt cx="468" cy="312"/>
              </a:xfrm>
            </p:grpSpPr>
            <p:sp>
              <p:nvSpPr>
                <p:cNvPr id="12395" name="Line 159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96" name="Line 160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97" name="Line 161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98" name="Line 162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99" name="Line 163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400" name="Line 164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2401" name="Group 165"/>
              <p:cNvGrpSpPr/>
              <p:nvPr/>
            </p:nvGrpSpPr>
            <p:grpSpPr>
              <a:xfrm>
                <a:off x="2650" y="1332"/>
                <a:ext cx="430" cy="320"/>
                <a:chOff x="3540" y="1956"/>
                <a:chExt cx="468" cy="312"/>
              </a:xfrm>
            </p:grpSpPr>
            <p:sp>
              <p:nvSpPr>
                <p:cNvPr id="12402" name="Line 166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403" name="Line 167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404" name="Line 168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405" name="Line 169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406" name="Line 170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407" name="Line 171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2408" name="Text Box 172"/>
              <p:cNvSpPr txBox="1"/>
              <p:nvPr/>
            </p:nvSpPr>
            <p:spPr>
              <a:xfrm>
                <a:off x="2433" y="1484"/>
                <a:ext cx="11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b" anchorCtr="0">
                <a:spAutoFit/>
              </a:bodyPr>
              <a:lstStyle/>
              <a:p>
                <a:endParaRPr lang="zh-CN" altLang="zh-CN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2409" name="Text Box 173"/>
              <p:cNvSpPr txBox="1"/>
              <p:nvPr/>
            </p:nvSpPr>
            <p:spPr>
              <a:xfrm>
                <a:off x="2751" y="1341"/>
                <a:ext cx="11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b" anchorCtr="0">
                <a:spAutoFit/>
              </a:bodyPr>
              <a:lstStyle/>
              <a:p>
                <a:endParaRPr lang="zh-CN" altLang="zh-CN" sz="2000" dirty="0">
                  <a:solidFill>
                    <a:srgbClr val="000066"/>
                  </a:solidFill>
                  <a:latin typeface="Tahoma" panose="020B0604030504040204" pitchFamily="34" charset="0"/>
                  <a:ea typeface="仿宋_GB2312" pitchFamily="49" charset="-122"/>
                </a:endParaRPr>
              </a:p>
            </p:txBody>
          </p:sp>
          <p:grpSp>
            <p:nvGrpSpPr>
              <p:cNvPr id="12410" name="Group 176"/>
              <p:cNvGrpSpPr/>
              <p:nvPr/>
            </p:nvGrpSpPr>
            <p:grpSpPr>
              <a:xfrm>
                <a:off x="2319" y="1961"/>
                <a:ext cx="1081" cy="641"/>
                <a:chOff x="3384" y="1440"/>
                <a:chExt cx="1176" cy="696"/>
              </a:xfrm>
            </p:grpSpPr>
            <p:grpSp>
              <p:nvGrpSpPr>
                <p:cNvPr id="12411" name="Group 177"/>
                <p:cNvGrpSpPr/>
                <p:nvPr/>
              </p:nvGrpSpPr>
              <p:grpSpPr>
                <a:xfrm>
                  <a:off x="3384" y="1440"/>
                  <a:ext cx="1176" cy="696"/>
                  <a:chOff x="1116" y="2136"/>
                  <a:chExt cx="1176" cy="696"/>
                </a:xfrm>
              </p:grpSpPr>
              <p:grpSp>
                <p:nvGrpSpPr>
                  <p:cNvPr id="12412" name="Group 178"/>
                  <p:cNvGrpSpPr/>
                  <p:nvPr/>
                </p:nvGrpSpPr>
                <p:grpSpPr>
                  <a:xfrm>
                    <a:off x="1476" y="2136"/>
                    <a:ext cx="468" cy="348"/>
                    <a:chOff x="3540" y="1956"/>
                    <a:chExt cx="468" cy="312"/>
                  </a:xfrm>
                </p:grpSpPr>
                <p:sp>
                  <p:nvSpPr>
                    <p:cNvPr id="12413" name="Line 179"/>
                    <p:cNvSpPr/>
                    <p:nvPr/>
                  </p:nvSpPr>
                  <p:spPr>
                    <a:xfrm>
                      <a:off x="3660" y="1956"/>
                      <a:ext cx="240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2414" name="Line 180"/>
                    <p:cNvSpPr/>
                    <p:nvPr/>
                  </p:nvSpPr>
                  <p:spPr>
                    <a:xfrm>
                      <a:off x="3660" y="2256"/>
                      <a:ext cx="240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2415" name="Line 181"/>
                    <p:cNvSpPr/>
                    <p:nvPr/>
                  </p:nvSpPr>
                  <p:spPr>
                    <a:xfrm flipH="1">
                      <a:off x="3900" y="2112"/>
                      <a:ext cx="108" cy="156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2416" name="Line 182"/>
                    <p:cNvSpPr/>
                    <p:nvPr/>
                  </p:nvSpPr>
                  <p:spPr>
                    <a:xfrm flipH="1">
                      <a:off x="3540" y="1956"/>
                      <a:ext cx="108" cy="156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2417" name="Line 183"/>
                    <p:cNvSpPr/>
                    <p:nvPr/>
                  </p:nvSpPr>
                  <p:spPr>
                    <a:xfrm>
                      <a:off x="3552" y="2100"/>
                      <a:ext cx="96" cy="156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2418" name="Line 184"/>
                    <p:cNvSpPr/>
                    <p:nvPr/>
                  </p:nvSpPr>
                  <p:spPr>
                    <a:xfrm>
                      <a:off x="3912" y="1980"/>
                      <a:ext cx="96" cy="156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12419" name="Group 185"/>
                  <p:cNvGrpSpPr/>
                  <p:nvPr/>
                </p:nvGrpSpPr>
                <p:grpSpPr>
                  <a:xfrm>
                    <a:off x="1116" y="2292"/>
                    <a:ext cx="468" cy="348"/>
                    <a:chOff x="3540" y="1956"/>
                    <a:chExt cx="468" cy="312"/>
                  </a:xfrm>
                </p:grpSpPr>
                <p:sp>
                  <p:nvSpPr>
                    <p:cNvPr id="12420" name="Line 186"/>
                    <p:cNvSpPr/>
                    <p:nvPr/>
                  </p:nvSpPr>
                  <p:spPr>
                    <a:xfrm>
                      <a:off x="3660" y="1956"/>
                      <a:ext cx="240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2421" name="Line 187"/>
                    <p:cNvSpPr/>
                    <p:nvPr/>
                  </p:nvSpPr>
                  <p:spPr>
                    <a:xfrm>
                      <a:off x="3660" y="2256"/>
                      <a:ext cx="240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2422" name="Line 188"/>
                    <p:cNvSpPr/>
                    <p:nvPr/>
                  </p:nvSpPr>
                  <p:spPr>
                    <a:xfrm flipH="1">
                      <a:off x="3900" y="2112"/>
                      <a:ext cx="108" cy="156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2423" name="Line 189"/>
                    <p:cNvSpPr/>
                    <p:nvPr/>
                  </p:nvSpPr>
                  <p:spPr>
                    <a:xfrm flipH="1">
                      <a:off x="3540" y="1956"/>
                      <a:ext cx="108" cy="156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2424" name="Line 190"/>
                    <p:cNvSpPr/>
                    <p:nvPr/>
                  </p:nvSpPr>
                  <p:spPr>
                    <a:xfrm>
                      <a:off x="3552" y="2100"/>
                      <a:ext cx="96" cy="156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2425" name="Line 191"/>
                    <p:cNvSpPr/>
                    <p:nvPr/>
                  </p:nvSpPr>
                  <p:spPr>
                    <a:xfrm>
                      <a:off x="3912" y="1980"/>
                      <a:ext cx="96" cy="156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12426" name="Group 192"/>
                  <p:cNvGrpSpPr/>
                  <p:nvPr/>
                </p:nvGrpSpPr>
                <p:grpSpPr>
                  <a:xfrm>
                    <a:off x="1464" y="2484"/>
                    <a:ext cx="468" cy="348"/>
                    <a:chOff x="3540" y="1956"/>
                    <a:chExt cx="468" cy="312"/>
                  </a:xfrm>
                </p:grpSpPr>
                <p:sp>
                  <p:nvSpPr>
                    <p:cNvPr id="12427" name="Line 193"/>
                    <p:cNvSpPr/>
                    <p:nvPr/>
                  </p:nvSpPr>
                  <p:spPr>
                    <a:xfrm>
                      <a:off x="3660" y="1956"/>
                      <a:ext cx="240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2428" name="Line 194"/>
                    <p:cNvSpPr/>
                    <p:nvPr/>
                  </p:nvSpPr>
                  <p:spPr>
                    <a:xfrm>
                      <a:off x="3660" y="2256"/>
                      <a:ext cx="240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2429" name="Line 195"/>
                    <p:cNvSpPr/>
                    <p:nvPr/>
                  </p:nvSpPr>
                  <p:spPr>
                    <a:xfrm flipH="1">
                      <a:off x="3900" y="2112"/>
                      <a:ext cx="108" cy="156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2430" name="Line 196"/>
                    <p:cNvSpPr/>
                    <p:nvPr/>
                  </p:nvSpPr>
                  <p:spPr>
                    <a:xfrm flipH="1">
                      <a:off x="3540" y="1956"/>
                      <a:ext cx="108" cy="156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2431" name="Line 197"/>
                    <p:cNvSpPr/>
                    <p:nvPr/>
                  </p:nvSpPr>
                  <p:spPr>
                    <a:xfrm>
                      <a:off x="3552" y="2100"/>
                      <a:ext cx="96" cy="156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2432" name="Line 198"/>
                    <p:cNvSpPr/>
                    <p:nvPr/>
                  </p:nvSpPr>
                  <p:spPr>
                    <a:xfrm>
                      <a:off x="3912" y="1980"/>
                      <a:ext cx="96" cy="156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12433" name="Group 199"/>
                  <p:cNvGrpSpPr/>
                  <p:nvPr/>
                </p:nvGrpSpPr>
                <p:grpSpPr>
                  <a:xfrm>
                    <a:off x="1824" y="2340"/>
                    <a:ext cx="468" cy="348"/>
                    <a:chOff x="3540" y="1956"/>
                    <a:chExt cx="468" cy="312"/>
                  </a:xfrm>
                </p:grpSpPr>
                <p:sp>
                  <p:nvSpPr>
                    <p:cNvPr id="12434" name="Line 200"/>
                    <p:cNvSpPr/>
                    <p:nvPr/>
                  </p:nvSpPr>
                  <p:spPr>
                    <a:xfrm>
                      <a:off x="3660" y="1956"/>
                      <a:ext cx="240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2435" name="Line 201"/>
                    <p:cNvSpPr/>
                    <p:nvPr/>
                  </p:nvSpPr>
                  <p:spPr>
                    <a:xfrm>
                      <a:off x="3660" y="2256"/>
                      <a:ext cx="240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2436" name="Line 202"/>
                    <p:cNvSpPr/>
                    <p:nvPr/>
                  </p:nvSpPr>
                  <p:spPr>
                    <a:xfrm flipH="1">
                      <a:off x="3900" y="2112"/>
                      <a:ext cx="108" cy="156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2437" name="Line 203"/>
                    <p:cNvSpPr/>
                    <p:nvPr/>
                  </p:nvSpPr>
                  <p:spPr>
                    <a:xfrm flipH="1">
                      <a:off x="3540" y="1956"/>
                      <a:ext cx="108" cy="156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2438" name="Line 204"/>
                    <p:cNvSpPr/>
                    <p:nvPr/>
                  </p:nvSpPr>
                  <p:spPr>
                    <a:xfrm>
                      <a:off x="3552" y="2100"/>
                      <a:ext cx="96" cy="156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2439" name="Line 205"/>
                    <p:cNvSpPr/>
                    <p:nvPr/>
                  </p:nvSpPr>
                  <p:spPr>
                    <a:xfrm>
                      <a:off x="3912" y="1980"/>
                      <a:ext cx="96" cy="156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</p:grpSp>
            <p:sp>
              <p:nvSpPr>
                <p:cNvPr id="12440" name="Text Box 206"/>
                <p:cNvSpPr txBox="1"/>
                <p:nvPr/>
              </p:nvSpPr>
              <p:spPr>
                <a:xfrm>
                  <a:off x="3854" y="1809"/>
                  <a:ext cx="126" cy="27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b" anchorCtr="0">
                  <a:spAutoFit/>
                </a:bodyPr>
                <a:lstStyle/>
                <a:p>
                  <a:endParaRPr lang="zh-CN" altLang="zh-CN" sz="2000" dirty="0">
                    <a:solidFill>
                      <a:srgbClr val="000066"/>
                    </a:solidFill>
                    <a:latin typeface="Tahoma" panose="020B0604030504040204" pitchFamily="34" charset="0"/>
                    <a:ea typeface="仿宋_GB2312" pitchFamily="49" charset="-122"/>
                  </a:endParaRPr>
                </a:p>
              </p:txBody>
            </p:sp>
            <p:sp>
              <p:nvSpPr>
                <p:cNvPr id="12441" name="Text Box 207"/>
                <p:cNvSpPr txBox="1"/>
                <p:nvPr/>
              </p:nvSpPr>
              <p:spPr>
                <a:xfrm>
                  <a:off x="4202" y="1654"/>
                  <a:ext cx="126" cy="27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b" anchorCtr="0">
                  <a:spAutoFit/>
                </a:bodyPr>
                <a:lstStyle/>
                <a:p>
                  <a:endParaRPr lang="zh-CN" altLang="zh-CN" sz="2000" dirty="0">
                    <a:solidFill>
                      <a:srgbClr val="000066"/>
                    </a:solidFill>
                    <a:latin typeface="Tahoma" panose="020B0604030504040204" pitchFamily="34" charset="0"/>
                    <a:ea typeface="仿宋_GB2312" pitchFamily="49" charset="-122"/>
                  </a:endParaRPr>
                </a:p>
              </p:txBody>
            </p:sp>
            <p:sp>
              <p:nvSpPr>
                <p:cNvPr id="12442" name="Text Box 208"/>
                <p:cNvSpPr txBox="1"/>
                <p:nvPr/>
              </p:nvSpPr>
              <p:spPr>
                <a:xfrm>
                  <a:off x="3854" y="1462"/>
                  <a:ext cx="126" cy="27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b" anchorCtr="0">
                  <a:spAutoFit/>
                </a:bodyPr>
                <a:lstStyle/>
                <a:p>
                  <a:endParaRPr lang="zh-CN" altLang="zh-CN" sz="2000" dirty="0">
                    <a:solidFill>
                      <a:srgbClr val="000066"/>
                    </a:solidFill>
                    <a:latin typeface="Tahoma" panose="020B0604030504040204" pitchFamily="34" charset="0"/>
                    <a:ea typeface="仿宋_GB2312" pitchFamily="49" charset="-122"/>
                  </a:endParaRPr>
                </a:p>
              </p:txBody>
            </p:sp>
            <p:sp>
              <p:nvSpPr>
                <p:cNvPr id="12443" name="Text Box 209"/>
                <p:cNvSpPr txBox="1"/>
                <p:nvPr/>
              </p:nvSpPr>
              <p:spPr>
                <a:xfrm>
                  <a:off x="3505" y="1606"/>
                  <a:ext cx="126" cy="27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b" anchorCtr="0">
                  <a:spAutoFit/>
                </a:bodyPr>
                <a:lstStyle/>
                <a:p>
                  <a:endParaRPr lang="zh-CN" altLang="zh-CN" sz="2000" dirty="0">
                    <a:solidFill>
                      <a:srgbClr val="000066"/>
                    </a:solidFill>
                    <a:latin typeface="Tahoma" panose="020B0604030504040204" pitchFamily="34" charset="0"/>
                    <a:ea typeface="仿宋_GB2312" pitchFamily="49" charset="-122"/>
                  </a:endParaRPr>
                </a:p>
              </p:txBody>
            </p:sp>
          </p:grpSp>
        </p:grpSp>
        <p:sp>
          <p:nvSpPr>
            <p:cNvPr id="12444" name="Text Box 364"/>
            <p:cNvSpPr txBox="1"/>
            <p:nvPr/>
          </p:nvSpPr>
          <p:spPr>
            <a:xfrm>
              <a:off x="4190" y="3415"/>
              <a:ext cx="649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zh-CN" sz="2000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lang="en-US" altLang="zh-CN" sz="2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2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＝ </a:t>
              </a:r>
              <a:r>
                <a:rPr lang="en-US" altLang="zh-CN" sz="2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12</a:t>
              </a:r>
            </a:p>
          </p:txBody>
        </p:sp>
      </p:grpSp>
      <p:graphicFrame>
        <p:nvGraphicFramePr>
          <p:cNvPr id="12445" name="Object 2"/>
          <p:cNvGraphicFramePr/>
          <p:nvPr/>
        </p:nvGraphicFramePr>
        <p:xfrm>
          <a:off x="-1773237" y="954088"/>
          <a:ext cx="9371012" cy="297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r:id="rId4" imgW="5400675" imgH="1722120" progId="Word.Document.8">
                  <p:embed/>
                </p:oleObj>
              </mc:Choice>
              <mc:Fallback>
                <p:oleObj r:id="rId4" imgW="5400675" imgH="1722120" progId="Word.Document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1773237" y="954088"/>
                        <a:ext cx="9371012" cy="2970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446" name="Group 372"/>
          <p:cNvGrpSpPr/>
          <p:nvPr/>
        </p:nvGrpSpPr>
        <p:grpSpPr>
          <a:xfrm>
            <a:off x="1003300" y="4572000"/>
            <a:ext cx="1208088" cy="1016000"/>
            <a:chOff x="373" y="2653"/>
            <a:chExt cx="761" cy="640"/>
          </a:xfrm>
        </p:grpSpPr>
        <p:grpSp>
          <p:nvGrpSpPr>
            <p:cNvPr id="12447" name="Group 282"/>
            <p:cNvGrpSpPr/>
            <p:nvPr/>
          </p:nvGrpSpPr>
          <p:grpSpPr>
            <a:xfrm>
              <a:off x="704" y="2653"/>
              <a:ext cx="430" cy="320"/>
              <a:chOff x="3540" y="1956"/>
              <a:chExt cx="468" cy="312"/>
            </a:xfrm>
          </p:grpSpPr>
          <p:sp>
            <p:nvSpPr>
              <p:cNvPr id="12448" name="Line 283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449" name="Line 284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450" name="Line 285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451" name="Line 286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452" name="Line 287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453" name="Line 288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2454" name="Group 289"/>
            <p:cNvGrpSpPr/>
            <p:nvPr/>
          </p:nvGrpSpPr>
          <p:grpSpPr>
            <a:xfrm>
              <a:off x="373" y="2796"/>
              <a:ext cx="430" cy="320"/>
              <a:chOff x="3540" y="1956"/>
              <a:chExt cx="468" cy="312"/>
            </a:xfrm>
          </p:grpSpPr>
          <p:sp>
            <p:nvSpPr>
              <p:cNvPr id="12455" name="Line 290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456" name="Line 291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457" name="Line 292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458" name="Line 293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459" name="Line 294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460" name="Line 295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2461" name="Group 296"/>
            <p:cNvGrpSpPr/>
            <p:nvPr/>
          </p:nvGrpSpPr>
          <p:grpSpPr>
            <a:xfrm>
              <a:off x="693" y="2973"/>
              <a:ext cx="430" cy="320"/>
              <a:chOff x="3540" y="1956"/>
              <a:chExt cx="468" cy="312"/>
            </a:xfrm>
          </p:grpSpPr>
          <p:sp>
            <p:nvSpPr>
              <p:cNvPr id="12462" name="Line 297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463" name="Line 298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464" name="Line 299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465" name="Line 300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466" name="Line 301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467" name="Line 302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2468" name="Text Box 371"/>
            <p:cNvSpPr txBox="1"/>
            <p:nvPr/>
          </p:nvSpPr>
          <p:spPr>
            <a:xfrm>
              <a:off x="854" y="2695"/>
              <a:ext cx="11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endParaRPr lang="zh-CN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469" name="TextBox 181"/>
          <p:cNvSpPr txBox="1"/>
          <p:nvPr/>
        </p:nvSpPr>
        <p:spPr>
          <a:xfrm>
            <a:off x="5651500" y="2214563"/>
            <a:ext cx="2735263" cy="706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40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 = i</a:t>
            </a:r>
            <a:r>
              <a:rPr lang="en-US" altLang="zh-CN" sz="4000" i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40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+j</a:t>
            </a:r>
            <a:r>
              <a:rPr lang="en-US" altLang="zh-CN" sz="4000" i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40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+ij</a:t>
            </a:r>
            <a:endParaRPr lang="zh-CN" altLang="en-US" sz="4000" i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7" name="Group 183"/>
          <p:cNvGrpSpPr/>
          <p:nvPr/>
        </p:nvGrpSpPr>
        <p:grpSpPr>
          <a:xfrm>
            <a:off x="687388" y="2630488"/>
            <a:ext cx="1208087" cy="1016000"/>
            <a:chOff x="433" y="1825"/>
            <a:chExt cx="761" cy="640"/>
          </a:xfrm>
        </p:grpSpPr>
        <p:grpSp>
          <p:nvGrpSpPr>
            <p:cNvPr id="14338" name="Group 159"/>
            <p:cNvGrpSpPr/>
            <p:nvPr/>
          </p:nvGrpSpPr>
          <p:grpSpPr>
            <a:xfrm>
              <a:off x="764" y="1825"/>
              <a:ext cx="430" cy="320"/>
              <a:chOff x="3540" y="1956"/>
              <a:chExt cx="468" cy="312"/>
            </a:xfrm>
          </p:grpSpPr>
          <p:sp>
            <p:nvSpPr>
              <p:cNvPr id="14339" name="Line 160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40" name="Line 161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41" name="Line 162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42" name="Line 163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43" name="Line 164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44" name="Line 165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4345" name="Group 166"/>
            <p:cNvGrpSpPr/>
            <p:nvPr/>
          </p:nvGrpSpPr>
          <p:grpSpPr>
            <a:xfrm>
              <a:off x="433" y="1968"/>
              <a:ext cx="430" cy="320"/>
              <a:chOff x="3540" y="1956"/>
              <a:chExt cx="468" cy="312"/>
            </a:xfrm>
          </p:grpSpPr>
          <p:sp>
            <p:nvSpPr>
              <p:cNvPr id="14346" name="Line 167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47" name="Line 168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48" name="Line 169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49" name="Line 170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50" name="Line 171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51" name="Line 172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4352" name="Group 173"/>
            <p:cNvGrpSpPr/>
            <p:nvPr/>
          </p:nvGrpSpPr>
          <p:grpSpPr>
            <a:xfrm>
              <a:off x="753" y="2145"/>
              <a:ext cx="430" cy="320"/>
              <a:chOff x="3540" y="1956"/>
              <a:chExt cx="468" cy="312"/>
            </a:xfrm>
          </p:grpSpPr>
          <p:sp>
            <p:nvSpPr>
              <p:cNvPr id="14353" name="Line 174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54" name="Line 175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55" name="Line 176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56" name="Line 177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57" name="Line 178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58" name="Line 179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4359" name="Text Box 181"/>
            <p:cNvSpPr txBox="1"/>
            <p:nvPr/>
          </p:nvSpPr>
          <p:spPr>
            <a:xfrm>
              <a:off x="878" y="1863"/>
              <a:ext cx="203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zh-CN" sz="1600" dirty="0">
                  <a:solidFill>
                    <a:srgbClr val="CC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f</a:t>
              </a:r>
              <a:r>
                <a:rPr lang="en-US" altLang="zh-CN" sz="1600" baseline="-25000" dirty="0">
                  <a:solidFill>
                    <a:srgbClr val="CC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endParaRPr lang="en-US" altLang="zh-CN" sz="1600" dirty="0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360" name="Group 277"/>
          <p:cNvGrpSpPr/>
          <p:nvPr/>
        </p:nvGrpSpPr>
        <p:grpSpPr>
          <a:xfrm>
            <a:off x="3163888" y="2192338"/>
            <a:ext cx="1741487" cy="1758950"/>
            <a:chOff x="1921" y="1345"/>
            <a:chExt cx="1097" cy="1108"/>
          </a:xfrm>
        </p:grpSpPr>
        <p:grpSp>
          <p:nvGrpSpPr>
            <p:cNvPr id="14361" name="Group 207"/>
            <p:cNvGrpSpPr/>
            <p:nvPr/>
          </p:nvGrpSpPr>
          <p:grpSpPr>
            <a:xfrm>
              <a:off x="1921" y="1813"/>
              <a:ext cx="761" cy="640"/>
              <a:chOff x="433" y="1825"/>
              <a:chExt cx="761" cy="640"/>
            </a:xfrm>
          </p:grpSpPr>
          <p:grpSp>
            <p:nvGrpSpPr>
              <p:cNvPr id="14362" name="Group 208"/>
              <p:cNvGrpSpPr/>
              <p:nvPr/>
            </p:nvGrpSpPr>
            <p:grpSpPr>
              <a:xfrm>
                <a:off x="764" y="1825"/>
                <a:ext cx="430" cy="320"/>
                <a:chOff x="3540" y="1956"/>
                <a:chExt cx="468" cy="312"/>
              </a:xfrm>
            </p:grpSpPr>
            <p:sp>
              <p:nvSpPr>
                <p:cNvPr id="14363" name="Line 209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364" name="Line 210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365" name="Line 211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366" name="Line 212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367" name="Line 213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368" name="Line 214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369" name="Group 215"/>
              <p:cNvGrpSpPr/>
              <p:nvPr/>
            </p:nvGrpSpPr>
            <p:grpSpPr>
              <a:xfrm>
                <a:off x="433" y="1968"/>
                <a:ext cx="430" cy="320"/>
                <a:chOff x="3540" y="1956"/>
                <a:chExt cx="468" cy="312"/>
              </a:xfrm>
            </p:grpSpPr>
            <p:sp>
              <p:nvSpPr>
                <p:cNvPr id="14370" name="Line 216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371" name="Line 217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372" name="Line 218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373" name="Line 219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374" name="Line 220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375" name="Line 221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376" name="Group 222"/>
              <p:cNvGrpSpPr/>
              <p:nvPr/>
            </p:nvGrpSpPr>
            <p:grpSpPr>
              <a:xfrm>
                <a:off x="753" y="2145"/>
                <a:ext cx="430" cy="320"/>
                <a:chOff x="3540" y="1956"/>
                <a:chExt cx="468" cy="312"/>
              </a:xfrm>
            </p:grpSpPr>
            <p:sp>
              <p:nvSpPr>
                <p:cNvPr id="14377" name="Line 223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378" name="Line 224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379" name="Line 225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380" name="Line 226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381" name="Line 227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382" name="Line 228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4383" name="Text Box 229"/>
              <p:cNvSpPr txBox="1"/>
              <p:nvPr/>
            </p:nvSpPr>
            <p:spPr>
              <a:xfrm>
                <a:off x="878" y="1863"/>
                <a:ext cx="203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b" anchorCtr="0">
                <a:spAutoFit/>
              </a:bodyPr>
              <a:lstStyle/>
              <a:p>
                <a:r>
                  <a:rPr lang="en-US" altLang="zh-CN" sz="1600" dirty="0">
                    <a:solidFill>
                      <a:srgbClr val="CC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f</a:t>
                </a:r>
                <a:r>
                  <a:rPr lang="en-US" altLang="zh-CN" sz="1600" baseline="-25000" dirty="0">
                    <a:solidFill>
                      <a:srgbClr val="CC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600" dirty="0">
                  <a:solidFill>
                    <a:srgbClr val="CC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384" name="Group 253"/>
            <p:cNvGrpSpPr/>
            <p:nvPr/>
          </p:nvGrpSpPr>
          <p:grpSpPr>
            <a:xfrm>
              <a:off x="2257" y="1345"/>
              <a:ext cx="761" cy="640"/>
              <a:chOff x="2257" y="1345"/>
              <a:chExt cx="761" cy="640"/>
            </a:xfrm>
          </p:grpSpPr>
          <p:grpSp>
            <p:nvGrpSpPr>
              <p:cNvPr id="14385" name="Group 231"/>
              <p:cNvGrpSpPr/>
              <p:nvPr/>
            </p:nvGrpSpPr>
            <p:grpSpPr>
              <a:xfrm>
                <a:off x="2588" y="1345"/>
                <a:ext cx="430" cy="320"/>
                <a:chOff x="3540" y="1956"/>
                <a:chExt cx="468" cy="312"/>
              </a:xfrm>
            </p:grpSpPr>
            <p:sp>
              <p:nvSpPr>
                <p:cNvPr id="14386" name="Line 232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387" name="Line 233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388" name="Line 234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389" name="Line 235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390" name="Line 236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391" name="Line 237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392" name="Group 238"/>
              <p:cNvGrpSpPr/>
              <p:nvPr/>
            </p:nvGrpSpPr>
            <p:grpSpPr>
              <a:xfrm>
                <a:off x="2257" y="1488"/>
                <a:ext cx="430" cy="320"/>
                <a:chOff x="3540" y="1956"/>
                <a:chExt cx="468" cy="312"/>
              </a:xfrm>
            </p:grpSpPr>
            <p:sp>
              <p:nvSpPr>
                <p:cNvPr id="14393" name="Line 239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394" name="Line 240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395" name="Line 241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396" name="Line 242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397" name="Line 243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398" name="Line 244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399" name="Group 245"/>
              <p:cNvGrpSpPr/>
              <p:nvPr/>
            </p:nvGrpSpPr>
            <p:grpSpPr>
              <a:xfrm>
                <a:off x="2577" y="1665"/>
                <a:ext cx="430" cy="320"/>
                <a:chOff x="3540" y="1956"/>
                <a:chExt cx="468" cy="312"/>
              </a:xfrm>
            </p:grpSpPr>
            <p:sp>
              <p:nvSpPr>
                <p:cNvPr id="14400" name="Line 246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01" name="Line 247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02" name="Line 248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03" name="Line 249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04" name="Line 250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05" name="Line 251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4406" name="Text Box 252"/>
              <p:cNvSpPr txBox="1"/>
              <p:nvPr/>
            </p:nvSpPr>
            <p:spPr>
              <a:xfrm>
                <a:off x="2702" y="1383"/>
                <a:ext cx="203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b" anchorCtr="0">
                <a:spAutoFit/>
              </a:bodyPr>
              <a:lstStyle/>
              <a:p>
                <a:r>
                  <a:rPr lang="en-US" altLang="zh-CN" sz="16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f</a:t>
                </a:r>
                <a:r>
                  <a:rPr lang="en-US" altLang="zh-CN" sz="1600" baseline="-250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4407" name="Group 254"/>
          <p:cNvGrpSpPr/>
          <p:nvPr/>
        </p:nvGrpSpPr>
        <p:grpSpPr>
          <a:xfrm>
            <a:off x="7050088" y="2992438"/>
            <a:ext cx="1208087" cy="1016000"/>
            <a:chOff x="2257" y="1345"/>
            <a:chExt cx="761" cy="640"/>
          </a:xfrm>
        </p:grpSpPr>
        <p:grpSp>
          <p:nvGrpSpPr>
            <p:cNvPr id="14408" name="Group 255"/>
            <p:cNvGrpSpPr/>
            <p:nvPr/>
          </p:nvGrpSpPr>
          <p:grpSpPr>
            <a:xfrm>
              <a:off x="2588" y="1345"/>
              <a:ext cx="430" cy="320"/>
              <a:chOff x="3540" y="1956"/>
              <a:chExt cx="468" cy="312"/>
            </a:xfrm>
          </p:grpSpPr>
          <p:sp>
            <p:nvSpPr>
              <p:cNvPr id="14409" name="Line 256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10" name="Line 257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11" name="Line 258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12" name="Line 259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13" name="Line 260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14" name="Line 261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4415" name="Group 262"/>
            <p:cNvGrpSpPr/>
            <p:nvPr/>
          </p:nvGrpSpPr>
          <p:grpSpPr>
            <a:xfrm>
              <a:off x="2257" y="1488"/>
              <a:ext cx="430" cy="320"/>
              <a:chOff x="3540" y="1956"/>
              <a:chExt cx="468" cy="312"/>
            </a:xfrm>
          </p:grpSpPr>
          <p:sp>
            <p:nvSpPr>
              <p:cNvPr id="14416" name="Line 263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17" name="Line 264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18" name="Line 265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19" name="Line 266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20" name="Line 267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21" name="Line 268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4422" name="Group 269"/>
            <p:cNvGrpSpPr/>
            <p:nvPr/>
          </p:nvGrpSpPr>
          <p:grpSpPr>
            <a:xfrm>
              <a:off x="2577" y="1665"/>
              <a:ext cx="430" cy="320"/>
              <a:chOff x="3540" y="1956"/>
              <a:chExt cx="468" cy="312"/>
            </a:xfrm>
          </p:grpSpPr>
          <p:sp>
            <p:nvSpPr>
              <p:cNvPr id="14423" name="Line 270"/>
              <p:cNvSpPr/>
              <p:nvPr/>
            </p:nvSpPr>
            <p:spPr>
              <a:xfrm>
                <a:off x="3660" y="19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24" name="Line 271"/>
              <p:cNvSpPr/>
              <p:nvPr/>
            </p:nvSpPr>
            <p:spPr>
              <a:xfrm>
                <a:off x="3660" y="225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25" name="Line 272"/>
              <p:cNvSpPr/>
              <p:nvPr/>
            </p:nvSpPr>
            <p:spPr>
              <a:xfrm flipH="1">
                <a:off x="3900" y="2112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26" name="Line 273"/>
              <p:cNvSpPr/>
              <p:nvPr/>
            </p:nvSpPr>
            <p:spPr>
              <a:xfrm flipH="1">
                <a:off x="3540" y="1956"/>
                <a:ext cx="108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27" name="Line 274"/>
              <p:cNvSpPr/>
              <p:nvPr/>
            </p:nvSpPr>
            <p:spPr>
              <a:xfrm>
                <a:off x="3552" y="210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28" name="Line 275"/>
              <p:cNvSpPr/>
              <p:nvPr/>
            </p:nvSpPr>
            <p:spPr>
              <a:xfrm>
                <a:off x="3912" y="1980"/>
                <a:ext cx="96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4429" name="Text Box 276"/>
            <p:cNvSpPr txBox="1"/>
            <p:nvPr/>
          </p:nvSpPr>
          <p:spPr>
            <a:xfrm>
              <a:off x="2702" y="1383"/>
              <a:ext cx="203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rPr>
                <a:t>f</a:t>
              </a:r>
              <a:r>
                <a:rPr lang="en-US" altLang="zh-CN" sz="16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430" name="Group 278"/>
          <p:cNvGrpSpPr/>
          <p:nvPr/>
        </p:nvGrpSpPr>
        <p:grpSpPr>
          <a:xfrm>
            <a:off x="6021388" y="2211388"/>
            <a:ext cx="1741487" cy="1758950"/>
            <a:chOff x="1921" y="1345"/>
            <a:chExt cx="1097" cy="1108"/>
          </a:xfrm>
        </p:grpSpPr>
        <p:grpSp>
          <p:nvGrpSpPr>
            <p:cNvPr id="14431" name="Group 279"/>
            <p:cNvGrpSpPr/>
            <p:nvPr/>
          </p:nvGrpSpPr>
          <p:grpSpPr>
            <a:xfrm>
              <a:off x="1921" y="1813"/>
              <a:ext cx="761" cy="640"/>
              <a:chOff x="433" y="1825"/>
              <a:chExt cx="761" cy="640"/>
            </a:xfrm>
          </p:grpSpPr>
          <p:grpSp>
            <p:nvGrpSpPr>
              <p:cNvPr id="14432" name="Group 280"/>
              <p:cNvGrpSpPr/>
              <p:nvPr/>
            </p:nvGrpSpPr>
            <p:grpSpPr>
              <a:xfrm>
                <a:off x="764" y="1825"/>
                <a:ext cx="430" cy="320"/>
                <a:chOff x="3540" y="1956"/>
                <a:chExt cx="468" cy="312"/>
              </a:xfrm>
            </p:grpSpPr>
            <p:sp>
              <p:nvSpPr>
                <p:cNvPr id="14433" name="Line 281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34" name="Line 282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35" name="Line 283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36" name="Line 284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37" name="Line 285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38" name="Line 286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39" name="Group 287"/>
              <p:cNvGrpSpPr/>
              <p:nvPr/>
            </p:nvGrpSpPr>
            <p:grpSpPr>
              <a:xfrm>
                <a:off x="433" y="1968"/>
                <a:ext cx="430" cy="320"/>
                <a:chOff x="3540" y="1956"/>
                <a:chExt cx="468" cy="312"/>
              </a:xfrm>
            </p:grpSpPr>
            <p:sp>
              <p:nvSpPr>
                <p:cNvPr id="14440" name="Line 288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41" name="Line 289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42" name="Line 290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43" name="Line 291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44" name="Line 292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45" name="Line 293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46" name="Group 294"/>
              <p:cNvGrpSpPr/>
              <p:nvPr/>
            </p:nvGrpSpPr>
            <p:grpSpPr>
              <a:xfrm>
                <a:off x="753" y="2145"/>
                <a:ext cx="430" cy="320"/>
                <a:chOff x="3540" y="1956"/>
                <a:chExt cx="468" cy="312"/>
              </a:xfrm>
            </p:grpSpPr>
            <p:sp>
              <p:nvSpPr>
                <p:cNvPr id="14447" name="Line 295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48" name="Line 296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49" name="Line 297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50" name="Line 298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51" name="Line 299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52" name="Line 300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4453" name="Text Box 301"/>
              <p:cNvSpPr txBox="1"/>
              <p:nvPr/>
            </p:nvSpPr>
            <p:spPr>
              <a:xfrm>
                <a:off x="878" y="1863"/>
                <a:ext cx="203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b" anchorCtr="0">
                <a:spAutoFit/>
              </a:bodyPr>
              <a:lstStyle/>
              <a:p>
                <a:r>
                  <a:rPr lang="en-US" altLang="zh-CN" sz="1600" dirty="0">
                    <a:solidFill>
                      <a:srgbClr val="CC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f</a:t>
                </a:r>
                <a:r>
                  <a:rPr lang="en-US" altLang="zh-CN" sz="1600" baseline="-25000" dirty="0">
                    <a:solidFill>
                      <a:srgbClr val="CC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600" dirty="0">
                  <a:solidFill>
                    <a:srgbClr val="CC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454" name="Group 302"/>
            <p:cNvGrpSpPr/>
            <p:nvPr/>
          </p:nvGrpSpPr>
          <p:grpSpPr>
            <a:xfrm>
              <a:off x="2257" y="1345"/>
              <a:ext cx="761" cy="640"/>
              <a:chOff x="2257" y="1345"/>
              <a:chExt cx="761" cy="640"/>
            </a:xfrm>
          </p:grpSpPr>
          <p:grpSp>
            <p:nvGrpSpPr>
              <p:cNvPr id="14455" name="Group 303"/>
              <p:cNvGrpSpPr/>
              <p:nvPr/>
            </p:nvGrpSpPr>
            <p:grpSpPr>
              <a:xfrm>
                <a:off x="2588" y="1345"/>
                <a:ext cx="430" cy="320"/>
                <a:chOff x="3540" y="1956"/>
                <a:chExt cx="468" cy="312"/>
              </a:xfrm>
            </p:grpSpPr>
            <p:sp>
              <p:nvSpPr>
                <p:cNvPr id="14456" name="Line 304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57" name="Line 305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58" name="Line 306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59" name="Line 307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60" name="Line 308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61" name="Line 309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62" name="Group 310"/>
              <p:cNvGrpSpPr/>
              <p:nvPr/>
            </p:nvGrpSpPr>
            <p:grpSpPr>
              <a:xfrm>
                <a:off x="2257" y="1488"/>
                <a:ext cx="430" cy="320"/>
                <a:chOff x="3540" y="1956"/>
                <a:chExt cx="468" cy="312"/>
              </a:xfrm>
            </p:grpSpPr>
            <p:sp>
              <p:nvSpPr>
                <p:cNvPr id="14463" name="Line 311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64" name="Line 312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65" name="Line 313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66" name="Line 314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67" name="Line 315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68" name="Line 316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69" name="Group 317"/>
              <p:cNvGrpSpPr/>
              <p:nvPr/>
            </p:nvGrpSpPr>
            <p:grpSpPr>
              <a:xfrm>
                <a:off x="2577" y="1665"/>
                <a:ext cx="430" cy="320"/>
                <a:chOff x="3540" y="1956"/>
                <a:chExt cx="468" cy="312"/>
              </a:xfrm>
            </p:grpSpPr>
            <p:sp>
              <p:nvSpPr>
                <p:cNvPr id="14470" name="Line 318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71" name="Line 319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72" name="Line 320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73" name="Line 321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74" name="Line 322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475" name="Line 323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4476" name="Text Box 324"/>
              <p:cNvSpPr txBox="1"/>
              <p:nvPr/>
            </p:nvSpPr>
            <p:spPr>
              <a:xfrm>
                <a:off x="2702" y="1383"/>
                <a:ext cx="203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b" anchorCtr="0">
                <a:spAutoFit/>
              </a:bodyPr>
              <a:lstStyle/>
              <a:p>
                <a:r>
                  <a:rPr lang="en-US" altLang="zh-CN" sz="16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f</a:t>
                </a:r>
                <a:r>
                  <a:rPr lang="en-US" altLang="zh-CN" sz="1600" baseline="-250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1</a:t>
                </a:r>
                <a:endPara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4477" name="Line 325"/>
          <p:cNvSpPr/>
          <p:nvPr/>
        </p:nvSpPr>
        <p:spPr>
          <a:xfrm>
            <a:off x="2343150" y="3028950"/>
            <a:ext cx="59055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4478" name="Line 326"/>
          <p:cNvSpPr/>
          <p:nvPr/>
        </p:nvSpPr>
        <p:spPr>
          <a:xfrm>
            <a:off x="5391150" y="3009900"/>
            <a:ext cx="59055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4479" name="Rectangle 33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簇的组合</a:t>
            </a:r>
          </a:p>
        </p:txBody>
      </p:sp>
      <p:sp>
        <p:nvSpPr>
          <p:cNvPr id="14480" name="内容占位符 146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2700337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三蜂窝簇的组合</a:t>
            </a:r>
          </a:p>
        </p:txBody>
      </p:sp>
      <p:sp>
        <p:nvSpPr>
          <p:cNvPr id="14481" name="Text Box 3"/>
          <p:cNvSpPr txBox="1"/>
          <p:nvPr/>
        </p:nvSpPr>
        <p:spPr>
          <a:xfrm>
            <a:off x="522288" y="4914900"/>
            <a:ext cx="4373562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b" anchorCtr="0">
            <a:spAutoFit/>
          </a:bodyPr>
          <a:lstStyle/>
          <a:p>
            <a:r>
              <a:rPr lang="en-US" altLang="zh-CN" sz="32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en-US" altLang="zh-CN" sz="32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1, </a:t>
            </a:r>
            <a:r>
              <a:rPr lang="en-US" altLang="zh-CN" sz="32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32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1, </a:t>
            </a:r>
            <a:r>
              <a:rPr lang="en-US" altLang="zh-CN" sz="32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 </a:t>
            </a:r>
            <a:r>
              <a:rPr lang="en-US" altLang="zh-CN" sz="32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3, </a:t>
            </a:r>
            <a:r>
              <a:rPr lang="en-US" altLang="zh-CN" sz="32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32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3</a:t>
            </a:r>
            <a:r>
              <a:rPr lang="en-US" altLang="zh-CN" sz="32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3"/>
          <p:cNvSpPr txBox="1"/>
          <p:nvPr/>
        </p:nvSpPr>
        <p:spPr>
          <a:xfrm>
            <a:off x="566738" y="5454650"/>
            <a:ext cx="4678362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b" anchorCtr="0">
            <a:spAutoFit/>
          </a:bodyPr>
          <a:lstStyle/>
          <a:p>
            <a:r>
              <a:rPr lang="en-US" altLang="zh-CN" sz="32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en-US" altLang="zh-CN" sz="32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1, </a:t>
            </a:r>
            <a:r>
              <a:rPr lang="en-US" altLang="zh-CN" sz="32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32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2, </a:t>
            </a:r>
            <a:r>
              <a:rPr lang="en-US" altLang="zh-CN" sz="32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 </a:t>
            </a:r>
            <a:r>
              <a:rPr lang="en-US" altLang="zh-CN" sz="32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7, </a:t>
            </a:r>
            <a:r>
              <a:rPr lang="en-US" altLang="zh-CN" sz="32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32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4.6</a:t>
            </a:r>
            <a:r>
              <a:rPr lang="en-US" altLang="zh-CN" sz="32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15362" name="Line 144"/>
          <p:cNvSpPr/>
          <p:nvPr/>
        </p:nvSpPr>
        <p:spPr>
          <a:xfrm>
            <a:off x="2046288" y="3886200"/>
            <a:ext cx="59055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5363" name="Line 145"/>
          <p:cNvSpPr/>
          <p:nvPr/>
        </p:nvSpPr>
        <p:spPr>
          <a:xfrm>
            <a:off x="5195888" y="3886200"/>
            <a:ext cx="59055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15364" name="Group 201"/>
          <p:cNvGrpSpPr/>
          <p:nvPr/>
        </p:nvGrpSpPr>
        <p:grpSpPr>
          <a:xfrm>
            <a:off x="334963" y="2366963"/>
            <a:ext cx="1716087" cy="1511300"/>
            <a:chOff x="241" y="1417"/>
            <a:chExt cx="1081" cy="952"/>
          </a:xfrm>
        </p:grpSpPr>
        <p:grpSp>
          <p:nvGrpSpPr>
            <p:cNvPr id="15365" name="Group 147"/>
            <p:cNvGrpSpPr/>
            <p:nvPr/>
          </p:nvGrpSpPr>
          <p:grpSpPr>
            <a:xfrm>
              <a:off x="241" y="1417"/>
              <a:ext cx="1081" cy="952"/>
              <a:chOff x="3721" y="853"/>
              <a:chExt cx="1081" cy="952"/>
            </a:xfrm>
          </p:grpSpPr>
          <p:grpSp>
            <p:nvGrpSpPr>
              <p:cNvPr id="15366" name="Group 148"/>
              <p:cNvGrpSpPr/>
              <p:nvPr/>
            </p:nvGrpSpPr>
            <p:grpSpPr>
              <a:xfrm>
                <a:off x="4052" y="853"/>
                <a:ext cx="430" cy="320"/>
                <a:chOff x="3540" y="1956"/>
                <a:chExt cx="468" cy="312"/>
              </a:xfrm>
            </p:grpSpPr>
            <p:sp>
              <p:nvSpPr>
                <p:cNvPr id="15367" name="Line 149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68" name="Line 150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69" name="Line 151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70" name="Line 152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71" name="Line 153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72" name="Line 154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373" name="Group 155"/>
              <p:cNvGrpSpPr/>
              <p:nvPr/>
            </p:nvGrpSpPr>
            <p:grpSpPr>
              <a:xfrm>
                <a:off x="3721" y="996"/>
                <a:ext cx="430" cy="320"/>
                <a:chOff x="3540" y="1956"/>
                <a:chExt cx="468" cy="312"/>
              </a:xfrm>
            </p:grpSpPr>
            <p:sp>
              <p:nvSpPr>
                <p:cNvPr id="15374" name="Line 156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75" name="Line 157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76" name="Line 158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77" name="Line 159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78" name="Line 160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79" name="Line 161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380" name="Group 162"/>
              <p:cNvGrpSpPr/>
              <p:nvPr/>
            </p:nvGrpSpPr>
            <p:grpSpPr>
              <a:xfrm>
                <a:off x="4041" y="1173"/>
                <a:ext cx="430" cy="320"/>
                <a:chOff x="3540" y="1956"/>
                <a:chExt cx="468" cy="312"/>
              </a:xfrm>
            </p:grpSpPr>
            <p:sp>
              <p:nvSpPr>
                <p:cNvPr id="15381" name="Line 163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82" name="Line 164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83" name="Line 165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84" name="Line 166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85" name="Line 167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86" name="Line 168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387" name="Group 169"/>
              <p:cNvGrpSpPr/>
              <p:nvPr/>
            </p:nvGrpSpPr>
            <p:grpSpPr>
              <a:xfrm>
                <a:off x="4372" y="1041"/>
                <a:ext cx="430" cy="320"/>
                <a:chOff x="3540" y="1956"/>
                <a:chExt cx="468" cy="312"/>
              </a:xfrm>
            </p:grpSpPr>
            <p:sp>
              <p:nvSpPr>
                <p:cNvPr id="15388" name="Line 170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89" name="Line 171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90" name="Line 172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91" name="Line 173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92" name="Line 174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93" name="Line 175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394" name="Group 176"/>
              <p:cNvGrpSpPr/>
              <p:nvPr/>
            </p:nvGrpSpPr>
            <p:grpSpPr>
              <a:xfrm>
                <a:off x="4360" y="1341"/>
                <a:ext cx="430" cy="320"/>
                <a:chOff x="3540" y="1956"/>
                <a:chExt cx="468" cy="312"/>
              </a:xfrm>
            </p:grpSpPr>
            <p:sp>
              <p:nvSpPr>
                <p:cNvPr id="15395" name="Line 177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96" name="Line 178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97" name="Line 179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98" name="Line 180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99" name="Line 181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00" name="Line 182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01" name="Group 183"/>
              <p:cNvGrpSpPr/>
              <p:nvPr/>
            </p:nvGrpSpPr>
            <p:grpSpPr>
              <a:xfrm>
                <a:off x="4048" y="1485"/>
                <a:ext cx="430" cy="320"/>
                <a:chOff x="3540" y="1956"/>
                <a:chExt cx="468" cy="312"/>
              </a:xfrm>
            </p:grpSpPr>
            <p:sp>
              <p:nvSpPr>
                <p:cNvPr id="15402" name="Line 184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03" name="Line 185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04" name="Line 186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05" name="Line 187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06" name="Line 188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07" name="Line 189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08" name="Group 190"/>
              <p:cNvGrpSpPr/>
              <p:nvPr/>
            </p:nvGrpSpPr>
            <p:grpSpPr>
              <a:xfrm>
                <a:off x="3724" y="1305"/>
                <a:ext cx="430" cy="320"/>
                <a:chOff x="3540" y="1956"/>
                <a:chExt cx="468" cy="312"/>
              </a:xfrm>
            </p:grpSpPr>
            <p:sp>
              <p:nvSpPr>
                <p:cNvPr id="15409" name="Line 191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10" name="Line 192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11" name="Line 193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12" name="Line 194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13" name="Line 195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14" name="Line 196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5415" name="Text Box 200"/>
            <p:cNvSpPr txBox="1"/>
            <p:nvPr/>
          </p:nvSpPr>
          <p:spPr>
            <a:xfrm>
              <a:off x="1034" y="1647"/>
              <a:ext cx="203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zh-CN" sz="1600" dirty="0">
                  <a:solidFill>
                    <a:srgbClr val="CC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f</a:t>
              </a:r>
              <a:r>
                <a:rPr lang="en-US" altLang="zh-CN" sz="1600" baseline="-25000" dirty="0">
                  <a:solidFill>
                    <a:srgbClr val="CC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5416" name="Group 306"/>
          <p:cNvGrpSpPr/>
          <p:nvPr/>
        </p:nvGrpSpPr>
        <p:grpSpPr>
          <a:xfrm>
            <a:off x="2862263" y="2478088"/>
            <a:ext cx="2230437" cy="2692400"/>
            <a:chOff x="1969" y="1213"/>
            <a:chExt cx="1405" cy="1696"/>
          </a:xfrm>
        </p:grpSpPr>
        <p:grpSp>
          <p:nvGrpSpPr>
            <p:cNvPr id="15417" name="Group 202"/>
            <p:cNvGrpSpPr/>
            <p:nvPr/>
          </p:nvGrpSpPr>
          <p:grpSpPr>
            <a:xfrm>
              <a:off x="1969" y="1957"/>
              <a:ext cx="1081" cy="952"/>
              <a:chOff x="241" y="1417"/>
              <a:chExt cx="1081" cy="952"/>
            </a:xfrm>
          </p:grpSpPr>
          <p:grpSp>
            <p:nvGrpSpPr>
              <p:cNvPr id="15418" name="Group 203"/>
              <p:cNvGrpSpPr/>
              <p:nvPr/>
            </p:nvGrpSpPr>
            <p:grpSpPr>
              <a:xfrm>
                <a:off x="241" y="1417"/>
                <a:ext cx="1081" cy="952"/>
                <a:chOff x="3721" y="853"/>
                <a:chExt cx="1081" cy="952"/>
              </a:xfrm>
            </p:grpSpPr>
            <p:grpSp>
              <p:nvGrpSpPr>
                <p:cNvPr id="15419" name="Group 204"/>
                <p:cNvGrpSpPr/>
                <p:nvPr/>
              </p:nvGrpSpPr>
              <p:grpSpPr>
                <a:xfrm>
                  <a:off x="4052" y="853"/>
                  <a:ext cx="430" cy="320"/>
                  <a:chOff x="3540" y="1956"/>
                  <a:chExt cx="468" cy="312"/>
                </a:xfrm>
              </p:grpSpPr>
              <p:sp>
                <p:nvSpPr>
                  <p:cNvPr id="15420" name="Line 205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21" name="Line 206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22" name="Line 207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23" name="Line 208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24" name="Line 209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25" name="Line 210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5426" name="Group 211"/>
                <p:cNvGrpSpPr/>
                <p:nvPr/>
              </p:nvGrpSpPr>
              <p:grpSpPr>
                <a:xfrm>
                  <a:off x="3721" y="996"/>
                  <a:ext cx="430" cy="320"/>
                  <a:chOff x="3540" y="1956"/>
                  <a:chExt cx="468" cy="312"/>
                </a:xfrm>
              </p:grpSpPr>
              <p:sp>
                <p:nvSpPr>
                  <p:cNvPr id="15427" name="Line 212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28" name="Line 213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29" name="Line 214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30" name="Line 215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31" name="Line 216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32" name="Line 217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5433" name="Group 218"/>
                <p:cNvGrpSpPr/>
                <p:nvPr/>
              </p:nvGrpSpPr>
              <p:grpSpPr>
                <a:xfrm>
                  <a:off x="4041" y="1173"/>
                  <a:ext cx="430" cy="320"/>
                  <a:chOff x="3540" y="1956"/>
                  <a:chExt cx="468" cy="312"/>
                </a:xfrm>
              </p:grpSpPr>
              <p:sp>
                <p:nvSpPr>
                  <p:cNvPr id="15434" name="Line 219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35" name="Line 220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36" name="Line 221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37" name="Line 222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38" name="Line 223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39" name="Line 224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5440" name="Group 225"/>
                <p:cNvGrpSpPr/>
                <p:nvPr/>
              </p:nvGrpSpPr>
              <p:grpSpPr>
                <a:xfrm>
                  <a:off x="4372" y="1041"/>
                  <a:ext cx="430" cy="320"/>
                  <a:chOff x="3540" y="1956"/>
                  <a:chExt cx="468" cy="312"/>
                </a:xfrm>
              </p:grpSpPr>
              <p:sp>
                <p:nvSpPr>
                  <p:cNvPr id="15441" name="Line 226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42" name="Line 227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43" name="Line 228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44" name="Line 229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45" name="Line 230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46" name="Line 231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5447" name="Group 232"/>
                <p:cNvGrpSpPr/>
                <p:nvPr/>
              </p:nvGrpSpPr>
              <p:grpSpPr>
                <a:xfrm>
                  <a:off x="4360" y="1341"/>
                  <a:ext cx="430" cy="320"/>
                  <a:chOff x="3540" y="1956"/>
                  <a:chExt cx="468" cy="312"/>
                </a:xfrm>
              </p:grpSpPr>
              <p:sp>
                <p:nvSpPr>
                  <p:cNvPr id="15448" name="Line 233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49" name="Line 234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50" name="Line 235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51" name="Line 236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52" name="Line 237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53" name="Line 238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5454" name="Group 239"/>
                <p:cNvGrpSpPr/>
                <p:nvPr/>
              </p:nvGrpSpPr>
              <p:grpSpPr>
                <a:xfrm>
                  <a:off x="4048" y="1485"/>
                  <a:ext cx="430" cy="320"/>
                  <a:chOff x="3540" y="1956"/>
                  <a:chExt cx="468" cy="312"/>
                </a:xfrm>
              </p:grpSpPr>
              <p:sp>
                <p:nvSpPr>
                  <p:cNvPr id="15455" name="Line 240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56" name="Line 241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57" name="Line 242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58" name="Line 243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59" name="Line 244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60" name="Line 245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5461" name="Group 246"/>
                <p:cNvGrpSpPr/>
                <p:nvPr/>
              </p:nvGrpSpPr>
              <p:grpSpPr>
                <a:xfrm>
                  <a:off x="3724" y="1305"/>
                  <a:ext cx="430" cy="320"/>
                  <a:chOff x="3540" y="1956"/>
                  <a:chExt cx="468" cy="312"/>
                </a:xfrm>
              </p:grpSpPr>
              <p:sp>
                <p:nvSpPr>
                  <p:cNvPr id="15462" name="Line 247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63" name="Line 248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64" name="Line 249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65" name="Line 250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66" name="Line 251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467" name="Line 252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15468" name="Text Box 253"/>
              <p:cNvSpPr txBox="1"/>
              <p:nvPr/>
            </p:nvSpPr>
            <p:spPr>
              <a:xfrm>
                <a:off x="1034" y="1647"/>
                <a:ext cx="203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b" anchorCtr="0">
                <a:spAutoFit/>
              </a:bodyPr>
              <a:lstStyle/>
              <a:p>
                <a:r>
                  <a:rPr lang="en-US" altLang="zh-CN" sz="1600" dirty="0">
                    <a:solidFill>
                      <a:srgbClr val="CC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f</a:t>
                </a:r>
                <a:r>
                  <a:rPr lang="en-US" altLang="zh-CN" sz="1600" baseline="-25000" dirty="0">
                    <a:solidFill>
                      <a:srgbClr val="CC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15469" name="Group 255"/>
            <p:cNvGrpSpPr/>
            <p:nvPr/>
          </p:nvGrpSpPr>
          <p:grpSpPr>
            <a:xfrm>
              <a:off x="2293" y="1213"/>
              <a:ext cx="1081" cy="952"/>
              <a:chOff x="3721" y="853"/>
              <a:chExt cx="1081" cy="952"/>
            </a:xfrm>
          </p:grpSpPr>
          <p:grpSp>
            <p:nvGrpSpPr>
              <p:cNvPr id="15470" name="Group 256"/>
              <p:cNvGrpSpPr/>
              <p:nvPr/>
            </p:nvGrpSpPr>
            <p:grpSpPr>
              <a:xfrm>
                <a:off x="4052" y="853"/>
                <a:ext cx="430" cy="320"/>
                <a:chOff x="3540" y="1956"/>
                <a:chExt cx="468" cy="312"/>
              </a:xfrm>
            </p:grpSpPr>
            <p:sp>
              <p:nvSpPr>
                <p:cNvPr id="15471" name="Line 257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72" name="Line 258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73" name="Line 259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74" name="Line 260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75" name="Line 261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76" name="Line 262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77" name="Group 263"/>
              <p:cNvGrpSpPr/>
              <p:nvPr/>
            </p:nvGrpSpPr>
            <p:grpSpPr>
              <a:xfrm>
                <a:off x="3721" y="996"/>
                <a:ext cx="430" cy="320"/>
                <a:chOff x="3540" y="1956"/>
                <a:chExt cx="468" cy="312"/>
              </a:xfrm>
            </p:grpSpPr>
            <p:sp>
              <p:nvSpPr>
                <p:cNvPr id="15478" name="Line 264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79" name="Line 265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80" name="Line 266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81" name="Line 267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82" name="Line 268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83" name="Line 269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84" name="Group 270"/>
              <p:cNvGrpSpPr/>
              <p:nvPr/>
            </p:nvGrpSpPr>
            <p:grpSpPr>
              <a:xfrm>
                <a:off x="4041" y="1173"/>
                <a:ext cx="430" cy="320"/>
                <a:chOff x="3540" y="1956"/>
                <a:chExt cx="468" cy="312"/>
              </a:xfrm>
            </p:grpSpPr>
            <p:sp>
              <p:nvSpPr>
                <p:cNvPr id="15485" name="Line 271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86" name="Line 272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87" name="Line 273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88" name="Line 274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89" name="Line 275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90" name="Line 276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91" name="Group 277"/>
              <p:cNvGrpSpPr/>
              <p:nvPr/>
            </p:nvGrpSpPr>
            <p:grpSpPr>
              <a:xfrm>
                <a:off x="4372" y="1041"/>
                <a:ext cx="430" cy="320"/>
                <a:chOff x="3540" y="1956"/>
                <a:chExt cx="468" cy="312"/>
              </a:xfrm>
            </p:grpSpPr>
            <p:sp>
              <p:nvSpPr>
                <p:cNvPr id="15492" name="Line 278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93" name="Line 279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94" name="Line 280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95" name="Line 281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96" name="Line 282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497" name="Line 283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498" name="Group 284"/>
              <p:cNvGrpSpPr/>
              <p:nvPr/>
            </p:nvGrpSpPr>
            <p:grpSpPr>
              <a:xfrm>
                <a:off x="4360" y="1341"/>
                <a:ext cx="430" cy="320"/>
                <a:chOff x="3540" y="1956"/>
                <a:chExt cx="468" cy="312"/>
              </a:xfrm>
            </p:grpSpPr>
            <p:sp>
              <p:nvSpPr>
                <p:cNvPr id="15499" name="Line 285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00" name="Line 286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01" name="Line 287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02" name="Line 288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03" name="Line 289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04" name="Line 290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505" name="Group 291"/>
              <p:cNvGrpSpPr/>
              <p:nvPr/>
            </p:nvGrpSpPr>
            <p:grpSpPr>
              <a:xfrm>
                <a:off x="4048" y="1485"/>
                <a:ext cx="430" cy="320"/>
                <a:chOff x="3540" y="1956"/>
                <a:chExt cx="468" cy="312"/>
              </a:xfrm>
            </p:grpSpPr>
            <p:sp>
              <p:nvSpPr>
                <p:cNvPr id="15506" name="Line 292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07" name="Line 293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08" name="Line 294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09" name="Line 295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10" name="Line 296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11" name="Line 297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5512" name="Group 298"/>
              <p:cNvGrpSpPr/>
              <p:nvPr/>
            </p:nvGrpSpPr>
            <p:grpSpPr>
              <a:xfrm>
                <a:off x="3724" y="1305"/>
                <a:ext cx="430" cy="320"/>
                <a:chOff x="3540" y="1956"/>
                <a:chExt cx="468" cy="312"/>
              </a:xfrm>
            </p:grpSpPr>
            <p:sp>
              <p:nvSpPr>
                <p:cNvPr id="15513" name="Line 299"/>
                <p:cNvSpPr/>
                <p:nvPr/>
              </p:nvSpPr>
              <p:spPr>
                <a:xfrm>
                  <a:off x="3660" y="19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14" name="Line 300"/>
                <p:cNvSpPr/>
                <p:nvPr/>
              </p:nvSpPr>
              <p:spPr>
                <a:xfrm>
                  <a:off x="3660" y="2256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15" name="Line 301"/>
                <p:cNvSpPr/>
                <p:nvPr/>
              </p:nvSpPr>
              <p:spPr>
                <a:xfrm flipH="1">
                  <a:off x="3900" y="2112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16" name="Line 302"/>
                <p:cNvSpPr/>
                <p:nvPr/>
              </p:nvSpPr>
              <p:spPr>
                <a:xfrm flipH="1">
                  <a:off x="3540" y="1956"/>
                  <a:ext cx="108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17" name="Line 303"/>
                <p:cNvSpPr/>
                <p:nvPr/>
              </p:nvSpPr>
              <p:spPr>
                <a:xfrm>
                  <a:off x="3552" y="210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518" name="Line 304"/>
                <p:cNvSpPr/>
                <p:nvPr/>
              </p:nvSpPr>
              <p:spPr>
                <a:xfrm>
                  <a:off x="3912" y="1980"/>
                  <a:ext cx="96" cy="1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5519" name="Text Box 305"/>
            <p:cNvSpPr txBox="1"/>
            <p:nvPr/>
          </p:nvSpPr>
          <p:spPr>
            <a:xfrm>
              <a:off x="3086" y="1443"/>
              <a:ext cx="203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b" anchorCtr="0">
              <a:spAutoFit/>
            </a:bodyPr>
            <a:lstStyle/>
            <a:p>
              <a:r>
                <a: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rPr>
                <a:t>f</a:t>
              </a:r>
              <a:r>
                <a:rPr lang="en-US" altLang="zh-CN" sz="16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5520" name="Group 464"/>
          <p:cNvGrpSpPr/>
          <p:nvPr/>
        </p:nvGrpSpPr>
        <p:grpSpPr>
          <a:xfrm>
            <a:off x="5726113" y="3122613"/>
            <a:ext cx="3255962" cy="2692400"/>
            <a:chOff x="3397" y="1501"/>
            <a:chExt cx="2051" cy="1696"/>
          </a:xfrm>
        </p:grpSpPr>
        <p:grpSp>
          <p:nvGrpSpPr>
            <p:cNvPr id="15521" name="Group 308"/>
            <p:cNvGrpSpPr/>
            <p:nvPr/>
          </p:nvGrpSpPr>
          <p:grpSpPr>
            <a:xfrm>
              <a:off x="3397" y="2245"/>
              <a:ext cx="1081" cy="952"/>
              <a:chOff x="241" y="1417"/>
              <a:chExt cx="1081" cy="952"/>
            </a:xfrm>
          </p:grpSpPr>
          <p:grpSp>
            <p:nvGrpSpPr>
              <p:cNvPr id="15522" name="Group 309"/>
              <p:cNvGrpSpPr/>
              <p:nvPr/>
            </p:nvGrpSpPr>
            <p:grpSpPr>
              <a:xfrm>
                <a:off x="241" y="1417"/>
                <a:ext cx="1081" cy="952"/>
                <a:chOff x="3721" y="853"/>
                <a:chExt cx="1081" cy="952"/>
              </a:xfrm>
            </p:grpSpPr>
            <p:grpSp>
              <p:nvGrpSpPr>
                <p:cNvPr id="15523" name="Group 310"/>
                <p:cNvGrpSpPr/>
                <p:nvPr/>
              </p:nvGrpSpPr>
              <p:grpSpPr>
                <a:xfrm>
                  <a:off x="4052" y="853"/>
                  <a:ext cx="430" cy="320"/>
                  <a:chOff x="3540" y="1956"/>
                  <a:chExt cx="468" cy="312"/>
                </a:xfrm>
              </p:grpSpPr>
              <p:sp>
                <p:nvSpPr>
                  <p:cNvPr id="15524" name="Line 311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25" name="Line 312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26" name="Line 313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27" name="Line 314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28" name="Line 315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29" name="Line 316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5530" name="Group 317"/>
                <p:cNvGrpSpPr/>
                <p:nvPr/>
              </p:nvGrpSpPr>
              <p:grpSpPr>
                <a:xfrm>
                  <a:off x="3721" y="996"/>
                  <a:ext cx="430" cy="320"/>
                  <a:chOff x="3540" y="1956"/>
                  <a:chExt cx="468" cy="312"/>
                </a:xfrm>
              </p:grpSpPr>
              <p:sp>
                <p:nvSpPr>
                  <p:cNvPr id="15531" name="Line 318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32" name="Line 319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33" name="Line 320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34" name="Line 321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35" name="Line 322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36" name="Line 323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5537" name="Group 324"/>
                <p:cNvGrpSpPr/>
                <p:nvPr/>
              </p:nvGrpSpPr>
              <p:grpSpPr>
                <a:xfrm>
                  <a:off x="4041" y="1173"/>
                  <a:ext cx="430" cy="320"/>
                  <a:chOff x="3540" y="1956"/>
                  <a:chExt cx="468" cy="312"/>
                </a:xfrm>
              </p:grpSpPr>
              <p:sp>
                <p:nvSpPr>
                  <p:cNvPr id="15538" name="Line 325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39" name="Line 326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40" name="Line 327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41" name="Line 328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42" name="Line 329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43" name="Line 330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5544" name="Group 331"/>
                <p:cNvGrpSpPr/>
                <p:nvPr/>
              </p:nvGrpSpPr>
              <p:grpSpPr>
                <a:xfrm>
                  <a:off x="4372" y="1041"/>
                  <a:ext cx="430" cy="320"/>
                  <a:chOff x="3540" y="1956"/>
                  <a:chExt cx="468" cy="312"/>
                </a:xfrm>
              </p:grpSpPr>
              <p:sp>
                <p:nvSpPr>
                  <p:cNvPr id="15545" name="Line 332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46" name="Line 333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47" name="Line 334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48" name="Line 335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49" name="Line 336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50" name="Line 337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5551" name="Group 338"/>
                <p:cNvGrpSpPr/>
                <p:nvPr/>
              </p:nvGrpSpPr>
              <p:grpSpPr>
                <a:xfrm>
                  <a:off x="4360" y="1341"/>
                  <a:ext cx="430" cy="320"/>
                  <a:chOff x="3540" y="1956"/>
                  <a:chExt cx="468" cy="312"/>
                </a:xfrm>
              </p:grpSpPr>
              <p:sp>
                <p:nvSpPr>
                  <p:cNvPr id="15552" name="Line 339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53" name="Line 340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54" name="Line 341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55" name="Line 342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56" name="Line 343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57" name="Line 344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5558" name="Group 345"/>
                <p:cNvGrpSpPr/>
                <p:nvPr/>
              </p:nvGrpSpPr>
              <p:grpSpPr>
                <a:xfrm>
                  <a:off x="4048" y="1485"/>
                  <a:ext cx="430" cy="320"/>
                  <a:chOff x="3540" y="1956"/>
                  <a:chExt cx="468" cy="312"/>
                </a:xfrm>
              </p:grpSpPr>
              <p:sp>
                <p:nvSpPr>
                  <p:cNvPr id="15559" name="Line 346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60" name="Line 347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61" name="Line 348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62" name="Line 349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63" name="Line 350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64" name="Line 351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5565" name="Group 352"/>
                <p:cNvGrpSpPr/>
                <p:nvPr/>
              </p:nvGrpSpPr>
              <p:grpSpPr>
                <a:xfrm>
                  <a:off x="3724" y="1305"/>
                  <a:ext cx="430" cy="320"/>
                  <a:chOff x="3540" y="1956"/>
                  <a:chExt cx="468" cy="312"/>
                </a:xfrm>
              </p:grpSpPr>
              <p:sp>
                <p:nvSpPr>
                  <p:cNvPr id="15566" name="Line 353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67" name="Line 354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68" name="Line 355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69" name="Line 356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70" name="Line 357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71" name="Line 358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15572" name="Text Box 359"/>
              <p:cNvSpPr txBox="1"/>
              <p:nvPr/>
            </p:nvSpPr>
            <p:spPr>
              <a:xfrm>
                <a:off x="1034" y="1647"/>
                <a:ext cx="203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b" anchorCtr="0">
                <a:spAutoFit/>
              </a:bodyPr>
              <a:lstStyle/>
              <a:p>
                <a:r>
                  <a:rPr lang="en-US" altLang="zh-CN" sz="1600" dirty="0">
                    <a:solidFill>
                      <a:srgbClr val="CC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f</a:t>
                </a:r>
                <a:r>
                  <a:rPr lang="en-US" altLang="zh-CN" sz="1600" baseline="-25000" dirty="0">
                    <a:solidFill>
                      <a:srgbClr val="CC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15573" name="Group 411"/>
            <p:cNvGrpSpPr/>
            <p:nvPr/>
          </p:nvGrpSpPr>
          <p:grpSpPr>
            <a:xfrm>
              <a:off x="3721" y="1501"/>
              <a:ext cx="1081" cy="952"/>
              <a:chOff x="3721" y="1501"/>
              <a:chExt cx="1081" cy="952"/>
            </a:xfrm>
          </p:grpSpPr>
          <p:grpSp>
            <p:nvGrpSpPr>
              <p:cNvPr id="15574" name="Group 360"/>
              <p:cNvGrpSpPr/>
              <p:nvPr/>
            </p:nvGrpSpPr>
            <p:grpSpPr>
              <a:xfrm>
                <a:off x="3721" y="1501"/>
                <a:ext cx="1081" cy="952"/>
                <a:chOff x="3721" y="853"/>
                <a:chExt cx="1081" cy="952"/>
              </a:xfrm>
            </p:grpSpPr>
            <p:grpSp>
              <p:nvGrpSpPr>
                <p:cNvPr id="15575" name="Group 361"/>
                <p:cNvGrpSpPr/>
                <p:nvPr/>
              </p:nvGrpSpPr>
              <p:grpSpPr>
                <a:xfrm>
                  <a:off x="4052" y="853"/>
                  <a:ext cx="430" cy="320"/>
                  <a:chOff x="3540" y="1956"/>
                  <a:chExt cx="468" cy="312"/>
                </a:xfrm>
              </p:grpSpPr>
              <p:sp>
                <p:nvSpPr>
                  <p:cNvPr id="15576" name="Line 362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77" name="Line 363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78" name="Line 364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79" name="Line 365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80" name="Line 366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81" name="Line 367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5582" name="Group 368"/>
                <p:cNvGrpSpPr/>
                <p:nvPr/>
              </p:nvGrpSpPr>
              <p:grpSpPr>
                <a:xfrm>
                  <a:off x="3721" y="996"/>
                  <a:ext cx="430" cy="320"/>
                  <a:chOff x="3540" y="1956"/>
                  <a:chExt cx="468" cy="312"/>
                </a:xfrm>
              </p:grpSpPr>
              <p:sp>
                <p:nvSpPr>
                  <p:cNvPr id="15583" name="Line 369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84" name="Line 370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85" name="Line 371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86" name="Line 372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87" name="Line 373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88" name="Line 374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5589" name="Group 375"/>
                <p:cNvGrpSpPr/>
                <p:nvPr/>
              </p:nvGrpSpPr>
              <p:grpSpPr>
                <a:xfrm>
                  <a:off x="4041" y="1173"/>
                  <a:ext cx="430" cy="320"/>
                  <a:chOff x="3540" y="1956"/>
                  <a:chExt cx="468" cy="312"/>
                </a:xfrm>
              </p:grpSpPr>
              <p:sp>
                <p:nvSpPr>
                  <p:cNvPr id="15590" name="Line 376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91" name="Line 377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92" name="Line 378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93" name="Line 379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94" name="Line 380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95" name="Line 381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5596" name="Group 382"/>
                <p:cNvGrpSpPr/>
                <p:nvPr/>
              </p:nvGrpSpPr>
              <p:grpSpPr>
                <a:xfrm>
                  <a:off x="4372" y="1041"/>
                  <a:ext cx="430" cy="320"/>
                  <a:chOff x="3540" y="1956"/>
                  <a:chExt cx="468" cy="312"/>
                </a:xfrm>
              </p:grpSpPr>
              <p:sp>
                <p:nvSpPr>
                  <p:cNvPr id="15597" name="Line 383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98" name="Line 384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599" name="Line 385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00" name="Line 386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01" name="Line 387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02" name="Line 388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5603" name="Group 389"/>
                <p:cNvGrpSpPr/>
                <p:nvPr/>
              </p:nvGrpSpPr>
              <p:grpSpPr>
                <a:xfrm>
                  <a:off x="4360" y="1341"/>
                  <a:ext cx="430" cy="320"/>
                  <a:chOff x="3540" y="1956"/>
                  <a:chExt cx="468" cy="312"/>
                </a:xfrm>
              </p:grpSpPr>
              <p:sp>
                <p:nvSpPr>
                  <p:cNvPr id="15604" name="Line 390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05" name="Line 391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06" name="Line 392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07" name="Line 393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08" name="Line 394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09" name="Line 395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5610" name="Group 396"/>
                <p:cNvGrpSpPr/>
                <p:nvPr/>
              </p:nvGrpSpPr>
              <p:grpSpPr>
                <a:xfrm>
                  <a:off x="4048" y="1485"/>
                  <a:ext cx="430" cy="320"/>
                  <a:chOff x="3540" y="1956"/>
                  <a:chExt cx="468" cy="312"/>
                </a:xfrm>
              </p:grpSpPr>
              <p:sp>
                <p:nvSpPr>
                  <p:cNvPr id="15611" name="Line 397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12" name="Line 398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13" name="Line 399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14" name="Line 400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15" name="Line 401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16" name="Line 402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5617" name="Group 403"/>
                <p:cNvGrpSpPr/>
                <p:nvPr/>
              </p:nvGrpSpPr>
              <p:grpSpPr>
                <a:xfrm>
                  <a:off x="3724" y="1305"/>
                  <a:ext cx="430" cy="320"/>
                  <a:chOff x="3540" y="1956"/>
                  <a:chExt cx="468" cy="312"/>
                </a:xfrm>
              </p:grpSpPr>
              <p:sp>
                <p:nvSpPr>
                  <p:cNvPr id="15618" name="Line 404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19" name="Line 405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20" name="Line 406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21" name="Line 407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22" name="Line 408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23" name="Line 409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15624" name="Text Box 410"/>
              <p:cNvSpPr txBox="1"/>
              <p:nvPr/>
            </p:nvSpPr>
            <p:spPr>
              <a:xfrm>
                <a:off x="4514" y="1731"/>
                <a:ext cx="203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b" anchorCtr="0">
                <a:spAutoFit/>
              </a:bodyPr>
              <a:lstStyle/>
              <a:p>
                <a:r>
                  <a:rPr lang="en-US" altLang="zh-CN" sz="16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f</a:t>
                </a:r>
                <a:r>
                  <a:rPr lang="en-US" altLang="zh-CN" sz="1600" baseline="-250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15625" name="Group 412"/>
            <p:cNvGrpSpPr/>
            <p:nvPr/>
          </p:nvGrpSpPr>
          <p:grpSpPr>
            <a:xfrm>
              <a:off x="4367" y="2161"/>
              <a:ext cx="1081" cy="952"/>
              <a:chOff x="3721" y="1501"/>
              <a:chExt cx="1081" cy="952"/>
            </a:xfrm>
          </p:grpSpPr>
          <p:grpSp>
            <p:nvGrpSpPr>
              <p:cNvPr id="15626" name="Group 413"/>
              <p:cNvGrpSpPr/>
              <p:nvPr/>
            </p:nvGrpSpPr>
            <p:grpSpPr>
              <a:xfrm>
                <a:off x="3721" y="1501"/>
                <a:ext cx="1081" cy="952"/>
                <a:chOff x="3721" y="853"/>
                <a:chExt cx="1081" cy="952"/>
              </a:xfrm>
            </p:grpSpPr>
            <p:grpSp>
              <p:nvGrpSpPr>
                <p:cNvPr id="15627" name="Group 414"/>
                <p:cNvGrpSpPr/>
                <p:nvPr/>
              </p:nvGrpSpPr>
              <p:grpSpPr>
                <a:xfrm>
                  <a:off x="4052" y="853"/>
                  <a:ext cx="430" cy="320"/>
                  <a:chOff x="3540" y="1956"/>
                  <a:chExt cx="468" cy="312"/>
                </a:xfrm>
              </p:grpSpPr>
              <p:sp>
                <p:nvSpPr>
                  <p:cNvPr id="15628" name="Line 415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29" name="Line 416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30" name="Line 417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31" name="Line 418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32" name="Line 419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33" name="Line 420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5634" name="Group 421"/>
                <p:cNvGrpSpPr/>
                <p:nvPr/>
              </p:nvGrpSpPr>
              <p:grpSpPr>
                <a:xfrm>
                  <a:off x="3721" y="996"/>
                  <a:ext cx="430" cy="320"/>
                  <a:chOff x="3540" y="1956"/>
                  <a:chExt cx="468" cy="312"/>
                </a:xfrm>
              </p:grpSpPr>
              <p:sp>
                <p:nvSpPr>
                  <p:cNvPr id="15635" name="Line 422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36" name="Line 423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37" name="Line 424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38" name="Line 425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39" name="Line 426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40" name="Line 427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5641" name="Group 428"/>
                <p:cNvGrpSpPr/>
                <p:nvPr/>
              </p:nvGrpSpPr>
              <p:grpSpPr>
                <a:xfrm>
                  <a:off x="4041" y="1173"/>
                  <a:ext cx="430" cy="320"/>
                  <a:chOff x="3540" y="1956"/>
                  <a:chExt cx="468" cy="312"/>
                </a:xfrm>
              </p:grpSpPr>
              <p:sp>
                <p:nvSpPr>
                  <p:cNvPr id="15642" name="Line 429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43" name="Line 430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44" name="Line 431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45" name="Line 432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46" name="Line 433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47" name="Line 434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5648" name="Group 435"/>
                <p:cNvGrpSpPr/>
                <p:nvPr/>
              </p:nvGrpSpPr>
              <p:grpSpPr>
                <a:xfrm>
                  <a:off x="4372" y="1041"/>
                  <a:ext cx="430" cy="320"/>
                  <a:chOff x="3540" y="1956"/>
                  <a:chExt cx="468" cy="312"/>
                </a:xfrm>
              </p:grpSpPr>
              <p:sp>
                <p:nvSpPr>
                  <p:cNvPr id="15649" name="Line 436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50" name="Line 437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51" name="Line 438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52" name="Line 439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53" name="Line 440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54" name="Line 441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5655" name="Group 442"/>
                <p:cNvGrpSpPr/>
                <p:nvPr/>
              </p:nvGrpSpPr>
              <p:grpSpPr>
                <a:xfrm>
                  <a:off x="4360" y="1341"/>
                  <a:ext cx="430" cy="320"/>
                  <a:chOff x="3540" y="1956"/>
                  <a:chExt cx="468" cy="312"/>
                </a:xfrm>
              </p:grpSpPr>
              <p:sp>
                <p:nvSpPr>
                  <p:cNvPr id="15656" name="Line 443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57" name="Line 444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58" name="Line 445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59" name="Line 446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60" name="Line 447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61" name="Line 448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5662" name="Group 449"/>
                <p:cNvGrpSpPr/>
                <p:nvPr/>
              </p:nvGrpSpPr>
              <p:grpSpPr>
                <a:xfrm>
                  <a:off x="4048" y="1485"/>
                  <a:ext cx="430" cy="320"/>
                  <a:chOff x="3540" y="1956"/>
                  <a:chExt cx="468" cy="312"/>
                </a:xfrm>
              </p:grpSpPr>
              <p:sp>
                <p:nvSpPr>
                  <p:cNvPr id="15663" name="Line 450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64" name="Line 451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65" name="Line 452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66" name="Line 453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67" name="Line 454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68" name="Line 455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5669" name="Group 456"/>
                <p:cNvGrpSpPr/>
                <p:nvPr/>
              </p:nvGrpSpPr>
              <p:grpSpPr>
                <a:xfrm>
                  <a:off x="3724" y="1305"/>
                  <a:ext cx="430" cy="320"/>
                  <a:chOff x="3540" y="1956"/>
                  <a:chExt cx="468" cy="312"/>
                </a:xfrm>
              </p:grpSpPr>
              <p:sp>
                <p:nvSpPr>
                  <p:cNvPr id="15670" name="Line 457"/>
                  <p:cNvSpPr/>
                  <p:nvPr/>
                </p:nvSpPr>
                <p:spPr>
                  <a:xfrm>
                    <a:off x="3660" y="19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71" name="Line 458"/>
                  <p:cNvSpPr/>
                  <p:nvPr/>
                </p:nvSpPr>
                <p:spPr>
                  <a:xfrm>
                    <a:off x="3660" y="2256"/>
                    <a:ext cx="240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72" name="Line 459"/>
                  <p:cNvSpPr/>
                  <p:nvPr/>
                </p:nvSpPr>
                <p:spPr>
                  <a:xfrm flipH="1">
                    <a:off x="3900" y="2112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73" name="Line 460"/>
                  <p:cNvSpPr/>
                  <p:nvPr/>
                </p:nvSpPr>
                <p:spPr>
                  <a:xfrm flipH="1">
                    <a:off x="3540" y="1956"/>
                    <a:ext cx="108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74" name="Line 461"/>
                  <p:cNvSpPr/>
                  <p:nvPr/>
                </p:nvSpPr>
                <p:spPr>
                  <a:xfrm>
                    <a:off x="3552" y="210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5675" name="Line 462"/>
                  <p:cNvSpPr/>
                  <p:nvPr/>
                </p:nvSpPr>
                <p:spPr>
                  <a:xfrm>
                    <a:off x="3912" y="1980"/>
                    <a:ext cx="96" cy="15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15676" name="Text Box 463"/>
              <p:cNvSpPr txBox="1"/>
              <p:nvPr/>
            </p:nvSpPr>
            <p:spPr>
              <a:xfrm>
                <a:off x="4514" y="1731"/>
                <a:ext cx="203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b" anchorCtr="0">
                <a:spAutoFit/>
              </a:bodyPr>
              <a:lstStyle/>
              <a:p>
                <a:r>
                  <a:rPr lang="en-US" altLang="zh-CN" sz="16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f</a:t>
                </a:r>
                <a:r>
                  <a:rPr lang="en-US" altLang="zh-CN" sz="1600" baseline="-250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</p:grpSp>
      <p:sp>
        <p:nvSpPr>
          <p:cNvPr id="15677" name="Rectangle 46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簇的组合</a:t>
            </a:r>
          </a:p>
        </p:txBody>
      </p:sp>
      <p:sp>
        <p:nvSpPr>
          <p:cNvPr id="15678" name="内容占位符 319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3779837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七蜂窝簇的组合</a:t>
            </a: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en-US" altLang="zh-CN" dirty="0"/>
              <a:t>4</a:t>
            </a:r>
            <a:r>
              <a:rPr lang="en-US" altLang="zh-CN" dirty="0">
                <a:sym typeface="Symbol" panose="05050102010706020507" pitchFamily="18" charset="2"/>
              </a:rPr>
              <a:t>3</a:t>
            </a:r>
            <a:r>
              <a:rPr lang="zh-CN" altLang="en-US" dirty="0">
                <a:sym typeface="Symbol" panose="05050102010706020507" pitchFamily="18" charset="2"/>
              </a:rPr>
              <a:t>多重</a:t>
            </a:r>
            <a:r>
              <a:rPr lang="zh-CN" altLang="en-US" dirty="0"/>
              <a:t>频率复用方式</a:t>
            </a:r>
          </a:p>
        </p:txBody>
      </p:sp>
      <p:sp>
        <p:nvSpPr>
          <p:cNvPr id="16386" name="Rectangle 3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905375"/>
          </a:xfrm>
        </p:spPr>
        <p:txBody>
          <a:bodyPr vert="horz" wrap="square" lIns="91440" tIns="45720" rIns="91440" bIns="45720" anchor="t" anchorCtr="0"/>
          <a:lstStyle/>
          <a:p>
            <a:endParaRPr lang="zh-CN" altLang="en-US" dirty="0"/>
          </a:p>
          <a:p>
            <a:endParaRPr lang="zh-CN" altLang="en-US" dirty="0"/>
          </a:p>
          <a:p>
            <a:pPr lvl="1"/>
            <a:endParaRPr lang="en-US" altLang="zh-CN" dirty="0"/>
          </a:p>
        </p:txBody>
      </p:sp>
      <p:sp>
        <p:nvSpPr>
          <p:cNvPr id="1638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12</a:t>
            </a:fld>
            <a:endParaRPr lang="en-US" altLang="zh-CN" sz="1400" dirty="0"/>
          </a:p>
        </p:txBody>
      </p:sp>
      <p:sp>
        <p:nvSpPr>
          <p:cNvPr id="16388" name="Rectangle 5"/>
          <p:cNvSpPr/>
          <p:nvPr/>
        </p:nvSpPr>
        <p:spPr>
          <a:xfrm>
            <a:off x="533400" y="5184775"/>
            <a:ext cx="8420100" cy="98742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lstStyle/>
          <a:p>
            <a:pPr marL="342900" indent="-342900">
              <a:spcBef>
                <a:spcPct val="20000"/>
              </a:spcBef>
            </a:pP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12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个频段，分配到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个基站服务的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12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个蜂窝（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ABCD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四个基站，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120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度天线），每个基站可用其中的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个频段，每个蜂窝用一个频段</a:t>
            </a:r>
          </a:p>
        </p:txBody>
      </p:sp>
      <p:pic>
        <p:nvPicPr>
          <p:cNvPr id="16389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913" y="1538288"/>
            <a:ext cx="6534150" cy="3524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en-US" altLang="zh-CN" dirty="0"/>
              <a:t>3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dirty="0"/>
              <a:t>3</a:t>
            </a:r>
            <a:r>
              <a:rPr lang="zh-CN" altLang="en-US" dirty="0"/>
              <a:t>多重频率复用方式</a:t>
            </a:r>
          </a:p>
        </p:txBody>
      </p:sp>
      <p:sp>
        <p:nvSpPr>
          <p:cNvPr id="17410" name="Rectangle 3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905375"/>
          </a:xfrm>
        </p:spPr>
        <p:txBody>
          <a:bodyPr vert="horz" wrap="square" lIns="91440" tIns="45720" rIns="91440" bIns="45720" anchor="t" anchorCtr="0"/>
          <a:lstStyle/>
          <a:p>
            <a:endParaRPr lang="zh-CN" altLang="en-US" dirty="0"/>
          </a:p>
          <a:p>
            <a:endParaRPr lang="zh-CN" altLang="en-US" dirty="0"/>
          </a:p>
          <a:p>
            <a:pPr lvl="1"/>
            <a:endParaRPr lang="en-US" altLang="zh-CN" dirty="0"/>
          </a:p>
        </p:txBody>
      </p:sp>
      <p:sp>
        <p:nvSpPr>
          <p:cNvPr id="174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13</a:t>
            </a:fld>
            <a:endParaRPr lang="en-US" altLang="zh-CN" sz="1400" dirty="0"/>
          </a:p>
        </p:txBody>
      </p:sp>
      <p:pic>
        <p:nvPicPr>
          <p:cNvPr id="17412" name="Picture 7" descr="C:\Users\dell\Desktop\2080944502823931604.jpg"/>
          <p:cNvPicPr>
            <a:picLocks noChangeAspect="1"/>
          </p:cNvPicPr>
          <p:nvPr/>
        </p:nvPicPr>
        <p:blipFill>
          <a:blip r:embed="rId2"/>
          <a:srcRect t="6841" b="17908"/>
          <a:stretch>
            <a:fillRect/>
          </a:stretch>
        </p:blipFill>
        <p:spPr>
          <a:xfrm>
            <a:off x="1062038" y="1524000"/>
            <a:ext cx="7159625" cy="3479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3" name="Rectangle 5"/>
          <p:cNvSpPr/>
          <p:nvPr/>
        </p:nvSpPr>
        <p:spPr>
          <a:xfrm>
            <a:off x="533400" y="5184775"/>
            <a:ext cx="8420100" cy="98742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lstStyle/>
          <a:p>
            <a:pPr marL="342900" indent="-342900">
              <a:spcBef>
                <a:spcPct val="20000"/>
              </a:spcBef>
            </a:pP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9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个频段，分配到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个基站服务的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9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个蜂窝（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ABC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三个基站，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120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度天线），每个基站可用其中的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个频段，每个蜂窝用一个频段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向部分频率复用过渡</a:t>
            </a:r>
          </a:p>
        </p:txBody>
      </p:sp>
      <p:graphicFrame>
        <p:nvGraphicFramePr>
          <p:cNvPr id="18434" name="Object 2"/>
          <p:cNvGraphicFramePr>
            <a:graphicFrameLocks noGrp="1"/>
          </p:cNvGraphicFramePr>
          <p:nvPr>
            <p:ph idx="1"/>
          </p:nvPr>
        </p:nvGraphicFramePr>
        <p:xfrm>
          <a:off x="3860800" y="1562100"/>
          <a:ext cx="4667250" cy="489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r:id="rId3" imgW="900430" imgH="942975" progId="Word.Picture.8">
                  <p:embed/>
                </p:oleObj>
              </mc:Choice>
              <mc:Fallback>
                <p:oleObj r:id="rId3" imgW="900430" imgH="942975" progId="Word.Pictur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60800" y="1562100"/>
                        <a:ext cx="4667250" cy="48958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14</a:t>
            </a:fld>
            <a:endParaRPr lang="en-US" altLang="zh-CN" sz="1400" dirty="0"/>
          </a:p>
        </p:txBody>
      </p:sp>
      <p:sp>
        <p:nvSpPr>
          <p:cNvPr id="18436" name="TextBox 5"/>
          <p:cNvSpPr txBox="1"/>
          <p:nvPr/>
        </p:nvSpPr>
        <p:spPr>
          <a:xfrm>
            <a:off x="250825" y="1403350"/>
            <a:ext cx="3476625" cy="50165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3200" dirty="0">
                <a:latin typeface="Tahoma" panose="020B0604030504040204" pitchFamily="34" charset="0"/>
                <a:ea typeface="宋体" panose="02010600030101010101" pitchFamily="2" charset="-122"/>
              </a:rPr>
              <a:t>若采用复用因子为</a:t>
            </a:r>
            <a:r>
              <a:rPr lang="en-US" altLang="zh-CN" sz="3200" dirty="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3200" dirty="0">
                <a:latin typeface="Tahoma" panose="020B0604030504040204" pitchFamily="34" charset="0"/>
                <a:ea typeface="宋体" panose="02010600030101010101" pitchFamily="2" charset="-122"/>
              </a:rPr>
              <a:t>的方案，则频谱的利用率太低</a:t>
            </a:r>
            <a:endParaRPr lang="en-US" altLang="zh-CN" sz="32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sz="3200" dirty="0">
                <a:latin typeface="Tahoma" panose="020B0604030504040204" pitchFamily="34" charset="0"/>
                <a:ea typeface="宋体" panose="02010600030101010101" pitchFamily="2" charset="-122"/>
              </a:rPr>
              <a:t>若采用复用因子为</a:t>
            </a:r>
            <a:r>
              <a:rPr lang="en-US" altLang="zh-CN" sz="3200" dirty="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3200" dirty="0">
                <a:latin typeface="Tahoma" panose="020B0604030504040204" pitchFamily="34" charset="0"/>
                <a:ea typeface="宋体" panose="02010600030101010101" pitchFamily="2" charset="-122"/>
              </a:rPr>
              <a:t>的方案，则蜂窝间干扰又太大</a:t>
            </a:r>
            <a:endParaRPr lang="en-US" altLang="zh-CN" sz="32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sz="3200" i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因此，折中！</a:t>
            </a:r>
            <a:endParaRPr lang="en-US" altLang="zh-CN" sz="3200" i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endParaRPr lang="en-US" altLang="zh-CN" sz="3200" dirty="0">
              <a:solidFill>
                <a:srgbClr val="00B0F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sz="3200" dirty="0">
                <a:solidFill>
                  <a:srgbClr val="00B0F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一般也称作“静态干扰协调”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干扰协调定义</a:t>
            </a:r>
          </a:p>
        </p:txBody>
      </p:sp>
      <p:sp>
        <p:nvSpPr>
          <p:cNvPr id="6147" name="内容占位符 2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1757363"/>
          </a:xfrm>
        </p:spPr>
        <p:txBody>
          <a:bodyPr vert="horz" wrap="square" lIns="91440" tIns="45720" rIns="91440" bIns="45720" numCol="1" anchor="t" anchorCtr="0" compatLnSpc="1">
            <a:normAutofit fontScale="775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ICIC techniques present a feasible solution by 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applying restrictions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to the 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radio resource management (RRM)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block, improving favorable channel conditions across subsets of 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users that are severely impacted by the interference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and thus </a:t>
            </a:r>
            <a:r>
              <a:rPr kumimoji="0" lang="en-US" altLang="zh-CN" sz="3200" b="1" i="0" u="sng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attaining high spectral efficiency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1945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15</a:t>
            </a:fld>
            <a:endParaRPr lang="en-US" altLang="zh-CN" sz="1400" dirty="0"/>
          </a:p>
        </p:txBody>
      </p:sp>
      <p:pic>
        <p:nvPicPr>
          <p:cNvPr id="19460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700" y="3249613"/>
            <a:ext cx="4778375" cy="3121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1" name="TextBox 6"/>
          <p:cNvSpPr txBox="1"/>
          <p:nvPr/>
        </p:nvSpPr>
        <p:spPr>
          <a:xfrm>
            <a:off x="4402138" y="6308725"/>
            <a:ext cx="404018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1800" dirty="0">
                <a:latin typeface="Tahoma" panose="020B0604030504040204" pitchFamily="34" charset="0"/>
                <a:ea typeface="宋体" panose="02010600030101010101" pitchFamily="2" charset="-122"/>
              </a:rPr>
              <a:t>From [Kosta et al. IEEE COMST 2013]</a:t>
            </a:r>
            <a:endParaRPr lang="zh-CN" altLang="en-US" sz="18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2" name="矩形 7"/>
          <p:cNvSpPr/>
          <p:nvPr/>
        </p:nvSpPr>
        <p:spPr>
          <a:xfrm>
            <a:off x="0" y="4059238"/>
            <a:ext cx="3986213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vl="1" indent="0" eaLnBrk="1" hangingPunct="1"/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对抗蜂窝间干扰</a:t>
            </a:r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lvl="1" indent="0" eaLnBrk="1" hangingPunct="1"/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针对被严重干扰的用户</a:t>
            </a:r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lvl="1" indent="0" eaLnBrk="1" hangingPunct="1"/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无线资源管理层面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sz="4000" dirty="0"/>
              <a:t>干扰协调与资源分配关系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905375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通俗地讲，就是在资源分配的同时顺便减小蜂窝间干扰。因此，有资源分配就有干扰协调。</a:t>
            </a:r>
            <a:endParaRPr kumimoji="0" lang="en-US" altLang="zh-CN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可以理解为，干扰协调是资源分配的一个目标，即减小干扰。干扰协调照顾的是蜂窝边缘性能受干扰较严重的用户，因此，干扰协调是在增大系统中终端的公平性。</a:t>
            </a:r>
            <a:endParaRPr kumimoji="0" lang="en-US" altLang="zh-CN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若干扰协调使得系统性能大幅度下降，视为‘过度协调’，因此，干扰协调也要综合考虑系统频谱效率等性能指标。</a:t>
            </a:r>
            <a:endParaRPr kumimoji="0" lang="en-US" altLang="zh-CN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总之，研究干扰协调，其实就是研究资源分配，只不过偏重公平性一些。</a:t>
            </a:r>
            <a:endParaRPr kumimoji="0" lang="en-US" altLang="zh-CN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endParaRPr kumimoji="0" lang="en-US" altLang="zh-CN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50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16</a:t>
            </a:fld>
            <a:endParaRPr lang="en-US" altLang="zh-CN" sz="1400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sz="3600" dirty="0"/>
              <a:t>干扰协调与其他抗干扰技术关系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905375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抗干扰技术还有很多，如干扰消除、干扰对齐等（信号处理层面技术）；与之相比，干扰协调属于资源分配层面的技术。</a:t>
            </a:r>
            <a:endParaRPr kumimoji="0" lang="en-US" altLang="zh-CN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未来的通信场景是特别复杂的，比如异构大小蜂窝嵌套、超大数量无线终端、终端移动性尺度范围大等。因此，任一层面的技术未必能解决所有问题。</a:t>
            </a:r>
            <a:endParaRPr kumimoji="0" lang="en-US" altLang="zh-CN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各个层面的技术都有局限性，但资源分配是在任何场景中都一定要做的。</a:t>
            </a:r>
            <a:endParaRPr kumimoji="0" lang="en-US" altLang="zh-CN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总之，未来是多种抗干扰技术跨层相结合，来综合地减小蜂窝间干扰。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55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17</a:t>
            </a:fld>
            <a:endParaRPr lang="en-US" altLang="zh-CN" sz="1400" dirty="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什么是静态干扰协调</a:t>
            </a:r>
          </a:p>
        </p:txBody>
      </p:sp>
      <p:sp>
        <p:nvSpPr>
          <p:cNvPr id="25602" name="内容占位符 2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905375"/>
          </a:xfrm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/>
              <a:t>Static</a:t>
            </a:r>
            <a:r>
              <a:rPr lang="zh-CN" altLang="en-US" dirty="0"/>
              <a:t>，</a:t>
            </a:r>
            <a:r>
              <a:rPr lang="en-US" altLang="zh-CN" dirty="0"/>
              <a:t>fixed</a:t>
            </a:r>
            <a:r>
              <a:rPr lang="zh-CN" altLang="en-US" dirty="0"/>
              <a:t>，固定不变的</a:t>
            </a:r>
            <a:endParaRPr lang="en-US" altLang="zh-CN" dirty="0"/>
          </a:p>
          <a:p>
            <a:r>
              <a:rPr lang="zh-CN" altLang="en-US" dirty="0"/>
              <a:t>干扰协调的基本目标需要满足：减小蜂窝边缘用户受到的蜂窝间干扰</a:t>
            </a:r>
            <a:endParaRPr lang="en-US" altLang="zh-CN" dirty="0"/>
          </a:p>
          <a:p>
            <a:r>
              <a:rPr lang="zh-CN" altLang="en-US" dirty="0"/>
              <a:t>复用也要有个限度</a:t>
            </a:r>
            <a:endParaRPr lang="en-US" altLang="zh-CN" dirty="0"/>
          </a:p>
          <a:p>
            <a:r>
              <a:rPr lang="zh-CN" altLang="en-US" dirty="0"/>
              <a:t>对抗干扰有很多方法，其中最简单的方法、也是业界最可能使用的方法是：对症下药</a:t>
            </a:r>
            <a:endParaRPr lang="en-US" altLang="zh-CN" dirty="0"/>
          </a:p>
          <a:p>
            <a:pPr lvl="1"/>
            <a:r>
              <a:rPr lang="zh-CN" altLang="en-US" dirty="0"/>
              <a:t>即想办法减小蜂窝边缘的干扰问题</a:t>
            </a:r>
            <a:endParaRPr lang="en-US" altLang="zh-CN" dirty="0"/>
          </a:p>
          <a:p>
            <a:r>
              <a:rPr lang="zh-CN" altLang="en-US" dirty="0"/>
              <a:t>相邻蜂窝同频不同频：边缘尽量不同频，中心可以同频</a:t>
            </a:r>
            <a:endParaRPr lang="en-US" altLang="zh-CN" dirty="0"/>
          </a:p>
        </p:txBody>
      </p:sp>
      <p:sp>
        <p:nvSpPr>
          <p:cNvPr id="2560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18</a:t>
            </a:fld>
            <a:endParaRPr lang="en-US" altLang="zh-CN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部分频率复用</a:t>
            </a:r>
          </a:p>
        </p:txBody>
      </p:sp>
      <p:pic>
        <p:nvPicPr>
          <p:cNvPr id="26626" name="Picture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288" y="2008188"/>
            <a:ext cx="7645400" cy="4300537"/>
          </a:xfrm>
        </p:spPr>
      </p:pic>
      <p:sp>
        <p:nvSpPr>
          <p:cNvPr id="2662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19</a:t>
            </a:fld>
            <a:endParaRPr lang="en-US" altLang="zh-CN" sz="1400" dirty="0"/>
          </a:p>
        </p:txBody>
      </p:sp>
      <p:sp>
        <p:nvSpPr>
          <p:cNvPr id="26628" name="TextBox 5"/>
          <p:cNvSpPr txBox="1"/>
          <p:nvPr/>
        </p:nvSpPr>
        <p:spPr>
          <a:xfrm>
            <a:off x="4976813" y="1774825"/>
            <a:ext cx="3983037" cy="2554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3200" dirty="0">
                <a:latin typeface="Tahoma" panose="020B0604030504040204" pitchFamily="34" charset="0"/>
                <a:ea typeface="宋体" panose="02010600030101010101" pitchFamily="2" charset="-122"/>
              </a:rPr>
              <a:t>Fractional frequency </a:t>
            </a:r>
          </a:p>
          <a:p>
            <a:r>
              <a:rPr lang="en-US" altLang="zh-CN" sz="3200" dirty="0">
                <a:latin typeface="Tahoma" panose="020B0604030504040204" pitchFamily="34" charset="0"/>
                <a:ea typeface="宋体" panose="02010600030101010101" pitchFamily="2" charset="-122"/>
              </a:rPr>
              <a:t>reuse (FFR)</a:t>
            </a:r>
          </a:p>
          <a:p>
            <a:endParaRPr lang="en-US" altLang="zh-CN" sz="32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sz="3200" dirty="0">
                <a:latin typeface="Tahoma" panose="020B0604030504040204" pitchFamily="34" charset="0"/>
                <a:ea typeface="宋体" panose="02010600030101010101" pitchFamily="2" charset="-122"/>
              </a:rPr>
              <a:t>复用因子在</a:t>
            </a:r>
            <a:r>
              <a:rPr lang="en-US" altLang="zh-CN" sz="3200" dirty="0">
                <a:latin typeface="Tahoma" panose="020B0604030504040204" pitchFamily="34" charset="0"/>
                <a:ea typeface="宋体" panose="02010600030101010101" pitchFamily="2" charset="-122"/>
              </a:rPr>
              <a:t>1-3</a:t>
            </a:r>
            <a:r>
              <a:rPr lang="zh-CN" altLang="en-US" sz="3200" dirty="0">
                <a:latin typeface="Tahoma" panose="020B0604030504040204" pitchFamily="34" charset="0"/>
                <a:ea typeface="宋体" panose="02010600030101010101" pitchFamily="2" charset="-122"/>
              </a:rPr>
              <a:t>之间</a:t>
            </a:r>
            <a:endParaRPr lang="en-US" altLang="zh-CN" sz="32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sz="3200" dirty="0">
                <a:latin typeface="Tahoma" panose="020B0604030504040204" pitchFamily="34" charset="0"/>
                <a:ea typeface="宋体" panose="02010600030101010101" pitchFamily="2" charset="-122"/>
              </a:rPr>
              <a:t>内外圈频带独立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软频率复用（</a:t>
            </a:r>
            <a:r>
              <a:rPr lang="en-US" altLang="zh-CN" dirty="0"/>
              <a:t>SFR</a:t>
            </a:r>
            <a:r>
              <a:rPr lang="zh-CN" altLang="en-US" dirty="0"/>
              <a:t>）</a:t>
            </a:r>
          </a:p>
        </p:txBody>
      </p:sp>
      <p:pic>
        <p:nvPicPr>
          <p:cNvPr id="27650" name="Picture 2"/>
          <p:cNvPicPr>
            <a:picLocks noGrp="1" noChangeAspect="1"/>
          </p:cNvPicPr>
          <p:nvPr>
            <p:ph idx="1"/>
          </p:nvPr>
        </p:nvPicPr>
        <p:blipFill>
          <a:blip r:embed="rId2"/>
          <a:srcRect b="3264"/>
          <a:stretch>
            <a:fillRect/>
          </a:stretch>
        </p:blipFill>
        <p:spPr>
          <a:xfrm>
            <a:off x="1282700" y="2441575"/>
            <a:ext cx="6889750" cy="4002088"/>
          </a:xfrm>
        </p:spPr>
      </p:pic>
      <p:sp>
        <p:nvSpPr>
          <p:cNvPr id="2765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20</a:t>
            </a:fld>
            <a:endParaRPr lang="en-US" altLang="zh-CN" sz="1400" dirty="0"/>
          </a:p>
        </p:txBody>
      </p:sp>
      <p:sp>
        <p:nvSpPr>
          <p:cNvPr id="27652" name="TextBox 5"/>
          <p:cNvSpPr txBox="1"/>
          <p:nvPr/>
        </p:nvSpPr>
        <p:spPr>
          <a:xfrm>
            <a:off x="5610225" y="1358900"/>
            <a:ext cx="3057525" cy="10763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dirty="0">
                <a:latin typeface="Tahoma" panose="020B0604030504040204" pitchFamily="34" charset="0"/>
                <a:ea typeface="宋体" panose="02010600030101010101" pitchFamily="2" charset="-122"/>
              </a:rPr>
              <a:t>复用因子</a:t>
            </a:r>
            <a:r>
              <a:rPr lang="en-US" altLang="zh-CN" sz="3200" dirty="0">
                <a:latin typeface="Tahoma" panose="020B0604030504040204" pitchFamily="34" charset="0"/>
                <a:ea typeface="宋体" panose="02010600030101010101" pitchFamily="2" charset="-122"/>
              </a:rPr>
              <a:t>=1</a:t>
            </a:r>
          </a:p>
          <a:p>
            <a:r>
              <a:rPr lang="zh-CN" altLang="en-US" sz="3200" dirty="0">
                <a:latin typeface="Tahoma" panose="020B0604030504040204" pitchFamily="34" charset="0"/>
                <a:ea typeface="宋体" panose="02010600030101010101" pitchFamily="2" charset="-122"/>
              </a:rPr>
              <a:t>内外圈频带重复</a:t>
            </a:r>
            <a:endParaRPr lang="en-US" altLang="zh-CN" sz="32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53" name="TextBox 5"/>
          <p:cNvSpPr txBox="1"/>
          <p:nvPr/>
        </p:nvSpPr>
        <p:spPr>
          <a:xfrm>
            <a:off x="341313" y="1584325"/>
            <a:ext cx="4995862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3200" dirty="0">
                <a:latin typeface="Tahoma" panose="020B0604030504040204" pitchFamily="34" charset="0"/>
                <a:ea typeface="宋体" panose="02010600030101010101" pitchFamily="2" charset="-122"/>
              </a:rPr>
              <a:t>Soft frequency reuse (SFR)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sz="4000" dirty="0"/>
              <a:t>对比</a:t>
            </a:r>
            <a:r>
              <a:rPr lang="en-US" altLang="zh-CN" sz="4000" dirty="0"/>
              <a:t>FFR</a:t>
            </a:r>
            <a:r>
              <a:rPr lang="zh-CN" altLang="en-US" sz="4000" dirty="0"/>
              <a:t>与</a:t>
            </a:r>
            <a:r>
              <a:rPr lang="en-US" altLang="zh-CN" sz="4000" dirty="0"/>
              <a:t>SFR</a:t>
            </a:r>
            <a:r>
              <a:rPr lang="zh-CN" altLang="en-US" sz="4000" dirty="0"/>
              <a:t>的边缘用户性能</a:t>
            </a:r>
          </a:p>
        </p:txBody>
      </p:sp>
      <p:sp>
        <p:nvSpPr>
          <p:cNvPr id="28674" name="内容占位符 2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905375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只考虑路径损耗，用自由空间模型</a:t>
            </a:r>
            <a:endParaRPr lang="en-US" altLang="zh-CN" dirty="0"/>
          </a:p>
          <a:p>
            <a:pPr lvl="1"/>
            <a:r>
              <a:rPr lang="zh-CN" altLang="en-US" dirty="0"/>
              <a:t>常量均可忽略，噪声也忽略，</a:t>
            </a:r>
            <a:r>
              <a:rPr lang="en-US" altLang="zh-CN" dirty="0"/>
              <a:t>SINR</a:t>
            </a:r>
            <a:r>
              <a:rPr lang="zh-CN" altLang="en-US" dirty="0"/>
              <a:t>变为信扰比后，可消掉距离之外的影响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计算中心蜂窝边缘受到的干扰总和</a:t>
            </a:r>
            <a:endParaRPr lang="en-US" altLang="zh-CN" dirty="0"/>
          </a:p>
          <a:p>
            <a:pPr lvl="1"/>
            <a:r>
              <a:rPr lang="zh-CN" altLang="en-US" dirty="0"/>
              <a:t>考虑两层（共</a:t>
            </a:r>
            <a:r>
              <a:rPr lang="en-US" altLang="zh-CN" dirty="0"/>
              <a:t>19</a:t>
            </a:r>
            <a:r>
              <a:rPr lang="zh-CN" altLang="en-US" dirty="0"/>
              <a:t>个蜂窝的场景）</a:t>
            </a:r>
            <a:endParaRPr lang="en-US" altLang="zh-CN" dirty="0"/>
          </a:p>
          <a:p>
            <a:pPr lvl="1"/>
            <a:r>
              <a:rPr lang="zh-CN" altLang="en-US" dirty="0"/>
              <a:t>分析清楚各有多少个干扰相加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>
                <a:solidFill>
                  <a:srgbClr val="0070C0"/>
                </a:solidFill>
              </a:rPr>
              <a:t>课上研讨与作业</a:t>
            </a:r>
          </a:p>
        </p:txBody>
      </p:sp>
      <p:sp>
        <p:nvSpPr>
          <p:cNvPr id="2867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21</a:t>
            </a:fld>
            <a:endParaRPr lang="en-US" altLang="zh-CN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>
              <a:buNone/>
            </a:pPr>
            <a:r>
              <a:rPr lang="zh-CN" altLang="en-US" dirty="0" smtClean="0"/>
              <a:t>该作业的提示</a:t>
            </a:r>
            <a:endParaRPr lang="zh-CN" altLang="en-US" dirty="0"/>
          </a:p>
        </p:txBody>
      </p:sp>
      <p:sp>
        <p:nvSpPr>
          <p:cNvPr id="87042" name="内容占位符 2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905375"/>
          </a:xfrm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 smtClean="0"/>
              <a:t>SFR </a:t>
            </a:r>
            <a:r>
              <a:rPr lang="en-US" altLang="zh-CN" dirty="0"/>
              <a:t>VS FFR</a:t>
            </a:r>
            <a:r>
              <a:rPr lang="zh-CN" altLang="en-US" dirty="0"/>
              <a:t>的提示</a:t>
            </a:r>
          </a:p>
        </p:txBody>
      </p:sp>
      <p:pic>
        <p:nvPicPr>
          <p:cNvPr id="5" name="图片 1" descr="IMG_20210427_0902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41" y="2033908"/>
            <a:ext cx="8037042" cy="414005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2131113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分扇区的</a:t>
            </a:r>
            <a:r>
              <a:rPr lang="en-US" altLang="zh-CN" dirty="0" smtClean="0"/>
              <a:t>FFR</a:t>
            </a:r>
            <a:endParaRPr lang="en-US" altLang="zh-CN" dirty="0">
              <a:solidFill>
                <a:srgbClr val="FF0000"/>
              </a:solidFill>
            </a:endParaRPr>
          </a:p>
        </p:txBody>
      </p:sp>
      <p:pic>
        <p:nvPicPr>
          <p:cNvPr id="29698" name="Picture 2"/>
          <p:cNvPicPr>
            <a:picLocks noGrp="1" noChangeAspect="1"/>
          </p:cNvPicPr>
          <p:nvPr>
            <p:ph idx="1"/>
          </p:nvPr>
        </p:nvPicPr>
        <p:blipFill>
          <a:blip r:embed="rId2"/>
          <a:srcRect l="9149" r="9149" b="5261"/>
          <a:stretch>
            <a:fillRect/>
          </a:stretch>
        </p:blipFill>
        <p:spPr>
          <a:xfrm>
            <a:off x="527050" y="1739900"/>
            <a:ext cx="7912100" cy="4432300"/>
          </a:xfrm>
        </p:spPr>
      </p:pic>
      <p:sp>
        <p:nvSpPr>
          <p:cNvPr id="2969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23</a:t>
            </a:fld>
            <a:endParaRPr lang="en-US" altLang="zh-CN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灵活的</a:t>
            </a:r>
            <a:r>
              <a:rPr lang="en-US" altLang="zh-CN" dirty="0"/>
              <a:t>FFR</a:t>
            </a:r>
            <a:endParaRPr lang="zh-CN" altLang="en-US" dirty="0"/>
          </a:p>
        </p:txBody>
      </p:sp>
      <p:sp>
        <p:nvSpPr>
          <p:cNvPr id="30722" name="内容占位符 8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905375"/>
          </a:xfrm>
        </p:spPr>
        <p:txBody>
          <a:bodyPr vert="horz" wrap="square" lIns="91440" tIns="45720" rIns="91440" bIns="45720" anchor="t" anchorCtr="0"/>
          <a:lstStyle/>
          <a:p>
            <a:endParaRPr lang="zh-CN" altLang="en-US" dirty="0"/>
          </a:p>
        </p:txBody>
      </p:sp>
      <p:sp>
        <p:nvSpPr>
          <p:cNvPr id="307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24</a:t>
            </a:fld>
            <a:endParaRPr lang="en-US" altLang="zh-CN" sz="1400" dirty="0"/>
          </a:p>
        </p:txBody>
      </p:sp>
      <p:pic>
        <p:nvPicPr>
          <p:cNvPr id="30724" name="Picture 5" descr="C:\Users\dell\Desktop\灵活部分频率复用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" y="2303463"/>
            <a:ext cx="5067300" cy="3622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5" name="Picture 6" descr="C:\Users\dell\Desktop\灵活部分频率复用资源分割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475" y="1854200"/>
            <a:ext cx="4073525" cy="42751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en-US" altLang="zh-CN" dirty="0"/>
              <a:t>FFR</a:t>
            </a:r>
            <a:r>
              <a:rPr lang="zh-CN" altLang="en-US" dirty="0"/>
              <a:t>性能再思考</a:t>
            </a:r>
          </a:p>
        </p:txBody>
      </p:sp>
      <p:pic>
        <p:nvPicPr>
          <p:cNvPr id="31746" name="Picture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84525" y="1268413"/>
            <a:ext cx="5662613" cy="4311650"/>
          </a:xfrm>
        </p:spPr>
      </p:pic>
      <p:sp>
        <p:nvSpPr>
          <p:cNvPr id="3174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25</a:t>
            </a:fld>
            <a:endParaRPr lang="en-US" altLang="zh-CN" sz="1400" dirty="0"/>
          </a:p>
        </p:txBody>
      </p:sp>
      <p:sp>
        <p:nvSpPr>
          <p:cNvPr id="31748" name="矩形 5"/>
          <p:cNvSpPr/>
          <p:nvPr/>
        </p:nvSpPr>
        <p:spPr>
          <a:xfrm>
            <a:off x="385763" y="1449388"/>
            <a:ext cx="2338387" cy="8318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外圈边缘性能差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内圈边缘也不好</a:t>
            </a:r>
          </a:p>
        </p:txBody>
      </p:sp>
      <p:pic>
        <p:nvPicPr>
          <p:cNvPr id="31749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" y="2336800"/>
            <a:ext cx="3035300" cy="3082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椭圆 7"/>
          <p:cNvSpPr/>
          <p:nvPr/>
        </p:nvSpPr>
        <p:spPr>
          <a:xfrm>
            <a:off x="6146800" y="4510088"/>
            <a:ext cx="450850" cy="449263"/>
          </a:xfrm>
          <a:prstGeom prst="ellipse">
            <a:avLst/>
          </a:prstGeom>
          <a:solidFill>
            <a:srgbClr val="92D050">
              <a:alpha val="52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751" name="矩形 8"/>
          <p:cNvSpPr/>
          <p:nvPr/>
        </p:nvSpPr>
        <p:spPr>
          <a:xfrm>
            <a:off x="476250" y="5543550"/>
            <a:ext cx="8686800" cy="1016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若想提高外圈边缘性能，需增加内圈半径，但这会使得内圈边缘性能下降，因此内圈半径又不能增大，这是一个悖论！</a:t>
            </a:r>
            <a:endParaRPr lang="en-US" altLang="zh-CN" sz="2000" dirty="0">
              <a:solidFill>
                <a:srgbClr val="0070C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sz="2000" dirty="0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即，内圈不能大，外圈不能大，因此，需要中圈做个折中！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已有多层方案举例</a:t>
            </a:r>
          </a:p>
        </p:txBody>
      </p:sp>
      <p:pic>
        <p:nvPicPr>
          <p:cNvPr id="33794" name="Picture 2"/>
          <p:cNvPicPr>
            <a:picLocks noGrp="1" noChangeAspect="1"/>
          </p:cNvPicPr>
          <p:nvPr>
            <p:ph idx="1"/>
          </p:nvPr>
        </p:nvPicPr>
        <p:blipFill>
          <a:blip r:embed="rId3"/>
          <a:srcRect r="23186"/>
          <a:stretch>
            <a:fillRect/>
          </a:stretch>
        </p:blipFill>
        <p:spPr>
          <a:xfrm>
            <a:off x="1692275" y="1268413"/>
            <a:ext cx="6223000" cy="2247900"/>
          </a:xfrm>
        </p:spPr>
      </p:pic>
      <p:sp>
        <p:nvSpPr>
          <p:cNvPr id="3379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26</a:t>
            </a:fld>
            <a:endParaRPr lang="en-US" altLang="zh-CN" sz="1400" dirty="0"/>
          </a:p>
        </p:txBody>
      </p:sp>
      <p:sp>
        <p:nvSpPr>
          <p:cNvPr id="33796" name="矩形 6"/>
          <p:cNvSpPr/>
          <p:nvPr/>
        </p:nvSpPr>
        <p:spPr>
          <a:xfrm>
            <a:off x="4446588" y="4059238"/>
            <a:ext cx="4481512" cy="1938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R. Ghaffar and R. Knopp</a:t>
            </a:r>
          </a:p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EURECOM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方案”</a:t>
            </a:r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蜂窝分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层、频谱分成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部分</a:t>
            </a:r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系统频谱效率提升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33% </a:t>
            </a:r>
          </a:p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边缘用户性能下降、公平性下降</a:t>
            </a:r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33797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03613"/>
            <a:ext cx="4257675" cy="33543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已有多层方案举例</a:t>
            </a:r>
          </a:p>
        </p:txBody>
      </p:sp>
      <p:pic>
        <p:nvPicPr>
          <p:cNvPr id="35842" name="Picture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4900" y="2184400"/>
            <a:ext cx="6667500" cy="3551238"/>
          </a:xfrm>
        </p:spPr>
      </p:pic>
      <p:sp>
        <p:nvSpPr>
          <p:cNvPr id="3584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27</a:t>
            </a:fld>
            <a:endParaRPr lang="en-US" altLang="zh-CN" sz="1400" dirty="0"/>
          </a:p>
        </p:txBody>
      </p:sp>
      <p:sp>
        <p:nvSpPr>
          <p:cNvPr id="35844" name="矩形 6"/>
          <p:cNvSpPr/>
          <p:nvPr/>
        </p:nvSpPr>
        <p:spPr>
          <a:xfrm>
            <a:off x="2097088" y="1403350"/>
            <a:ext cx="5175250" cy="8318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越靠外，功率越大</a:t>
            </a:r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外圈边缘用户性能提升，均值下降</a:t>
            </a:r>
            <a:endParaRPr lang="en-US" altLang="zh-CN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5" name="矩形 6"/>
          <p:cNvSpPr/>
          <p:nvPr/>
        </p:nvSpPr>
        <p:spPr>
          <a:xfrm>
            <a:off x="2771775" y="5724525"/>
            <a:ext cx="5761038" cy="7381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vl="1" indent="0" eaLnBrk="1" hangingPunct="1"/>
            <a:r>
              <a:rPr lang="en-US" altLang="zh-CN" sz="1400" dirty="0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E. Haro, S. Ruiz, D. Gonzalez, M. Garcia-Lozano, and J. Olmos, “Comparison of different distributed scheduling strategies for static/dynamic LTE scenarios,” </a:t>
            </a:r>
            <a:r>
              <a:rPr lang="en-US" altLang="zh-CN" sz="1400" i="1" dirty="0">
                <a:solidFill>
                  <a:srgbClr val="0070C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Technical University of Wien, 2009.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我们的多层方案</a:t>
            </a:r>
          </a:p>
        </p:txBody>
      </p:sp>
      <p:sp>
        <p:nvSpPr>
          <p:cNvPr id="36866" name="内容占位符 12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905375"/>
          </a:xfrm>
        </p:spPr>
        <p:txBody>
          <a:bodyPr vert="horz" wrap="square" lIns="91440" tIns="45720" rIns="91440" bIns="45720" anchor="t" anchorCtr="0"/>
          <a:lstStyle/>
          <a:p>
            <a:endParaRPr lang="zh-CN" altLang="en-US" dirty="0"/>
          </a:p>
        </p:txBody>
      </p:sp>
      <p:sp>
        <p:nvSpPr>
          <p:cNvPr id="3686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28</a:t>
            </a:fld>
            <a:endParaRPr lang="en-US" altLang="zh-CN" sz="1400" dirty="0"/>
          </a:p>
        </p:txBody>
      </p:sp>
      <p:pic>
        <p:nvPicPr>
          <p:cNvPr id="3686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13" y="1374775"/>
            <a:ext cx="4090987" cy="5076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6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1233488"/>
            <a:ext cx="3244850" cy="56245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200900" cy="919163"/>
          </a:xfrm>
        </p:spPr>
        <p:txBody>
          <a:bodyPr vert="horz" wrap="square" lIns="91440" tIns="45720" rIns="91440" bIns="45720" numCol="1" anchor="b" anchorCtr="0" compatLnSpc="1">
            <a:normAutofit fontScale="90000"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多层方案在不规则蜂窝场景中的效果</a:t>
            </a:r>
          </a:p>
        </p:txBody>
      </p:sp>
      <p:pic>
        <p:nvPicPr>
          <p:cNvPr id="37890" name="Picture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950" y="1295400"/>
            <a:ext cx="5556250" cy="5537200"/>
          </a:xfrm>
        </p:spPr>
      </p:pic>
      <p:sp>
        <p:nvSpPr>
          <p:cNvPr id="3789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29</a:t>
            </a:fld>
            <a:endParaRPr lang="en-US" altLang="zh-CN" sz="1400" dirty="0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动态干扰协调</a:t>
            </a:r>
          </a:p>
        </p:txBody>
      </p:sp>
      <p:sp>
        <p:nvSpPr>
          <p:cNvPr id="38914" name="内容占位符 2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905375"/>
          </a:xfrm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/>
              <a:t>Dynamic</a:t>
            </a:r>
            <a:r>
              <a:rPr lang="zh-CN" altLang="en-US" dirty="0"/>
              <a:t>，</a:t>
            </a:r>
            <a:r>
              <a:rPr lang="en-US" altLang="zh-CN" dirty="0"/>
              <a:t>real-time</a:t>
            </a:r>
            <a:r>
              <a:rPr lang="zh-CN" altLang="en-US" dirty="0"/>
              <a:t>，根据信道变化、业务变化等随时的、周期的改变资源分配方式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不仅仅是时间上的概念，资源分配分的是资源块：</a:t>
            </a:r>
            <a:r>
              <a:rPr lang="en-US" altLang="zh-CN" dirty="0"/>
              <a:t>0.5ms </a:t>
            </a:r>
            <a:r>
              <a:rPr lang="zh-CN" altLang="en-US" dirty="0"/>
              <a:t>* </a:t>
            </a:r>
            <a:r>
              <a:rPr lang="en-US" altLang="zh-CN" dirty="0"/>
              <a:t>180kHz </a:t>
            </a:r>
            <a:r>
              <a:rPr lang="zh-CN" altLang="en-US" dirty="0"/>
              <a:t>（</a:t>
            </a:r>
            <a:r>
              <a:rPr lang="en-US" altLang="zh-CN" dirty="0"/>
              <a:t>LTE-A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不需要非得分清楚中心、边缘，可以直接做优化，寻找系统性能的最优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389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30</a:t>
            </a:fld>
            <a:endParaRPr lang="en-US" altLang="zh-CN" sz="1400" dirty="0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一些简化与假设</a:t>
            </a:r>
          </a:p>
        </p:txBody>
      </p:sp>
      <p:sp>
        <p:nvSpPr>
          <p:cNvPr id="41987" name="内容占位符 2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905375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每个蜂窝同资源块数、同用户数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若实际中用户数不同，用一些虚拟的用户来填空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这些虚拟的用户不传输信息、对外无干扰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每个用户分得一个资源块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若某个用户需要多个资源块，可将其视作多个特性（含地理位置）完全相同的用户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这样，问题被简化为多维匹配问题，两个蜂窝的干扰协调是二维匹配问题（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2-dimensional assignment/matching problem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</a:p>
        </p:txBody>
      </p:sp>
      <p:sp>
        <p:nvSpPr>
          <p:cNvPr id="3993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31</a:t>
            </a:fld>
            <a:endParaRPr lang="en-US" altLang="zh-CN" sz="1400" dirty="0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匈牙利算法给出的匹配图</a:t>
            </a:r>
          </a:p>
        </p:txBody>
      </p:sp>
      <p:sp>
        <p:nvSpPr>
          <p:cNvPr id="40962" name="内容占位符 7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905375"/>
          </a:xfrm>
        </p:spPr>
        <p:txBody>
          <a:bodyPr vert="horz" wrap="square" lIns="91440" tIns="45720" rIns="91440" bIns="45720" anchor="t" anchorCtr="0"/>
          <a:lstStyle/>
          <a:p>
            <a:endParaRPr lang="zh-CN" altLang="en-US" dirty="0"/>
          </a:p>
        </p:txBody>
      </p:sp>
      <p:sp>
        <p:nvSpPr>
          <p:cNvPr id="4096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32</a:t>
            </a:fld>
            <a:endParaRPr lang="en-US" altLang="zh-CN" sz="1400" dirty="0"/>
          </a:p>
        </p:txBody>
      </p:sp>
      <p:pic>
        <p:nvPicPr>
          <p:cNvPr id="40964" name="图片 4" descr="匈牙利算法结果观测.jpg"/>
          <p:cNvPicPr>
            <a:picLocks noChangeAspect="1"/>
          </p:cNvPicPr>
          <p:nvPr/>
        </p:nvPicPr>
        <p:blipFill>
          <a:blip r:embed="rId2"/>
          <a:srcRect l="2617" t="6258" r="5890" b="2667"/>
          <a:stretch>
            <a:fillRect/>
          </a:stretch>
        </p:blipFill>
        <p:spPr>
          <a:xfrm>
            <a:off x="1196975" y="1255713"/>
            <a:ext cx="7110413" cy="5181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匈牙利算法历史</a:t>
            </a:r>
          </a:p>
        </p:txBody>
      </p:sp>
      <p:sp>
        <p:nvSpPr>
          <p:cNvPr id="64515" name="内容占位符 2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905375"/>
          </a:xfrm>
        </p:spPr>
        <p:txBody>
          <a:bodyPr vert="horz" wrap="square" lIns="91440" tIns="45720" rIns="91440" bIns="45720" numCol="1" anchor="t" anchorCtr="0" compatLnSpc="1">
            <a:normAutofit fontScale="700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Harold Kuhn 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于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1955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年最初提出，并命名为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“Hungarian method” 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，因为这个算法的提出是基于此前的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两位匈牙利数学家</a:t>
            </a:r>
            <a:r>
              <a:rPr kumimoji="0" lang="en-US" altLang="zh-CN" sz="32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Dénes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Kőnig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Jenő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Egerváry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的工作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James </a:t>
            </a:r>
            <a:r>
              <a:rPr kumimoji="0" lang="en-US" altLang="zh-CN" sz="32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Munkres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于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1957 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研究这个算法，并提出这个算法的复杂度是多项式时间的（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polynomial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），此后，这个算法一度叫做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Kuhn-</a:t>
            </a:r>
            <a:r>
              <a:rPr kumimoji="0" lang="en-US" altLang="zh-CN" sz="32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Munkres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algorithm 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en-US" altLang="zh-CN" sz="32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Munkres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assignment algorithm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，当时那个算法的复杂度是</a:t>
            </a:r>
            <a:r>
              <a:rPr kumimoji="0" lang="en-US" altLang="zh-CN" sz="32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32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3200" b="1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然后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Edmonds 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Karp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两人和</a:t>
            </a:r>
            <a:r>
              <a:rPr kumimoji="0" lang="en-US" altLang="zh-CN" sz="32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Tomizawa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独立地发现这个算法可以改进为</a:t>
            </a:r>
            <a:r>
              <a:rPr kumimoji="0" lang="en-US" altLang="zh-CN" sz="3200" b="1" i="1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O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(</a:t>
            </a:r>
            <a:r>
              <a:rPr kumimoji="0" lang="en-US" altLang="zh-CN" sz="3200" b="1" i="1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n</a:t>
            </a:r>
            <a:r>
              <a:rPr kumimoji="0" lang="en-US" altLang="zh-CN" sz="32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3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)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的复杂度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不过，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2006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的时候，人们发现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Carl Gustav Jacobi 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早在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19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世纪就已经解决了这个问题，只不过当时他的结果是用拉丁文发表的。</a:t>
            </a:r>
          </a:p>
        </p:txBody>
      </p:sp>
      <p:sp>
        <p:nvSpPr>
          <p:cNvPr id="4198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33</a:t>
            </a:fld>
            <a:endParaRPr lang="en-US" altLang="zh-CN" sz="1400" dirty="0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该算法的理论依据一</a:t>
            </a:r>
          </a:p>
        </p:txBody>
      </p:sp>
      <p:sp>
        <p:nvSpPr>
          <p:cNvPr id="43010" name="内容占位符 2"/>
          <p:cNvSpPr>
            <a:spLocks noGrp="1"/>
          </p:cNvSpPr>
          <p:nvPr>
            <p:ph idx="1"/>
          </p:nvPr>
        </p:nvSpPr>
        <p:spPr>
          <a:xfrm>
            <a:off x="476250" y="2095500"/>
            <a:ext cx="3917950" cy="4259263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如果矩阵的所有元素</a:t>
            </a:r>
            <a:r>
              <a:rPr lang="en-US" altLang="zh-CN" dirty="0"/>
              <a:t>a</a:t>
            </a:r>
            <a:r>
              <a:rPr lang="en-US" altLang="zh-CN" baseline="-25000" dirty="0"/>
              <a:t>ij</a:t>
            </a:r>
            <a:r>
              <a:rPr lang="en-US" altLang="zh-CN" dirty="0"/>
              <a:t>≥0</a:t>
            </a:r>
            <a:r>
              <a:rPr lang="zh-CN" altLang="en-US" dirty="0"/>
              <a:t>，而其中存在一组位于不同行、不同列的零元素，则它们必然对应目标函数取得最小</a:t>
            </a:r>
          </a:p>
        </p:txBody>
      </p:sp>
      <p:sp>
        <p:nvSpPr>
          <p:cNvPr id="430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34</a:t>
            </a:fld>
            <a:endParaRPr lang="en-US" altLang="zh-CN" sz="1400" dirty="0"/>
          </a:p>
        </p:txBody>
      </p:sp>
      <p:graphicFrame>
        <p:nvGraphicFramePr>
          <p:cNvPr id="36869" name="表格 36868"/>
          <p:cNvGraphicFramePr/>
          <p:nvPr/>
        </p:nvGraphicFramePr>
        <p:xfrm>
          <a:off x="4572000" y="1808163"/>
          <a:ext cx="4230688" cy="4230688"/>
        </p:xfrm>
        <a:graphic>
          <a:graphicData uri="http://schemas.openxmlformats.org/drawingml/2006/table">
            <a:tbl>
              <a:tblPr/>
              <a:tblGrid>
                <a:gridCol w="1058863"/>
                <a:gridCol w="1055687"/>
                <a:gridCol w="1058863"/>
                <a:gridCol w="1057275"/>
              </a:tblGrid>
              <a:tr h="10810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477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509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509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该算法的理论依据二</a:t>
            </a:r>
          </a:p>
        </p:txBody>
      </p:sp>
      <p:sp>
        <p:nvSpPr>
          <p:cNvPr id="56323" name="内容占位符 2"/>
          <p:cNvSpPr>
            <a:spLocks noGrp="1"/>
          </p:cNvSpPr>
          <p:nvPr>
            <p:ph idx="1"/>
          </p:nvPr>
        </p:nvSpPr>
        <p:spPr>
          <a:xfrm>
            <a:off x="476250" y="1449388"/>
            <a:ext cx="3829050" cy="4905375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将二维分配问题效用矩阵的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任一行或者任一列中所有元素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加上或者减去任意值，所得新效用矩阵对应的最优分配策略与原效用矩阵相同，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最优解的值需要加上或者减去该任意值</a:t>
            </a:r>
          </a:p>
        </p:txBody>
      </p:sp>
      <p:sp>
        <p:nvSpPr>
          <p:cNvPr id="4403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35</a:t>
            </a:fld>
            <a:endParaRPr lang="en-US" altLang="zh-CN" sz="1400" dirty="0"/>
          </a:p>
        </p:txBody>
      </p:sp>
      <p:graphicFrame>
        <p:nvGraphicFramePr>
          <p:cNvPr id="37893" name="表格 37892"/>
          <p:cNvGraphicFramePr/>
          <p:nvPr/>
        </p:nvGraphicFramePr>
        <p:xfrm>
          <a:off x="4572000" y="1808163"/>
          <a:ext cx="4230688" cy="4230688"/>
        </p:xfrm>
        <a:graphic>
          <a:graphicData uri="http://schemas.openxmlformats.org/drawingml/2006/table">
            <a:tbl>
              <a:tblPr/>
              <a:tblGrid>
                <a:gridCol w="1058863"/>
                <a:gridCol w="1055687"/>
                <a:gridCol w="1058863"/>
                <a:gridCol w="1057275"/>
              </a:tblGrid>
              <a:tr h="10810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477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509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509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算法详解</a:t>
            </a:r>
          </a:p>
        </p:txBody>
      </p:sp>
      <p:sp>
        <p:nvSpPr>
          <p:cNvPr id="45058" name="内容占位符 2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905375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zh-CN" dirty="0"/>
              <a:t>步骤一：找出矩阵每行的最小元素，并分别从每行中减去它。</a:t>
            </a:r>
          </a:p>
          <a:p>
            <a:r>
              <a:rPr lang="zh-CN" altLang="zh-CN" dirty="0"/>
              <a:t>步骤二：再找出矩阵每列的最小元素，再分别从各列中减去它。</a:t>
            </a:r>
          </a:p>
          <a:p>
            <a:r>
              <a:rPr lang="zh-CN" altLang="zh-CN" dirty="0"/>
              <a:t>步骤三：判断零元素是否位于不同行、不同列？</a:t>
            </a:r>
          </a:p>
          <a:p>
            <a:r>
              <a:rPr lang="zh-CN" altLang="zh-CN" dirty="0"/>
              <a:t>经过上述变换后，矩阵的每行每列至少都有了一个零元素。</a:t>
            </a:r>
          </a:p>
          <a:p>
            <a:endParaRPr lang="zh-CN" altLang="en-US" dirty="0"/>
          </a:p>
        </p:txBody>
      </p:sp>
      <p:sp>
        <p:nvSpPr>
          <p:cNvPr id="4505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36</a:t>
            </a:fld>
            <a:endParaRPr lang="en-US" altLang="zh-CN" sz="1400" dirty="0"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行减最小元素</a:t>
            </a:r>
          </a:p>
        </p:txBody>
      </p:sp>
      <p:sp>
        <p:nvSpPr>
          <p:cNvPr id="46082" name="内容占位符 9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905375"/>
          </a:xfrm>
        </p:spPr>
        <p:txBody>
          <a:bodyPr vert="horz" wrap="square" lIns="91440" tIns="45720" rIns="91440" bIns="45720" anchor="t" anchorCtr="0"/>
          <a:lstStyle/>
          <a:p>
            <a:endParaRPr lang="zh-CN" altLang="en-US" dirty="0"/>
          </a:p>
        </p:txBody>
      </p:sp>
      <p:sp>
        <p:nvSpPr>
          <p:cNvPr id="4608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37</a:t>
            </a:fld>
            <a:endParaRPr lang="en-US" altLang="zh-CN" sz="1400" dirty="0"/>
          </a:p>
        </p:txBody>
      </p:sp>
      <p:graphicFrame>
        <p:nvGraphicFramePr>
          <p:cNvPr id="39941" name="表格 39940"/>
          <p:cNvGraphicFramePr/>
          <p:nvPr/>
        </p:nvGraphicFramePr>
        <p:xfrm>
          <a:off x="0" y="1854200"/>
          <a:ext cx="4230688" cy="4230688"/>
        </p:xfrm>
        <a:graphic>
          <a:graphicData uri="http://schemas.openxmlformats.org/drawingml/2006/table">
            <a:tbl>
              <a:tblPr/>
              <a:tblGrid>
                <a:gridCol w="1058863"/>
                <a:gridCol w="1055687"/>
                <a:gridCol w="1058863"/>
                <a:gridCol w="1057275"/>
              </a:tblGrid>
              <a:tr h="10810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477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23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509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509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9968" name="表格 39967"/>
          <p:cNvGraphicFramePr/>
          <p:nvPr/>
        </p:nvGraphicFramePr>
        <p:xfrm>
          <a:off x="4913313" y="1854200"/>
          <a:ext cx="4230688" cy="4230688"/>
        </p:xfrm>
        <a:graphic>
          <a:graphicData uri="http://schemas.openxmlformats.org/drawingml/2006/table">
            <a:tbl>
              <a:tblPr/>
              <a:tblGrid>
                <a:gridCol w="1058863"/>
                <a:gridCol w="1055687"/>
                <a:gridCol w="1058863"/>
                <a:gridCol w="1057275"/>
              </a:tblGrid>
              <a:tr h="10810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477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509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509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右箭头 6"/>
          <p:cNvSpPr/>
          <p:nvPr/>
        </p:nvSpPr>
        <p:spPr>
          <a:xfrm>
            <a:off x="4302125" y="3473450"/>
            <a:ext cx="539750" cy="1035050"/>
          </a:xfrm>
          <a:prstGeom prst="rightArrow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列减最小元素</a:t>
            </a:r>
          </a:p>
        </p:txBody>
      </p:sp>
      <p:sp>
        <p:nvSpPr>
          <p:cNvPr id="47106" name="内容占位符 10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905375"/>
          </a:xfrm>
        </p:spPr>
        <p:txBody>
          <a:bodyPr vert="horz" wrap="square" lIns="91440" tIns="45720" rIns="91440" bIns="45720" anchor="t" anchorCtr="0"/>
          <a:lstStyle/>
          <a:p>
            <a:endParaRPr lang="zh-CN" altLang="en-US" dirty="0"/>
          </a:p>
        </p:txBody>
      </p:sp>
      <p:sp>
        <p:nvSpPr>
          <p:cNvPr id="4710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38</a:t>
            </a:fld>
            <a:endParaRPr lang="en-US" altLang="zh-CN" sz="1400" dirty="0"/>
          </a:p>
        </p:txBody>
      </p:sp>
      <p:graphicFrame>
        <p:nvGraphicFramePr>
          <p:cNvPr id="40965" name="表格 40964"/>
          <p:cNvGraphicFramePr/>
          <p:nvPr/>
        </p:nvGraphicFramePr>
        <p:xfrm>
          <a:off x="4913313" y="1854200"/>
          <a:ext cx="4230688" cy="4230688"/>
        </p:xfrm>
        <a:graphic>
          <a:graphicData uri="http://schemas.openxmlformats.org/drawingml/2006/table">
            <a:tbl>
              <a:tblPr/>
              <a:tblGrid>
                <a:gridCol w="1058863"/>
                <a:gridCol w="1055687"/>
                <a:gridCol w="1058863"/>
                <a:gridCol w="1057275"/>
              </a:tblGrid>
              <a:tr h="10810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477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509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509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右箭头 6"/>
          <p:cNvSpPr/>
          <p:nvPr/>
        </p:nvSpPr>
        <p:spPr>
          <a:xfrm>
            <a:off x="4302125" y="3473450"/>
            <a:ext cx="539750" cy="1035050"/>
          </a:xfrm>
          <a:prstGeom prst="rightArrow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0993" name="表格 40992"/>
          <p:cNvGraphicFramePr/>
          <p:nvPr/>
        </p:nvGraphicFramePr>
        <p:xfrm>
          <a:off x="0" y="1854200"/>
          <a:ext cx="4230688" cy="4230688"/>
        </p:xfrm>
        <a:graphic>
          <a:graphicData uri="http://schemas.openxmlformats.org/drawingml/2006/table">
            <a:tbl>
              <a:tblPr/>
              <a:tblGrid>
                <a:gridCol w="1058863"/>
                <a:gridCol w="1055687"/>
                <a:gridCol w="1058863"/>
                <a:gridCol w="1057275"/>
              </a:tblGrid>
              <a:tr h="10810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477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509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509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4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条件放宽处理一</a:t>
            </a:r>
          </a:p>
        </p:txBody>
      </p:sp>
      <p:sp>
        <p:nvSpPr>
          <p:cNvPr id="48130" name="内容占位符 2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905375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如果未能达到每行每列都有</a:t>
            </a:r>
            <a:r>
              <a:rPr lang="en-US" altLang="zh-CN" dirty="0"/>
              <a:t>0</a:t>
            </a:r>
            <a:r>
              <a:rPr lang="zh-CN" altLang="en-US" dirty="0"/>
              <a:t>的结果，则需要进一步处理</a:t>
            </a:r>
            <a:endParaRPr lang="en-US" altLang="zh-CN" dirty="0"/>
          </a:p>
          <a:p>
            <a:r>
              <a:rPr lang="zh-CN" altLang="en-US" dirty="0"/>
              <a:t>逐行找</a:t>
            </a:r>
            <a:r>
              <a:rPr lang="en-US" altLang="zh-CN" dirty="0"/>
              <a:t>0</a:t>
            </a:r>
            <a:r>
              <a:rPr lang="zh-CN" altLang="en-US" dirty="0"/>
              <a:t>，遇单</a:t>
            </a:r>
            <a:r>
              <a:rPr lang="en-US" altLang="zh-CN" dirty="0"/>
              <a:t>0</a:t>
            </a:r>
            <a:r>
              <a:rPr lang="zh-CN" altLang="en-US" dirty="0"/>
              <a:t>划盖列，遇多</a:t>
            </a:r>
            <a:r>
              <a:rPr lang="en-US" altLang="zh-CN" dirty="0"/>
              <a:t>0</a:t>
            </a:r>
            <a:r>
              <a:rPr lang="zh-CN" altLang="en-US" dirty="0"/>
              <a:t>划盖行（也称为：用尽量少的线覆盖全部</a:t>
            </a:r>
            <a:r>
              <a:rPr lang="en-US" altLang="zh-CN" dirty="0"/>
              <a:t>0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813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39</a:t>
            </a:fld>
            <a:endParaRPr lang="en-US" altLang="zh-CN" sz="1400" dirty="0"/>
          </a:p>
        </p:txBody>
      </p:sp>
      <p:pic>
        <p:nvPicPr>
          <p:cNvPr id="48132" name="Picture 5" descr="1"/>
          <p:cNvPicPr>
            <a:picLocks noChangeAspect="1"/>
          </p:cNvPicPr>
          <p:nvPr/>
        </p:nvPicPr>
        <p:blipFill>
          <a:blip r:embed="rId2">
            <a:lum bright="6000" contrast="29999"/>
          </a:blip>
          <a:srcRect l="22311" t="37086" r="15025" b="49629"/>
          <a:stretch>
            <a:fillRect/>
          </a:stretch>
        </p:blipFill>
        <p:spPr>
          <a:xfrm>
            <a:off x="161925" y="3484563"/>
            <a:ext cx="8893175" cy="2600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133" name="Line 8"/>
          <p:cNvSpPr/>
          <p:nvPr/>
        </p:nvSpPr>
        <p:spPr>
          <a:xfrm>
            <a:off x="522288" y="3563938"/>
            <a:ext cx="0" cy="2447925"/>
          </a:xfrm>
          <a:prstGeom prst="line">
            <a:avLst/>
          </a:prstGeom>
          <a:ln w="19050" cap="flat" cmpd="sng">
            <a:solidFill>
              <a:schemeClr val="hlink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48134" name="Line 10"/>
          <p:cNvSpPr/>
          <p:nvPr/>
        </p:nvSpPr>
        <p:spPr>
          <a:xfrm>
            <a:off x="3978275" y="3563938"/>
            <a:ext cx="0" cy="2447925"/>
          </a:xfrm>
          <a:prstGeom prst="line">
            <a:avLst/>
          </a:prstGeom>
          <a:ln w="19050" cap="flat" cmpd="sng">
            <a:solidFill>
              <a:schemeClr val="hlink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48135" name="Line 13"/>
          <p:cNvSpPr/>
          <p:nvPr/>
        </p:nvSpPr>
        <p:spPr>
          <a:xfrm>
            <a:off x="5921375" y="5076825"/>
            <a:ext cx="2665413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48136" name="Line 14"/>
          <p:cNvSpPr/>
          <p:nvPr/>
        </p:nvSpPr>
        <p:spPr>
          <a:xfrm>
            <a:off x="431800" y="4068763"/>
            <a:ext cx="360363" cy="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8137" name="Line 15"/>
          <p:cNvSpPr/>
          <p:nvPr/>
        </p:nvSpPr>
        <p:spPr>
          <a:xfrm>
            <a:off x="7721600" y="5219700"/>
            <a:ext cx="360363" cy="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8138" name="Line 17"/>
          <p:cNvSpPr/>
          <p:nvPr/>
        </p:nvSpPr>
        <p:spPr>
          <a:xfrm>
            <a:off x="3851275" y="4643438"/>
            <a:ext cx="360363" cy="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3114675"/>
            <a:ext cx="7896225" cy="2981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915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条件放宽处理二</a:t>
            </a:r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905375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找出最小未盖元素</a:t>
            </a:r>
            <a:endParaRPr lang="en-US" altLang="zh-CN" dirty="0"/>
          </a:p>
          <a:p>
            <a:r>
              <a:rPr lang="zh-CN" altLang="en-US" dirty="0"/>
              <a:t>‘未全盖行’减最小元素；‘全盖列’加最小元素</a:t>
            </a:r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40</a:t>
            </a:fld>
            <a:endParaRPr lang="en-US" altLang="zh-CN" sz="1400" dirty="0"/>
          </a:p>
        </p:txBody>
      </p:sp>
      <p:sp>
        <p:nvSpPr>
          <p:cNvPr id="49157" name="Rectangle 13"/>
          <p:cNvSpPr/>
          <p:nvPr/>
        </p:nvSpPr>
        <p:spPr>
          <a:xfrm>
            <a:off x="646113" y="5741988"/>
            <a:ext cx="3384550" cy="404812"/>
          </a:xfrm>
          <a:prstGeom prst="rect">
            <a:avLst/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58" name="Line 15"/>
          <p:cNvSpPr/>
          <p:nvPr/>
        </p:nvSpPr>
        <p:spPr>
          <a:xfrm>
            <a:off x="6931025" y="3789363"/>
            <a:ext cx="431800" cy="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9159" name="Line 16"/>
          <p:cNvSpPr/>
          <p:nvPr/>
        </p:nvSpPr>
        <p:spPr>
          <a:xfrm>
            <a:off x="7270750" y="3222625"/>
            <a:ext cx="0" cy="2519363"/>
          </a:xfrm>
          <a:prstGeom prst="line">
            <a:avLst/>
          </a:prstGeom>
          <a:ln w="9525" cap="flat" cmpd="sng">
            <a:solidFill>
              <a:schemeClr val="hlink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49160" name="Line 17"/>
          <p:cNvSpPr/>
          <p:nvPr/>
        </p:nvSpPr>
        <p:spPr>
          <a:xfrm>
            <a:off x="6237288" y="4373563"/>
            <a:ext cx="358775" cy="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9161" name="Line 18"/>
          <p:cNvSpPr/>
          <p:nvPr/>
        </p:nvSpPr>
        <p:spPr>
          <a:xfrm>
            <a:off x="6550025" y="3222625"/>
            <a:ext cx="0" cy="2590800"/>
          </a:xfrm>
          <a:prstGeom prst="line">
            <a:avLst/>
          </a:prstGeom>
          <a:ln w="9525" cap="flat" cmpd="sng">
            <a:solidFill>
              <a:schemeClr val="hlink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49162" name="Line 19"/>
          <p:cNvSpPr/>
          <p:nvPr/>
        </p:nvSpPr>
        <p:spPr>
          <a:xfrm>
            <a:off x="5516563" y="5543550"/>
            <a:ext cx="360362" cy="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9163" name="Line 21"/>
          <p:cNvSpPr/>
          <p:nvPr/>
        </p:nvSpPr>
        <p:spPr>
          <a:xfrm>
            <a:off x="7704138" y="4949825"/>
            <a:ext cx="288925" cy="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9164" name="Line 22"/>
          <p:cNvSpPr/>
          <p:nvPr/>
        </p:nvSpPr>
        <p:spPr>
          <a:xfrm>
            <a:off x="5326063" y="4805363"/>
            <a:ext cx="3097212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9165" name="Rectangle 11"/>
          <p:cNvSpPr/>
          <p:nvPr/>
        </p:nvSpPr>
        <p:spPr>
          <a:xfrm>
            <a:off x="4032250" y="3429000"/>
            <a:ext cx="495300" cy="2241550"/>
          </a:xfrm>
          <a:prstGeom prst="rect">
            <a:avLst/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b="1" dirty="0">
              <a:solidFill>
                <a:srgbClr val="8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66" name="Line 20"/>
          <p:cNvSpPr/>
          <p:nvPr/>
        </p:nvSpPr>
        <p:spPr>
          <a:xfrm>
            <a:off x="5830888" y="3222625"/>
            <a:ext cx="0" cy="2590800"/>
          </a:xfrm>
          <a:prstGeom prst="line">
            <a:avLst/>
          </a:prstGeom>
          <a:ln w="9525" cap="flat" cmpd="sng">
            <a:solidFill>
              <a:schemeClr val="hlink"/>
            </a:solidFill>
            <a:prstDash val="dash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匈牙利算法应用尝试</a:t>
            </a:r>
          </a:p>
        </p:txBody>
      </p:sp>
      <p:sp>
        <p:nvSpPr>
          <p:cNvPr id="50178" name="内容占位符 2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905375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有 </a:t>
            </a:r>
            <a:r>
              <a:rPr lang="en-US" altLang="zh-CN" dirty="0"/>
              <a:t>4 </a:t>
            </a:r>
            <a:r>
              <a:rPr lang="zh-CN" altLang="en-US" dirty="0"/>
              <a:t>种机械要分别安装在</a:t>
            </a:r>
            <a:r>
              <a:rPr lang="en-US" altLang="zh-CN" dirty="0"/>
              <a:t>4</a:t>
            </a:r>
            <a:r>
              <a:rPr lang="zh-CN" altLang="en-US" dirty="0"/>
              <a:t>个工地，它们在</a:t>
            </a:r>
            <a:r>
              <a:rPr lang="en-US" altLang="zh-CN" dirty="0"/>
              <a:t>4</a:t>
            </a:r>
            <a:r>
              <a:rPr lang="zh-CN" altLang="en-US" dirty="0"/>
              <a:t>个工地的工作效率不同，问应如何指派，可使</a:t>
            </a:r>
            <a:r>
              <a:rPr lang="en-US" altLang="zh-CN" dirty="0"/>
              <a:t>4</a:t>
            </a:r>
            <a:r>
              <a:rPr lang="zh-CN" altLang="en-US" dirty="0"/>
              <a:t>台机械发挥的总效益最大？</a:t>
            </a:r>
          </a:p>
          <a:p>
            <a:endParaRPr lang="zh-CN" altLang="en-US" dirty="0"/>
          </a:p>
        </p:txBody>
      </p:sp>
      <p:sp>
        <p:nvSpPr>
          <p:cNvPr id="5017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41</a:t>
            </a:fld>
            <a:endParaRPr lang="en-US" altLang="zh-CN" sz="1400" dirty="0"/>
          </a:p>
        </p:txBody>
      </p:sp>
      <p:graphicFrame>
        <p:nvGraphicFramePr>
          <p:cNvPr id="5" name="Group 4"/>
          <p:cNvGraphicFramePr>
            <a:graphicFrameLocks noGrp="1"/>
          </p:cNvGraphicFramePr>
          <p:nvPr/>
        </p:nvGraphicFramePr>
        <p:xfrm>
          <a:off x="206375" y="3087688"/>
          <a:ext cx="8829675" cy="3365500"/>
        </p:xfrm>
        <a:graphic>
          <a:graphicData uri="http://schemas.openxmlformats.org/drawingml/2006/table">
            <a:tbl>
              <a:tblPr/>
              <a:tblGrid>
                <a:gridCol w="2082800"/>
                <a:gridCol w="6746875"/>
              </a:tblGrid>
              <a:tr h="8963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工地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机器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甲              乙              丙                丁</a:t>
                      </a: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691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Ⅰ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Ⅱ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Ⅲ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Ⅳ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30            25           40          32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32            35           30          36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35            40           34          27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28            43           32          38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解答</a:t>
            </a:r>
          </a:p>
        </p:txBody>
      </p:sp>
      <p:sp>
        <p:nvSpPr>
          <p:cNvPr id="51202" name="内容占位符 2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905375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原效益矩阵中   </a:t>
            </a:r>
            <a:r>
              <a:rPr lang="en-US" altLang="zh-CN" dirty="0"/>
              <a:t>max maxCij=43   (  i ,   j=1, 2, 3, 4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所以    </a:t>
            </a:r>
            <a:r>
              <a:rPr lang="en-US" altLang="zh-CN" dirty="0"/>
              <a:t>bij= 43</a:t>
            </a:r>
            <a:r>
              <a:rPr lang="zh-CN" altLang="en-US" dirty="0"/>
              <a:t>－ </a:t>
            </a:r>
            <a:r>
              <a:rPr lang="en-US" altLang="zh-CN" dirty="0"/>
              <a:t>bij   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5120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42</a:t>
            </a:fld>
            <a:endParaRPr lang="en-US" altLang="zh-CN" sz="1400" dirty="0"/>
          </a:p>
        </p:txBody>
      </p:sp>
      <p:graphicFrame>
        <p:nvGraphicFramePr>
          <p:cNvPr id="51204" name="Object 5"/>
          <p:cNvGraphicFramePr>
            <a:graphicFrameLocks noChangeAspect="1"/>
          </p:cNvGraphicFramePr>
          <p:nvPr/>
        </p:nvGraphicFramePr>
        <p:xfrm>
          <a:off x="881063" y="3024188"/>
          <a:ext cx="7696200" cy="300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r:id="rId3" imgW="4305300" imgH="1765300" progId="Equation.3">
                  <p:embed/>
                </p:oleObj>
              </mc:Choice>
              <mc:Fallback>
                <p:oleObj r:id="rId3" imgW="4305300" imgH="17653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81063" y="3024188"/>
                        <a:ext cx="7696200" cy="3006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随堂训练与作业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4000"/>
              <a:t>请设计一个4*4的矩阵，每行每列都有0，其它元素都是0到10之间的整数，保证匈牙利算法的“划线盖零、减最小元素”步骤循环不少于两次循环才能得到最优解</a:t>
            </a: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31800" y="2079625"/>
            <a:ext cx="8280400" cy="17986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j-cs"/>
              </a:rPr>
              <a:t>赛马算法在无线通信网络中的应用</a:t>
            </a:r>
            <a:r>
              <a:rPr kumimoji="0" lang="en-US" altLang="zh-CN" sz="4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j-cs"/>
              </a:rPr>
              <a:t>------</a:t>
            </a:r>
            <a:r>
              <a:rPr kumimoji="0" lang="zh-CN" altLang="en-US" sz="4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j-cs"/>
              </a:rPr>
              <a:t>学术思想讨论</a:t>
            </a:r>
          </a:p>
        </p:txBody>
      </p:sp>
      <p:sp>
        <p:nvSpPr>
          <p:cNvPr id="52226" name="Rectangle 5"/>
          <p:cNvSpPr>
            <a:spLocks noGrp="1"/>
          </p:cNvSpPr>
          <p:nvPr>
            <p:ph type="subTitle" idx="1"/>
          </p:nvPr>
        </p:nvSpPr>
        <p:spPr>
          <a:xfrm>
            <a:off x="971550" y="4284663"/>
            <a:ext cx="7245350" cy="1979612"/>
          </a:xfrm>
        </p:spPr>
        <p:txBody>
          <a:bodyPr vert="horz" wrap="square" lIns="91440" tIns="45720" rIns="91440" bIns="45720" anchor="t" anchorCtr="0"/>
          <a:lstStyle/>
          <a:p>
            <a:pPr>
              <a:buSzPct val="60000"/>
            </a:pPr>
            <a:r>
              <a:rPr lang="zh-CN" altLang="en-US" b="0" dirty="0"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王禄生</a:t>
            </a:r>
            <a:endParaRPr lang="en-US" altLang="zh-CN" b="0" dirty="0">
              <a:latin typeface="+mn-lt"/>
              <a:ea typeface="+mn-ea"/>
              <a:cs typeface="+mn-cs"/>
            </a:endParaRPr>
          </a:p>
          <a:p>
            <a:pPr>
              <a:buSzPct val="60000"/>
            </a:pPr>
            <a:r>
              <a:rPr lang="zh-CN" altLang="en-US" b="0" dirty="0">
                <a:latin typeface="+mn-lt"/>
                <a:ea typeface="华文行楷" panose="02010800040101010101" pitchFamily="2" charset="-122"/>
                <a:cs typeface="+mn-cs"/>
              </a:rPr>
              <a:t>计算机与信息学院</a:t>
            </a:r>
            <a:endParaRPr lang="en-US" altLang="zh-CN" b="0" dirty="0">
              <a:latin typeface="+mn-lt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52227" name="Picture 5" descr="C:\Users\dell\Desktop\HOME\logo设计.bmp"/>
          <p:cNvPicPr>
            <a:picLocks noChangeAspect="1"/>
          </p:cNvPicPr>
          <p:nvPr/>
        </p:nvPicPr>
        <p:blipFill>
          <a:blip r:embed="rId2"/>
          <a:srcRect r="50735"/>
          <a:stretch>
            <a:fillRect/>
          </a:stretch>
        </p:blipFill>
        <p:spPr>
          <a:xfrm>
            <a:off x="8081963" y="0"/>
            <a:ext cx="811212" cy="18367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228" name="Picture 5" descr="C:\Users\dell\Desktop\HOME\logo设计.bmp"/>
          <p:cNvPicPr>
            <a:picLocks noChangeAspect="1"/>
          </p:cNvPicPr>
          <p:nvPr/>
        </p:nvPicPr>
        <p:blipFill>
          <a:blip r:embed="rId2"/>
          <a:srcRect l="47510" b="10689"/>
          <a:stretch>
            <a:fillRect/>
          </a:stretch>
        </p:blipFill>
        <p:spPr>
          <a:xfrm>
            <a:off x="8669338" y="773113"/>
            <a:ext cx="449262" cy="8556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内容大纲</a:t>
            </a:r>
          </a:p>
        </p:txBody>
      </p:sp>
      <p:sp>
        <p:nvSpPr>
          <p:cNvPr id="53250" name="内容占位符 2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635500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>
                <a:solidFill>
                  <a:srgbClr val="00B0F0"/>
                </a:solidFill>
              </a:rPr>
              <a:t>田忌赛马的基本原理</a:t>
            </a:r>
            <a:endParaRPr lang="en-US" altLang="zh-CN" dirty="0">
              <a:solidFill>
                <a:srgbClr val="00B0F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赛马算法在体域网中的应用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分布式协作算法及其性能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赛马算法在蜂窝网中的扩展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5325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45</a:t>
            </a:fld>
            <a:endParaRPr lang="en-US" altLang="zh-CN" sz="1400" dirty="0"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田忌赛马的故事</a:t>
            </a:r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905375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扬长避短、避其锋芒、以智取胜</a:t>
            </a:r>
          </a:p>
        </p:txBody>
      </p:sp>
      <p:sp>
        <p:nvSpPr>
          <p:cNvPr id="5427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46</a:t>
            </a:fld>
            <a:endParaRPr lang="en-US" altLang="zh-CN" sz="1400" dirty="0"/>
          </a:p>
        </p:txBody>
      </p:sp>
      <p:graphicFrame>
        <p:nvGraphicFramePr>
          <p:cNvPr id="54276" name="Object 5"/>
          <p:cNvGraphicFramePr/>
          <p:nvPr/>
        </p:nvGraphicFramePr>
        <p:xfrm>
          <a:off x="3316288" y="2225675"/>
          <a:ext cx="2803525" cy="343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6" r:id="rId4" imgW="2057400" imgH="2616200" progId="Visio.Drawing.11">
                  <p:embed/>
                </p:oleObj>
              </mc:Choice>
              <mc:Fallback>
                <p:oleObj r:id="rId4" imgW="2057400" imgH="2616200" progId="Visio.Drawing.11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16288" y="2225675"/>
                        <a:ext cx="2803525" cy="3435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6"/>
          <p:cNvGraphicFramePr/>
          <p:nvPr/>
        </p:nvGraphicFramePr>
        <p:xfrm>
          <a:off x="3027363" y="2316163"/>
          <a:ext cx="936625" cy="213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7" r:id="rId6" imgW="492760" imgH="1156335" progId="Visio.Drawing.11">
                  <p:embed/>
                </p:oleObj>
              </mc:Choice>
              <mc:Fallback>
                <p:oleObj r:id="rId6" imgW="492760" imgH="1156335" progId="Visio.Drawing.11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27363" y="2316163"/>
                        <a:ext cx="936625" cy="2136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7"/>
          <p:cNvGraphicFramePr/>
          <p:nvPr/>
        </p:nvGraphicFramePr>
        <p:xfrm>
          <a:off x="3176588" y="5070475"/>
          <a:ext cx="642937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8" r:id="rId8" imgW="349885" imgH="349885" progId="Visio.Drawing.11">
                  <p:embed/>
                </p:oleObj>
              </mc:Choice>
              <mc:Fallback>
                <p:oleObj r:id="rId8" imgW="349885" imgH="349885" progId="Visio.Drawing.11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176588" y="5070475"/>
                        <a:ext cx="642937" cy="619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9" name="TextBox 7"/>
          <p:cNvSpPr txBox="1"/>
          <p:nvPr/>
        </p:nvSpPr>
        <p:spPr>
          <a:xfrm>
            <a:off x="6911975" y="2214563"/>
            <a:ext cx="1724025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齐威王团队</a:t>
            </a:r>
          </a:p>
        </p:txBody>
      </p:sp>
      <p:sp>
        <p:nvSpPr>
          <p:cNvPr id="54280" name="TextBox 8"/>
          <p:cNvSpPr txBox="1"/>
          <p:nvPr/>
        </p:nvSpPr>
        <p:spPr>
          <a:xfrm>
            <a:off x="611188" y="2259013"/>
            <a:ext cx="1416050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田忌团队</a:t>
            </a:r>
          </a:p>
        </p:txBody>
      </p:sp>
      <p:pic>
        <p:nvPicPr>
          <p:cNvPr id="54281" name="Picture 6" descr="c:\users\dell\appdata\roaming\360se6\User Data\temp\8326cffc1e178a8277357e44f603738da877e8cd.jpg"/>
          <p:cNvPicPr>
            <a:picLocks noChangeAspect="1"/>
          </p:cNvPicPr>
          <p:nvPr/>
        </p:nvPicPr>
        <p:blipFill>
          <a:blip r:embed="rId10"/>
          <a:srcRect b="15028"/>
          <a:stretch>
            <a:fillRect/>
          </a:stretch>
        </p:blipFill>
        <p:spPr>
          <a:xfrm>
            <a:off x="6286500" y="2843213"/>
            <a:ext cx="2857500" cy="2971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4282" name="Picture 8" descr="c:\users\dell\appdata\roaming\360se6\User Data\temp\f9198618367adab4877e113689d4b31c8701e41d.jpg"/>
          <p:cNvPicPr>
            <a:picLocks noChangeAspect="1"/>
          </p:cNvPicPr>
          <p:nvPr/>
        </p:nvPicPr>
        <p:blipFill>
          <a:blip r:embed="rId11"/>
          <a:srcRect l="13704" r="36760" b="55357"/>
          <a:stretch>
            <a:fillRect/>
          </a:stretch>
        </p:blipFill>
        <p:spPr>
          <a:xfrm>
            <a:off x="385763" y="2979738"/>
            <a:ext cx="1982787" cy="24971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Picture 4" descr="c:\users\dell\appdata\roaming\360se6\User Data\temp\d62a6059252dd42af23d4cd8033b5bb5c9eab889.jpg"/>
          <p:cNvPicPr>
            <a:picLocks noChangeAspect="1"/>
          </p:cNvPicPr>
          <p:nvPr/>
        </p:nvPicPr>
        <p:blipFill>
          <a:blip r:embed="rId12"/>
          <a:srcRect l="18085" t="23486" r="22804" b="16319"/>
          <a:stretch>
            <a:fillRect/>
          </a:stretch>
        </p:blipFill>
        <p:spPr>
          <a:xfrm>
            <a:off x="385763" y="2778125"/>
            <a:ext cx="1981200" cy="28559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1.97965E-6 L 0.00104 0.1840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" y="92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61 -0.00231 C -0.05261 -0.04028 -0.10244 -0.07731 -0.10226 -0.13796 C -0.10174 -0.19838 -0.01806 -0.3294 -0.00018 -0.36551 " pathEditMode="relative" rAng="0" ptsTypes="aaA">
                                      <p:cBhvr>
                                        <p:cTn id="8" dur="2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00" y="-1820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en-US" altLang="zh-CN" dirty="0"/>
              <a:t>S</a:t>
            </a:r>
            <a:r>
              <a:rPr lang="zh-CN" altLang="en-US" dirty="0"/>
              <a:t>型效用函数</a:t>
            </a:r>
          </a:p>
        </p:txBody>
      </p:sp>
      <p:sp>
        <p:nvSpPr>
          <p:cNvPr id="5632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47</a:t>
            </a:fld>
            <a:endParaRPr lang="en-US" altLang="zh-CN" sz="1400" dirty="0"/>
          </a:p>
        </p:txBody>
      </p:sp>
      <p:pic>
        <p:nvPicPr>
          <p:cNvPr id="56323" name="Picture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0225" y="1449388"/>
            <a:ext cx="5427663" cy="4905375"/>
          </a:xfrm>
        </p:spPr>
      </p:pic>
      <p:sp>
        <p:nvSpPr>
          <p:cNvPr id="56324" name="TextBox 9"/>
          <p:cNvSpPr txBox="1"/>
          <p:nvPr/>
        </p:nvSpPr>
        <p:spPr>
          <a:xfrm>
            <a:off x="206375" y="1898650"/>
            <a:ext cx="1416050" cy="23082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包成功率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/>
            </a:r>
            <a:b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</a:b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用户体验</a:t>
            </a:r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吞吐量</a:t>
            </a:r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vs.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SINR</a:t>
            </a:r>
          </a:p>
          <a:p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5670550" y="1854200"/>
            <a:ext cx="360363" cy="15748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 flipV="1">
            <a:off x="6102350" y="2663825"/>
            <a:ext cx="1574800" cy="143986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27" name="TextBox 13"/>
          <p:cNvSpPr txBox="1"/>
          <p:nvPr/>
        </p:nvSpPr>
        <p:spPr>
          <a:xfrm>
            <a:off x="7451725" y="4149725"/>
            <a:ext cx="1416050" cy="12001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跨越门限</a:t>
            </a:r>
            <a:endParaRPr lang="en-US" altLang="zh-CN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性能大幅</a:t>
            </a:r>
            <a:endParaRPr lang="en-US" altLang="zh-CN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提升</a:t>
            </a: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效用矩阵</a:t>
            </a:r>
          </a:p>
        </p:txBody>
      </p:sp>
      <p:sp>
        <p:nvSpPr>
          <p:cNvPr id="57346" name="内容占位符 2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905375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>
                <a:ea typeface="宋体" panose="02010600030101010101" pitchFamily="2" charset="-122"/>
              </a:rPr>
              <a:t>行表示 </a:t>
            </a:r>
            <a:r>
              <a:rPr lang="en-US" altLang="zh-CN" i="1" dirty="0">
                <a:ea typeface="宋体" panose="02010600030101010101" pitchFamily="2" charset="-122"/>
              </a:rPr>
              <a:t>k </a:t>
            </a:r>
            <a:r>
              <a:rPr lang="zh-CN" altLang="en-US" dirty="0">
                <a:ea typeface="宋体" panose="02010600030101010101" pitchFamily="2" charset="-122"/>
              </a:rPr>
              <a:t>的马从强到弱排序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i="1" dirty="0">
                <a:ea typeface="宋体" panose="02010600030101010101" pitchFamily="2" charset="-122"/>
              </a:rPr>
              <a:t>k</a:t>
            </a:r>
            <a:r>
              <a:rPr lang="zh-CN" altLang="en-US" dirty="0">
                <a:ea typeface="宋体" panose="02010600030101010101" pitchFamily="2" charset="-122"/>
              </a:rPr>
              <a:t>：田忌 或 齐威王</a:t>
            </a:r>
            <a:endParaRPr lang="zh-CN" altLang="fr-FR" dirty="0"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5734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48</a:t>
            </a:fld>
            <a:endParaRPr lang="en-US" altLang="zh-CN" sz="1400" dirty="0"/>
          </a:p>
        </p:txBody>
      </p:sp>
      <p:pic>
        <p:nvPicPr>
          <p:cNvPr id="57348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954338"/>
            <a:ext cx="8763000" cy="209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2133600" y="2916238"/>
            <a:ext cx="3962400" cy="0"/>
          </a:xfrm>
          <a:prstGeom prst="line">
            <a:avLst/>
          </a:prstGeom>
          <a:noFill/>
          <a:ln w="57150">
            <a:solidFill>
              <a:schemeClr val="tx2">
                <a:lumMod val="40000"/>
                <a:lumOff val="6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350" name="Line 7"/>
          <p:cNvSpPr/>
          <p:nvPr/>
        </p:nvSpPr>
        <p:spPr>
          <a:xfrm>
            <a:off x="1752600" y="3221038"/>
            <a:ext cx="0" cy="1447800"/>
          </a:xfrm>
          <a:prstGeom prst="line">
            <a:avLst/>
          </a:prstGeom>
          <a:ln w="57150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9224" name="Line 10"/>
          <p:cNvSpPr/>
          <p:nvPr/>
        </p:nvSpPr>
        <p:spPr>
          <a:xfrm>
            <a:off x="3222625" y="3159125"/>
            <a:ext cx="5310188" cy="1439863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效用矩阵</a:t>
            </a:r>
          </a:p>
        </p:txBody>
      </p:sp>
      <p:sp>
        <p:nvSpPr>
          <p:cNvPr id="59394" name="内容占位符 2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905375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>
                <a:ea typeface="宋体" panose="02010600030101010101" pitchFamily="2" charset="-122"/>
              </a:rPr>
              <a:t>行表示 </a:t>
            </a:r>
            <a:r>
              <a:rPr lang="en-US" altLang="zh-CN" i="1" dirty="0">
                <a:ea typeface="宋体" panose="02010600030101010101" pitchFamily="2" charset="-122"/>
              </a:rPr>
              <a:t>k </a:t>
            </a:r>
            <a:r>
              <a:rPr lang="zh-CN" altLang="en-US" dirty="0">
                <a:ea typeface="宋体" panose="02010600030101010101" pitchFamily="2" charset="-122"/>
              </a:rPr>
              <a:t>的马从强到弱排序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i="1" dirty="0">
                <a:ea typeface="宋体" panose="02010600030101010101" pitchFamily="2" charset="-122"/>
              </a:rPr>
              <a:t>k</a:t>
            </a:r>
            <a:r>
              <a:rPr lang="zh-CN" altLang="en-US" dirty="0">
                <a:ea typeface="宋体" panose="02010600030101010101" pitchFamily="2" charset="-122"/>
              </a:rPr>
              <a:t>：田忌 或 齐威王</a:t>
            </a:r>
            <a:endParaRPr lang="zh-CN" altLang="fr-FR" dirty="0"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5939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49</a:t>
            </a:fld>
            <a:endParaRPr lang="en-US" altLang="zh-CN" sz="1400" dirty="0"/>
          </a:p>
        </p:txBody>
      </p:sp>
      <p:pic>
        <p:nvPicPr>
          <p:cNvPr id="5939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954338"/>
            <a:ext cx="8763000" cy="209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2133600" y="2916238"/>
            <a:ext cx="3962400" cy="0"/>
          </a:xfrm>
          <a:prstGeom prst="line">
            <a:avLst/>
          </a:prstGeom>
          <a:noFill/>
          <a:ln w="57150">
            <a:solidFill>
              <a:schemeClr val="tx2">
                <a:lumMod val="40000"/>
                <a:lumOff val="6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8" name="Line 7"/>
          <p:cNvSpPr/>
          <p:nvPr/>
        </p:nvSpPr>
        <p:spPr>
          <a:xfrm>
            <a:off x="1752600" y="3221038"/>
            <a:ext cx="0" cy="1447800"/>
          </a:xfrm>
          <a:prstGeom prst="line">
            <a:avLst/>
          </a:prstGeom>
          <a:ln w="57150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0248" name="Line 10"/>
          <p:cNvSpPr/>
          <p:nvPr/>
        </p:nvSpPr>
        <p:spPr>
          <a:xfrm>
            <a:off x="5876925" y="3203575"/>
            <a:ext cx="2565400" cy="674688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内容大纲</a:t>
            </a:r>
          </a:p>
        </p:txBody>
      </p:sp>
      <p:sp>
        <p:nvSpPr>
          <p:cNvPr id="60418" name="内容占位符 2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635500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田忌赛马的基本原理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00B0F0"/>
                </a:solidFill>
              </a:rPr>
              <a:t>赛马算法在体域网中的应用</a:t>
            </a:r>
            <a:endParaRPr lang="en-US" altLang="zh-CN" dirty="0">
              <a:solidFill>
                <a:srgbClr val="00B0F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分布式协作算法及其性能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赛马算法在蜂窝网中的扩展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604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50</a:t>
            </a:fld>
            <a:endParaRPr lang="en-US" altLang="zh-CN" sz="1400" dirty="0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体域网干扰场景</a:t>
            </a:r>
          </a:p>
        </p:txBody>
      </p:sp>
      <p:sp>
        <p:nvSpPr>
          <p:cNvPr id="6144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51</a:t>
            </a:fld>
            <a:endParaRPr lang="en-US" altLang="zh-CN" sz="1400" dirty="0"/>
          </a:p>
        </p:txBody>
      </p:sp>
      <p:graphicFrame>
        <p:nvGraphicFramePr>
          <p:cNvPr id="61443" name="Object 3"/>
          <p:cNvGraphicFramePr>
            <a:graphicFrameLocks noGrp="1"/>
          </p:cNvGraphicFramePr>
          <p:nvPr>
            <p:ph idx="1"/>
          </p:nvPr>
        </p:nvGraphicFramePr>
        <p:xfrm>
          <a:off x="109538" y="1719263"/>
          <a:ext cx="8963025" cy="414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r:id="rId3" imgW="9893300" imgH="3340100" progId="Visio.Drawing.11">
                  <p:embed/>
                </p:oleObj>
              </mc:Choice>
              <mc:Fallback>
                <p:oleObj r:id="rId3" imgW="9893300" imgH="3340100" progId="Visio.Drawing.11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rcRect l="27193"/>
                      <a:stretch>
                        <a:fillRect/>
                      </a:stretch>
                    </p:blipFill>
                    <p:spPr>
                      <a:xfrm>
                        <a:off x="109538" y="1719263"/>
                        <a:ext cx="8963025" cy="41402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4" name="Rectangle 5"/>
          <p:cNvSpPr/>
          <p:nvPr/>
        </p:nvSpPr>
        <p:spPr>
          <a:xfrm>
            <a:off x="3446463" y="6129338"/>
            <a:ext cx="4186237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fr-FR" dirty="0">
                <a:latin typeface="Tahoma" panose="020B0604030504040204" pitchFamily="34" charset="0"/>
                <a:ea typeface="宋体" panose="02010600030101010101" pitchFamily="2" charset="-122"/>
              </a:rPr>
              <a:t>法国</a:t>
            </a:r>
            <a:r>
              <a:rPr lang="fr-FR" altLang="zh-CN" dirty="0">
                <a:latin typeface="Tahoma" panose="020B0604030504040204" pitchFamily="34" charset="0"/>
                <a:ea typeface="宋体" panose="02010600030101010101" pitchFamily="2" charset="-122"/>
              </a:rPr>
              <a:t>BANET</a:t>
            </a:r>
            <a:r>
              <a:rPr lang="zh-CN" altLang="fr-FR" dirty="0">
                <a:latin typeface="Tahoma" panose="020B0604030504040204" pitchFamily="34" charset="0"/>
                <a:ea typeface="宋体" panose="02010600030101010101" pitchFamily="2" charset="-122"/>
              </a:rPr>
              <a:t>项目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重要课题之一</a:t>
            </a:r>
            <a:endParaRPr lang="zh-CN" altLang="fr-FR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3238" y="2859088"/>
            <a:ext cx="738187" cy="1155700"/>
          </a:xfrm>
          <a:prstGeom prst="rect">
            <a:avLst/>
          </a:prstGeom>
          <a:noFill/>
          <a:ln w="9525">
            <a:noFill/>
          </a:ln>
        </p:spPr>
        <p:txBody>
          <a:bodyPr vert="eaVert" anchor="t" anchorCtr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田忌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16113" y="2843213"/>
            <a:ext cx="739775" cy="1155700"/>
          </a:xfrm>
          <a:prstGeom prst="rect">
            <a:avLst/>
          </a:prstGeom>
          <a:noFill/>
          <a:ln w="9525">
            <a:noFill/>
          </a:ln>
        </p:spPr>
        <p:txBody>
          <a:bodyPr vert="eaVert" anchor="t" anchorCtr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威王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51163" y="1314450"/>
            <a:ext cx="18542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传感器 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= 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马</a:t>
            </a:r>
          </a:p>
        </p:txBody>
      </p:sp>
      <p:cxnSp>
        <p:nvCxnSpPr>
          <p:cNvPr id="13" name="直接箭头连接符 12"/>
          <p:cNvCxnSpPr>
            <a:endCxn id="12" idx="3"/>
          </p:cNvCxnSpPr>
          <p:nvPr/>
        </p:nvCxnSpPr>
        <p:spPr>
          <a:xfrm flipH="1">
            <a:off x="2655888" y="1673225"/>
            <a:ext cx="430213" cy="174783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效用矩阵举例</a:t>
            </a:r>
          </a:p>
        </p:txBody>
      </p:sp>
      <p:sp>
        <p:nvSpPr>
          <p:cNvPr id="6246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52</a:t>
            </a:fld>
            <a:endParaRPr lang="en-US" altLang="zh-CN" sz="1400" dirty="0"/>
          </a:p>
        </p:txBody>
      </p:sp>
      <p:pic>
        <p:nvPicPr>
          <p:cNvPr id="62467" name="Picture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988" y="2573338"/>
            <a:ext cx="9059862" cy="3376612"/>
          </a:xfrm>
        </p:spPr>
      </p:pic>
      <p:sp>
        <p:nvSpPr>
          <p:cNvPr id="62468" name="TextBox 5"/>
          <p:cNvSpPr txBox="1"/>
          <p:nvPr/>
        </p:nvSpPr>
        <p:spPr>
          <a:xfrm>
            <a:off x="1196975" y="1403350"/>
            <a:ext cx="4756150" cy="8318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两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BAN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相距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10CM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场景，</a:t>
            </a:r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左侧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BAN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的效用矩阵（包成功率）</a:t>
            </a:r>
          </a:p>
        </p:txBody>
      </p:sp>
      <p:sp>
        <p:nvSpPr>
          <p:cNvPr id="11" name="矩形 10"/>
          <p:cNvSpPr/>
          <p:nvPr/>
        </p:nvSpPr>
        <p:spPr>
          <a:xfrm rot="1245596">
            <a:off x="11113" y="4137025"/>
            <a:ext cx="9136063" cy="3159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Picture 8" descr="c:\users\dell\appdata\roaming\360se6\User Data\temp\f9198618367adab4877e113689d4b31c8701e41d.jpg"/>
          <p:cNvPicPr>
            <a:picLocks noChangeAspect="1"/>
          </p:cNvPicPr>
          <p:nvPr/>
        </p:nvPicPr>
        <p:blipFill>
          <a:blip r:embed="rId4"/>
          <a:srcRect l="13704" r="36760" b="55357"/>
          <a:stretch>
            <a:fillRect/>
          </a:stretch>
        </p:blipFill>
        <p:spPr>
          <a:xfrm>
            <a:off x="7161213" y="0"/>
            <a:ext cx="1982787" cy="24971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效用矩阵举例</a:t>
            </a:r>
          </a:p>
        </p:txBody>
      </p:sp>
      <p:sp>
        <p:nvSpPr>
          <p:cNvPr id="645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53</a:t>
            </a:fld>
            <a:endParaRPr lang="en-US" altLang="zh-CN" sz="1400" dirty="0"/>
          </a:p>
        </p:txBody>
      </p:sp>
      <p:pic>
        <p:nvPicPr>
          <p:cNvPr id="64515" name="Picture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988" y="2573338"/>
            <a:ext cx="9059862" cy="3376612"/>
          </a:xfrm>
        </p:spPr>
      </p:pic>
      <p:sp>
        <p:nvSpPr>
          <p:cNvPr id="64516" name="TextBox 5"/>
          <p:cNvSpPr txBox="1"/>
          <p:nvPr/>
        </p:nvSpPr>
        <p:spPr>
          <a:xfrm>
            <a:off x="1196975" y="1403350"/>
            <a:ext cx="4756150" cy="8318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两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BAN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相距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10CM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场景，</a:t>
            </a:r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左侧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BAN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的效用矩阵（包成功率）</a:t>
            </a:r>
          </a:p>
        </p:txBody>
      </p:sp>
      <p:sp>
        <p:nvSpPr>
          <p:cNvPr id="12" name="矩形 11"/>
          <p:cNvSpPr/>
          <p:nvPr/>
        </p:nvSpPr>
        <p:spPr>
          <a:xfrm rot="1245596">
            <a:off x="788988" y="3987800"/>
            <a:ext cx="8294688" cy="3222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 rot="1245596">
            <a:off x="241300" y="5627688"/>
            <a:ext cx="625475" cy="307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4519" name="Picture 4" descr="c:\users\dell\appdata\roaming\360se6\User Data\temp\d62a6059252dd42af23d4cd8033b5bb5c9eab889.jpg"/>
          <p:cNvPicPr>
            <a:picLocks noChangeAspect="1"/>
          </p:cNvPicPr>
          <p:nvPr/>
        </p:nvPicPr>
        <p:blipFill>
          <a:blip r:embed="rId4"/>
          <a:srcRect l="18085" t="23486" r="22804" b="20966"/>
          <a:stretch>
            <a:fillRect/>
          </a:stretch>
        </p:blipFill>
        <p:spPr>
          <a:xfrm>
            <a:off x="7208838" y="0"/>
            <a:ext cx="1935162" cy="25733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效用矩阵举例</a:t>
            </a:r>
          </a:p>
        </p:txBody>
      </p:sp>
      <p:sp>
        <p:nvSpPr>
          <p:cNvPr id="6656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54</a:t>
            </a:fld>
            <a:endParaRPr lang="en-US" altLang="zh-CN" sz="1400" dirty="0"/>
          </a:p>
        </p:txBody>
      </p:sp>
      <p:pic>
        <p:nvPicPr>
          <p:cNvPr id="66563" name="Picture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988" y="2573338"/>
            <a:ext cx="9059862" cy="3376612"/>
          </a:xfrm>
        </p:spPr>
      </p:pic>
      <p:sp>
        <p:nvSpPr>
          <p:cNvPr id="66564" name="TextBox 5"/>
          <p:cNvSpPr txBox="1"/>
          <p:nvPr/>
        </p:nvSpPr>
        <p:spPr>
          <a:xfrm>
            <a:off x="1196975" y="1403350"/>
            <a:ext cx="4756150" cy="8318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两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BAN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相距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10CM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场景，</a:t>
            </a:r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左侧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BAN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的效用矩阵（包成功率）</a:t>
            </a:r>
          </a:p>
        </p:txBody>
      </p:sp>
      <p:sp>
        <p:nvSpPr>
          <p:cNvPr id="12" name="矩形 11"/>
          <p:cNvSpPr/>
          <p:nvPr/>
        </p:nvSpPr>
        <p:spPr>
          <a:xfrm rot="1245596">
            <a:off x="1554163" y="3848100"/>
            <a:ext cx="7505700" cy="3317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 rot="1245596">
            <a:off x="261938" y="5502275"/>
            <a:ext cx="1347788" cy="307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6567" name="Picture 4" descr="c:\users\dell\appdata\roaming\360se6\User Data\temp\d62a6059252dd42af23d4cd8033b5bb5c9eab889.jpg"/>
          <p:cNvPicPr>
            <a:picLocks noChangeAspect="1"/>
          </p:cNvPicPr>
          <p:nvPr/>
        </p:nvPicPr>
        <p:blipFill>
          <a:blip r:embed="rId4"/>
          <a:srcRect l="18085" t="23486" r="22804" b="20966"/>
          <a:stretch>
            <a:fillRect/>
          </a:stretch>
        </p:blipFill>
        <p:spPr>
          <a:xfrm>
            <a:off x="7208838" y="0"/>
            <a:ext cx="1935162" cy="25733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效用矩阵举例</a:t>
            </a:r>
          </a:p>
        </p:txBody>
      </p:sp>
      <p:sp>
        <p:nvSpPr>
          <p:cNvPr id="686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55</a:t>
            </a:fld>
            <a:endParaRPr lang="en-US" altLang="zh-CN" sz="1400" dirty="0"/>
          </a:p>
        </p:txBody>
      </p:sp>
      <p:pic>
        <p:nvPicPr>
          <p:cNvPr id="68611" name="Picture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988" y="2573338"/>
            <a:ext cx="9059862" cy="3376612"/>
          </a:xfrm>
        </p:spPr>
      </p:pic>
      <p:sp>
        <p:nvSpPr>
          <p:cNvPr id="68612" name="TextBox 5"/>
          <p:cNvSpPr txBox="1"/>
          <p:nvPr/>
        </p:nvSpPr>
        <p:spPr>
          <a:xfrm>
            <a:off x="1196975" y="1403350"/>
            <a:ext cx="4756150" cy="8318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两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BAN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相距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10CM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场景，</a:t>
            </a:r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左侧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BAN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的效用矩阵（包成功率）</a:t>
            </a:r>
          </a:p>
        </p:txBody>
      </p:sp>
      <p:sp>
        <p:nvSpPr>
          <p:cNvPr id="12" name="矩形 11"/>
          <p:cNvSpPr/>
          <p:nvPr/>
        </p:nvSpPr>
        <p:spPr>
          <a:xfrm rot="1245596">
            <a:off x="2314575" y="3708400"/>
            <a:ext cx="6721475" cy="341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 rot="1245596">
            <a:off x="233363" y="5386388"/>
            <a:ext cx="2216150" cy="3159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8615" name="Picture 4" descr="c:\users\dell\appdata\roaming\360se6\User Data\temp\d62a6059252dd42af23d4cd8033b5bb5c9eab889.jpg"/>
          <p:cNvPicPr>
            <a:picLocks noChangeAspect="1"/>
          </p:cNvPicPr>
          <p:nvPr/>
        </p:nvPicPr>
        <p:blipFill>
          <a:blip r:embed="rId4"/>
          <a:srcRect l="18085" t="23486" r="22804" b="20966"/>
          <a:stretch>
            <a:fillRect/>
          </a:stretch>
        </p:blipFill>
        <p:spPr>
          <a:xfrm>
            <a:off x="7208838" y="0"/>
            <a:ext cx="1935162" cy="25733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初步性能分析</a:t>
            </a:r>
          </a:p>
        </p:txBody>
      </p:sp>
      <p:sp>
        <p:nvSpPr>
          <p:cNvPr id="7065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56</a:t>
            </a:fld>
            <a:endParaRPr lang="en-US" altLang="zh-CN" sz="1400" dirty="0"/>
          </a:p>
        </p:txBody>
      </p:sp>
      <p:pic>
        <p:nvPicPr>
          <p:cNvPr id="70659" name="Picture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5875" y="1223963"/>
            <a:ext cx="6305550" cy="4905375"/>
          </a:xfrm>
        </p:spPr>
      </p:pic>
      <p:cxnSp>
        <p:nvCxnSpPr>
          <p:cNvPr id="11" name="直接箭头连接符 10"/>
          <p:cNvCxnSpPr/>
          <p:nvPr/>
        </p:nvCxnSpPr>
        <p:spPr>
          <a:xfrm>
            <a:off x="1196975" y="2754313"/>
            <a:ext cx="2520950" cy="314325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661" name="TextBox 13"/>
          <p:cNvSpPr txBox="1"/>
          <p:nvPr/>
        </p:nvSpPr>
        <p:spPr>
          <a:xfrm>
            <a:off x="2322513" y="6027738"/>
            <a:ext cx="6249987" cy="8302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‘圈’表示左侧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BAN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，‘方’表示右侧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BAN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                   曲线表示平均值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左侧</a:t>
            </a:r>
            <a:r>
              <a:rPr lang="en-US" altLang="zh-CN" dirty="0"/>
              <a:t>BAN</a:t>
            </a:r>
            <a:r>
              <a:rPr lang="zh-CN" altLang="en-US" dirty="0"/>
              <a:t>的性能</a:t>
            </a:r>
          </a:p>
        </p:txBody>
      </p:sp>
      <p:sp>
        <p:nvSpPr>
          <p:cNvPr id="7168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57</a:t>
            </a:fld>
            <a:endParaRPr lang="en-US" altLang="zh-CN" sz="1400" dirty="0"/>
          </a:p>
        </p:txBody>
      </p:sp>
      <p:pic>
        <p:nvPicPr>
          <p:cNvPr id="71683" name="Picture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4450" y="1449388"/>
            <a:ext cx="6397625" cy="4905375"/>
          </a:xfrm>
        </p:spPr>
      </p:pic>
      <p:sp>
        <p:nvSpPr>
          <p:cNvPr id="71684" name="矩形 5"/>
          <p:cNvSpPr/>
          <p:nvPr/>
        </p:nvSpPr>
        <p:spPr>
          <a:xfrm>
            <a:off x="0" y="2663825"/>
            <a:ext cx="4572000" cy="8318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代表田忌的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BAN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性能接近上限</a:t>
            </a:r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2997200" y="2933700"/>
            <a:ext cx="809625" cy="63023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右侧</a:t>
            </a:r>
            <a:r>
              <a:rPr lang="en-US" altLang="zh-CN" dirty="0"/>
              <a:t>BAN</a:t>
            </a:r>
            <a:r>
              <a:rPr lang="zh-CN" altLang="en-US" dirty="0"/>
              <a:t>的性能</a:t>
            </a:r>
          </a:p>
        </p:txBody>
      </p:sp>
      <p:sp>
        <p:nvSpPr>
          <p:cNvPr id="7270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58</a:t>
            </a:fld>
            <a:endParaRPr lang="en-US" altLang="zh-CN" sz="1400" dirty="0"/>
          </a:p>
        </p:txBody>
      </p:sp>
      <p:pic>
        <p:nvPicPr>
          <p:cNvPr id="72707" name="Picture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9675" y="1449388"/>
            <a:ext cx="6367463" cy="4905375"/>
          </a:xfrm>
        </p:spPr>
      </p:pic>
      <p:sp>
        <p:nvSpPr>
          <p:cNvPr id="72708" name="矩形 5"/>
          <p:cNvSpPr/>
          <p:nvPr/>
        </p:nvSpPr>
        <p:spPr>
          <a:xfrm>
            <a:off x="0" y="2663825"/>
            <a:ext cx="2909888" cy="8318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代表齐威王的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BAN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性能中等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924300"/>
            <a:ext cx="738188" cy="1912938"/>
          </a:xfrm>
          <a:prstGeom prst="rect">
            <a:avLst/>
          </a:prstGeom>
          <a:noFill/>
          <a:ln w="9525">
            <a:noFill/>
          </a:ln>
        </p:spPr>
        <p:txBody>
          <a:bodyPr vert="eaVert" wrap="none" anchor="t" anchorCtr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非零和的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内容大纲</a:t>
            </a:r>
          </a:p>
        </p:txBody>
      </p:sp>
      <p:sp>
        <p:nvSpPr>
          <p:cNvPr id="73730" name="内容占位符 2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635500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田忌赛马的基本原理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赛马算法在体域网中的应用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00B0F0"/>
                </a:solidFill>
              </a:rPr>
              <a:t>分布式协作算法及其性能</a:t>
            </a:r>
            <a:endParaRPr lang="en-US" altLang="zh-CN" dirty="0">
              <a:solidFill>
                <a:srgbClr val="00B0F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赛马算法在蜂窝网中的扩展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7373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59</a:t>
            </a:fld>
            <a:endParaRPr lang="en-US" altLang="zh-CN" sz="1400" dirty="0"/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田忌赛马的扩展讨论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738" y="1449388"/>
            <a:ext cx="8235950" cy="4905375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如果田忌的‘上等马’赢不了齐威王的‘中等马’，何如？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如果任意两匹马的比赛胜负结果都是一个概率事件，何如？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如果输赢结果精确到两匹马的成绩差异，且不是线性的，何如？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如果田忌与齐威王的收益不是‘零和’的，比如：他们开盘让朝中大臣们都来下注</a:t>
            </a:r>
          </a:p>
        </p:txBody>
      </p:sp>
      <p:sp>
        <p:nvSpPr>
          <p:cNvPr id="7475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60</a:t>
            </a:fld>
            <a:endParaRPr lang="en-US" altLang="zh-CN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别拿齐威王当傻子</a:t>
            </a:r>
          </a:p>
        </p:txBody>
      </p:sp>
      <p:sp>
        <p:nvSpPr>
          <p:cNvPr id="7577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61</a:t>
            </a:fld>
            <a:endParaRPr lang="en-US" altLang="zh-CN" sz="1400" dirty="0"/>
          </a:p>
        </p:txBody>
      </p:sp>
      <p:pic>
        <p:nvPicPr>
          <p:cNvPr id="75779" name="Picture 6" descr="c:\users\dell\appdata\roaming\360se6\User Data\temp\8326cffc1e178a8277357e44f603738da877e8cd.jpg"/>
          <p:cNvPicPr>
            <a:picLocks noChangeAspect="1"/>
          </p:cNvPicPr>
          <p:nvPr/>
        </p:nvPicPr>
        <p:blipFill>
          <a:blip r:embed="rId2"/>
          <a:srcRect b="15028"/>
          <a:stretch>
            <a:fillRect/>
          </a:stretch>
        </p:blipFill>
        <p:spPr>
          <a:xfrm>
            <a:off x="623888" y="2843213"/>
            <a:ext cx="2857500" cy="2971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云形 5"/>
          <p:cNvSpPr/>
          <p:nvPr/>
        </p:nvSpPr>
        <p:spPr>
          <a:xfrm rot="1770420">
            <a:off x="2373313" y="2536825"/>
            <a:ext cx="2790825" cy="1441450"/>
          </a:xfrm>
          <a:prstGeom prst="cloud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Sun Bin thought I was a fool !!!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云形 6"/>
          <p:cNvSpPr/>
          <p:nvPr/>
        </p:nvSpPr>
        <p:spPr>
          <a:xfrm rot="20834292">
            <a:off x="460375" y="1765300"/>
            <a:ext cx="1755775" cy="9906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He’s so Dead!!!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Picture 4" descr="c:\users\dell\appdata\roaming\360se6\User Data\temp\d62a6059252dd42af23d4cd8033b5bb5c9eab889.jpg"/>
          <p:cNvPicPr>
            <a:picLocks noChangeAspect="1"/>
          </p:cNvPicPr>
          <p:nvPr/>
        </p:nvPicPr>
        <p:blipFill>
          <a:blip r:embed="rId3"/>
          <a:srcRect l="18085" t="23486" r="22804" b="16319"/>
          <a:stretch>
            <a:fillRect/>
          </a:stretch>
        </p:blipFill>
        <p:spPr>
          <a:xfrm>
            <a:off x="7177088" y="3654425"/>
            <a:ext cx="1966912" cy="2835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8" name="Picture 8" descr="c:\users\dell\appdata\roaming\360se6\User Data\temp\f9198618367adab4877e113689d4b31c8701e41d.jpg"/>
          <p:cNvPicPr>
            <a:picLocks noChangeAspect="1"/>
          </p:cNvPicPr>
          <p:nvPr/>
        </p:nvPicPr>
        <p:blipFill>
          <a:blip r:embed="rId4"/>
          <a:srcRect l="13704" r="36760" b="55357"/>
          <a:stretch>
            <a:fillRect/>
          </a:stretch>
        </p:blipFill>
        <p:spPr>
          <a:xfrm>
            <a:off x="7161213" y="1403350"/>
            <a:ext cx="1982787" cy="2497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爆炸形 1 9"/>
          <p:cNvSpPr/>
          <p:nvPr/>
        </p:nvSpPr>
        <p:spPr>
          <a:xfrm>
            <a:off x="4346575" y="1808163"/>
            <a:ext cx="3151188" cy="3600450"/>
          </a:xfrm>
          <a:prstGeom prst="irregularSeal1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华文琥珀" panose="02010800040101010101" pitchFamily="2" charset="-122"/>
                <a:ea typeface="华文琥珀" panose="02010800040101010101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华文琥珀" panose="02010800040101010101" pitchFamily="2" charset="-122"/>
                <a:ea typeface="华文琥珀" panose="02010800040101010101" pitchFamily="2" charset="-122"/>
                <a:cs typeface="+mn-cs"/>
              </a:rPr>
              <a:t>）合作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华文琥珀" panose="02010800040101010101" pitchFamily="2" charset="-122"/>
              <a:ea typeface="华文琥珀" panose="0201080004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华文琥珀" panose="02010800040101010101" pitchFamily="2" charset="-122"/>
                <a:ea typeface="华文琥珀" panose="02010800040101010101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华文琥珀" panose="02010800040101010101" pitchFamily="2" charset="-122"/>
                <a:ea typeface="华文琥珀" panose="02010800040101010101" pitchFamily="2" charset="-122"/>
                <a:cs typeface="+mn-cs"/>
              </a:rPr>
              <a:t>）公平性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分布式协作算法</a:t>
            </a:r>
          </a:p>
        </p:txBody>
      </p:sp>
      <p:sp>
        <p:nvSpPr>
          <p:cNvPr id="7680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62</a:t>
            </a:fld>
            <a:endParaRPr lang="en-US" altLang="zh-CN" sz="1400" dirty="0"/>
          </a:p>
        </p:txBody>
      </p:sp>
      <p:pic>
        <p:nvPicPr>
          <p:cNvPr id="76803" name="Picture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978025"/>
            <a:ext cx="9144000" cy="4241800"/>
          </a:xfrm>
        </p:spPr>
      </p:pic>
      <p:sp>
        <p:nvSpPr>
          <p:cNvPr id="76804" name="TextBox 7"/>
          <p:cNvSpPr txBox="1"/>
          <p:nvPr/>
        </p:nvSpPr>
        <p:spPr>
          <a:xfrm>
            <a:off x="5607050" y="1403350"/>
            <a:ext cx="3101975" cy="4619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使用了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Lowest-ID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76805" name="Rectangle 5"/>
          <p:cNvSpPr/>
          <p:nvPr/>
        </p:nvSpPr>
        <p:spPr>
          <a:xfrm>
            <a:off x="2951163" y="6396038"/>
            <a:ext cx="4406900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欧盟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CONECT</a:t>
            </a: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项目重要课题之一</a:t>
            </a:r>
            <a:endParaRPr lang="zh-CN" altLang="fr-FR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en-US" altLang="zh-CN" dirty="0"/>
              <a:t>BAN-3</a:t>
            </a:r>
            <a:r>
              <a:rPr lang="zh-CN" altLang="en-US" dirty="0"/>
              <a:t>的性能</a:t>
            </a:r>
          </a:p>
        </p:txBody>
      </p:sp>
      <p:sp>
        <p:nvSpPr>
          <p:cNvPr id="7782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63</a:t>
            </a:fld>
            <a:endParaRPr lang="en-US" altLang="zh-CN" sz="1400" dirty="0"/>
          </a:p>
        </p:txBody>
      </p:sp>
      <p:pic>
        <p:nvPicPr>
          <p:cNvPr id="77827" name="Picture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6225" y="1449388"/>
            <a:ext cx="6353175" cy="4905375"/>
          </a:xfrm>
        </p:spPr>
      </p:pic>
      <p:sp>
        <p:nvSpPr>
          <p:cNvPr id="6" name="椭圆 5"/>
          <p:cNvSpPr/>
          <p:nvPr/>
        </p:nvSpPr>
        <p:spPr>
          <a:xfrm>
            <a:off x="1871663" y="1403350"/>
            <a:ext cx="809625" cy="72072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en-US" altLang="zh-CN" dirty="0"/>
              <a:t>8</a:t>
            </a:r>
            <a:r>
              <a:rPr lang="zh-CN" altLang="en-US" dirty="0"/>
              <a:t>个</a:t>
            </a:r>
            <a:r>
              <a:rPr lang="en-US" altLang="zh-CN" dirty="0"/>
              <a:t>BAN</a:t>
            </a:r>
            <a:r>
              <a:rPr lang="zh-CN" altLang="en-US" dirty="0"/>
              <a:t>的平均</a:t>
            </a:r>
          </a:p>
        </p:txBody>
      </p:sp>
      <p:sp>
        <p:nvSpPr>
          <p:cNvPr id="7885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64</a:t>
            </a:fld>
            <a:endParaRPr lang="en-US" altLang="zh-CN" sz="1400" dirty="0"/>
          </a:p>
        </p:txBody>
      </p:sp>
      <p:pic>
        <p:nvPicPr>
          <p:cNvPr id="78851" name="Picture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9875" y="1449388"/>
            <a:ext cx="6365875" cy="4905375"/>
          </a:xfrm>
        </p:spPr>
      </p:pic>
      <p:sp>
        <p:nvSpPr>
          <p:cNvPr id="6" name="椭圆 5"/>
          <p:cNvSpPr/>
          <p:nvPr/>
        </p:nvSpPr>
        <p:spPr>
          <a:xfrm>
            <a:off x="1511300" y="2124075"/>
            <a:ext cx="1935163" cy="63023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内容大纲</a:t>
            </a:r>
          </a:p>
        </p:txBody>
      </p:sp>
      <p:sp>
        <p:nvSpPr>
          <p:cNvPr id="79874" name="内容占位符 2"/>
          <p:cNvSpPr>
            <a:spLocks noGrp="1"/>
          </p:cNvSpPr>
          <p:nvPr>
            <p:ph idx="1"/>
          </p:nvPr>
        </p:nvSpPr>
        <p:spPr>
          <a:xfrm>
            <a:off x="476250" y="1449388"/>
            <a:ext cx="8493125" cy="4635500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田忌赛马的基本原理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赛马算法在体域网中的应用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分布式协作算法及其性能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00B0F0"/>
                </a:solidFill>
              </a:rPr>
              <a:t>赛马算法在蜂窝网中的扩展</a:t>
            </a:r>
            <a:endParaRPr lang="en-US" altLang="zh-CN" dirty="0">
              <a:solidFill>
                <a:srgbClr val="00B0F0"/>
              </a:solidFill>
            </a:endParaRPr>
          </a:p>
          <a:p>
            <a:endParaRPr lang="en-US" altLang="zh-CN" dirty="0"/>
          </a:p>
        </p:txBody>
      </p:sp>
      <p:sp>
        <p:nvSpPr>
          <p:cNvPr id="7987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65</a:t>
            </a:fld>
            <a:endParaRPr lang="en-US" altLang="zh-CN" sz="1400" dirty="0"/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蜂窝网场景</a:t>
            </a:r>
          </a:p>
        </p:txBody>
      </p:sp>
      <p:sp>
        <p:nvSpPr>
          <p:cNvPr id="8089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66</a:t>
            </a:fld>
            <a:endParaRPr lang="en-US" altLang="zh-CN" sz="1400" dirty="0"/>
          </a:p>
        </p:txBody>
      </p:sp>
      <p:pic>
        <p:nvPicPr>
          <p:cNvPr id="80899" name="Picture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033588"/>
            <a:ext cx="5145088" cy="2960687"/>
          </a:xfrm>
        </p:spPr>
      </p:pic>
      <p:pic>
        <p:nvPicPr>
          <p:cNvPr id="80900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975" y="2754313"/>
            <a:ext cx="4010025" cy="3663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0901" name="TextBox 6"/>
          <p:cNvSpPr txBox="1"/>
          <p:nvPr/>
        </p:nvSpPr>
        <p:spPr>
          <a:xfrm>
            <a:off x="2076450" y="5094288"/>
            <a:ext cx="1416050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同构蜂窝</a:t>
            </a:r>
          </a:p>
        </p:txBody>
      </p:sp>
      <p:sp>
        <p:nvSpPr>
          <p:cNvPr id="80902" name="TextBox 7"/>
          <p:cNvSpPr txBox="1"/>
          <p:nvPr/>
        </p:nvSpPr>
        <p:spPr>
          <a:xfrm>
            <a:off x="6597650" y="2214563"/>
            <a:ext cx="141605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异构蜂窝</a:t>
            </a:r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频谱效率（同构）</a:t>
            </a:r>
          </a:p>
        </p:txBody>
      </p:sp>
      <p:sp>
        <p:nvSpPr>
          <p:cNvPr id="8192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67</a:t>
            </a:fld>
            <a:endParaRPr lang="en-US" altLang="zh-CN" sz="1400" dirty="0"/>
          </a:p>
        </p:txBody>
      </p:sp>
      <p:pic>
        <p:nvPicPr>
          <p:cNvPr id="81923" name="Picture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8438" y="1449388"/>
            <a:ext cx="6508750" cy="4905375"/>
          </a:xfrm>
        </p:spPr>
      </p:pic>
      <p:cxnSp>
        <p:nvCxnSpPr>
          <p:cNvPr id="8" name="直接箭头连接符 7"/>
          <p:cNvCxnSpPr/>
          <p:nvPr/>
        </p:nvCxnSpPr>
        <p:spPr>
          <a:xfrm>
            <a:off x="2636838" y="3878263"/>
            <a:ext cx="0" cy="495300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频谱效率（异构）</a:t>
            </a:r>
          </a:p>
        </p:txBody>
      </p:sp>
      <p:sp>
        <p:nvSpPr>
          <p:cNvPr id="8294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68</a:t>
            </a:fld>
            <a:endParaRPr lang="en-US" altLang="zh-CN" sz="1400" dirty="0"/>
          </a:p>
        </p:txBody>
      </p:sp>
      <p:pic>
        <p:nvPicPr>
          <p:cNvPr id="82947" name="Picture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1775" y="1449388"/>
            <a:ext cx="6442075" cy="4905375"/>
          </a:xfrm>
        </p:spPr>
      </p:pic>
      <p:cxnSp>
        <p:nvCxnSpPr>
          <p:cNvPr id="7" name="直接箭头连接符 6"/>
          <p:cNvCxnSpPr/>
          <p:nvPr/>
        </p:nvCxnSpPr>
        <p:spPr>
          <a:xfrm>
            <a:off x="3716338" y="2393950"/>
            <a:ext cx="0" cy="855663"/>
          </a:xfrm>
          <a:prstGeom prst="straightConnector1">
            <a:avLst/>
          </a:prstGeom>
          <a:ln w="5715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复杂度（同构）</a:t>
            </a:r>
          </a:p>
        </p:txBody>
      </p:sp>
      <p:sp>
        <p:nvSpPr>
          <p:cNvPr id="8397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69</a:t>
            </a:fld>
            <a:endParaRPr lang="en-US" altLang="zh-CN" sz="1400" dirty="0"/>
          </a:p>
        </p:txBody>
      </p:sp>
      <p:pic>
        <p:nvPicPr>
          <p:cNvPr id="83971" name="Picture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6863" y="1449388"/>
            <a:ext cx="6311900" cy="4905375"/>
          </a:xfrm>
        </p:spPr>
      </p:pic>
      <p:cxnSp>
        <p:nvCxnSpPr>
          <p:cNvPr id="6" name="直接箭头连接符 5"/>
          <p:cNvCxnSpPr/>
          <p:nvPr/>
        </p:nvCxnSpPr>
        <p:spPr>
          <a:xfrm>
            <a:off x="7316788" y="3833813"/>
            <a:ext cx="0" cy="630238"/>
          </a:xfrm>
          <a:prstGeom prst="straightConnector1">
            <a:avLst/>
          </a:prstGeom>
          <a:ln w="5715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复杂度（异构）</a:t>
            </a:r>
          </a:p>
        </p:txBody>
      </p:sp>
      <p:sp>
        <p:nvSpPr>
          <p:cNvPr id="8499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70</a:t>
            </a:fld>
            <a:endParaRPr lang="en-US" altLang="zh-CN" sz="1400" dirty="0"/>
          </a:p>
        </p:txBody>
      </p:sp>
      <p:pic>
        <p:nvPicPr>
          <p:cNvPr id="84995" name="Pictur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7013" y="1449388"/>
            <a:ext cx="6451600" cy="4905375"/>
          </a:xfrm>
        </p:spPr>
      </p:pic>
      <p:cxnSp>
        <p:nvCxnSpPr>
          <p:cNvPr id="6" name="直接箭头连接符 5"/>
          <p:cNvCxnSpPr/>
          <p:nvPr/>
        </p:nvCxnSpPr>
        <p:spPr>
          <a:xfrm>
            <a:off x="3492500" y="3878263"/>
            <a:ext cx="0" cy="855663"/>
          </a:xfrm>
          <a:prstGeom prst="straightConnector1">
            <a:avLst/>
          </a:prstGeom>
          <a:ln w="5715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7" name="Picture 2" descr="C:\Users\dell\Desktop\u=2415211971,371937587&amp;fm=23&amp;gp=0.jpg"/>
          <p:cNvPicPr>
            <a:picLocks noChangeAspect="1"/>
          </p:cNvPicPr>
          <p:nvPr/>
        </p:nvPicPr>
        <p:blipFill>
          <a:blip r:embed="rId2"/>
          <a:srcRect b="4504"/>
          <a:stretch>
            <a:fillRect/>
          </a:stretch>
        </p:blipFill>
        <p:spPr>
          <a:xfrm>
            <a:off x="3492500" y="1449388"/>
            <a:ext cx="5624513" cy="5372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601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endParaRPr lang="zh-CN" altLang="en-US" dirty="0"/>
          </a:p>
        </p:txBody>
      </p:sp>
      <p:sp>
        <p:nvSpPr>
          <p:cNvPr id="19459" name="内容占位符 2"/>
          <p:cNvSpPr>
            <a:spLocks noGrp="1"/>
          </p:cNvSpPr>
          <p:nvPr>
            <p:ph idx="1"/>
          </p:nvPr>
        </p:nvSpPr>
        <p:spPr>
          <a:xfrm>
            <a:off x="0" y="1989138"/>
            <a:ext cx="4932363" cy="2835275"/>
          </a:xfrm>
        </p:spPr>
        <p:txBody>
          <a:bodyPr vert="horz" wrap="square" lIns="91440" tIns="45720" rIns="91440" bIns="45720" numCol="1" anchor="t" anchorCtr="0" compatLnSpc="1">
            <a:normAutofit fontScale="85000" lnSpcReduction="1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L. Wang*, C.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Goursaud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N.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Nikaein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L.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Cottatellucci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and J.-M.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Gorce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"Cooperative scheduling for coexisting body area networks," </a:t>
            </a:r>
            <a:r>
              <a:rPr kumimoji="0" lang="en-US" altLang="zh-CN" sz="32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IEEE Trans. Wireless </a:t>
            </a:r>
            <a:r>
              <a:rPr kumimoji="0" lang="en-US" altLang="zh-CN" sz="3200" b="1" i="1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Commun</a:t>
            </a:r>
            <a:r>
              <a:rPr kumimoji="0" lang="en-US" altLang="zh-CN" sz="32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vol. 12, no. 1, pp. 123 - 133, Jan. 2013.</a:t>
            </a:r>
          </a:p>
        </p:txBody>
      </p:sp>
      <p:sp>
        <p:nvSpPr>
          <p:cNvPr id="860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  <a:t>71</a:t>
            </a:fld>
            <a:endParaRPr lang="en-US" altLang="zh-CN" sz="1400" dirty="0"/>
          </a:p>
        </p:txBody>
      </p:sp>
      <p:pic>
        <p:nvPicPr>
          <p:cNvPr id="86021" name="Picture 5" descr="C:\Users\dell\Desktop\HOME\logo设计.bmp"/>
          <p:cNvPicPr>
            <a:picLocks noChangeAspect="1"/>
          </p:cNvPicPr>
          <p:nvPr/>
        </p:nvPicPr>
        <p:blipFill>
          <a:blip r:embed="rId3"/>
          <a:srcRect r="50735"/>
          <a:stretch>
            <a:fillRect/>
          </a:stretch>
        </p:blipFill>
        <p:spPr>
          <a:xfrm>
            <a:off x="8081963" y="0"/>
            <a:ext cx="811212" cy="18367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6022" name="Picture 5" descr="C:\Users\dell\Desktop\HOME\logo设计.bmp"/>
          <p:cNvPicPr>
            <a:picLocks noChangeAspect="1"/>
          </p:cNvPicPr>
          <p:nvPr/>
        </p:nvPicPr>
        <p:blipFill>
          <a:blip r:embed="rId3"/>
          <a:srcRect l="47510" b="10689"/>
          <a:stretch>
            <a:fillRect/>
          </a:stretch>
        </p:blipFill>
        <p:spPr>
          <a:xfrm>
            <a:off x="8669338" y="773113"/>
            <a:ext cx="449262" cy="8556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9c605a99-26d3-4313-bf27-f770d22ff08c"/>
  <p:tag name="COMMONDATA" val="eyJoZGlkIjoiZTgzNjQ0MGNhMDNkMTQ0ZGU4OTY3MWE3NWUxNmFlMTcifQ==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隶书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204</TotalTime>
  <Words>2757</Words>
  <Application>Microsoft Office PowerPoint</Application>
  <PresentationFormat>全屏显示(4:3)</PresentationFormat>
  <Paragraphs>514</Paragraphs>
  <Slides>71</Slides>
  <Notes>12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71</vt:i4>
      </vt:variant>
    </vt:vector>
  </HeadingPairs>
  <TitlesOfParts>
    <vt:vector size="76" baseType="lpstr">
      <vt:lpstr>Blends</vt:lpstr>
      <vt:lpstr>Microsoft Word Picture</vt:lpstr>
      <vt:lpstr>Microsoft Word 97 - 2003 文档</vt:lpstr>
      <vt:lpstr>Microsoft 公式 3.0</vt:lpstr>
      <vt:lpstr>Microsoft Visio 绘图</vt:lpstr>
      <vt:lpstr>通信系统中的资源管理 与干扰管理</vt:lpstr>
      <vt:lpstr>蜂窝的久远历史</vt:lpstr>
      <vt:lpstr>正六边形蜂窝</vt:lpstr>
      <vt:lpstr>频率复用（Frequency Reuse）</vt:lpstr>
      <vt:lpstr>蜂窝间干扰从何而来</vt:lpstr>
      <vt:lpstr>蜂窝间干扰从何而来</vt:lpstr>
      <vt:lpstr>簇（Cluster）的概念</vt:lpstr>
      <vt:lpstr>簇大小的计算方法</vt:lpstr>
      <vt:lpstr>簇大小的计算方法</vt:lpstr>
      <vt:lpstr>簇的组合</vt:lpstr>
      <vt:lpstr>簇的组合</vt:lpstr>
      <vt:lpstr>43多重频率复用方式</vt:lpstr>
      <vt:lpstr>33多重频率复用方式</vt:lpstr>
      <vt:lpstr>向部分频率复用过渡</vt:lpstr>
      <vt:lpstr>干扰协调定义</vt:lpstr>
      <vt:lpstr>干扰协调与资源分配关系</vt:lpstr>
      <vt:lpstr>干扰协调与其他抗干扰技术关系</vt:lpstr>
      <vt:lpstr>什么是静态干扰协调</vt:lpstr>
      <vt:lpstr>部分频率复用</vt:lpstr>
      <vt:lpstr>软频率复用（SFR）</vt:lpstr>
      <vt:lpstr>对比FFR与SFR的边缘用户性能</vt:lpstr>
      <vt:lpstr>该作业的提示</vt:lpstr>
      <vt:lpstr>分扇区的FFR</vt:lpstr>
      <vt:lpstr>灵活的FFR</vt:lpstr>
      <vt:lpstr>FFR性能再思考</vt:lpstr>
      <vt:lpstr>已有多层方案举例</vt:lpstr>
      <vt:lpstr>已有多层方案举例</vt:lpstr>
      <vt:lpstr>我们的多层方案</vt:lpstr>
      <vt:lpstr>多层方案在不规则蜂窝场景中的效果</vt:lpstr>
      <vt:lpstr>动态干扰协调</vt:lpstr>
      <vt:lpstr>一些简化与假设</vt:lpstr>
      <vt:lpstr>匈牙利算法给出的匹配图</vt:lpstr>
      <vt:lpstr>匈牙利算法历史</vt:lpstr>
      <vt:lpstr>该算法的理论依据一</vt:lpstr>
      <vt:lpstr>该算法的理论依据二</vt:lpstr>
      <vt:lpstr>算法详解</vt:lpstr>
      <vt:lpstr>行减最小元素</vt:lpstr>
      <vt:lpstr>列减最小元素</vt:lpstr>
      <vt:lpstr>条件放宽处理一</vt:lpstr>
      <vt:lpstr>条件放宽处理二</vt:lpstr>
      <vt:lpstr>匈牙利算法应用尝试</vt:lpstr>
      <vt:lpstr>解答</vt:lpstr>
      <vt:lpstr>随堂训练与作业</vt:lpstr>
      <vt:lpstr>赛马算法在无线通信网络中的应用------学术思想讨论</vt:lpstr>
      <vt:lpstr>内容大纲</vt:lpstr>
      <vt:lpstr>田忌赛马的故事</vt:lpstr>
      <vt:lpstr>S型效用函数</vt:lpstr>
      <vt:lpstr>效用矩阵</vt:lpstr>
      <vt:lpstr>效用矩阵</vt:lpstr>
      <vt:lpstr>内容大纲</vt:lpstr>
      <vt:lpstr>体域网干扰场景</vt:lpstr>
      <vt:lpstr>效用矩阵举例</vt:lpstr>
      <vt:lpstr>效用矩阵举例</vt:lpstr>
      <vt:lpstr>效用矩阵举例</vt:lpstr>
      <vt:lpstr>效用矩阵举例</vt:lpstr>
      <vt:lpstr>初步性能分析</vt:lpstr>
      <vt:lpstr>左侧BAN的性能</vt:lpstr>
      <vt:lpstr>右侧BAN的性能</vt:lpstr>
      <vt:lpstr>内容大纲</vt:lpstr>
      <vt:lpstr>田忌赛马的扩展讨论</vt:lpstr>
      <vt:lpstr>别拿齐威王当傻子</vt:lpstr>
      <vt:lpstr>分布式协作算法</vt:lpstr>
      <vt:lpstr>BAN-3的性能</vt:lpstr>
      <vt:lpstr>8个BAN的平均</vt:lpstr>
      <vt:lpstr>内容大纲</vt:lpstr>
      <vt:lpstr>蜂窝网场景</vt:lpstr>
      <vt:lpstr>频谱效率（同构）</vt:lpstr>
      <vt:lpstr>频谱效率（异构）</vt:lpstr>
      <vt:lpstr>复杂度（同构）</vt:lpstr>
      <vt:lpstr>复杂度（异构）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通信原理</dc:title>
  <dc:creator>Fan</dc:creator>
  <cp:lastModifiedBy>Will</cp:lastModifiedBy>
  <cp:revision>1013</cp:revision>
  <dcterms:created xsi:type="dcterms:W3CDTF">2005-12-13T08:40:00Z</dcterms:created>
  <dcterms:modified xsi:type="dcterms:W3CDTF">2025-02-03T03:33:51Z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B15AF5F4DFF04ADE9107D985A46F62AD</vt:lpwstr>
  </property>
</Properties>
</file>