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45"/>
  </p:notesMasterIdLst>
  <p:handoutMasterIdLst>
    <p:handoutMasterId r:id="rId46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6" r:id="rId9"/>
    <p:sldId id="277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</p:sldIdLst>
  <p:sldSz cx="9144000" cy="6858000" type="screen4x3"/>
  <p:notesSz cx="7099300" cy="10234613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6552" autoAdjust="0"/>
  </p:normalViewPr>
  <p:slideViewPr>
    <p:cSldViewPr>
      <p:cViewPr>
        <p:scale>
          <a:sx n="60" d="100"/>
          <a:sy n="60" d="100"/>
        </p:scale>
        <p:origin x="-1388" y="-2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48" d="100"/>
          <a:sy n="48" d="100"/>
        </p:scale>
        <p:origin x="-3030" y="-90"/>
      </p:cViewPr>
      <p:guideLst>
        <p:guide orient="horz" pos="3224"/>
        <p:guide pos="2236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4" Type="http://schemas.openxmlformats.org/officeDocument/2006/relationships/image" Target="../media/image17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image" Target="../media/image20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17.wmf"/><Relationship Id="rId4" Type="http://schemas.openxmlformats.org/officeDocument/2006/relationships/image" Target="../media/image25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Relationship Id="rId4" Type="http://schemas.openxmlformats.org/officeDocument/2006/relationships/image" Target="../media/image28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7.emf"/><Relationship Id="rId1" Type="http://schemas.openxmlformats.org/officeDocument/2006/relationships/image" Target="../media/image36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Relationship Id="rId4" Type="http://schemas.openxmlformats.org/officeDocument/2006/relationships/image" Target="../media/image46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50.wmf"/><Relationship Id="rId1" Type="http://schemas.openxmlformats.org/officeDocument/2006/relationships/image" Target="../media/image49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70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7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7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Arial" charset="0"/>
              </a:defRPr>
            </a:lvl1pPr>
          </a:lstStyle>
          <a:p>
            <a:pPr>
              <a:defRPr/>
            </a:pPr>
            <a:fld id="{61DE303A-B511-4361-93EF-244E718166CC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27192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0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Arial" charset="0"/>
              </a:defRPr>
            </a:lvl1pPr>
          </a:lstStyle>
          <a:p>
            <a:pPr>
              <a:defRPr/>
            </a:pPr>
            <a:fld id="{C7F1BD1E-C473-4521-AE3E-6F0C0C3AC53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57858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defTabSz="990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defTabSz="990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defTabSz="990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defTabSz="990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CFDD0261-42B4-43B9-992D-6B51A62DA8BE}" type="slidenum">
              <a:rPr lang="en-US" altLang="zh-CN" sz="1300" smtClean="0">
                <a:latin typeface="Arial" charset="0"/>
              </a:rPr>
              <a:pPr eaLnBrk="1" hangingPunct="1"/>
              <a:t>3</a:t>
            </a:fld>
            <a:endParaRPr lang="en-US" altLang="zh-CN" sz="1300" smtClean="0">
              <a:latin typeface="Arial" charset="0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zh-CN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7F1BD1E-C473-4521-AE3E-6F0C0C3AC534}" type="slidenum">
              <a:rPr lang="en-US" altLang="zh-CN" smtClean="0"/>
              <a:pPr>
                <a:defRPr/>
              </a:pPr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30665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22A7AA-0288-434F-848E-130B56FCB10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29731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834CBA-6561-4FC3-B0E1-CFEF1E0F78D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69508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>
            <a:normAutofit/>
          </a:bodyPr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1BB814-F1D4-49C3-8BA0-3C1272A7E9C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1688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27100" y="1223963"/>
            <a:ext cx="3944938" cy="5634037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024438" y="1223963"/>
            <a:ext cx="3944937" cy="5634037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62B17B-B108-49A8-AB17-A0830B46A01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18468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73BD29-D9B6-455D-8606-DCBC7136175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19886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66F9CB-E285-43B3-9C45-C7537BDF41D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540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66D23A-1E9D-4DD9-AF90-A3A48D404CB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36157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9F103F-7777-4530-8AE1-60627042EE9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5909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0688F8-C183-4964-A7B1-ACE0F04050E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5059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8E0597-7C08-404A-AF83-37724FC61CE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6458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59600" y="214313"/>
            <a:ext cx="2009775" cy="664368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27100" y="214313"/>
            <a:ext cx="5880100" cy="664368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A39155-0497-4E81-82A6-23E45FE84EC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00708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9191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27100" y="1223963"/>
            <a:ext cx="3944938" cy="563403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024438" y="1223963"/>
            <a:ext cx="3944937" cy="563403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28C433-5535-4FBE-94BA-2D206A75123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429378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919162"/>
          </a:xfrm>
        </p:spPr>
        <p:txBody>
          <a:bodyPr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27100" y="1223963"/>
            <a:ext cx="8042275" cy="5634037"/>
          </a:xfrm>
        </p:spPr>
        <p:txBody>
          <a:bodyPr>
            <a:normAutofit/>
          </a:bodyPr>
          <a:lstStyle/>
          <a:p>
            <a:pPr lvl="0"/>
            <a:endParaRPr lang="zh-CN" altLang="en-US" noProof="0" smtClean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3833E4-99C9-4762-9645-3B4779BFB08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06758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919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通信原理</a:t>
            </a:r>
            <a:r>
              <a:rPr lang="en-US" altLang="zh-CN" smtClean="0"/>
              <a:t>(</a:t>
            </a:r>
            <a:r>
              <a:rPr lang="zh-CN" altLang="en-US" smtClean="0"/>
              <a:t>王禄生</a:t>
            </a:r>
            <a:r>
              <a:rPr lang="en-US" altLang="zh-CN" smtClean="0"/>
              <a:t>)</a:t>
            </a:r>
          </a:p>
        </p:txBody>
      </p:sp>
      <p:sp>
        <p:nvSpPr>
          <p:cNvPr id="1027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927100" y="1223963"/>
            <a:ext cx="8042275" cy="563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  <a:p>
            <a:pPr lvl="4"/>
            <a:endParaRPr lang="en-US" altLang="zh-CN" smtClean="0"/>
          </a:p>
        </p:txBody>
      </p:sp>
      <p:sp>
        <p:nvSpPr>
          <p:cNvPr id="1639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39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39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1B986554-F16D-4EDD-8994-FF5792F198C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1031" name="Picture 15" descr="5884230_133949003984_2"/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88088"/>
            <a:ext cx="2185988" cy="56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407" name="Freeform 23"/>
          <p:cNvSpPr>
            <a:spLocks/>
          </p:cNvSpPr>
          <p:nvPr userDrawn="1"/>
        </p:nvSpPr>
        <p:spPr bwMode="auto">
          <a:xfrm>
            <a:off x="533400" y="1068388"/>
            <a:ext cx="8382000" cy="152400"/>
          </a:xfrm>
          <a:custGeom>
            <a:avLst/>
            <a:gdLst/>
            <a:ahLst/>
            <a:cxnLst>
              <a:cxn ang="0">
                <a:pos x="0" y="336"/>
              </a:cxn>
              <a:cxn ang="0">
                <a:pos x="4800" y="336"/>
              </a:cxn>
              <a:cxn ang="0">
                <a:pos x="6000" y="0"/>
              </a:cxn>
            </a:cxnLst>
            <a:rect l="0" t="0" r="r" b="b"/>
            <a:pathLst>
              <a:path w="6000" h="392">
                <a:moveTo>
                  <a:pt x="0" y="336"/>
                </a:moveTo>
                <a:cubicBezTo>
                  <a:pt x="1900" y="364"/>
                  <a:pt x="3800" y="392"/>
                  <a:pt x="4800" y="336"/>
                </a:cubicBezTo>
                <a:cubicBezTo>
                  <a:pt x="5800" y="280"/>
                  <a:pt x="5824" y="224"/>
                  <a:pt x="6000" y="0"/>
                </a:cubicBezTo>
              </a:path>
            </a:pathLst>
          </a:cu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  <a:alpha val="0"/>
                </a:schemeClr>
              </a:gs>
            </a:gsLst>
            <a:lin ang="18900000" scaled="1"/>
          </a:gra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033" name="Rectangle 2"/>
          <p:cNvSpPr>
            <a:spLocks noChangeArrowheads="1"/>
          </p:cNvSpPr>
          <p:nvPr userDrawn="1"/>
        </p:nvSpPr>
        <p:spPr bwMode="ltGray">
          <a:xfrm>
            <a:off x="417513" y="414338"/>
            <a:ext cx="438150" cy="474662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kumimoji="1" lang="en-US" altLang="zh-CN"/>
          </a:p>
        </p:txBody>
      </p:sp>
      <p:sp>
        <p:nvSpPr>
          <p:cNvPr id="15" name="Rectangle 3"/>
          <p:cNvSpPr>
            <a:spLocks noChangeArrowheads="1"/>
          </p:cNvSpPr>
          <p:nvPr userDrawn="1"/>
        </p:nvSpPr>
        <p:spPr bwMode="ltGray">
          <a:xfrm>
            <a:off x="800100" y="414338"/>
            <a:ext cx="328613" cy="474662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folHlink">
                  <a:gamma/>
                  <a:shade val="46275"/>
                  <a:invGamma/>
                  <a:alpha val="0"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/>
          </a:p>
        </p:txBody>
      </p:sp>
      <p:sp>
        <p:nvSpPr>
          <p:cNvPr id="1035" name="Rectangle 4"/>
          <p:cNvSpPr>
            <a:spLocks noChangeArrowheads="1"/>
          </p:cNvSpPr>
          <p:nvPr userDrawn="1"/>
        </p:nvSpPr>
        <p:spPr bwMode="ltGray">
          <a:xfrm>
            <a:off x="541338" y="836613"/>
            <a:ext cx="422275" cy="474662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kumimoji="1" lang="en-US" altLang="zh-CN"/>
          </a:p>
        </p:txBody>
      </p:sp>
      <p:sp>
        <p:nvSpPr>
          <p:cNvPr id="1036" name="Rectangle 5"/>
          <p:cNvSpPr>
            <a:spLocks noChangeArrowheads="1"/>
          </p:cNvSpPr>
          <p:nvPr userDrawn="1"/>
        </p:nvSpPr>
        <p:spPr bwMode="ltGray">
          <a:xfrm>
            <a:off x="911225" y="836613"/>
            <a:ext cx="368300" cy="474662"/>
          </a:xfrm>
          <a:prstGeom prst="rect">
            <a:avLst/>
          </a:prstGeom>
          <a:gradFill rotWithShape="0">
            <a:gsLst>
              <a:gs pos="0">
                <a:srgbClr val="FFFFCC"/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kumimoji="1" lang="en-US" altLang="zh-CN"/>
          </a:p>
        </p:txBody>
      </p:sp>
      <p:sp>
        <p:nvSpPr>
          <p:cNvPr id="18" name="Rectangle 6"/>
          <p:cNvSpPr>
            <a:spLocks noChangeArrowheads="1"/>
          </p:cNvSpPr>
          <p:nvPr userDrawn="1"/>
        </p:nvSpPr>
        <p:spPr bwMode="ltGray">
          <a:xfrm>
            <a:off x="127000" y="763588"/>
            <a:ext cx="560388" cy="422275"/>
          </a:xfrm>
          <a:prstGeom prst="rect">
            <a:avLst/>
          </a:prstGeom>
          <a:gradFill rotWithShape="0">
            <a:gsLst>
              <a:gs pos="0">
                <a:schemeClr val="hlink">
                  <a:gamma/>
                  <a:shade val="6275"/>
                  <a:invGamma/>
                  <a:alpha val="0"/>
                </a:schemeClr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/>
          </a:p>
        </p:txBody>
      </p:sp>
      <p:sp>
        <p:nvSpPr>
          <p:cNvPr id="1038" name="Freeform 21"/>
          <p:cNvSpPr>
            <a:spLocks/>
          </p:cNvSpPr>
          <p:nvPr userDrawn="1"/>
        </p:nvSpPr>
        <p:spPr bwMode="auto">
          <a:xfrm>
            <a:off x="762000" y="306388"/>
            <a:ext cx="76200" cy="1143000"/>
          </a:xfrm>
          <a:custGeom>
            <a:avLst/>
            <a:gdLst>
              <a:gd name="T0" fmla="*/ 120967500 w 48"/>
              <a:gd name="T1" fmla="*/ 0 h 672"/>
              <a:gd name="T2" fmla="*/ 0 w 48"/>
              <a:gd name="T3" fmla="*/ 1944120536 h 672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48" h="672">
                <a:moveTo>
                  <a:pt x="48" y="0"/>
                </a:moveTo>
                <a:cubicBezTo>
                  <a:pt x="44" y="276"/>
                  <a:pt x="40" y="552"/>
                  <a:pt x="0" y="672"/>
                </a:cubicBezTo>
              </a:path>
            </a:pathLst>
          </a:custGeom>
          <a:solidFill>
            <a:srgbClr val="6C735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9" name="Freeform 22"/>
          <p:cNvSpPr>
            <a:spLocks/>
          </p:cNvSpPr>
          <p:nvPr userDrawn="1"/>
        </p:nvSpPr>
        <p:spPr bwMode="auto">
          <a:xfrm flipH="1">
            <a:off x="838200" y="306388"/>
            <a:ext cx="76200" cy="1143000"/>
          </a:xfrm>
          <a:custGeom>
            <a:avLst/>
            <a:gdLst>
              <a:gd name="T0" fmla="*/ 120967500 w 48"/>
              <a:gd name="T1" fmla="*/ 0 h 672"/>
              <a:gd name="T2" fmla="*/ 0 w 48"/>
              <a:gd name="T3" fmla="*/ 1944120536 h 672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48" h="672">
                <a:moveTo>
                  <a:pt x="48" y="0"/>
                </a:moveTo>
                <a:cubicBezTo>
                  <a:pt x="44" y="276"/>
                  <a:pt x="40" y="552"/>
                  <a:pt x="0" y="672"/>
                </a:cubicBezTo>
              </a:path>
            </a:pathLst>
          </a:custGeom>
          <a:solidFill>
            <a:srgbClr val="6C735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6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6000">
          <a:solidFill>
            <a:schemeClr val="tx2"/>
          </a:solidFill>
          <a:latin typeface="Times New Roman" pitchFamily="18" charset="0"/>
          <a:ea typeface="隶书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6000">
          <a:solidFill>
            <a:schemeClr val="tx2"/>
          </a:solidFill>
          <a:latin typeface="Times New Roman" pitchFamily="18" charset="0"/>
          <a:ea typeface="隶书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6000">
          <a:solidFill>
            <a:schemeClr val="tx2"/>
          </a:solidFill>
          <a:latin typeface="Times New Roman" pitchFamily="18" charset="0"/>
          <a:ea typeface="隶书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6000">
          <a:solidFill>
            <a:schemeClr val="tx2"/>
          </a:solidFill>
          <a:latin typeface="Times New Roman" pitchFamily="18" charset="0"/>
          <a:ea typeface="隶书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6000">
          <a:solidFill>
            <a:schemeClr val="tx2"/>
          </a:solidFill>
          <a:latin typeface="Times New Roman" pitchFamily="18" charset="0"/>
          <a:ea typeface="隶书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6000">
          <a:solidFill>
            <a:schemeClr val="tx2"/>
          </a:solidFill>
          <a:latin typeface="Times New Roman" pitchFamily="18" charset="0"/>
          <a:ea typeface="隶书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6000">
          <a:solidFill>
            <a:schemeClr val="tx2"/>
          </a:solidFill>
          <a:latin typeface="Times New Roman" pitchFamily="18" charset="0"/>
          <a:ea typeface="隶书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6000">
          <a:solidFill>
            <a:schemeClr val="tx2"/>
          </a:solidFill>
          <a:latin typeface="Times New Roman" pitchFamily="18" charset="0"/>
          <a:ea typeface="隶书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l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u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p"/>
        <a:defRPr sz="22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Ø"/>
        <a:defRPr sz="22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Ø"/>
        <a:defRPr sz="22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Ø"/>
        <a:defRPr sz="22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Ø"/>
        <a:defRPr sz="22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Ø"/>
        <a:defRPr sz="2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7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7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9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0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1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3.png"/><Relationship Id="rId4" Type="http://schemas.openxmlformats.org/officeDocument/2006/relationships/image" Target="../media/image12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8.bin"/><Relationship Id="rId10" Type="http://schemas.openxmlformats.org/officeDocument/2006/relationships/image" Target="../media/image17.wmf"/><Relationship Id="rId4" Type="http://schemas.openxmlformats.org/officeDocument/2006/relationships/image" Target="../media/image14.wmf"/><Relationship Id="rId9" Type="http://schemas.openxmlformats.org/officeDocument/2006/relationships/oleObject" Target="../embeddings/oleObject10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8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1.e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20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22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17.bin"/><Relationship Id="rId10" Type="http://schemas.openxmlformats.org/officeDocument/2006/relationships/image" Target="../media/image25.wmf"/><Relationship Id="rId4" Type="http://schemas.openxmlformats.org/officeDocument/2006/relationships/image" Target="../media/image17.wmf"/><Relationship Id="rId9" Type="http://schemas.openxmlformats.org/officeDocument/2006/relationships/oleObject" Target="../embeddings/oleObject19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21.bin"/><Relationship Id="rId10" Type="http://schemas.openxmlformats.org/officeDocument/2006/relationships/image" Target="../media/image28.wmf"/><Relationship Id="rId4" Type="http://schemas.openxmlformats.org/officeDocument/2006/relationships/image" Target="../media/image25.wmf"/><Relationship Id="rId9" Type="http://schemas.openxmlformats.org/officeDocument/2006/relationships/oleObject" Target="../embeddings/oleObject23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6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29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32.wm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37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31.bin"/><Relationship Id="rId5" Type="http://schemas.openxmlformats.org/officeDocument/2006/relationships/image" Target="../media/image36.wmf"/><Relationship Id="rId10" Type="http://schemas.openxmlformats.org/officeDocument/2006/relationships/image" Target="../media/image39.png"/><Relationship Id="rId4" Type="http://schemas.openxmlformats.org/officeDocument/2006/relationships/oleObject" Target="../embeddings/oleObject30.bin"/><Relationship Id="rId9" Type="http://schemas.openxmlformats.org/officeDocument/2006/relationships/image" Target="../media/image38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40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41.wmf"/><Relationship Id="rId4" Type="http://schemas.openxmlformats.org/officeDocument/2006/relationships/oleObject" Target="../embeddings/oleObject34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3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44.wmf"/><Relationship Id="rId5" Type="http://schemas.openxmlformats.org/officeDocument/2006/relationships/oleObject" Target="../embeddings/oleObject36.bin"/><Relationship Id="rId10" Type="http://schemas.openxmlformats.org/officeDocument/2006/relationships/image" Target="../media/image46.wmf"/><Relationship Id="rId4" Type="http://schemas.openxmlformats.org/officeDocument/2006/relationships/image" Target="../media/image43.wmf"/><Relationship Id="rId9" Type="http://schemas.openxmlformats.org/officeDocument/2006/relationships/oleObject" Target="../embeddings/oleObject38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47.wmf"/><Relationship Id="rId4" Type="http://schemas.openxmlformats.org/officeDocument/2006/relationships/oleObject" Target="../embeddings/oleObject39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50.wmf"/><Relationship Id="rId5" Type="http://schemas.openxmlformats.org/officeDocument/2006/relationships/oleObject" Target="../embeddings/oleObject41.bin"/><Relationship Id="rId4" Type="http://schemas.openxmlformats.org/officeDocument/2006/relationships/image" Target="../media/image49.w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52.emf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3FC0AF9C-4DF5-482B-BA50-60DAC06A54DA}" type="slidenum">
              <a:rPr lang="en-US" altLang="zh-CN" sz="1400" smtClean="0"/>
              <a:pPr eaLnBrk="1" hangingPunct="1"/>
              <a:t>1</a:t>
            </a:fld>
            <a:endParaRPr lang="en-US" altLang="zh-CN" sz="1400" smtClean="0"/>
          </a:p>
        </p:txBody>
      </p:sp>
      <p:sp>
        <p:nvSpPr>
          <p:cNvPr id="2051" name="Rectangle 4"/>
          <p:cNvSpPr>
            <a:spLocks noGrp="1" noChangeArrowheads="1"/>
          </p:cNvSpPr>
          <p:nvPr>
            <p:ph type="ctrTitle"/>
          </p:nvPr>
        </p:nvSpPr>
        <p:spPr>
          <a:xfrm>
            <a:off x="760413" y="1719263"/>
            <a:ext cx="7772400" cy="1470025"/>
          </a:xfrm>
        </p:spPr>
        <p:txBody>
          <a:bodyPr/>
          <a:lstStyle/>
          <a:p>
            <a:r>
              <a:rPr lang="zh-CN" altLang="en-US" sz="5400" smtClean="0"/>
              <a:t>数字信号的波形、码型、码间串扰、抗噪分析</a:t>
            </a:r>
          </a:p>
        </p:txBody>
      </p:sp>
      <p:sp>
        <p:nvSpPr>
          <p:cNvPr id="2052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241425" y="3886200"/>
            <a:ext cx="6751638" cy="17526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mtClean="0"/>
              <a:t>计算机与信息学院</a:t>
            </a:r>
          </a:p>
          <a:p>
            <a:pPr>
              <a:lnSpc>
                <a:spcPct val="80000"/>
              </a:lnSpc>
            </a:pPr>
            <a:r>
              <a:rPr lang="zh-CN" altLang="en-US" smtClean="0"/>
              <a:t>王禄生</a:t>
            </a:r>
          </a:p>
          <a:p>
            <a:pPr>
              <a:lnSpc>
                <a:spcPct val="80000"/>
              </a:lnSpc>
            </a:pPr>
            <a:r>
              <a:rPr lang="en-US" altLang="zh-CN" smtClean="0"/>
              <a:t>WANGLUSHENG@HFUT.EDU.CN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4AAFCFBF-0BD4-4AC0-BC0F-231A28EF6332}" type="slidenum">
              <a:rPr lang="en-US" altLang="zh-CN" sz="1400" smtClean="0"/>
              <a:pPr eaLnBrk="1" hangingPunct="1"/>
              <a:t>2</a:t>
            </a:fld>
            <a:endParaRPr lang="en-US" altLang="zh-CN" sz="1400" smtClean="0"/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5400" smtClean="0"/>
              <a:t>通信系统的组成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7100" y="1584325"/>
            <a:ext cx="8042275" cy="4959350"/>
          </a:xfrm>
        </p:spPr>
        <p:txBody>
          <a:bodyPr/>
          <a:lstStyle/>
          <a:p>
            <a:r>
              <a:rPr lang="zh-CN" altLang="en-US" smtClean="0"/>
              <a:t>通信系统的一般模型</a:t>
            </a:r>
          </a:p>
          <a:p>
            <a:endParaRPr lang="zh-CN" altLang="en-US" smtClean="0"/>
          </a:p>
          <a:p>
            <a:endParaRPr lang="zh-CN" altLang="en-US" smtClean="0"/>
          </a:p>
          <a:p>
            <a:endParaRPr lang="zh-CN" altLang="en-US" smtClean="0"/>
          </a:p>
          <a:p>
            <a:endParaRPr lang="zh-CN" altLang="en-US" smtClean="0"/>
          </a:p>
          <a:p>
            <a:endParaRPr lang="zh-CN" altLang="en-US" smtClean="0"/>
          </a:p>
          <a:p>
            <a:r>
              <a:rPr lang="zh-CN" altLang="en-US" sz="2400" smtClean="0"/>
              <a:t>协议：发射机与接收机之间达成的一致</a:t>
            </a:r>
          </a:p>
          <a:p>
            <a:pPr lvl="1"/>
            <a:r>
              <a:rPr lang="zh-CN" altLang="en-US" sz="2400" smtClean="0"/>
              <a:t>例如：发射机用</a:t>
            </a:r>
            <a:r>
              <a:rPr lang="en-US" altLang="zh-CN" sz="2400" smtClean="0"/>
              <a:t>FM</a:t>
            </a:r>
            <a:r>
              <a:rPr lang="zh-CN" altLang="en-US" sz="2400" smtClean="0"/>
              <a:t>调制，接收机就不能当成</a:t>
            </a:r>
            <a:r>
              <a:rPr lang="en-US" altLang="zh-CN" sz="2400" smtClean="0"/>
              <a:t>AM</a:t>
            </a:r>
            <a:r>
              <a:rPr lang="zh-CN" altLang="en-US" sz="2400" smtClean="0"/>
              <a:t>来解调</a:t>
            </a:r>
          </a:p>
        </p:txBody>
      </p:sp>
      <p:pic>
        <p:nvPicPr>
          <p:cNvPr id="3077" name="Picture 6" descr="Sca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" y="2281238"/>
            <a:ext cx="7877175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B063064B-7C00-431F-A48A-33401C5A67F1}" type="slidenum">
              <a:rPr lang="en-US" altLang="zh-CN" sz="1400" smtClean="0"/>
              <a:pPr eaLnBrk="1" hangingPunct="1"/>
              <a:t>3</a:t>
            </a:fld>
            <a:endParaRPr lang="en-US" altLang="zh-CN" sz="1400" smtClean="0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5400" smtClean="0"/>
              <a:t>基本概念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6546" y="1268413"/>
            <a:ext cx="8492830" cy="55895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800" dirty="0" smtClean="0"/>
              <a:t>数字基带信号</a:t>
            </a:r>
            <a:r>
              <a:rPr lang="zh-CN" altLang="en-US" sz="2800" b="0" dirty="0" smtClean="0"/>
              <a:t>：未经调制的数字信号，它所占据的频谱是从零频或很低频率开始的。</a:t>
            </a:r>
          </a:p>
          <a:p>
            <a:pPr>
              <a:lnSpc>
                <a:spcPct val="90000"/>
              </a:lnSpc>
            </a:pPr>
            <a:r>
              <a:rPr lang="zh-CN" altLang="en-US" sz="2800" dirty="0" smtClean="0"/>
              <a:t>数字</a:t>
            </a:r>
            <a:r>
              <a:rPr lang="zh-CN" altLang="en-US" sz="2800" dirty="0" smtClean="0">
                <a:solidFill>
                  <a:srgbClr val="FF0000"/>
                </a:solidFill>
              </a:rPr>
              <a:t>基带</a:t>
            </a:r>
            <a:r>
              <a:rPr lang="zh-CN" altLang="en-US" sz="2800" dirty="0" smtClean="0"/>
              <a:t>传输系统</a:t>
            </a:r>
            <a:r>
              <a:rPr lang="zh-CN" altLang="en-US" sz="2800" b="0" dirty="0" smtClean="0"/>
              <a:t>：不经载波调制而直接传输数字基带信号的系统，常用于传输距离不太远的情况下。</a:t>
            </a:r>
          </a:p>
          <a:p>
            <a:pPr>
              <a:lnSpc>
                <a:spcPct val="90000"/>
              </a:lnSpc>
            </a:pPr>
            <a:r>
              <a:rPr lang="zh-CN" altLang="en-US" sz="2800" dirty="0" smtClean="0"/>
              <a:t>数字</a:t>
            </a:r>
            <a:r>
              <a:rPr lang="zh-CN" altLang="en-US" sz="2800" dirty="0" smtClean="0">
                <a:solidFill>
                  <a:srgbClr val="00B0F0"/>
                </a:solidFill>
              </a:rPr>
              <a:t>带通</a:t>
            </a:r>
            <a:r>
              <a:rPr lang="zh-CN" altLang="en-US" sz="2800" dirty="0" smtClean="0"/>
              <a:t>传输系统</a:t>
            </a:r>
            <a:r>
              <a:rPr lang="zh-CN" altLang="en-US" sz="2800" b="0" dirty="0" smtClean="0"/>
              <a:t>：包括调制和解调过程的传输系统</a:t>
            </a:r>
          </a:p>
          <a:p>
            <a:pPr>
              <a:lnSpc>
                <a:spcPct val="90000"/>
              </a:lnSpc>
            </a:pPr>
            <a:r>
              <a:rPr lang="zh-CN" altLang="en-US" sz="2800" dirty="0" smtClean="0"/>
              <a:t>学习数字基带传输系统的原因</a:t>
            </a:r>
            <a:r>
              <a:rPr lang="zh-CN" altLang="en-US" sz="2800" b="0" dirty="0" smtClean="0"/>
              <a:t>：</a:t>
            </a:r>
          </a:p>
          <a:p>
            <a:pPr lvl="1">
              <a:lnSpc>
                <a:spcPct val="90000"/>
              </a:lnSpc>
            </a:pPr>
            <a:r>
              <a:rPr lang="zh-CN" altLang="en-US" sz="2000" dirty="0" smtClean="0">
                <a:latin typeface="Arial" charset="0"/>
              </a:rPr>
              <a:t>近程数据通信系统中广泛采用，即基带传输方式也存在</a:t>
            </a:r>
            <a:endParaRPr lang="en-US" altLang="zh-CN" sz="2000" dirty="0" smtClean="0">
              <a:latin typeface="Arial" charset="0"/>
            </a:endParaRPr>
          </a:p>
          <a:p>
            <a:pPr lvl="1">
              <a:lnSpc>
                <a:spcPct val="90000"/>
              </a:lnSpc>
            </a:pPr>
            <a:r>
              <a:rPr lang="zh-CN" altLang="en-US" sz="2000" dirty="0" smtClean="0">
                <a:solidFill>
                  <a:schemeClr val="hlink"/>
                </a:solidFill>
                <a:latin typeface="Arial" charset="0"/>
              </a:rPr>
              <a:t>基带传输中包含（通俗说，能看出来）带通传输的许多基本问题</a:t>
            </a:r>
          </a:p>
          <a:p>
            <a:pPr lvl="1">
              <a:lnSpc>
                <a:spcPct val="90000"/>
              </a:lnSpc>
            </a:pPr>
            <a:r>
              <a:rPr lang="zh-CN" altLang="en-US" sz="2000" dirty="0" smtClean="0">
                <a:solidFill>
                  <a:schemeClr val="hlink"/>
                </a:solidFill>
                <a:latin typeface="Arial" charset="0"/>
              </a:rPr>
              <a:t>任何一个采用</a:t>
            </a:r>
            <a:r>
              <a:rPr lang="zh-CN" altLang="en-US" sz="2000" b="1" u="sng" dirty="0" smtClean="0">
                <a:solidFill>
                  <a:schemeClr val="hlink"/>
                </a:solidFill>
                <a:latin typeface="Arial" charset="0"/>
              </a:rPr>
              <a:t>线性调制</a:t>
            </a:r>
            <a:r>
              <a:rPr lang="zh-CN" altLang="en-US" sz="2000" dirty="0" smtClean="0">
                <a:solidFill>
                  <a:schemeClr val="hlink"/>
                </a:solidFill>
                <a:latin typeface="Arial" charset="0"/>
              </a:rPr>
              <a:t>的带通传输系统，可以等效为一个基带传输系统来研究。</a:t>
            </a:r>
            <a:endParaRPr lang="zh-CN" altLang="en-US" dirty="0" smtClean="0">
              <a:solidFill>
                <a:schemeClr val="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1E2E9980-D48D-4087-9A86-B46AB73377DB}" type="slidenum">
              <a:rPr lang="en-US" altLang="zh-CN" sz="1400" smtClean="0"/>
              <a:pPr eaLnBrk="1" hangingPunct="1"/>
              <a:t>4</a:t>
            </a:fld>
            <a:endParaRPr lang="en-US" altLang="zh-CN" sz="1400" smtClean="0"/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5400" dirty="0" smtClean="0"/>
              <a:t>几种基本的数字信号波形</a:t>
            </a:r>
          </a:p>
        </p:txBody>
      </p:sp>
      <p:pic>
        <p:nvPicPr>
          <p:cNvPr id="5124" name="Picture 4" descr="t050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75" y="1820863"/>
            <a:ext cx="8937625" cy="441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BBF8CE5F-A954-4659-97EC-DB97B1251279}" type="slidenum">
              <a:rPr lang="en-US" altLang="zh-CN" sz="1400" smtClean="0"/>
              <a:pPr eaLnBrk="1" hangingPunct="1"/>
              <a:t>5</a:t>
            </a:fld>
            <a:endParaRPr lang="en-US" altLang="zh-CN" sz="1400" smtClean="0"/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5400" smtClean="0"/>
              <a:t>单极性 </a:t>
            </a:r>
            <a:r>
              <a:rPr lang="en-US" altLang="zh-CN" sz="5400" smtClean="0"/>
              <a:t>vs. </a:t>
            </a:r>
            <a:r>
              <a:rPr lang="zh-CN" altLang="en-US" sz="5400" smtClean="0"/>
              <a:t>双极性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5763" y="1268413"/>
            <a:ext cx="8758237" cy="5589587"/>
          </a:xfrm>
        </p:spPr>
        <p:txBody>
          <a:bodyPr/>
          <a:lstStyle/>
          <a:p>
            <a:r>
              <a:rPr lang="zh-CN" altLang="en-US" sz="2400" b="0" smtClean="0">
                <a:solidFill>
                  <a:schemeClr val="hlink"/>
                </a:solidFill>
              </a:rPr>
              <a:t>单极性波形</a:t>
            </a:r>
            <a:r>
              <a:rPr lang="zh-CN" altLang="en-US" sz="2400" b="0" smtClean="0"/>
              <a:t>：易于产生；缺点是有直流分量，要求传输线路具有直流传输能力，因而不适应有交流耦合的远距离传输，只适用于计算机内部或极近距离的传输。 </a:t>
            </a:r>
            <a:r>
              <a:rPr lang="en-US" altLang="zh-CN" sz="2400" b="0" smtClean="0"/>
              <a:t>(a)(c)</a:t>
            </a:r>
            <a:endParaRPr lang="zh-CN" altLang="en-US" sz="2400" b="0" smtClean="0"/>
          </a:p>
          <a:p>
            <a:r>
              <a:rPr lang="zh-CN" altLang="en-US" sz="2400" b="0" smtClean="0">
                <a:solidFill>
                  <a:schemeClr val="hlink"/>
                </a:solidFill>
              </a:rPr>
              <a:t>双极性波形</a:t>
            </a:r>
            <a:r>
              <a:rPr lang="zh-CN" altLang="en-US" sz="2400" b="0" smtClean="0"/>
              <a:t>：当“</a:t>
            </a:r>
            <a:r>
              <a:rPr lang="en-US" altLang="zh-CN" sz="2400" b="0" smtClean="0"/>
              <a:t>1”</a:t>
            </a:r>
            <a:r>
              <a:rPr lang="zh-CN" altLang="en-US" sz="2400" b="0" smtClean="0"/>
              <a:t>和“</a:t>
            </a:r>
            <a:r>
              <a:rPr lang="en-US" altLang="zh-CN" sz="2400" b="0" smtClean="0"/>
              <a:t>0”</a:t>
            </a:r>
            <a:r>
              <a:rPr lang="zh-CN" altLang="en-US" sz="2400" b="0" smtClean="0"/>
              <a:t>等概率出现时无直流分量，有利于在信道中传输，并且在接收端恢复信号的判决电平为零值，因而不受信道特性变化的影响，抗干扰能力也较强。 </a:t>
            </a:r>
            <a:r>
              <a:rPr lang="en-US" altLang="zh-CN" sz="2400" b="0" smtClean="0"/>
              <a:t>(b)(d)</a:t>
            </a:r>
            <a:endParaRPr lang="zh-CN" altLang="en-US" sz="2400" b="0" smtClean="0"/>
          </a:p>
        </p:txBody>
      </p:sp>
      <p:pic>
        <p:nvPicPr>
          <p:cNvPr id="6149" name="Picture 4" descr="t050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413" y="3789363"/>
            <a:ext cx="5761037" cy="284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0" name="TextBox 1"/>
          <p:cNvSpPr txBox="1">
            <a:spLocks noChangeArrowheads="1"/>
          </p:cNvSpPr>
          <p:nvPr/>
        </p:nvSpPr>
        <p:spPr bwMode="auto">
          <a:xfrm>
            <a:off x="566738" y="4733925"/>
            <a:ext cx="8588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/>
              <a:t>P131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CF0F3F5E-BF78-4B6F-A2D9-61FB781F2D3C}" type="slidenum">
              <a:rPr lang="en-US" altLang="zh-CN" sz="1400" smtClean="0"/>
              <a:pPr eaLnBrk="1" hangingPunct="1"/>
              <a:t>6</a:t>
            </a:fld>
            <a:endParaRPr lang="en-US" altLang="zh-CN" sz="1400" smtClean="0"/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5400" smtClean="0"/>
              <a:t>归零 </a:t>
            </a:r>
            <a:r>
              <a:rPr lang="en-US" altLang="zh-CN" sz="5400" smtClean="0"/>
              <a:t>vs. </a:t>
            </a:r>
            <a:r>
              <a:rPr lang="zh-CN" altLang="en-US" sz="5400" smtClean="0"/>
              <a:t>不归零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6250" y="1314450"/>
            <a:ext cx="8667750" cy="5543550"/>
          </a:xfrm>
        </p:spPr>
        <p:txBody>
          <a:bodyPr/>
          <a:lstStyle/>
          <a:p>
            <a:r>
              <a:rPr lang="zh-CN" altLang="en-US" sz="2400" b="0" dirty="0" smtClean="0">
                <a:solidFill>
                  <a:schemeClr val="hlink"/>
                </a:solidFill>
              </a:rPr>
              <a:t>单极性归零</a:t>
            </a:r>
            <a:r>
              <a:rPr lang="en-US" altLang="zh-CN" sz="2400" b="0" dirty="0" smtClean="0">
                <a:solidFill>
                  <a:schemeClr val="hlink"/>
                </a:solidFill>
              </a:rPr>
              <a:t>(RZ)</a:t>
            </a:r>
            <a:r>
              <a:rPr lang="zh-CN" altLang="en-US" sz="2400" b="0" dirty="0" smtClean="0">
                <a:solidFill>
                  <a:schemeClr val="hlink"/>
                </a:solidFill>
              </a:rPr>
              <a:t>波形</a:t>
            </a:r>
            <a:r>
              <a:rPr lang="zh-CN" altLang="en-US" sz="2400" b="0" dirty="0" smtClean="0"/>
              <a:t>：信号电压在一个码元终止时刻前总要回到零电平。通常，归零波形使用半占空码，即占空比为</a:t>
            </a:r>
            <a:r>
              <a:rPr lang="en-US" altLang="zh-CN" sz="2400" b="0" dirty="0" smtClean="0"/>
              <a:t>50%</a:t>
            </a:r>
            <a:r>
              <a:rPr lang="zh-CN" altLang="en-US" sz="2400" b="0" dirty="0" smtClean="0"/>
              <a:t>。从单极性</a:t>
            </a:r>
            <a:r>
              <a:rPr lang="en-US" altLang="zh-CN" sz="2400" b="0" dirty="0" smtClean="0"/>
              <a:t>RZ</a:t>
            </a:r>
            <a:r>
              <a:rPr lang="zh-CN" altLang="en-US" sz="2400" b="0" dirty="0" smtClean="0"/>
              <a:t>波形可以直接提取定时信息。</a:t>
            </a:r>
            <a:r>
              <a:rPr lang="en-US" altLang="zh-CN" sz="2400" b="0" dirty="0" smtClean="0"/>
              <a:t>(c)</a:t>
            </a:r>
            <a:endParaRPr lang="zh-CN" altLang="en-US" sz="2400" b="0" dirty="0" smtClean="0"/>
          </a:p>
          <a:p>
            <a:r>
              <a:rPr lang="zh-CN" altLang="en-US" sz="2400" b="0" dirty="0" smtClean="0">
                <a:solidFill>
                  <a:schemeClr val="hlink"/>
                </a:solidFill>
              </a:rPr>
              <a:t>双极性归零波形</a:t>
            </a:r>
            <a:r>
              <a:rPr lang="zh-CN" altLang="en-US" sz="2400" b="0" dirty="0" smtClean="0"/>
              <a:t>：兼有双极性和归零波形的特点。使得接收端很容易识别出每个码元的起止时刻，便于同步。</a:t>
            </a:r>
            <a:r>
              <a:rPr lang="en-US" altLang="zh-CN" sz="2400" b="0" dirty="0" smtClean="0"/>
              <a:t>(d)</a:t>
            </a:r>
            <a:endParaRPr lang="zh-CN" altLang="en-US" sz="2400" b="0" dirty="0" smtClean="0"/>
          </a:p>
          <a:p>
            <a:r>
              <a:rPr lang="zh-CN" altLang="en-US" sz="2400" b="0" dirty="0" smtClean="0"/>
              <a:t>与归零波形相对应，</a:t>
            </a:r>
            <a:r>
              <a:rPr lang="en-US" altLang="zh-CN" sz="2400" b="0" dirty="0" smtClean="0"/>
              <a:t>(a) (b) </a:t>
            </a:r>
            <a:r>
              <a:rPr lang="zh-CN" altLang="en-US" sz="2400" b="0" dirty="0" smtClean="0"/>
              <a:t>属于</a:t>
            </a:r>
            <a:r>
              <a:rPr lang="zh-CN" altLang="en-US" sz="2400" b="0" dirty="0" smtClean="0">
                <a:solidFill>
                  <a:schemeClr val="hlink"/>
                </a:solidFill>
              </a:rPr>
              <a:t>不归零</a:t>
            </a:r>
            <a:r>
              <a:rPr lang="en-US" altLang="zh-CN" sz="2400" b="0" dirty="0" smtClean="0">
                <a:solidFill>
                  <a:schemeClr val="hlink"/>
                </a:solidFill>
              </a:rPr>
              <a:t>(NRZ)</a:t>
            </a:r>
            <a:r>
              <a:rPr lang="zh-CN" altLang="en-US" sz="2400" b="0" dirty="0" smtClean="0">
                <a:solidFill>
                  <a:schemeClr val="hlink"/>
                </a:solidFill>
              </a:rPr>
              <a:t>波形</a:t>
            </a:r>
            <a:r>
              <a:rPr lang="zh-CN" altLang="en-US" sz="2400" b="0" dirty="0" smtClean="0"/>
              <a:t>，其占空比等于</a:t>
            </a:r>
            <a:r>
              <a:rPr lang="en-US" altLang="zh-CN" sz="2400" b="0" dirty="0" smtClean="0"/>
              <a:t>100</a:t>
            </a:r>
            <a:r>
              <a:rPr lang="zh-CN" altLang="en-US" sz="2400" b="0" dirty="0" smtClean="0"/>
              <a:t>％；</a:t>
            </a:r>
            <a:r>
              <a:rPr lang="en-US" altLang="zh-CN" sz="2400" b="0" dirty="0" smtClean="0"/>
              <a:t>(c) (d) </a:t>
            </a:r>
            <a:r>
              <a:rPr lang="zh-CN" altLang="en-US" sz="2400" b="0" dirty="0" smtClean="0"/>
              <a:t>属于归零波形。</a:t>
            </a:r>
          </a:p>
        </p:txBody>
      </p:sp>
      <p:pic>
        <p:nvPicPr>
          <p:cNvPr id="7173" name="Picture 4" descr="t050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413" y="4202113"/>
            <a:ext cx="5356225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C4C16948-8BDC-4E33-B9D7-35055A0CC845}" type="slidenum">
              <a:rPr lang="en-US" altLang="zh-CN" sz="1400" smtClean="0"/>
              <a:pPr eaLnBrk="1" hangingPunct="1"/>
              <a:t>7</a:t>
            </a:fld>
            <a:endParaRPr lang="en-US" altLang="zh-CN" sz="1400" smtClean="0"/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5400" smtClean="0"/>
              <a:t>差分波形、多电平波形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179513"/>
            <a:ext cx="9144000" cy="1979612"/>
          </a:xfrm>
        </p:spPr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zh-CN" altLang="en-US" dirty="0" smtClean="0">
                <a:solidFill>
                  <a:schemeClr val="hlink"/>
                </a:solidFill>
              </a:rPr>
              <a:t>差分波形</a:t>
            </a:r>
            <a:r>
              <a:rPr lang="zh-CN" altLang="en-US" dirty="0" smtClean="0"/>
              <a:t>：用相邻码元的电平的跳变和不变来表示消息代码 ，图中，以电平跳变表示“</a:t>
            </a:r>
            <a:r>
              <a:rPr lang="en-US" altLang="zh-CN" dirty="0" smtClean="0"/>
              <a:t>1”</a:t>
            </a:r>
            <a:r>
              <a:rPr lang="zh-CN" altLang="en-US" dirty="0" smtClean="0"/>
              <a:t>，以电平不变表示“</a:t>
            </a:r>
            <a:r>
              <a:rPr lang="en-US" altLang="zh-CN" dirty="0" smtClean="0"/>
              <a:t>0”</a:t>
            </a:r>
            <a:r>
              <a:rPr lang="zh-CN" altLang="en-US" dirty="0" smtClean="0"/>
              <a:t>。它也称</a:t>
            </a:r>
            <a:r>
              <a:rPr lang="zh-CN" altLang="en-US" dirty="0" smtClean="0">
                <a:solidFill>
                  <a:schemeClr val="hlink"/>
                </a:solidFill>
              </a:rPr>
              <a:t>相对码波形</a:t>
            </a:r>
            <a:r>
              <a:rPr lang="zh-CN" altLang="en-US" dirty="0" smtClean="0"/>
              <a:t>。用差分波形传送代码可以消除设备初始状态的影响</a:t>
            </a:r>
            <a:r>
              <a:rPr lang="en-US" altLang="zh-CN" dirty="0" smtClean="0"/>
              <a:t>(e)</a:t>
            </a:r>
          </a:p>
          <a:p>
            <a:pPr>
              <a:defRPr/>
            </a:pPr>
            <a:r>
              <a:rPr lang="zh-CN" altLang="en-US" dirty="0" smtClean="0"/>
              <a:t>多电平波形：多进制，一个码代表多个比特</a:t>
            </a:r>
            <a:r>
              <a:rPr lang="en-US" altLang="zh-CN" dirty="0" smtClean="0"/>
              <a:t>(f)</a:t>
            </a:r>
            <a:endParaRPr lang="zh-CN" altLang="en-US" dirty="0" smtClean="0"/>
          </a:p>
        </p:txBody>
      </p:sp>
      <p:pic>
        <p:nvPicPr>
          <p:cNvPr id="8197" name="Picture 4" descr="t050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5388" y="3238500"/>
            <a:ext cx="6391275" cy="316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F58595FE-18F8-4BA2-9518-071DFA579FE0}" type="slidenum">
              <a:rPr lang="en-US" altLang="zh-CN" sz="1400" smtClean="0"/>
              <a:pPr eaLnBrk="1" hangingPunct="1"/>
              <a:t>8</a:t>
            </a:fld>
            <a:endParaRPr lang="en-US" altLang="zh-CN" sz="1400" smtClean="0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 smtClean="0"/>
              <a:t>传输用基带信号的主要要求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7100" y="1358900"/>
            <a:ext cx="8042275" cy="5499100"/>
          </a:xfrm>
        </p:spPr>
        <p:txBody>
          <a:bodyPr/>
          <a:lstStyle/>
          <a:p>
            <a:r>
              <a:rPr lang="zh-CN" altLang="en-US" dirty="0" smtClean="0"/>
              <a:t>对波形的要求</a:t>
            </a:r>
            <a:r>
              <a:rPr lang="zh-CN" altLang="en-US" b="0" dirty="0" smtClean="0"/>
              <a:t>：波形应适合于基带系统的传输</a:t>
            </a:r>
          </a:p>
          <a:p>
            <a:r>
              <a:rPr lang="zh-CN" altLang="en-US" dirty="0" smtClean="0"/>
              <a:t>对</a:t>
            </a:r>
            <a:r>
              <a:rPr lang="zh-CN" altLang="en-US" dirty="0" smtClean="0">
                <a:solidFill>
                  <a:srgbClr val="FF0000"/>
                </a:solidFill>
              </a:rPr>
              <a:t>码型</a:t>
            </a:r>
            <a:r>
              <a:rPr lang="zh-CN" altLang="en-US" dirty="0" smtClean="0"/>
              <a:t>的要求</a:t>
            </a:r>
            <a:r>
              <a:rPr lang="zh-CN" altLang="en-US" b="0" dirty="0" smtClean="0"/>
              <a:t>：原始消息代码必须编成适合于传输用的码型：</a:t>
            </a:r>
            <a:r>
              <a:rPr lang="zh-CN" altLang="en-US" b="0" i="1" dirty="0" smtClean="0"/>
              <a:t>通俗讲，多个码元之间相互影响的</a:t>
            </a:r>
            <a:r>
              <a:rPr lang="en-US" altLang="zh-CN" b="0" i="1" dirty="0" smtClean="0"/>
              <a:t>0</a:t>
            </a:r>
            <a:r>
              <a:rPr lang="zh-CN" altLang="en-US" b="0" i="1" dirty="0" smtClean="0"/>
              <a:t>、</a:t>
            </a:r>
            <a:r>
              <a:rPr lang="en-US" altLang="zh-CN" b="0" i="1" dirty="0" smtClean="0"/>
              <a:t>1</a:t>
            </a:r>
            <a:r>
              <a:rPr lang="zh-CN" altLang="en-US" b="0" i="1" dirty="0" smtClean="0"/>
              <a:t>变化规则</a:t>
            </a:r>
          </a:p>
          <a:p>
            <a:endParaRPr lang="zh-CN" altLang="en-US" b="0" dirty="0" smtClean="0"/>
          </a:p>
          <a:p>
            <a:r>
              <a:rPr lang="zh-CN" altLang="en-US" b="0" dirty="0" smtClean="0"/>
              <a:t>前者是基带脉冲的选择，后者属于传输码型的选择。</a:t>
            </a:r>
            <a:r>
              <a:rPr lang="zh-CN" altLang="en-US" b="0" dirty="0" smtClean="0">
                <a:solidFill>
                  <a:schemeClr val="bg1">
                    <a:lumMod val="50000"/>
                  </a:schemeClr>
                </a:solidFill>
              </a:rPr>
              <a:t>这是两个既独立又有联系的问题。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4A4C6EEF-BA59-45A0-BE49-07B93281B6F7}" type="slidenum">
              <a:rPr lang="en-US" altLang="zh-CN" sz="1400" smtClean="0"/>
              <a:pPr eaLnBrk="1" hangingPunct="1"/>
              <a:t>9</a:t>
            </a:fld>
            <a:endParaRPr lang="en-US" altLang="zh-CN" sz="1400" smtClean="0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5400" smtClean="0"/>
              <a:t>传输码的码型选择原则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7100" y="1223963"/>
            <a:ext cx="8042275" cy="5084762"/>
          </a:xfrm>
        </p:spPr>
        <p:txBody>
          <a:bodyPr>
            <a:normAutofit fontScale="92500"/>
          </a:bodyPr>
          <a:lstStyle/>
          <a:p>
            <a:pPr marL="609600" indent="-609600">
              <a:defRPr/>
            </a:pPr>
            <a:r>
              <a:rPr lang="zh-CN" altLang="en-US" b="0" dirty="0" smtClean="0"/>
              <a:t>不含直流（</a:t>
            </a:r>
            <a:r>
              <a:rPr lang="en-US" altLang="zh-CN" b="0" dirty="0" smtClean="0"/>
              <a:t>01</a:t>
            </a:r>
            <a:r>
              <a:rPr lang="zh-CN" altLang="en-US" b="0" dirty="0" smtClean="0"/>
              <a:t>等概），且低频分量尽量少；</a:t>
            </a:r>
          </a:p>
          <a:p>
            <a:pPr marL="609600" indent="-609600">
              <a:defRPr/>
            </a:pPr>
            <a:r>
              <a:rPr lang="zh-CN" altLang="en-US" b="0" dirty="0" smtClean="0"/>
              <a:t>应含有丰富的定时信息，以便于从接收码流中提取定时信号；</a:t>
            </a:r>
            <a:endParaRPr lang="en-US" altLang="zh-CN" b="0" dirty="0" smtClean="0"/>
          </a:p>
          <a:p>
            <a:pPr marL="609600" indent="-609600">
              <a:defRPr/>
            </a:pPr>
            <a:r>
              <a:rPr lang="zh-CN" altLang="en-US" b="0" dirty="0" smtClean="0"/>
              <a:t>功率谱主瓣带宽窄，以节省传输频带</a:t>
            </a:r>
          </a:p>
          <a:p>
            <a:pPr marL="609600" indent="-609600">
              <a:defRPr/>
            </a:pPr>
            <a:r>
              <a:rPr lang="zh-CN" altLang="en-US" b="0" dirty="0" smtClean="0"/>
              <a:t>不受信息源统计特性的影响，即能适应于信息源的变化； </a:t>
            </a:r>
          </a:p>
          <a:p>
            <a:pPr marL="609600" indent="-609600">
              <a:defRPr/>
            </a:pPr>
            <a:r>
              <a:rPr lang="zh-CN" altLang="en-US" b="0" dirty="0" smtClean="0"/>
              <a:t>具有内在的检错能力，即码型应具有一定规律性，以便利用这一规律性进行宏观监测。</a:t>
            </a:r>
          </a:p>
          <a:p>
            <a:pPr marL="609600" indent="-609600">
              <a:defRPr/>
            </a:pPr>
            <a:r>
              <a:rPr lang="zh-CN" altLang="en-US" b="0" dirty="0" smtClean="0"/>
              <a:t>编译码简单，以降低通信延时和成本。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88FA50D2-5D90-4981-B283-35486161CB3B}" type="slidenum">
              <a:rPr lang="en-US" altLang="zh-CN" sz="1400" smtClean="0"/>
              <a:pPr eaLnBrk="1" hangingPunct="1"/>
              <a:t>10</a:t>
            </a:fld>
            <a:endParaRPr lang="en-US" altLang="zh-CN" sz="1400" smtClean="0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 smtClean="0"/>
              <a:t>AMI</a:t>
            </a:r>
            <a:r>
              <a:rPr lang="zh-CN" altLang="en-US" sz="5400" smtClean="0"/>
              <a:t>码：传号交替反转码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57225" y="1314450"/>
            <a:ext cx="8486775" cy="554355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b="0" smtClean="0"/>
              <a:t>编码规则：将消息码的“</a:t>
            </a:r>
            <a:r>
              <a:rPr lang="en-US" altLang="zh-CN" b="0" smtClean="0"/>
              <a:t>1”(</a:t>
            </a:r>
            <a:r>
              <a:rPr lang="zh-CN" altLang="en-US" b="0" smtClean="0"/>
              <a:t>传号</a:t>
            </a:r>
            <a:r>
              <a:rPr lang="en-US" altLang="zh-CN" b="0" smtClean="0"/>
              <a:t>)</a:t>
            </a:r>
            <a:r>
              <a:rPr lang="zh-CN" altLang="en-US" b="0" smtClean="0"/>
              <a:t>交替地变换为“</a:t>
            </a:r>
            <a:r>
              <a:rPr lang="en-US" altLang="zh-CN" b="0" smtClean="0"/>
              <a:t>+1”</a:t>
            </a:r>
            <a:r>
              <a:rPr lang="zh-CN" altLang="en-US" b="0" smtClean="0"/>
              <a:t>和“</a:t>
            </a:r>
            <a:r>
              <a:rPr lang="en-US" altLang="zh-CN" smtClean="0"/>
              <a:t>–</a:t>
            </a:r>
            <a:r>
              <a:rPr lang="en-US" altLang="zh-CN" b="0" smtClean="0"/>
              <a:t>1”</a:t>
            </a:r>
            <a:r>
              <a:rPr lang="zh-CN" altLang="en-US" b="0" smtClean="0"/>
              <a:t>，而“</a:t>
            </a:r>
            <a:r>
              <a:rPr lang="en-US" altLang="zh-CN" b="0" smtClean="0"/>
              <a:t>0”(</a:t>
            </a:r>
            <a:r>
              <a:rPr lang="zh-CN" altLang="en-US" b="0" smtClean="0"/>
              <a:t>空号</a:t>
            </a:r>
            <a:r>
              <a:rPr lang="en-US" altLang="zh-CN" b="0" smtClean="0"/>
              <a:t>)</a:t>
            </a:r>
            <a:r>
              <a:rPr lang="zh-CN" altLang="en-US" b="0" smtClean="0"/>
              <a:t>保持不变。</a:t>
            </a:r>
          </a:p>
          <a:p>
            <a:pPr>
              <a:lnSpc>
                <a:spcPct val="120000"/>
              </a:lnSpc>
            </a:pPr>
            <a:r>
              <a:rPr lang="zh-CN" altLang="en-US" b="0" smtClean="0"/>
              <a:t>例：</a:t>
            </a:r>
          </a:p>
          <a:p>
            <a:pPr lvl="1">
              <a:lnSpc>
                <a:spcPct val="120000"/>
              </a:lnSpc>
            </a:pPr>
            <a:r>
              <a:rPr lang="zh-CN" altLang="en-US" smtClean="0"/>
              <a:t>消息码： </a:t>
            </a:r>
            <a:r>
              <a:rPr lang="en-US" altLang="zh-CN" smtClean="0"/>
              <a:t>0   1   1  0 0 0 0 0 0 0   1   1 0 0    1   1 …</a:t>
            </a:r>
          </a:p>
          <a:p>
            <a:pPr lvl="1">
              <a:lnSpc>
                <a:spcPct val="120000"/>
              </a:lnSpc>
            </a:pPr>
            <a:r>
              <a:rPr lang="en-US" altLang="zh-CN" smtClean="0"/>
              <a:t>AMI</a:t>
            </a:r>
            <a:r>
              <a:rPr lang="zh-CN" altLang="en-US" smtClean="0"/>
              <a:t>码： </a:t>
            </a:r>
            <a:r>
              <a:rPr lang="en-US" altLang="zh-CN" smtClean="0"/>
              <a:t>0 –1 +1  0 0 0 0 0 0 0 –1 +1 0 0  –1 +1… </a:t>
            </a:r>
          </a:p>
          <a:p>
            <a:pPr>
              <a:lnSpc>
                <a:spcPct val="120000"/>
              </a:lnSpc>
            </a:pPr>
            <a:r>
              <a:rPr lang="en-US" altLang="zh-CN" b="0" smtClean="0"/>
              <a:t>AMI</a:t>
            </a:r>
            <a:r>
              <a:rPr lang="zh-CN" altLang="en-US" b="0" smtClean="0"/>
              <a:t>码对应的波形是具有正、负、零三种电平的脉冲序列。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53653676-2FFD-4F6D-92C0-7D605CF0BF16}" type="slidenum">
              <a:rPr lang="en-US" altLang="zh-CN" sz="1400" smtClean="0"/>
              <a:pPr eaLnBrk="1" hangingPunct="1"/>
              <a:t>11</a:t>
            </a:fld>
            <a:endParaRPr lang="en-US" altLang="zh-CN" sz="1400" smtClean="0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 smtClean="0"/>
              <a:t>AMI</a:t>
            </a:r>
            <a:r>
              <a:rPr lang="zh-CN" altLang="en-US" sz="5400" smtClean="0"/>
              <a:t>码的优缺点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5763" y="1314450"/>
            <a:ext cx="8416925" cy="5129213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zh-CN" altLang="en-US" b="0" dirty="0" smtClean="0"/>
              <a:t>优点</a:t>
            </a:r>
          </a:p>
          <a:p>
            <a:pPr lvl="1">
              <a:lnSpc>
                <a:spcPct val="140000"/>
              </a:lnSpc>
            </a:pPr>
            <a:r>
              <a:rPr lang="zh-CN" altLang="en-US" dirty="0" smtClean="0"/>
              <a:t>没有直流成分，且高、低频分量少</a:t>
            </a:r>
          </a:p>
          <a:p>
            <a:pPr lvl="1">
              <a:lnSpc>
                <a:spcPct val="140000"/>
              </a:lnSpc>
            </a:pPr>
            <a:r>
              <a:rPr lang="zh-CN" altLang="en-US" dirty="0" smtClean="0"/>
              <a:t>译码电路简单（注：全波整流）</a:t>
            </a:r>
          </a:p>
          <a:p>
            <a:pPr lvl="1">
              <a:lnSpc>
                <a:spcPct val="140000"/>
              </a:lnSpc>
            </a:pPr>
            <a:r>
              <a:rPr lang="zh-CN" altLang="en-US" dirty="0" smtClean="0"/>
              <a:t>可利用传号极性交替这一规律观察误码情况</a:t>
            </a:r>
          </a:p>
          <a:p>
            <a:pPr>
              <a:lnSpc>
                <a:spcPct val="140000"/>
              </a:lnSpc>
            </a:pPr>
            <a:r>
              <a:rPr lang="zh-CN" altLang="en-US" b="0" dirty="0" smtClean="0"/>
              <a:t>缺点</a:t>
            </a:r>
          </a:p>
          <a:p>
            <a:pPr lvl="1">
              <a:lnSpc>
                <a:spcPct val="140000"/>
              </a:lnSpc>
            </a:pPr>
            <a:r>
              <a:rPr lang="zh-CN" altLang="en-US" dirty="0" smtClean="0"/>
              <a:t>当原信码出现长连“</a:t>
            </a:r>
            <a:r>
              <a:rPr lang="en-US" altLang="zh-CN" dirty="0" smtClean="0"/>
              <a:t>0”</a:t>
            </a:r>
            <a:r>
              <a:rPr lang="zh-CN" altLang="en-US" dirty="0" smtClean="0"/>
              <a:t>串时，信号的电平长时间不跳变，造成提取定时信号的困难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E77D4210-4D8B-42D9-B722-5DB11457F284}" type="slidenum">
              <a:rPr lang="en-US" altLang="zh-CN" sz="1400" smtClean="0"/>
              <a:pPr eaLnBrk="1" hangingPunct="1"/>
              <a:t>12</a:t>
            </a:fld>
            <a:endParaRPr lang="en-US" altLang="zh-CN" sz="1400" smtClean="0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smtClean="0"/>
              <a:t>HDB</a:t>
            </a:r>
            <a:r>
              <a:rPr lang="en-US" altLang="zh-CN" sz="4400" baseline="-25000" smtClean="0"/>
              <a:t>3</a:t>
            </a:r>
            <a:r>
              <a:rPr lang="zh-CN" altLang="en-US" sz="4400" smtClean="0"/>
              <a:t>码：</a:t>
            </a:r>
            <a:r>
              <a:rPr lang="en-US" altLang="zh-CN" sz="4400" smtClean="0"/>
              <a:t>3</a:t>
            </a:r>
            <a:r>
              <a:rPr lang="zh-CN" altLang="en-US" sz="4400" smtClean="0"/>
              <a:t>阶高密度双极性码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1268413"/>
            <a:ext cx="8731187" cy="5400675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zh-CN" sz="2400" b="0" dirty="0" smtClean="0"/>
              <a:t>AMI</a:t>
            </a:r>
            <a:r>
              <a:rPr lang="zh-CN" altLang="en-US" sz="2400" b="0" dirty="0" smtClean="0"/>
              <a:t>码的一种改进型，改进目的是为了保持</a:t>
            </a:r>
            <a:r>
              <a:rPr lang="en-US" altLang="zh-CN" sz="2400" b="0" dirty="0" smtClean="0"/>
              <a:t>AMI</a:t>
            </a:r>
            <a:r>
              <a:rPr lang="zh-CN" altLang="en-US" sz="2400" b="0" dirty="0" smtClean="0"/>
              <a:t>码的优点而克服其缺点（使连“</a:t>
            </a:r>
            <a:r>
              <a:rPr lang="en-US" altLang="zh-CN" sz="2400" b="0" dirty="0" smtClean="0"/>
              <a:t>0”</a:t>
            </a:r>
            <a:r>
              <a:rPr lang="zh-CN" altLang="en-US" sz="2400" b="0" dirty="0" smtClean="0"/>
              <a:t>个数不超过</a:t>
            </a:r>
            <a:r>
              <a:rPr lang="en-US" altLang="zh-CN" sz="2400" b="0" dirty="0" smtClean="0"/>
              <a:t>3</a:t>
            </a:r>
            <a:r>
              <a:rPr lang="zh-CN" altLang="en-US" sz="2400" b="0" dirty="0" smtClean="0"/>
              <a:t>个） </a:t>
            </a:r>
          </a:p>
          <a:p>
            <a:pPr>
              <a:lnSpc>
                <a:spcPct val="120000"/>
              </a:lnSpc>
            </a:pPr>
            <a:r>
              <a:rPr lang="zh-CN" altLang="en-US" sz="2000" b="0" dirty="0" smtClean="0"/>
              <a:t>编码规则：</a:t>
            </a:r>
          </a:p>
          <a:p>
            <a:pPr lvl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000" dirty="0" smtClean="0"/>
              <a:t>（</a:t>
            </a:r>
            <a:r>
              <a:rPr lang="en-US" altLang="zh-CN" sz="2000" dirty="0" smtClean="0"/>
              <a:t>1</a:t>
            </a:r>
            <a:r>
              <a:rPr lang="zh-CN" altLang="en-US" sz="2000" dirty="0" smtClean="0"/>
              <a:t>）检查消息码中“</a:t>
            </a:r>
            <a:r>
              <a:rPr lang="en-US" altLang="zh-CN" sz="2000" dirty="0" smtClean="0"/>
              <a:t>0”</a:t>
            </a:r>
            <a:r>
              <a:rPr lang="zh-CN" altLang="en-US" sz="2000" dirty="0" smtClean="0"/>
              <a:t>的个数。当连“</a:t>
            </a:r>
            <a:r>
              <a:rPr lang="en-US" altLang="zh-CN" sz="2000" dirty="0" smtClean="0"/>
              <a:t>0”</a:t>
            </a:r>
            <a:r>
              <a:rPr lang="zh-CN" altLang="en-US" sz="2000" dirty="0" smtClean="0"/>
              <a:t>数目小于等于</a:t>
            </a:r>
            <a:r>
              <a:rPr lang="en-US" altLang="zh-CN" sz="2000" dirty="0" smtClean="0"/>
              <a:t>3</a:t>
            </a:r>
            <a:r>
              <a:rPr lang="zh-CN" altLang="en-US" sz="2000" dirty="0" smtClean="0"/>
              <a:t>时，</a:t>
            </a:r>
            <a:r>
              <a:rPr lang="en-US" altLang="zh-CN" sz="2000" dirty="0" smtClean="0"/>
              <a:t>HDB</a:t>
            </a:r>
            <a:r>
              <a:rPr lang="en-US" altLang="zh-CN" sz="2000" baseline="-25000" dirty="0" smtClean="0"/>
              <a:t>3</a:t>
            </a:r>
            <a:r>
              <a:rPr lang="zh-CN" altLang="en-US" sz="2000" dirty="0" smtClean="0"/>
              <a:t>码与</a:t>
            </a:r>
            <a:r>
              <a:rPr lang="en-US" altLang="zh-CN" sz="2000" dirty="0" smtClean="0"/>
              <a:t>AMI</a:t>
            </a:r>
            <a:r>
              <a:rPr lang="zh-CN" altLang="en-US" sz="2000" dirty="0" smtClean="0"/>
              <a:t>码一样，</a:t>
            </a:r>
            <a:r>
              <a:rPr lang="en-US" altLang="zh-CN" sz="2000" dirty="0" smtClean="0"/>
              <a:t>+1</a:t>
            </a:r>
            <a:r>
              <a:rPr lang="zh-CN" altLang="en-US" sz="2000" dirty="0" smtClean="0"/>
              <a:t>与</a:t>
            </a:r>
            <a:r>
              <a:rPr lang="en-US" altLang="zh-CN" sz="2000" dirty="0" smtClean="0"/>
              <a:t>-1</a:t>
            </a:r>
            <a:r>
              <a:rPr lang="zh-CN" altLang="en-US" sz="2000" dirty="0" smtClean="0"/>
              <a:t>交替；</a:t>
            </a:r>
          </a:p>
          <a:p>
            <a:pPr lvl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000" dirty="0" smtClean="0"/>
              <a:t>（</a:t>
            </a:r>
            <a:r>
              <a:rPr lang="en-US" altLang="zh-CN" sz="2000" dirty="0" smtClean="0"/>
              <a:t>2</a:t>
            </a:r>
            <a:r>
              <a:rPr lang="zh-CN" altLang="en-US" sz="2000" dirty="0" smtClean="0"/>
              <a:t>）连“</a:t>
            </a:r>
            <a:r>
              <a:rPr lang="en-US" altLang="zh-CN" sz="2000" dirty="0" smtClean="0"/>
              <a:t>0”</a:t>
            </a:r>
            <a:r>
              <a:rPr lang="zh-CN" altLang="en-US" sz="2000" dirty="0" smtClean="0"/>
              <a:t>数目超过</a:t>
            </a:r>
            <a:r>
              <a:rPr lang="en-US" altLang="zh-CN" sz="2000" dirty="0" smtClean="0"/>
              <a:t>3</a:t>
            </a:r>
            <a:r>
              <a:rPr lang="zh-CN" altLang="en-US" sz="2000" dirty="0" smtClean="0"/>
              <a:t>时，将每</a:t>
            </a:r>
            <a:r>
              <a:rPr lang="en-US" altLang="zh-CN" sz="2000" dirty="0" smtClean="0"/>
              <a:t>4</a:t>
            </a:r>
            <a:r>
              <a:rPr lang="zh-CN" altLang="en-US" sz="2000" dirty="0" smtClean="0"/>
              <a:t>个连“</a:t>
            </a:r>
            <a:r>
              <a:rPr lang="en-US" altLang="zh-CN" sz="2000" dirty="0" smtClean="0"/>
              <a:t>0”</a:t>
            </a:r>
            <a:r>
              <a:rPr lang="zh-CN" altLang="en-US" sz="2000" dirty="0" smtClean="0"/>
              <a:t>化作一小节，定义为</a:t>
            </a:r>
            <a:r>
              <a:rPr lang="en-US" altLang="zh-CN" sz="2000" dirty="0" smtClean="0"/>
              <a:t>B00V</a:t>
            </a:r>
            <a:r>
              <a:rPr lang="zh-CN" altLang="en-US" sz="2000" dirty="0" smtClean="0"/>
              <a:t>，称为破坏节，其中</a:t>
            </a:r>
            <a:r>
              <a:rPr lang="en-US" altLang="zh-CN" sz="2000" dirty="0" smtClean="0"/>
              <a:t>V</a:t>
            </a:r>
            <a:r>
              <a:rPr lang="zh-CN" altLang="en-US" sz="2000" dirty="0" smtClean="0"/>
              <a:t>称为破坏脉冲，而</a:t>
            </a:r>
            <a:r>
              <a:rPr lang="en-US" altLang="zh-CN" sz="2000" dirty="0" smtClean="0"/>
              <a:t>B</a:t>
            </a:r>
            <a:r>
              <a:rPr lang="zh-CN" altLang="en-US" sz="2000" dirty="0" smtClean="0"/>
              <a:t>称为调节脉冲；</a:t>
            </a:r>
          </a:p>
          <a:p>
            <a:pPr lvl="1">
              <a:lnSpc>
                <a:spcPct val="120000"/>
              </a:lnSpc>
              <a:buNone/>
            </a:pPr>
            <a:r>
              <a:rPr lang="zh-CN" altLang="en-US" sz="2000" dirty="0" smtClean="0"/>
              <a:t>（</a:t>
            </a:r>
            <a:r>
              <a:rPr lang="en-US" altLang="zh-CN" sz="2000" dirty="0" smtClean="0"/>
              <a:t>3</a:t>
            </a:r>
            <a:r>
              <a:rPr lang="zh-CN" altLang="en-US" sz="2000" dirty="0" smtClean="0"/>
              <a:t>）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V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要交替出现，</a:t>
            </a:r>
            <a:r>
              <a:rPr lang="en-US" altLang="zh-CN" sz="2000" u="sng" dirty="0"/>
              <a:t>V</a:t>
            </a:r>
            <a:r>
              <a:rPr lang="zh-CN" altLang="en-US" sz="2000" u="sng" dirty="0"/>
              <a:t>的取值为</a:t>
            </a:r>
            <a:r>
              <a:rPr lang="en-US" altLang="zh-CN" sz="2000" u="sng" dirty="0"/>
              <a:t>+1</a:t>
            </a:r>
            <a:r>
              <a:rPr lang="zh-CN" altLang="en-US" sz="2000" u="sng" dirty="0"/>
              <a:t>或</a:t>
            </a:r>
            <a:r>
              <a:rPr lang="en-US" altLang="zh-CN" sz="2000" u="sng" dirty="0"/>
              <a:t>-1</a:t>
            </a:r>
            <a:r>
              <a:rPr lang="zh-CN" altLang="en-US" sz="2000" dirty="0" smtClean="0"/>
              <a:t>；</a:t>
            </a:r>
            <a:endParaRPr lang="en-US" altLang="zh-CN" sz="2000" b="1" dirty="0" smtClean="0">
              <a:solidFill>
                <a:srgbClr val="FF0000"/>
              </a:solidFill>
            </a:endParaRPr>
          </a:p>
          <a:p>
            <a:pPr lvl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000" dirty="0" smtClean="0"/>
              <a:t>（</a:t>
            </a:r>
            <a:r>
              <a:rPr lang="en-US" altLang="zh-CN" sz="2000" dirty="0" smtClean="0"/>
              <a:t>4</a:t>
            </a:r>
            <a:r>
              <a:rPr lang="zh-CN" altLang="en-US" sz="2000" dirty="0" smtClean="0"/>
              <a:t>）</a:t>
            </a:r>
            <a:r>
              <a:rPr lang="en-US" altLang="zh-CN" sz="2000" b="1" dirty="0" smtClean="0">
                <a:solidFill>
                  <a:schemeClr val="folHlink"/>
                </a:solidFill>
              </a:rPr>
              <a:t>V</a:t>
            </a:r>
            <a:r>
              <a:rPr lang="zh-CN" altLang="en-US" sz="2000" b="1" dirty="0" smtClean="0">
                <a:solidFill>
                  <a:schemeClr val="folHlink"/>
                </a:solidFill>
              </a:rPr>
              <a:t>与前一个相邻的非“</a:t>
            </a:r>
            <a:r>
              <a:rPr lang="en-US" altLang="zh-CN" sz="2000" b="1" dirty="0" smtClean="0">
                <a:solidFill>
                  <a:schemeClr val="folHlink"/>
                </a:solidFill>
              </a:rPr>
              <a:t>0”</a:t>
            </a:r>
            <a:r>
              <a:rPr lang="zh-CN" altLang="en-US" sz="2000" b="1" dirty="0" smtClean="0">
                <a:solidFill>
                  <a:schemeClr val="folHlink"/>
                </a:solidFill>
              </a:rPr>
              <a:t>脉冲的极性相同</a:t>
            </a:r>
            <a:r>
              <a:rPr lang="zh-CN" altLang="en-US" sz="2000" dirty="0" smtClean="0"/>
              <a:t>（这破坏了极性交替的规则，所以</a:t>
            </a:r>
            <a:r>
              <a:rPr lang="en-US" altLang="zh-CN" sz="2000" dirty="0" smtClean="0"/>
              <a:t>V</a:t>
            </a:r>
            <a:r>
              <a:rPr lang="zh-CN" altLang="en-US" sz="2000" dirty="0" smtClean="0"/>
              <a:t>称为破坏脉冲）。</a:t>
            </a:r>
            <a:endParaRPr lang="en-US" altLang="zh-CN" sz="2000" dirty="0" smtClean="0"/>
          </a:p>
          <a:p>
            <a:pPr lvl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000" dirty="0" smtClean="0"/>
              <a:t>（</a:t>
            </a:r>
            <a:r>
              <a:rPr lang="en-US" altLang="zh-CN" sz="2000" dirty="0" smtClean="0"/>
              <a:t>5</a:t>
            </a:r>
            <a:r>
              <a:rPr lang="zh-CN" altLang="en-US" sz="2000" dirty="0" smtClean="0"/>
              <a:t>）</a:t>
            </a:r>
            <a:r>
              <a:rPr lang="zh-CN" altLang="en-US" sz="2000" b="1" dirty="0" smtClean="0">
                <a:solidFill>
                  <a:srgbClr val="00B050"/>
                </a:solidFill>
              </a:rPr>
              <a:t>如果（</a:t>
            </a:r>
            <a:r>
              <a:rPr lang="en-US" altLang="zh-CN" sz="2000" b="1" dirty="0" smtClean="0">
                <a:solidFill>
                  <a:srgbClr val="00B050"/>
                </a:solidFill>
              </a:rPr>
              <a:t>4</a:t>
            </a:r>
            <a:r>
              <a:rPr lang="zh-CN" altLang="en-US" sz="2000" b="1" dirty="0" smtClean="0">
                <a:solidFill>
                  <a:srgbClr val="00B050"/>
                </a:solidFill>
              </a:rPr>
              <a:t>）不满足，则将</a:t>
            </a:r>
            <a:r>
              <a:rPr lang="en-US" altLang="zh-CN" sz="2000" b="1" dirty="0" smtClean="0">
                <a:solidFill>
                  <a:srgbClr val="00B050"/>
                </a:solidFill>
              </a:rPr>
              <a:t>B</a:t>
            </a:r>
            <a:r>
              <a:rPr lang="zh-CN" altLang="en-US" sz="2000" b="1" dirty="0" smtClean="0">
                <a:solidFill>
                  <a:srgbClr val="00B050"/>
                </a:solidFill>
              </a:rPr>
              <a:t>从</a:t>
            </a:r>
            <a:r>
              <a:rPr lang="en-US" altLang="zh-CN" sz="2000" b="1" dirty="0" smtClean="0">
                <a:solidFill>
                  <a:srgbClr val="00B050"/>
                </a:solidFill>
              </a:rPr>
              <a:t>0</a:t>
            </a:r>
            <a:r>
              <a:rPr lang="zh-CN" altLang="en-US" sz="2000" b="1" dirty="0" smtClean="0">
                <a:solidFill>
                  <a:srgbClr val="00B050"/>
                </a:solidFill>
              </a:rPr>
              <a:t>改为</a:t>
            </a:r>
            <a:r>
              <a:rPr lang="en-US" altLang="zh-CN" sz="2000" b="1" dirty="0" smtClean="0">
                <a:solidFill>
                  <a:srgbClr val="00B050"/>
                </a:solidFill>
              </a:rPr>
              <a:t>+1</a:t>
            </a:r>
            <a:r>
              <a:rPr lang="zh-CN" altLang="en-US" sz="2000" b="1" dirty="0" smtClean="0">
                <a:solidFill>
                  <a:srgbClr val="00B050"/>
                </a:solidFill>
              </a:rPr>
              <a:t>或</a:t>
            </a:r>
            <a:r>
              <a:rPr lang="en-US" altLang="zh-CN" sz="2000" b="1" dirty="0" smtClean="0">
                <a:solidFill>
                  <a:srgbClr val="00B050"/>
                </a:solidFill>
              </a:rPr>
              <a:t>-1</a:t>
            </a:r>
            <a:r>
              <a:rPr lang="zh-CN" altLang="en-US" sz="2000" b="1" dirty="0" smtClean="0">
                <a:solidFill>
                  <a:srgbClr val="00B050"/>
                </a:solidFill>
              </a:rPr>
              <a:t>，以使</a:t>
            </a:r>
            <a:r>
              <a:rPr lang="en-US" altLang="zh-CN" sz="2000" b="1" dirty="0" smtClean="0">
                <a:solidFill>
                  <a:srgbClr val="00B050"/>
                </a:solidFill>
              </a:rPr>
              <a:t>V</a:t>
            </a:r>
            <a:r>
              <a:rPr lang="zh-CN" altLang="en-US" sz="2000" b="1" dirty="0" smtClean="0">
                <a:solidFill>
                  <a:srgbClr val="00B050"/>
                </a:solidFill>
              </a:rPr>
              <a:t>同时满足（</a:t>
            </a:r>
            <a:r>
              <a:rPr lang="en-US" altLang="zh-CN" sz="2000" b="1" dirty="0" smtClean="0">
                <a:solidFill>
                  <a:srgbClr val="00B050"/>
                </a:solidFill>
              </a:rPr>
              <a:t>4</a:t>
            </a:r>
            <a:r>
              <a:rPr lang="zh-CN" altLang="en-US" sz="2000" b="1" dirty="0" smtClean="0">
                <a:solidFill>
                  <a:srgbClr val="00B050"/>
                </a:solidFill>
              </a:rPr>
              <a:t>）</a:t>
            </a:r>
            <a:endParaRPr lang="en-US" altLang="zh-CN" sz="2000" b="1" dirty="0" smtClean="0">
              <a:solidFill>
                <a:srgbClr val="00B050"/>
              </a:solidFill>
            </a:endParaRPr>
          </a:p>
          <a:p>
            <a:pPr lvl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000" dirty="0" smtClean="0"/>
              <a:t>（</a:t>
            </a:r>
            <a:r>
              <a:rPr lang="en-US" altLang="zh-CN" sz="2000" dirty="0" smtClean="0"/>
              <a:t>6</a:t>
            </a:r>
            <a:r>
              <a:rPr lang="zh-CN" altLang="en-US" sz="2000" dirty="0" smtClean="0"/>
              <a:t>）</a:t>
            </a:r>
            <a:r>
              <a:rPr lang="en-US" altLang="zh-CN" sz="2000" dirty="0" smtClean="0"/>
              <a:t>V</a:t>
            </a:r>
            <a:r>
              <a:rPr lang="zh-CN" altLang="en-US" sz="2000" dirty="0" smtClean="0"/>
              <a:t>之后的传</a:t>
            </a:r>
            <a:r>
              <a:rPr lang="zh-CN" altLang="en-US" sz="2000" dirty="0" smtClean="0"/>
              <a:t>号码也必须是</a:t>
            </a:r>
            <a:r>
              <a:rPr lang="zh-CN" altLang="en-US" sz="2000" dirty="0" smtClean="0"/>
              <a:t>反转的 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pPr lvl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000" i="1" dirty="0" smtClean="0"/>
              <a:t>注意，编写</a:t>
            </a:r>
            <a:r>
              <a:rPr lang="en-US" altLang="zh-CN" sz="2000" i="1" dirty="0" smtClean="0"/>
              <a:t>HDB3</a:t>
            </a:r>
            <a:r>
              <a:rPr lang="zh-CN" altLang="en-US" sz="2000" i="1" dirty="0" smtClean="0"/>
              <a:t>码的时候，不需要先写出</a:t>
            </a:r>
            <a:r>
              <a:rPr lang="en-US" altLang="zh-CN" sz="2000" i="1" dirty="0" smtClean="0"/>
              <a:t>AMI</a:t>
            </a:r>
            <a:r>
              <a:rPr lang="zh-CN" altLang="en-US" sz="2000" i="1" dirty="0" smtClean="0"/>
              <a:t>码。</a:t>
            </a:r>
            <a:endParaRPr lang="zh-CN" altLang="en-US" sz="2000" i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6195CA92-5580-4F15-9469-1AF09E5813FD}" type="slidenum">
              <a:rPr lang="en-US" altLang="zh-CN" sz="1400" smtClean="0"/>
              <a:pPr eaLnBrk="1" hangingPunct="1"/>
              <a:t>13</a:t>
            </a:fld>
            <a:endParaRPr lang="en-US" altLang="zh-CN" sz="1400" smtClean="0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zh-CN" altLang="en-US" sz="3200" b="1" dirty="0" smtClean="0">
                <a:solidFill>
                  <a:srgbClr val="FF0000"/>
                </a:solidFill>
              </a:rPr>
              <a:t>一起做题</a:t>
            </a:r>
            <a:r>
              <a:rPr lang="zh-CN" altLang="en-US" sz="3200" dirty="0" smtClean="0"/>
              <a:t>（遇到连零先定</a:t>
            </a:r>
            <a:r>
              <a:rPr lang="en-US" altLang="zh-CN" sz="3200" dirty="0" smtClean="0"/>
              <a:t>V</a:t>
            </a:r>
            <a:r>
              <a:rPr lang="zh-CN" altLang="en-US" sz="3200" dirty="0" smtClean="0"/>
              <a:t>的符号，再看若</a:t>
            </a:r>
            <a:r>
              <a:rPr lang="en-US" altLang="zh-CN" sz="3200" dirty="0" smtClean="0"/>
              <a:t>V</a:t>
            </a:r>
            <a:r>
              <a:rPr lang="zh-CN" altLang="en-US" sz="3200" dirty="0" smtClean="0"/>
              <a:t>与前一个非零符号不一致，则加一个</a:t>
            </a:r>
            <a:r>
              <a:rPr lang="en-US" altLang="zh-CN" sz="3200" dirty="0" smtClean="0"/>
              <a:t>B</a:t>
            </a:r>
            <a:r>
              <a:rPr lang="zh-CN" altLang="en-US" sz="3200" dirty="0" smtClean="0"/>
              <a:t>）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1404938"/>
            <a:ext cx="8802687" cy="5354637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z="2400" b="0" dirty="0" smtClean="0"/>
              <a:t>例一：</a:t>
            </a: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000" dirty="0" smtClean="0"/>
              <a:t>	消息码：   </a:t>
            </a:r>
            <a:r>
              <a:rPr lang="en-US" altLang="zh-CN" sz="2000" dirty="0" smtClean="0"/>
              <a:t>1 0 0 0  0    1  0 0 0   0    1   1  0 0 0    0    0 0 0   0    l    1</a:t>
            </a: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 dirty="0" smtClean="0"/>
              <a:t>    AMI</a:t>
            </a:r>
            <a:r>
              <a:rPr lang="zh-CN" altLang="en-US" sz="2000" dirty="0" smtClean="0"/>
              <a:t>码：  </a:t>
            </a:r>
            <a:r>
              <a:rPr lang="en-US" altLang="zh-CN" sz="2000" dirty="0" smtClean="0"/>
              <a:t>-1 0 0 0   0 +1  0 0 0   0   -1 +1 0 0 0    0    0 0 0   0  -1 +1</a:t>
            </a: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 dirty="0" smtClean="0"/>
              <a:t>    HDB</a:t>
            </a:r>
            <a:r>
              <a:rPr lang="en-US" altLang="zh-CN" sz="2000" baseline="-25000" dirty="0" smtClean="0"/>
              <a:t>3</a:t>
            </a:r>
            <a:r>
              <a:rPr lang="zh-CN" altLang="en-US" sz="2000" dirty="0" smtClean="0"/>
              <a:t>码： </a:t>
            </a:r>
            <a:r>
              <a:rPr lang="en-US" altLang="zh-CN" sz="2000" dirty="0" smtClean="0"/>
              <a:t>-1 </a:t>
            </a:r>
            <a:r>
              <a:rPr lang="en-US" altLang="zh-CN" sz="2000" dirty="0" smtClean="0">
                <a:solidFill>
                  <a:schemeClr val="hlink"/>
                </a:solidFill>
              </a:rPr>
              <a:t>0 0 0 –V</a:t>
            </a:r>
            <a:r>
              <a:rPr lang="en-US" altLang="zh-CN" sz="2000" dirty="0" smtClean="0"/>
              <a:t> +1 </a:t>
            </a:r>
            <a:r>
              <a:rPr lang="en-US" altLang="zh-CN" sz="2000" dirty="0" smtClean="0">
                <a:solidFill>
                  <a:schemeClr val="hlink"/>
                </a:solidFill>
              </a:rPr>
              <a:t>0 0 0 +V</a:t>
            </a:r>
            <a:r>
              <a:rPr lang="en-US" altLang="zh-CN" sz="2000" dirty="0" smtClean="0"/>
              <a:t>  -1 +1</a:t>
            </a:r>
            <a:r>
              <a:rPr lang="en-US" altLang="zh-CN" sz="2000" dirty="0" smtClean="0">
                <a:solidFill>
                  <a:schemeClr val="hlink"/>
                </a:solidFill>
              </a:rPr>
              <a:t>-B 0 0 –V</a:t>
            </a:r>
            <a:r>
              <a:rPr lang="en-US" altLang="zh-CN" sz="2000" dirty="0" smtClean="0"/>
              <a:t> </a:t>
            </a:r>
            <a:r>
              <a:rPr lang="en-US" altLang="zh-CN" sz="2000" dirty="0" smtClean="0">
                <a:solidFill>
                  <a:schemeClr val="folHlink"/>
                </a:solidFill>
              </a:rPr>
              <a:t>+B 0 0 +V</a:t>
            </a:r>
            <a:r>
              <a:rPr lang="en-US" altLang="zh-CN" sz="2000" dirty="0" smtClean="0"/>
              <a:t>  -l +1</a:t>
            </a: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endParaRPr lang="en-US" altLang="zh-CN" sz="2000" dirty="0" smtClean="0"/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400" dirty="0" smtClean="0"/>
              <a:t>其中的</a:t>
            </a:r>
            <a:r>
              <a:rPr lang="zh-CN" altLang="en-US" sz="2400" dirty="0" smtClean="0">
                <a:sym typeface="Symbol" pitchFamily="18" charset="2"/>
              </a:rPr>
              <a:t></a:t>
            </a:r>
            <a:r>
              <a:rPr lang="en-US" altLang="zh-CN" sz="2400" dirty="0" smtClean="0"/>
              <a:t>V</a:t>
            </a:r>
            <a:r>
              <a:rPr lang="zh-CN" altLang="en-US" sz="2400" dirty="0" smtClean="0"/>
              <a:t>脉冲和</a:t>
            </a:r>
            <a:r>
              <a:rPr lang="zh-CN" altLang="en-US" sz="2400" dirty="0" smtClean="0">
                <a:sym typeface="Symbol" pitchFamily="18" charset="2"/>
              </a:rPr>
              <a:t></a:t>
            </a:r>
            <a:r>
              <a:rPr lang="en-US" altLang="zh-CN" sz="2400" dirty="0" smtClean="0">
                <a:sym typeface="Symbol" pitchFamily="18" charset="2"/>
              </a:rPr>
              <a:t>B</a:t>
            </a:r>
            <a:r>
              <a:rPr lang="zh-CN" altLang="en-US" sz="2400" dirty="0" smtClean="0"/>
              <a:t>脉冲与</a:t>
            </a:r>
            <a:r>
              <a:rPr lang="zh-CN" altLang="en-US" sz="2400" dirty="0" smtClean="0">
                <a:sym typeface="Symbol" pitchFamily="18" charset="2"/>
              </a:rPr>
              <a:t></a:t>
            </a:r>
            <a:r>
              <a:rPr lang="en-US" altLang="zh-CN" sz="2400" dirty="0" smtClean="0">
                <a:sym typeface="Symbol" pitchFamily="18" charset="2"/>
              </a:rPr>
              <a:t>1</a:t>
            </a:r>
            <a:r>
              <a:rPr lang="zh-CN" altLang="en-US" sz="2400" dirty="0" smtClean="0"/>
              <a:t>脉冲波形相同，用</a:t>
            </a:r>
            <a:r>
              <a:rPr lang="en-US" altLang="zh-CN" sz="2400" dirty="0" smtClean="0"/>
              <a:t>V</a:t>
            </a:r>
            <a:r>
              <a:rPr lang="zh-CN" altLang="en-US" sz="2400" dirty="0" smtClean="0"/>
              <a:t>或</a:t>
            </a:r>
            <a:r>
              <a:rPr lang="en-US" altLang="zh-CN" sz="2400" dirty="0" smtClean="0"/>
              <a:t>B</a:t>
            </a:r>
            <a:r>
              <a:rPr lang="zh-CN" altLang="en-US" sz="2400" dirty="0" smtClean="0"/>
              <a:t>符号表示的目的是为了示意该非“</a:t>
            </a:r>
            <a:r>
              <a:rPr lang="en-US" altLang="zh-CN" sz="2400" dirty="0" smtClean="0"/>
              <a:t>0”</a:t>
            </a:r>
            <a:r>
              <a:rPr lang="zh-CN" altLang="en-US" sz="2400" dirty="0" smtClean="0"/>
              <a:t>码是由原信码的“</a:t>
            </a:r>
            <a:r>
              <a:rPr lang="en-US" altLang="zh-CN" sz="2400" dirty="0" smtClean="0"/>
              <a:t>0”</a:t>
            </a:r>
            <a:r>
              <a:rPr lang="zh-CN" altLang="en-US" sz="2400" dirty="0" smtClean="0"/>
              <a:t>变换而来的</a:t>
            </a:r>
          </a:p>
          <a:p>
            <a:pPr lvl="1">
              <a:lnSpc>
                <a:spcPct val="80000"/>
              </a:lnSpc>
              <a:buNone/>
            </a:pPr>
            <a:r>
              <a:rPr lang="zh-CN" altLang="en-US" sz="2400" dirty="0"/>
              <a:t>注意：</a:t>
            </a:r>
            <a:r>
              <a:rPr lang="en-US" altLang="zh-CN" sz="2400" dirty="0"/>
              <a:t>V</a:t>
            </a:r>
            <a:r>
              <a:rPr lang="zh-CN" altLang="en-US" sz="2400" dirty="0"/>
              <a:t>与</a:t>
            </a:r>
            <a:r>
              <a:rPr lang="en-US" altLang="zh-CN" sz="2400" dirty="0"/>
              <a:t>B</a:t>
            </a:r>
            <a:r>
              <a:rPr lang="zh-CN" altLang="en-US" sz="2400" dirty="0" smtClean="0"/>
              <a:t>都是</a:t>
            </a:r>
            <a:r>
              <a:rPr lang="en-US" altLang="zh-CN" sz="2400" dirty="0" smtClean="0"/>
              <a:t>1</a:t>
            </a:r>
            <a:r>
              <a:rPr lang="zh-CN" altLang="en-US" sz="2400" dirty="0"/>
              <a:t>！！！</a:t>
            </a: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endParaRPr lang="zh-CN" altLang="en-US" sz="2400" dirty="0" smtClean="0"/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400" dirty="0" smtClean="0"/>
              <a:t>例二：</a:t>
            </a:r>
            <a:r>
              <a:rPr lang="en-US" altLang="zh-CN" sz="2400" dirty="0" smtClean="0"/>
              <a:t>13</a:t>
            </a:r>
            <a:r>
              <a:rPr lang="zh-CN" altLang="en-US" sz="2400" dirty="0" smtClean="0"/>
              <a:t>连</a:t>
            </a:r>
            <a:r>
              <a:rPr lang="en-US" altLang="zh-CN" sz="2400" dirty="0" smtClean="0"/>
              <a:t>0</a:t>
            </a: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400" dirty="0" smtClean="0"/>
              <a:t>消息码：</a:t>
            </a:r>
            <a:r>
              <a:rPr lang="en-US" altLang="zh-CN" sz="2400" b="1" dirty="0" smtClean="0"/>
              <a:t>1000011</a:t>
            </a:r>
            <a:r>
              <a:rPr lang="en-US" altLang="zh-CN" sz="2400" b="1" dirty="0" smtClean="0">
                <a:solidFill>
                  <a:schemeClr val="folHlink"/>
                </a:solidFill>
              </a:rPr>
              <a:t>0000</a:t>
            </a:r>
            <a:r>
              <a:rPr lang="en-US" altLang="zh-CN" sz="2400" b="1" dirty="0" smtClean="0"/>
              <a:t>011</a:t>
            </a:r>
            <a:r>
              <a:rPr lang="en-US" altLang="zh-CN" sz="2400" b="1" dirty="0" smtClean="0">
                <a:solidFill>
                  <a:schemeClr val="folHlink"/>
                </a:solidFill>
              </a:rPr>
              <a:t>0000</a:t>
            </a:r>
            <a:r>
              <a:rPr lang="en-US" altLang="zh-CN" sz="2400" b="1" dirty="0" smtClean="0"/>
              <a:t>0000</a:t>
            </a:r>
            <a:r>
              <a:rPr lang="en-US" altLang="zh-CN" sz="2400" b="1" dirty="0" smtClean="0">
                <a:solidFill>
                  <a:schemeClr val="folHlink"/>
                </a:solidFill>
              </a:rPr>
              <a:t>0000</a:t>
            </a:r>
            <a:r>
              <a:rPr lang="en-US" altLang="zh-CN" sz="2400" b="1" dirty="0" smtClean="0"/>
              <a:t>011</a:t>
            </a: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endParaRPr lang="en-US" altLang="zh-CN" sz="2400" b="1" dirty="0" smtClean="0"/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400" b="1" dirty="0" smtClean="0">
                <a:solidFill>
                  <a:srgbClr val="FF0000"/>
                </a:solidFill>
              </a:rPr>
              <a:t>作业：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17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连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0</a:t>
            </a: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400" dirty="0" smtClean="0"/>
              <a:t>消息码：</a:t>
            </a:r>
            <a:r>
              <a:rPr lang="en-US" altLang="zh-CN" sz="2400" b="1" dirty="0" smtClean="0"/>
              <a:t>1000011</a:t>
            </a:r>
            <a:r>
              <a:rPr lang="en-US" altLang="zh-CN" sz="2400" b="1" dirty="0" smtClean="0">
                <a:solidFill>
                  <a:schemeClr val="folHlink"/>
                </a:solidFill>
              </a:rPr>
              <a:t>0000</a:t>
            </a:r>
            <a:r>
              <a:rPr lang="en-US" altLang="zh-CN" sz="2400" b="1" dirty="0" smtClean="0"/>
              <a:t>011</a:t>
            </a:r>
            <a:r>
              <a:rPr lang="en-US" altLang="zh-CN" sz="2400" b="1" dirty="0" smtClean="0">
                <a:solidFill>
                  <a:schemeClr val="folHlink"/>
                </a:solidFill>
              </a:rPr>
              <a:t>0000</a:t>
            </a:r>
            <a:r>
              <a:rPr lang="en-US" altLang="zh-CN" sz="2400" b="1" dirty="0" smtClean="0"/>
              <a:t>0000</a:t>
            </a:r>
            <a:r>
              <a:rPr lang="en-US" altLang="zh-CN" sz="2400" b="1" dirty="0" smtClean="0">
                <a:solidFill>
                  <a:schemeClr val="folHlink"/>
                </a:solidFill>
              </a:rPr>
              <a:t>0000</a:t>
            </a:r>
            <a:r>
              <a:rPr lang="en-US" altLang="zh-CN" sz="2400" b="1" dirty="0" smtClean="0"/>
              <a:t>0000</a:t>
            </a:r>
            <a:r>
              <a:rPr lang="en-US" altLang="zh-CN" sz="2400" b="1" dirty="0" smtClean="0">
                <a:solidFill>
                  <a:schemeClr val="folHlink"/>
                </a:solidFill>
              </a:rPr>
              <a:t>0</a:t>
            </a:r>
            <a:r>
              <a:rPr lang="en-US" altLang="zh-CN" sz="2400" b="1" dirty="0" smtClean="0"/>
              <a:t>11</a:t>
            </a:r>
            <a:endParaRPr lang="en-US" altLang="zh-CN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9DACC10-E8BF-4498-9606-FAA72D8C00D5}" type="slidenum">
              <a:rPr lang="en-US" altLang="zh-CN" sz="1400" smtClean="0"/>
              <a:pPr eaLnBrk="1" hangingPunct="1"/>
              <a:t>14</a:t>
            </a:fld>
            <a:endParaRPr lang="en-US" altLang="zh-CN" sz="1400" smtClean="0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 smtClean="0"/>
              <a:t>HDB</a:t>
            </a:r>
            <a:r>
              <a:rPr lang="en-US" altLang="zh-CN" sz="5400" baseline="-25000" smtClean="0"/>
              <a:t>3</a:t>
            </a:r>
            <a:r>
              <a:rPr lang="zh-CN" altLang="en-US" sz="5400" smtClean="0"/>
              <a:t>码的译码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449388"/>
            <a:ext cx="9144000" cy="4905375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b="0" dirty="0" smtClean="0"/>
              <a:t>HDB</a:t>
            </a:r>
            <a:r>
              <a:rPr lang="en-US" altLang="zh-CN" b="0" baseline="-25000" dirty="0" smtClean="0"/>
              <a:t>3</a:t>
            </a:r>
            <a:r>
              <a:rPr lang="zh-CN" altLang="en-US" b="0" dirty="0" smtClean="0"/>
              <a:t>码的编码虽然比较复杂，但译码却比较简单。从上述编码规则看出，</a:t>
            </a:r>
            <a:r>
              <a:rPr lang="zh-CN" altLang="en-US" b="0" dirty="0" smtClean="0">
                <a:solidFill>
                  <a:schemeClr val="hlink"/>
                </a:solidFill>
              </a:rPr>
              <a:t>每一个破坏脉冲</a:t>
            </a:r>
            <a:r>
              <a:rPr lang="en-US" altLang="zh-CN" b="0" dirty="0" smtClean="0">
                <a:solidFill>
                  <a:schemeClr val="hlink"/>
                </a:solidFill>
              </a:rPr>
              <a:t>V</a:t>
            </a:r>
            <a:r>
              <a:rPr lang="zh-CN" altLang="en-US" b="0" dirty="0" smtClean="0">
                <a:solidFill>
                  <a:schemeClr val="hlink"/>
                </a:solidFill>
              </a:rPr>
              <a:t>总是与前一非“</a:t>
            </a:r>
            <a:r>
              <a:rPr lang="en-US" altLang="zh-CN" b="0" dirty="0" smtClean="0">
                <a:solidFill>
                  <a:schemeClr val="hlink"/>
                </a:solidFill>
              </a:rPr>
              <a:t>0”</a:t>
            </a:r>
            <a:r>
              <a:rPr lang="zh-CN" altLang="en-US" b="0" dirty="0" smtClean="0">
                <a:solidFill>
                  <a:schemeClr val="hlink"/>
                </a:solidFill>
              </a:rPr>
              <a:t>脉冲</a:t>
            </a:r>
            <a:r>
              <a:rPr lang="zh-CN" altLang="en-US" dirty="0" smtClean="0">
                <a:solidFill>
                  <a:schemeClr val="hlink"/>
                </a:solidFill>
              </a:rPr>
              <a:t>同极性</a:t>
            </a:r>
            <a:r>
              <a:rPr lang="en-US" altLang="zh-CN" b="0" dirty="0" smtClean="0">
                <a:solidFill>
                  <a:schemeClr val="hlink"/>
                </a:solidFill>
              </a:rPr>
              <a:t>(</a:t>
            </a:r>
            <a:r>
              <a:rPr lang="zh-CN" altLang="en-US" b="0" dirty="0" smtClean="0">
                <a:solidFill>
                  <a:schemeClr val="hlink"/>
                </a:solidFill>
              </a:rPr>
              <a:t>包括</a:t>
            </a:r>
            <a:r>
              <a:rPr lang="en-US" altLang="zh-CN" b="0" dirty="0" smtClean="0">
                <a:solidFill>
                  <a:schemeClr val="hlink"/>
                </a:solidFill>
              </a:rPr>
              <a:t>B</a:t>
            </a:r>
            <a:r>
              <a:rPr lang="zh-CN" altLang="en-US" b="0" dirty="0" smtClean="0">
                <a:solidFill>
                  <a:schemeClr val="hlink"/>
                </a:solidFill>
              </a:rPr>
              <a:t>在内</a:t>
            </a:r>
            <a:r>
              <a:rPr lang="en-US" altLang="zh-CN" b="0" dirty="0" smtClean="0">
                <a:solidFill>
                  <a:schemeClr val="hlink"/>
                </a:solidFill>
              </a:rPr>
              <a:t>)</a:t>
            </a:r>
            <a:r>
              <a:rPr lang="zh-CN" altLang="en-US" b="0" dirty="0" smtClean="0"/>
              <a:t>。这就是说，从收到的符号序列中可以容易地找到破坏点</a:t>
            </a:r>
            <a:r>
              <a:rPr lang="en-US" altLang="zh-CN" b="0" dirty="0" smtClean="0"/>
              <a:t>V</a:t>
            </a:r>
            <a:r>
              <a:rPr lang="zh-CN" altLang="en-US" b="0" dirty="0" smtClean="0"/>
              <a:t>（</a:t>
            </a:r>
            <a:r>
              <a:rPr lang="zh-CN" altLang="en-US" b="0" u="sng" dirty="0" smtClean="0"/>
              <a:t>相邻同极性的非零符号的后面一个</a:t>
            </a:r>
            <a:r>
              <a:rPr lang="zh-CN" altLang="en-US" b="0" dirty="0" smtClean="0"/>
              <a:t>），于是也断定</a:t>
            </a:r>
            <a:r>
              <a:rPr lang="en-US" altLang="zh-CN" b="0" dirty="0" smtClean="0"/>
              <a:t>V</a:t>
            </a:r>
            <a:r>
              <a:rPr lang="zh-CN" altLang="en-US" b="0" dirty="0" smtClean="0"/>
              <a:t>符号及其前面的</a:t>
            </a:r>
            <a:r>
              <a:rPr lang="en-US" altLang="zh-CN" b="0" dirty="0" smtClean="0"/>
              <a:t>3</a:t>
            </a:r>
            <a:r>
              <a:rPr lang="zh-CN" altLang="en-US" b="0" dirty="0" smtClean="0"/>
              <a:t>个符号必是连“</a:t>
            </a:r>
            <a:r>
              <a:rPr lang="en-US" altLang="zh-CN" b="0" dirty="0" smtClean="0"/>
              <a:t>0”</a:t>
            </a:r>
            <a:r>
              <a:rPr lang="zh-CN" altLang="en-US" b="0" dirty="0" smtClean="0"/>
              <a:t>符号，从而恢复</a:t>
            </a:r>
            <a:r>
              <a:rPr lang="en-US" altLang="zh-CN" b="0" dirty="0" smtClean="0"/>
              <a:t>4</a:t>
            </a:r>
            <a:r>
              <a:rPr lang="zh-CN" altLang="en-US" b="0" dirty="0" smtClean="0"/>
              <a:t>个连“</a:t>
            </a:r>
            <a:r>
              <a:rPr lang="en-US" altLang="zh-CN" b="0" dirty="0" smtClean="0"/>
              <a:t>0”</a:t>
            </a:r>
            <a:r>
              <a:rPr lang="zh-CN" altLang="en-US" b="0" dirty="0" smtClean="0"/>
              <a:t>码，再将所有</a:t>
            </a:r>
            <a:r>
              <a:rPr lang="en-US" altLang="zh-CN" b="0" dirty="0" smtClean="0"/>
              <a:t>-1</a:t>
            </a:r>
            <a:r>
              <a:rPr lang="zh-CN" altLang="en-US" b="0" dirty="0" smtClean="0"/>
              <a:t>变成</a:t>
            </a:r>
            <a:r>
              <a:rPr lang="en-US" altLang="zh-CN" b="0" dirty="0" smtClean="0"/>
              <a:t>+1</a:t>
            </a:r>
            <a:r>
              <a:rPr lang="zh-CN" altLang="en-US" b="0" dirty="0" smtClean="0"/>
              <a:t>后便得到原消息代码</a:t>
            </a:r>
            <a:endParaRPr lang="en-US" altLang="zh-CN" b="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E67F0C18-FE6B-4A18-98F6-296025FD06BF}" type="slidenum">
              <a:rPr lang="en-US" altLang="zh-CN" sz="1400" smtClean="0"/>
              <a:pPr eaLnBrk="1" hangingPunct="1"/>
              <a:t>15</a:t>
            </a:fld>
            <a:endParaRPr lang="en-US" altLang="zh-CN" sz="1400" smtClean="0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5400" smtClean="0"/>
              <a:t>双相码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1448975"/>
            <a:ext cx="8802687" cy="517538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defRPr/>
            </a:pPr>
            <a:r>
              <a:rPr lang="zh-CN" altLang="en-US" dirty="0" smtClean="0"/>
              <a:t>又称曼彻斯特（</a:t>
            </a:r>
            <a:r>
              <a:rPr lang="en-US" altLang="zh-CN" dirty="0" smtClean="0"/>
              <a:t>Manchester</a:t>
            </a:r>
            <a:r>
              <a:rPr lang="zh-CN" altLang="en-US" dirty="0" smtClean="0"/>
              <a:t>）码</a:t>
            </a:r>
          </a:p>
          <a:p>
            <a:pPr lvl="1">
              <a:lnSpc>
                <a:spcPct val="90000"/>
              </a:lnSpc>
              <a:defRPr/>
            </a:pPr>
            <a:r>
              <a:rPr lang="zh-CN" altLang="en-US" dirty="0" smtClean="0"/>
              <a:t>用一个周期的正负对称方波表示“</a:t>
            </a:r>
            <a:r>
              <a:rPr lang="en-US" altLang="zh-CN" dirty="0" smtClean="0"/>
              <a:t>0”</a:t>
            </a:r>
            <a:r>
              <a:rPr lang="zh-CN" altLang="en-US" dirty="0" smtClean="0"/>
              <a:t>，而用其反相波形表示“</a:t>
            </a:r>
            <a:r>
              <a:rPr lang="en-US" altLang="zh-CN" dirty="0" smtClean="0"/>
              <a:t>1”</a:t>
            </a:r>
            <a:r>
              <a:rPr lang="zh-CN" altLang="en-US" dirty="0" smtClean="0"/>
              <a:t>。 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sz="2000" b="1" dirty="0" smtClean="0">
                <a:solidFill>
                  <a:schemeClr val="accent1">
                    <a:lumMod val="50000"/>
                  </a:schemeClr>
                </a:solidFill>
              </a:rPr>
              <a:t>这里，“</a:t>
            </a:r>
            <a:r>
              <a:rPr lang="en-US" altLang="zh-CN" sz="2000" b="1" dirty="0" smtClean="0">
                <a:solidFill>
                  <a:schemeClr val="accent1">
                    <a:lumMod val="50000"/>
                  </a:schemeClr>
                </a:solidFill>
              </a:rPr>
              <a:t>0”</a:t>
            </a:r>
            <a:r>
              <a:rPr lang="zh-CN" altLang="en-US" sz="2000" b="1" dirty="0" smtClean="0">
                <a:solidFill>
                  <a:schemeClr val="accent1">
                    <a:lumMod val="50000"/>
                  </a:schemeClr>
                </a:solidFill>
              </a:rPr>
              <a:t>码用“</a:t>
            </a:r>
            <a:r>
              <a:rPr lang="en-US" altLang="zh-CN" sz="2000" b="1" dirty="0" smtClean="0">
                <a:solidFill>
                  <a:schemeClr val="accent1">
                    <a:lumMod val="50000"/>
                  </a:schemeClr>
                </a:solidFill>
              </a:rPr>
              <a:t>01”</a:t>
            </a:r>
            <a:r>
              <a:rPr lang="zh-CN" altLang="en-US" sz="2000" b="1" dirty="0" smtClean="0">
                <a:solidFill>
                  <a:schemeClr val="accent1">
                    <a:lumMod val="50000"/>
                  </a:schemeClr>
                </a:solidFill>
              </a:rPr>
              <a:t>两位码表示，“</a:t>
            </a:r>
            <a:r>
              <a:rPr lang="en-US" altLang="zh-CN" sz="2000" b="1" dirty="0" smtClean="0">
                <a:solidFill>
                  <a:schemeClr val="accent1">
                    <a:lumMod val="50000"/>
                  </a:schemeClr>
                </a:solidFill>
              </a:rPr>
              <a:t>1”</a:t>
            </a:r>
            <a:r>
              <a:rPr lang="zh-CN" altLang="en-US" sz="2000" b="1" dirty="0" smtClean="0">
                <a:solidFill>
                  <a:schemeClr val="accent1">
                    <a:lumMod val="50000"/>
                  </a:schemeClr>
                </a:solidFill>
              </a:rPr>
              <a:t>码用“</a:t>
            </a:r>
            <a:r>
              <a:rPr lang="en-US" altLang="zh-CN" sz="2000" b="1" dirty="0" smtClean="0">
                <a:solidFill>
                  <a:schemeClr val="accent1">
                    <a:lumMod val="50000"/>
                  </a:schemeClr>
                </a:solidFill>
              </a:rPr>
              <a:t>10 ”</a:t>
            </a:r>
            <a:r>
              <a:rPr lang="zh-CN" altLang="en-US" sz="2000" b="1" dirty="0" smtClean="0">
                <a:solidFill>
                  <a:schemeClr val="accent1">
                    <a:lumMod val="50000"/>
                  </a:schemeClr>
                </a:solidFill>
              </a:rPr>
              <a:t>两位码表示 </a:t>
            </a:r>
          </a:p>
          <a:p>
            <a:pPr lvl="1">
              <a:lnSpc>
                <a:spcPct val="90000"/>
              </a:lnSpc>
              <a:defRPr/>
            </a:pPr>
            <a:r>
              <a:rPr lang="zh-CN" altLang="en-US" dirty="0" smtClean="0"/>
              <a:t>例：</a:t>
            </a:r>
          </a:p>
          <a:p>
            <a:pPr lvl="3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dirty="0" smtClean="0"/>
              <a:t>		消息码：     </a:t>
            </a:r>
            <a:r>
              <a:rPr lang="en-US" altLang="zh-CN" dirty="0" smtClean="0"/>
              <a:t>1    1   0    0     1   0    1</a:t>
            </a:r>
          </a:p>
          <a:p>
            <a:pPr lvl="3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dirty="0" smtClean="0"/>
              <a:t>		</a:t>
            </a:r>
            <a:r>
              <a:rPr lang="zh-CN" altLang="en-US" dirty="0" smtClean="0"/>
              <a:t>双相码：   </a:t>
            </a:r>
            <a:r>
              <a:rPr lang="en-US" altLang="zh-CN" dirty="0" smtClean="0"/>
              <a:t>10  10  01  01  10  01  10</a:t>
            </a:r>
          </a:p>
          <a:p>
            <a:pPr lvl="1">
              <a:lnSpc>
                <a:spcPct val="90000"/>
              </a:lnSpc>
              <a:defRPr/>
            </a:pPr>
            <a:r>
              <a:rPr lang="zh-CN" altLang="en-US" dirty="0" smtClean="0"/>
              <a:t>优缺点：双相码波形是一种</a:t>
            </a:r>
            <a:r>
              <a:rPr lang="zh-CN" altLang="en-US" dirty="0" smtClean="0">
                <a:solidFill>
                  <a:schemeClr val="hlink"/>
                </a:solidFill>
              </a:rPr>
              <a:t>双极性</a:t>
            </a:r>
            <a:r>
              <a:rPr lang="en-US" altLang="zh-CN" dirty="0" smtClean="0">
                <a:solidFill>
                  <a:schemeClr val="hlink"/>
                </a:solidFill>
              </a:rPr>
              <a:t>NRZ</a:t>
            </a:r>
            <a:r>
              <a:rPr lang="zh-CN" altLang="en-US" dirty="0" smtClean="0">
                <a:solidFill>
                  <a:schemeClr val="hlink"/>
                </a:solidFill>
              </a:rPr>
              <a:t>波形</a:t>
            </a:r>
            <a:r>
              <a:rPr lang="zh-CN" altLang="en-US" dirty="0" smtClean="0"/>
              <a:t>，只有极性相反的两个电平。它在每个码元间隔的中心点都存在电平跳变，所以含有丰富的位定时信息，且没有直流分量，编码过程也简单。</a:t>
            </a:r>
            <a:r>
              <a:rPr lang="zh-CN" altLang="en-US" u="sng" dirty="0" smtClean="0"/>
              <a:t>缺点是占用带宽加倍</a:t>
            </a:r>
            <a:r>
              <a:rPr lang="zh-CN" altLang="en-US" dirty="0" smtClean="0"/>
              <a:t>，使频带利用率降低。</a:t>
            </a:r>
            <a:endParaRPr lang="en-US" altLang="zh-CN" dirty="0" smtClean="0"/>
          </a:p>
          <a:p>
            <a:pPr>
              <a:lnSpc>
                <a:spcPct val="90000"/>
              </a:lnSpc>
              <a:defRPr/>
            </a:pPr>
            <a:r>
              <a:rPr lang="zh-CN" altLang="en-US" dirty="0" smtClean="0"/>
              <a:t>差分双向码用每个码元起始位置是否有跳变来决定</a:t>
            </a:r>
            <a:r>
              <a:rPr lang="en-US" altLang="zh-CN" dirty="0" smtClean="0"/>
              <a:t>0</a:t>
            </a:r>
            <a:r>
              <a:rPr lang="zh-CN" altLang="en-US" dirty="0" smtClean="0"/>
              <a:t>、</a:t>
            </a:r>
            <a:r>
              <a:rPr lang="en-US" altLang="zh-CN" dirty="0" smtClean="0"/>
              <a:t>1</a:t>
            </a:r>
            <a:r>
              <a:rPr lang="zh-CN" altLang="en-US" dirty="0" smtClean="0"/>
              <a:t>，又跳变表示</a:t>
            </a:r>
            <a:r>
              <a:rPr lang="en-US" altLang="zh-CN" dirty="0" smtClean="0"/>
              <a:t>1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1">
              <a:lnSpc>
                <a:spcPct val="90000"/>
              </a:lnSpc>
              <a:defRPr/>
            </a:pPr>
            <a:r>
              <a:rPr lang="zh-CN" altLang="en-US" dirty="0" smtClean="0"/>
              <a:t>上例中采用差分双向码，则</a:t>
            </a:r>
            <a:r>
              <a:rPr lang="en-US" altLang="zh-CN" dirty="0" smtClean="0">
                <a:sym typeface="Wingdings" pitchFamily="2" charset="2"/>
              </a:rPr>
              <a:t>(0) </a:t>
            </a:r>
            <a:r>
              <a:rPr lang="en-US" altLang="zh-CN" dirty="0" smtClean="0"/>
              <a:t>10  10  01  10  10  01  01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070A44BE-B288-456A-B8B6-7BB2C108A4E6}" type="slidenum">
              <a:rPr lang="en-US" altLang="zh-CN" sz="1400" smtClean="0"/>
              <a:pPr eaLnBrk="1" hangingPunct="1"/>
              <a:t>16</a:t>
            </a:fld>
            <a:endParaRPr lang="en-US" altLang="zh-CN" sz="1400" smtClean="0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5400" smtClean="0"/>
              <a:t>密勒码编码规则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5763" y="1179513"/>
            <a:ext cx="8758237" cy="5218112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b="0" dirty="0" smtClean="0"/>
              <a:t>“1”</a:t>
            </a:r>
            <a:r>
              <a:rPr lang="zh-CN" altLang="en-US" b="0" dirty="0" smtClean="0"/>
              <a:t>码用码元中心点出现跃变来表示，即用“</a:t>
            </a:r>
            <a:r>
              <a:rPr lang="en-US" altLang="zh-CN" b="0" dirty="0" smtClean="0"/>
              <a:t>10”</a:t>
            </a:r>
            <a:r>
              <a:rPr lang="zh-CN" altLang="en-US" b="0" dirty="0" smtClean="0"/>
              <a:t>或“</a:t>
            </a:r>
            <a:r>
              <a:rPr lang="en-US" altLang="zh-CN" b="0" dirty="0" smtClean="0"/>
              <a:t>01”</a:t>
            </a:r>
            <a:r>
              <a:rPr lang="zh-CN" altLang="en-US" b="0" dirty="0" smtClean="0"/>
              <a:t>表示。</a:t>
            </a:r>
          </a:p>
          <a:p>
            <a:pPr>
              <a:lnSpc>
                <a:spcPct val="120000"/>
              </a:lnSpc>
            </a:pPr>
            <a:r>
              <a:rPr lang="zh-CN" altLang="en-US" b="0" dirty="0" smtClean="0"/>
              <a:t>“</a:t>
            </a:r>
            <a:r>
              <a:rPr lang="en-US" altLang="zh-CN" b="0" dirty="0" smtClean="0"/>
              <a:t>0”</a:t>
            </a:r>
            <a:r>
              <a:rPr lang="zh-CN" altLang="en-US" b="0" dirty="0" smtClean="0"/>
              <a:t>码有两种情况：</a:t>
            </a:r>
          </a:p>
          <a:p>
            <a:pPr lvl="1">
              <a:lnSpc>
                <a:spcPct val="120000"/>
              </a:lnSpc>
            </a:pPr>
            <a:r>
              <a:rPr lang="zh-CN" altLang="en-US" dirty="0" smtClean="0"/>
              <a:t>单个“</a:t>
            </a:r>
            <a:r>
              <a:rPr lang="en-US" altLang="zh-CN" dirty="0" smtClean="0"/>
              <a:t>0”</a:t>
            </a:r>
            <a:r>
              <a:rPr lang="zh-CN" altLang="en-US" dirty="0" smtClean="0"/>
              <a:t>时，在码元持续时间内不出现电平跃变，且与相邻码元的边界处也不跃变，</a:t>
            </a:r>
          </a:p>
          <a:p>
            <a:pPr lvl="1">
              <a:lnSpc>
                <a:spcPct val="120000"/>
              </a:lnSpc>
            </a:pPr>
            <a:r>
              <a:rPr lang="zh-CN" altLang="en-US" dirty="0" smtClean="0"/>
              <a:t>连“</a:t>
            </a:r>
            <a:r>
              <a:rPr lang="en-US" altLang="zh-CN" dirty="0" smtClean="0"/>
              <a:t>0”</a:t>
            </a:r>
            <a:r>
              <a:rPr lang="zh-CN" altLang="en-US" dirty="0" smtClean="0"/>
              <a:t>时，在两个“</a:t>
            </a:r>
            <a:r>
              <a:rPr lang="en-US" altLang="zh-CN" dirty="0" smtClean="0"/>
              <a:t>0”</a:t>
            </a:r>
            <a:r>
              <a:rPr lang="zh-CN" altLang="en-US" dirty="0" smtClean="0"/>
              <a:t>码的边界处出现电平跃变，</a:t>
            </a:r>
            <a:r>
              <a:rPr lang="zh-CN" altLang="en-US" u="sng" dirty="0" smtClean="0"/>
              <a:t>即“</a:t>
            </a:r>
            <a:r>
              <a:rPr lang="en-US" altLang="zh-CN" u="sng" dirty="0" smtClean="0"/>
              <a:t>00”</a:t>
            </a:r>
            <a:r>
              <a:rPr lang="zh-CN" altLang="en-US" u="sng" dirty="0" smtClean="0"/>
              <a:t>与“</a:t>
            </a:r>
            <a:r>
              <a:rPr lang="en-US" altLang="zh-CN" u="sng" dirty="0" smtClean="0"/>
              <a:t>11”</a:t>
            </a:r>
            <a:r>
              <a:rPr lang="zh-CN" altLang="en-US" u="sng" dirty="0" smtClean="0"/>
              <a:t>交替</a:t>
            </a:r>
            <a:r>
              <a:rPr lang="zh-CN" altLang="en-US" dirty="0" smtClean="0"/>
              <a:t>。</a:t>
            </a:r>
          </a:p>
          <a:p>
            <a:pPr lvl="1">
              <a:lnSpc>
                <a:spcPct val="120000"/>
              </a:lnSpc>
            </a:pPr>
            <a:endParaRPr lang="zh-CN" altLang="en-US" sz="1800" dirty="0" smtClean="0"/>
          </a:p>
          <a:p>
            <a:pPr lvl="1">
              <a:lnSpc>
                <a:spcPct val="120000"/>
              </a:lnSpc>
            </a:pPr>
            <a:r>
              <a:rPr lang="zh-CN" altLang="en-US" dirty="0" smtClean="0"/>
              <a:t>通俗讲，密勒码的原则是</a:t>
            </a:r>
            <a:r>
              <a:rPr lang="zh-CN" altLang="en-US" b="1" dirty="0" smtClean="0">
                <a:solidFill>
                  <a:schemeClr val="hlink"/>
                </a:solidFill>
              </a:rPr>
              <a:t>除非连</a:t>
            </a:r>
            <a:r>
              <a:rPr lang="en-US" altLang="zh-CN" b="1" dirty="0" smtClean="0">
                <a:solidFill>
                  <a:schemeClr val="hlink"/>
                </a:solidFill>
              </a:rPr>
              <a:t>0</a:t>
            </a:r>
            <a:r>
              <a:rPr lang="zh-CN" altLang="en-US" b="1" dirty="0" smtClean="0">
                <a:solidFill>
                  <a:schemeClr val="hlink"/>
                </a:solidFill>
              </a:rPr>
              <a:t>，否则少跳变</a:t>
            </a:r>
            <a:r>
              <a:rPr lang="zh-CN" altLang="en-US" dirty="0" smtClean="0"/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618F6273-9F9C-44F4-82C8-90BDC27F694E}" type="slidenum">
              <a:rPr lang="en-US" altLang="zh-CN" sz="1400" smtClean="0"/>
              <a:pPr eaLnBrk="1" hangingPunct="1"/>
              <a:t>17</a:t>
            </a:fld>
            <a:endParaRPr lang="en-US" altLang="zh-CN" sz="1400" smtClean="0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5400" smtClean="0"/>
              <a:t>密勒码实例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179513"/>
            <a:ext cx="8532812" cy="20701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400" b="0" smtClean="0"/>
              <a:t>图</a:t>
            </a:r>
            <a:r>
              <a:rPr lang="en-US" altLang="zh-CN" sz="2400" b="0" smtClean="0"/>
              <a:t>(a)</a:t>
            </a:r>
            <a:r>
              <a:rPr lang="zh-CN" altLang="en-US" sz="2400" b="0" smtClean="0"/>
              <a:t>是双相码的波形；</a:t>
            </a:r>
          </a:p>
          <a:p>
            <a:pPr>
              <a:lnSpc>
                <a:spcPct val="120000"/>
              </a:lnSpc>
            </a:pPr>
            <a:r>
              <a:rPr lang="zh-CN" altLang="en-US" sz="2400" b="0" smtClean="0"/>
              <a:t>图</a:t>
            </a:r>
            <a:r>
              <a:rPr lang="en-US" altLang="zh-CN" sz="2400" b="0" smtClean="0"/>
              <a:t>(b)</a:t>
            </a:r>
            <a:r>
              <a:rPr lang="zh-CN" altLang="en-US" sz="2400" b="0" smtClean="0"/>
              <a:t>是密勒码的波形；若两个“</a:t>
            </a:r>
            <a:r>
              <a:rPr lang="en-US" altLang="zh-CN" sz="2400" b="0" smtClean="0"/>
              <a:t>1”</a:t>
            </a:r>
            <a:r>
              <a:rPr lang="zh-CN" altLang="en-US" sz="2400" b="0" smtClean="0"/>
              <a:t>码中间有一个“</a:t>
            </a:r>
            <a:r>
              <a:rPr lang="en-US" altLang="zh-CN" sz="2400" b="0" smtClean="0"/>
              <a:t>0”</a:t>
            </a:r>
            <a:r>
              <a:rPr lang="zh-CN" altLang="en-US" sz="2400" b="0" smtClean="0"/>
              <a:t>码时，密勒码流中出现最大宽度为</a:t>
            </a:r>
            <a:r>
              <a:rPr lang="en-US" altLang="zh-CN" sz="2400" b="0" smtClean="0"/>
              <a:t>2</a:t>
            </a:r>
            <a:r>
              <a:rPr lang="en-US" altLang="zh-CN" sz="2400" b="0" i="1" smtClean="0"/>
              <a:t>T</a:t>
            </a:r>
            <a:r>
              <a:rPr lang="en-US" altLang="zh-CN" sz="2400" b="0" i="1" baseline="-25000" smtClean="0"/>
              <a:t>s</a:t>
            </a:r>
            <a:r>
              <a:rPr lang="zh-CN" altLang="en-US" sz="2400" b="0" smtClean="0"/>
              <a:t>的波形，即两个码元周期。这一性质可用来进行宏观检错。</a:t>
            </a:r>
          </a:p>
        </p:txBody>
      </p:sp>
      <p:graphicFrame>
        <p:nvGraphicFramePr>
          <p:cNvPr id="18437" name="Object 2"/>
          <p:cNvGraphicFramePr>
            <a:graphicFrameLocks noChangeAspect="1"/>
          </p:cNvGraphicFramePr>
          <p:nvPr/>
        </p:nvGraphicFramePr>
        <p:xfrm>
          <a:off x="1016000" y="3159125"/>
          <a:ext cx="6977063" cy="327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7" r:id="rId3" imgW="3490265" imgH="3322930" progId="Visio.Drawing.11">
                  <p:embed/>
                </p:oleObj>
              </mc:Choice>
              <mc:Fallback>
                <p:oleObj r:id="rId3" imgW="3490265" imgH="3322930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1608" b="35551"/>
                      <a:stretch>
                        <a:fillRect/>
                      </a:stretch>
                    </p:blipFill>
                    <p:spPr bwMode="auto">
                      <a:xfrm>
                        <a:off x="1016000" y="3159125"/>
                        <a:ext cx="6977063" cy="3275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8" name="Line 6"/>
          <p:cNvSpPr>
            <a:spLocks noChangeShapeType="1"/>
          </p:cNvSpPr>
          <p:nvPr/>
        </p:nvSpPr>
        <p:spPr bwMode="auto">
          <a:xfrm>
            <a:off x="2771775" y="3381375"/>
            <a:ext cx="1588" cy="3476625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39" name="Line 7"/>
          <p:cNvSpPr>
            <a:spLocks noChangeShapeType="1"/>
          </p:cNvSpPr>
          <p:nvPr/>
        </p:nvSpPr>
        <p:spPr bwMode="auto">
          <a:xfrm>
            <a:off x="3536950" y="3381375"/>
            <a:ext cx="1588" cy="3476625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40" name="Line 8"/>
          <p:cNvSpPr>
            <a:spLocks noChangeShapeType="1"/>
          </p:cNvSpPr>
          <p:nvPr/>
        </p:nvSpPr>
        <p:spPr bwMode="auto">
          <a:xfrm>
            <a:off x="4211638" y="3381375"/>
            <a:ext cx="1587" cy="3476625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41" name="Line 9"/>
          <p:cNvSpPr>
            <a:spLocks noChangeShapeType="1"/>
          </p:cNvSpPr>
          <p:nvPr/>
        </p:nvSpPr>
        <p:spPr bwMode="auto">
          <a:xfrm>
            <a:off x="4932363" y="3381375"/>
            <a:ext cx="1587" cy="3476625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42" name="Line 10"/>
          <p:cNvSpPr>
            <a:spLocks noChangeShapeType="1"/>
          </p:cNvSpPr>
          <p:nvPr/>
        </p:nvSpPr>
        <p:spPr bwMode="auto">
          <a:xfrm>
            <a:off x="5697538" y="3381375"/>
            <a:ext cx="1587" cy="3476625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43" name="Line 11"/>
          <p:cNvSpPr>
            <a:spLocks noChangeShapeType="1"/>
          </p:cNvSpPr>
          <p:nvPr/>
        </p:nvSpPr>
        <p:spPr bwMode="auto">
          <a:xfrm>
            <a:off x="6416675" y="3381375"/>
            <a:ext cx="1588" cy="3476625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806E092C-4BDC-4C83-81B4-CB9466227127}" type="slidenum">
              <a:rPr lang="en-US" altLang="zh-CN" sz="1400" smtClean="0"/>
              <a:pPr eaLnBrk="1" hangingPunct="1"/>
              <a:t>18</a:t>
            </a:fld>
            <a:endParaRPr lang="en-US" altLang="zh-CN" sz="1400" smtClean="0"/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 smtClean="0"/>
              <a:t>CMI</a:t>
            </a:r>
            <a:r>
              <a:rPr lang="zh-CN" altLang="en-US" sz="5400" smtClean="0"/>
              <a:t>码</a:t>
            </a:r>
          </a:p>
        </p:txBody>
      </p:sp>
      <p:sp>
        <p:nvSpPr>
          <p:cNvPr id="205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6863" y="1449388"/>
            <a:ext cx="8847137" cy="5040312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zh-CN" altLang="en-US" sz="2400" b="0" dirty="0" smtClean="0"/>
              <a:t>编码规则：“</a:t>
            </a:r>
            <a:r>
              <a:rPr lang="en-US" altLang="zh-CN" sz="2400" dirty="0" smtClean="0">
                <a:solidFill>
                  <a:schemeClr val="accent1">
                    <a:lumMod val="50000"/>
                  </a:schemeClr>
                </a:solidFill>
              </a:rPr>
              <a:t>1”</a:t>
            </a:r>
            <a:r>
              <a:rPr lang="zh-CN" altLang="en-US" sz="2400" dirty="0" smtClean="0">
                <a:solidFill>
                  <a:schemeClr val="accent1">
                    <a:lumMod val="50000"/>
                  </a:schemeClr>
                </a:solidFill>
              </a:rPr>
              <a:t>码交替用“</a:t>
            </a:r>
            <a:r>
              <a:rPr lang="en-US" altLang="zh-CN" sz="2400" dirty="0" smtClean="0">
                <a:solidFill>
                  <a:schemeClr val="accent1">
                    <a:lumMod val="50000"/>
                  </a:schemeClr>
                </a:solidFill>
              </a:rPr>
              <a:t>1 1”</a:t>
            </a:r>
            <a:r>
              <a:rPr lang="zh-CN" altLang="en-US" sz="2400" dirty="0" smtClean="0">
                <a:solidFill>
                  <a:schemeClr val="accent1">
                    <a:lumMod val="50000"/>
                  </a:schemeClr>
                </a:solidFill>
              </a:rPr>
              <a:t>和“</a:t>
            </a:r>
            <a:r>
              <a:rPr lang="en-US" altLang="zh-CN" sz="2400" dirty="0" smtClean="0">
                <a:solidFill>
                  <a:schemeClr val="accent1">
                    <a:lumMod val="50000"/>
                  </a:schemeClr>
                </a:solidFill>
              </a:rPr>
              <a:t>0 0”</a:t>
            </a:r>
            <a:r>
              <a:rPr lang="zh-CN" altLang="en-US" sz="2400" dirty="0" smtClean="0">
                <a:solidFill>
                  <a:schemeClr val="accent1">
                    <a:lumMod val="50000"/>
                  </a:schemeClr>
                </a:solidFill>
              </a:rPr>
              <a:t>两位码表示；“</a:t>
            </a:r>
            <a:r>
              <a:rPr lang="en-US" altLang="zh-CN" sz="2400" dirty="0" smtClean="0">
                <a:solidFill>
                  <a:schemeClr val="accent1">
                    <a:lumMod val="50000"/>
                  </a:schemeClr>
                </a:solidFill>
              </a:rPr>
              <a:t>0”</a:t>
            </a:r>
            <a:r>
              <a:rPr lang="zh-CN" altLang="en-US" sz="2400" dirty="0" smtClean="0">
                <a:solidFill>
                  <a:schemeClr val="accent1">
                    <a:lumMod val="50000"/>
                  </a:schemeClr>
                </a:solidFill>
              </a:rPr>
              <a:t>码固定地用“</a:t>
            </a:r>
            <a:r>
              <a:rPr lang="en-US" altLang="zh-CN" sz="2400" dirty="0" smtClean="0">
                <a:solidFill>
                  <a:schemeClr val="accent1">
                    <a:lumMod val="50000"/>
                  </a:schemeClr>
                </a:solidFill>
              </a:rPr>
              <a:t>01”</a:t>
            </a:r>
            <a:r>
              <a:rPr lang="zh-CN" altLang="en-US" sz="2400" dirty="0" smtClean="0">
                <a:solidFill>
                  <a:schemeClr val="accent1">
                    <a:lumMod val="50000"/>
                  </a:schemeClr>
                </a:solidFill>
              </a:rPr>
              <a:t>表示</a:t>
            </a:r>
            <a:r>
              <a:rPr lang="zh-CN" altLang="en-US" sz="2400" b="0" dirty="0" smtClean="0"/>
              <a:t>。图</a:t>
            </a:r>
            <a:r>
              <a:rPr lang="en-US" altLang="zh-CN" sz="2400" b="0" dirty="0" smtClean="0"/>
              <a:t>(c)</a:t>
            </a:r>
          </a:p>
          <a:p>
            <a:pPr lvl="3">
              <a:lnSpc>
                <a:spcPct val="90000"/>
              </a:lnSpc>
              <a:defRPr/>
            </a:pPr>
            <a:endParaRPr lang="en-US" altLang="zh-CN" sz="2400" dirty="0" smtClean="0"/>
          </a:p>
          <a:p>
            <a:pPr lvl="3">
              <a:lnSpc>
                <a:spcPct val="90000"/>
              </a:lnSpc>
              <a:defRPr/>
            </a:pPr>
            <a:endParaRPr lang="en-US" altLang="zh-CN" sz="2400" dirty="0" smtClean="0"/>
          </a:p>
          <a:p>
            <a:pPr lvl="3">
              <a:lnSpc>
                <a:spcPct val="90000"/>
              </a:lnSpc>
              <a:defRPr/>
            </a:pPr>
            <a:endParaRPr lang="en-US" altLang="zh-CN" sz="2400" dirty="0" smtClean="0"/>
          </a:p>
          <a:p>
            <a:pPr lvl="3">
              <a:lnSpc>
                <a:spcPct val="90000"/>
              </a:lnSpc>
              <a:defRPr/>
            </a:pPr>
            <a:endParaRPr lang="en-US" altLang="zh-CN" sz="2400" dirty="0" smtClean="0"/>
          </a:p>
          <a:p>
            <a:pPr lvl="3">
              <a:lnSpc>
                <a:spcPct val="90000"/>
              </a:lnSpc>
              <a:defRPr/>
            </a:pPr>
            <a:endParaRPr lang="en-US" altLang="zh-CN" sz="2400" dirty="0" smtClean="0"/>
          </a:p>
          <a:p>
            <a:pPr lvl="3">
              <a:lnSpc>
                <a:spcPct val="90000"/>
              </a:lnSpc>
              <a:defRPr/>
            </a:pPr>
            <a:endParaRPr lang="en-US" altLang="zh-CN" sz="2400" dirty="0" smtClean="0"/>
          </a:p>
          <a:p>
            <a:pPr lvl="3">
              <a:lnSpc>
                <a:spcPct val="90000"/>
              </a:lnSpc>
              <a:defRPr/>
            </a:pPr>
            <a:endParaRPr lang="en-US" altLang="zh-CN" sz="2400" dirty="0" smtClean="0"/>
          </a:p>
          <a:p>
            <a:pPr lvl="3">
              <a:lnSpc>
                <a:spcPct val="90000"/>
              </a:lnSpc>
              <a:defRPr/>
            </a:pPr>
            <a:endParaRPr lang="en-US" altLang="zh-CN" sz="2400" dirty="0" smtClean="0"/>
          </a:p>
          <a:p>
            <a:pPr>
              <a:lnSpc>
                <a:spcPct val="110000"/>
              </a:lnSpc>
              <a:defRPr/>
            </a:pPr>
            <a:r>
              <a:rPr lang="en-US" altLang="zh-CN" sz="2400" b="0" dirty="0" smtClean="0"/>
              <a:t>CMI</a:t>
            </a:r>
            <a:r>
              <a:rPr lang="zh-CN" altLang="en-US" sz="2400" b="0" dirty="0" smtClean="0"/>
              <a:t>码易于实现，含有丰富的定时信息。此外，由于</a:t>
            </a:r>
            <a:r>
              <a:rPr lang="en-US" altLang="zh-CN" sz="2400" b="0" dirty="0" smtClean="0"/>
              <a:t>10</a:t>
            </a:r>
            <a:r>
              <a:rPr lang="zh-CN" altLang="en-US" sz="2400" b="0" dirty="0" smtClean="0"/>
              <a:t>为禁用码组，不会出现</a:t>
            </a:r>
            <a:r>
              <a:rPr lang="en-US" altLang="zh-CN" sz="2400" b="0" dirty="0" smtClean="0"/>
              <a:t>3</a:t>
            </a:r>
            <a:r>
              <a:rPr lang="zh-CN" altLang="en-US" sz="2400" b="0" dirty="0" smtClean="0"/>
              <a:t>个以上的连码，这个规律可用来宏观检错。</a:t>
            </a:r>
            <a:r>
              <a:rPr lang="zh-CN" altLang="en-US" sz="2800" dirty="0" smtClean="0"/>
              <a:t> </a:t>
            </a:r>
          </a:p>
        </p:txBody>
      </p:sp>
      <p:sp>
        <p:nvSpPr>
          <p:cNvPr id="19461" name="Rectangle 4"/>
          <p:cNvSpPr>
            <a:spLocks noChangeArrowheads="1"/>
          </p:cNvSpPr>
          <p:nvPr/>
        </p:nvSpPr>
        <p:spPr bwMode="auto">
          <a:xfrm>
            <a:off x="0" y="21050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9462" name="Object 2"/>
          <p:cNvGraphicFramePr>
            <a:graphicFrameLocks noChangeAspect="1"/>
          </p:cNvGraphicFramePr>
          <p:nvPr/>
        </p:nvGraphicFramePr>
        <p:xfrm>
          <a:off x="1962150" y="2078038"/>
          <a:ext cx="5265738" cy="3421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2" r:id="rId3" imgW="3490265" imgH="3322930" progId="Visio.Drawing.11">
                  <p:embed/>
                </p:oleObj>
              </mc:Choice>
              <mc:Fallback>
                <p:oleObj r:id="rId3" imgW="3490265" imgH="3322930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2150" y="2078038"/>
                        <a:ext cx="5265738" cy="3421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3" name="Line 6"/>
          <p:cNvSpPr>
            <a:spLocks noChangeShapeType="1"/>
          </p:cNvSpPr>
          <p:nvPr/>
        </p:nvSpPr>
        <p:spPr bwMode="auto">
          <a:xfrm>
            <a:off x="3265488" y="2079625"/>
            <a:ext cx="1587" cy="3476625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4" name="Line 7"/>
          <p:cNvSpPr>
            <a:spLocks noChangeShapeType="1"/>
          </p:cNvSpPr>
          <p:nvPr/>
        </p:nvSpPr>
        <p:spPr bwMode="auto">
          <a:xfrm>
            <a:off x="3806825" y="2079625"/>
            <a:ext cx="1588" cy="3476625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5" name="Line 8"/>
          <p:cNvSpPr>
            <a:spLocks noChangeShapeType="1"/>
          </p:cNvSpPr>
          <p:nvPr/>
        </p:nvSpPr>
        <p:spPr bwMode="auto">
          <a:xfrm>
            <a:off x="4346575" y="2079625"/>
            <a:ext cx="1588" cy="3476625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6" name="Line 9"/>
          <p:cNvSpPr>
            <a:spLocks noChangeShapeType="1"/>
          </p:cNvSpPr>
          <p:nvPr/>
        </p:nvSpPr>
        <p:spPr bwMode="auto">
          <a:xfrm>
            <a:off x="4886325" y="2079625"/>
            <a:ext cx="1588" cy="3476625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7" name="Line 10"/>
          <p:cNvSpPr>
            <a:spLocks noChangeShapeType="1"/>
          </p:cNvSpPr>
          <p:nvPr/>
        </p:nvSpPr>
        <p:spPr bwMode="auto">
          <a:xfrm>
            <a:off x="5427663" y="2079625"/>
            <a:ext cx="1587" cy="3476625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8" name="Line 11"/>
          <p:cNvSpPr>
            <a:spLocks noChangeShapeType="1"/>
          </p:cNvSpPr>
          <p:nvPr/>
        </p:nvSpPr>
        <p:spPr bwMode="auto">
          <a:xfrm>
            <a:off x="5967413" y="2079625"/>
            <a:ext cx="1587" cy="3476625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376697A0-AB36-4BD1-B101-96F8EE0AE2C5}" type="slidenum">
              <a:rPr lang="en-US" altLang="zh-CN" sz="1400" smtClean="0"/>
              <a:pPr eaLnBrk="1" hangingPunct="1"/>
              <a:t>19</a:t>
            </a:fld>
            <a:endParaRPr lang="en-US" altLang="zh-CN" sz="1400" smtClean="0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5400" smtClean="0"/>
              <a:t>Q &amp; A</a:t>
            </a:r>
            <a:endParaRPr lang="fr-FR" altLang="zh-CN" sz="5400" smtClean="0"/>
          </a:p>
        </p:txBody>
      </p:sp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2">
            <a:lum bright="10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2057400"/>
            <a:ext cx="3505200" cy="271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F381E1A4-27DC-4EB6-89B0-C485F3C37D2A}" type="slidenum">
              <a:rPr lang="en-US" altLang="zh-CN" sz="1400" smtClean="0"/>
              <a:pPr eaLnBrk="1" hangingPunct="1"/>
              <a:t>20</a:t>
            </a:fld>
            <a:endParaRPr lang="en-US" altLang="zh-CN" sz="1400" smtClean="0"/>
          </a:p>
        </p:txBody>
      </p:sp>
      <p:sp>
        <p:nvSpPr>
          <p:cNvPr id="21507" name="Rectangle 4"/>
          <p:cNvSpPr>
            <a:spLocks noGrp="1" noChangeArrowheads="1"/>
          </p:cNvSpPr>
          <p:nvPr>
            <p:ph type="ctrTitle"/>
          </p:nvPr>
        </p:nvSpPr>
        <p:spPr>
          <a:xfrm>
            <a:off x="760413" y="1719263"/>
            <a:ext cx="7772400" cy="1935162"/>
          </a:xfrm>
        </p:spPr>
        <p:txBody>
          <a:bodyPr/>
          <a:lstStyle/>
          <a:p>
            <a:r>
              <a:rPr lang="zh-CN" altLang="en-US" sz="6600" smtClean="0"/>
              <a:t>数字基带系统中的码间串扰</a:t>
            </a:r>
          </a:p>
        </p:txBody>
      </p:sp>
      <p:sp>
        <p:nvSpPr>
          <p:cNvPr id="21508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146175" y="3886200"/>
            <a:ext cx="6800850" cy="17526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mtClean="0"/>
              <a:t>计算机与信息学院</a:t>
            </a:r>
          </a:p>
          <a:p>
            <a:pPr>
              <a:lnSpc>
                <a:spcPct val="80000"/>
              </a:lnSpc>
            </a:pPr>
            <a:r>
              <a:rPr lang="zh-CN" altLang="en-US" smtClean="0"/>
              <a:t>王禄生</a:t>
            </a:r>
          </a:p>
          <a:p>
            <a:pPr>
              <a:lnSpc>
                <a:spcPct val="80000"/>
              </a:lnSpc>
            </a:pPr>
            <a:r>
              <a:rPr lang="en-US" altLang="zh-CN" smtClean="0"/>
              <a:t>WANGLUSHENG@HFUT.EDU.CN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E7A6956C-8F00-4605-A3ED-3B8FB1F35BF2}" type="slidenum">
              <a:rPr lang="en-US" altLang="zh-CN" sz="1400" smtClean="0"/>
              <a:pPr eaLnBrk="1" hangingPunct="1"/>
              <a:t>21</a:t>
            </a:fld>
            <a:endParaRPr lang="en-US" altLang="zh-CN" sz="1400" smtClean="0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5400" smtClean="0"/>
              <a:t>数字基带信号传输系统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6375" y="1268413"/>
            <a:ext cx="8763000" cy="369093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400" smtClean="0"/>
              <a:t>信道信号形成器（发送滤波器）</a:t>
            </a:r>
            <a:r>
              <a:rPr lang="zh-CN" altLang="en-US" sz="2400" b="0" smtClean="0"/>
              <a:t>：把传输码变换成适宜于信道传输的基带信号波形</a:t>
            </a:r>
          </a:p>
          <a:p>
            <a:pPr>
              <a:lnSpc>
                <a:spcPct val="90000"/>
              </a:lnSpc>
            </a:pPr>
            <a:r>
              <a:rPr lang="zh-CN" altLang="en-US" sz="2400" smtClean="0"/>
              <a:t>信道</a:t>
            </a:r>
            <a:r>
              <a:rPr lang="zh-CN" altLang="en-US" sz="2400" b="0" smtClean="0"/>
              <a:t>：信道的传输特性一般不满足无失真传输条件，因此会引起传输波形的失真。另外信道还会引入噪声</a:t>
            </a:r>
            <a:r>
              <a:rPr lang="en-US" altLang="zh-CN" sz="2400" b="0" i="1" smtClean="0"/>
              <a:t>n</a:t>
            </a:r>
            <a:r>
              <a:rPr lang="en-US" altLang="zh-CN" sz="2400" b="0" smtClean="0"/>
              <a:t>(</a:t>
            </a:r>
            <a:r>
              <a:rPr lang="en-US" altLang="zh-CN" sz="2400" b="0" i="1" smtClean="0"/>
              <a:t>t</a:t>
            </a:r>
            <a:r>
              <a:rPr lang="en-US" altLang="zh-CN" sz="2400" b="0" smtClean="0"/>
              <a:t>)</a:t>
            </a:r>
            <a:r>
              <a:rPr lang="zh-CN" altLang="en-US" sz="2400" b="0" smtClean="0"/>
              <a:t>，并假设它是均值为零的高斯白噪声</a:t>
            </a:r>
          </a:p>
          <a:p>
            <a:pPr>
              <a:lnSpc>
                <a:spcPct val="90000"/>
              </a:lnSpc>
            </a:pPr>
            <a:r>
              <a:rPr lang="zh-CN" altLang="en-US" sz="2400" smtClean="0"/>
              <a:t>接收滤波器</a:t>
            </a:r>
            <a:r>
              <a:rPr lang="zh-CN" altLang="en-US" sz="2400" b="0" smtClean="0"/>
              <a:t>： 用来接收信号，滤除信道噪声和其他干扰，使输出的基带波形有利于抽样判决</a:t>
            </a:r>
          </a:p>
          <a:p>
            <a:pPr>
              <a:lnSpc>
                <a:spcPct val="90000"/>
              </a:lnSpc>
            </a:pPr>
            <a:r>
              <a:rPr lang="zh-CN" altLang="en-US" sz="2400" smtClean="0"/>
              <a:t>抽样判决器</a:t>
            </a:r>
            <a:r>
              <a:rPr lang="zh-CN" altLang="en-US" sz="2400" b="0" smtClean="0"/>
              <a:t>：对接收滤波器的输出波形进行抽样判决，以恢复或再生基带信号</a:t>
            </a:r>
          </a:p>
          <a:p>
            <a:pPr>
              <a:lnSpc>
                <a:spcPct val="90000"/>
              </a:lnSpc>
            </a:pPr>
            <a:r>
              <a:rPr lang="zh-CN" altLang="en-US" sz="2400" smtClean="0"/>
              <a:t>同步提取</a:t>
            </a:r>
            <a:r>
              <a:rPr lang="zh-CN" altLang="en-US" sz="2400" b="0" smtClean="0"/>
              <a:t>：用同步提取电路从接收信号中提取定时脉冲</a:t>
            </a:r>
          </a:p>
        </p:txBody>
      </p:sp>
      <p:graphicFrame>
        <p:nvGraphicFramePr>
          <p:cNvPr id="22533" name="Object 2"/>
          <p:cNvGraphicFramePr>
            <a:graphicFrameLocks noChangeAspect="1"/>
          </p:cNvGraphicFramePr>
          <p:nvPr/>
        </p:nvGraphicFramePr>
        <p:xfrm>
          <a:off x="206375" y="4959350"/>
          <a:ext cx="8712200" cy="180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7" r:id="rId3" imgW="3159862" imgH="873862" progId="Visio.Drawing.11">
                  <p:embed/>
                </p:oleObj>
              </mc:Choice>
              <mc:Fallback>
                <p:oleObj r:id="rId3" imgW="3159862" imgH="873862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4930" t="17558" r="3099" b="16489"/>
                      <a:stretch>
                        <a:fillRect/>
                      </a:stretch>
                    </p:blipFill>
                    <p:spPr bwMode="auto">
                      <a:xfrm>
                        <a:off x="206375" y="4959350"/>
                        <a:ext cx="8712200" cy="180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CA9E78C7-BD36-4906-BC61-9C90E014B085}" type="slidenum">
              <a:rPr lang="en-US" altLang="zh-CN" sz="1400" smtClean="0"/>
              <a:pPr eaLnBrk="1" hangingPunct="1"/>
              <a:t>22</a:t>
            </a:fld>
            <a:endParaRPr lang="en-US" altLang="zh-CN" sz="1400" smtClean="0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5400" smtClean="0"/>
              <a:t>基带系统各点波形示意图</a:t>
            </a:r>
          </a:p>
        </p:txBody>
      </p:sp>
      <p:graphicFrame>
        <p:nvGraphicFramePr>
          <p:cNvPr id="23556" name="Object 2"/>
          <p:cNvGraphicFramePr>
            <a:graphicFrameLocks noChangeAspect="1"/>
          </p:cNvGraphicFramePr>
          <p:nvPr/>
        </p:nvGraphicFramePr>
        <p:xfrm>
          <a:off x="881063" y="1403350"/>
          <a:ext cx="6391275" cy="5094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0" r:id="rId3" imgW="2623414" imgH="2743200" progId="Visio.Drawing.11">
                  <p:embed/>
                </p:oleObj>
              </mc:Choice>
              <mc:Fallback>
                <p:oleObj r:id="rId3" imgW="2623414" imgH="2743200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2344" r="5315"/>
                      <a:stretch>
                        <a:fillRect/>
                      </a:stretch>
                    </p:blipFill>
                    <p:spPr bwMode="auto">
                      <a:xfrm>
                        <a:off x="881063" y="1403350"/>
                        <a:ext cx="6391275" cy="5094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7" name="AutoShape 6"/>
          <p:cNvSpPr>
            <a:spLocks noChangeArrowheads="1"/>
          </p:cNvSpPr>
          <p:nvPr/>
        </p:nvSpPr>
        <p:spPr bwMode="auto">
          <a:xfrm>
            <a:off x="7407275" y="1223963"/>
            <a:ext cx="1350963" cy="404812"/>
          </a:xfrm>
          <a:prstGeom prst="wedgeRoundRectCallout">
            <a:avLst>
              <a:gd name="adj1" fmla="val -128611"/>
              <a:gd name="adj2" fmla="val 85296"/>
              <a:gd name="adj3" fmla="val 16667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1800"/>
              <a:t>输入信号 </a:t>
            </a:r>
          </a:p>
        </p:txBody>
      </p:sp>
      <p:sp>
        <p:nvSpPr>
          <p:cNvPr id="23558" name="AutoShape 7"/>
          <p:cNvSpPr>
            <a:spLocks noChangeArrowheads="1"/>
          </p:cNvSpPr>
          <p:nvPr/>
        </p:nvSpPr>
        <p:spPr bwMode="auto">
          <a:xfrm>
            <a:off x="7362825" y="1898650"/>
            <a:ext cx="1484313" cy="404813"/>
          </a:xfrm>
          <a:prstGeom prst="wedgeRoundRectCallout">
            <a:avLst>
              <a:gd name="adj1" fmla="val -140269"/>
              <a:gd name="adj2" fmla="val 55097"/>
              <a:gd name="adj3" fmla="val 16667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1800"/>
              <a:t>码型变换后 </a:t>
            </a:r>
          </a:p>
        </p:txBody>
      </p:sp>
      <p:sp>
        <p:nvSpPr>
          <p:cNvPr id="23559" name="AutoShape 8"/>
          <p:cNvSpPr>
            <a:spLocks noChangeArrowheads="1"/>
          </p:cNvSpPr>
          <p:nvPr/>
        </p:nvSpPr>
        <p:spPr bwMode="auto">
          <a:xfrm>
            <a:off x="7407275" y="2663825"/>
            <a:ext cx="1484313" cy="404813"/>
          </a:xfrm>
          <a:prstGeom prst="wedgeRoundRectCallout">
            <a:avLst>
              <a:gd name="adj1" fmla="val -118449"/>
              <a:gd name="adj2" fmla="val 70394"/>
              <a:gd name="adj3" fmla="val 16667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1800"/>
              <a:t>传输的波形 </a:t>
            </a:r>
          </a:p>
        </p:txBody>
      </p:sp>
      <p:sp>
        <p:nvSpPr>
          <p:cNvPr id="23560" name="AutoShape 9"/>
          <p:cNvSpPr>
            <a:spLocks noChangeArrowheads="1"/>
          </p:cNvSpPr>
          <p:nvPr/>
        </p:nvSpPr>
        <p:spPr bwMode="auto">
          <a:xfrm>
            <a:off x="7362825" y="3473450"/>
            <a:ext cx="1484313" cy="404813"/>
          </a:xfrm>
          <a:prstGeom prst="wedgeRoundRectCallout">
            <a:avLst>
              <a:gd name="adj1" fmla="val -93745"/>
              <a:gd name="adj2" fmla="val 55491"/>
              <a:gd name="adj3" fmla="val 16667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1800" b="1">
                <a:solidFill>
                  <a:srgbClr val="FF0000"/>
                </a:solidFill>
              </a:rPr>
              <a:t>信道输出 </a:t>
            </a:r>
          </a:p>
        </p:txBody>
      </p:sp>
      <p:sp>
        <p:nvSpPr>
          <p:cNvPr id="23561" name="AutoShape 10"/>
          <p:cNvSpPr>
            <a:spLocks noChangeArrowheads="1"/>
          </p:cNvSpPr>
          <p:nvPr/>
        </p:nvSpPr>
        <p:spPr bwMode="auto">
          <a:xfrm>
            <a:off x="7046913" y="4284663"/>
            <a:ext cx="1781175" cy="404812"/>
          </a:xfrm>
          <a:prstGeom prst="wedgeRoundRectCallout">
            <a:avLst>
              <a:gd name="adj1" fmla="val -73264"/>
              <a:gd name="adj2" fmla="val 66472"/>
              <a:gd name="adj3" fmla="val 16667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1800"/>
              <a:t>接收滤波输出 </a:t>
            </a:r>
          </a:p>
        </p:txBody>
      </p:sp>
      <p:sp>
        <p:nvSpPr>
          <p:cNvPr id="23562" name="AutoShape 11"/>
          <p:cNvSpPr>
            <a:spLocks noChangeArrowheads="1"/>
          </p:cNvSpPr>
          <p:nvPr/>
        </p:nvSpPr>
        <p:spPr bwMode="auto">
          <a:xfrm>
            <a:off x="7362825" y="5003800"/>
            <a:ext cx="1484313" cy="404813"/>
          </a:xfrm>
          <a:prstGeom prst="wedgeRoundRectCallout">
            <a:avLst>
              <a:gd name="adj1" fmla="val -136204"/>
              <a:gd name="adj2" fmla="val 35491"/>
              <a:gd name="adj3" fmla="val 16667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1800"/>
              <a:t>位定时脉冲</a:t>
            </a:r>
          </a:p>
        </p:txBody>
      </p:sp>
      <p:sp>
        <p:nvSpPr>
          <p:cNvPr id="23563" name="AutoShape 12"/>
          <p:cNvSpPr>
            <a:spLocks noChangeArrowheads="1"/>
          </p:cNvSpPr>
          <p:nvPr/>
        </p:nvSpPr>
        <p:spPr bwMode="auto">
          <a:xfrm>
            <a:off x="7407275" y="5543550"/>
            <a:ext cx="1484313" cy="404813"/>
          </a:xfrm>
          <a:prstGeom prst="wedgeRoundRectCallout">
            <a:avLst>
              <a:gd name="adj1" fmla="val -234815"/>
              <a:gd name="adj2" fmla="val 55884"/>
              <a:gd name="adj3" fmla="val 16667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1800"/>
              <a:t>恢复的信息 </a:t>
            </a:r>
          </a:p>
        </p:txBody>
      </p:sp>
      <p:grpSp>
        <p:nvGrpSpPr>
          <p:cNvPr id="23564" name="Group 13"/>
          <p:cNvGrpSpPr>
            <a:grpSpLocks/>
          </p:cNvGrpSpPr>
          <p:nvPr/>
        </p:nvGrpSpPr>
        <p:grpSpPr bwMode="auto">
          <a:xfrm>
            <a:off x="6011863" y="6129338"/>
            <a:ext cx="2566987" cy="449262"/>
            <a:chOff x="3787" y="3861"/>
            <a:chExt cx="1617" cy="283"/>
          </a:xfrm>
        </p:grpSpPr>
        <p:sp>
          <p:nvSpPr>
            <p:cNvPr id="23565" name="Rectangle 14"/>
            <p:cNvSpPr>
              <a:spLocks noChangeArrowheads="1"/>
            </p:cNvSpPr>
            <p:nvPr/>
          </p:nvSpPr>
          <p:spPr bwMode="auto">
            <a:xfrm>
              <a:off x="3787" y="3861"/>
              <a:ext cx="397" cy="198"/>
            </a:xfrm>
            <a:prstGeom prst="rect">
              <a:avLst/>
            </a:prstGeom>
            <a:noFill/>
            <a:ln w="3810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fr-FR" altLang="zh-CN" sz="1800">
                <a:solidFill>
                  <a:schemeClr val="hlink"/>
                </a:solidFill>
              </a:endParaRPr>
            </a:p>
          </p:txBody>
        </p:sp>
        <p:sp>
          <p:nvSpPr>
            <p:cNvPr id="23566" name="AutoShape 15"/>
            <p:cNvSpPr>
              <a:spLocks noChangeArrowheads="1"/>
            </p:cNvSpPr>
            <p:nvPr/>
          </p:nvSpPr>
          <p:spPr bwMode="auto">
            <a:xfrm>
              <a:off x="4553" y="3889"/>
              <a:ext cx="851" cy="255"/>
            </a:xfrm>
            <a:prstGeom prst="wedgeRoundRectCallout">
              <a:avLst>
                <a:gd name="adj1" fmla="val -95944"/>
                <a:gd name="adj2" fmla="val -21370"/>
                <a:gd name="adj3" fmla="val 16667"/>
              </a:avLst>
            </a:prstGeom>
            <a:solidFill>
              <a:schemeClr val="accent2"/>
            </a:solidFill>
            <a:ln w="38100">
              <a:solidFill>
                <a:schemeClr val="hlink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zh-CN" altLang="en-US" sz="1800"/>
                <a:t>错误码元 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A599F58B-446E-4B14-9EAB-DA3A13EC9160}" type="slidenum">
              <a:rPr lang="en-US" altLang="zh-CN" sz="1400" smtClean="0"/>
              <a:pPr eaLnBrk="1" hangingPunct="1"/>
              <a:t>23</a:t>
            </a:fld>
            <a:endParaRPr lang="en-US" altLang="zh-CN" sz="1400" smtClean="0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5400" smtClean="0"/>
              <a:t>码间串扰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1179514"/>
            <a:ext cx="8802687" cy="4094691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zh-CN" altLang="en-US" dirty="0" smtClean="0"/>
              <a:t>码间串扰原因</a:t>
            </a:r>
            <a:endParaRPr lang="en-US" altLang="zh-CN" dirty="0" smtClean="0"/>
          </a:p>
          <a:p>
            <a:pPr lvl="1">
              <a:lnSpc>
                <a:spcPct val="120000"/>
              </a:lnSpc>
            </a:pPr>
            <a:r>
              <a:rPr lang="zh-CN" altLang="en-US" dirty="0" smtClean="0"/>
              <a:t>系统传输总特性不理想，导致码元的波形畸变并使前面波形出现很长的拖尾，从而对当前码元的判决造成干扰 </a:t>
            </a:r>
            <a:endParaRPr lang="en-US" altLang="zh-CN" dirty="0" smtClean="0"/>
          </a:p>
          <a:p>
            <a:pPr lvl="1">
              <a:lnSpc>
                <a:spcPct val="120000"/>
              </a:lnSpc>
            </a:pPr>
            <a:r>
              <a:rPr lang="zh-CN" altLang="en-US" dirty="0" smtClean="0"/>
              <a:t>时域为矩形，频域为</a:t>
            </a:r>
            <a:r>
              <a:rPr lang="en-US" altLang="zh-CN" dirty="0" err="1" smtClean="0"/>
              <a:t>Sinc</a:t>
            </a:r>
            <a:r>
              <a:rPr lang="zh-CN" altLang="en-US" dirty="0" smtClean="0"/>
              <a:t>函数；频域为矩形，时域为</a:t>
            </a:r>
            <a:r>
              <a:rPr lang="en-US" altLang="zh-CN" dirty="0" err="1" smtClean="0"/>
              <a:t>Sinc</a:t>
            </a:r>
            <a:r>
              <a:rPr lang="zh-CN" altLang="en-US" dirty="0" smtClean="0"/>
              <a:t>函数</a:t>
            </a:r>
          </a:p>
          <a:p>
            <a:pPr>
              <a:lnSpc>
                <a:spcPct val="120000"/>
              </a:lnSpc>
            </a:pPr>
            <a:r>
              <a:rPr lang="zh-CN" altLang="en-US" dirty="0" smtClean="0"/>
              <a:t>码间串扰严重时，会造成错误判决</a:t>
            </a:r>
            <a:endParaRPr lang="en-US" altLang="zh-CN" dirty="0" smtClean="0"/>
          </a:p>
          <a:p>
            <a:pPr>
              <a:lnSpc>
                <a:spcPct val="120000"/>
              </a:lnSpc>
            </a:pPr>
            <a:r>
              <a:rPr lang="zh-CN" altLang="en-US" i="1" dirty="0" smtClean="0"/>
              <a:t>如水波的消散</a:t>
            </a:r>
          </a:p>
        </p:txBody>
      </p:sp>
      <p:graphicFrame>
        <p:nvGraphicFramePr>
          <p:cNvPr id="24581" name="Object 2"/>
          <p:cNvGraphicFramePr>
            <a:graphicFrameLocks noChangeAspect="1"/>
          </p:cNvGraphicFramePr>
          <p:nvPr/>
        </p:nvGraphicFramePr>
        <p:xfrm>
          <a:off x="3402013" y="4689475"/>
          <a:ext cx="5221287" cy="171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5" r:id="rId3" imgW="1429207" imgH="464515" progId="Visio.Drawing.11">
                  <p:embed/>
                </p:oleObj>
              </mc:Choice>
              <mc:Fallback>
                <p:oleObj r:id="rId3" imgW="1429207" imgH="464515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2013" y="4689475"/>
                        <a:ext cx="5221287" cy="171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B3804E53-36F2-4880-B864-0F76B27FAAF7}" type="slidenum">
              <a:rPr lang="en-US" altLang="zh-CN" sz="1400" smtClean="0"/>
              <a:pPr eaLnBrk="1" hangingPunct="1"/>
              <a:t>24</a:t>
            </a:fld>
            <a:endParaRPr lang="en-US" altLang="zh-CN" sz="1400" smtClean="0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5400" dirty="0" smtClean="0"/>
              <a:t>码间串扰分析（自选）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76250" y="1179513"/>
            <a:ext cx="8667750" cy="5678487"/>
          </a:xfrm>
        </p:spPr>
        <p:txBody>
          <a:bodyPr/>
          <a:lstStyle/>
          <a:p>
            <a:pPr lvl="1"/>
            <a:endParaRPr lang="en-US" altLang="zh-CN" sz="2400" smtClean="0"/>
          </a:p>
          <a:p>
            <a:pPr lvl="2"/>
            <a:endParaRPr lang="en-US" altLang="zh-CN" sz="2200" smtClean="0"/>
          </a:p>
          <a:p>
            <a:pPr lvl="2"/>
            <a:endParaRPr lang="en-US" altLang="zh-CN" sz="2200" smtClean="0"/>
          </a:p>
          <a:p>
            <a:pPr lvl="2"/>
            <a:endParaRPr lang="en-US" altLang="zh-CN" sz="2200" smtClean="0"/>
          </a:p>
          <a:p>
            <a:pPr lvl="2"/>
            <a:endParaRPr lang="en-US" altLang="zh-CN" sz="2200" smtClean="0"/>
          </a:p>
          <a:p>
            <a:pPr lvl="2"/>
            <a:endParaRPr lang="en-US" altLang="zh-CN" sz="2200" smtClean="0"/>
          </a:p>
          <a:p>
            <a:pPr lvl="2">
              <a:buFont typeface="Wingdings" pitchFamily="2" charset="2"/>
              <a:buNone/>
            </a:pPr>
            <a:r>
              <a:rPr lang="en-US" altLang="zh-CN" sz="2200" smtClean="0"/>
              <a:t>	</a:t>
            </a:r>
          </a:p>
          <a:p>
            <a:pPr lvl="2">
              <a:buFont typeface="Wingdings" pitchFamily="2" charset="2"/>
              <a:buNone/>
            </a:pPr>
            <a:r>
              <a:rPr lang="zh-CN" altLang="en-US" sz="2200" smtClean="0"/>
              <a:t>假设：</a:t>
            </a:r>
            <a:r>
              <a:rPr lang="en-US" altLang="zh-CN" sz="2200" smtClean="0"/>
              <a:t>{</a:t>
            </a:r>
            <a:r>
              <a:rPr lang="en-US" altLang="zh-CN" sz="2200" i="1" smtClean="0"/>
              <a:t>a</a:t>
            </a:r>
            <a:r>
              <a:rPr lang="en-US" altLang="zh-CN" sz="2200" i="1" baseline="-25000" smtClean="0"/>
              <a:t>n</a:t>
            </a:r>
            <a:r>
              <a:rPr lang="en-US" altLang="zh-CN" sz="2200" smtClean="0"/>
              <a:t>} </a:t>
            </a:r>
            <a:r>
              <a:rPr lang="zh-CN" altLang="en-US" sz="2200" smtClean="0"/>
              <a:t>－ 发送滤波器的输入符号序列，</a:t>
            </a:r>
          </a:p>
          <a:p>
            <a:pPr lvl="2">
              <a:buFont typeface="Wingdings" pitchFamily="2" charset="2"/>
              <a:buNone/>
            </a:pPr>
            <a:r>
              <a:rPr lang="zh-CN" altLang="en-US" sz="2000" smtClean="0"/>
              <a:t>取值为</a:t>
            </a:r>
            <a:r>
              <a:rPr lang="en-US" altLang="zh-CN" sz="2000" smtClean="0"/>
              <a:t>0</a:t>
            </a:r>
            <a:r>
              <a:rPr lang="zh-CN" altLang="en-US" sz="2000" smtClean="0"/>
              <a:t>、</a:t>
            </a:r>
            <a:r>
              <a:rPr lang="en-US" altLang="zh-CN" sz="2000" smtClean="0"/>
              <a:t>1</a:t>
            </a:r>
            <a:r>
              <a:rPr lang="zh-CN" altLang="en-US" sz="2000" smtClean="0"/>
              <a:t>或 </a:t>
            </a:r>
            <a:r>
              <a:rPr lang="en-US" altLang="zh-CN" sz="2000" b="1" smtClean="0">
                <a:solidFill>
                  <a:schemeClr val="hlink"/>
                </a:solidFill>
              </a:rPr>
              <a:t>-1</a:t>
            </a:r>
            <a:r>
              <a:rPr lang="zh-CN" altLang="en-US" sz="2000" b="1" smtClean="0">
                <a:solidFill>
                  <a:schemeClr val="hlink"/>
                </a:solidFill>
              </a:rPr>
              <a:t>、</a:t>
            </a:r>
            <a:r>
              <a:rPr lang="en-US" altLang="zh-CN" sz="2000" b="1" smtClean="0">
                <a:solidFill>
                  <a:schemeClr val="hlink"/>
                </a:solidFill>
              </a:rPr>
              <a:t>+1</a:t>
            </a:r>
            <a:r>
              <a:rPr lang="zh-CN" altLang="en-US" sz="2000" smtClean="0"/>
              <a:t>。 </a:t>
            </a:r>
            <a:endParaRPr lang="zh-CN" altLang="en-US" sz="2200" smtClean="0"/>
          </a:p>
          <a:p>
            <a:pPr lvl="2">
              <a:buFont typeface="Wingdings" pitchFamily="2" charset="2"/>
              <a:buNone/>
            </a:pPr>
            <a:endParaRPr lang="zh-CN" altLang="en-US" sz="2200" smtClean="0"/>
          </a:p>
          <a:p>
            <a:pPr lvl="2">
              <a:buFont typeface="Wingdings" pitchFamily="2" charset="2"/>
              <a:buNone/>
            </a:pPr>
            <a:r>
              <a:rPr lang="en-US" altLang="zh-CN" sz="2200" i="1" smtClean="0"/>
              <a:t>d </a:t>
            </a:r>
            <a:r>
              <a:rPr lang="en-US" altLang="zh-CN" sz="2200" smtClean="0"/>
              <a:t>(</a:t>
            </a:r>
            <a:r>
              <a:rPr lang="en-US" altLang="zh-CN" sz="2200" i="1" smtClean="0"/>
              <a:t>t</a:t>
            </a:r>
            <a:r>
              <a:rPr lang="en-US" altLang="zh-CN" sz="2200" smtClean="0"/>
              <a:t>)  </a:t>
            </a:r>
            <a:r>
              <a:rPr lang="zh-CN" altLang="en-US" sz="2200" smtClean="0"/>
              <a:t>－ </a:t>
            </a:r>
            <a:r>
              <a:rPr lang="zh-CN" altLang="en-US" sz="2000" smtClean="0"/>
              <a:t>对应的基带信号</a:t>
            </a:r>
          </a:p>
        </p:txBody>
      </p:sp>
      <p:sp>
        <p:nvSpPr>
          <p:cNvPr id="25605" name="Rectangle 7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5606" name="Object 2"/>
          <p:cNvGraphicFramePr>
            <a:graphicFrameLocks noChangeAspect="1"/>
          </p:cNvGraphicFramePr>
          <p:nvPr/>
        </p:nvGraphicFramePr>
        <p:xfrm>
          <a:off x="4603750" y="4824413"/>
          <a:ext cx="3579813" cy="1109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31" name="公式" r:id="rId3" imgW="1384300" imgH="431800" progId="Equation.3">
                  <p:embed/>
                </p:oleObj>
              </mc:Choice>
              <mc:Fallback>
                <p:oleObj name="公式" r:id="rId3" imgW="1384300" imgH="431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3750" y="4824413"/>
                        <a:ext cx="3579813" cy="1109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5607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08163"/>
            <a:ext cx="9144000" cy="176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BE9CB980-E539-4530-8911-9A21EF1B90C4}" type="slidenum">
              <a:rPr lang="en-US" altLang="zh-CN" sz="1400" smtClean="0"/>
              <a:pPr eaLnBrk="1" hangingPunct="1"/>
              <a:t>25</a:t>
            </a:fld>
            <a:endParaRPr lang="en-US" altLang="zh-CN" sz="1400" smtClean="0"/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5400" dirty="0" smtClean="0"/>
              <a:t>码间串扰分析（自选）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5763" y="1179513"/>
            <a:ext cx="8758237" cy="5678487"/>
          </a:xfrm>
        </p:spPr>
        <p:txBody>
          <a:bodyPr/>
          <a:lstStyle/>
          <a:p>
            <a:pPr lvl="2"/>
            <a:r>
              <a:rPr lang="zh-CN" altLang="en-US" smtClean="0"/>
              <a:t>发送滤波器输出</a:t>
            </a:r>
          </a:p>
          <a:p>
            <a:pPr lvl="3">
              <a:buFont typeface="Wingdings" pitchFamily="2" charset="2"/>
              <a:buNone/>
            </a:pPr>
            <a:endParaRPr lang="zh-CN" altLang="en-US" smtClean="0"/>
          </a:p>
          <a:p>
            <a:pPr lvl="3">
              <a:buFont typeface="Wingdings" pitchFamily="2" charset="2"/>
              <a:buNone/>
            </a:pPr>
            <a:endParaRPr lang="zh-CN" altLang="en-US" smtClean="0"/>
          </a:p>
          <a:p>
            <a:pPr lvl="3">
              <a:buFont typeface="Wingdings" pitchFamily="2" charset="2"/>
              <a:buNone/>
            </a:pPr>
            <a:r>
              <a:rPr lang="zh-CN" altLang="en-US" smtClean="0"/>
              <a:t>式中  </a:t>
            </a:r>
            <a:r>
              <a:rPr lang="en-US" altLang="zh-CN" i="1" smtClean="0"/>
              <a:t>g</a:t>
            </a:r>
            <a:r>
              <a:rPr lang="en-US" altLang="zh-CN" baseline="-25000" smtClean="0"/>
              <a:t>T</a:t>
            </a:r>
            <a:r>
              <a:rPr lang="en-US" altLang="zh-CN" smtClean="0"/>
              <a:t> (</a:t>
            </a:r>
            <a:r>
              <a:rPr lang="en-US" altLang="zh-CN" i="1" smtClean="0"/>
              <a:t>t</a:t>
            </a:r>
            <a:r>
              <a:rPr lang="en-US" altLang="zh-CN" smtClean="0"/>
              <a:t>) </a:t>
            </a:r>
            <a:r>
              <a:rPr lang="zh-CN" altLang="en-US" smtClean="0"/>
              <a:t>－ 发送滤波器的冲激响应 </a:t>
            </a:r>
          </a:p>
          <a:p>
            <a:pPr lvl="3">
              <a:lnSpc>
                <a:spcPct val="130000"/>
              </a:lnSpc>
              <a:buFont typeface="Wingdings" pitchFamily="2" charset="2"/>
              <a:buNone/>
            </a:pPr>
            <a:r>
              <a:rPr lang="zh-CN" altLang="en-US" smtClean="0"/>
              <a:t>       设发送滤波器的传输特性为</a:t>
            </a:r>
            <a:r>
              <a:rPr lang="en-US" altLang="zh-CN" i="1" smtClean="0"/>
              <a:t>G</a:t>
            </a:r>
            <a:r>
              <a:rPr lang="en-US" altLang="zh-CN" baseline="-25000" smtClean="0"/>
              <a:t>T</a:t>
            </a:r>
            <a:r>
              <a:rPr lang="en-US" altLang="zh-CN" smtClean="0"/>
              <a:t> (</a:t>
            </a:r>
            <a:r>
              <a:rPr lang="en-US" altLang="zh-CN" i="1" smtClean="0">
                <a:sym typeface="Symbol" pitchFamily="18" charset="2"/>
              </a:rPr>
              <a:t></a:t>
            </a:r>
            <a:r>
              <a:rPr lang="en-US" altLang="zh-CN" smtClean="0"/>
              <a:t>) </a:t>
            </a:r>
            <a:r>
              <a:rPr lang="zh-CN" altLang="en-US" smtClean="0"/>
              <a:t>，则有</a:t>
            </a:r>
          </a:p>
          <a:p>
            <a:pPr lvl="3">
              <a:lnSpc>
                <a:spcPct val="130000"/>
              </a:lnSpc>
              <a:buFont typeface="Wingdings" pitchFamily="2" charset="2"/>
              <a:buNone/>
            </a:pPr>
            <a:endParaRPr lang="zh-CN" altLang="en-US" smtClean="0"/>
          </a:p>
          <a:p>
            <a:pPr lvl="2">
              <a:lnSpc>
                <a:spcPct val="130000"/>
              </a:lnSpc>
            </a:pPr>
            <a:r>
              <a:rPr lang="zh-CN" altLang="en-US" b="1" smtClean="0"/>
              <a:t>总传输特性</a:t>
            </a:r>
          </a:p>
          <a:p>
            <a:pPr lvl="3">
              <a:lnSpc>
                <a:spcPct val="130000"/>
              </a:lnSpc>
              <a:buFont typeface="Wingdings" pitchFamily="2" charset="2"/>
              <a:buNone/>
            </a:pPr>
            <a:r>
              <a:rPr lang="zh-CN" altLang="en-US" smtClean="0"/>
              <a:t>	    再设信道的传输特性为</a:t>
            </a:r>
            <a:r>
              <a:rPr lang="en-US" altLang="zh-CN" smtClean="0"/>
              <a:t>C(</a:t>
            </a:r>
            <a:r>
              <a:rPr lang="en-US" altLang="zh-CN" i="1" smtClean="0">
                <a:sym typeface="Symbol" pitchFamily="18" charset="2"/>
              </a:rPr>
              <a:t></a:t>
            </a:r>
            <a:r>
              <a:rPr lang="en-US" altLang="zh-CN" smtClean="0"/>
              <a:t>)</a:t>
            </a:r>
            <a:r>
              <a:rPr lang="zh-CN" altLang="en-US" smtClean="0"/>
              <a:t>，接收滤波器的传输特性为</a:t>
            </a:r>
            <a:r>
              <a:rPr lang="en-US" altLang="zh-CN" i="1" smtClean="0"/>
              <a:t>G</a:t>
            </a:r>
            <a:r>
              <a:rPr lang="en-US" altLang="zh-CN" baseline="-25000" smtClean="0"/>
              <a:t>R</a:t>
            </a:r>
            <a:r>
              <a:rPr lang="en-US" altLang="zh-CN" smtClean="0"/>
              <a:t> (</a:t>
            </a:r>
            <a:r>
              <a:rPr lang="en-US" altLang="zh-CN" i="1" smtClean="0">
                <a:sym typeface="Symbol" pitchFamily="18" charset="2"/>
              </a:rPr>
              <a:t></a:t>
            </a:r>
            <a:r>
              <a:rPr lang="en-US" altLang="zh-CN" smtClean="0"/>
              <a:t>) </a:t>
            </a:r>
            <a:r>
              <a:rPr lang="zh-CN" altLang="en-US" smtClean="0"/>
              <a:t>，则基带传输系统的总传输特性为</a:t>
            </a:r>
          </a:p>
          <a:p>
            <a:pPr lvl="3">
              <a:lnSpc>
                <a:spcPct val="130000"/>
              </a:lnSpc>
              <a:buFont typeface="Wingdings" pitchFamily="2" charset="2"/>
              <a:buNone/>
            </a:pPr>
            <a:endParaRPr lang="zh-CN" altLang="en-US" smtClean="0"/>
          </a:p>
          <a:p>
            <a:pPr lvl="3">
              <a:lnSpc>
                <a:spcPct val="130000"/>
              </a:lnSpc>
              <a:buFont typeface="Wingdings" pitchFamily="2" charset="2"/>
              <a:buNone/>
            </a:pPr>
            <a:r>
              <a:rPr lang="zh-CN" altLang="en-US" smtClean="0"/>
              <a:t>	其单位冲激响应为</a:t>
            </a:r>
          </a:p>
        </p:txBody>
      </p:sp>
      <p:sp>
        <p:nvSpPr>
          <p:cNvPr id="2662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6630" name="Object 2"/>
          <p:cNvGraphicFramePr>
            <a:graphicFrameLocks noChangeAspect="1"/>
          </p:cNvGraphicFramePr>
          <p:nvPr/>
        </p:nvGraphicFramePr>
        <p:xfrm>
          <a:off x="2501900" y="1538288"/>
          <a:ext cx="450056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29" name="公式" r:id="rId3" imgW="2336800" imgH="431800" progId="Equation.3">
                  <p:embed/>
                </p:oleObj>
              </mc:Choice>
              <mc:Fallback>
                <p:oleObj name="公式" r:id="rId3" imgW="2336800" imgH="431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1900" y="1538288"/>
                        <a:ext cx="4500563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1" name="Rectangle 6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6632" name="Object 3"/>
          <p:cNvGraphicFramePr>
            <a:graphicFrameLocks noChangeAspect="1"/>
          </p:cNvGraphicFramePr>
          <p:nvPr/>
        </p:nvGraphicFramePr>
        <p:xfrm>
          <a:off x="2997200" y="3338513"/>
          <a:ext cx="3195638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30" name="公式" r:id="rId5" imgW="1765300" imgH="393700" progId="Equation.3">
                  <p:embed/>
                </p:oleObj>
              </mc:Choice>
              <mc:Fallback>
                <p:oleObj name="公式" r:id="rId5" imgW="1765300" imgH="3937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7200" y="3338513"/>
                        <a:ext cx="3195638" cy="70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3" name="Rectangle 8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6634" name="Object 4"/>
          <p:cNvGraphicFramePr>
            <a:graphicFrameLocks noChangeAspect="1"/>
          </p:cNvGraphicFramePr>
          <p:nvPr/>
        </p:nvGraphicFramePr>
        <p:xfrm>
          <a:off x="3492500" y="5273675"/>
          <a:ext cx="349885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31" name="公式" r:id="rId7" imgW="1701800" imgH="215900" progId="Equation.3">
                  <p:embed/>
                </p:oleObj>
              </mc:Choice>
              <mc:Fallback>
                <p:oleObj name="公式" r:id="rId7" imgW="1701800" imgH="2159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5273675"/>
                        <a:ext cx="3498850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5" name="Rectangle 10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6636" name="Object 5"/>
          <p:cNvGraphicFramePr>
            <a:graphicFrameLocks noChangeAspect="1"/>
          </p:cNvGraphicFramePr>
          <p:nvPr/>
        </p:nvGraphicFramePr>
        <p:xfrm>
          <a:off x="4572000" y="5724525"/>
          <a:ext cx="3195638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32" name="公式" r:id="rId9" imgW="1612900" imgH="393700" progId="Equation.3">
                  <p:embed/>
                </p:oleObj>
              </mc:Choice>
              <mc:Fallback>
                <p:oleObj name="公式" r:id="rId9" imgW="1612900" imgH="3937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5724525"/>
                        <a:ext cx="3195638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66A28E9D-4288-4B71-AF61-425A23B1292C}" type="slidenum">
              <a:rPr lang="en-US" altLang="zh-CN" sz="1400" smtClean="0"/>
              <a:pPr eaLnBrk="1" hangingPunct="1"/>
              <a:t>26</a:t>
            </a:fld>
            <a:endParaRPr lang="en-US" altLang="zh-CN" sz="1400" smtClean="0"/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5400" dirty="0" smtClean="0"/>
              <a:t>码间串扰分析（自选）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2288" y="1268413"/>
            <a:ext cx="8621712" cy="55895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400" smtClean="0"/>
              <a:t>接收滤波器输出信号</a:t>
            </a:r>
          </a:p>
          <a:p>
            <a:pPr lvl="3">
              <a:lnSpc>
                <a:spcPct val="90000"/>
              </a:lnSpc>
              <a:buFont typeface="Wingdings" pitchFamily="2" charset="2"/>
              <a:buNone/>
            </a:pPr>
            <a:endParaRPr lang="zh-CN" altLang="en-US" sz="1800" b="1" smtClean="0"/>
          </a:p>
          <a:p>
            <a:pPr lvl="3">
              <a:lnSpc>
                <a:spcPct val="90000"/>
              </a:lnSpc>
              <a:buFont typeface="Wingdings" pitchFamily="2" charset="2"/>
              <a:buNone/>
            </a:pPr>
            <a:endParaRPr lang="zh-CN" altLang="en-US" sz="1800" smtClean="0"/>
          </a:p>
          <a:p>
            <a:pPr lvl="3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1800" smtClean="0"/>
              <a:t>式中，</a:t>
            </a:r>
            <a:r>
              <a:rPr lang="en-US" altLang="zh-CN" sz="1800" i="1" smtClean="0"/>
              <a:t>n</a:t>
            </a:r>
            <a:r>
              <a:rPr lang="en-US" altLang="zh-CN" sz="1800" baseline="-25000" smtClean="0"/>
              <a:t>R</a:t>
            </a:r>
            <a:r>
              <a:rPr lang="en-US" altLang="zh-CN" sz="1800" smtClean="0"/>
              <a:t>(</a:t>
            </a:r>
            <a:r>
              <a:rPr lang="en-US" altLang="zh-CN" sz="1800" i="1" smtClean="0"/>
              <a:t>t</a:t>
            </a:r>
            <a:r>
              <a:rPr lang="en-US" altLang="zh-CN" sz="1800" smtClean="0"/>
              <a:t>)</a:t>
            </a:r>
            <a:r>
              <a:rPr lang="zh-CN" altLang="en-US" sz="1800" smtClean="0"/>
              <a:t>是加性噪声</a:t>
            </a:r>
            <a:r>
              <a:rPr lang="en-US" altLang="zh-CN" sz="1800" i="1" smtClean="0"/>
              <a:t>n</a:t>
            </a:r>
            <a:r>
              <a:rPr lang="en-US" altLang="zh-CN" sz="1800" smtClean="0"/>
              <a:t>(</a:t>
            </a:r>
            <a:r>
              <a:rPr lang="en-US" altLang="zh-CN" sz="1800" i="1" smtClean="0"/>
              <a:t>t</a:t>
            </a:r>
            <a:r>
              <a:rPr lang="en-US" altLang="zh-CN" sz="1800" smtClean="0"/>
              <a:t>)</a:t>
            </a:r>
            <a:r>
              <a:rPr lang="zh-CN" altLang="en-US" sz="1800" smtClean="0"/>
              <a:t>经过接收滤波器后输出的噪声。 </a:t>
            </a:r>
          </a:p>
          <a:p>
            <a:pPr>
              <a:lnSpc>
                <a:spcPct val="120000"/>
              </a:lnSpc>
            </a:pPr>
            <a:r>
              <a:rPr lang="zh-CN" altLang="en-US" sz="2400" smtClean="0"/>
              <a:t>抽样判决</a:t>
            </a:r>
            <a:r>
              <a:rPr lang="zh-CN" altLang="en-US" sz="2400" b="0" smtClean="0"/>
              <a:t>：抽样判决器对</a:t>
            </a:r>
            <a:r>
              <a:rPr lang="en-US" altLang="zh-CN" sz="2400" b="0" i="1" smtClean="0"/>
              <a:t>r</a:t>
            </a:r>
            <a:r>
              <a:rPr lang="en-US" altLang="zh-CN" sz="2400" b="0" smtClean="0"/>
              <a:t>(</a:t>
            </a:r>
            <a:r>
              <a:rPr lang="en-US" altLang="zh-CN" sz="2400" b="0" i="1" smtClean="0"/>
              <a:t>t</a:t>
            </a:r>
            <a:r>
              <a:rPr lang="en-US" altLang="zh-CN" sz="2400" b="0" smtClean="0"/>
              <a:t>)</a:t>
            </a:r>
            <a:r>
              <a:rPr lang="zh-CN" altLang="en-US" sz="2400" b="0" smtClean="0"/>
              <a:t>进行抽样判决</a:t>
            </a:r>
          </a:p>
          <a:p>
            <a:pPr lvl="1">
              <a:lnSpc>
                <a:spcPct val="120000"/>
              </a:lnSpc>
            </a:pPr>
            <a:r>
              <a:rPr lang="zh-CN" altLang="en-US" sz="2000" smtClean="0"/>
              <a:t>以确定第</a:t>
            </a:r>
            <a:r>
              <a:rPr lang="en-US" altLang="zh-CN" sz="2000" i="1" smtClean="0"/>
              <a:t>k</a:t>
            </a:r>
            <a:r>
              <a:rPr lang="zh-CN" altLang="en-US" sz="2000" smtClean="0"/>
              <a:t>个码元 </a:t>
            </a:r>
            <a:r>
              <a:rPr lang="en-US" altLang="zh-CN" sz="2000" i="1" smtClean="0"/>
              <a:t>a</a:t>
            </a:r>
            <a:r>
              <a:rPr lang="en-US" altLang="zh-CN" sz="2000" i="1" baseline="-25000" smtClean="0"/>
              <a:t>k</a:t>
            </a:r>
            <a:r>
              <a:rPr lang="en-US" altLang="zh-CN" sz="2000" smtClean="0"/>
              <a:t> </a:t>
            </a:r>
            <a:r>
              <a:rPr lang="zh-CN" altLang="en-US" sz="2000" smtClean="0"/>
              <a:t>的取值为例：在</a:t>
            </a:r>
            <a:r>
              <a:rPr lang="en-US" altLang="zh-CN" sz="2000" i="1" smtClean="0"/>
              <a:t>t</a:t>
            </a:r>
            <a:r>
              <a:rPr lang="en-US" altLang="zh-CN" sz="2000" smtClean="0"/>
              <a:t> = </a:t>
            </a:r>
            <a:r>
              <a:rPr lang="en-US" altLang="zh-CN" sz="2000" i="1" smtClean="0"/>
              <a:t>kT</a:t>
            </a:r>
            <a:r>
              <a:rPr lang="en-US" altLang="zh-CN" sz="2000" baseline="-25000" smtClean="0"/>
              <a:t>s</a:t>
            </a:r>
            <a:r>
              <a:rPr lang="en-US" altLang="zh-CN" sz="2000" smtClean="0"/>
              <a:t> + </a:t>
            </a:r>
            <a:r>
              <a:rPr lang="en-US" altLang="zh-CN" sz="2000" i="1" smtClean="0"/>
              <a:t>t</a:t>
            </a:r>
            <a:r>
              <a:rPr lang="en-US" altLang="zh-CN" sz="2000" baseline="-25000" smtClean="0"/>
              <a:t>0</a:t>
            </a:r>
            <a:r>
              <a:rPr lang="en-US" altLang="zh-CN" sz="2000" smtClean="0"/>
              <a:t> </a:t>
            </a:r>
            <a:r>
              <a:rPr lang="zh-CN" altLang="en-US" sz="2000" smtClean="0"/>
              <a:t>时刻上对</a:t>
            </a:r>
            <a:r>
              <a:rPr lang="en-US" altLang="zh-CN" sz="2000" i="1" smtClean="0"/>
              <a:t>r</a:t>
            </a:r>
            <a:r>
              <a:rPr lang="en-US" altLang="zh-CN" sz="2000" smtClean="0"/>
              <a:t>(</a:t>
            </a:r>
            <a:r>
              <a:rPr lang="en-US" altLang="zh-CN" sz="2000" i="1" smtClean="0"/>
              <a:t>t</a:t>
            </a:r>
            <a:r>
              <a:rPr lang="en-US" altLang="zh-CN" sz="2000" smtClean="0"/>
              <a:t>)</a:t>
            </a:r>
            <a:r>
              <a:rPr lang="zh-CN" altLang="en-US" sz="2000" smtClean="0"/>
              <a:t>进行抽样，以确定</a:t>
            </a:r>
            <a:r>
              <a:rPr lang="en-US" altLang="zh-CN" sz="2000" i="1" smtClean="0"/>
              <a:t>r</a:t>
            </a:r>
            <a:r>
              <a:rPr lang="en-US" altLang="zh-CN" sz="2000" smtClean="0"/>
              <a:t>(</a:t>
            </a:r>
            <a:r>
              <a:rPr lang="en-US" altLang="zh-CN" sz="2000" i="1" smtClean="0"/>
              <a:t>t</a:t>
            </a:r>
            <a:r>
              <a:rPr lang="en-US" altLang="zh-CN" sz="2000" smtClean="0"/>
              <a:t>)</a:t>
            </a:r>
            <a:r>
              <a:rPr lang="zh-CN" altLang="en-US" sz="2000" smtClean="0"/>
              <a:t>在该样点上的值。由上式得</a:t>
            </a:r>
          </a:p>
          <a:p>
            <a:pPr lvl="1">
              <a:lnSpc>
                <a:spcPct val="120000"/>
              </a:lnSpc>
            </a:pPr>
            <a:endParaRPr lang="zh-CN" altLang="en-US" sz="2000" smtClean="0"/>
          </a:p>
          <a:p>
            <a:pPr lvl="1">
              <a:lnSpc>
                <a:spcPct val="120000"/>
              </a:lnSpc>
            </a:pPr>
            <a:endParaRPr lang="zh-CN" altLang="en-US" sz="2000" smtClean="0"/>
          </a:p>
          <a:p>
            <a:pPr lvl="2">
              <a:lnSpc>
                <a:spcPct val="120000"/>
              </a:lnSpc>
            </a:pPr>
            <a:r>
              <a:rPr lang="zh-CN" altLang="en-US" sz="1800" smtClean="0"/>
              <a:t>第一项</a:t>
            </a:r>
            <a:r>
              <a:rPr lang="en-US" altLang="zh-CN" sz="1800" i="1" smtClean="0"/>
              <a:t>a</a:t>
            </a:r>
            <a:r>
              <a:rPr lang="en-US" altLang="zh-CN" sz="1800" i="1" baseline="-25000" smtClean="0"/>
              <a:t>k</a:t>
            </a:r>
            <a:r>
              <a:rPr lang="en-US" altLang="zh-CN" sz="1800" smtClean="0"/>
              <a:t> </a:t>
            </a:r>
            <a:r>
              <a:rPr lang="en-US" altLang="zh-CN" sz="1800" i="1" smtClean="0"/>
              <a:t>h</a:t>
            </a:r>
            <a:r>
              <a:rPr lang="en-US" altLang="zh-CN" sz="1800" smtClean="0"/>
              <a:t>(</a:t>
            </a:r>
            <a:r>
              <a:rPr lang="en-US" altLang="zh-CN" sz="1800" i="1" smtClean="0"/>
              <a:t>t</a:t>
            </a:r>
            <a:r>
              <a:rPr lang="en-US" altLang="zh-CN" sz="1800" baseline="-25000" smtClean="0"/>
              <a:t>0</a:t>
            </a:r>
            <a:r>
              <a:rPr lang="en-US" altLang="zh-CN" sz="1800" smtClean="0"/>
              <a:t>)</a:t>
            </a:r>
            <a:r>
              <a:rPr lang="zh-CN" altLang="en-US" sz="1800" smtClean="0"/>
              <a:t>是第</a:t>
            </a:r>
            <a:r>
              <a:rPr lang="en-US" altLang="zh-CN" sz="1800" i="1" smtClean="0"/>
              <a:t>k</a:t>
            </a:r>
            <a:r>
              <a:rPr lang="zh-CN" altLang="en-US" sz="1800" smtClean="0"/>
              <a:t>个接收码元波形的抽样值，它是确定</a:t>
            </a:r>
            <a:r>
              <a:rPr lang="en-US" altLang="zh-CN" sz="1800" i="1" smtClean="0"/>
              <a:t>a</a:t>
            </a:r>
            <a:r>
              <a:rPr lang="en-US" altLang="zh-CN" sz="1800" i="1" baseline="-25000" smtClean="0"/>
              <a:t>k</a:t>
            </a:r>
            <a:r>
              <a:rPr lang="en-US" altLang="zh-CN" sz="1800" smtClean="0"/>
              <a:t> </a:t>
            </a:r>
            <a:r>
              <a:rPr lang="zh-CN" altLang="en-US" sz="1800" smtClean="0"/>
              <a:t>的依据</a:t>
            </a:r>
          </a:p>
          <a:p>
            <a:pPr lvl="2">
              <a:lnSpc>
                <a:spcPct val="120000"/>
              </a:lnSpc>
            </a:pPr>
            <a:r>
              <a:rPr lang="zh-CN" altLang="en-US" sz="1800" smtClean="0"/>
              <a:t>第二项（</a:t>
            </a:r>
            <a:r>
              <a:rPr lang="zh-CN" altLang="en-US" sz="1800" smtClean="0">
                <a:sym typeface="Symbol" pitchFamily="18" charset="2"/>
              </a:rPr>
              <a:t>项）</a:t>
            </a:r>
            <a:r>
              <a:rPr lang="zh-CN" altLang="en-US" sz="1800" smtClean="0"/>
              <a:t>是除第</a:t>
            </a:r>
            <a:r>
              <a:rPr lang="en-US" altLang="zh-CN" sz="1800" i="1" smtClean="0"/>
              <a:t>k</a:t>
            </a:r>
            <a:r>
              <a:rPr lang="zh-CN" altLang="en-US" sz="1800" smtClean="0"/>
              <a:t>个码元以外的其它码元波形在第</a:t>
            </a:r>
            <a:r>
              <a:rPr lang="en-US" altLang="zh-CN" sz="1800" i="1" smtClean="0"/>
              <a:t>k</a:t>
            </a:r>
            <a:r>
              <a:rPr lang="zh-CN" altLang="en-US" sz="1800" smtClean="0"/>
              <a:t>个抽样时刻上的总和（代数和），它对当前码元</a:t>
            </a:r>
            <a:r>
              <a:rPr lang="en-US" altLang="zh-CN" sz="1800" i="1" smtClean="0"/>
              <a:t>a</a:t>
            </a:r>
            <a:r>
              <a:rPr lang="en-US" altLang="zh-CN" sz="1800" i="1" baseline="-25000" smtClean="0"/>
              <a:t>k</a:t>
            </a:r>
            <a:r>
              <a:rPr lang="zh-CN" altLang="en-US" sz="1800" smtClean="0"/>
              <a:t>的判决起着干扰的作用，所以称之为</a:t>
            </a:r>
            <a:r>
              <a:rPr lang="zh-CN" altLang="en-US" sz="1800" b="1" smtClean="0">
                <a:solidFill>
                  <a:schemeClr val="hlink"/>
                </a:solidFill>
              </a:rPr>
              <a:t>码间串扰</a:t>
            </a:r>
            <a:r>
              <a:rPr lang="zh-CN" altLang="en-US" sz="1800" smtClean="0"/>
              <a:t> </a:t>
            </a:r>
          </a:p>
        </p:txBody>
      </p:sp>
      <p:graphicFrame>
        <p:nvGraphicFramePr>
          <p:cNvPr id="27653" name="Object 2"/>
          <p:cNvGraphicFramePr>
            <a:graphicFrameLocks noChangeAspect="1"/>
          </p:cNvGraphicFramePr>
          <p:nvPr/>
        </p:nvGraphicFramePr>
        <p:xfrm>
          <a:off x="1916113" y="1584325"/>
          <a:ext cx="5940425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01" r:id="rId3" imgW="3009900" imgH="431800" progId="Equation.3">
                  <p:embed/>
                </p:oleObj>
              </mc:Choice>
              <mc:Fallback>
                <p:oleObj r:id="rId3" imgW="3009900" imgH="431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6113" y="1584325"/>
                        <a:ext cx="5940425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4" name="Object 3"/>
          <p:cNvGraphicFramePr>
            <a:graphicFrameLocks noChangeAspect="1"/>
          </p:cNvGraphicFramePr>
          <p:nvPr/>
        </p:nvGraphicFramePr>
        <p:xfrm>
          <a:off x="136525" y="3971925"/>
          <a:ext cx="8891588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02" r:id="rId5" imgW="3454400" imgH="342900" progId="Equation.3">
                  <p:embed/>
                </p:oleObj>
              </mc:Choice>
              <mc:Fallback>
                <p:oleObj r:id="rId5" imgW="3454400" imgH="3429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525" y="3971925"/>
                        <a:ext cx="8891588" cy="87947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CCAA3856-A1FB-4CD2-948C-371AFF8FAB32}" type="slidenum">
              <a:rPr lang="en-US" altLang="zh-CN" sz="1400" smtClean="0"/>
              <a:pPr eaLnBrk="1" hangingPunct="1"/>
              <a:t>27</a:t>
            </a:fld>
            <a:endParaRPr lang="en-US" altLang="zh-CN" sz="1400" smtClean="0"/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5400" smtClean="0"/>
              <a:t>消除码间串扰的基本思想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27100" y="1223963"/>
            <a:ext cx="8010525" cy="5634037"/>
          </a:xfrm>
        </p:spPr>
        <p:txBody>
          <a:bodyPr/>
          <a:lstStyle/>
          <a:p>
            <a:r>
              <a:rPr lang="zh-CN" altLang="en-US" sz="2400" b="0" smtClean="0"/>
              <a:t>由上式可知，若想消除码间串扰，应使</a:t>
            </a:r>
          </a:p>
          <a:p>
            <a:endParaRPr lang="zh-CN" altLang="en-US" sz="2400" b="0" smtClean="0"/>
          </a:p>
          <a:p>
            <a:endParaRPr lang="zh-CN" altLang="en-US" sz="2400" b="0" smtClean="0"/>
          </a:p>
          <a:p>
            <a:r>
              <a:rPr lang="zh-CN" altLang="en-US" sz="2400" b="0" smtClean="0"/>
              <a:t>由于</a:t>
            </a:r>
            <a:r>
              <a:rPr lang="en-US" altLang="zh-CN" sz="2400" b="0" i="1" smtClean="0"/>
              <a:t>a</a:t>
            </a:r>
            <a:r>
              <a:rPr lang="en-US" altLang="zh-CN" sz="2400" b="0" i="1" baseline="-25000" smtClean="0"/>
              <a:t>n</a:t>
            </a:r>
            <a:r>
              <a:rPr lang="zh-CN" altLang="en-US" sz="2400" b="0" smtClean="0"/>
              <a:t>是随机的，要想通过各项相互抵消使码间串扰为</a:t>
            </a:r>
            <a:r>
              <a:rPr lang="en-US" altLang="zh-CN" sz="2400" b="0" smtClean="0"/>
              <a:t>0</a:t>
            </a:r>
            <a:r>
              <a:rPr lang="zh-CN" altLang="en-US" sz="2400" b="0" smtClean="0"/>
              <a:t>是不行的，这就</a:t>
            </a:r>
            <a:r>
              <a:rPr lang="zh-CN" altLang="en-US" sz="2400" b="0" smtClean="0">
                <a:solidFill>
                  <a:schemeClr val="hlink"/>
                </a:solidFill>
              </a:rPr>
              <a:t>需要对</a:t>
            </a:r>
            <a:r>
              <a:rPr lang="en-US" altLang="zh-CN" sz="2400" b="0" i="1" smtClean="0">
                <a:solidFill>
                  <a:schemeClr val="hlink"/>
                </a:solidFill>
              </a:rPr>
              <a:t>h</a:t>
            </a:r>
            <a:r>
              <a:rPr lang="en-US" altLang="zh-CN" sz="2400" b="0" smtClean="0">
                <a:solidFill>
                  <a:schemeClr val="hlink"/>
                </a:solidFill>
              </a:rPr>
              <a:t>(</a:t>
            </a:r>
            <a:r>
              <a:rPr lang="en-US" altLang="zh-CN" sz="2400" b="0" i="1" smtClean="0">
                <a:solidFill>
                  <a:schemeClr val="hlink"/>
                </a:solidFill>
              </a:rPr>
              <a:t>t</a:t>
            </a:r>
            <a:r>
              <a:rPr lang="en-US" altLang="zh-CN" sz="2400" b="0" smtClean="0">
                <a:solidFill>
                  <a:schemeClr val="hlink"/>
                </a:solidFill>
              </a:rPr>
              <a:t>)</a:t>
            </a:r>
            <a:r>
              <a:rPr lang="zh-CN" altLang="en-US" sz="2400" b="0" smtClean="0">
                <a:solidFill>
                  <a:schemeClr val="hlink"/>
                </a:solidFill>
              </a:rPr>
              <a:t>的波形进行特别的设计</a:t>
            </a:r>
            <a:r>
              <a:rPr lang="zh-CN" altLang="en-US" sz="2400" b="0" smtClean="0"/>
              <a:t>。 </a:t>
            </a:r>
          </a:p>
          <a:p>
            <a:r>
              <a:rPr lang="zh-CN" altLang="en-US" sz="2400" b="0" smtClean="0"/>
              <a:t>在上式中，若让</a:t>
            </a:r>
            <a:r>
              <a:rPr lang="en-US" altLang="zh-CN" sz="2400" b="0" i="1" smtClean="0"/>
              <a:t>h </a:t>
            </a:r>
            <a:r>
              <a:rPr lang="en-US" altLang="zh-CN" sz="2400" b="0" smtClean="0"/>
              <a:t>[(</a:t>
            </a:r>
            <a:r>
              <a:rPr lang="en-US" altLang="zh-CN" sz="2400" b="0" i="1" smtClean="0"/>
              <a:t>k</a:t>
            </a:r>
            <a:r>
              <a:rPr lang="en-US" altLang="zh-CN" sz="2400" b="0" smtClean="0"/>
              <a:t>-</a:t>
            </a:r>
            <a:r>
              <a:rPr lang="en-US" altLang="zh-CN" sz="2400" b="0" i="1" smtClean="0"/>
              <a:t>n</a:t>
            </a:r>
            <a:r>
              <a:rPr lang="en-US" altLang="zh-CN" sz="2400" b="0" smtClean="0"/>
              <a:t>)</a:t>
            </a:r>
            <a:r>
              <a:rPr lang="en-US" altLang="zh-CN" sz="2400" b="0" i="1" smtClean="0"/>
              <a:t>T</a:t>
            </a:r>
            <a:r>
              <a:rPr lang="en-US" altLang="zh-CN" sz="2400" b="0" i="1" baseline="-25000" smtClean="0"/>
              <a:t>s</a:t>
            </a:r>
            <a:r>
              <a:rPr lang="en-US" altLang="zh-CN" sz="2400" b="0" smtClean="0"/>
              <a:t> +</a:t>
            </a:r>
            <a:r>
              <a:rPr lang="en-US" altLang="zh-CN" sz="2400" b="0" i="1" smtClean="0"/>
              <a:t>t</a:t>
            </a:r>
            <a:r>
              <a:rPr lang="en-US" altLang="zh-CN" sz="2400" b="0" baseline="-25000" smtClean="0"/>
              <a:t>0</a:t>
            </a:r>
            <a:r>
              <a:rPr lang="en-US" altLang="zh-CN" sz="2400" b="0" smtClean="0"/>
              <a:t>] </a:t>
            </a:r>
            <a:r>
              <a:rPr lang="zh-CN" altLang="en-US" sz="2400" b="0" smtClean="0"/>
              <a:t>在</a:t>
            </a:r>
            <a:r>
              <a:rPr lang="en-US" altLang="zh-CN" sz="2400" b="0" i="1" smtClean="0"/>
              <a:t>T</a:t>
            </a:r>
            <a:r>
              <a:rPr lang="en-US" altLang="zh-CN" sz="2400" b="0" i="1" baseline="-25000" smtClean="0"/>
              <a:t>s</a:t>
            </a:r>
            <a:r>
              <a:rPr lang="en-US" altLang="zh-CN" sz="2400" b="0" smtClean="0"/>
              <a:t>+ </a:t>
            </a:r>
            <a:r>
              <a:rPr lang="en-US" altLang="zh-CN" sz="2400" b="0" i="1" smtClean="0"/>
              <a:t>t</a:t>
            </a:r>
            <a:r>
              <a:rPr lang="en-US" altLang="zh-CN" sz="2400" b="0" baseline="-25000" smtClean="0"/>
              <a:t>0</a:t>
            </a:r>
            <a:r>
              <a:rPr lang="en-US" altLang="zh-CN" sz="2400" b="0" smtClean="0"/>
              <a:t> </a:t>
            </a:r>
            <a:r>
              <a:rPr lang="zh-CN" altLang="en-US" sz="2400" b="0" smtClean="0"/>
              <a:t>、</a:t>
            </a:r>
            <a:r>
              <a:rPr lang="en-US" altLang="zh-CN" sz="2400" b="0" smtClean="0"/>
              <a:t>2</a:t>
            </a:r>
            <a:r>
              <a:rPr lang="en-US" altLang="zh-CN" sz="2400" b="0" i="1" smtClean="0"/>
              <a:t>T</a:t>
            </a:r>
            <a:r>
              <a:rPr lang="en-US" altLang="zh-CN" sz="2400" b="0" i="1" baseline="-25000" smtClean="0"/>
              <a:t>s</a:t>
            </a:r>
            <a:r>
              <a:rPr lang="en-US" altLang="zh-CN" sz="2400" b="0" smtClean="0"/>
              <a:t> +</a:t>
            </a:r>
            <a:r>
              <a:rPr lang="en-US" altLang="zh-CN" sz="2400" b="0" i="1" smtClean="0"/>
              <a:t>t</a:t>
            </a:r>
            <a:r>
              <a:rPr lang="en-US" altLang="zh-CN" sz="2400" b="0" baseline="-25000" smtClean="0"/>
              <a:t>0</a:t>
            </a:r>
            <a:r>
              <a:rPr lang="zh-CN" altLang="en-US" sz="2400" b="0" smtClean="0"/>
              <a:t>等后面码元抽样判决时刻上正好为</a:t>
            </a:r>
            <a:r>
              <a:rPr lang="en-US" altLang="zh-CN" sz="2400" b="0" smtClean="0"/>
              <a:t>0</a:t>
            </a:r>
            <a:r>
              <a:rPr lang="zh-CN" altLang="en-US" sz="2400" b="0" smtClean="0"/>
              <a:t>，就能消除码间串扰</a:t>
            </a:r>
          </a:p>
        </p:txBody>
      </p:sp>
      <p:sp>
        <p:nvSpPr>
          <p:cNvPr id="28677" name="Rectangle 5"/>
          <p:cNvSpPr>
            <a:spLocks noChangeArrowheads="1"/>
          </p:cNvSpPr>
          <p:nvPr/>
        </p:nvSpPr>
        <p:spPr bwMode="auto">
          <a:xfrm>
            <a:off x="0" y="32575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8678" name="Object 2"/>
          <p:cNvGraphicFramePr>
            <a:graphicFrameLocks noChangeAspect="1"/>
          </p:cNvGraphicFramePr>
          <p:nvPr/>
        </p:nvGraphicFramePr>
        <p:xfrm>
          <a:off x="2727325" y="1673225"/>
          <a:ext cx="4140200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26" name="公式" r:id="rId3" imgW="1497950" imgH="342751" progId="Equation.3">
                  <p:embed/>
                </p:oleObj>
              </mc:Choice>
              <mc:Fallback>
                <p:oleObj name="公式" r:id="rId3" imgW="1497950" imgH="342751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7325" y="1673225"/>
                        <a:ext cx="4140200" cy="944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9" name="Object 3"/>
          <p:cNvGraphicFramePr>
            <a:graphicFrameLocks noGrp="1" noChangeAspect="1"/>
          </p:cNvGraphicFramePr>
          <p:nvPr>
            <p:ph sz="half" idx="2"/>
          </p:nvPr>
        </p:nvGraphicFramePr>
        <p:xfrm>
          <a:off x="1511300" y="4103688"/>
          <a:ext cx="7156450" cy="242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27" name="Visio" r:id="rId5" imgW="2374087" imgH="805586" progId="Visio.Drawing.11">
                  <p:embed/>
                </p:oleObj>
              </mc:Choice>
              <mc:Fallback>
                <p:oleObj name="Visio" r:id="rId5" imgW="2374087" imgH="805586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1300" y="4103688"/>
                        <a:ext cx="7156450" cy="242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CBB54695-26C8-4AB2-BE73-227468074308}" type="slidenum">
              <a:rPr lang="en-US" altLang="zh-CN" sz="1400" smtClean="0"/>
              <a:pPr eaLnBrk="1" hangingPunct="1"/>
              <a:t>28</a:t>
            </a:fld>
            <a:endParaRPr lang="en-US" altLang="zh-CN" sz="1400" smtClean="0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5400" smtClean="0"/>
              <a:t>无码间串扰的时域条件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358900"/>
            <a:ext cx="8532812" cy="5040313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zh-CN" altLang="en-US" b="0" dirty="0" smtClean="0"/>
              <a:t>需要基带传输系统的冲激响应波形</a:t>
            </a:r>
            <a:r>
              <a:rPr lang="en-US" altLang="zh-CN" b="0" i="1" dirty="0" smtClean="0"/>
              <a:t>h</a:t>
            </a:r>
            <a:r>
              <a:rPr lang="en-US" altLang="zh-CN" b="0" dirty="0" smtClean="0"/>
              <a:t>(</a:t>
            </a:r>
            <a:r>
              <a:rPr lang="en-US" altLang="zh-CN" b="0" i="1" dirty="0" smtClean="0"/>
              <a:t>t</a:t>
            </a:r>
            <a:r>
              <a:rPr lang="en-US" altLang="zh-CN" b="0" dirty="0" smtClean="0"/>
              <a:t>)</a:t>
            </a:r>
            <a:r>
              <a:rPr lang="zh-CN" altLang="en-US" b="0" dirty="0" smtClean="0"/>
              <a:t>仅在本码元的抽样时刻上有最大值，并在其他码元的抽样时刻上均为</a:t>
            </a:r>
            <a:r>
              <a:rPr lang="en-US" altLang="zh-CN" b="0" dirty="0" smtClean="0"/>
              <a:t>0</a:t>
            </a:r>
            <a:r>
              <a:rPr lang="zh-CN" altLang="en-US" b="0" dirty="0" smtClean="0"/>
              <a:t>，则可消除码间串扰。若假设信道和接收滤波器所造成的延迟</a:t>
            </a:r>
            <a:r>
              <a:rPr lang="en-US" altLang="zh-CN" b="0" i="1" dirty="0" smtClean="0"/>
              <a:t>t</a:t>
            </a:r>
            <a:r>
              <a:rPr lang="en-US" altLang="zh-CN" b="0" baseline="-25000" dirty="0" smtClean="0"/>
              <a:t>0</a:t>
            </a:r>
            <a:r>
              <a:rPr lang="en-US" altLang="zh-CN" b="0" dirty="0" smtClean="0"/>
              <a:t> = 0</a:t>
            </a:r>
            <a:r>
              <a:rPr lang="zh-CN" altLang="en-US" b="0" dirty="0" smtClean="0"/>
              <a:t>），则有</a:t>
            </a:r>
          </a:p>
          <a:p>
            <a:pPr>
              <a:defRPr/>
            </a:pPr>
            <a:endParaRPr lang="zh-CN" altLang="en-US" b="0" dirty="0" smtClean="0"/>
          </a:p>
          <a:p>
            <a:pPr>
              <a:defRPr/>
            </a:pPr>
            <a:endParaRPr lang="zh-CN" altLang="en-US" b="0" dirty="0" smtClean="0"/>
          </a:p>
          <a:p>
            <a:pPr>
              <a:defRPr/>
            </a:pPr>
            <a:endParaRPr lang="zh-CN" altLang="en-US" b="0" dirty="0" smtClean="0"/>
          </a:p>
          <a:p>
            <a:pPr>
              <a:buFont typeface="Wingdings" pitchFamily="2" charset="2"/>
              <a:buNone/>
              <a:defRPr/>
            </a:pPr>
            <a:r>
              <a:rPr lang="zh-CN" altLang="en-US" b="0" dirty="0" smtClean="0"/>
              <a:t>	上式称为</a:t>
            </a:r>
            <a:r>
              <a:rPr lang="zh-CN" altLang="en-US" b="0" dirty="0" smtClean="0">
                <a:solidFill>
                  <a:schemeClr val="hlink"/>
                </a:solidFill>
              </a:rPr>
              <a:t>无码间串扰的时域条件</a:t>
            </a:r>
            <a:r>
              <a:rPr lang="zh-CN" altLang="en-US" b="0" dirty="0" smtClean="0"/>
              <a:t>。 </a:t>
            </a:r>
            <a:endParaRPr lang="en-US" altLang="zh-CN" b="0" dirty="0" smtClean="0"/>
          </a:p>
          <a:p>
            <a:pPr>
              <a:buFont typeface="Wingdings" pitchFamily="2" charset="2"/>
              <a:buNone/>
              <a:defRPr/>
            </a:pPr>
            <a:r>
              <a:rPr lang="zh-CN" altLang="en-US" b="0" i="1" u="sng" dirty="0" smtClean="0"/>
              <a:t>即：在过</a:t>
            </a:r>
            <a:r>
              <a:rPr lang="zh-CN" altLang="en-US" b="0" i="1" u="sng" dirty="0"/>
              <a:t>零</a:t>
            </a:r>
            <a:r>
              <a:rPr lang="zh-CN" altLang="en-US" b="0" i="1" u="sng" dirty="0" smtClean="0"/>
              <a:t>点上抽样</a:t>
            </a:r>
          </a:p>
        </p:txBody>
      </p:sp>
      <p:sp>
        <p:nvSpPr>
          <p:cNvPr id="29701" name="Rectangle 4"/>
          <p:cNvSpPr>
            <a:spLocks noChangeArrowheads="1"/>
          </p:cNvSpPr>
          <p:nvPr/>
        </p:nvSpPr>
        <p:spPr bwMode="auto">
          <a:xfrm>
            <a:off x="0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9702" name="Object 2"/>
          <p:cNvGraphicFramePr>
            <a:graphicFrameLocks noChangeAspect="1"/>
          </p:cNvGraphicFramePr>
          <p:nvPr/>
        </p:nvGraphicFramePr>
        <p:xfrm>
          <a:off x="2141538" y="3654425"/>
          <a:ext cx="5265737" cy="136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6" name="公式" r:id="rId3" imgW="1765300" imgH="457200" progId="Equation.3">
                  <p:embed/>
                </p:oleObj>
              </mc:Choice>
              <mc:Fallback>
                <p:oleObj name="公式" r:id="rId3" imgW="1765300" imgH="457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1538" y="3654425"/>
                        <a:ext cx="5265737" cy="136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0738C0EE-0623-480E-AF9C-1C9D3203C2B7}" type="slidenum">
              <a:rPr lang="en-US" altLang="zh-CN" sz="1400" smtClean="0"/>
              <a:pPr eaLnBrk="1" hangingPunct="1"/>
              <a:t>29</a:t>
            </a:fld>
            <a:endParaRPr lang="en-US" altLang="zh-CN" sz="1400" smtClean="0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4000" dirty="0" smtClean="0"/>
              <a:t>无码间串扰的频域条件（自选）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1313" y="1268413"/>
            <a:ext cx="8802687" cy="5589587"/>
          </a:xfrm>
        </p:spPr>
        <p:txBody>
          <a:bodyPr/>
          <a:lstStyle/>
          <a:p>
            <a:r>
              <a:rPr lang="zh-CN" altLang="en-US" sz="2800" b="0" smtClean="0"/>
              <a:t>根据</a:t>
            </a:r>
            <a:r>
              <a:rPr lang="en-US" altLang="zh-CN" sz="2800" b="0" i="1" smtClean="0"/>
              <a:t>h </a:t>
            </a:r>
            <a:r>
              <a:rPr lang="en-US" altLang="zh-CN" sz="2800" b="0" smtClean="0"/>
              <a:t>(</a:t>
            </a:r>
            <a:r>
              <a:rPr lang="en-US" altLang="zh-CN" sz="2800" b="0" i="1" smtClean="0"/>
              <a:t>t</a:t>
            </a:r>
            <a:r>
              <a:rPr lang="en-US" altLang="zh-CN" sz="2800" b="0" smtClean="0"/>
              <a:t>)</a:t>
            </a:r>
            <a:r>
              <a:rPr lang="zh-CN" altLang="en-US" sz="2800" b="0" smtClean="0"/>
              <a:t>和</a:t>
            </a:r>
            <a:r>
              <a:rPr lang="en-US" altLang="zh-CN" sz="2800" b="0" i="1" smtClean="0"/>
              <a:t>H</a:t>
            </a:r>
            <a:r>
              <a:rPr lang="en-US" altLang="zh-CN" sz="2800" b="0" smtClean="0"/>
              <a:t>(</a:t>
            </a:r>
            <a:r>
              <a:rPr lang="en-US" altLang="zh-CN" sz="2800" b="0" i="1" smtClean="0">
                <a:sym typeface="Symbol" pitchFamily="18" charset="2"/>
              </a:rPr>
              <a:t></a:t>
            </a:r>
            <a:r>
              <a:rPr lang="en-US" altLang="zh-CN" sz="2800" b="0" smtClean="0"/>
              <a:t>)</a:t>
            </a:r>
            <a:r>
              <a:rPr lang="zh-CN" altLang="en-US" sz="2800" b="0" smtClean="0"/>
              <a:t>之间存在的傅里叶变换关系：</a:t>
            </a:r>
          </a:p>
          <a:p>
            <a:pPr lvl="3">
              <a:buFont typeface="Wingdings" pitchFamily="2" charset="2"/>
              <a:buNone/>
            </a:pPr>
            <a:endParaRPr lang="zh-CN" altLang="en-US" sz="2800" smtClean="0"/>
          </a:p>
          <a:p>
            <a:pPr lvl="3">
              <a:buFont typeface="Wingdings" pitchFamily="2" charset="2"/>
              <a:buNone/>
            </a:pPr>
            <a:endParaRPr lang="zh-CN" altLang="en-US" sz="2800" smtClean="0"/>
          </a:p>
          <a:p>
            <a:pPr lvl="3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800" smtClean="0"/>
              <a:t>在</a:t>
            </a:r>
            <a:r>
              <a:rPr lang="en-US" altLang="zh-CN" sz="2800" i="1" smtClean="0"/>
              <a:t>t </a:t>
            </a:r>
            <a:r>
              <a:rPr lang="en-US" altLang="zh-CN" sz="2800" smtClean="0"/>
              <a:t>= </a:t>
            </a:r>
            <a:r>
              <a:rPr lang="en-US" altLang="zh-CN" sz="2800" i="1" smtClean="0"/>
              <a:t>kT</a:t>
            </a:r>
            <a:r>
              <a:rPr lang="en-US" altLang="zh-CN" sz="2800" i="1" baseline="-25000" smtClean="0"/>
              <a:t>s</a:t>
            </a:r>
            <a:r>
              <a:rPr lang="zh-CN" altLang="en-US" sz="2800" smtClean="0"/>
              <a:t>时，有</a:t>
            </a:r>
          </a:p>
          <a:p>
            <a:pPr lvl="3">
              <a:lnSpc>
                <a:spcPct val="120000"/>
              </a:lnSpc>
              <a:buFont typeface="Wingdings" pitchFamily="2" charset="2"/>
              <a:buNone/>
            </a:pPr>
            <a:endParaRPr lang="zh-CN" altLang="en-US" sz="2800" smtClean="0"/>
          </a:p>
          <a:p>
            <a:pPr lvl="3">
              <a:lnSpc>
                <a:spcPct val="130000"/>
              </a:lnSpc>
              <a:buFont typeface="Wingdings" pitchFamily="2" charset="2"/>
              <a:buNone/>
            </a:pPr>
            <a:r>
              <a:rPr lang="zh-CN" altLang="en-US" sz="2800" smtClean="0"/>
              <a:t>把上式的积分区间用分段积分求和代替，每段长为</a:t>
            </a:r>
            <a:r>
              <a:rPr lang="en-US" altLang="zh-CN" sz="2800" smtClean="0"/>
              <a:t>2</a:t>
            </a:r>
            <a:r>
              <a:rPr lang="en-US" altLang="zh-CN" sz="2800" smtClean="0">
                <a:sym typeface="Symbol" pitchFamily="18" charset="2"/>
              </a:rPr>
              <a:t>/</a:t>
            </a:r>
            <a:r>
              <a:rPr lang="en-US" altLang="zh-CN" sz="2800" i="1" smtClean="0">
                <a:sym typeface="Symbol" pitchFamily="18" charset="2"/>
              </a:rPr>
              <a:t>T</a:t>
            </a:r>
            <a:r>
              <a:rPr lang="en-US" altLang="zh-CN" sz="2800" baseline="-25000" smtClean="0">
                <a:sym typeface="Symbol" pitchFamily="18" charset="2"/>
              </a:rPr>
              <a:t>s</a:t>
            </a:r>
            <a:r>
              <a:rPr lang="zh-CN" altLang="en-US" sz="2800" smtClean="0"/>
              <a:t>，则上式可写成</a:t>
            </a:r>
          </a:p>
        </p:txBody>
      </p:sp>
      <p:sp>
        <p:nvSpPr>
          <p:cNvPr id="30725" name="Rectangle 4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0726" name="Object 2"/>
          <p:cNvGraphicFramePr>
            <a:graphicFrameLocks noChangeAspect="1"/>
          </p:cNvGraphicFramePr>
          <p:nvPr/>
        </p:nvGraphicFramePr>
        <p:xfrm>
          <a:off x="2906713" y="1854200"/>
          <a:ext cx="3735387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6" name="公式" r:id="rId3" imgW="1612900" imgH="393700" progId="Equation.3">
                  <p:embed/>
                </p:oleObj>
              </mc:Choice>
              <mc:Fallback>
                <p:oleObj name="公式" r:id="rId3" imgW="1612900" imgH="3937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6713" y="1854200"/>
                        <a:ext cx="3735387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7" name="Rectangle 6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0728" name="Rectangle 7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30729" name="Group 8"/>
          <p:cNvGrpSpPr>
            <a:grpSpLocks/>
          </p:cNvGrpSpPr>
          <p:nvPr/>
        </p:nvGrpSpPr>
        <p:grpSpPr bwMode="auto">
          <a:xfrm>
            <a:off x="2771775" y="3249613"/>
            <a:ext cx="4230688" cy="900112"/>
            <a:chOff x="1406" y="2132"/>
            <a:chExt cx="2154" cy="422"/>
          </a:xfrm>
        </p:grpSpPr>
        <p:graphicFrame>
          <p:nvGraphicFramePr>
            <p:cNvPr id="30732" name="Object 4"/>
            <p:cNvGraphicFramePr>
              <a:graphicFrameLocks noChangeAspect="1"/>
            </p:cNvGraphicFramePr>
            <p:nvPr/>
          </p:nvGraphicFramePr>
          <p:xfrm>
            <a:off x="2086" y="2132"/>
            <a:ext cx="1474" cy="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27" r:id="rId5" imgW="1358310" imgH="393529" progId="Equation.3">
                    <p:embed/>
                  </p:oleObj>
                </mc:Choice>
                <mc:Fallback>
                  <p:oleObj r:id="rId5" imgW="1358310" imgH="393529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6" y="2132"/>
                          <a:ext cx="1474" cy="4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33" name="Object 5"/>
            <p:cNvGraphicFramePr>
              <a:graphicFrameLocks noChangeAspect="1"/>
            </p:cNvGraphicFramePr>
            <p:nvPr/>
          </p:nvGraphicFramePr>
          <p:xfrm>
            <a:off x="1406" y="2217"/>
            <a:ext cx="674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28" name="公式" r:id="rId7" imgW="571252" imgH="228501" progId="Equation.3">
                    <p:embed/>
                  </p:oleObj>
                </mc:Choice>
                <mc:Fallback>
                  <p:oleObj name="公式" r:id="rId7" imgW="571252" imgH="228501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6" y="2217"/>
                          <a:ext cx="674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730" name="Rectangle 11"/>
          <p:cNvSpPr>
            <a:spLocks noChangeArrowheads="1"/>
          </p:cNvSpPr>
          <p:nvPr/>
        </p:nvSpPr>
        <p:spPr bwMode="auto">
          <a:xfrm>
            <a:off x="0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0731" name="Object 3"/>
          <p:cNvGraphicFramePr>
            <a:graphicFrameLocks noChangeAspect="1"/>
          </p:cNvGraphicFramePr>
          <p:nvPr/>
        </p:nvGraphicFramePr>
        <p:xfrm>
          <a:off x="2276475" y="5273675"/>
          <a:ext cx="5491163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9" r:id="rId9" imgW="2425700" imgH="419100" progId="Equation.3">
                  <p:embed/>
                </p:oleObj>
              </mc:Choice>
              <mc:Fallback>
                <p:oleObj r:id="rId9" imgW="2425700" imgH="4191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6475" y="5273675"/>
                        <a:ext cx="5491163" cy="94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76B12DA5-1DDD-479B-B065-DD264F766DD1}" type="slidenum">
              <a:rPr lang="en-US" altLang="zh-CN" sz="1400" smtClean="0"/>
              <a:pPr eaLnBrk="1" hangingPunct="1"/>
              <a:t>30</a:t>
            </a:fld>
            <a:endParaRPr lang="en-US" altLang="zh-CN" sz="1400" smtClean="0"/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 smtClean="0"/>
              <a:t>无码间串扰的频域条件（自选）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179513"/>
            <a:ext cx="8893175" cy="5678487"/>
          </a:xfrm>
        </p:spPr>
        <p:txBody>
          <a:bodyPr/>
          <a:lstStyle/>
          <a:p>
            <a:pPr lvl="3">
              <a:buFont typeface="Wingdings" pitchFamily="2" charset="2"/>
              <a:buNone/>
            </a:pPr>
            <a:endParaRPr lang="en-US" altLang="zh-CN" smtClean="0"/>
          </a:p>
          <a:p>
            <a:pPr lvl="3">
              <a:buFont typeface="Wingdings" pitchFamily="2" charset="2"/>
              <a:buNone/>
            </a:pPr>
            <a:endParaRPr lang="en-US" altLang="zh-CN" smtClean="0"/>
          </a:p>
          <a:p>
            <a:pPr lvl="3">
              <a:buFont typeface="Wingdings" pitchFamily="2" charset="2"/>
              <a:buNone/>
            </a:pPr>
            <a:r>
              <a:rPr lang="zh-CN" altLang="en-US" smtClean="0"/>
              <a:t>将上式作变量代换：令</a:t>
            </a:r>
          </a:p>
          <a:p>
            <a:pPr lvl="3">
              <a:buFont typeface="Wingdings" pitchFamily="2" charset="2"/>
              <a:buNone/>
            </a:pPr>
            <a:endParaRPr lang="zh-CN" altLang="en-US" smtClean="0"/>
          </a:p>
          <a:p>
            <a:pPr lvl="3">
              <a:buFont typeface="Wingdings" pitchFamily="2" charset="2"/>
              <a:buNone/>
            </a:pPr>
            <a:endParaRPr lang="zh-CN" altLang="en-US" smtClean="0"/>
          </a:p>
          <a:p>
            <a:pPr lvl="3">
              <a:lnSpc>
                <a:spcPct val="130000"/>
              </a:lnSpc>
              <a:buFont typeface="Wingdings" pitchFamily="2" charset="2"/>
              <a:buNone/>
            </a:pPr>
            <a:r>
              <a:rPr lang="zh-CN" altLang="en-US" smtClean="0"/>
              <a:t>则有</a:t>
            </a:r>
            <a:r>
              <a:rPr lang="en-US" altLang="zh-CN" smtClean="0"/>
              <a:t>d</a:t>
            </a:r>
            <a:r>
              <a:rPr lang="en-US" altLang="zh-CN" i="1" smtClean="0">
                <a:sym typeface="Symbol" pitchFamily="18" charset="2"/>
              </a:rPr>
              <a:t></a:t>
            </a:r>
            <a:r>
              <a:rPr lang="en-US" altLang="zh-CN" smtClean="0">
                <a:sym typeface="Symbol" pitchFamily="18" charset="2"/>
              </a:rPr>
              <a:t> = d</a:t>
            </a:r>
            <a:r>
              <a:rPr lang="en-US" altLang="zh-CN" i="1" smtClean="0">
                <a:sym typeface="Symbol" pitchFamily="18" charset="2"/>
              </a:rPr>
              <a:t></a:t>
            </a:r>
            <a:r>
              <a:rPr lang="en-US" altLang="zh-CN" smtClean="0">
                <a:sym typeface="Symbol" pitchFamily="18" charset="2"/>
              </a:rPr>
              <a:t>, </a:t>
            </a:r>
            <a:r>
              <a:rPr lang="en-US" altLang="zh-CN" i="1" smtClean="0">
                <a:sym typeface="Symbol" pitchFamily="18" charset="2"/>
              </a:rPr>
              <a:t></a:t>
            </a:r>
            <a:r>
              <a:rPr lang="en-US" altLang="zh-CN" smtClean="0">
                <a:sym typeface="Symbol" pitchFamily="18" charset="2"/>
              </a:rPr>
              <a:t> = </a:t>
            </a:r>
            <a:r>
              <a:rPr lang="en-US" altLang="zh-CN" i="1" smtClean="0">
                <a:sym typeface="Symbol" pitchFamily="18" charset="2"/>
              </a:rPr>
              <a:t></a:t>
            </a:r>
            <a:r>
              <a:rPr lang="en-US" altLang="zh-CN" smtClean="0">
                <a:sym typeface="Symbol" pitchFamily="18" charset="2"/>
              </a:rPr>
              <a:t> +2</a:t>
            </a:r>
            <a:r>
              <a:rPr lang="en-US" altLang="zh-CN" i="1" smtClean="0">
                <a:sym typeface="Symbol" pitchFamily="18" charset="2"/>
              </a:rPr>
              <a:t>i</a:t>
            </a:r>
            <a:r>
              <a:rPr lang="en-US" altLang="zh-CN" smtClean="0">
                <a:sym typeface="Symbol" pitchFamily="18" charset="2"/>
              </a:rPr>
              <a:t>/</a:t>
            </a:r>
            <a:r>
              <a:rPr lang="en-US" altLang="zh-CN" i="1" smtClean="0">
                <a:sym typeface="Symbol" pitchFamily="18" charset="2"/>
              </a:rPr>
              <a:t>T</a:t>
            </a:r>
            <a:r>
              <a:rPr lang="en-US" altLang="zh-CN" i="1" baseline="-25000" smtClean="0">
                <a:sym typeface="Symbol" pitchFamily="18" charset="2"/>
              </a:rPr>
              <a:t>s</a:t>
            </a:r>
            <a:r>
              <a:rPr lang="en-US" altLang="zh-CN" baseline="-25000" smtClean="0">
                <a:sym typeface="Symbol" pitchFamily="18" charset="2"/>
              </a:rPr>
              <a:t> </a:t>
            </a:r>
            <a:r>
              <a:rPr lang="zh-CN" altLang="en-US" baseline="-25000" smtClean="0">
                <a:sym typeface="Symbol" pitchFamily="18" charset="2"/>
              </a:rPr>
              <a:t>。</a:t>
            </a:r>
            <a:r>
              <a:rPr lang="zh-CN" altLang="en-US" smtClean="0">
                <a:sym typeface="Symbol" pitchFamily="18" charset="2"/>
              </a:rPr>
              <a:t>且当</a:t>
            </a:r>
            <a:r>
              <a:rPr lang="zh-CN" altLang="en-US" i="1" smtClean="0">
                <a:sym typeface="Symbol" pitchFamily="18" charset="2"/>
              </a:rPr>
              <a:t> </a:t>
            </a:r>
            <a:r>
              <a:rPr lang="en-US" altLang="zh-CN" smtClean="0">
                <a:sym typeface="Symbol" pitchFamily="18" charset="2"/>
              </a:rPr>
              <a:t>= (2</a:t>
            </a:r>
            <a:r>
              <a:rPr lang="en-US" altLang="zh-CN" i="1" smtClean="0">
                <a:sym typeface="Symbol" pitchFamily="18" charset="2"/>
              </a:rPr>
              <a:t>i</a:t>
            </a:r>
            <a:r>
              <a:rPr lang="en-US" altLang="zh-CN" smtClean="0">
                <a:sym typeface="Symbol" pitchFamily="18" charset="2"/>
              </a:rPr>
              <a:t>1)/</a:t>
            </a:r>
            <a:r>
              <a:rPr lang="en-US" altLang="zh-CN" i="1" smtClean="0">
                <a:sym typeface="Symbol" pitchFamily="18" charset="2"/>
              </a:rPr>
              <a:t>T</a:t>
            </a:r>
            <a:r>
              <a:rPr lang="en-US" altLang="zh-CN" i="1" baseline="-25000" smtClean="0">
                <a:sym typeface="Symbol" pitchFamily="18" charset="2"/>
              </a:rPr>
              <a:t>s</a:t>
            </a:r>
            <a:r>
              <a:rPr lang="zh-CN" altLang="en-US" smtClean="0">
                <a:sym typeface="Symbol" pitchFamily="18" charset="2"/>
              </a:rPr>
              <a:t>时，</a:t>
            </a:r>
            <a:r>
              <a:rPr lang="zh-CN" altLang="en-US" i="1" smtClean="0">
                <a:sym typeface="Symbol" pitchFamily="18" charset="2"/>
              </a:rPr>
              <a:t></a:t>
            </a:r>
            <a:r>
              <a:rPr lang="zh-CN" altLang="en-US" smtClean="0">
                <a:sym typeface="Symbol" pitchFamily="18" charset="2"/>
              </a:rPr>
              <a:t></a:t>
            </a:r>
            <a:r>
              <a:rPr lang="en-US" altLang="zh-CN" smtClean="0">
                <a:sym typeface="Symbol" pitchFamily="18" charset="2"/>
              </a:rPr>
              <a:t>= /</a:t>
            </a:r>
            <a:r>
              <a:rPr lang="en-US" altLang="zh-CN" i="1" smtClean="0">
                <a:sym typeface="Symbol" pitchFamily="18" charset="2"/>
              </a:rPr>
              <a:t>T</a:t>
            </a:r>
            <a:r>
              <a:rPr lang="en-US" altLang="zh-CN" i="1" baseline="-25000" smtClean="0">
                <a:sym typeface="Symbol" pitchFamily="18" charset="2"/>
              </a:rPr>
              <a:t>s</a:t>
            </a:r>
            <a:r>
              <a:rPr lang="zh-CN" altLang="en-US" smtClean="0">
                <a:sym typeface="Symbol" pitchFamily="18" charset="2"/>
              </a:rPr>
              <a:t>，于是</a:t>
            </a:r>
          </a:p>
          <a:p>
            <a:pPr lvl="3">
              <a:lnSpc>
                <a:spcPct val="130000"/>
              </a:lnSpc>
              <a:buFont typeface="Wingdings" pitchFamily="2" charset="2"/>
              <a:buNone/>
            </a:pPr>
            <a:endParaRPr lang="zh-CN" altLang="en-US" smtClean="0">
              <a:sym typeface="Symbol" pitchFamily="18" charset="2"/>
            </a:endParaRPr>
          </a:p>
          <a:p>
            <a:pPr lvl="3">
              <a:lnSpc>
                <a:spcPct val="130000"/>
              </a:lnSpc>
              <a:buFont typeface="Wingdings" pitchFamily="2" charset="2"/>
              <a:buNone/>
            </a:pPr>
            <a:endParaRPr lang="zh-CN" altLang="en-US" smtClean="0">
              <a:sym typeface="Symbol" pitchFamily="18" charset="2"/>
            </a:endParaRPr>
          </a:p>
          <a:p>
            <a:pPr lvl="3">
              <a:lnSpc>
                <a:spcPct val="130000"/>
              </a:lnSpc>
              <a:buFont typeface="Wingdings" pitchFamily="2" charset="2"/>
              <a:buNone/>
            </a:pPr>
            <a:endParaRPr lang="zh-CN" altLang="en-US" smtClean="0">
              <a:sym typeface="Symbol" pitchFamily="18" charset="2"/>
            </a:endParaRPr>
          </a:p>
          <a:p>
            <a:pPr lvl="3">
              <a:lnSpc>
                <a:spcPct val="130000"/>
              </a:lnSpc>
              <a:buFont typeface="Wingdings" pitchFamily="2" charset="2"/>
              <a:buNone/>
            </a:pPr>
            <a:r>
              <a:rPr lang="zh-CN" altLang="en-US" smtClean="0">
                <a:sym typeface="Symbol" pitchFamily="18" charset="2"/>
              </a:rPr>
              <a:t>求和与积分的次序交换，于是有</a:t>
            </a:r>
          </a:p>
        </p:txBody>
      </p:sp>
      <p:graphicFrame>
        <p:nvGraphicFramePr>
          <p:cNvPr id="31749" name="Object 2"/>
          <p:cNvGraphicFramePr>
            <a:graphicFrameLocks noChangeAspect="1"/>
          </p:cNvGraphicFramePr>
          <p:nvPr/>
        </p:nvGraphicFramePr>
        <p:xfrm>
          <a:off x="2366963" y="1179513"/>
          <a:ext cx="4591050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7" r:id="rId3" imgW="2425700" imgH="419100" progId="Equation.3">
                  <p:embed/>
                </p:oleObj>
              </mc:Choice>
              <mc:Fallback>
                <p:oleObj r:id="rId3" imgW="2425700" imgH="4191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6963" y="1179513"/>
                        <a:ext cx="4591050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0" name="Object 3"/>
          <p:cNvGraphicFramePr>
            <a:graphicFrameLocks noChangeAspect="1"/>
          </p:cNvGraphicFramePr>
          <p:nvPr/>
        </p:nvGraphicFramePr>
        <p:xfrm>
          <a:off x="3762375" y="2438400"/>
          <a:ext cx="1582738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8" name="公式" r:id="rId5" imgW="825500" imgH="431800" progId="Equation.3">
                  <p:embed/>
                </p:oleObj>
              </mc:Choice>
              <mc:Fallback>
                <p:oleObj name="公式" r:id="rId5" imgW="825500" imgH="431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2375" y="2438400"/>
                        <a:ext cx="1582738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1" name="Rectangle 6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1752" name="Object 4"/>
          <p:cNvGraphicFramePr>
            <a:graphicFrameLocks noChangeAspect="1"/>
          </p:cNvGraphicFramePr>
          <p:nvPr/>
        </p:nvGraphicFramePr>
        <p:xfrm>
          <a:off x="2276475" y="4149725"/>
          <a:ext cx="5535613" cy="79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9" r:id="rId7" imgW="2984500" imgH="431800" progId="Equation.3">
                  <p:embed/>
                </p:oleObj>
              </mc:Choice>
              <mc:Fallback>
                <p:oleObj r:id="rId7" imgW="2984500" imgH="431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6475" y="4149725"/>
                        <a:ext cx="5535613" cy="79533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3" name="Rectangle 8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1754" name="Object 5"/>
          <p:cNvGraphicFramePr>
            <a:graphicFrameLocks noChangeAspect="1"/>
          </p:cNvGraphicFramePr>
          <p:nvPr/>
        </p:nvGraphicFramePr>
        <p:xfrm>
          <a:off x="3176588" y="4914900"/>
          <a:ext cx="4186237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50" r:id="rId9" imgW="2222500" imgH="431800" progId="Equation.3">
                  <p:embed/>
                </p:oleObj>
              </mc:Choice>
              <mc:Fallback>
                <p:oleObj r:id="rId9" imgW="2222500" imgH="431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6588" y="4914900"/>
                        <a:ext cx="4186237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2FEEDCC4-3F29-453E-918B-7627D32093B7}" type="slidenum">
              <a:rPr lang="en-US" altLang="zh-CN" sz="1400" smtClean="0"/>
              <a:pPr eaLnBrk="1" hangingPunct="1"/>
              <a:t>31</a:t>
            </a:fld>
            <a:endParaRPr lang="en-US" altLang="zh-CN" sz="1400" smtClean="0"/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 smtClean="0"/>
              <a:t>无码间串扰的频域条件（自选）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223963"/>
            <a:ext cx="8893175" cy="5634037"/>
          </a:xfrm>
        </p:spPr>
        <p:txBody>
          <a:bodyPr/>
          <a:lstStyle/>
          <a:p>
            <a:pPr lvl="3">
              <a:buFont typeface="Wingdings" pitchFamily="2" charset="2"/>
              <a:buNone/>
            </a:pPr>
            <a:endParaRPr lang="en-US" altLang="zh-CN" sz="2000" smtClean="0"/>
          </a:p>
          <a:p>
            <a:pPr lvl="3">
              <a:buFont typeface="Wingdings" pitchFamily="2" charset="2"/>
              <a:buNone/>
            </a:pPr>
            <a:endParaRPr lang="en-US" altLang="zh-CN" sz="2000" smtClean="0"/>
          </a:p>
          <a:p>
            <a:pPr lvl="3">
              <a:lnSpc>
                <a:spcPct val="130000"/>
              </a:lnSpc>
              <a:buFont typeface="Wingdings" pitchFamily="2" charset="2"/>
              <a:buNone/>
            </a:pPr>
            <a:endParaRPr lang="en-US" altLang="zh-CN" sz="2000" smtClean="0"/>
          </a:p>
          <a:p>
            <a:pPr lvl="3">
              <a:lnSpc>
                <a:spcPct val="130000"/>
              </a:lnSpc>
              <a:buFont typeface="Wingdings" pitchFamily="2" charset="2"/>
              <a:buNone/>
            </a:pPr>
            <a:r>
              <a:rPr lang="zh-CN" altLang="en-US" sz="2000" smtClean="0"/>
              <a:t>这里，我们已把</a:t>
            </a:r>
            <a:r>
              <a:rPr lang="zh-CN" altLang="en-US" sz="2000" smtClean="0">
                <a:sym typeface="Symbol" pitchFamily="18" charset="2"/>
              </a:rPr>
              <a:t></a:t>
            </a:r>
            <a:r>
              <a:rPr lang="zh-CN" altLang="en-US" sz="2000" smtClean="0"/>
              <a:t>重新换为</a:t>
            </a:r>
            <a:r>
              <a:rPr lang="zh-CN" altLang="en-US" sz="2000" smtClean="0">
                <a:sym typeface="Symbol" pitchFamily="18" charset="2"/>
              </a:rPr>
              <a:t></a:t>
            </a:r>
            <a:r>
              <a:rPr lang="zh-CN" altLang="en-US" sz="2000" smtClean="0"/>
              <a:t>。</a:t>
            </a:r>
          </a:p>
          <a:p>
            <a:pPr lvl="3">
              <a:lnSpc>
                <a:spcPct val="130000"/>
              </a:lnSpc>
              <a:buFont typeface="Wingdings" pitchFamily="2" charset="2"/>
              <a:buNone/>
            </a:pPr>
            <a:r>
              <a:rPr lang="zh-CN" altLang="en-US" sz="2000" smtClean="0">
                <a:solidFill>
                  <a:schemeClr val="hlink"/>
                </a:solidFill>
              </a:rPr>
              <a:t>由傅里叶级数可知</a:t>
            </a:r>
            <a:r>
              <a:rPr lang="zh-CN" altLang="en-US" sz="2000" smtClean="0"/>
              <a:t>，若</a:t>
            </a:r>
            <a:r>
              <a:rPr lang="en-US" altLang="zh-CN" sz="2000" i="1" smtClean="0"/>
              <a:t>F</a:t>
            </a:r>
            <a:r>
              <a:rPr lang="en-US" altLang="zh-CN" sz="2000" smtClean="0"/>
              <a:t>(</a:t>
            </a:r>
            <a:r>
              <a:rPr lang="en-US" altLang="zh-CN" sz="2000" i="1" smtClean="0">
                <a:sym typeface="Symbol" pitchFamily="18" charset="2"/>
              </a:rPr>
              <a:t></a:t>
            </a:r>
            <a:r>
              <a:rPr lang="en-US" altLang="zh-CN" sz="2000" smtClean="0">
                <a:sym typeface="Symbol" pitchFamily="18" charset="2"/>
              </a:rPr>
              <a:t>)</a:t>
            </a:r>
            <a:r>
              <a:rPr lang="zh-CN" altLang="en-US" sz="2000" smtClean="0"/>
              <a:t>是周期为</a:t>
            </a:r>
            <a:r>
              <a:rPr lang="en-US" altLang="zh-CN" sz="2000" smtClean="0"/>
              <a:t>2</a:t>
            </a:r>
            <a:r>
              <a:rPr lang="en-US" altLang="zh-CN" sz="2000" smtClean="0">
                <a:sym typeface="Symbol" pitchFamily="18" charset="2"/>
              </a:rPr>
              <a:t>/</a:t>
            </a:r>
            <a:r>
              <a:rPr lang="en-US" altLang="zh-CN" sz="2000" i="1" smtClean="0">
                <a:sym typeface="Symbol" pitchFamily="18" charset="2"/>
              </a:rPr>
              <a:t>T</a:t>
            </a:r>
            <a:r>
              <a:rPr lang="en-US" altLang="zh-CN" sz="2000" i="1" baseline="-25000" smtClean="0">
                <a:sym typeface="Symbol" pitchFamily="18" charset="2"/>
              </a:rPr>
              <a:t>s</a:t>
            </a:r>
            <a:r>
              <a:rPr lang="zh-CN" altLang="en-US" sz="2000" smtClean="0"/>
              <a:t>的频率函数，则可用指数型傅里叶级数表示</a:t>
            </a:r>
          </a:p>
          <a:p>
            <a:pPr lvl="3">
              <a:lnSpc>
                <a:spcPct val="130000"/>
              </a:lnSpc>
              <a:buFont typeface="Wingdings" pitchFamily="2" charset="2"/>
              <a:buNone/>
            </a:pPr>
            <a:endParaRPr lang="zh-CN" altLang="en-US" sz="2000" smtClean="0"/>
          </a:p>
          <a:p>
            <a:pPr lvl="3">
              <a:lnSpc>
                <a:spcPct val="130000"/>
              </a:lnSpc>
              <a:buFont typeface="Wingdings" pitchFamily="2" charset="2"/>
              <a:buNone/>
            </a:pPr>
            <a:endParaRPr lang="zh-CN" altLang="en-US" sz="2000" smtClean="0"/>
          </a:p>
          <a:p>
            <a:pPr lvl="3">
              <a:lnSpc>
                <a:spcPct val="130000"/>
              </a:lnSpc>
              <a:buFont typeface="Wingdings" pitchFamily="2" charset="2"/>
              <a:buNone/>
            </a:pPr>
            <a:endParaRPr lang="zh-CN" altLang="en-US" sz="2000" smtClean="0"/>
          </a:p>
          <a:p>
            <a:pPr lvl="3">
              <a:lnSpc>
                <a:spcPct val="130000"/>
              </a:lnSpc>
              <a:buFont typeface="Wingdings" pitchFamily="2" charset="2"/>
              <a:buNone/>
            </a:pPr>
            <a:r>
              <a:rPr lang="zh-CN" altLang="en-US" sz="2000" smtClean="0"/>
              <a:t>	</a:t>
            </a:r>
          </a:p>
          <a:p>
            <a:pPr lvl="3">
              <a:lnSpc>
                <a:spcPct val="130000"/>
              </a:lnSpc>
              <a:buFont typeface="Wingdings" pitchFamily="2" charset="2"/>
              <a:buNone/>
            </a:pPr>
            <a:endParaRPr lang="zh-CN" altLang="en-US" sz="2000" smtClean="0"/>
          </a:p>
          <a:p>
            <a:pPr lvl="3">
              <a:lnSpc>
                <a:spcPct val="130000"/>
              </a:lnSpc>
              <a:buFont typeface="Wingdings" pitchFamily="2" charset="2"/>
              <a:buNone/>
            </a:pPr>
            <a:r>
              <a:rPr lang="zh-CN" altLang="en-US" sz="2000" smtClean="0"/>
              <a:t>将上式与上面的</a:t>
            </a:r>
            <a:r>
              <a:rPr lang="en-US" altLang="zh-CN" sz="2000" i="1" smtClean="0"/>
              <a:t>h</a:t>
            </a:r>
            <a:r>
              <a:rPr lang="en-US" altLang="zh-CN" sz="2000" smtClean="0"/>
              <a:t>(</a:t>
            </a:r>
            <a:r>
              <a:rPr lang="en-US" altLang="zh-CN" sz="2000" i="1" smtClean="0"/>
              <a:t>kT</a:t>
            </a:r>
            <a:r>
              <a:rPr lang="en-US" altLang="zh-CN" sz="2000" i="1" baseline="-25000" smtClean="0"/>
              <a:t>s</a:t>
            </a:r>
            <a:r>
              <a:rPr lang="en-US" altLang="zh-CN" sz="2000" smtClean="0"/>
              <a:t>)</a:t>
            </a:r>
            <a:r>
              <a:rPr lang="zh-CN" altLang="en-US" sz="2000" smtClean="0"/>
              <a:t>式对照，我们发现， </a:t>
            </a:r>
            <a:r>
              <a:rPr lang="en-US" altLang="zh-CN" sz="2000" i="1" smtClean="0"/>
              <a:t>h</a:t>
            </a:r>
            <a:r>
              <a:rPr lang="en-US" altLang="zh-CN" sz="2000" smtClean="0"/>
              <a:t>(</a:t>
            </a:r>
            <a:r>
              <a:rPr lang="en-US" altLang="zh-CN" sz="2000" i="1" smtClean="0"/>
              <a:t>kT</a:t>
            </a:r>
            <a:r>
              <a:rPr lang="en-US" altLang="zh-CN" sz="2000" i="1" baseline="-25000" smtClean="0"/>
              <a:t>s</a:t>
            </a:r>
            <a:r>
              <a:rPr lang="en-US" altLang="zh-CN" sz="2000" smtClean="0"/>
              <a:t>) </a:t>
            </a:r>
            <a:r>
              <a:rPr lang="zh-CN" altLang="en-US" sz="2000" smtClean="0"/>
              <a:t>就是</a:t>
            </a:r>
            <a:r>
              <a:rPr lang="en-US" altLang="zh-CN" sz="2000" i="1" smtClean="0"/>
              <a:t>f</a:t>
            </a:r>
            <a:r>
              <a:rPr lang="en-US" altLang="zh-CN" sz="2000" i="1" baseline="-25000" smtClean="0"/>
              <a:t>n</a:t>
            </a:r>
            <a:endParaRPr lang="en-US" altLang="zh-CN" sz="2000" smtClean="0"/>
          </a:p>
        </p:txBody>
      </p:sp>
      <p:sp>
        <p:nvSpPr>
          <p:cNvPr id="32773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2774" name="Object 2"/>
          <p:cNvGraphicFramePr>
            <a:graphicFrameLocks noChangeAspect="1"/>
          </p:cNvGraphicFramePr>
          <p:nvPr/>
        </p:nvGraphicFramePr>
        <p:xfrm>
          <a:off x="3041650" y="3748088"/>
          <a:ext cx="3825875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46" r:id="rId3" imgW="1218671" imgH="342751" progId="Equation.3">
                  <p:embed/>
                </p:oleObj>
              </mc:Choice>
              <mc:Fallback>
                <p:oleObj r:id="rId3" imgW="1218671" imgH="342751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1650" y="3748088"/>
                        <a:ext cx="3825875" cy="107632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5" name="Object 3"/>
          <p:cNvGraphicFramePr>
            <a:graphicFrameLocks noChangeAspect="1"/>
          </p:cNvGraphicFramePr>
          <p:nvPr/>
        </p:nvGraphicFramePr>
        <p:xfrm>
          <a:off x="2546350" y="4914900"/>
          <a:ext cx="4725988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47" r:id="rId5" imgW="1726451" imgH="393529" progId="Equation.3">
                  <p:embed/>
                </p:oleObj>
              </mc:Choice>
              <mc:Fallback>
                <p:oleObj r:id="rId5" imgW="1726451" imgH="39352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6350" y="4914900"/>
                        <a:ext cx="4725988" cy="106997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6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1781175" y="1358900"/>
          <a:ext cx="6616700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48" name="公式" r:id="rId7" imgW="2882900" imgH="482600" progId="Equation.3">
                  <p:embed/>
                </p:oleObj>
              </mc:Choice>
              <mc:Fallback>
                <p:oleObj name="公式" r:id="rId7" imgW="2882900" imgH="482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1175" y="1358900"/>
                        <a:ext cx="6616700" cy="11112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2307D777-FBAB-45D0-A627-7C2592AC09CD}" type="slidenum">
              <a:rPr lang="en-US" altLang="zh-CN" sz="1400" smtClean="0"/>
              <a:pPr eaLnBrk="1" hangingPunct="1"/>
              <a:t>32</a:t>
            </a:fld>
            <a:endParaRPr lang="en-US" altLang="zh-CN" sz="1400" smtClean="0"/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 smtClean="0"/>
              <a:t>无码间串扰的频域条件（自选）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2288" y="1358900"/>
            <a:ext cx="8621712" cy="5221288"/>
          </a:xfrm>
        </p:spPr>
        <p:txBody>
          <a:bodyPr/>
          <a:lstStyle/>
          <a:p>
            <a:pPr lvl="3">
              <a:buFont typeface="Wingdings" pitchFamily="2" charset="2"/>
              <a:buNone/>
            </a:pPr>
            <a:endParaRPr lang="en-US" altLang="zh-CN" sz="2000" smtClean="0"/>
          </a:p>
          <a:p>
            <a:pPr lvl="3">
              <a:buFont typeface="Wingdings" pitchFamily="2" charset="2"/>
              <a:buNone/>
            </a:pPr>
            <a:endParaRPr lang="en-US" altLang="zh-CN" sz="2000" smtClean="0"/>
          </a:p>
          <a:p>
            <a:pPr lvl="3">
              <a:buFont typeface="Wingdings" pitchFamily="2" charset="2"/>
              <a:buNone/>
            </a:pPr>
            <a:r>
              <a:rPr lang="zh-CN" altLang="en-US" sz="2000" smtClean="0"/>
              <a:t>在无码间串扰时域条件的要求下，我们得到无码间串扰时的基带传输特性应满足</a:t>
            </a:r>
          </a:p>
          <a:p>
            <a:pPr lvl="3">
              <a:buFont typeface="Wingdings" pitchFamily="2" charset="2"/>
              <a:buNone/>
            </a:pPr>
            <a:endParaRPr lang="zh-CN" altLang="en-US" sz="2000" smtClean="0"/>
          </a:p>
          <a:p>
            <a:pPr lvl="3">
              <a:buFont typeface="Wingdings" pitchFamily="2" charset="2"/>
              <a:buNone/>
            </a:pPr>
            <a:endParaRPr lang="zh-CN" altLang="en-US" sz="2000" smtClean="0"/>
          </a:p>
          <a:p>
            <a:pPr lvl="3">
              <a:buFont typeface="Wingdings" pitchFamily="2" charset="2"/>
              <a:buNone/>
            </a:pPr>
            <a:endParaRPr lang="zh-CN" altLang="en-US" sz="2000" smtClean="0"/>
          </a:p>
          <a:p>
            <a:pPr lvl="3">
              <a:buFont typeface="Wingdings" pitchFamily="2" charset="2"/>
              <a:buNone/>
            </a:pPr>
            <a:r>
              <a:rPr lang="zh-CN" altLang="en-US" sz="2000" smtClean="0"/>
              <a:t>上条件称为</a:t>
            </a:r>
            <a:r>
              <a:rPr lang="zh-CN" altLang="en-US" sz="2000" smtClean="0">
                <a:solidFill>
                  <a:schemeClr val="hlink"/>
                </a:solidFill>
              </a:rPr>
              <a:t>奈奎斯特</a:t>
            </a:r>
            <a:r>
              <a:rPr lang="en-US" altLang="zh-CN" sz="2000" smtClean="0">
                <a:solidFill>
                  <a:schemeClr val="hlink"/>
                </a:solidFill>
              </a:rPr>
              <a:t>(Nyquist)</a:t>
            </a:r>
            <a:r>
              <a:rPr lang="zh-CN" altLang="en-US" sz="2000" smtClean="0">
                <a:solidFill>
                  <a:schemeClr val="hlink"/>
                </a:solidFill>
              </a:rPr>
              <a:t>第一准则</a:t>
            </a:r>
            <a:r>
              <a:rPr lang="zh-CN" altLang="en-US" sz="2000" smtClean="0"/>
              <a:t>。</a:t>
            </a:r>
          </a:p>
          <a:p>
            <a:pPr>
              <a:lnSpc>
                <a:spcPct val="120000"/>
              </a:lnSpc>
            </a:pPr>
            <a:r>
              <a:rPr lang="zh-CN" altLang="en-US" sz="2000" b="0" smtClean="0"/>
              <a:t>频域条件的物理意义</a:t>
            </a:r>
          </a:p>
          <a:p>
            <a:pPr lvl="1">
              <a:lnSpc>
                <a:spcPct val="140000"/>
              </a:lnSpc>
            </a:pPr>
            <a:r>
              <a:rPr lang="zh-CN" altLang="en-US" sz="2000" smtClean="0"/>
              <a:t>将</a:t>
            </a:r>
            <a:r>
              <a:rPr lang="en-US" altLang="zh-CN" sz="2000" i="1" smtClean="0"/>
              <a:t>H</a:t>
            </a:r>
            <a:r>
              <a:rPr lang="en-US" altLang="zh-CN" sz="2000" smtClean="0"/>
              <a:t>(</a:t>
            </a:r>
            <a:r>
              <a:rPr lang="en-US" altLang="zh-CN" sz="2000" i="1" smtClean="0">
                <a:sym typeface="Symbol" pitchFamily="18" charset="2"/>
              </a:rPr>
              <a:t></a:t>
            </a:r>
            <a:r>
              <a:rPr lang="en-US" altLang="zh-CN" sz="2000" smtClean="0"/>
              <a:t>)</a:t>
            </a:r>
            <a:r>
              <a:rPr lang="zh-CN" altLang="en-US" sz="2000" smtClean="0"/>
              <a:t>在</a:t>
            </a:r>
            <a:r>
              <a:rPr lang="zh-CN" altLang="en-US" sz="2000" i="1" smtClean="0">
                <a:sym typeface="Symbol" pitchFamily="18" charset="2"/>
              </a:rPr>
              <a:t> </a:t>
            </a:r>
            <a:r>
              <a:rPr lang="zh-CN" altLang="en-US" sz="2000" smtClean="0"/>
              <a:t>轴上以</a:t>
            </a:r>
            <a:r>
              <a:rPr lang="en-US" altLang="zh-CN" sz="2000" smtClean="0"/>
              <a:t>2</a:t>
            </a:r>
            <a:r>
              <a:rPr lang="en-US" altLang="zh-CN" sz="2000" smtClean="0">
                <a:sym typeface="Symbol" pitchFamily="18" charset="2"/>
              </a:rPr>
              <a:t>/</a:t>
            </a:r>
            <a:r>
              <a:rPr lang="en-US" altLang="zh-CN" sz="2000" i="1" smtClean="0">
                <a:sym typeface="Symbol" pitchFamily="18" charset="2"/>
              </a:rPr>
              <a:t>T</a:t>
            </a:r>
            <a:r>
              <a:rPr lang="en-US" altLang="zh-CN" sz="2000" i="1" baseline="-25000" smtClean="0">
                <a:sym typeface="Symbol" pitchFamily="18" charset="2"/>
              </a:rPr>
              <a:t>s</a:t>
            </a:r>
            <a:r>
              <a:rPr lang="zh-CN" altLang="en-US" sz="2000" smtClean="0"/>
              <a:t>为间隔切开，然后分段沿</a:t>
            </a:r>
            <a:r>
              <a:rPr lang="zh-CN" altLang="en-US" sz="2000" i="1" smtClean="0">
                <a:sym typeface="Symbol" pitchFamily="18" charset="2"/>
              </a:rPr>
              <a:t></a:t>
            </a:r>
            <a:r>
              <a:rPr lang="zh-CN" altLang="en-US" sz="2000" smtClean="0"/>
              <a:t>轴平移到</a:t>
            </a:r>
            <a:r>
              <a:rPr lang="en-US" altLang="zh-CN" sz="2000" smtClean="0"/>
              <a:t>(-</a:t>
            </a:r>
            <a:r>
              <a:rPr lang="en-US" altLang="zh-CN" sz="2000" smtClean="0">
                <a:sym typeface="Symbol" pitchFamily="18" charset="2"/>
              </a:rPr>
              <a:t>/T</a:t>
            </a:r>
            <a:r>
              <a:rPr lang="en-US" altLang="zh-CN" sz="2000" baseline="-25000" smtClean="0">
                <a:sym typeface="Symbol" pitchFamily="18" charset="2"/>
              </a:rPr>
              <a:t>s</a:t>
            </a:r>
            <a:r>
              <a:rPr lang="en-US" altLang="zh-CN" sz="2000" smtClean="0">
                <a:sym typeface="Symbol" pitchFamily="18" charset="2"/>
              </a:rPr>
              <a:t>, /T</a:t>
            </a:r>
            <a:r>
              <a:rPr lang="en-US" altLang="zh-CN" sz="2000" baseline="-25000" smtClean="0">
                <a:sym typeface="Symbol" pitchFamily="18" charset="2"/>
              </a:rPr>
              <a:t>s</a:t>
            </a:r>
            <a:r>
              <a:rPr lang="en-US" altLang="zh-CN" sz="2000" smtClean="0"/>
              <a:t>)</a:t>
            </a:r>
            <a:r>
              <a:rPr lang="zh-CN" altLang="en-US" sz="2000" smtClean="0"/>
              <a:t>区间内，将它们进行叠加，其结果应当为一常数 </a:t>
            </a:r>
          </a:p>
          <a:p>
            <a:pPr lvl="1">
              <a:lnSpc>
                <a:spcPct val="140000"/>
              </a:lnSpc>
            </a:pPr>
            <a:r>
              <a:rPr lang="zh-CN" altLang="en-US" sz="2000" smtClean="0"/>
              <a:t>这一过程可以归述为：一个实际的</a:t>
            </a:r>
            <a:r>
              <a:rPr lang="en-US" altLang="zh-CN" sz="2000" i="1" smtClean="0"/>
              <a:t>H</a:t>
            </a:r>
            <a:r>
              <a:rPr lang="en-US" altLang="zh-CN" sz="2000" smtClean="0"/>
              <a:t>(</a:t>
            </a:r>
            <a:r>
              <a:rPr lang="en-US" altLang="zh-CN" sz="2000" i="1" smtClean="0">
                <a:sym typeface="Symbol" pitchFamily="18" charset="2"/>
              </a:rPr>
              <a:t></a:t>
            </a:r>
            <a:r>
              <a:rPr lang="en-US" altLang="zh-CN" sz="2000" smtClean="0"/>
              <a:t>)</a:t>
            </a:r>
            <a:r>
              <a:rPr lang="zh-CN" altLang="en-US" sz="2000" smtClean="0"/>
              <a:t>特性若能等效成一个理想（矩形）低通滤波器，则可实现无码间串扰。</a:t>
            </a:r>
          </a:p>
        </p:txBody>
      </p:sp>
      <p:sp>
        <p:nvSpPr>
          <p:cNvPr id="3379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3798" name="Object 2"/>
          <p:cNvGraphicFramePr>
            <a:graphicFrameLocks noChangeAspect="1"/>
          </p:cNvGraphicFramePr>
          <p:nvPr/>
        </p:nvGraphicFramePr>
        <p:xfrm>
          <a:off x="2411413" y="1179513"/>
          <a:ext cx="5175250" cy="969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75" name="公式" r:id="rId3" imgW="2286000" imgH="431800" progId="Equation.3">
                  <p:embed/>
                </p:oleObj>
              </mc:Choice>
              <mc:Fallback>
                <p:oleObj name="公式" r:id="rId3" imgW="2286000" imgH="431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1179513"/>
                        <a:ext cx="5175250" cy="969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9" name="Rectangle 6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3800" name="Rectangle 7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3801" name="Rectangle 11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3802" name="Rectangle 12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33803" name="Group 13"/>
          <p:cNvGrpSpPr>
            <a:grpSpLocks/>
          </p:cNvGrpSpPr>
          <p:nvPr/>
        </p:nvGrpSpPr>
        <p:grpSpPr bwMode="auto">
          <a:xfrm>
            <a:off x="2862263" y="2843213"/>
            <a:ext cx="4184650" cy="946150"/>
            <a:chOff x="1633" y="2670"/>
            <a:chExt cx="2268" cy="524"/>
          </a:xfrm>
        </p:grpSpPr>
        <p:graphicFrame>
          <p:nvGraphicFramePr>
            <p:cNvPr id="33804" name="Object 3"/>
            <p:cNvGraphicFramePr>
              <a:graphicFrameLocks noChangeAspect="1"/>
            </p:cNvGraphicFramePr>
            <p:nvPr/>
          </p:nvGraphicFramePr>
          <p:xfrm>
            <a:off x="1633" y="2699"/>
            <a:ext cx="1389" cy="4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76" name="公式" r:id="rId5" imgW="1257300" imgH="431800" progId="Equation.3">
                    <p:embed/>
                  </p:oleObj>
                </mc:Choice>
                <mc:Fallback>
                  <p:oleObj name="公式" r:id="rId5" imgW="1257300" imgH="43180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3" y="2699"/>
                          <a:ext cx="1389" cy="474"/>
                        </a:xfrm>
                        <a:prstGeom prst="rect">
                          <a:avLst/>
                        </a:prstGeom>
                        <a:solidFill>
                          <a:srgbClr val="FFFF99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05" name="Object 4"/>
            <p:cNvGraphicFramePr>
              <a:graphicFrameLocks noChangeAspect="1"/>
            </p:cNvGraphicFramePr>
            <p:nvPr/>
          </p:nvGraphicFramePr>
          <p:xfrm>
            <a:off x="3249" y="2670"/>
            <a:ext cx="652" cy="5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77" name="公式" r:id="rId7" imgW="533169" imgH="431613" progId="Equation.3">
                    <p:embed/>
                  </p:oleObj>
                </mc:Choice>
                <mc:Fallback>
                  <p:oleObj name="公式" r:id="rId7" imgW="533169" imgH="431613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49" y="2670"/>
                          <a:ext cx="652" cy="524"/>
                        </a:xfrm>
                        <a:prstGeom prst="rect">
                          <a:avLst/>
                        </a:prstGeom>
                        <a:solidFill>
                          <a:srgbClr val="FFFF99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4B82B710-11D7-42BD-8A96-4AB2F62ACC2E}" type="slidenum">
              <a:rPr lang="en-US" altLang="zh-CN" sz="1400" smtClean="0"/>
              <a:pPr eaLnBrk="1" hangingPunct="1"/>
              <a:t>33</a:t>
            </a:fld>
            <a:endParaRPr lang="en-US" altLang="zh-CN" sz="1400" smtClean="0"/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 smtClean="0"/>
              <a:t>图例（了解频域条件对应的含义）</a:t>
            </a:r>
          </a:p>
        </p:txBody>
      </p:sp>
      <p:pic>
        <p:nvPicPr>
          <p:cNvPr id="34820" name="Picture 4" descr="t05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100" y="1217613"/>
            <a:ext cx="7993063" cy="5360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BE143EA7-A5D6-4FDA-B979-79A0A0C74973}" type="slidenum">
              <a:rPr lang="en-US" altLang="zh-CN" sz="1400" smtClean="0"/>
              <a:pPr eaLnBrk="1" hangingPunct="1"/>
              <a:t>34</a:t>
            </a:fld>
            <a:endParaRPr lang="en-US" altLang="zh-CN" sz="1400" smtClean="0"/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5400" smtClean="0"/>
              <a:t>奈奎斯特带宽与速率</a:t>
            </a:r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179513"/>
            <a:ext cx="8532812" cy="5678487"/>
          </a:xfrm>
        </p:spPr>
        <p:txBody>
          <a:bodyPr/>
          <a:lstStyle/>
          <a:p>
            <a:pPr lvl="1"/>
            <a:r>
              <a:rPr lang="zh-CN" altLang="en-US" dirty="0" smtClean="0"/>
              <a:t>满足奈奎斯特第一准则且容易想到的一种极限情况是</a:t>
            </a:r>
            <a:r>
              <a:rPr lang="en-US" altLang="zh-CN" i="1" dirty="0" smtClean="0"/>
              <a:t>H</a:t>
            </a:r>
            <a:r>
              <a:rPr lang="en-US" altLang="zh-CN" dirty="0" smtClean="0"/>
              <a:t>(</a:t>
            </a:r>
            <a:r>
              <a:rPr lang="en-US" altLang="zh-CN" i="1" dirty="0" smtClean="0">
                <a:sym typeface="Symbol" pitchFamily="18" charset="2"/>
              </a:rPr>
              <a:t></a:t>
            </a:r>
            <a:r>
              <a:rPr lang="en-US" altLang="zh-CN" dirty="0" smtClean="0"/>
              <a:t>)</a:t>
            </a:r>
            <a:r>
              <a:rPr lang="zh-CN" altLang="en-US" dirty="0" smtClean="0"/>
              <a:t>为理想低通型，即</a:t>
            </a:r>
          </a:p>
        </p:txBody>
      </p:sp>
      <p:graphicFrame>
        <p:nvGraphicFramePr>
          <p:cNvPr id="3584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6440181"/>
              </p:ext>
            </p:extLst>
          </p:nvPr>
        </p:nvGraphicFramePr>
        <p:xfrm>
          <a:off x="1466655" y="2213865"/>
          <a:ext cx="3060700" cy="163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19" name="公式" r:id="rId4" imgW="1625600" imgH="863600" progId="Equation.3">
                  <p:embed/>
                </p:oleObj>
              </mc:Choice>
              <mc:Fallback>
                <p:oleObj name="公式" r:id="rId4" imgW="1625600" imgH="863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6655" y="2213865"/>
                        <a:ext cx="3060700" cy="163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6" name="Rectangle 6"/>
          <p:cNvSpPr>
            <a:spLocks noChangeArrowheads="1"/>
          </p:cNvSpPr>
          <p:nvPr/>
        </p:nvSpPr>
        <p:spPr bwMode="auto">
          <a:xfrm>
            <a:off x="0" y="2681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584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8606882"/>
              </p:ext>
            </p:extLst>
          </p:nvPr>
        </p:nvGraphicFramePr>
        <p:xfrm>
          <a:off x="5066850" y="1808820"/>
          <a:ext cx="3330575" cy="202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20" name="Visio" r:id="rId6" imgW="1247546" imgH="872033" progId="Visio.Drawing.11">
                  <p:embed/>
                </p:oleObj>
              </mc:Choice>
              <mc:Fallback>
                <p:oleObj name="Visio" r:id="rId6" imgW="1247546" imgH="872033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6850" y="1808820"/>
                        <a:ext cx="3330575" cy="202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1353759"/>
              </p:ext>
            </p:extLst>
          </p:nvPr>
        </p:nvGraphicFramePr>
        <p:xfrm>
          <a:off x="1106615" y="3834045"/>
          <a:ext cx="3060700" cy="155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21" name="公式" r:id="rId8" imgW="1701800" imgH="863600" progId="Equation.3">
                  <p:embed/>
                </p:oleObj>
              </mc:Choice>
              <mc:Fallback>
                <p:oleObj name="公式" r:id="rId8" imgW="1701800" imgH="863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6615" y="3834045"/>
                        <a:ext cx="3060700" cy="155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5849" name="Picture 9" descr="t0509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0003" y="3743932"/>
            <a:ext cx="4662487" cy="166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251520" y="5378208"/>
            <a:ext cx="9033242" cy="14711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000" dirty="0"/>
              <a:t>注意以上概念是信道特性</a:t>
            </a:r>
            <a:r>
              <a:rPr lang="zh-CN" altLang="en-US" sz="2000" dirty="0" smtClean="0"/>
              <a:t>！是信道导致了传的信号“长”成了这样：</a:t>
            </a:r>
            <a:r>
              <a:rPr lang="en-US" altLang="zh-CN" sz="2000" dirty="0" smtClean="0"/>
              <a:t/>
            </a:r>
            <a:br>
              <a:rPr lang="en-US" altLang="zh-CN" sz="2000" dirty="0" smtClean="0"/>
            </a:br>
            <a:r>
              <a:rPr lang="zh-CN" altLang="en-US" sz="2000" dirty="0" smtClean="0"/>
              <a:t>湖面</a:t>
            </a:r>
            <a:r>
              <a:rPr lang="zh-CN" altLang="en-US" sz="2000" dirty="0"/>
              <a:t>扔石头引发波动的例子，</a:t>
            </a:r>
            <a:r>
              <a:rPr lang="en-US" altLang="zh-CN" sz="2000" dirty="0"/>
              <a:t>h(t)</a:t>
            </a:r>
            <a:r>
              <a:rPr lang="zh-CN" altLang="en-US" sz="2000" dirty="0"/>
              <a:t>是湖面的震荡特性，是固定</a:t>
            </a:r>
            <a:r>
              <a:rPr lang="zh-CN" altLang="en-US" sz="2000" dirty="0" smtClean="0"/>
              <a:t>的，传的是</a:t>
            </a:r>
            <a:r>
              <a:rPr lang="en-US" altLang="zh-CN" sz="2000" dirty="0" smtClean="0"/>
              <a:t>a(n)</a:t>
            </a:r>
            <a:r>
              <a:rPr lang="zh-CN" altLang="en-US" sz="2000" dirty="0" smtClean="0"/>
              <a:t>。</a:t>
            </a:r>
            <a:endParaRPr lang="zh-CN" altLang="en-US" sz="2000" dirty="0"/>
          </a:p>
          <a:p>
            <a:pPr>
              <a:lnSpc>
                <a:spcPct val="140000"/>
              </a:lnSpc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C4659B2C-EFE5-42A4-B956-AF23C6E64467}" type="slidenum">
              <a:rPr lang="en-US" altLang="zh-CN" sz="1400" smtClean="0"/>
              <a:pPr eaLnBrk="1" hangingPunct="1"/>
              <a:t>35</a:t>
            </a:fld>
            <a:endParaRPr lang="en-US" altLang="zh-CN" sz="1400" smtClean="0"/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5400" smtClean="0"/>
              <a:t>奈奎斯特带宽与速率</a:t>
            </a:r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" y="1268414"/>
            <a:ext cx="9144000" cy="4500846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zh-CN" altLang="en-US" sz="2400" b="0" dirty="0" smtClean="0"/>
              <a:t>通常将此理想低通滤波器的带宽称为</a:t>
            </a:r>
            <a:r>
              <a:rPr lang="zh-CN" altLang="en-US" sz="2400" dirty="0" smtClean="0">
                <a:solidFill>
                  <a:schemeClr val="hlink"/>
                </a:solidFill>
              </a:rPr>
              <a:t>奈奎斯特带宽  </a:t>
            </a:r>
            <a:r>
              <a:rPr lang="en-US" altLang="zh-CN" sz="2400" b="0" i="1" dirty="0" smtClean="0"/>
              <a:t>B=</a:t>
            </a:r>
            <a:r>
              <a:rPr lang="en-US" altLang="zh-CN" sz="2400" b="0" dirty="0" smtClean="0"/>
              <a:t>1/2</a:t>
            </a:r>
            <a:r>
              <a:rPr lang="en-US" altLang="zh-CN" sz="2400" b="0" i="1" dirty="0" smtClean="0"/>
              <a:t>T</a:t>
            </a:r>
            <a:r>
              <a:rPr lang="en-US" altLang="zh-CN" sz="2400" b="0" i="1" baseline="-25000" dirty="0" smtClean="0"/>
              <a:t>S</a:t>
            </a:r>
          </a:p>
          <a:p>
            <a:pPr>
              <a:lnSpc>
                <a:spcPct val="140000"/>
              </a:lnSpc>
            </a:pPr>
            <a:r>
              <a:rPr lang="zh-CN" altLang="en-US" sz="2400" b="0" dirty="0" smtClean="0"/>
              <a:t>同时，若输入数据以</a:t>
            </a:r>
            <a:r>
              <a:rPr lang="en-US" altLang="zh-CN" sz="2400" b="0" i="1" dirty="0" smtClean="0"/>
              <a:t>R</a:t>
            </a:r>
            <a:r>
              <a:rPr lang="en-US" altLang="zh-CN" sz="2400" b="0" i="1" baseline="-25000" dirty="0" smtClean="0"/>
              <a:t>B</a:t>
            </a:r>
            <a:r>
              <a:rPr lang="en-US" altLang="zh-CN" sz="2400" b="0" dirty="0" smtClean="0"/>
              <a:t> = 1/</a:t>
            </a:r>
            <a:r>
              <a:rPr lang="en-US" altLang="zh-CN" sz="2400" b="0" i="1" dirty="0" smtClean="0"/>
              <a:t>T</a:t>
            </a:r>
            <a:r>
              <a:rPr lang="en-US" altLang="zh-CN" sz="2400" b="0" i="1" baseline="-25000" dirty="0" smtClean="0"/>
              <a:t>S </a:t>
            </a:r>
            <a:r>
              <a:rPr lang="zh-CN" altLang="en-US" sz="2400" b="0" dirty="0" smtClean="0"/>
              <a:t>波特的速率进行传输，则在抽样时刻上不存在码间串扰，将</a:t>
            </a:r>
            <a:r>
              <a:rPr lang="en-US" altLang="zh-CN" sz="2400" b="0" i="1" dirty="0" smtClean="0"/>
              <a:t>R</a:t>
            </a:r>
            <a:r>
              <a:rPr lang="en-US" altLang="zh-CN" sz="2400" b="0" i="1" baseline="-25000" dirty="0" smtClean="0"/>
              <a:t>B</a:t>
            </a:r>
            <a:r>
              <a:rPr lang="zh-CN" altLang="en-US" sz="2400" b="0" dirty="0" smtClean="0"/>
              <a:t>称为</a:t>
            </a:r>
            <a:r>
              <a:rPr lang="zh-CN" altLang="en-US" sz="2400" dirty="0" smtClean="0">
                <a:solidFill>
                  <a:schemeClr val="hlink"/>
                </a:solidFill>
              </a:rPr>
              <a:t>奈奎斯特速率</a:t>
            </a:r>
            <a:endParaRPr lang="en-US" altLang="zh-CN" sz="2400" dirty="0" smtClean="0">
              <a:solidFill>
                <a:schemeClr val="hlink"/>
              </a:solidFill>
            </a:endParaRPr>
          </a:p>
          <a:p>
            <a:pPr lvl="1">
              <a:lnSpc>
                <a:spcPct val="140000"/>
              </a:lnSpc>
            </a:pPr>
            <a:r>
              <a:rPr lang="zh-CN" altLang="en-US" sz="2400" dirty="0">
                <a:solidFill>
                  <a:schemeClr val="accent4"/>
                </a:solidFill>
              </a:rPr>
              <a:t>定义：奈奎斯特速率（</a:t>
            </a:r>
            <a:r>
              <a:rPr lang="en-US" altLang="zh-CN" sz="2400" dirty="0" err="1">
                <a:solidFill>
                  <a:schemeClr val="accent4"/>
                </a:solidFill>
              </a:rPr>
              <a:t>Nyquist</a:t>
            </a:r>
            <a:r>
              <a:rPr lang="en-US" altLang="zh-CN" sz="2400" dirty="0">
                <a:solidFill>
                  <a:schemeClr val="accent4"/>
                </a:solidFill>
              </a:rPr>
              <a:t> Rate</a:t>
            </a:r>
            <a:r>
              <a:rPr lang="zh-CN" altLang="en-US" sz="2400" dirty="0">
                <a:solidFill>
                  <a:schemeClr val="accent4"/>
                </a:solidFill>
              </a:rPr>
              <a:t>）是信道在无噪声、无码间干扰的理想条件</a:t>
            </a:r>
            <a:r>
              <a:rPr lang="zh-CN" altLang="en-US" sz="2400" dirty="0" smtClean="0">
                <a:solidFill>
                  <a:schemeClr val="accent4"/>
                </a:solidFill>
              </a:rPr>
              <a:t>下能够</a:t>
            </a:r>
            <a:r>
              <a:rPr lang="zh-CN" altLang="en-US" sz="2400" dirty="0">
                <a:solidFill>
                  <a:schemeClr val="accent4"/>
                </a:solidFill>
              </a:rPr>
              <a:t>支持的最高符号</a:t>
            </a:r>
            <a:r>
              <a:rPr lang="zh-CN" altLang="en-US" sz="2400" dirty="0" smtClean="0">
                <a:solidFill>
                  <a:schemeClr val="accent4"/>
                </a:solidFill>
              </a:rPr>
              <a:t>速率，其</a:t>
            </a:r>
            <a:r>
              <a:rPr lang="zh-CN" altLang="en-US" sz="2400" dirty="0">
                <a:solidFill>
                  <a:schemeClr val="accent4"/>
                </a:solidFill>
              </a:rPr>
              <a:t>值为信道</a:t>
            </a:r>
            <a:r>
              <a:rPr lang="zh-CN" altLang="en-US" sz="2400" dirty="0" smtClean="0">
                <a:solidFill>
                  <a:schemeClr val="accent4"/>
                </a:solidFill>
              </a:rPr>
              <a:t>带宽的两倍 </a:t>
            </a:r>
            <a:endParaRPr lang="zh-CN" altLang="en-US" sz="2400" b="0" dirty="0" smtClean="0">
              <a:solidFill>
                <a:schemeClr val="accent4"/>
              </a:solidFill>
            </a:endParaRPr>
          </a:p>
          <a:p>
            <a:pPr>
              <a:lnSpc>
                <a:spcPct val="140000"/>
              </a:lnSpc>
            </a:pPr>
            <a:r>
              <a:rPr lang="zh-CN" altLang="en-US" sz="2400" b="0" dirty="0" smtClean="0"/>
              <a:t>若以高于</a:t>
            </a:r>
            <a:r>
              <a:rPr lang="en-US" altLang="zh-CN" sz="2400" b="0" dirty="0" smtClean="0"/>
              <a:t>1/</a:t>
            </a:r>
            <a:r>
              <a:rPr lang="en-US" altLang="zh-CN" sz="2400" b="0" i="1" dirty="0" err="1" smtClean="0"/>
              <a:t>T</a:t>
            </a:r>
            <a:r>
              <a:rPr lang="en-US" altLang="zh-CN" sz="2400" b="0" i="1" baseline="-25000" dirty="0" err="1" smtClean="0"/>
              <a:t>s</a:t>
            </a:r>
            <a:r>
              <a:rPr lang="zh-CN" altLang="en-US" sz="2400" b="0" dirty="0" smtClean="0"/>
              <a:t>波特的码元速率传送时，将存在码间串扰</a:t>
            </a:r>
            <a:endParaRPr lang="en-US" altLang="zh-CN" sz="2400" b="0" dirty="0"/>
          </a:p>
          <a:p>
            <a:pPr>
              <a:lnSpc>
                <a:spcPct val="140000"/>
              </a:lnSpc>
            </a:pPr>
            <a:r>
              <a:rPr lang="zh-CN" altLang="en-US" sz="2400" b="0" dirty="0"/>
              <a:t>此基带系统所能提供的最高频带利用率</a:t>
            </a:r>
            <a:r>
              <a:rPr lang="zh-CN" altLang="en-US" sz="2400" b="0" dirty="0" smtClean="0"/>
              <a:t>为</a:t>
            </a:r>
            <a:endParaRPr lang="en-US" altLang="zh-CN" sz="2400" b="0" dirty="0"/>
          </a:p>
        </p:txBody>
      </p:sp>
      <p:graphicFrame>
        <p:nvGraphicFramePr>
          <p:cNvPr id="3686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7737572"/>
              </p:ext>
            </p:extLst>
          </p:nvPr>
        </p:nvGraphicFramePr>
        <p:xfrm>
          <a:off x="3041830" y="5724255"/>
          <a:ext cx="3465385" cy="5501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93" r:id="rId3" imgW="1435100" imgH="228600" progId="Equation.3">
                  <p:embed/>
                </p:oleObj>
              </mc:Choice>
              <mc:Fallback>
                <p:oleObj r:id="rId3" imgW="14351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1830" y="5724255"/>
                        <a:ext cx="3465385" cy="5501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3E7B8F4-D989-4551-A70A-7963A5B4655A}" type="slidenum">
              <a:rPr lang="en-US" altLang="zh-CN" sz="1400" smtClean="0"/>
              <a:pPr eaLnBrk="1" hangingPunct="1"/>
              <a:t>36</a:t>
            </a:fld>
            <a:endParaRPr lang="en-US" altLang="zh-CN" sz="1400" smtClean="0"/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5400" smtClean="0"/>
              <a:t>抗噪分析模型</a:t>
            </a:r>
          </a:p>
        </p:txBody>
      </p:sp>
      <p:sp>
        <p:nvSpPr>
          <p:cNvPr id="3789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27100" y="2843213"/>
            <a:ext cx="7966075" cy="3600450"/>
          </a:xfrm>
        </p:spPr>
        <p:txBody>
          <a:bodyPr/>
          <a:lstStyle/>
          <a:p>
            <a:pPr marL="609600" indent="-609600">
              <a:lnSpc>
                <a:spcPct val="90000"/>
              </a:lnSpc>
            </a:pPr>
            <a:r>
              <a:rPr lang="zh-CN" altLang="en-US" sz="2400" b="0" smtClean="0"/>
              <a:t>图中 </a:t>
            </a:r>
            <a:r>
              <a:rPr lang="en-US" altLang="zh-CN" sz="2400" b="0" i="1" smtClean="0"/>
              <a:t>n</a:t>
            </a:r>
            <a:r>
              <a:rPr lang="en-US" altLang="zh-CN" sz="2400" b="0" smtClean="0"/>
              <a:t>(</a:t>
            </a:r>
            <a:r>
              <a:rPr lang="en-US" altLang="zh-CN" sz="2400" b="0" i="1" smtClean="0"/>
              <a:t>t</a:t>
            </a:r>
            <a:r>
              <a:rPr lang="en-US" altLang="zh-CN" sz="2400" b="0" smtClean="0"/>
              <a:t>) </a:t>
            </a:r>
            <a:r>
              <a:rPr lang="zh-CN" altLang="en-US" sz="2400" b="0" smtClean="0"/>
              <a:t>－ 加性高斯白噪声，均值为</a:t>
            </a:r>
            <a:r>
              <a:rPr lang="en-US" altLang="zh-CN" sz="2400" b="0" smtClean="0"/>
              <a:t>0</a:t>
            </a:r>
            <a:r>
              <a:rPr lang="zh-CN" altLang="en-US" sz="2400" b="0" smtClean="0"/>
              <a:t>，双边功率谱密度为</a:t>
            </a:r>
            <a:r>
              <a:rPr lang="en-US" altLang="zh-CN" sz="2400" b="0" i="1" smtClean="0"/>
              <a:t>n</a:t>
            </a:r>
            <a:r>
              <a:rPr lang="en-US" altLang="zh-CN" sz="2400" b="0" baseline="-25000" smtClean="0"/>
              <a:t>0</a:t>
            </a:r>
            <a:r>
              <a:rPr lang="en-US" altLang="zh-CN" sz="2400" b="0" smtClean="0"/>
              <a:t> /2</a:t>
            </a:r>
            <a:r>
              <a:rPr lang="zh-CN" altLang="en-US" sz="2400" b="0" smtClean="0"/>
              <a:t>。因为接收滤波器是一个线性网络，故判决电路输入噪声</a:t>
            </a:r>
            <a:r>
              <a:rPr lang="en-US" altLang="zh-CN" sz="2400" b="0" i="1" smtClean="0"/>
              <a:t>n</a:t>
            </a:r>
            <a:r>
              <a:rPr lang="en-US" altLang="zh-CN" sz="2400" b="0" i="1" baseline="-25000" smtClean="0"/>
              <a:t>R</a:t>
            </a:r>
            <a:r>
              <a:rPr lang="en-US" altLang="zh-CN" sz="2400" b="0" smtClean="0"/>
              <a:t> (</a:t>
            </a:r>
            <a:r>
              <a:rPr lang="en-US" altLang="zh-CN" sz="2400" b="0" i="1" smtClean="0"/>
              <a:t>t</a:t>
            </a:r>
            <a:r>
              <a:rPr lang="en-US" altLang="zh-CN" sz="2400" b="0" smtClean="0"/>
              <a:t>)</a:t>
            </a:r>
            <a:r>
              <a:rPr lang="zh-CN" altLang="en-US" sz="2400" b="0" smtClean="0"/>
              <a:t>也是均值为</a:t>
            </a:r>
            <a:r>
              <a:rPr lang="en-US" altLang="zh-CN" sz="2400" b="0" smtClean="0"/>
              <a:t>0</a:t>
            </a:r>
            <a:r>
              <a:rPr lang="zh-CN" altLang="en-US" sz="2400" b="0" smtClean="0"/>
              <a:t>的平稳</a:t>
            </a:r>
            <a:r>
              <a:rPr lang="zh-CN" altLang="en-US" sz="2400" b="0" smtClean="0">
                <a:solidFill>
                  <a:schemeClr val="hlink"/>
                </a:solidFill>
              </a:rPr>
              <a:t>高斯</a:t>
            </a:r>
            <a:r>
              <a:rPr lang="zh-CN" altLang="en-US" sz="2400" b="0" smtClean="0"/>
              <a:t>噪声（均值为</a:t>
            </a:r>
            <a:r>
              <a:rPr lang="en-US" altLang="zh-CN" sz="2400" b="0" smtClean="0"/>
              <a:t>0</a:t>
            </a:r>
            <a:r>
              <a:rPr lang="zh-CN" altLang="en-US" sz="2400" b="0" smtClean="0"/>
              <a:t>、方差为</a:t>
            </a:r>
            <a:r>
              <a:rPr lang="zh-CN" altLang="en-US" sz="2400" b="0" smtClean="0">
                <a:sym typeface="Symbol" pitchFamily="18" charset="2"/>
              </a:rPr>
              <a:t></a:t>
            </a:r>
            <a:r>
              <a:rPr lang="en-US" altLang="zh-CN" sz="2400" b="0" baseline="30000" smtClean="0">
                <a:sym typeface="Symbol" pitchFamily="18" charset="2"/>
              </a:rPr>
              <a:t>2</a:t>
            </a:r>
            <a:r>
              <a:rPr lang="zh-CN" altLang="en-US" sz="2400" b="0" smtClean="0"/>
              <a:t>），因此它的瞬时值的统计特性可用下述一维概率密度函数描述</a:t>
            </a:r>
          </a:p>
          <a:p>
            <a:pPr marL="609600" indent="-609600">
              <a:lnSpc>
                <a:spcPct val="90000"/>
              </a:lnSpc>
            </a:pPr>
            <a:endParaRPr lang="zh-CN" altLang="en-US" sz="2400" b="0" smtClean="0"/>
          </a:p>
          <a:p>
            <a:pPr marL="609600" indent="-609600">
              <a:lnSpc>
                <a:spcPct val="90000"/>
              </a:lnSpc>
            </a:pPr>
            <a:endParaRPr lang="zh-CN" altLang="en-US" sz="2400" b="0" smtClean="0"/>
          </a:p>
          <a:p>
            <a:pPr marL="609600" indent="-609600">
              <a:lnSpc>
                <a:spcPct val="90000"/>
              </a:lnSpc>
            </a:pPr>
            <a:endParaRPr lang="zh-CN" altLang="en-US" smtClean="0"/>
          </a:p>
          <a:p>
            <a:pPr marL="609600" indent="-609600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b="0" smtClean="0"/>
              <a:t>	式中， </a:t>
            </a:r>
            <a:r>
              <a:rPr lang="en-US" altLang="zh-CN" sz="2400" b="0" i="1" smtClean="0"/>
              <a:t>V</a:t>
            </a:r>
            <a:r>
              <a:rPr lang="en-US" altLang="zh-CN" sz="2400" b="0" smtClean="0"/>
              <a:t> </a:t>
            </a:r>
            <a:r>
              <a:rPr lang="zh-CN" altLang="en-US" sz="2400" b="0" smtClean="0"/>
              <a:t>－ 噪声的瞬时取值</a:t>
            </a:r>
            <a:r>
              <a:rPr lang="en-US" altLang="zh-CN" sz="2400" b="0" i="1" smtClean="0"/>
              <a:t>n</a:t>
            </a:r>
            <a:r>
              <a:rPr lang="en-US" altLang="zh-CN" sz="2400" b="0" i="1" baseline="-25000" smtClean="0"/>
              <a:t>R</a:t>
            </a:r>
            <a:r>
              <a:rPr lang="en-US" altLang="zh-CN" sz="2400" b="0" smtClean="0"/>
              <a:t> (</a:t>
            </a:r>
            <a:r>
              <a:rPr lang="en-US" altLang="zh-CN" sz="2400" b="0" i="1" smtClean="0"/>
              <a:t>kT</a:t>
            </a:r>
            <a:r>
              <a:rPr lang="en-US" altLang="zh-CN" sz="2400" b="0" i="1" baseline="-25000" smtClean="0"/>
              <a:t>s</a:t>
            </a:r>
            <a:r>
              <a:rPr lang="en-US" altLang="zh-CN" sz="2400" b="0" smtClean="0"/>
              <a:t>) </a:t>
            </a:r>
            <a:r>
              <a:rPr lang="zh-CN" altLang="en-US" sz="2400" b="0" smtClean="0"/>
              <a:t>。</a:t>
            </a:r>
          </a:p>
        </p:txBody>
      </p:sp>
      <p:grpSp>
        <p:nvGrpSpPr>
          <p:cNvPr id="37893" name="Group 4"/>
          <p:cNvGrpSpPr>
            <a:grpSpLocks/>
          </p:cNvGrpSpPr>
          <p:nvPr/>
        </p:nvGrpSpPr>
        <p:grpSpPr bwMode="auto">
          <a:xfrm>
            <a:off x="881063" y="1403350"/>
            <a:ext cx="7426325" cy="1169988"/>
            <a:chOff x="810" y="1905"/>
            <a:chExt cx="4423" cy="767"/>
          </a:xfrm>
        </p:grpSpPr>
        <p:pic>
          <p:nvPicPr>
            <p:cNvPr id="37897" name="Picture 5" descr="t0507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0" y="1905"/>
              <a:ext cx="4423" cy="7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898" name="Text Box 6"/>
            <p:cNvSpPr txBox="1">
              <a:spLocks noChangeArrowheads="1"/>
            </p:cNvSpPr>
            <p:nvPr/>
          </p:nvSpPr>
          <p:spPr bwMode="auto">
            <a:xfrm>
              <a:off x="4326" y="2132"/>
              <a:ext cx="340" cy="33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1400"/>
                <a:t>抽样</a:t>
              </a:r>
            </a:p>
            <a:p>
              <a:pPr eaLnBrk="1" hangingPunct="1"/>
              <a:r>
                <a:rPr lang="zh-CN" altLang="en-US" sz="1400"/>
                <a:t>判决</a:t>
              </a:r>
            </a:p>
          </p:txBody>
        </p:sp>
      </p:grpSp>
      <p:sp>
        <p:nvSpPr>
          <p:cNvPr id="37894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7895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7896" name="Object 2"/>
          <p:cNvGraphicFramePr>
            <a:graphicFrameLocks noGrp="1" noChangeAspect="1"/>
          </p:cNvGraphicFramePr>
          <p:nvPr>
            <p:ph sz="half" idx="2"/>
          </p:nvPr>
        </p:nvGraphicFramePr>
        <p:xfrm>
          <a:off x="2590800" y="4508500"/>
          <a:ext cx="4230688" cy="142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22" name="公式" r:id="rId4" imgW="1435100" imgH="482600" progId="Equation.3">
                  <p:embed/>
                </p:oleObj>
              </mc:Choice>
              <mc:Fallback>
                <p:oleObj name="公式" r:id="rId4" imgW="1435100" imgH="482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4508500"/>
                        <a:ext cx="4230688" cy="142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3065DC03-1E4A-4EA1-B62F-4F92DE5E41A6}" type="slidenum">
              <a:rPr lang="en-US" altLang="zh-CN" sz="1400" smtClean="0"/>
              <a:pPr eaLnBrk="1" hangingPunct="1"/>
              <a:t>37</a:t>
            </a:fld>
            <a:endParaRPr lang="en-US" altLang="zh-CN" sz="1400" smtClean="0"/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smtClean="0"/>
              <a:t>二进制双极性基带系统的抗噪性能</a:t>
            </a:r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6738" y="1179513"/>
            <a:ext cx="8577262" cy="5678487"/>
          </a:xfrm>
        </p:spPr>
        <p:txBody>
          <a:bodyPr/>
          <a:lstStyle/>
          <a:p>
            <a:pPr marL="609600" indent="-609600"/>
            <a:r>
              <a:rPr lang="zh-CN" altLang="en-US" sz="2400" b="0" smtClean="0"/>
              <a:t>信号在抽样时刻的电平取值为</a:t>
            </a:r>
            <a:r>
              <a:rPr lang="en-US" altLang="zh-CN" sz="2400" b="0" smtClean="0"/>
              <a:t>+A</a:t>
            </a:r>
            <a:r>
              <a:rPr lang="zh-CN" altLang="en-US" sz="2400" b="0" smtClean="0"/>
              <a:t>或</a:t>
            </a:r>
            <a:r>
              <a:rPr lang="en-US" altLang="zh-CN" sz="2400" b="0" smtClean="0"/>
              <a:t>-A</a:t>
            </a:r>
            <a:r>
              <a:rPr lang="zh-CN" altLang="en-US" sz="2400" b="0" smtClean="0"/>
              <a:t>（分别对应信码“</a:t>
            </a:r>
            <a:r>
              <a:rPr lang="en-US" altLang="zh-CN" sz="2400" b="0" smtClean="0"/>
              <a:t>1”</a:t>
            </a:r>
            <a:r>
              <a:rPr lang="zh-CN" altLang="en-US" sz="2400" b="0" smtClean="0"/>
              <a:t>或“</a:t>
            </a:r>
            <a:r>
              <a:rPr lang="en-US" altLang="zh-CN" sz="2400" b="0" smtClean="0"/>
              <a:t>0” </a:t>
            </a:r>
            <a:r>
              <a:rPr lang="zh-CN" altLang="en-US" sz="2400" b="0" smtClean="0"/>
              <a:t>）</a:t>
            </a:r>
            <a:r>
              <a:rPr lang="en-US" altLang="zh-CN" sz="2400" b="0" smtClean="0"/>
              <a:t>, </a:t>
            </a:r>
            <a:r>
              <a:rPr lang="zh-CN" altLang="en-US" sz="2400" b="0" smtClean="0"/>
              <a:t>则抽样判决器输入端的</a:t>
            </a:r>
            <a:r>
              <a:rPr lang="en-US" altLang="zh-CN" sz="2400" b="0" smtClean="0"/>
              <a:t>(</a:t>
            </a:r>
            <a:r>
              <a:rPr lang="zh-CN" altLang="en-US" sz="2400" b="0" smtClean="0"/>
              <a:t>信号</a:t>
            </a:r>
            <a:r>
              <a:rPr lang="en-US" altLang="zh-CN" sz="2400" b="0" smtClean="0"/>
              <a:t>+</a:t>
            </a:r>
            <a:r>
              <a:rPr lang="zh-CN" altLang="en-US" sz="2400" b="0" smtClean="0"/>
              <a:t>噪声</a:t>
            </a:r>
            <a:r>
              <a:rPr lang="en-US" altLang="zh-CN" sz="2400" b="0" smtClean="0"/>
              <a:t>)</a:t>
            </a:r>
            <a:r>
              <a:rPr lang="zh-CN" altLang="en-US" sz="2400" b="0" smtClean="0"/>
              <a:t>波形</a:t>
            </a:r>
            <a:r>
              <a:rPr lang="en-US" altLang="zh-CN" sz="2400" b="0" i="1" smtClean="0"/>
              <a:t>x</a:t>
            </a:r>
            <a:r>
              <a:rPr lang="en-US" altLang="zh-CN" sz="2400" b="0" smtClean="0"/>
              <a:t>(</a:t>
            </a:r>
            <a:r>
              <a:rPr lang="en-US" altLang="zh-CN" sz="2400" b="0" i="1" smtClean="0"/>
              <a:t>t</a:t>
            </a:r>
            <a:r>
              <a:rPr lang="en-US" altLang="zh-CN" sz="2400" b="0" smtClean="0"/>
              <a:t>)</a:t>
            </a:r>
            <a:r>
              <a:rPr lang="zh-CN" altLang="en-US" sz="2400" b="0" smtClean="0"/>
              <a:t>在抽样时刻的取值为</a:t>
            </a:r>
          </a:p>
          <a:p>
            <a:pPr marL="1371600" lvl="2" indent="-457200"/>
            <a:endParaRPr lang="zh-CN" altLang="en-US" smtClean="0"/>
          </a:p>
          <a:p>
            <a:pPr marL="1371600" lvl="2" indent="-457200"/>
            <a:endParaRPr lang="zh-CN" altLang="en-US" smtClean="0"/>
          </a:p>
          <a:p>
            <a:pPr marL="1371600" lvl="2" indent="-457200">
              <a:buFont typeface="Wingdings" pitchFamily="2" charset="2"/>
              <a:buNone/>
            </a:pPr>
            <a:r>
              <a:rPr lang="zh-CN" altLang="en-US" smtClean="0"/>
              <a:t>	根据式</a:t>
            </a:r>
          </a:p>
          <a:p>
            <a:pPr marL="1371600" lvl="2" indent="-457200"/>
            <a:endParaRPr lang="zh-CN" altLang="en-US" smtClean="0"/>
          </a:p>
          <a:p>
            <a:pPr marL="1371600" lvl="2" indent="-457200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mtClean="0"/>
              <a:t>	当发送“</a:t>
            </a:r>
            <a:r>
              <a:rPr lang="en-US" altLang="zh-CN" smtClean="0"/>
              <a:t>1”</a:t>
            </a:r>
            <a:r>
              <a:rPr lang="zh-CN" altLang="en-US" smtClean="0"/>
              <a:t>时，</a:t>
            </a:r>
            <a:r>
              <a:rPr lang="en-US" altLang="zh-CN" i="1" smtClean="0"/>
              <a:t>A</a:t>
            </a:r>
            <a:r>
              <a:rPr lang="en-US" altLang="zh-CN" smtClean="0"/>
              <a:t>+ </a:t>
            </a:r>
            <a:r>
              <a:rPr lang="en-US" altLang="zh-CN" i="1" smtClean="0"/>
              <a:t>n</a:t>
            </a:r>
            <a:r>
              <a:rPr lang="en-US" altLang="zh-CN" i="1" baseline="-25000" smtClean="0"/>
              <a:t>R</a:t>
            </a:r>
            <a:r>
              <a:rPr lang="en-US" altLang="zh-CN" smtClean="0"/>
              <a:t>(</a:t>
            </a:r>
            <a:r>
              <a:rPr lang="en-US" altLang="zh-CN" i="1" smtClean="0"/>
              <a:t>kT</a:t>
            </a:r>
            <a:r>
              <a:rPr lang="en-US" altLang="zh-CN" i="1" baseline="-25000" smtClean="0"/>
              <a:t>s</a:t>
            </a:r>
            <a:r>
              <a:rPr lang="en-US" altLang="zh-CN" smtClean="0"/>
              <a:t>)</a:t>
            </a:r>
            <a:r>
              <a:rPr lang="zh-CN" altLang="en-US" smtClean="0"/>
              <a:t>的一维概率密度函数为</a:t>
            </a:r>
          </a:p>
          <a:p>
            <a:pPr marL="1371600" lvl="2" indent="-457200">
              <a:lnSpc>
                <a:spcPct val="80000"/>
              </a:lnSpc>
              <a:buFont typeface="Wingdings" pitchFamily="2" charset="2"/>
              <a:buNone/>
            </a:pPr>
            <a:endParaRPr lang="zh-CN" altLang="en-US" smtClean="0"/>
          </a:p>
          <a:p>
            <a:pPr marL="1371600" lvl="2" indent="-457200">
              <a:lnSpc>
                <a:spcPct val="80000"/>
              </a:lnSpc>
              <a:buFont typeface="Wingdings" pitchFamily="2" charset="2"/>
              <a:buNone/>
            </a:pPr>
            <a:endParaRPr lang="zh-CN" altLang="en-US" smtClean="0"/>
          </a:p>
          <a:p>
            <a:pPr marL="1371600" lvl="2" indent="-457200">
              <a:lnSpc>
                <a:spcPct val="140000"/>
              </a:lnSpc>
              <a:buFont typeface="Wingdings" pitchFamily="2" charset="2"/>
              <a:buNone/>
            </a:pPr>
            <a:r>
              <a:rPr lang="zh-CN" altLang="en-US" smtClean="0"/>
              <a:t>	当发送“</a:t>
            </a:r>
            <a:r>
              <a:rPr lang="en-US" altLang="zh-CN" smtClean="0"/>
              <a:t>0”</a:t>
            </a:r>
            <a:r>
              <a:rPr lang="zh-CN" altLang="en-US" smtClean="0"/>
              <a:t>时，</a:t>
            </a:r>
            <a:r>
              <a:rPr lang="en-US" altLang="zh-CN" smtClean="0"/>
              <a:t>-</a:t>
            </a:r>
            <a:r>
              <a:rPr lang="en-US" altLang="zh-CN" i="1" smtClean="0"/>
              <a:t>A</a:t>
            </a:r>
            <a:r>
              <a:rPr lang="en-US" altLang="zh-CN" smtClean="0"/>
              <a:t>+ </a:t>
            </a:r>
            <a:r>
              <a:rPr lang="en-US" altLang="zh-CN" i="1" smtClean="0"/>
              <a:t>n</a:t>
            </a:r>
            <a:r>
              <a:rPr lang="en-US" altLang="zh-CN" i="1" baseline="-25000" smtClean="0"/>
              <a:t>R</a:t>
            </a:r>
            <a:r>
              <a:rPr lang="en-US" altLang="zh-CN" smtClean="0"/>
              <a:t>(</a:t>
            </a:r>
            <a:r>
              <a:rPr lang="en-US" altLang="zh-CN" i="1" smtClean="0"/>
              <a:t>kT</a:t>
            </a:r>
            <a:r>
              <a:rPr lang="en-US" altLang="zh-CN" i="1" baseline="-25000" smtClean="0"/>
              <a:t>s</a:t>
            </a:r>
            <a:r>
              <a:rPr lang="en-US" altLang="zh-CN" smtClean="0"/>
              <a:t>)</a:t>
            </a:r>
            <a:r>
              <a:rPr lang="zh-CN" altLang="en-US" smtClean="0"/>
              <a:t>的一维概率密度函数为</a:t>
            </a:r>
          </a:p>
        </p:txBody>
      </p:sp>
      <p:sp>
        <p:nvSpPr>
          <p:cNvPr id="38917" name="Rectangle 4"/>
          <p:cNvSpPr>
            <a:spLocks noChangeArrowheads="1"/>
          </p:cNvSpPr>
          <p:nvPr/>
        </p:nvSpPr>
        <p:spPr bwMode="auto">
          <a:xfrm>
            <a:off x="0" y="31861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891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2285169"/>
              </p:ext>
            </p:extLst>
          </p:nvPr>
        </p:nvGraphicFramePr>
        <p:xfrm>
          <a:off x="3233738" y="2327275"/>
          <a:ext cx="3482975" cy="72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14" name="Equation" r:id="rId3" imgW="1765080" imgH="368280" progId="Equation.DSMT4">
                  <p:embed/>
                </p:oleObj>
              </mc:Choice>
              <mc:Fallback>
                <p:oleObj name="Equation" r:id="rId3" imgW="1765080" imgH="36828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3738" y="2327275"/>
                        <a:ext cx="3482975" cy="728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9" name="Object 3"/>
          <p:cNvGraphicFramePr>
            <a:graphicFrameLocks noChangeAspect="1"/>
          </p:cNvGraphicFramePr>
          <p:nvPr/>
        </p:nvGraphicFramePr>
        <p:xfrm>
          <a:off x="2982913" y="3208338"/>
          <a:ext cx="3838575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15" name="公式" r:id="rId5" imgW="1676400" imgH="482600" progId="Equation.3">
                  <p:embed/>
                </p:oleObj>
              </mc:Choice>
              <mc:Fallback>
                <p:oleObj name="公式" r:id="rId5" imgW="1676400" imgH="482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2913" y="3208338"/>
                        <a:ext cx="3838575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0" name="Object 4"/>
          <p:cNvGraphicFramePr>
            <a:graphicFrameLocks noChangeAspect="1"/>
          </p:cNvGraphicFramePr>
          <p:nvPr/>
        </p:nvGraphicFramePr>
        <p:xfrm>
          <a:off x="3041650" y="4467225"/>
          <a:ext cx="3781425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16" r:id="rId7" imgW="1993900" imgH="482600" progId="Equation.3">
                  <p:embed/>
                </p:oleObj>
              </mc:Choice>
              <mc:Fallback>
                <p:oleObj r:id="rId7" imgW="1993900" imgH="482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1650" y="4467225"/>
                        <a:ext cx="3781425" cy="852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1" name="Object 5"/>
          <p:cNvGraphicFramePr>
            <a:graphicFrameLocks noChangeAspect="1"/>
          </p:cNvGraphicFramePr>
          <p:nvPr/>
        </p:nvGraphicFramePr>
        <p:xfrm>
          <a:off x="3311525" y="5724525"/>
          <a:ext cx="3509963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17" r:id="rId9" imgW="2006600" imgH="482600" progId="Equation.3">
                  <p:embed/>
                </p:oleObj>
              </mc:Choice>
              <mc:Fallback>
                <p:oleObj r:id="rId9" imgW="2006600" imgH="482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1525" y="5724525"/>
                        <a:ext cx="3509963" cy="849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36FB2D9-2DA2-41C5-AEB3-E7FB5F6F1C27}" type="slidenum">
              <a:rPr lang="en-US" altLang="zh-CN" sz="1400" smtClean="0"/>
              <a:pPr eaLnBrk="1" hangingPunct="1"/>
              <a:t>38</a:t>
            </a:fld>
            <a:endParaRPr lang="en-US" altLang="zh-CN" sz="1400" smtClean="0"/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 smtClean="0"/>
              <a:t>二进制双极性基带系统的抗噪性能</a:t>
            </a:r>
          </a:p>
        </p:txBody>
      </p:sp>
      <p:sp>
        <p:nvSpPr>
          <p:cNvPr id="3994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223963"/>
            <a:ext cx="9144000" cy="5634037"/>
          </a:xfrm>
        </p:spPr>
        <p:txBody>
          <a:bodyPr/>
          <a:lstStyle/>
          <a:p>
            <a:pPr lvl="3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000" smtClean="0"/>
              <a:t>上两式的曲线如下：</a:t>
            </a:r>
          </a:p>
          <a:p>
            <a:pPr lvl="3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000" smtClean="0"/>
              <a:t>在</a:t>
            </a:r>
            <a:r>
              <a:rPr lang="en-US" altLang="zh-CN" sz="2000" smtClean="0"/>
              <a:t>-A</a:t>
            </a:r>
            <a:r>
              <a:rPr lang="zh-CN" altLang="en-US" sz="2000" smtClean="0"/>
              <a:t>到</a:t>
            </a:r>
            <a:r>
              <a:rPr lang="en-US" altLang="zh-CN" sz="2000" smtClean="0"/>
              <a:t>+A</a:t>
            </a:r>
            <a:r>
              <a:rPr lang="zh-CN" altLang="en-US" sz="2000" smtClean="0"/>
              <a:t>之间选择一个适当的电平</a:t>
            </a:r>
            <a:r>
              <a:rPr lang="en-US" altLang="zh-CN" sz="2000" i="1" smtClean="0"/>
              <a:t>V</a:t>
            </a:r>
            <a:r>
              <a:rPr lang="en-US" altLang="zh-CN" sz="2000" i="1" baseline="-25000" smtClean="0"/>
              <a:t>d</a:t>
            </a:r>
            <a:r>
              <a:rPr lang="zh-CN" altLang="en-US" sz="2000" smtClean="0"/>
              <a:t>作为判决门限，根据判决规则将会出现以下几种情况：</a:t>
            </a:r>
          </a:p>
          <a:p>
            <a:pPr lvl="3">
              <a:lnSpc>
                <a:spcPct val="120000"/>
              </a:lnSpc>
              <a:buFont typeface="Wingdings" pitchFamily="2" charset="2"/>
              <a:buNone/>
            </a:pPr>
            <a:endParaRPr lang="zh-CN" altLang="en-US" sz="2000" smtClean="0"/>
          </a:p>
          <a:p>
            <a:pPr lvl="3">
              <a:lnSpc>
                <a:spcPct val="120000"/>
              </a:lnSpc>
              <a:buFont typeface="Wingdings" pitchFamily="2" charset="2"/>
              <a:buNone/>
            </a:pPr>
            <a:endParaRPr lang="zh-CN" altLang="en-US" sz="1600" smtClean="0"/>
          </a:p>
          <a:p>
            <a:pPr lvl="3">
              <a:lnSpc>
                <a:spcPct val="120000"/>
              </a:lnSpc>
              <a:buFont typeface="Wingdings" pitchFamily="2" charset="2"/>
              <a:buNone/>
            </a:pPr>
            <a:endParaRPr lang="zh-CN" altLang="en-US" sz="1600" smtClean="0"/>
          </a:p>
          <a:p>
            <a:pPr lvl="3">
              <a:lnSpc>
                <a:spcPct val="120000"/>
              </a:lnSpc>
              <a:buFont typeface="Wingdings" pitchFamily="2" charset="2"/>
              <a:buNone/>
            </a:pPr>
            <a:endParaRPr lang="zh-CN" altLang="en-US" sz="1600" smtClean="0"/>
          </a:p>
          <a:p>
            <a:pPr lvl="3">
              <a:lnSpc>
                <a:spcPct val="160000"/>
              </a:lnSpc>
              <a:buFont typeface="Wingdings" pitchFamily="2" charset="2"/>
              <a:buNone/>
            </a:pPr>
            <a:endParaRPr lang="zh-CN" altLang="en-US" sz="2000" smtClean="0"/>
          </a:p>
          <a:p>
            <a:pPr lvl="3">
              <a:lnSpc>
                <a:spcPct val="160000"/>
              </a:lnSpc>
              <a:buFont typeface="Wingdings" pitchFamily="2" charset="2"/>
              <a:buNone/>
            </a:pPr>
            <a:endParaRPr lang="zh-CN" altLang="en-US" sz="2000" smtClean="0"/>
          </a:p>
          <a:p>
            <a:pPr lvl="3">
              <a:lnSpc>
                <a:spcPct val="160000"/>
              </a:lnSpc>
              <a:buFont typeface="Wingdings" pitchFamily="2" charset="2"/>
              <a:buNone/>
            </a:pPr>
            <a:r>
              <a:rPr lang="zh-CN" altLang="en-US" sz="2000" smtClean="0"/>
              <a:t>可见，有两种差错形式：发送的“</a:t>
            </a:r>
            <a:r>
              <a:rPr lang="en-US" altLang="zh-CN" sz="2000" smtClean="0"/>
              <a:t>1”</a:t>
            </a:r>
            <a:r>
              <a:rPr lang="zh-CN" altLang="en-US" sz="2000" smtClean="0"/>
              <a:t>码被判为“</a:t>
            </a:r>
            <a:r>
              <a:rPr lang="en-US" altLang="zh-CN" sz="2000" smtClean="0"/>
              <a:t>0”</a:t>
            </a:r>
            <a:r>
              <a:rPr lang="zh-CN" altLang="en-US" sz="2000" smtClean="0"/>
              <a:t>码；发送的“</a:t>
            </a:r>
            <a:r>
              <a:rPr lang="en-US" altLang="zh-CN" sz="2000" smtClean="0"/>
              <a:t>0”</a:t>
            </a:r>
            <a:r>
              <a:rPr lang="zh-CN" altLang="en-US" sz="2000" smtClean="0"/>
              <a:t>码被判为“</a:t>
            </a:r>
            <a:r>
              <a:rPr lang="en-US" altLang="zh-CN" sz="2000" smtClean="0"/>
              <a:t>1 ”</a:t>
            </a:r>
            <a:r>
              <a:rPr lang="zh-CN" altLang="en-US" sz="2000" smtClean="0"/>
              <a:t>码。于是，错判概率</a:t>
            </a:r>
          </a:p>
        </p:txBody>
      </p:sp>
      <p:pic>
        <p:nvPicPr>
          <p:cNvPr id="39941" name="Picture 4" descr="t051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71" r="2678"/>
          <a:stretch>
            <a:fillRect/>
          </a:stretch>
        </p:blipFill>
        <p:spPr bwMode="auto">
          <a:xfrm>
            <a:off x="2411413" y="2393950"/>
            <a:ext cx="5200650" cy="275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2" name="Rectangle 5"/>
          <p:cNvSpPr>
            <a:spLocks noChangeArrowheads="1"/>
          </p:cNvSpPr>
          <p:nvPr/>
        </p:nvSpPr>
        <p:spPr bwMode="auto">
          <a:xfrm>
            <a:off x="0" y="31861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9943" name="Rectangle 7"/>
          <p:cNvSpPr>
            <a:spLocks noChangeArrowheads="1"/>
          </p:cNvSpPr>
          <p:nvPr/>
        </p:nvSpPr>
        <p:spPr bwMode="auto">
          <a:xfrm>
            <a:off x="0" y="31861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9944" name="Object 2"/>
          <p:cNvGraphicFramePr>
            <a:graphicFrameLocks noGrp="1" noChangeAspect="1"/>
          </p:cNvGraphicFramePr>
          <p:nvPr>
            <p:ph sz="half" idx="2"/>
          </p:nvPr>
        </p:nvGraphicFramePr>
        <p:xfrm>
          <a:off x="3267075" y="6038850"/>
          <a:ext cx="3644900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68" r:id="rId4" imgW="1854200" imgH="228600" progId="Equation.3">
                  <p:embed/>
                </p:oleObj>
              </mc:Choice>
              <mc:Fallback>
                <p:oleObj r:id="rId4" imgW="18542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7075" y="6038850"/>
                        <a:ext cx="3644900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E1174F93-3AFA-4A50-9EE7-111DA3F59FB6}" type="slidenum">
              <a:rPr lang="en-US" altLang="zh-CN" sz="1400" smtClean="0"/>
              <a:pPr eaLnBrk="1" hangingPunct="1"/>
              <a:t>39</a:t>
            </a:fld>
            <a:endParaRPr lang="en-US" altLang="zh-CN" sz="1400" smtClean="0"/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smtClean="0"/>
              <a:t>二进制双极性基带系统的抗噪性能</a:t>
            </a:r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6863" y="1179513"/>
            <a:ext cx="8847137" cy="5678487"/>
          </a:xfrm>
        </p:spPr>
        <p:txBody>
          <a:bodyPr/>
          <a:lstStyle/>
          <a:p>
            <a:r>
              <a:rPr lang="zh-CN" altLang="en-US" sz="2400" b="0" smtClean="0"/>
              <a:t>考虑发送</a:t>
            </a:r>
            <a:r>
              <a:rPr lang="en-US" altLang="zh-CN" sz="2400" b="0" smtClean="0"/>
              <a:t>1</a:t>
            </a:r>
            <a:r>
              <a:rPr lang="zh-CN" altLang="en-US" sz="2400" b="0" smtClean="0"/>
              <a:t>、</a:t>
            </a:r>
            <a:r>
              <a:rPr lang="en-US" altLang="zh-CN" sz="2400" b="0" smtClean="0"/>
              <a:t>0</a:t>
            </a:r>
            <a:r>
              <a:rPr lang="zh-CN" altLang="en-US" sz="2400" b="0" smtClean="0"/>
              <a:t>的概率相等的情况</a:t>
            </a:r>
          </a:p>
          <a:p>
            <a:r>
              <a:rPr lang="zh-CN" altLang="en-US" sz="2400" b="0" smtClean="0"/>
              <a:t>发“</a:t>
            </a:r>
            <a:r>
              <a:rPr lang="en-US" altLang="zh-CN" sz="2400" b="0" smtClean="0"/>
              <a:t>1”</a:t>
            </a:r>
            <a:r>
              <a:rPr lang="zh-CN" altLang="en-US" sz="2400" b="0" smtClean="0"/>
              <a:t>错判为“</a:t>
            </a:r>
            <a:r>
              <a:rPr lang="en-US" altLang="zh-CN" sz="2400" b="0" smtClean="0"/>
              <a:t>0”</a:t>
            </a:r>
            <a:r>
              <a:rPr lang="zh-CN" altLang="en-US" sz="2400" b="0" smtClean="0"/>
              <a:t>的概率</a:t>
            </a:r>
            <a:r>
              <a:rPr lang="en-US" altLang="zh-CN" sz="2400" b="0" i="1" smtClean="0"/>
              <a:t>P</a:t>
            </a:r>
            <a:r>
              <a:rPr lang="en-US" altLang="zh-CN" sz="2400" b="0" smtClean="0"/>
              <a:t>(0/1)</a:t>
            </a:r>
            <a:r>
              <a:rPr lang="zh-CN" altLang="en-US" sz="2400" b="0" smtClean="0"/>
              <a:t>为 </a:t>
            </a:r>
          </a:p>
          <a:p>
            <a:endParaRPr lang="zh-CN" altLang="en-US" sz="2400" b="0" smtClean="0"/>
          </a:p>
          <a:p>
            <a:endParaRPr lang="zh-CN" altLang="en-US" sz="2400" b="0" smtClean="0"/>
          </a:p>
          <a:p>
            <a:endParaRPr lang="zh-CN" altLang="en-US" sz="2400" b="0" smtClean="0"/>
          </a:p>
          <a:p>
            <a:endParaRPr lang="zh-CN" altLang="en-US" sz="2400" b="0" smtClean="0"/>
          </a:p>
          <a:p>
            <a:r>
              <a:rPr lang="zh-CN" altLang="en-US" sz="2400" b="0" smtClean="0"/>
              <a:t>发“</a:t>
            </a:r>
            <a:r>
              <a:rPr lang="en-US" altLang="zh-CN" sz="2400" b="0" smtClean="0"/>
              <a:t>0”</a:t>
            </a:r>
            <a:r>
              <a:rPr lang="zh-CN" altLang="en-US" sz="2400" b="0" smtClean="0"/>
              <a:t>错判为“</a:t>
            </a:r>
            <a:r>
              <a:rPr lang="en-US" altLang="zh-CN" sz="2400" b="0" smtClean="0"/>
              <a:t>1”</a:t>
            </a:r>
            <a:r>
              <a:rPr lang="zh-CN" altLang="en-US" sz="2400" b="0" smtClean="0"/>
              <a:t>的概率</a:t>
            </a:r>
            <a:r>
              <a:rPr lang="en-US" altLang="zh-CN" sz="2400" b="0" i="1" smtClean="0"/>
              <a:t>P</a:t>
            </a:r>
            <a:r>
              <a:rPr lang="en-US" altLang="zh-CN" sz="2400" b="0" smtClean="0"/>
              <a:t>(1/0)</a:t>
            </a:r>
            <a:r>
              <a:rPr lang="zh-CN" altLang="en-US" sz="2400" b="0" smtClean="0"/>
              <a:t>为</a:t>
            </a:r>
          </a:p>
          <a:p>
            <a:pPr lvl="2"/>
            <a:endParaRPr lang="zh-CN" altLang="en-US" smtClean="0"/>
          </a:p>
          <a:p>
            <a:pPr lvl="2"/>
            <a:endParaRPr lang="zh-CN" altLang="en-US" smtClean="0"/>
          </a:p>
          <a:p>
            <a:pPr lvl="2"/>
            <a:endParaRPr lang="zh-CN" altLang="en-US" smtClean="0"/>
          </a:p>
          <a:p>
            <a:pPr lvl="2"/>
            <a:endParaRPr lang="zh-CN" altLang="en-US" smtClean="0"/>
          </a:p>
          <a:p>
            <a:pPr lvl="2"/>
            <a:endParaRPr lang="en-US" altLang="zh-CN" smtClean="0"/>
          </a:p>
        </p:txBody>
      </p:sp>
      <p:graphicFrame>
        <p:nvGraphicFramePr>
          <p:cNvPr id="40965" name="Object 2"/>
          <p:cNvGraphicFramePr>
            <a:graphicFrameLocks noChangeAspect="1"/>
          </p:cNvGraphicFramePr>
          <p:nvPr/>
        </p:nvGraphicFramePr>
        <p:xfrm>
          <a:off x="1150938" y="2079625"/>
          <a:ext cx="7596187" cy="172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3" name="公式" r:id="rId3" imgW="3619500" imgH="812800" progId="Equation.3">
                  <p:embed/>
                </p:oleObj>
              </mc:Choice>
              <mc:Fallback>
                <p:oleObj name="公式" r:id="rId3" imgW="3619500" imgH="812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0938" y="2079625"/>
                        <a:ext cx="7596187" cy="172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6" name="Object 3"/>
          <p:cNvGraphicFramePr>
            <a:graphicFrameLocks noChangeAspect="1"/>
          </p:cNvGraphicFramePr>
          <p:nvPr/>
        </p:nvGraphicFramePr>
        <p:xfrm>
          <a:off x="1090613" y="4184650"/>
          <a:ext cx="7712075" cy="176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4" name="公式" r:id="rId5" imgW="3530600" imgH="812800" progId="Equation.3">
                  <p:embed/>
                </p:oleObj>
              </mc:Choice>
              <mc:Fallback>
                <p:oleObj name="公式" r:id="rId5" imgW="3530600" imgH="812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0613" y="4184650"/>
                        <a:ext cx="7712075" cy="176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9B878815-5983-4A12-85C3-AE905A53D111}" type="slidenum">
              <a:rPr lang="en-US" altLang="zh-CN" sz="1400" smtClean="0"/>
              <a:pPr eaLnBrk="1" hangingPunct="1"/>
              <a:t>40</a:t>
            </a:fld>
            <a:endParaRPr lang="en-US" altLang="zh-CN" sz="1400" smtClean="0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zh-CN" altLang="en-US" dirty="0" smtClean="0"/>
              <a:t>眼图（自选）</a:t>
            </a:r>
          </a:p>
        </p:txBody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800" smtClean="0"/>
              <a:t>在实际应用中需要用简便的实验手段来定性评价系统的性能。眼图是一种有效的实验方法。</a:t>
            </a:r>
          </a:p>
          <a:p>
            <a:pPr lvl="1"/>
            <a:r>
              <a:rPr lang="zh-CN" altLang="en-US" sz="2400" smtClean="0"/>
              <a:t>眼图是指通过用示波器观察接收端的基带信号波形时看到的效果。 </a:t>
            </a:r>
          </a:p>
          <a:p>
            <a:pPr lvl="1"/>
            <a:r>
              <a:rPr lang="zh-CN" altLang="en-US" sz="2400" smtClean="0"/>
              <a:t>具体方法：用一个示波器接在抽样判决器的输入端，然后调整示波器水平扫描周期，使其与接收码元的周期同步。此时可以从示波器显示的图形上，观察码间干扰和信道噪声等因素影响的情况</a:t>
            </a:r>
            <a:r>
              <a:rPr lang="en-US" altLang="zh-CN" sz="2400" smtClean="0"/>
              <a:t>,</a:t>
            </a:r>
            <a:r>
              <a:rPr lang="zh-CN" altLang="en-US" sz="2400" smtClean="0"/>
              <a:t>从而估计系统性能的优劣程度。</a:t>
            </a:r>
            <a:endParaRPr lang="zh-CN" altLang="en-US" smtClean="0"/>
          </a:p>
          <a:p>
            <a:pPr lvl="1"/>
            <a:r>
              <a:rPr lang="zh-CN" altLang="en-US" sz="2400" smtClean="0"/>
              <a:t>因为在传输二进制信号波形时</a:t>
            </a:r>
            <a:r>
              <a:rPr lang="en-US" altLang="zh-CN" sz="2400" smtClean="0"/>
              <a:t>, </a:t>
            </a:r>
            <a:r>
              <a:rPr lang="zh-CN" altLang="en-US" sz="2400" smtClean="0"/>
              <a:t>示波器显示的图形很像人的眼睛，故名“眼图”。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897393C1-39E2-42EC-904B-84CCB162A5CC}" type="slidenum">
              <a:rPr lang="en-US" altLang="zh-CN" sz="1400" smtClean="0"/>
              <a:pPr eaLnBrk="1" hangingPunct="1"/>
              <a:t>41</a:t>
            </a:fld>
            <a:endParaRPr lang="en-US" altLang="zh-CN" sz="1400" smtClean="0"/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smtClean="0"/>
              <a:t>眼图显示码间干扰实例（自选）</a:t>
            </a:r>
          </a:p>
        </p:txBody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US" altLang="zh-CN" sz="2400" smtClean="0"/>
          </a:p>
          <a:p>
            <a:pPr lvl="1"/>
            <a:endParaRPr lang="en-US" altLang="zh-CN" sz="2400" smtClean="0"/>
          </a:p>
          <a:p>
            <a:pPr lvl="1"/>
            <a:endParaRPr lang="en-US" altLang="zh-CN" sz="2400" smtClean="0"/>
          </a:p>
          <a:p>
            <a:pPr lvl="1"/>
            <a:endParaRPr lang="en-US" altLang="zh-CN" sz="2400" smtClean="0"/>
          </a:p>
          <a:p>
            <a:pPr lvl="1"/>
            <a:endParaRPr lang="en-US" altLang="zh-CN" sz="2400" smtClean="0"/>
          </a:p>
          <a:p>
            <a:pPr lvl="1"/>
            <a:endParaRPr lang="en-US" altLang="zh-CN" sz="2400" smtClean="0"/>
          </a:p>
          <a:p>
            <a:pPr lvl="1"/>
            <a:endParaRPr lang="en-US" altLang="zh-CN" sz="2400" smtClean="0"/>
          </a:p>
          <a:p>
            <a:pPr lvl="1"/>
            <a:endParaRPr lang="en-US" altLang="zh-CN" sz="2400" smtClean="0"/>
          </a:p>
          <a:p>
            <a:r>
              <a:rPr lang="zh-CN" altLang="en-US" sz="2400" b="0" smtClean="0"/>
              <a:t>图</a:t>
            </a:r>
            <a:r>
              <a:rPr lang="en-US" altLang="zh-CN" sz="2400" b="0" smtClean="0"/>
              <a:t>(a)</a:t>
            </a:r>
            <a:r>
              <a:rPr lang="zh-CN" altLang="en-US" sz="2400" b="0" smtClean="0"/>
              <a:t>是接收滤波器输出的无码间串扰的双极性基带波形 </a:t>
            </a:r>
          </a:p>
          <a:p>
            <a:r>
              <a:rPr lang="zh-CN" altLang="en-US" sz="2400" b="0" smtClean="0"/>
              <a:t>图</a:t>
            </a:r>
            <a:r>
              <a:rPr lang="en-US" altLang="zh-CN" sz="2400" b="0" smtClean="0"/>
              <a:t>(b)</a:t>
            </a:r>
            <a:r>
              <a:rPr lang="zh-CN" altLang="en-US" sz="2400" b="0" smtClean="0"/>
              <a:t>是接收滤波器输出的有码间串扰的双极性基带波形</a:t>
            </a:r>
          </a:p>
          <a:p>
            <a:r>
              <a:rPr lang="zh-CN" altLang="en-US" sz="2400" b="0" smtClean="0"/>
              <a:t>眼图的“眼睛”张开的越大，且眼图越端正，表示码间串扰越小；反之，表示码间串扰越大。</a:t>
            </a:r>
          </a:p>
        </p:txBody>
      </p:sp>
      <p:pic>
        <p:nvPicPr>
          <p:cNvPr id="43013" name="Picture 4" descr="t051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2400" y="1268413"/>
            <a:ext cx="6705600" cy="347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F91BD0A8-70A3-4B3E-8433-357F2DABEB68}" type="slidenum">
              <a:rPr lang="en-US" altLang="zh-CN" sz="1400" smtClean="0"/>
              <a:pPr eaLnBrk="1" hangingPunct="1"/>
              <a:t>42</a:t>
            </a:fld>
            <a:endParaRPr lang="en-US" altLang="zh-CN" sz="1400" smtClean="0"/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zh-CN" altLang="en-US" sz="5400" dirty="0" smtClean="0"/>
              <a:t>眼图显示噪声实例（自选）</a:t>
            </a:r>
          </a:p>
        </p:txBody>
      </p:sp>
      <p:sp>
        <p:nvSpPr>
          <p:cNvPr id="44036" name="Rectangle 4"/>
          <p:cNvSpPr>
            <a:spLocks noChangeArrowheads="1"/>
          </p:cNvSpPr>
          <p:nvPr/>
        </p:nvSpPr>
        <p:spPr bwMode="auto">
          <a:xfrm>
            <a:off x="0" y="20288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4037" name="Object 2"/>
          <p:cNvGraphicFramePr>
            <a:graphicFrameLocks noChangeAspect="1"/>
          </p:cNvGraphicFramePr>
          <p:nvPr/>
        </p:nvGraphicFramePr>
        <p:xfrm>
          <a:off x="657225" y="1522413"/>
          <a:ext cx="8054975" cy="429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61" r:id="rId3" imgW="2647798" imgH="1449324" progId="Visio.Drawing.11">
                  <p:embed/>
                </p:oleObj>
              </mc:Choice>
              <mc:Fallback>
                <p:oleObj r:id="rId3" imgW="2647798" imgH="1449324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035" t="6577" r="4852" b="4604"/>
                      <a:stretch>
                        <a:fillRect/>
                      </a:stretch>
                    </p:blipFill>
                    <p:spPr bwMode="auto">
                      <a:xfrm>
                        <a:off x="657225" y="1522413"/>
                        <a:ext cx="8054975" cy="429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FED69329-C37F-4550-AC25-B10FD0380C1D}" type="slidenum">
              <a:rPr lang="en-US" altLang="zh-CN" sz="1400" smtClean="0"/>
              <a:pPr eaLnBrk="1" hangingPunct="1"/>
              <a:t>43</a:t>
            </a:fld>
            <a:endParaRPr lang="en-US" altLang="zh-CN" sz="1400" smtClean="0"/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smtClean="0"/>
              <a:t>示波器上眼图的照片（自选）</a:t>
            </a:r>
          </a:p>
        </p:txBody>
      </p:sp>
      <p:sp>
        <p:nvSpPr>
          <p:cNvPr id="4506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01675" y="1179513"/>
            <a:ext cx="8101013" cy="5678487"/>
          </a:xfrm>
        </p:spPr>
        <p:txBody>
          <a:bodyPr/>
          <a:lstStyle/>
          <a:p>
            <a:pPr lvl="1"/>
            <a:endParaRPr lang="en-US" altLang="zh-CN" sz="2400" smtClean="0"/>
          </a:p>
          <a:p>
            <a:pPr lvl="1"/>
            <a:endParaRPr lang="en-US" altLang="zh-CN" sz="2400" smtClean="0"/>
          </a:p>
          <a:p>
            <a:pPr lvl="1"/>
            <a:endParaRPr lang="en-US" altLang="zh-CN" sz="2400" smtClean="0"/>
          </a:p>
          <a:p>
            <a:pPr lvl="1"/>
            <a:endParaRPr lang="en-US" altLang="zh-CN" sz="2400" smtClean="0"/>
          </a:p>
          <a:p>
            <a:pPr lvl="1"/>
            <a:endParaRPr lang="en-US" altLang="zh-CN" sz="2400" smtClean="0"/>
          </a:p>
          <a:p>
            <a:pPr lvl="1"/>
            <a:endParaRPr lang="en-US" altLang="zh-CN" sz="2400" smtClean="0"/>
          </a:p>
          <a:p>
            <a:pPr lvl="1"/>
            <a:endParaRPr lang="en-US" altLang="zh-CN" sz="2400" smtClean="0"/>
          </a:p>
          <a:p>
            <a:pPr lvl="2"/>
            <a:r>
              <a:rPr lang="zh-CN" altLang="en-US" smtClean="0"/>
              <a:t>图</a:t>
            </a:r>
            <a:r>
              <a:rPr lang="en-US" altLang="zh-CN" smtClean="0"/>
              <a:t>(a)</a:t>
            </a:r>
            <a:r>
              <a:rPr lang="zh-CN" altLang="en-US" smtClean="0"/>
              <a:t>是在几乎无噪声和无码间串扰下得到的</a:t>
            </a:r>
            <a:r>
              <a:rPr lang="en-US" altLang="zh-CN" smtClean="0"/>
              <a:t>,</a:t>
            </a:r>
          </a:p>
          <a:p>
            <a:pPr lvl="2"/>
            <a:r>
              <a:rPr lang="zh-CN" altLang="en-US" smtClean="0"/>
              <a:t>图</a:t>
            </a:r>
            <a:r>
              <a:rPr lang="en-US" altLang="zh-CN" smtClean="0"/>
              <a:t>(b)</a:t>
            </a:r>
            <a:r>
              <a:rPr lang="zh-CN" altLang="en-US" smtClean="0"/>
              <a:t>则是在明显噪声和可能的码间串扰下得到的。</a:t>
            </a:r>
          </a:p>
        </p:txBody>
      </p:sp>
      <p:pic>
        <p:nvPicPr>
          <p:cNvPr id="45061" name="Picture 4" descr="t0520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52450" y="1539875"/>
            <a:ext cx="8250238" cy="2554288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imes New Roman"/>
        <a:ea typeface="隶书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16404</TotalTime>
  <Words>3051</Words>
  <Application>Microsoft Office PowerPoint</Application>
  <PresentationFormat>全屏显示(4:3)</PresentationFormat>
  <Paragraphs>351</Paragraphs>
  <Slides>43</Slides>
  <Notes>2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43</vt:i4>
      </vt:variant>
    </vt:vector>
  </HeadingPairs>
  <TitlesOfParts>
    <vt:vector size="49" baseType="lpstr">
      <vt:lpstr>Blends</vt:lpstr>
      <vt:lpstr>Microsoft Visio 绘图</vt:lpstr>
      <vt:lpstr>公式</vt:lpstr>
      <vt:lpstr>Microsoft 公式 3.0</vt:lpstr>
      <vt:lpstr>Equation</vt:lpstr>
      <vt:lpstr>Visio</vt:lpstr>
      <vt:lpstr>数字信号的波形、码型、码间串扰、抗噪分析</vt:lpstr>
      <vt:lpstr>通信系统的组成</vt:lpstr>
      <vt:lpstr>基本概念</vt:lpstr>
      <vt:lpstr>几种基本的数字信号波形</vt:lpstr>
      <vt:lpstr>单极性 vs. 双极性</vt:lpstr>
      <vt:lpstr>归零 vs. 不归零</vt:lpstr>
      <vt:lpstr>差分波形、多电平波形</vt:lpstr>
      <vt:lpstr>传输用基带信号的主要要求</vt:lpstr>
      <vt:lpstr>传输码的码型选择原则</vt:lpstr>
      <vt:lpstr>AMI码：传号交替反转码</vt:lpstr>
      <vt:lpstr>AMI码的优缺点</vt:lpstr>
      <vt:lpstr>HDB3码：3阶高密度双极性码</vt:lpstr>
      <vt:lpstr>一起做题（遇到连零先定V的符号，再看若V与前一个非零符号不一致，则加一个B）</vt:lpstr>
      <vt:lpstr>HDB3码的译码</vt:lpstr>
      <vt:lpstr>双相码</vt:lpstr>
      <vt:lpstr>密勒码编码规则</vt:lpstr>
      <vt:lpstr>密勒码实例</vt:lpstr>
      <vt:lpstr>CMI码</vt:lpstr>
      <vt:lpstr>Q &amp; A</vt:lpstr>
      <vt:lpstr>数字基带系统中的码间串扰</vt:lpstr>
      <vt:lpstr>数字基带信号传输系统</vt:lpstr>
      <vt:lpstr>基带系统各点波形示意图</vt:lpstr>
      <vt:lpstr>码间串扰</vt:lpstr>
      <vt:lpstr>码间串扰分析（自选）</vt:lpstr>
      <vt:lpstr>码间串扰分析（自选）</vt:lpstr>
      <vt:lpstr>码间串扰分析（自选）</vt:lpstr>
      <vt:lpstr>消除码间串扰的基本思想</vt:lpstr>
      <vt:lpstr>无码间串扰的时域条件</vt:lpstr>
      <vt:lpstr>无码间串扰的频域条件（自选）</vt:lpstr>
      <vt:lpstr>无码间串扰的频域条件（自选）</vt:lpstr>
      <vt:lpstr>无码间串扰的频域条件（自选）</vt:lpstr>
      <vt:lpstr>无码间串扰的频域条件（自选）</vt:lpstr>
      <vt:lpstr>图例（了解频域条件对应的含义）</vt:lpstr>
      <vt:lpstr>奈奎斯特带宽与速率</vt:lpstr>
      <vt:lpstr>奈奎斯特带宽与速率</vt:lpstr>
      <vt:lpstr>抗噪分析模型</vt:lpstr>
      <vt:lpstr>二进制双极性基带系统的抗噪性能</vt:lpstr>
      <vt:lpstr>二进制双极性基带系统的抗噪性能</vt:lpstr>
      <vt:lpstr>二进制双极性基带系统的抗噪性能</vt:lpstr>
      <vt:lpstr>眼图（自选）</vt:lpstr>
      <vt:lpstr>眼图显示码间干扰实例（自选）</vt:lpstr>
      <vt:lpstr>眼图显示噪声实例（自选）</vt:lpstr>
      <vt:lpstr>示波器上眼图的照片（自选）</vt:lpstr>
    </vt:vector>
  </TitlesOfParts>
  <Company>Xidian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通信原理</dc:title>
  <dc:creator>Fan</dc:creator>
  <cp:lastModifiedBy>Will</cp:lastModifiedBy>
  <cp:revision>338</cp:revision>
  <dcterms:created xsi:type="dcterms:W3CDTF">2005-12-13T08:40:34Z</dcterms:created>
  <dcterms:modified xsi:type="dcterms:W3CDTF">2025-04-23T01:17:43Z</dcterms:modified>
</cp:coreProperties>
</file>