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71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2" r:id="rId20"/>
    <p:sldId id="273" r:id="rId21"/>
    <p:sldId id="270" r:id="rId2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c17f0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5750" y="476250"/>
            <a:ext cx="762000" cy="762000"/>
          </a:xfrm>
          <a:prstGeom prst="roundRect">
            <a:avLst>
              <a:gd name="adj" fmla="val 120000"/>
            </a:avLst>
          </a:prstGeom>
          <a:noFill/>
          <a:ln w="28575">
            <a:solidFill>
              <a:srgbClr val="2196F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048625" y="619125"/>
            <a:ext cx="476250" cy="476250"/>
          </a:xfrm>
          <a:prstGeom prst="roundRect">
            <a:avLst>
              <a:gd name="adj" fmla="val 192000"/>
            </a:avLst>
          </a:prstGeom>
          <a:noFill/>
          <a:ln w="19050">
            <a:solidFill>
              <a:srgbClr val="00BC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577136" y="1903065"/>
            <a:ext cx="3989579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5"/>
              </a:lnSpc>
              <a:buNone/>
            </a:pPr>
            <a:r>
              <a:rPr lang="en-US" sz="975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ARCHITECTURE COURSE PROJECT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1156850" y="2241203"/>
            <a:ext cx="6830300" cy="4704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05"/>
              </a:lnSpc>
              <a:buNone/>
            </a:pPr>
            <a:r>
              <a:rPr lang="en-US" sz="285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基于RISC-V的五级流水线CPU设计与实现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2817763" y="2940248"/>
            <a:ext cx="1121420" cy="300038"/>
          </a:xfrm>
          <a:prstGeom prst="roundRect">
            <a:avLst>
              <a:gd name="adj" fmla="val 63492"/>
            </a:avLst>
          </a:prstGeom>
          <a:solidFill>
            <a:srgbClr val="2196F3">
              <a:alpha val="1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961997" y="2997398"/>
            <a:ext cx="832952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5"/>
              </a:lnSpc>
              <a:buNone/>
            </a:pPr>
            <a:r>
              <a:rPr lang="en-US" sz="975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RV32IM指令集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4091583" y="2940248"/>
            <a:ext cx="814090" cy="300038"/>
          </a:xfrm>
          <a:prstGeom prst="roundRect">
            <a:avLst>
              <a:gd name="adj" fmla="val 63492"/>
            </a:avLst>
          </a:prstGeom>
          <a:solidFill>
            <a:srgbClr val="00BCD4">
              <a:alpha val="1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238890" y="2997398"/>
            <a:ext cx="519476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5"/>
              </a:lnSpc>
              <a:buNone/>
            </a:pPr>
            <a:r>
              <a:rPr lang="en-US" sz="975" dirty="0">
                <a:solidFill>
                  <a:srgbClr val="0097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43条指令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5058073" y="2940248"/>
            <a:ext cx="1268164" cy="300038"/>
          </a:xfrm>
          <a:prstGeom prst="roundRect">
            <a:avLst>
              <a:gd name="adj" fmla="val 63492"/>
            </a:avLst>
          </a:prstGeom>
          <a:solidFill>
            <a:srgbClr val="2196F3">
              <a:alpha val="1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200839" y="2997398"/>
            <a:ext cx="982632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5"/>
              </a:lnSpc>
              <a:buNone/>
            </a:pPr>
            <a:r>
              <a:rPr lang="en-US" sz="975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EGO1 FPGA验证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2276033" y="3905250"/>
            <a:ext cx="1016636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姓名：</a:t>
            </a:r>
            <a:r>
              <a:rPr lang="zh-CN" altLang="en-US" sz="15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陆</a:t>
            </a:r>
            <a:r>
              <a:rPr lang="zh-CN" altLang="en-US" sz="15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艺</a:t>
            </a:r>
            <a:endParaRPr lang="zh-CN" altLang="en-US" sz="1500" dirty="0">
              <a:solidFill>
                <a:srgbClr val="5A7A9A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587006" y="4048125"/>
            <a:ext cx="5055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B3D4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|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36010" y="3905250"/>
            <a:ext cx="1725295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学号：2023213122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42868" y="4048125"/>
            <a:ext cx="5055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B3D4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|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585119" y="3905250"/>
            <a:ext cx="1285634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zh-CN" altLang="en-US" sz="15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队友</a:t>
            </a:r>
            <a:r>
              <a:rPr lang="en-US" sz="15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</a:t>
            </a:r>
            <a:r>
              <a:rPr lang="zh-CN" altLang="en-US" sz="15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黄嘉</a:t>
            </a:r>
            <a:r>
              <a:rPr lang="zh-CN" altLang="en-US" sz="15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慧</a:t>
            </a:r>
            <a:endParaRPr lang="zh-CN" altLang="en-US" sz="1500" dirty="0">
              <a:solidFill>
                <a:srgbClr val="5A7A9A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pic>
        <p:nvPicPr>
          <p:cNvPr id="18" name="Image 1" descr="/tmp/rasterized-gradient-a4ecae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4733925"/>
            <a:ext cx="1905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目录 Contents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5750" y="6096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196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1304925"/>
            <a:ext cx="4133850" cy="533400"/>
          </a:xfrm>
          <a:prstGeom prst="roundRect">
            <a:avLst>
              <a:gd name="adj" fmla="val 14286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1304925"/>
            <a:ext cx="0" cy="533400"/>
          </a:xfrm>
          <a:prstGeom prst="line">
            <a:avLst/>
          </a:prstGeom>
          <a:noFill/>
          <a:ln w="381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6250" y="14192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196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4385" y="1471613"/>
            <a:ext cx="15134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3450" y="1471613"/>
            <a:ext cx="122415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项目背景与设计目标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5750" y="1933575"/>
            <a:ext cx="4133850" cy="533400"/>
          </a:xfrm>
          <a:prstGeom prst="roundRect">
            <a:avLst>
              <a:gd name="adj" fmla="val 14286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04800" y="1933575"/>
            <a:ext cx="0" cy="533400"/>
          </a:xfrm>
          <a:prstGeom prst="line">
            <a:avLst/>
          </a:prstGeom>
          <a:noFill/>
          <a:ln w="3810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6250" y="20478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196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4385" y="2100263"/>
            <a:ext cx="15134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3450" y="2100263"/>
            <a:ext cx="114111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RISC-V指令集架构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5750" y="2562225"/>
            <a:ext cx="4133850" cy="533400"/>
          </a:xfrm>
          <a:prstGeom prst="roundRect">
            <a:avLst>
              <a:gd name="adj" fmla="val 14286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04800" y="2562225"/>
            <a:ext cx="0" cy="533400"/>
          </a:xfrm>
          <a:prstGeom prst="line">
            <a:avLst/>
          </a:prstGeom>
          <a:noFill/>
          <a:ln w="38100">
            <a:solidFill>
              <a:srgbClr val="2196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250" y="26765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196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4385" y="2728913"/>
            <a:ext cx="15134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3450" y="2728913"/>
            <a:ext cx="110331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CPU整体架构设计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5750" y="3190875"/>
            <a:ext cx="4133850" cy="533400"/>
          </a:xfrm>
          <a:prstGeom prst="roundRect">
            <a:avLst>
              <a:gd name="adj" fmla="val 14286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04800" y="3190875"/>
            <a:ext cx="0" cy="533400"/>
          </a:xfrm>
          <a:prstGeom prst="line">
            <a:avLst/>
          </a:prstGeom>
          <a:noFill/>
          <a:ln w="38100">
            <a:solidFill>
              <a:srgbClr val="2196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250" y="33051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196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4385" y="3357563"/>
            <a:ext cx="15134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3450" y="3357563"/>
            <a:ext cx="136017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五级流水线各阶段详解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5750" y="3819525"/>
            <a:ext cx="4133850" cy="533400"/>
          </a:xfrm>
          <a:prstGeom prst="roundRect">
            <a:avLst>
              <a:gd name="adj" fmla="val 14286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04800" y="3819525"/>
            <a:ext cx="0" cy="533400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250" y="39338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BCD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4385" y="3986213"/>
            <a:ext cx="15134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33450" y="3986213"/>
            <a:ext cx="81610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数据通路设计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24400" y="1304925"/>
            <a:ext cx="4133850" cy="533400"/>
          </a:xfrm>
          <a:prstGeom prst="roundRect">
            <a:avLst>
              <a:gd name="adj" fmla="val 14286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743450" y="1304925"/>
            <a:ext cx="0" cy="533400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4900" y="14192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BCD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93035" y="1471613"/>
            <a:ext cx="15134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72100" y="1471613"/>
            <a:ext cx="95211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流水线冲突分析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24400" y="1933575"/>
            <a:ext cx="4133850" cy="533400"/>
          </a:xfrm>
          <a:prstGeom prst="roundRect">
            <a:avLst>
              <a:gd name="adj" fmla="val 14286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743450" y="1933575"/>
            <a:ext cx="0" cy="533400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4900" y="20478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BCD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93035" y="2100263"/>
            <a:ext cx="15134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72100" y="2100263"/>
            <a:ext cx="108813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冲突处理机制实现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24400" y="2562225"/>
            <a:ext cx="4133850" cy="533400"/>
          </a:xfrm>
          <a:prstGeom prst="roundRect">
            <a:avLst>
              <a:gd name="adj" fmla="val 14286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743450" y="2562225"/>
            <a:ext cx="0" cy="533400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4900" y="26765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98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993035" y="2728913"/>
            <a:ext cx="15134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72100" y="2728913"/>
            <a:ext cx="122415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性能优化与问题修复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24400" y="3190875"/>
            <a:ext cx="4133850" cy="533400"/>
          </a:xfrm>
          <a:prstGeom prst="roundRect">
            <a:avLst>
              <a:gd name="adj" fmla="val 14286"/>
            </a:avLst>
          </a:prstGeom>
          <a:solidFill>
            <a:srgbClr val="E8F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4743450" y="3190875"/>
            <a:ext cx="0" cy="53340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4900" y="33051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CAF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993035" y="3357563"/>
            <a:ext cx="15134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372100" y="3357563"/>
            <a:ext cx="95211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测试验证与结果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724400" y="3819525"/>
            <a:ext cx="4133850" cy="533400"/>
          </a:xfrm>
          <a:prstGeom prst="roundRect">
            <a:avLst>
              <a:gd name="adj" fmla="val 14286"/>
            </a:avLst>
          </a:prstGeom>
          <a:solidFill>
            <a:srgbClr val="E8F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743450" y="3819525"/>
            <a:ext cx="0" cy="53340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14900" y="39338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CAF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993035" y="3986213"/>
            <a:ext cx="15134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372100" y="3986213"/>
            <a:ext cx="68008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总结与展望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596015" y="4748213"/>
            <a:ext cx="26748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/ 15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项目背景与设计目标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196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/tmp/rasterized-gradient-e50004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248668"/>
            <a:ext cx="4133850" cy="3491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9100" y="1343918"/>
            <a:ext cx="1981962" cy="1586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项目背景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285750" y="1712119"/>
            <a:ext cx="4133850" cy="1405533"/>
          </a:xfrm>
          <a:prstGeom prst="roundRect">
            <a:avLst>
              <a:gd name="adj" fmla="val 5421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09575" y="1835944"/>
            <a:ext cx="3963924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为什么选择RISC-V？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09575" y="2041624"/>
            <a:ext cx="3963924" cy="3351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RISC-V是一种开源的精简指令集架构(ISA)，具有模块化、可扩展的特点。相比x86和ARM，RISC-V指令格式规整，非常适合教学和研究。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09575" y="2452985"/>
            <a:ext cx="3963924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为什么采用流水线？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409575" y="2658666"/>
            <a:ext cx="3963924" cy="3351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82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流水线技术通过将指令执行分解为多个阶段并行处理，显著提高CPU吞吐量。五级流水线是经典设计，平衡了性能和复杂度。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285750" y="3231952"/>
            <a:ext cx="4133850" cy="1120080"/>
          </a:xfrm>
          <a:prstGeom prst="roundRect">
            <a:avLst>
              <a:gd name="adj" fmla="val 6803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00050" y="3346252"/>
            <a:ext cx="3983355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课程设计要求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400050" y="3551932"/>
            <a:ext cx="398335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实现RV32I基本指令集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00050" y="3732907"/>
            <a:ext cx="398335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采用流水线架构提高性能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00050" y="3913882"/>
            <a:ext cx="398335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处理各类流水线冲突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00050" y="4094857"/>
            <a:ext cx="398335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在FPGA上验证功能正确性</a:t>
            </a:r>
            <a:endParaRPr lang="en-US" sz="750" dirty="0"/>
          </a:p>
        </p:txBody>
      </p:sp>
      <p:pic>
        <p:nvPicPr>
          <p:cNvPr id="17" name="Image 1" descr="/tmp/rasterized-gradient-997ffc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470868"/>
            <a:ext cx="4133850" cy="34915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57750" y="1566118"/>
            <a:ext cx="1981962" cy="1586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设计目标与技术规格</a:t>
            </a:r>
            <a:endParaRPr lang="en-US" sz="1125" dirty="0"/>
          </a:p>
        </p:txBody>
      </p:sp>
      <p:sp>
        <p:nvSpPr>
          <p:cNvPr id="19" name="Text 15"/>
          <p:cNvSpPr/>
          <p:nvPr/>
        </p:nvSpPr>
        <p:spPr>
          <a:xfrm>
            <a:off x="4724400" y="1934319"/>
            <a:ext cx="4133850" cy="2195513"/>
          </a:xfrm>
          <a:prstGeom prst="roundRect">
            <a:avLst>
              <a:gd name="adj" fmla="val 3471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733925" y="1943844"/>
            <a:ext cx="4114800" cy="319088"/>
          </a:xfrm>
          <a:prstGeom prst="rect">
            <a:avLst/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7"/>
          <p:cNvSpPr/>
          <p:nvPr/>
        </p:nvSpPr>
        <p:spPr>
          <a:xfrm>
            <a:off x="4733925" y="2258169"/>
            <a:ext cx="4114800" cy="0"/>
          </a:xfrm>
          <a:prstGeom prst="line">
            <a:avLst/>
          </a:prstGeom>
          <a:noFill/>
          <a:ln w="9525">
            <a:solidFill>
              <a:srgbClr val="B3D4F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48225" y="2020044"/>
            <a:ext cx="152336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技术指标</a:t>
            </a:r>
            <a:endParaRPr lang="en-US" sz="825" dirty="0"/>
          </a:p>
        </p:txBody>
      </p:sp>
      <p:sp>
        <p:nvSpPr>
          <p:cNvPr id="23" name="Text 19"/>
          <p:cNvSpPr/>
          <p:nvPr/>
        </p:nvSpPr>
        <p:spPr>
          <a:xfrm>
            <a:off x="6494115" y="2020044"/>
            <a:ext cx="2285116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设计规格</a:t>
            </a:r>
            <a:endParaRPr lang="en-US" sz="825" dirty="0"/>
          </a:p>
        </p:txBody>
      </p:sp>
      <p:sp>
        <p:nvSpPr>
          <p:cNvPr id="24" name="Shape 20"/>
          <p:cNvSpPr/>
          <p:nvPr/>
        </p:nvSpPr>
        <p:spPr>
          <a:xfrm>
            <a:off x="4733925" y="2524869"/>
            <a:ext cx="4114800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48225" y="2320082"/>
            <a:ext cx="152336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指令集架构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6494115" y="2320082"/>
            <a:ext cx="228511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RISC-V RV32IM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33925" y="2529632"/>
            <a:ext cx="4114800" cy="266700"/>
          </a:xfrm>
          <a:prstGeom prst="rect">
            <a:avLst/>
          </a:prstGeom>
          <a:solidFill>
            <a:srgbClr val="F5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4"/>
          <p:cNvSpPr/>
          <p:nvPr/>
        </p:nvSpPr>
        <p:spPr>
          <a:xfrm>
            <a:off x="4733925" y="2791569"/>
            <a:ext cx="4114800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48225" y="2586782"/>
            <a:ext cx="152336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数据位宽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6494115" y="2586782"/>
            <a:ext cx="228511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32位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4733925" y="3058269"/>
            <a:ext cx="4114800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48225" y="2853482"/>
            <a:ext cx="152336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流水线级数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6494115" y="2853482"/>
            <a:ext cx="228511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5级（IF/ID/EX/MEM/WB）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33925" y="3063032"/>
            <a:ext cx="4114800" cy="266700"/>
          </a:xfrm>
          <a:prstGeom prst="rect">
            <a:avLst/>
          </a:prstGeom>
          <a:solidFill>
            <a:srgbClr val="F5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1"/>
          <p:cNvSpPr/>
          <p:nvPr/>
        </p:nvSpPr>
        <p:spPr>
          <a:xfrm>
            <a:off x="4733925" y="3324969"/>
            <a:ext cx="4114800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848225" y="3120182"/>
            <a:ext cx="152336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支持指令数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6494115" y="3120182"/>
            <a:ext cx="228511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43条（37基本 + 6乘除法）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4733925" y="3591669"/>
            <a:ext cx="4114800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848225" y="3386882"/>
            <a:ext cx="152336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通用寄存器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6494115" y="3386882"/>
            <a:ext cx="228511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32个 x 32位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4733925" y="3596432"/>
            <a:ext cx="4114800" cy="266700"/>
          </a:xfrm>
          <a:prstGeom prst="rect">
            <a:avLst/>
          </a:prstGeom>
          <a:solidFill>
            <a:srgbClr val="F5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38"/>
          <p:cNvSpPr/>
          <p:nvPr/>
        </p:nvSpPr>
        <p:spPr>
          <a:xfrm>
            <a:off x="4733925" y="3858369"/>
            <a:ext cx="4114800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848225" y="3653582"/>
            <a:ext cx="152336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冲突处理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6494115" y="3653582"/>
            <a:ext cx="228511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 + 阻塞 + 冲刷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4848225" y="3920282"/>
            <a:ext cx="152336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验证平台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6494115" y="3920282"/>
            <a:ext cx="228511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EGO1 FPGA开发板</a:t>
            </a:r>
            <a:endParaRPr lang="en-US" sz="750" dirty="0"/>
          </a:p>
        </p:txBody>
      </p:sp>
      <p:sp>
        <p:nvSpPr>
          <p:cNvPr id="47" name="Text 43"/>
          <p:cNvSpPr/>
          <p:nvPr/>
        </p:nvSpPr>
        <p:spPr>
          <a:xfrm>
            <a:off x="8596015" y="4748213"/>
            <a:ext cx="26748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/ 15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RISC-V指令集架构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196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914400"/>
            <a:ext cx="8572500" cy="1118592"/>
          </a:xfrm>
          <a:prstGeom prst="roundRect">
            <a:avLst>
              <a:gd name="adj" fmla="val 6812"/>
            </a:avLst>
          </a:prstGeom>
          <a:solidFill>
            <a:srgbClr val="FFFFFF"/>
          </a:solidFill>
          <a:ln w="9525">
            <a:solidFill>
              <a:srgbClr val="B3D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0525" y="1019175"/>
            <a:ext cx="4274820" cy="1375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RISC-V 32位指令格式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63157" y="1232892"/>
            <a:ext cx="2791536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R-type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0525" y="1547217"/>
            <a:ext cx="2736800" cy="3810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9525">
            <a:solidFill>
              <a:srgbClr val="B3D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1734" y="1594842"/>
            <a:ext cx="269438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funct7|rs2|rs1|f3|rd|op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76157" y="1232892"/>
            <a:ext cx="2791536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I-type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3525" y="1547217"/>
            <a:ext cx="2736800" cy="38100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 w="9525">
            <a:solidFill>
              <a:srgbClr val="B3D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24735" y="1594842"/>
            <a:ext cx="269438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0097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imm[11:0]|rs1|f3|rd|op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89158" y="1232892"/>
            <a:ext cx="2791536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S-type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16526" y="1547217"/>
            <a:ext cx="2736800" cy="381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9525">
            <a:solidFill>
              <a:srgbClr val="B3D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37735" y="1594842"/>
            <a:ext cx="269438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imm|rs2|rs1|f3|imm|op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5750" y="2340173"/>
            <a:ext cx="2535746" cy="148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buNone/>
            </a:pPr>
            <a:r>
              <a:rPr lang="en-US" sz="105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本设计支持的43条指令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5750" y="2564457"/>
            <a:ext cx="4960590" cy="1909762"/>
          </a:xfrm>
          <a:prstGeom prst="roundRect">
            <a:avLst>
              <a:gd name="adj" fmla="val 3990"/>
            </a:avLst>
          </a:prstGeom>
          <a:solidFill>
            <a:srgbClr val="FFFFFF"/>
          </a:solidFill>
          <a:ln w="9525">
            <a:solidFill>
              <a:srgbClr val="B3D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95275" y="2573982"/>
            <a:ext cx="4941540" cy="266700"/>
          </a:xfrm>
          <a:prstGeom prst="rect">
            <a:avLst/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95275" y="2835920"/>
            <a:ext cx="4941540" cy="0"/>
          </a:xfrm>
          <a:prstGeom prst="line">
            <a:avLst/>
          </a:prstGeom>
          <a:noFill/>
          <a:ln w="9525">
            <a:solidFill>
              <a:srgbClr val="B3D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0525" y="2631132"/>
            <a:ext cx="113382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类型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647853" y="2631132"/>
            <a:ext cx="68023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数量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473821" y="2631132"/>
            <a:ext cx="272109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指令列表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95275" y="3069282"/>
            <a:ext cx="4941540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0525" y="2888307"/>
            <a:ext cx="113382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R-type算术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1647853" y="2888307"/>
            <a:ext cx="68023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2473821" y="2888307"/>
            <a:ext cx="272109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SUB SLL SLT SLTU XOR SRL SRA OR AND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295275" y="3074045"/>
            <a:ext cx="4941540" cy="233362"/>
          </a:xfrm>
          <a:prstGeom prst="rect">
            <a:avLst/>
          </a:prstGeom>
          <a:solidFill>
            <a:srgbClr val="F5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295275" y="3302645"/>
            <a:ext cx="4941540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0525" y="3121670"/>
            <a:ext cx="113382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I-type算术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1647853" y="3121670"/>
            <a:ext cx="68023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2473821" y="3121670"/>
            <a:ext cx="272109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ADDI SLTI SLTIU XORI ORI ANDI SLLI SRLI SRAI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295275" y="3536007"/>
            <a:ext cx="4941540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0525" y="3355032"/>
            <a:ext cx="113382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Load指令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1647853" y="3355032"/>
            <a:ext cx="68023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2473821" y="3355032"/>
            <a:ext cx="272109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LB LH LW LBU LHU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295275" y="3540770"/>
            <a:ext cx="4941540" cy="233362"/>
          </a:xfrm>
          <a:prstGeom prst="rect">
            <a:avLst/>
          </a:prstGeom>
          <a:solidFill>
            <a:srgbClr val="F5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95275" y="3769370"/>
            <a:ext cx="4941540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0525" y="3588395"/>
            <a:ext cx="113382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Store指令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1647853" y="3588395"/>
            <a:ext cx="68023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2473821" y="3588395"/>
            <a:ext cx="272109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SB SH SW</a:t>
            </a:r>
            <a:endParaRPr lang="en-US" sz="675" dirty="0"/>
          </a:p>
        </p:txBody>
      </p:sp>
      <p:sp>
        <p:nvSpPr>
          <p:cNvPr id="40" name="Shape 38"/>
          <p:cNvSpPr/>
          <p:nvPr/>
        </p:nvSpPr>
        <p:spPr>
          <a:xfrm>
            <a:off x="295275" y="4002732"/>
            <a:ext cx="4941540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0525" y="3821757"/>
            <a:ext cx="113382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B-type分支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1647853" y="3821757"/>
            <a:ext cx="68023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2473821" y="3821757"/>
            <a:ext cx="272109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BEQ BNE BLT BGE BLTU BGEU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295275" y="4007495"/>
            <a:ext cx="4941540" cy="233362"/>
          </a:xfrm>
          <a:prstGeom prst="rect">
            <a:avLst/>
          </a:prstGeom>
          <a:solidFill>
            <a:srgbClr val="F5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295275" y="4236095"/>
            <a:ext cx="4941540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0525" y="4055120"/>
            <a:ext cx="113382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U/J-type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1647853" y="4055120"/>
            <a:ext cx="68023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2473821" y="4055120"/>
            <a:ext cx="272109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LUI AUIPC JAL JALR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390525" y="4288482"/>
            <a:ext cx="113382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M扩展乘除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1647853" y="4288482"/>
            <a:ext cx="68023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FF98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2473821" y="4288482"/>
            <a:ext cx="272109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 MULH MULHSU MULHU DIV REM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5551140" y="2494062"/>
            <a:ext cx="1690497" cy="148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buNone/>
            </a:pPr>
            <a:r>
              <a:rPr lang="en-US" sz="105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指令编码特点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551140" y="2718346"/>
            <a:ext cx="3307110" cy="1601986"/>
          </a:xfrm>
          <a:prstGeom prst="roundRect">
            <a:avLst>
              <a:gd name="adj" fmla="val 4757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655915" y="2823121"/>
            <a:ext cx="31595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RISC-V采用固定32位指令长度，opcode固定在低7位，便于快速译码。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655915" y="3051721"/>
            <a:ext cx="3159511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设计优势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5655915" y="3215432"/>
            <a:ext cx="315951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源寄存器rs1/rs2位置固定，可提前读取</a:t>
            </a:r>
            <a:endParaRPr lang="en-US" sz="675" dirty="0"/>
          </a:p>
        </p:txBody>
      </p:sp>
      <p:sp>
        <p:nvSpPr>
          <p:cNvPr id="57" name="Text 55"/>
          <p:cNvSpPr/>
          <p:nvPr/>
        </p:nvSpPr>
        <p:spPr>
          <a:xfrm>
            <a:off x="5655915" y="3382119"/>
            <a:ext cx="315951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目标寄存器rd位置固定，简化写回逻辑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5655915" y="3548807"/>
            <a:ext cx="315951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立即数需要拼接重组，由立即数生成器完成</a:t>
            </a:r>
            <a:endParaRPr lang="en-US" sz="675" dirty="0"/>
          </a:p>
        </p:txBody>
      </p:sp>
      <p:sp>
        <p:nvSpPr>
          <p:cNvPr id="59" name="Text 57"/>
          <p:cNvSpPr/>
          <p:nvPr/>
        </p:nvSpPr>
        <p:spPr>
          <a:xfrm>
            <a:off x="5655915" y="3753594"/>
            <a:ext cx="3097560" cy="461963"/>
          </a:xfrm>
          <a:prstGeom prst="roundRect">
            <a:avLst>
              <a:gd name="adj" fmla="val 12371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732115" y="3829794"/>
            <a:ext cx="300406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E651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M扩展说明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732115" y="4010769"/>
            <a:ext cx="3004063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M扩展提供硬件乘除法支持，避免软件模拟，大幅提升运算性能</a:t>
            </a:r>
            <a:endParaRPr lang="en-US" sz="675" dirty="0"/>
          </a:p>
        </p:txBody>
      </p:sp>
      <p:sp>
        <p:nvSpPr>
          <p:cNvPr id="62" name="Text 60"/>
          <p:cNvSpPr/>
          <p:nvPr/>
        </p:nvSpPr>
        <p:spPr>
          <a:xfrm>
            <a:off x="8596015" y="4748213"/>
            <a:ext cx="26748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/ 15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CPU整体架构设计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196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895350"/>
            <a:ext cx="8572500" cy="938213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9525">
            <a:solidFill>
              <a:srgbClr val="B3D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/tmp/rasterized-gradient-822adc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38" y="1038225"/>
            <a:ext cx="714375" cy="5238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86211" y="1133475"/>
            <a:ext cx="45662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686211" y="1352550"/>
            <a:ext cx="456628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取指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663136" y="1590675"/>
            <a:ext cx="502777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5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Instruction Fetch</a:t>
            </a:r>
            <a:endParaRPr lang="en-US" sz="525" dirty="0"/>
          </a:p>
        </p:txBody>
      </p:sp>
      <p:sp>
        <p:nvSpPr>
          <p:cNvPr id="9" name="Text 6"/>
          <p:cNvSpPr/>
          <p:nvPr/>
        </p:nvSpPr>
        <p:spPr>
          <a:xfrm>
            <a:off x="2309813" y="1250156"/>
            <a:ext cx="15544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500313" y="1234976"/>
            <a:ext cx="157163" cy="258812"/>
          </a:xfrm>
          <a:prstGeom prst="roundRect">
            <a:avLst>
              <a:gd name="adj" fmla="val 24242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 rot="5400000">
            <a:off x="2506638" y="1314376"/>
            <a:ext cx="147402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525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IF/ID</a:t>
            </a:r>
            <a:endParaRPr lang="en-US" sz="525" dirty="0"/>
          </a:p>
        </p:txBody>
      </p:sp>
      <p:sp>
        <p:nvSpPr>
          <p:cNvPr id="12" name="Text 9"/>
          <p:cNvSpPr/>
          <p:nvPr/>
        </p:nvSpPr>
        <p:spPr>
          <a:xfrm>
            <a:off x="2695575" y="1250156"/>
            <a:ext cx="15544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pic>
        <p:nvPicPr>
          <p:cNvPr id="13" name="Image 1" descr="/tmp/rasterized-gradient-b3a88f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075" y="1038225"/>
            <a:ext cx="714375" cy="5238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14948" y="1133475"/>
            <a:ext cx="45662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014948" y="1352550"/>
            <a:ext cx="456628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译码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2959691" y="1590675"/>
            <a:ext cx="567142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5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Instruction Decode</a:t>
            </a:r>
            <a:endParaRPr lang="en-US" sz="525" dirty="0"/>
          </a:p>
        </p:txBody>
      </p:sp>
      <p:sp>
        <p:nvSpPr>
          <p:cNvPr id="17" name="Text 13"/>
          <p:cNvSpPr/>
          <p:nvPr/>
        </p:nvSpPr>
        <p:spPr>
          <a:xfrm>
            <a:off x="3638550" y="1250156"/>
            <a:ext cx="15544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829050" y="1220093"/>
            <a:ext cx="157163" cy="288578"/>
          </a:xfrm>
          <a:prstGeom prst="roundRect">
            <a:avLst>
              <a:gd name="adj" fmla="val 24242"/>
            </a:avLst>
          </a:prstGeom>
          <a:solidFill>
            <a:srgbClr val="E0F7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 rot="5400000">
            <a:off x="3820492" y="1314376"/>
            <a:ext cx="177763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525" dirty="0">
                <a:solidFill>
                  <a:srgbClr val="0097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ID/EX</a:t>
            </a:r>
            <a:endParaRPr lang="en-US" sz="525" dirty="0"/>
          </a:p>
        </p:txBody>
      </p:sp>
      <p:sp>
        <p:nvSpPr>
          <p:cNvPr id="20" name="Text 16"/>
          <p:cNvSpPr/>
          <p:nvPr/>
        </p:nvSpPr>
        <p:spPr>
          <a:xfrm>
            <a:off x="4024313" y="1250156"/>
            <a:ext cx="15544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pic>
        <p:nvPicPr>
          <p:cNvPr id="21" name="Image 2" descr="/tmp/rasterized-gradient-5016eb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3" y="1038225"/>
            <a:ext cx="714375" cy="5238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343686" y="1133475"/>
            <a:ext cx="45662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343686" y="1352550"/>
            <a:ext cx="456628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执行</a:t>
            </a:r>
            <a:endParaRPr lang="en-US" sz="600" dirty="0"/>
          </a:p>
        </p:txBody>
      </p:sp>
      <p:sp>
        <p:nvSpPr>
          <p:cNvPr id="24" name="Text 19"/>
          <p:cNvSpPr/>
          <p:nvPr/>
        </p:nvSpPr>
        <p:spPr>
          <a:xfrm>
            <a:off x="4449040" y="1590675"/>
            <a:ext cx="245772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5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Execute</a:t>
            </a:r>
            <a:endParaRPr lang="en-US" sz="525" dirty="0"/>
          </a:p>
        </p:txBody>
      </p:sp>
      <p:sp>
        <p:nvSpPr>
          <p:cNvPr id="25" name="Text 20"/>
          <p:cNvSpPr/>
          <p:nvPr/>
        </p:nvSpPr>
        <p:spPr>
          <a:xfrm>
            <a:off x="4967288" y="1250156"/>
            <a:ext cx="15544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157788" y="1175742"/>
            <a:ext cx="157163" cy="377428"/>
          </a:xfrm>
          <a:prstGeom prst="roundRect">
            <a:avLst>
              <a:gd name="adj" fmla="val 24242"/>
            </a:avLst>
          </a:prstGeom>
          <a:solidFill>
            <a:srgbClr val="E8F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 rot="5400000">
            <a:off x="5104805" y="1314450"/>
            <a:ext cx="268391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525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EX/MEM</a:t>
            </a:r>
            <a:endParaRPr lang="en-US" sz="525" dirty="0"/>
          </a:p>
        </p:txBody>
      </p:sp>
      <p:sp>
        <p:nvSpPr>
          <p:cNvPr id="28" name="Text 23"/>
          <p:cNvSpPr/>
          <p:nvPr/>
        </p:nvSpPr>
        <p:spPr>
          <a:xfrm>
            <a:off x="5353050" y="1250156"/>
            <a:ext cx="15544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pic>
        <p:nvPicPr>
          <p:cNvPr id="29" name="Image 3" descr="/tmp/rasterized-gradient-80356d3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550" y="1038225"/>
            <a:ext cx="714375" cy="52387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672423" y="1133475"/>
            <a:ext cx="45662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672423" y="1352550"/>
            <a:ext cx="456628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访存</a:t>
            </a:r>
            <a:endParaRPr lang="en-US" sz="600" dirty="0"/>
          </a:p>
        </p:txBody>
      </p:sp>
      <p:sp>
        <p:nvSpPr>
          <p:cNvPr id="32" name="Text 26"/>
          <p:cNvSpPr/>
          <p:nvPr/>
        </p:nvSpPr>
        <p:spPr>
          <a:xfrm>
            <a:off x="5660734" y="1590675"/>
            <a:ext cx="480006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5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Memory Access</a:t>
            </a:r>
            <a:endParaRPr lang="en-US" sz="525" dirty="0"/>
          </a:p>
        </p:txBody>
      </p:sp>
      <p:sp>
        <p:nvSpPr>
          <p:cNvPr id="33" name="Text 27"/>
          <p:cNvSpPr/>
          <p:nvPr/>
        </p:nvSpPr>
        <p:spPr>
          <a:xfrm>
            <a:off x="6296025" y="1250156"/>
            <a:ext cx="15544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98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486525" y="1166515"/>
            <a:ext cx="157163" cy="395883"/>
          </a:xfrm>
          <a:prstGeom prst="roundRect">
            <a:avLst>
              <a:gd name="adj" fmla="val 24242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 rot="5400000">
            <a:off x="6424315" y="1314450"/>
            <a:ext cx="287214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525" dirty="0">
                <a:solidFill>
                  <a:srgbClr val="F57C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MEM/WB</a:t>
            </a:r>
            <a:endParaRPr lang="en-US" sz="525" dirty="0"/>
          </a:p>
        </p:txBody>
      </p:sp>
      <p:sp>
        <p:nvSpPr>
          <p:cNvPr id="36" name="Text 30"/>
          <p:cNvSpPr/>
          <p:nvPr/>
        </p:nvSpPr>
        <p:spPr>
          <a:xfrm>
            <a:off x="6681788" y="1250156"/>
            <a:ext cx="15544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98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pic>
        <p:nvPicPr>
          <p:cNvPr id="37" name="Image 4" descr="/tmp/rasterized-gradient-81313b8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2288" y="1038225"/>
            <a:ext cx="714375" cy="52387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001161" y="1133475"/>
            <a:ext cx="45662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WB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7001161" y="1352550"/>
            <a:ext cx="456628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写回</a:t>
            </a:r>
            <a:endParaRPr lang="en-US" sz="600" dirty="0"/>
          </a:p>
        </p:txBody>
      </p:sp>
      <p:sp>
        <p:nvSpPr>
          <p:cNvPr id="40" name="Text 33"/>
          <p:cNvSpPr/>
          <p:nvPr/>
        </p:nvSpPr>
        <p:spPr>
          <a:xfrm>
            <a:off x="7065678" y="1590675"/>
            <a:ext cx="327595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5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Write Back</a:t>
            </a:r>
            <a:endParaRPr lang="en-US" sz="525" dirty="0"/>
          </a:p>
        </p:txBody>
      </p:sp>
      <p:sp>
        <p:nvSpPr>
          <p:cNvPr id="41" name="Text 34"/>
          <p:cNvSpPr/>
          <p:nvPr/>
        </p:nvSpPr>
        <p:spPr>
          <a:xfrm>
            <a:off x="3456315" y="497523"/>
            <a:ext cx="3357711" cy="223838"/>
          </a:xfrm>
          <a:prstGeom prst="roundRect">
            <a:avLst>
              <a:gd name="adj" fmla="val 25532"/>
            </a:avLst>
          </a:prstGeom>
          <a:solidFill>
            <a:srgbClr val="FFF3E0"/>
          </a:solidFill>
          <a:ln w="9525">
            <a:solidFill>
              <a:srgbClr val="FF98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3587901" y="545148"/>
            <a:ext cx="309453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dirty="0">
                <a:solidFill>
                  <a:srgbClr val="E651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← 数据前递路径：EX/MEM → EX，MEM/WB → EX，WB → ID（内部前递）←</a:t>
            </a:r>
            <a:endParaRPr lang="en-US" sz="675" dirty="0"/>
          </a:p>
        </p:txBody>
      </p:sp>
      <p:sp>
        <p:nvSpPr>
          <p:cNvPr id="43" name="Text 36"/>
          <p:cNvSpPr/>
          <p:nvPr/>
        </p:nvSpPr>
        <p:spPr>
          <a:xfrm>
            <a:off x="270510" y="1904583"/>
            <a:ext cx="1592610" cy="797123"/>
          </a:xfrm>
          <a:prstGeom prst="roundRect">
            <a:avLst>
              <a:gd name="adj" fmla="val 9559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375285" y="2009358"/>
            <a:ext cx="1410721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 取指阶段</a:t>
            </a:r>
            <a:endParaRPr lang="en-US" sz="825" dirty="0"/>
          </a:p>
        </p:txBody>
      </p:sp>
      <p:sp>
        <p:nvSpPr>
          <p:cNvPr id="45" name="Text 38"/>
          <p:cNvSpPr/>
          <p:nvPr/>
        </p:nvSpPr>
        <p:spPr>
          <a:xfrm>
            <a:off x="375285" y="2173069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PC寄存器保存当前指令地址</a:t>
            </a:r>
            <a:endParaRPr lang="en-US" sz="675" dirty="0"/>
          </a:p>
        </p:txBody>
      </p:sp>
      <p:sp>
        <p:nvSpPr>
          <p:cNvPr id="46" name="Text 39"/>
          <p:cNvSpPr/>
          <p:nvPr/>
        </p:nvSpPr>
        <p:spPr>
          <a:xfrm>
            <a:off x="375285" y="2320707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从指令存储器读取32位指令</a:t>
            </a:r>
            <a:endParaRPr lang="en-US" sz="675" dirty="0"/>
          </a:p>
        </p:txBody>
      </p:sp>
      <p:sp>
        <p:nvSpPr>
          <p:cNvPr id="47" name="Text 40"/>
          <p:cNvSpPr/>
          <p:nvPr/>
        </p:nvSpPr>
        <p:spPr>
          <a:xfrm>
            <a:off x="375285" y="2468344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PC+4计算下一条指令地址</a:t>
            </a:r>
            <a:endParaRPr lang="en-US" sz="675" dirty="0"/>
          </a:p>
        </p:txBody>
      </p:sp>
      <p:sp>
        <p:nvSpPr>
          <p:cNvPr id="48" name="Text 41"/>
          <p:cNvSpPr/>
          <p:nvPr/>
        </p:nvSpPr>
        <p:spPr>
          <a:xfrm>
            <a:off x="1955830" y="1904583"/>
            <a:ext cx="1592610" cy="797123"/>
          </a:xfrm>
          <a:prstGeom prst="roundRect">
            <a:avLst>
              <a:gd name="adj" fmla="val 9559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2060605" y="2009358"/>
            <a:ext cx="1410721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97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 译码阶段</a:t>
            </a:r>
            <a:endParaRPr lang="en-US" sz="825" dirty="0"/>
          </a:p>
        </p:txBody>
      </p:sp>
      <p:sp>
        <p:nvSpPr>
          <p:cNvPr id="50" name="Text 43"/>
          <p:cNvSpPr/>
          <p:nvPr/>
        </p:nvSpPr>
        <p:spPr>
          <a:xfrm>
            <a:off x="2060605" y="2173069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解析opcode生成控制信号</a:t>
            </a:r>
            <a:endParaRPr lang="en-US" sz="675" dirty="0"/>
          </a:p>
        </p:txBody>
      </p:sp>
      <p:sp>
        <p:nvSpPr>
          <p:cNvPr id="51" name="Text 44"/>
          <p:cNvSpPr/>
          <p:nvPr/>
        </p:nvSpPr>
        <p:spPr>
          <a:xfrm>
            <a:off x="2060605" y="2320707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从寄存器堆读取源操作数</a:t>
            </a:r>
            <a:endParaRPr lang="en-US" sz="675" dirty="0"/>
          </a:p>
        </p:txBody>
      </p:sp>
      <p:sp>
        <p:nvSpPr>
          <p:cNvPr id="52" name="Text 45"/>
          <p:cNvSpPr/>
          <p:nvPr/>
        </p:nvSpPr>
        <p:spPr>
          <a:xfrm>
            <a:off x="2060605" y="2468344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立即数符号扩展</a:t>
            </a:r>
            <a:endParaRPr lang="en-US" sz="675" dirty="0"/>
          </a:p>
        </p:txBody>
      </p:sp>
      <p:sp>
        <p:nvSpPr>
          <p:cNvPr id="53" name="Text 46"/>
          <p:cNvSpPr/>
          <p:nvPr/>
        </p:nvSpPr>
        <p:spPr>
          <a:xfrm>
            <a:off x="3760530" y="1904583"/>
            <a:ext cx="1592610" cy="797123"/>
          </a:xfrm>
          <a:prstGeom prst="roundRect">
            <a:avLst>
              <a:gd name="adj" fmla="val 9559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3865305" y="2009358"/>
            <a:ext cx="1410721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 执行阶段</a:t>
            </a:r>
            <a:endParaRPr lang="en-US" sz="825" dirty="0"/>
          </a:p>
        </p:txBody>
      </p:sp>
      <p:sp>
        <p:nvSpPr>
          <p:cNvPr id="55" name="Text 48"/>
          <p:cNvSpPr/>
          <p:nvPr/>
        </p:nvSpPr>
        <p:spPr>
          <a:xfrm>
            <a:off x="3865305" y="2173069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ALU执行算术逻辑运算</a:t>
            </a:r>
            <a:endParaRPr lang="en-US" sz="675" dirty="0"/>
          </a:p>
        </p:txBody>
      </p:sp>
      <p:sp>
        <p:nvSpPr>
          <p:cNvPr id="56" name="Text 49"/>
          <p:cNvSpPr/>
          <p:nvPr/>
        </p:nvSpPr>
        <p:spPr>
          <a:xfrm>
            <a:off x="3865305" y="2320707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计算分支目标地址</a:t>
            </a:r>
            <a:endParaRPr lang="en-US" sz="675" dirty="0"/>
          </a:p>
        </p:txBody>
      </p:sp>
      <p:sp>
        <p:nvSpPr>
          <p:cNvPr id="57" name="Text 50"/>
          <p:cNvSpPr/>
          <p:nvPr/>
        </p:nvSpPr>
        <p:spPr>
          <a:xfrm>
            <a:off x="3865305" y="2468344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前递单元选择正确数据</a:t>
            </a:r>
            <a:endParaRPr lang="en-US" sz="675" dirty="0"/>
          </a:p>
        </p:txBody>
      </p:sp>
      <p:sp>
        <p:nvSpPr>
          <p:cNvPr id="58" name="Text 51"/>
          <p:cNvSpPr/>
          <p:nvPr/>
        </p:nvSpPr>
        <p:spPr>
          <a:xfrm>
            <a:off x="5505539" y="1904583"/>
            <a:ext cx="1592610" cy="797123"/>
          </a:xfrm>
          <a:prstGeom prst="roundRect">
            <a:avLst>
              <a:gd name="adj" fmla="val 9559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2"/>
          <p:cNvSpPr/>
          <p:nvPr/>
        </p:nvSpPr>
        <p:spPr>
          <a:xfrm>
            <a:off x="5610314" y="2009358"/>
            <a:ext cx="1410721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57C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 访存阶段</a:t>
            </a:r>
            <a:endParaRPr lang="en-US" sz="825" dirty="0"/>
          </a:p>
        </p:txBody>
      </p:sp>
      <p:sp>
        <p:nvSpPr>
          <p:cNvPr id="60" name="Text 53"/>
          <p:cNvSpPr/>
          <p:nvPr/>
        </p:nvSpPr>
        <p:spPr>
          <a:xfrm>
            <a:off x="5610314" y="2173069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Load指令读数据存储器</a:t>
            </a:r>
            <a:endParaRPr lang="en-US" sz="675" dirty="0"/>
          </a:p>
        </p:txBody>
      </p:sp>
      <p:sp>
        <p:nvSpPr>
          <p:cNvPr id="61" name="Text 54"/>
          <p:cNvSpPr/>
          <p:nvPr/>
        </p:nvSpPr>
        <p:spPr>
          <a:xfrm>
            <a:off x="5610314" y="2320707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Store指令写数据存储器</a:t>
            </a:r>
            <a:endParaRPr lang="en-US" sz="675" dirty="0"/>
          </a:p>
        </p:txBody>
      </p:sp>
      <p:sp>
        <p:nvSpPr>
          <p:cNvPr id="62" name="Text 55"/>
          <p:cNvSpPr/>
          <p:nvPr/>
        </p:nvSpPr>
        <p:spPr>
          <a:xfrm>
            <a:off x="5610314" y="2468344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其他指令直接传递结果</a:t>
            </a:r>
            <a:endParaRPr lang="en-US" sz="675" dirty="0"/>
          </a:p>
        </p:txBody>
      </p:sp>
      <p:sp>
        <p:nvSpPr>
          <p:cNvPr id="63" name="Text 56"/>
          <p:cNvSpPr/>
          <p:nvPr/>
        </p:nvSpPr>
        <p:spPr>
          <a:xfrm>
            <a:off x="7250549" y="1904583"/>
            <a:ext cx="1592610" cy="797123"/>
          </a:xfrm>
          <a:prstGeom prst="roundRect">
            <a:avLst>
              <a:gd name="adj" fmla="val 9559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7"/>
          <p:cNvSpPr/>
          <p:nvPr/>
        </p:nvSpPr>
        <p:spPr>
          <a:xfrm>
            <a:off x="7355324" y="2009358"/>
            <a:ext cx="1410721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7B1FA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WB 写回阶段</a:t>
            </a:r>
            <a:endParaRPr lang="en-US" sz="825" dirty="0"/>
          </a:p>
        </p:txBody>
      </p:sp>
      <p:sp>
        <p:nvSpPr>
          <p:cNvPr id="65" name="Text 58"/>
          <p:cNvSpPr/>
          <p:nvPr/>
        </p:nvSpPr>
        <p:spPr>
          <a:xfrm>
            <a:off x="7355324" y="2173069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选择ALU结果或内存数据</a:t>
            </a:r>
            <a:endParaRPr lang="en-US" sz="675" dirty="0"/>
          </a:p>
        </p:txBody>
      </p:sp>
      <p:sp>
        <p:nvSpPr>
          <p:cNvPr id="66" name="Text 59"/>
          <p:cNvSpPr/>
          <p:nvPr/>
        </p:nvSpPr>
        <p:spPr>
          <a:xfrm>
            <a:off x="7355324" y="2320707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写入目标寄存器rd</a:t>
            </a:r>
            <a:endParaRPr lang="en-US" sz="675" dirty="0"/>
          </a:p>
        </p:txBody>
      </p:sp>
      <p:sp>
        <p:nvSpPr>
          <p:cNvPr id="67" name="Text 60"/>
          <p:cNvSpPr/>
          <p:nvPr/>
        </p:nvSpPr>
        <p:spPr>
          <a:xfrm>
            <a:off x="7355324" y="2468344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x0寄存器始终为0</a:t>
            </a:r>
            <a:endParaRPr lang="en-US" sz="675" dirty="0"/>
          </a:p>
        </p:txBody>
      </p:sp>
      <p:sp>
        <p:nvSpPr>
          <p:cNvPr id="68" name="Text 61"/>
          <p:cNvSpPr/>
          <p:nvPr/>
        </p:nvSpPr>
        <p:spPr>
          <a:xfrm>
            <a:off x="8596015" y="4748213"/>
            <a:ext cx="26748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/ 15</a:t>
            </a:r>
            <a:endParaRPr lang="en-US" sz="825" dirty="0"/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1850" y="2745105"/>
            <a:ext cx="1763395" cy="2010410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750" y="2745105"/>
            <a:ext cx="1813560" cy="20034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CPU整体架构设计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196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895350"/>
            <a:ext cx="8572500" cy="938213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9525">
            <a:solidFill>
              <a:srgbClr val="B3D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/tmp/rasterized-gradient-822adc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38" y="1038225"/>
            <a:ext cx="714375" cy="5238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86211" y="1133475"/>
            <a:ext cx="45662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686211" y="1352550"/>
            <a:ext cx="456628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取指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663136" y="1590675"/>
            <a:ext cx="502777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5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Instruction Fetch</a:t>
            </a:r>
            <a:endParaRPr lang="en-US" sz="525" dirty="0"/>
          </a:p>
        </p:txBody>
      </p:sp>
      <p:sp>
        <p:nvSpPr>
          <p:cNvPr id="9" name="Text 6"/>
          <p:cNvSpPr/>
          <p:nvPr/>
        </p:nvSpPr>
        <p:spPr>
          <a:xfrm>
            <a:off x="2309813" y="1250156"/>
            <a:ext cx="15544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500313" y="1234976"/>
            <a:ext cx="157163" cy="258812"/>
          </a:xfrm>
          <a:prstGeom prst="roundRect">
            <a:avLst>
              <a:gd name="adj" fmla="val 24242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 rot="5400000">
            <a:off x="2506638" y="1314376"/>
            <a:ext cx="147402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525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IF/ID</a:t>
            </a:r>
            <a:endParaRPr lang="en-US" sz="525" dirty="0"/>
          </a:p>
        </p:txBody>
      </p:sp>
      <p:sp>
        <p:nvSpPr>
          <p:cNvPr id="12" name="Text 9"/>
          <p:cNvSpPr/>
          <p:nvPr/>
        </p:nvSpPr>
        <p:spPr>
          <a:xfrm>
            <a:off x="2695575" y="1250156"/>
            <a:ext cx="15544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pic>
        <p:nvPicPr>
          <p:cNvPr id="13" name="Image 1" descr="/tmp/rasterized-gradient-b3a88f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075" y="1038225"/>
            <a:ext cx="714375" cy="5238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14948" y="1133475"/>
            <a:ext cx="45662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014948" y="1352550"/>
            <a:ext cx="456628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译码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2959691" y="1590675"/>
            <a:ext cx="567142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5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Instruction Decode</a:t>
            </a:r>
            <a:endParaRPr lang="en-US" sz="525" dirty="0"/>
          </a:p>
        </p:txBody>
      </p:sp>
      <p:sp>
        <p:nvSpPr>
          <p:cNvPr id="17" name="Text 13"/>
          <p:cNvSpPr/>
          <p:nvPr/>
        </p:nvSpPr>
        <p:spPr>
          <a:xfrm>
            <a:off x="3638550" y="1250156"/>
            <a:ext cx="15544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829050" y="1220093"/>
            <a:ext cx="157163" cy="288578"/>
          </a:xfrm>
          <a:prstGeom prst="roundRect">
            <a:avLst>
              <a:gd name="adj" fmla="val 24242"/>
            </a:avLst>
          </a:prstGeom>
          <a:solidFill>
            <a:srgbClr val="E0F7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 rot="5400000">
            <a:off x="3820492" y="1314376"/>
            <a:ext cx="177763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525" dirty="0">
                <a:solidFill>
                  <a:srgbClr val="0097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ID/EX</a:t>
            </a:r>
            <a:endParaRPr lang="en-US" sz="525" dirty="0"/>
          </a:p>
        </p:txBody>
      </p:sp>
      <p:sp>
        <p:nvSpPr>
          <p:cNvPr id="20" name="Text 16"/>
          <p:cNvSpPr/>
          <p:nvPr/>
        </p:nvSpPr>
        <p:spPr>
          <a:xfrm>
            <a:off x="4024313" y="1250156"/>
            <a:ext cx="15544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pic>
        <p:nvPicPr>
          <p:cNvPr id="21" name="Image 2" descr="/tmp/rasterized-gradient-5016eb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3" y="1038225"/>
            <a:ext cx="714375" cy="5238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343686" y="1133475"/>
            <a:ext cx="45662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343686" y="1352550"/>
            <a:ext cx="456628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执行</a:t>
            </a:r>
            <a:endParaRPr lang="en-US" sz="600" dirty="0"/>
          </a:p>
        </p:txBody>
      </p:sp>
      <p:sp>
        <p:nvSpPr>
          <p:cNvPr id="24" name="Text 19"/>
          <p:cNvSpPr/>
          <p:nvPr/>
        </p:nvSpPr>
        <p:spPr>
          <a:xfrm>
            <a:off x="4449040" y="1590675"/>
            <a:ext cx="245772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5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Execute</a:t>
            </a:r>
            <a:endParaRPr lang="en-US" sz="525" dirty="0"/>
          </a:p>
        </p:txBody>
      </p:sp>
      <p:sp>
        <p:nvSpPr>
          <p:cNvPr id="25" name="Text 20"/>
          <p:cNvSpPr/>
          <p:nvPr/>
        </p:nvSpPr>
        <p:spPr>
          <a:xfrm>
            <a:off x="4967288" y="1250156"/>
            <a:ext cx="15544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157788" y="1175742"/>
            <a:ext cx="157163" cy="377428"/>
          </a:xfrm>
          <a:prstGeom prst="roundRect">
            <a:avLst>
              <a:gd name="adj" fmla="val 24242"/>
            </a:avLst>
          </a:prstGeom>
          <a:solidFill>
            <a:srgbClr val="E8F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 rot="5400000">
            <a:off x="5104805" y="1314450"/>
            <a:ext cx="268391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525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EX/MEM</a:t>
            </a:r>
            <a:endParaRPr lang="en-US" sz="525" dirty="0"/>
          </a:p>
        </p:txBody>
      </p:sp>
      <p:sp>
        <p:nvSpPr>
          <p:cNvPr id="28" name="Text 23"/>
          <p:cNvSpPr/>
          <p:nvPr/>
        </p:nvSpPr>
        <p:spPr>
          <a:xfrm>
            <a:off x="5353050" y="1250156"/>
            <a:ext cx="15544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pic>
        <p:nvPicPr>
          <p:cNvPr id="29" name="Image 3" descr="/tmp/rasterized-gradient-80356d3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550" y="1038225"/>
            <a:ext cx="714375" cy="52387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672423" y="1133475"/>
            <a:ext cx="45662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672423" y="1352550"/>
            <a:ext cx="456628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访存</a:t>
            </a:r>
            <a:endParaRPr lang="en-US" sz="600" dirty="0"/>
          </a:p>
        </p:txBody>
      </p:sp>
      <p:sp>
        <p:nvSpPr>
          <p:cNvPr id="32" name="Text 26"/>
          <p:cNvSpPr/>
          <p:nvPr/>
        </p:nvSpPr>
        <p:spPr>
          <a:xfrm>
            <a:off x="5660734" y="1590675"/>
            <a:ext cx="480006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5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Memory Access</a:t>
            </a:r>
            <a:endParaRPr lang="en-US" sz="525" dirty="0"/>
          </a:p>
        </p:txBody>
      </p:sp>
      <p:sp>
        <p:nvSpPr>
          <p:cNvPr id="33" name="Text 27"/>
          <p:cNvSpPr/>
          <p:nvPr/>
        </p:nvSpPr>
        <p:spPr>
          <a:xfrm>
            <a:off x="6296025" y="1250156"/>
            <a:ext cx="15544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98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486525" y="1166515"/>
            <a:ext cx="157163" cy="395883"/>
          </a:xfrm>
          <a:prstGeom prst="roundRect">
            <a:avLst>
              <a:gd name="adj" fmla="val 24242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 rot="5400000">
            <a:off x="6424315" y="1314450"/>
            <a:ext cx="287214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525" dirty="0">
                <a:solidFill>
                  <a:srgbClr val="F57C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MEM/WB</a:t>
            </a:r>
            <a:endParaRPr lang="en-US" sz="525" dirty="0"/>
          </a:p>
        </p:txBody>
      </p:sp>
      <p:sp>
        <p:nvSpPr>
          <p:cNvPr id="36" name="Text 30"/>
          <p:cNvSpPr/>
          <p:nvPr/>
        </p:nvSpPr>
        <p:spPr>
          <a:xfrm>
            <a:off x="6681788" y="1250156"/>
            <a:ext cx="15544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98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pic>
        <p:nvPicPr>
          <p:cNvPr id="37" name="Image 4" descr="/tmp/rasterized-gradient-81313b8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2288" y="1038225"/>
            <a:ext cx="714375" cy="52387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001161" y="1133475"/>
            <a:ext cx="45662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WB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7001161" y="1352550"/>
            <a:ext cx="456628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写回</a:t>
            </a:r>
            <a:endParaRPr lang="en-US" sz="600" dirty="0"/>
          </a:p>
        </p:txBody>
      </p:sp>
      <p:sp>
        <p:nvSpPr>
          <p:cNvPr id="40" name="Text 33"/>
          <p:cNvSpPr/>
          <p:nvPr/>
        </p:nvSpPr>
        <p:spPr>
          <a:xfrm>
            <a:off x="7065678" y="1590675"/>
            <a:ext cx="327595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5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Write Back</a:t>
            </a:r>
            <a:endParaRPr lang="en-US" sz="525" dirty="0"/>
          </a:p>
        </p:txBody>
      </p:sp>
      <p:sp>
        <p:nvSpPr>
          <p:cNvPr id="41" name="Text 34"/>
          <p:cNvSpPr/>
          <p:nvPr/>
        </p:nvSpPr>
        <p:spPr>
          <a:xfrm>
            <a:off x="3456315" y="497523"/>
            <a:ext cx="3357711" cy="223838"/>
          </a:xfrm>
          <a:prstGeom prst="roundRect">
            <a:avLst>
              <a:gd name="adj" fmla="val 25532"/>
            </a:avLst>
          </a:prstGeom>
          <a:solidFill>
            <a:srgbClr val="FFF3E0"/>
          </a:solidFill>
          <a:ln w="9525">
            <a:solidFill>
              <a:srgbClr val="FF98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3587901" y="545148"/>
            <a:ext cx="309453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dirty="0">
                <a:solidFill>
                  <a:srgbClr val="E651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← 数据前递路径：EX/MEM → EX，MEM/WB → EX，WB → ID（内部前递）←</a:t>
            </a:r>
            <a:endParaRPr lang="en-US" sz="675" dirty="0"/>
          </a:p>
        </p:txBody>
      </p:sp>
      <p:sp>
        <p:nvSpPr>
          <p:cNvPr id="43" name="Text 36"/>
          <p:cNvSpPr/>
          <p:nvPr/>
        </p:nvSpPr>
        <p:spPr>
          <a:xfrm>
            <a:off x="270510" y="1904583"/>
            <a:ext cx="1592610" cy="797123"/>
          </a:xfrm>
          <a:prstGeom prst="roundRect">
            <a:avLst>
              <a:gd name="adj" fmla="val 9559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375285" y="2009358"/>
            <a:ext cx="1410721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 取指阶段</a:t>
            </a:r>
            <a:endParaRPr lang="en-US" sz="825" dirty="0"/>
          </a:p>
        </p:txBody>
      </p:sp>
      <p:sp>
        <p:nvSpPr>
          <p:cNvPr id="45" name="Text 38"/>
          <p:cNvSpPr/>
          <p:nvPr/>
        </p:nvSpPr>
        <p:spPr>
          <a:xfrm>
            <a:off x="375285" y="2173069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PC寄存器保存当前指令地址</a:t>
            </a:r>
            <a:endParaRPr lang="en-US" sz="675" dirty="0"/>
          </a:p>
        </p:txBody>
      </p:sp>
      <p:sp>
        <p:nvSpPr>
          <p:cNvPr id="46" name="Text 39"/>
          <p:cNvSpPr/>
          <p:nvPr/>
        </p:nvSpPr>
        <p:spPr>
          <a:xfrm>
            <a:off x="375285" y="2320707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从指令存储器读取32位指令</a:t>
            </a:r>
            <a:endParaRPr lang="en-US" sz="675" dirty="0"/>
          </a:p>
        </p:txBody>
      </p:sp>
      <p:sp>
        <p:nvSpPr>
          <p:cNvPr id="47" name="Text 40"/>
          <p:cNvSpPr/>
          <p:nvPr/>
        </p:nvSpPr>
        <p:spPr>
          <a:xfrm>
            <a:off x="375285" y="2468344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PC+4计算下一条指令地址</a:t>
            </a:r>
            <a:endParaRPr lang="en-US" sz="675" dirty="0"/>
          </a:p>
        </p:txBody>
      </p:sp>
      <p:sp>
        <p:nvSpPr>
          <p:cNvPr id="48" name="Text 41"/>
          <p:cNvSpPr/>
          <p:nvPr/>
        </p:nvSpPr>
        <p:spPr>
          <a:xfrm>
            <a:off x="1955830" y="1904583"/>
            <a:ext cx="1592610" cy="797123"/>
          </a:xfrm>
          <a:prstGeom prst="roundRect">
            <a:avLst>
              <a:gd name="adj" fmla="val 9559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2060605" y="2009358"/>
            <a:ext cx="1410721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97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 译码阶段</a:t>
            </a:r>
            <a:endParaRPr lang="en-US" sz="825" dirty="0"/>
          </a:p>
        </p:txBody>
      </p:sp>
      <p:sp>
        <p:nvSpPr>
          <p:cNvPr id="50" name="Text 43"/>
          <p:cNvSpPr/>
          <p:nvPr/>
        </p:nvSpPr>
        <p:spPr>
          <a:xfrm>
            <a:off x="2060605" y="2173069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解析opcode生成控制信号</a:t>
            </a:r>
            <a:endParaRPr lang="en-US" sz="675" dirty="0"/>
          </a:p>
        </p:txBody>
      </p:sp>
      <p:sp>
        <p:nvSpPr>
          <p:cNvPr id="51" name="Text 44"/>
          <p:cNvSpPr/>
          <p:nvPr/>
        </p:nvSpPr>
        <p:spPr>
          <a:xfrm>
            <a:off x="2060605" y="2320707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从寄存器堆读取源操作数</a:t>
            </a:r>
            <a:endParaRPr lang="en-US" sz="675" dirty="0"/>
          </a:p>
        </p:txBody>
      </p:sp>
      <p:sp>
        <p:nvSpPr>
          <p:cNvPr id="52" name="Text 45"/>
          <p:cNvSpPr/>
          <p:nvPr/>
        </p:nvSpPr>
        <p:spPr>
          <a:xfrm>
            <a:off x="2060605" y="2468344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立即数符号扩展</a:t>
            </a:r>
            <a:endParaRPr lang="en-US" sz="675" dirty="0"/>
          </a:p>
        </p:txBody>
      </p:sp>
      <p:sp>
        <p:nvSpPr>
          <p:cNvPr id="53" name="Text 46"/>
          <p:cNvSpPr/>
          <p:nvPr/>
        </p:nvSpPr>
        <p:spPr>
          <a:xfrm>
            <a:off x="3760530" y="1904583"/>
            <a:ext cx="1592610" cy="797123"/>
          </a:xfrm>
          <a:prstGeom prst="roundRect">
            <a:avLst>
              <a:gd name="adj" fmla="val 9559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3865305" y="2009358"/>
            <a:ext cx="1410721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 执行阶段</a:t>
            </a:r>
            <a:endParaRPr lang="en-US" sz="825" dirty="0"/>
          </a:p>
        </p:txBody>
      </p:sp>
      <p:sp>
        <p:nvSpPr>
          <p:cNvPr id="55" name="Text 48"/>
          <p:cNvSpPr/>
          <p:nvPr/>
        </p:nvSpPr>
        <p:spPr>
          <a:xfrm>
            <a:off x="3865305" y="2173069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ALU执行算术逻辑运算</a:t>
            </a:r>
            <a:endParaRPr lang="en-US" sz="675" dirty="0"/>
          </a:p>
        </p:txBody>
      </p:sp>
      <p:sp>
        <p:nvSpPr>
          <p:cNvPr id="56" name="Text 49"/>
          <p:cNvSpPr/>
          <p:nvPr/>
        </p:nvSpPr>
        <p:spPr>
          <a:xfrm>
            <a:off x="3865305" y="2320707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计算分支目标地址</a:t>
            </a:r>
            <a:endParaRPr lang="en-US" sz="675" dirty="0"/>
          </a:p>
        </p:txBody>
      </p:sp>
      <p:sp>
        <p:nvSpPr>
          <p:cNvPr id="57" name="Text 50"/>
          <p:cNvSpPr/>
          <p:nvPr/>
        </p:nvSpPr>
        <p:spPr>
          <a:xfrm>
            <a:off x="3865305" y="2468344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前递单元选择正确数据</a:t>
            </a:r>
            <a:endParaRPr lang="en-US" sz="675" dirty="0"/>
          </a:p>
        </p:txBody>
      </p:sp>
      <p:sp>
        <p:nvSpPr>
          <p:cNvPr id="58" name="Text 51"/>
          <p:cNvSpPr/>
          <p:nvPr/>
        </p:nvSpPr>
        <p:spPr>
          <a:xfrm>
            <a:off x="5505539" y="1904583"/>
            <a:ext cx="1592610" cy="797123"/>
          </a:xfrm>
          <a:prstGeom prst="roundRect">
            <a:avLst>
              <a:gd name="adj" fmla="val 9559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2"/>
          <p:cNvSpPr/>
          <p:nvPr/>
        </p:nvSpPr>
        <p:spPr>
          <a:xfrm>
            <a:off x="5610314" y="2009358"/>
            <a:ext cx="1410721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57C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 访存阶段</a:t>
            </a:r>
            <a:endParaRPr lang="en-US" sz="825" dirty="0"/>
          </a:p>
        </p:txBody>
      </p:sp>
      <p:sp>
        <p:nvSpPr>
          <p:cNvPr id="60" name="Text 53"/>
          <p:cNvSpPr/>
          <p:nvPr/>
        </p:nvSpPr>
        <p:spPr>
          <a:xfrm>
            <a:off x="5610314" y="2173069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Load指令读数据存储器</a:t>
            </a:r>
            <a:endParaRPr lang="en-US" sz="675" dirty="0"/>
          </a:p>
        </p:txBody>
      </p:sp>
      <p:sp>
        <p:nvSpPr>
          <p:cNvPr id="61" name="Text 54"/>
          <p:cNvSpPr/>
          <p:nvPr/>
        </p:nvSpPr>
        <p:spPr>
          <a:xfrm>
            <a:off x="5610314" y="2320707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Store指令写数据存储器</a:t>
            </a:r>
            <a:endParaRPr lang="en-US" sz="675" dirty="0"/>
          </a:p>
        </p:txBody>
      </p:sp>
      <p:sp>
        <p:nvSpPr>
          <p:cNvPr id="62" name="Text 55"/>
          <p:cNvSpPr/>
          <p:nvPr/>
        </p:nvSpPr>
        <p:spPr>
          <a:xfrm>
            <a:off x="5610314" y="2468344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其他指令直接传递结果</a:t>
            </a:r>
            <a:endParaRPr lang="en-US" sz="675" dirty="0"/>
          </a:p>
        </p:txBody>
      </p:sp>
      <p:sp>
        <p:nvSpPr>
          <p:cNvPr id="63" name="Text 56"/>
          <p:cNvSpPr/>
          <p:nvPr/>
        </p:nvSpPr>
        <p:spPr>
          <a:xfrm>
            <a:off x="7250549" y="1904583"/>
            <a:ext cx="1592610" cy="797123"/>
          </a:xfrm>
          <a:prstGeom prst="roundRect">
            <a:avLst>
              <a:gd name="adj" fmla="val 9559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7"/>
          <p:cNvSpPr/>
          <p:nvPr/>
        </p:nvSpPr>
        <p:spPr>
          <a:xfrm>
            <a:off x="7355324" y="2009358"/>
            <a:ext cx="1410721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7B1FA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WB 写回阶段</a:t>
            </a:r>
            <a:endParaRPr lang="en-US" sz="825" dirty="0"/>
          </a:p>
        </p:txBody>
      </p:sp>
      <p:sp>
        <p:nvSpPr>
          <p:cNvPr id="65" name="Text 58"/>
          <p:cNvSpPr/>
          <p:nvPr/>
        </p:nvSpPr>
        <p:spPr>
          <a:xfrm>
            <a:off x="7355324" y="2173069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选择ALU结果或内存数据</a:t>
            </a:r>
            <a:endParaRPr lang="en-US" sz="675" dirty="0"/>
          </a:p>
        </p:txBody>
      </p:sp>
      <p:sp>
        <p:nvSpPr>
          <p:cNvPr id="66" name="Text 59"/>
          <p:cNvSpPr/>
          <p:nvPr/>
        </p:nvSpPr>
        <p:spPr>
          <a:xfrm>
            <a:off x="7355324" y="2320707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写入目标寄存器rd</a:t>
            </a:r>
            <a:endParaRPr lang="en-US" sz="675" dirty="0"/>
          </a:p>
        </p:txBody>
      </p:sp>
      <p:sp>
        <p:nvSpPr>
          <p:cNvPr id="67" name="Text 60"/>
          <p:cNvSpPr/>
          <p:nvPr/>
        </p:nvSpPr>
        <p:spPr>
          <a:xfrm>
            <a:off x="7355324" y="2468344"/>
            <a:ext cx="14107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x0寄存器始终为0</a:t>
            </a:r>
            <a:endParaRPr lang="en-US" sz="675" dirty="0"/>
          </a:p>
        </p:txBody>
      </p:sp>
      <p:sp>
        <p:nvSpPr>
          <p:cNvPr id="68" name="Text 61"/>
          <p:cNvSpPr/>
          <p:nvPr/>
        </p:nvSpPr>
        <p:spPr>
          <a:xfrm>
            <a:off x="8596015" y="4748213"/>
            <a:ext cx="26748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/ 15</a:t>
            </a:r>
            <a:endParaRPr lang="en-US" sz="825" dirty="0"/>
          </a:p>
        </p:txBody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510" y="2799080"/>
            <a:ext cx="1652905" cy="2203450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5800" y="2746375"/>
            <a:ext cx="1589405" cy="2256790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2205" y="2746375"/>
            <a:ext cx="1295400" cy="2303145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2545" y="2746375"/>
            <a:ext cx="2374265" cy="2004060"/>
          </a:xfrm>
          <a:prstGeom prst="rect">
            <a:avLst/>
          </a:prstGeom>
        </p:spPr>
      </p:pic>
      <p:pic>
        <p:nvPicPr>
          <p:cNvPr id="75" name="图片 7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0" y="2670175"/>
            <a:ext cx="1619250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取指与译码阶段详解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196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/tmp/rasterized-gradient-691b64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302841"/>
            <a:ext cx="4133850" cy="3491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9100" y="1398091"/>
            <a:ext cx="2079117" cy="1586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 取指阶段 (Instruction Fetch)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285750" y="1747242"/>
            <a:ext cx="4133850" cy="714375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B3D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04875" y="1871067"/>
            <a:ext cx="647700" cy="466725"/>
          </a:xfrm>
          <a:prstGeom prst="roundRect">
            <a:avLst>
              <a:gd name="adj" fmla="val 12245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34415" y="1966317"/>
            <a:ext cx="38862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PC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034415" y="2128242"/>
            <a:ext cx="388620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程序计数器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1704975" y="2004417"/>
            <a:ext cx="136017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990725" y="1871067"/>
            <a:ext cx="647700" cy="466725"/>
          </a:xfrm>
          <a:prstGeom prst="roundRect">
            <a:avLst>
              <a:gd name="adj" fmla="val 12245"/>
            </a:avLst>
          </a:prstGeom>
          <a:solidFill>
            <a:srgbClr val="BBDEFB"/>
          </a:solidFill>
          <a:ln w="19050">
            <a:solidFill>
              <a:srgbClr val="1976D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120265" y="1966317"/>
            <a:ext cx="38862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IMEM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120265" y="2128242"/>
            <a:ext cx="388620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指令存储器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790825" y="2004417"/>
            <a:ext cx="136017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076575" y="1871067"/>
            <a:ext cx="723900" cy="466725"/>
          </a:xfrm>
          <a:prstGeom prst="roundRect">
            <a:avLst>
              <a:gd name="adj" fmla="val 12245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205353" y="1966317"/>
            <a:ext cx="46634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IF/ID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205353" y="2128242"/>
            <a:ext cx="46634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流水线寄存器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285750" y="2556867"/>
            <a:ext cx="4133850" cy="1721941"/>
          </a:xfrm>
          <a:prstGeom prst="roundRect">
            <a:avLst>
              <a:gd name="adj" fmla="val 4425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90525" y="2661642"/>
            <a:ext cx="4002786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PC选择逻辑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90525" y="2855863"/>
            <a:ext cx="400278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PC的下一个值由多路选择器决定，根据不同情况选择：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90525" y="3036838"/>
            <a:ext cx="400278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PC+4：顺序执行下一条指令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390525" y="3194000"/>
            <a:ext cx="400278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分支目标：分支成功时跳转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390525" y="3351163"/>
            <a:ext cx="400278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跳转目标：JAL/JALR指令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390525" y="3508325"/>
            <a:ext cx="400278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保持不变：Load-Use阻塞时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390525" y="3694063"/>
            <a:ext cx="4002786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指令存储器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90525" y="3888284"/>
            <a:ext cx="4002786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采用ROM实现，存储测试程序的机器码。地址为PC值，输出为32位指令。使用单周期读取，无需等待。</a:t>
            </a:r>
            <a:endParaRPr lang="en-US" sz="750" dirty="0"/>
          </a:p>
        </p:txBody>
      </p:sp>
      <p:pic>
        <p:nvPicPr>
          <p:cNvPr id="27" name="Image 1" descr="/tmp/rasterized-gradient-f2d8ff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374725"/>
            <a:ext cx="4133850" cy="34915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857750" y="1469975"/>
            <a:ext cx="2234565" cy="1586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 译码阶段 (Instruction Decode)</a:t>
            </a:r>
            <a:endParaRPr lang="en-US" sz="1125" dirty="0"/>
          </a:p>
        </p:txBody>
      </p:sp>
      <p:sp>
        <p:nvSpPr>
          <p:cNvPr id="29" name="Text 25"/>
          <p:cNvSpPr/>
          <p:nvPr/>
        </p:nvSpPr>
        <p:spPr>
          <a:xfrm>
            <a:off x="4724400" y="1819126"/>
            <a:ext cx="4133850" cy="528638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 w="9525">
            <a:solidFill>
              <a:srgbClr val="B3D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567363" y="1942951"/>
            <a:ext cx="533400" cy="280988"/>
          </a:xfrm>
          <a:prstGeom prst="roundRect">
            <a:avLst>
              <a:gd name="adj" fmla="val 20339"/>
            </a:avLst>
          </a:prstGeom>
          <a:solidFill>
            <a:srgbClr val="E0F7FA"/>
          </a:solidFill>
          <a:ln w="19050">
            <a:solidFill>
              <a:srgbClr val="00BC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5659184" y="2019151"/>
            <a:ext cx="349758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0097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控制单元</a:t>
            </a:r>
            <a:endParaRPr lang="en-US" sz="675" dirty="0"/>
          </a:p>
        </p:txBody>
      </p:sp>
      <p:sp>
        <p:nvSpPr>
          <p:cNvPr id="32" name="Text 28"/>
          <p:cNvSpPr/>
          <p:nvPr/>
        </p:nvSpPr>
        <p:spPr>
          <a:xfrm>
            <a:off x="6176963" y="1942951"/>
            <a:ext cx="533400" cy="280988"/>
          </a:xfrm>
          <a:prstGeom prst="roundRect">
            <a:avLst>
              <a:gd name="adj" fmla="val 20339"/>
            </a:avLst>
          </a:prstGeom>
          <a:solidFill>
            <a:srgbClr val="B2EBF2"/>
          </a:solidFill>
          <a:ln w="19050">
            <a:solidFill>
              <a:srgbClr val="0097A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268784" y="2019151"/>
            <a:ext cx="349758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0097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寄存器堆</a:t>
            </a:r>
            <a:endParaRPr lang="en-US" sz="675" dirty="0"/>
          </a:p>
        </p:txBody>
      </p:sp>
      <p:sp>
        <p:nvSpPr>
          <p:cNvPr id="34" name="Text 30"/>
          <p:cNvSpPr/>
          <p:nvPr/>
        </p:nvSpPr>
        <p:spPr>
          <a:xfrm>
            <a:off x="6786563" y="1942951"/>
            <a:ext cx="619125" cy="280988"/>
          </a:xfrm>
          <a:prstGeom prst="roundRect">
            <a:avLst>
              <a:gd name="adj" fmla="val 20339"/>
            </a:avLst>
          </a:prstGeom>
          <a:solidFill>
            <a:srgbClr val="E0F7FA"/>
          </a:solidFill>
          <a:ln w="19050">
            <a:solidFill>
              <a:srgbClr val="00BC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877526" y="2019151"/>
            <a:ext cx="437198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0097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立即数生成</a:t>
            </a:r>
            <a:endParaRPr lang="en-US" sz="675" dirty="0"/>
          </a:p>
        </p:txBody>
      </p:sp>
      <p:sp>
        <p:nvSpPr>
          <p:cNvPr id="36" name="Text 32"/>
          <p:cNvSpPr/>
          <p:nvPr/>
        </p:nvSpPr>
        <p:spPr>
          <a:xfrm>
            <a:off x="7481887" y="1942951"/>
            <a:ext cx="533400" cy="280988"/>
          </a:xfrm>
          <a:prstGeom prst="roundRect">
            <a:avLst>
              <a:gd name="adj" fmla="val 20339"/>
            </a:avLst>
          </a:prstGeom>
          <a:solidFill>
            <a:srgbClr val="B2EBF2"/>
          </a:solidFill>
          <a:ln w="19050">
            <a:solidFill>
              <a:srgbClr val="0097A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7573709" y="2019151"/>
            <a:ext cx="349758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0097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冲突检测</a:t>
            </a:r>
            <a:endParaRPr lang="en-US" sz="675" dirty="0"/>
          </a:p>
        </p:txBody>
      </p:sp>
      <p:sp>
        <p:nvSpPr>
          <p:cNvPr id="38" name="Text 34"/>
          <p:cNvSpPr/>
          <p:nvPr/>
        </p:nvSpPr>
        <p:spPr>
          <a:xfrm>
            <a:off x="4724400" y="2443014"/>
            <a:ext cx="4133850" cy="1763762"/>
          </a:xfrm>
          <a:prstGeom prst="roundRect">
            <a:avLst>
              <a:gd name="adj" fmla="val 4320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4829175" y="2547789"/>
            <a:ext cx="4002786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控制单元设计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4829175" y="2742009"/>
            <a:ext cx="4002786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根据opcode和funct字段生成控制信号，包括：ALUOp（运算类型）、MemRead/Write（访存控制）、RegWrite（写回使能）、Branch/Jump（跳转控制）等。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4829175" y="3084909"/>
            <a:ext cx="4002786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寄存器堆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4829175" y="3279130"/>
            <a:ext cx="4002786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32个32位通用寄存器，支持2读1写。x0硬连线为0。读取操作在ID阶段完成，写入操作在WB阶段完成（时钟上升沿）。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4829175" y="3622030"/>
            <a:ext cx="4002786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立即数生成器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4829175" y="3816251"/>
            <a:ext cx="4002786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根据指令类型拼接立即数字段，并进行符号扩展到32位。不同指令格式的立即数位置不同，需要分别处理。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8596015" y="4748213"/>
            <a:ext cx="26748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/ 15</a:t>
            </a:r>
            <a:endParaRPr lang="en-US" sz="825" dirty="0"/>
          </a:p>
        </p:txBody>
      </p:sp>
      <p:pic>
        <p:nvPicPr>
          <p:cNvPr id="46" name="图片 45"/>
          <p:cNvPicPr/>
          <p:nvPr/>
        </p:nvPicPr>
        <p:blipFill>
          <a:blip r:embed="rId4"/>
          <a:stretch>
            <a:fillRect/>
          </a:stretch>
        </p:blipFill>
        <p:spPr>
          <a:xfrm>
            <a:off x="3691255" y="0"/>
            <a:ext cx="4681855" cy="1374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执行阶段详解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CAF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/tmp/rasterized-gradient-62bd3d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652889"/>
            <a:ext cx="4133850" cy="3491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8300" y="748139"/>
            <a:ext cx="1981962" cy="1586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 算术逻辑单元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234950" y="1097290"/>
            <a:ext cx="4133850" cy="2468612"/>
          </a:xfrm>
          <a:prstGeom prst="roundRect">
            <a:avLst>
              <a:gd name="adj" fmla="val 3087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58775" y="1221115"/>
            <a:ext cx="3963924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ALU支持的运算操作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34950" y="1495981"/>
            <a:ext cx="3886200" cy="876300"/>
          </a:xfrm>
          <a:prstGeom prst="roundRect">
            <a:avLst>
              <a:gd name="adj" fmla="val 6522"/>
            </a:avLst>
          </a:prstGeom>
          <a:solidFill>
            <a:srgbClr val="E8F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4025" y="1529636"/>
            <a:ext cx="108418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算术运算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1669355" y="1529636"/>
            <a:ext cx="252997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ADD, SUB, 比较(SLT/SLTU)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454025" y="1715373"/>
            <a:ext cx="108418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逻辑运算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1669355" y="1715373"/>
            <a:ext cx="252997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AND, OR, XOR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454025" y="1901111"/>
            <a:ext cx="108418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移位运算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1669355" y="1901111"/>
            <a:ext cx="252997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SLL, SRL, SRA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454025" y="2086848"/>
            <a:ext cx="108418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乘除运算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1669355" y="2086848"/>
            <a:ext cx="252997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MUL, DIV, REM (M扩展)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358775" y="2405936"/>
            <a:ext cx="3963924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ALU控制信号生成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58775" y="2600156"/>
            <a:ext cx="3963924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ALU控制单元根据ALUOp（2位）和funct字段生成4位ALU控制信号，选择具体的运算操作。采用两级译码结构，先由主控单元生成ALUOp，再由ALU控制单元生成最终控制码。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58775" y="2962106"/>
            <a:ext cx="3963924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操作数选择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58775" y="3156327"/>
            <a:ext cx="3963924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ALU第一操作数可选择rs1数据或PC（用于AUIPC）；第二操作数可选择rs2数据或立即数（用于I-type指令）。通过多路选择器实现灵活选择。</a:t>
            </a:r>
            <a:endParaRPr lang="en-US" sz="750" dirty="0"/>
          </a:p>
        </p:txBody>
      </p:sp>
      <p:pic>
        <p:nvPicPr>
          <p:cNvPr id="21" name="Image 1" descr="/tmp/rasterized-gradient-de0c73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938510"/>
            <a:ext cx="4133850" cy="34915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857750" y="1033760"/>
            <a:ext cx="1981962" cy="1586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分支判断与前递单元</a:t>
            </a:r>
            <a:endParaRPr lang="en-US" sz="1125" dirty="0"/>
          </a:p>
        </p:txBody>
      </p:sp>
      <p:sp>
        <p:nvSpPr>
          <p:cNvPr id="23" name="Text 19"/>
          <p:cNvSpPr/>
          <p:nvPr/>
        </p:nvSpPr>
        <p:spPr>
          <a:xfrm>
            <a:off x="4724400" y="1382911"/>
            <a:ext cx="4133850" cy="1508671"/>
          </a:xfrm>
          <a:prstGeom prst="roundRect">
            <a:avLst>
              <a:gd name="adj" fmla="val 5051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848225" y="1506736"/>
            <a:ext cx="3963924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分支条件判断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848225" y="1720007"/>
            <a:ext cx="396392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在EX阶段完成分支条件的判断，根据分支类型比较两个操作数：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4848225" y="1920032"/>
            <a:ext cx="3886200" cy="752475"/>
          </a:xfrm>
          <a:prstGeom prst="roundRect">
            <a:avLst>
              <a:gd name="adj" fmla="val 7595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924425" y="1996232"/>
            <a:ext cx="380847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BEQ：rs1 == rs2 时跳转</a:t>
            </a:r>
            <a:endParaRPr lang="en-US" sz="675" dirty="0"/>
          </a:p>
        </p:txBody>
      </p:sp>
      <p:sp>
        <p:nvSpPr>
          <p:cNvPr id="28" name="Text 24"/>
          <p:cNvSpPr/>
          <p:nvPr/>
        </p:nvSpPr>
        <p:spPr>
          <a:xfrm>
            <a:off x="4924425" y="2153394"/>
            <a:ext cx="380847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BNE：rs1 != rs2 时跳转</a:t>
            </a:r>
            <a:endParaRPr lang="en-US" sz="675" dirty="0"/>
          </a:p>
        </p:txBody>
      </p:sp>
      <p:sp>
        <p:nvSpPr>
          <p:cNvPr id="29" name="Text 25"/>
          <p:cNvSpPr/>
          <p:nvPr/>
        </p:nvSpPr>
        <p:spPr>
          <a:xfrm>
            <a:off x="4924425" y="2310557"/>
            <a:ext cx="380847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BLT/BLTU：rs1 小于 rs2 时跳转</a:t>
            </a:r>
            <a:endParaRPr lang="en-US" sz="675" dirty="0"/>
          </a:p>
        </p:txBody>
      </p:sp>
      <p:sp>
        <p:nvSpPr>
          <p:cNvPr id="30" name="Text 26"/>
          <p:cNvSpPr/>
          <p:nvPr/>
        </p:nvSpPr>
        <p:spPr>
          <a:xfrm>
            <a:off x="4924425" y="2467719"/>
            <a:ext cx="380847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BGE/BGEU：rs1 大于等于 rs2 时跳转</a:t>
            </a:r>
            <a:endParaRPr lang="en-US" sz="675" dirty="0"/>
          </a:p>
        </p:txBody>
      </p:sp>
      <p:sp>
        <p:nvSpPr>
          <p:cNvPr id="31" name="Text 27"/>
          <p:cNvSpPr/>
          <p:nvPr/>
        </p:nvSpPr>
        <p:spPr>
          <a:xfrm>
            <a:off x="4724400" y="2986832"/>
            <a:ext cx="4133850" cy="1656308"/>
          </a:xfrm>
          <a:prstGeom prst="roundRect">
            <a:avLst>
              <a:gd name="adj" fmla="val 4601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4848225" y="3110657"/>
            <a:ext cx="3963924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前递单元工作原理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4848225" y="3323927"/>
            <a:ext cx="396392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前递单元检测数据依赖，从后续流水线阶段获取最新数据，避免流水线阻塞。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848225" y="3543002"/>
            <a:ext cx="3886200" cy="757238"/>
          </a:xfrm>
          <a:prstGeom prst="roundRect">
            <a:avLst>
              <a:gd name="adj" fmla="val 7547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4924425" y="3619202"/>
            <a:ext cx="380847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前递选择优先级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4924425" y="3800177"/>
            <a:ext cx="380847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EX/MEM阶段结果（1周期前）</a:t>
            </a:r>
            <a:endParaRPr lang="en-US" sz="675" dirty="0"/>
          </a:p>
        </p:txBody>
      </p:sp>
      <p:sp>
        <p:nvSpPr>
          <p:cNvPr id="37" name="Text 33"/>
          <p:cNvSpPr/>
          <p:nvPr/>
        </p:nvSpPr>
        <p:spPr>
          <a:xfrm>
            <a:off x="4924425" y="3947815"/>
            <a:ext cx="380847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MEM/WB阶段结果（2周期前）</a:t>
            </a:r>
            <a:endParaRPr lang="en-US" sz="675" dirty="0"/>
          </a:p>
        </p:txBody>
      </p:sp>
      <p:sp>
        <p:nvSpPr>
          <p:cNvPr id="38" name="Text 34"/>
          <p:cNvSpPr/>
          <p:nvPr/>
        </p:nvSpPr>
        <p:spPr>
          <a:xfrm>
            <a:off x="4924425" y="4095452"/>
            <a:ext cx="380847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寄存器堆原始值（无依赖）</a:t>
            </a:r>
            <a:endParaRPr lang="en-US" sz="675" dirty="0"/>
          </a:p>
        </p:txBody>
      </p:sp>
      <p:sp>
        <p:nvSpPr>
          <p:cNvPr id="39" name="Text 35"/>
          <p:cNvSpPr/>
          <p:nvPr/>
        </p:nvSpPr>
        <p:spPr>
          <a:xfrm>
            <a:off x="4848225" y="4376440"/>
            <a:ext cx="396392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前递条件：后续指令写目标寄存器非x0，且与当前指令源寄存器匹配时触发前递。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8596015" y="4748213"/>
            <a:ext cx="26748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 / 15</a:t>
            </a:r>
            <a:endParaRPr lang="en-US" sz="825" dirty="0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80" y="3471545"/>
            <a:ext cx="1603375" cy="1622425"/>
          </a:xfrm>
          <a:prstGeom prst="rect">
            <a:avLst/>
          </a:prstGeom>
        </p:spPr>
      </p:pic>
      <p:pic>
        <p:nvPicPr>
          <p:cNvPr id="42" name="图片 41"/>
          <p:cNvPicPr/>
          <p:nvPr/>
        </p:nvPicPr>
        <p:blipFill>
          <a:blip r:embed="rId5"/>
          <a:stretch>
            <a:fillRect/>
          </a:stretch>
        </p:blipFill>
        <p:spPr>
          <a:xfrm>
            <a:off x="1858645" y="-31750"/>
            <a:ext cx="4078605" cy="9385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访存与写回阶段详解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/tmp/rasterized-gradient-040f1b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283791"/>
            <a:ext cx="4133850" cy="3491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9100" y="1379041"/>
            <a:ext cx="2205419" cy="1586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 访存阶段 (Memory Access)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285750" y="1728192"/>
            <a:ext cx="4133850" cy="2569518"/>
          </a:xfrm>
          <a:prstGeom prst="roundRect">
            <a:avLst>
              <a:gd name="adj" fmla="val 2966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09575" y="1852017"/>
            <a:ext cx="3963924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数据存储器设计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09575" y="2065288"/>
            <a:ext cx="3963924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数据存储器采用RAM实现，支持字节(8位)、半字(16位)、字(32位)三种访问粒度。地址由EX阶段ALU计算得到。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09575" y="2446288"/>
            <a:ext cx="3886200" cy="816173"/>
          </a:xfrm>
          <a:prstGeom prst="roundRect">
            <a:avLst>
              <a:gd name="adj" fmla="val 7002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04825" y="2541538"/>
            <a:ext cx="3769614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651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Load指令处理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04825" y="2724299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LW：读取32位字，直接输出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504825" y="2881461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LH/LHU：读取16位半字，符号/零扩展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504825" y="3038624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LB/LBU：读取8位字节，符号/零扩展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409575" y="3357711"/>
            <a:ext cx="3886200" cy="816173"/>
          </a:xfrm>
          <a:prstGeom prst="roundRect">
            <a:avLst>
              <a:gd name="adj" fmla="val 7002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04825" y="3452961"/>
            <a:ext cx="3769614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Store指令处理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04825" y="3635722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SW：写入32位字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504825" y="3792885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SH：写入低16位到指定半字位置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504825" y="3950047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SB：写入低8位到指定字节位置</a:t>
            </a:r>
            <a:endParaRPr lang="en-US" sz="675" dirty="0"/>
          </a:p>
        </p:txBody>
      </p:sp>
      <p:pic>
        <p:nvPicPr>
          <p:cNvPr id="19" name="Image 1" descr="/tmp/rasterized-gradient-241d9a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870942"/>
            <a:ext cx="4133850" cy="34915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57750" y="966192"/>
            <a:ext cx="1981962" cy="1586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WB 写回阶段 (Write Back)</a:t>
            </a:r>
            <a:endParaRPr lang="en-US" sz="1125" dirty="0"/>
          </a:p>
        </p:txBody>
      </p:sp>
      <p:sp>
        <p:nvSpPr>
          <p:cNvPr id="21" name="Text 17"/>
          <p:cNvSpPr/>
          <p:nvPr/>
        </p:nvSpPr>
        <p:spPr>
          <a:xfrm>
            <a:off x="4724400" y="1315343"/>
            <a:ext cx="4133850" cy="1603921"/>
          </a:xfrm>
          <a:prstGeom prst="roundRect">
            <a:avLst>
              <a:gd name="adj" fmla="val 4751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848225" y="1439168"/>
            <a:ext cx="3963924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写回数据选择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848225" y="1652439"/>
            <a:ext cx="396392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根据指令类型选择写回寄存器堆的数据源：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4848225" y="1881039"/>
            <a:ext cx="3886200" cy="819150"/>
          </a:xfrm>
          <a:prstGeom prst="roundRect">
            <a:avLst>
              <a:gd name="adj" fmla="val 6977"/>
            </a:avLst>
          </a:prstGeom>
          <a:solidFill>
            <a:srgbClr val="F3E5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943475" y="1976289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ALU结果：算术逻辑运算指令</a:t>
            </a:r>
            <a:endParaRPr lang="en-US" sz="675" dirty="0"/>
          </a:p>
        </p:txBody>
      </p:sp>
      <p:sp>
        <p:nvSpPr>
          <p:cNvPr id="26" name="Text 22"/>
          <p:cNvSpPr/>
          <p:nvPr/>
        </p:nvSpPr>
        <p:spPr>
          <a:xfrm>
            <a:off x="4943475" y="2142976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内存数据：Load指令</a:t>
            </a:r>
            <a:endParaRPr lang="en-US" sz="675" dirty="0"/>
          </a:p>
        </p:txBody>
      </p:sp>
      <p:sp>
        <p:nvSpPr>
          <p:cNvPr id="27" name="Text 23"/>
          <p:cNvSpPr/>
          <p:nvPr/>
        </p:nvSpPr>
        <p:spPr>
          <a:xfrm>
            <a:off x="4943475" y="2309664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PC+4：JAL/JALR指令（保存返回地址）</a:t>
            </a:r>
            <a:endParaRPr lang="en-US" sz="675" dirty="0"/>
          </a:p>
        </p:txBody>
      </p:sp>
      <p:sp>
        <p:nvSpPr>
          <p:cNvPr id="28" name="Text 24"/>
          <p:cNvSpPr/>
          <p:nvPr/>
        </p:nvSpPr>
        <p:spPr>
          <a:xfrm>
            <a:off x="4943475" y="2476351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立即数：LUI指令</a:t>
            </a:r>
            <a:endParaRPr lang="en-US" sz="675" dirty="0"/>
          </a:p>
        </p:txBody>
      </p:sp>
      <p:sp>
        <p:nvSpPr>
          <p:cNvPr id="29" name="Text 25"/>
          <p:cNvSpPr/>
          <p:nvPr/>
        </p:nvSpPr>
        <p:spPr>
          <a:xfrm>
            <a:off x="4724400" y="3014514"/>
            <a:ext cx="4133850" cy="1696194"/>
          </a:xfrm>
          <a:prstGeom prst="roundRect">
            <a:avLst>
              <a:gd name="adj" fmla="val 4492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848225" y="3138339"/>
            <a:ext cx="3963924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寄存器写入控制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848225" y="3351609"/>
            <a:ext cx="3963924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RegWrite信号控制是否写入寄存器堆。Store和Branch指令不写寄存器，RegWrite为0。写入发生在时钟上升沿。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4848225" y="3732609"/>
            <a:ext cx="3886200" cy="854273"/>
          </a:xfrm>
          <a:prstGeom prst="roundRect">
            <a:avLst>
              <a:gd name="adj" fmla="val 6690"/>
            </a:avLst>
          </a:prstGeom>
          <a:solidFill>
            <a:srgbClr val="FFF3E0"/>
          </a:solidFill>
          <a:ln w="9525">
            <a:solidFill>
              <a:srgbClr val="FFB74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4953000" y="3837384"/>
            <a:ext cx="3750183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651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关键设计点</a:t>
            </a:r>
            <a:endParaRPr lang="en-US" sz="825" dirty="0"/>
          </a:p>
        </p:txBody>
      </p:sp>
      <p:sp>
        <p:nvSpPr>
          <p:cNvPr id="34" name="Text 30"/>
          <p:cNvSpPr/>
          <p:nvPr/>
        </p:nvSpPr>
        <p:spPr>
          <a:xfrm>
            <a:off x="4953000" y="4020145"/>
            <a:ext cx="3750183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x0寄存器始终为0，写入被忽略</a:t>
            </a:r>
            <a:endParaRPr lang="en-US" sz="675" dirty="0"/>
          </a:p>
        </p:txBody>
      </p:sp>
      <p:sp>
        <p:nvSpPr>
          <p:cNvPr id="35" name="Text 31"/>
          <p:cNvSpPr/>
          <p:nvPr/>
        </p:nvSpPr>
        <p:spPr>
          <a:xfrm>
            <a:off x="4953000" y="4186833"/>
            <a:ext cx="3750183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写入地址rd随流水线传递到WB阶段</a:t>
            </a:r>
            <a:endParaRPr lang="en-US" sz="675" dirty="0"/>
          </a:p>
        </p:txBody>
      </p:sp>
      <p:sp>
        <p:nvSpPr>
          <p:cNvPr id="36" name="Text 32"/>
          <p:cNvSpPr/>
          <p:nvPr/>
        </p:nvSpPr>
        <p:spPr>
          <a:xfrm>
            <a:off x="4953000" y="4353520"/>
            <a:ext cx="3750183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需要处理WB-ID同周期读写冲突（内部前递）</a:t>
            </a:r>
            <a:endParaRPr lang="en-US" sz="675" dirty="0"/>
          </a:p>
        </p:txBody>
      </p:sp>
      <p:sp>
        <p:nvSpPr>
          <p:cNvPr id="37" name="Text 33"/>
          <p:cNvSpPr/>
          <p:nvPr/>
        </p:nvSpPr>
        <p:spPr>
          <a:xfrm>
            <a:off x="8596015" y="4748213"/>
            <a:ext cx="26748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/ 15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数据通路设计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196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914400"/>
            <a:ext cx="8572500" cy="994767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9525">
            <a:solidFill>
              <a:srgbClr val="B3D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625" y="1057275"/>
            <a:ext cx="4235958" cy="1375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完整数据通路框图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272927" y="1328142"/>
            <a:ext cx="347811" cy="280988"/>
          </a:xfrm>
          <a:prstGeom prst="roundRect">
            <a:avLst>
              <a:gd name="adj" fmla="val 13559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87227" y="1404342"/>
            <a:ext cx="12159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PC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1257002" y="1628180"/>
            <a:ext cx="387406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5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+4/分支/阻塞</a:t>
            </a:r>
            <a:endParaRPr lang="en-US" sz="525" dirty="0"/>
          </a:p>
        </p:txBody>
      </p:sp>
      <p:sp>
        <p:nvSpPr>
          <p:cNvPr id="9" name="Text 7"/>
          <p:cNvSpPr/>
          <p:nvPr/>
        </p:nvSpPr>
        <p:spPr>
          <a:xfrm>
            <a:off x="1713012" y="1442442"/>
            <a:ext cx="11658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03512" y="1387673"/>
            <a:ext cx="452438" cy="280988"/>
          </a:xfrm>
          <a:prstGeom prst="roundRect">
            <a:avLst>
              <a:gd name="adj" fmla="val 13559"/>
            </a:avLst>
          </a:prstGeom>
          <a:solidFill>
            <a:srgbClr val="BBDEFB"/>
          </a:solidFill>
          <a:ln w="19050">
            <a:solidFill>
              <a:srgbClr val="1976D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17812" y="1463873"/>
            <a:ext cx="2283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IMEM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2432149" y="1442442"/>
            <a:ext cx="11658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22649" y="1430536"/>
            <a:ext cx="277862" cy="195263"/>
          </a:xfrm>
          <a:prstGeom prst="roundRect">
            <a:avLst>
              <a:gd name="adj" fmla="val 19512"/>
            </a:avLst>
          </a:prstGeom>
          <a:solidFill>
            <a:srgbClr val="E3F2FD"/>
          </a:solidFill>
          <a:ln w="9525">
            <a:solidFill>
              <a:srgbClr val="2196F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89324" y="1478161"/>
            <a:ext cx="147402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525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IF/ID</a:t>
            </a:r>
            <a:endParaRPr lang="en-US" sz="525" dirty="0"/>
          </a:p>
        </p:txBody>
      </p:sp>
      <p:sp>
        <p:nvSpPr>
          <p:cNvPr id="15" name="Text 13"/>
          <p:cNvSpPr/>
          <p:nvPr/>
        </p:nvSpPr>
        <p:spPr>
          <a:xfrm>
            <a:off x="2976711" y="1442442"/>
            <a:ext cx="11658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67211" y="1290042"/>
            <a:ext cx="538311" cy="280988"/>
          </a:xfrm>
          <a:prstGeom prst="roundRect">
            <a:avLst>
              <a:gd name="adj" fmla="val 13559"/>
            </a:avLst>
          </a:prstGeom>
          <a:solidFill>
            <a:srgbClr val="B2EBF2"/>
          </a:solidFill>
          <a:ln w="19050">
            <a:solidFill>
              <a:srgbClr val="0097A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281511" y="1366242"/>
            <a:ext cx="31590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0097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RegFile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3262164" y="1590080"/>
            <a:ext cx="348407" cy="176213"/>
          </a:xfrm>
          <a:prstGeom prst="roundRect">
            <a:avLst>
              <a:gd name="adj" fmla="val 21622"/>
            </a:avLst>
          </a:prstGeom>
          <a:solidFill>
            <a:srgbClr val="E0F7FA"/>
          </a:solidFill>
          <a:ln w="9525">
            <a:solidFill>
              <a:srgbClr val="00BC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28839" y="1628180"/>
            <a:ext cx="219358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525" dirty="0">
                <a:solidFill>
                  <a:srgbClr val="0097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Control</a:t>
            </a:r>
            <a:endParaRPr lang="en-US" sz="525" dirty="0"/>
          </a:p>
        </p:txBody>
      </p:sp>
      <p:sp>
        <p:nvSpPr>
          <p:cNvPr id="20" name="Text 18"/>
          <p:cNvSpPr/>
          <p:nvPr/>
        </p:nvSpPr>
        <p:spPr>
          <a:xfrm>
            <a:off x="3781723" y="1442442"/>
            <a:ext cx="11658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72223" y="1430536"/>
            <a:ext cx="307628" cy="195263"/>
          </a:xfrm>
          <a:prstGeom prst="roundRect">
            <a:avLst>
              <a:gd name="adj" fmla="val 19512"/>
            </a:avLst>
          </a:prstGeom>
          <a:solidFill>
            <a:srgbClr val="E0F7FA"/>
          </a:solidFill>
          <a:ln w="9525">
            <a:solidFill>
              <a:srgbClr val="00BC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038898" y="1478161"/>
            <a:ext cx="177763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525" dirty="0">
                <a:solidFill>
                  <a:srgbClr val="0097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ID/EX</a:t>
            </a:r>
            <a:endParaRPr lang="en-US" sz="525" dirty="0"/>
          </a:p>
        </p:txBody>
      </p:sp>
      <p:sp>
        <p:nvSpPr>
          <p:cNvPr id="23" name="Text 21"/>
          <p:cNvSpPr/>
          <p:nvPr/>
        </p:nvSpPr>
        <p:spPr>
          <a:xfrm>
            <a:off x="4356050" y="1442442"/>
            <a:ext cx="11658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46550" y="1290042"/>
            <a:ext cx="404813" cy="280988"/>
          </a:xfrm>
          <a:prstGeom prst="roundRect">
            <a:avLst>
              <a:gd name="adj" fmla="val 13559"/>
            </a:avLst>
          </a:prstGeom>
          <a:solidFill>
            <a:srgbClr val="C8E6C9"/>
          </a:solidFill>
          <a:ln w="19050">
            <a:solidFill>
              <a:srgbClr val="388E3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60850" y="1366242"/>
            <a:ext cx="17973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559945" y="1590080"/>
            <a:ext cx="378023" cy="176213"/>
          </a:xfrm>
          <a:prstGeom prst="roundRect">
            <a:avLst>
              <a:gd name="adj" fmla="val 21622"/>
            </a:avLst>
          </a:prstGeom>
          <a:solidFill>
            <a:srgbClr val="E8F5E9"/>
          </a:solidFill>
          <a:ln w="9525">
            <a:solidFill>
              <a:srgbClr val="4CAF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626620" y="1628180"/>
            <a:ext cx="249567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525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Forward</a:t>
            </a:r>
            <a:endParaRPr lang="en-US" sz="525" dirty="0"/>
          </a:p>
        </p:txBody>
      </p:sp>
      <p:sp>
        <p:nvSpPr>
          <p:cNvPr id="28" name="Text 26"/>
          <p:cNvSpPr/>
          <p:nvPr/>
        </p:nvSpPr>
        <p:spPr>
          <a:xfrm>
            <a:off x="5027563" y="1442442"/>
            <a:ext cx="11658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8063" y="1430536"/>
            <a:ext cx="396478" cy="195263"/>
          </a:xfrm>
          <a:prstGeom prst="roundRect">
            <a:avLst>
              <a:gd name="adj" fmla="val 19512"/>
            </a:avLst>
          </a:prstGeom>
          <a:solidFill>
            <a:srgbClr val="E8F5E9"/>
          </a:solidFill>
          <a:ln w="9525">
            <a:solidFill>
              <a:srgbClr val="4CAF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84738" y="1478161"/>
            <a:ext cx="268391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525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EX/MEM</a:t>
            </a:r>
            <a:endParaRPr lang="en-US" sz="525" dirty="0"/>
          </a:p>
        </p:txBody>
      </p:sp>
      <p:sp>
        <p:nvSpPr>
          <p:cNvPr id="31" name="Text 29"/>
          <p:cNvSpPr/>
          <p:nvPr/>
        </p:nvSpPr>
        <p:spPr>
          <a:xfrm>
            <a:off x="5690741" y="1442442"/>
            <a:ext cx="11658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98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81241" y="1387673"/>
            <a:ext cx="490538" cy="280988"/>
          </a:xfrm>
          <a:prstGeom prst="roundRect">
            <a:avLst>
              <a:gd name="adj" fmla="val 13559"/>
            </a:avLst>
          </a:prstGeom>
          <a:solidFill>
            <a:srgbClr val="FFE0B2"/>
          </a:solidFill>
          <a:ln w="19050">
            <a:solidFill>
              <a:srgbClr val="F57C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95541" y="1463873"/>
            <a:ext cx="26717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E651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DMEM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447979" y="1442442"/>
            <a:ext cx="11658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98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38479" y="1430536"/>
            <a:ext cx="414933" cy="195263"/>
          </a:xfrm>
          <a:prstGeom prst="roundRect">
            <a:avLst>
              <a:gd name="adj" fmla="val 19512"/>
            </a:avLst>
          </a:prstGeom>
          <a:solidFill>
            <a:srgbClr val="FFF3E0"/>
          </a:solidFill>
          <a:ln w="9525">
            <a:solidFill>
              <a:srgbClr val="FF98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705154" y="1478161"/>
            <a:ext cx="287214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525" dirty="0">
                <a:solidFill>
                  <a:srgbClr val="F57C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MEM/WB</a:t>
            </a:r>
            <a:endParaRPr lang="en-US" sz="525" dirty="0"/>
          </a:p>
        </p:txBody>
      </p:sp>
      <p:sp>
        <p:nvSpPr>
          <p:cNvPr id="37" name="Text 35"/>
          <p:cNvSpPr/>
          <p:nvPr/>
        </p:nvSpPr>
        <p:spPr>
          <a:xfrm>
            <a:off x="7129611" y="1442442"/>
            <a:ext cx="11658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C27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20111" y="1387673"/>
            <a:ext cx="566738" cy="280988"/>
          </a:xfrm>
          <a:prstGeom prst="roundRect">
            <a:avLst>
              <a:gd name="adj" fmla="val 13559"/>
            </a:avLst>
          </a:prstGeom>
          <a:solidFill>
            <a:srgbClr val="E1BEE7"/>
          </a:solidFill>
          <a:ln w="19050">
            <a:solidFill>
              <a:srgbClr val="7B1FA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434411" y="1463873"/>
            <a:ext cx="3449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7B1FA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WB Mux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285750" y="2507456"/>
            <a:ext cx="2117979" cy="1375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975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主要控制信号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285750" y="2721173"/>
            <a:ext cx="4133850" cy="1462088"/>
          </a:xfrm>
          <a:prstGeom prst="roundRect">
            <a:avLst>
              <a:gd name="adj" fmla="val 5212"/>
            </a:avLst>
          </a:prstGeom>
          <a:solidFill>
            <a:srgbClr val="FFFFFF"/>
          </a:solidFill>
          <a:ln w="9525">
            <a:solidFill>
              <a:srgbClr val="B3D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95275" y="2730698"/>
            <a:ext cx="4114800" cy="252413"/>
          </a:xfrm>
          <a:prstGeom prst="rect">
            <a:avLst/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295275" y="2978348"/>
            <a:ext cx="4114800" cy="0"/>
          </a:xfrm>
          <a:prstGeom prst="line">
            <a:avLst/>
          </a:prstGeom>
          <a:noFill/>
          <a:ln w="9525">
            <a:solidFill>
              <a:srgbClr val="B3D4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0525" y="2787848"/>
            <a:ext cx="115417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信号名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1674465" y="2787848"/>
            <a:ext cx="269316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功能描述</a:t>
            </a:r>
            <a:endParaRPr lang="en-US" sz="675" dirty="0"/>
          </a:p>
        </p:txBody>
      </p:sp>
      <p:sp>
        <p:nvSpPr>
          <p:cNvPr id="46" name="Shape 44"/>
          <p:cNvSpPr/>
          <p:nvPr/>
        </p:nvSpPr>
        <p:spPr>
          <a:xfrm>
            <a:off x="295275" y="3178373"/>
            <a:ext cx="4114800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0525" y="3021211"/>
            <a:ext cx="115417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RegWrite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1674465" y="3021211"/>
            <a:ext cx="269316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控制寄存器堆写入使能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295275" y="3183136"/>
            <a:ext cx="4114800" cy="200025"/>
          </a:xfrm>
          <a:prstGeom prst="rect">
            <a:avLst/>
          </a:prstGeom>
          <a:solidFill>
            <a:srgbClr val="F5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295275" y="3378398"/>
            <a:ext cx="4114800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0525" y="3221236"/>
            <a:ext cx="115417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MemRead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1674465" y="3221236"/>
            <a:ext cx="269316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数据存储器读使能（Load）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295275" y="3578423"/>
            <a:ext cx="4114800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0525" y="3421261"/>
            <a:ext cx="115417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MemWrite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1674465" y="3421261"/>
            <a:ext cx="269316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数据存储器写使能（Store）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295275" y="3583186"/>
            <a:ext cx="4114800" cy="200025"/>
          </a:xfrm>
          <a:prstGeom prst="rect">
            <a:avLst/>
          </a:prstGeom>
          <a:solidFill>
            <a:srgbClr val="F5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295275" y="3778448"/>
            <a:ext cx="4114800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0525" y="3621286"/>
            <a:ext cx="115417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ALUSrc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1674465" y="3621286"/>
            <a:ext cx="269316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ALU第二操作数选择（rs2/imm）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295275" y="3978473"/>
            <a:ext cx="4114800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0525" y="3821311"/>
            <a:ext cx="115417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ALUOp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1674465" y="3821311"/>
            <a:ext cx="269316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ALU运算类型控制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390525" y="4021336"/>
            <a:ext cx="115417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Branch/Jump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1674465" y="4021336"/>
            <a:ext cx="269316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分支/跳转指令标识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4724400" y="2463403"/>
            <a:ext cx="2117979" cy="1375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975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流水线寄存器内容</a:t>
            </a:r>
            <a:endParaRPr lang="en-US" sz="975" dirty="0"/>
          </a:p>
        </p:txBody>
      </p:sp>
      <p:sp>
        <p:nvSpPr>
          <p:cNvPr id="66" name="Text 64"/>
          <p:cNvSpPr/>
          <p:nvPr/>
        </p:nvSpPr>
        <p:spPr>
          <a:xfrm>
            <a:off x="4724400" y="2677120"/>
            <a:ext cx="4133850" cy="1550194"/>
          </a:xfrm>
          <a:prstGeom prst="roundRect">
            <a:avLst>
              <a:gd name="adj" fmla="val 4916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829175" y="2781895"/>
            <a:ext cx="4002786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IF/ID寄存器</a:t>
            </a:r>
            <a:endParaRPr lang="en-US" sz="825" dirty="0"/>
          </a:p>
        </p:txBody>
      </p:sp>
      <p:sp>
        <p:nvSpPr>
          <p:cNvPr id="68" name="Text 66"/>
          <p:cNvSpPr/>
          <p:nvPr/>
        </p:nvSpPr>
        <p:spPr>
          <a:xfrm>
            <a:off x="4829175" y="2945606"/>
            <a:ext cx="400278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PC值、32位指令</a:t>
            </a:r>
            <a:endParaRPr lang="en-US" sz="675" dirty="0"/>
          </a:p>
        </p:txBody>
      </p:sp>
      <p:sp>
        <p:nvSpPr>
          <p:cNvPr id="69" name="Text 67"/>
          <p:cNvSpPr/>
          <p:nvPr/>
        </p:nvSpPr>
        <p:spPr>
          <a:xfrm>
            <a:off x="4829175" y="3131344"/>
            <a:ext cx="4002786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ID/EX寄存器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4829175" y="3295055"/>
            <a:ext cx="400278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PC、rs1/rs2数据、立即数、rd地址、控制信号</a:t>
            </a:r>
            <a:endParaRPr lang="en-US" sz="675" dirty="0"/>
          </a:p>
        </p:txBody>
      </p:sp>
      <p:sp>
        <p:nvSpPr>
          <p:cNvPr id="71" name="Text 69"/>
          <p:cNvSpPr/>
          <p:nvPr/>
        </p:nvSpPr>
        <p:spPr>
          <a:xfrm>
            <a:off x="4829175" y="3480792"/>
            <a:ext cx="4002786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EX/MEM寄存器</a:t>
            </a:r>
            <a:endParaRPr lang="en-US" sz="825" dirty="0"/>
          </a:p>
        </p:txBody>
      </p:sp>
      <p:sp>
        <p:nvSpPr>
          <p:cNvPr id="72" name="Text 70"/>
          <p:cNvSpPr/>
          <p:nvPr/>
        </p:nvSpPr>
        <p:spPr>
          <a:xfrm>
            <a:off x="4829175" y="3644503"/>
            <a:ext cx="400278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ALU结果、rs2数据(Store)、rd地址、控制信号</a:t>
            </a:r>
            <a:endParaRPr lang="en-US" sz="675" dirty="0"/>
          </a:p>
        </p:txBody>
      </p:sp>
      <p:sp>
        <p:nvSpPr>
          <p:cNvPr id="73" name="Text 71"/>
          <p:cNvSpPr/>
          <p:nvPr/>
        </p:nvSpPr>
        <p:spPr>
          <a:xfrm>
            <a:off x="4829175" y="3830241"/>
            <a:ext cx="4002786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98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MEM/WB寄存器</a:t>
            </a:r>
            <a:endParaRPr lang="en-US" sz="825" dirty="0"/>
          </a:p>
        </p:txBody>
      </p:sp>
      <p:sp>
        <p:nvSpPr>
          <p:cNvPr id="74" name="Text 72"/>
          <p:cNvSpPr/>
          <p:nvPr/>
        </p:nvSpPr>
        <p:spPr>
          <a:xfrm>
            <a:off x="4829175" y="3993952"/>
            <a:ext cx="400278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ALU结果、内存数据、rd地址、RegWrite信号</a:t>
            </a:r>
            <a:endParaRPr lang="en-US" sz="675" dirty="0"/>
          </a:p>
        </p:txBody>
      </p:sp>
      <p:sp>
        <p:nvSpPr>
          <p:cNvPr id="75" name="Text 73"/>
          <p:cNvSpPr/>
          <p:nvPr/>
        </p:nvSpPr>
        <p:spPr>
          <a:xfrm>
            <a:off x="8596015" y="4748213"/>
            <a:ext cx="26748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 / 15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流水线冲突分析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F4433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724495"/>
            <a:ext cx="8572500" cy="1114871"/>
          </a:xfrm>
          <a:prstGeom prst="roundRect">
            <a:avLst>
              <a:gd name="adj" fmla="val 6835"/>
            </a:avLst>
          </a:prstGeom>
          <a:solidFill>
            <a:srgbClr val="FFFFFF"/>
          </a:solidFill>
          <a:ln w="9525">
            <a:solidFill>
              <a:srgbClr val="B3D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9575" y="848320"/>
            <a:ext cx="4255389" cy="148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流水线冲突（Hazard）的三种类型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09575" y="1072604"/>
            <a:ext cx="2571750" cy="642938"/>
          </a:xfrm>
          <a:prstGeom prst="rect">
            <a:avLst/>
          </a:prstGeom>
          <a:solidFill>
            <a:srgbClr val="FFEBE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28625" y="1072604"/>
            <a:ext cx="0" cy="642938"/>
          </a:xfrm>
          <a:prstGeom prst="line">
            <a:avLst/>
          </a:prstGeom>
          <a:noFill/>
          <a:ln w="38100">
            <a:solidFill>
              <a:srgbClr val="F443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925" y="1167854"/>
            <a:ext cx="2390013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6282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结构冲突 (Structural)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42925" y="1363117"/>
            <a:ext cx="2390013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硬件资源不足，多条指令竞争同一资源。本设计采用哈佛结构（分离指令/数据存储器），避免了结构冲突。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286125" y="1072604"/>
            <a:ext cx="2571750" cy="642938"/>
          </a:xfrm>
          <a:prstGeom prst="rect">
            <a:avLst/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05175" y="1072604"/>
            <a:ext cx="0" cy="642938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475" y="1167854"/>
            <a:ext cx="2390013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E651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数据冲突 (Data)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19475" y="1363117"/>
            <a:ext cx="2390013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后续指令依赖前面指令的结果，但结果尚未写回。分为RAW、WAR、WAW三种，RISC-V主要处理RAW。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162675" y="1072604"/>
            <a:ext cx="2571750" cy="642938"/>
          </a:xfrm>
          <a:prstGeom prst="rect">
            <a:avLst/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81725" y="1072604"/>
            <a:ext cx="0" cy="642938"/>
          </a:xfrm>
          <a:prstGeom prst="line">
            <a:avLst/>
          </a:prstGeom>
          <a:noFill/>
          <a:ln w="38100">
            <a:solidFill>
              <a:srgbClr val="2196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6025" y="1167854"/>
            <a:ext cx="2390013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控制冲突 (Control)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296025" y="1363117"/>
            <a:ext cx="2390013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分支/跳转指令的目标地址未确定时，已取的后续指令可能是错误的，需要处理。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285750" y="1953667"/>
            <a:ext cx="2322005" cy="148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buNone/>
            </a:pPr>
            <a:r>
              <a:rPr lang="en-US" sz="1050" b="1" dirty="0">
                <a:solidFill>
                  <a:srgbClr val="FF98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数据冲突示例分析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5750" y="2177951"/>
            <a:ext cx="4547295" cy="2679204"/>
          </a:xfrm>
          <a:prstGeom prst="roundRect">
            <a:avLst>
              <a:gd name="adj" fmla="val 2844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9575" y="2301776"/>
            <a:ext cx="4385637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RAW冲突（写后读）示例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9575" y="2515046"/>
            <a:ext cx="4299645" cy="1085850"/>
          </a:xfrm>
          <a:prstGeom prst="roundRect">
            <a:avLst>
              <a:gd name="adj" fmla="val 5263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4825" y="2610296"/>
            <a:ext cx="4191327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50"/>
              </a:spcAft>
              <a:buNone/>
            </a:pPr>
            <a:r>
              <a:rPr lang="en-US" sz="1500" dirty="0">
                <a:solidFill>
                  <a:srgbClr val="E651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x1, x2, x3  // 写x1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4825" y="2915096"/>
            <a:ext cx="4191327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50"/>
              </a:spcAft>
              <a:buNone/>
            </a:pPr>
            <a:r>
              <a:rPr lang="en-US" sz="1500" dirty="0">
                <a:solidFill>
                  <a:srgbClr val="E651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 x4, x1, x5  // 读x1 ← 依赖上条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4825" y="3219896"/>
            <a:ext cx="4191327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651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AND x6, x1, x7  // 读x1 ← 依赖上上条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09575" y="3696146"/>
            <a:ext cx="4385637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当SUB在ID阶段读取x1时，ADD可能还在EX或MEM阶段，x1的新值尚未写回寄存器堆。如果不处理，SUB会读到x1的旧值，导致计算错误。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09575" y="4077146"/>
            <a:ext cx="4385637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9575" y="4271367"/>
            <a:ext cx="438563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阻塞等待：暂停流水线直到数据就绪（效率低）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09575" y="4438055"/>
            <a:ext cx="438563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数据前递：从后续阶段直接获取数据（优先采用）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09575" y="4604742"/>
            <a:ext cx="438563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编译器调度：插入无关指令填充延迟槽（软件方法）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5137845" y="1953667"/>
            <a:ext cx="1904238" cy="148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buNone/>
            </a:pPr>
            <a:r>
              <a:rPr lang="en-US" sz="105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控制冲突分析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37845" y="2177951"/>
            <a:ext cx="3720405" cy="2679204"/>
          </a:xfrm>
          <a:prstGeom prst="roundRect">
            <a:avLst>
              <a:gd name="adj" fmla="val 2844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61670" y="2301776"/>
            <a:ext cx="3542211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分支指令的问题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61670" y="2515046"/>
            <a:ext cx="3472755" cy="1085850"/>
          </a:xfrm>
          <a:prstGeom prst="roundRect">
            <a:avLst>
              <a:gd name="adj" fmla="val 5263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56920" y="2610296"/>
            <a:ext cx="334790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50"/>
              </a:spcAft>
              <a:buNone/>
            </a:pPr>
            <a:r>
              <a:rPr lang="en-US" sz="1500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BEQ x1, x2, target  // IF阶段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56920" y="2915096"/>
            <a:ext cx="334790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50"/>
              </a:spcAft>
              <a:buNone/>
            </a:pPr>
            <a:r>
              <a:rPr lang="en-US" sz="15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instr2              // 已取指（可能错误）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356920" y="3219896"/>
            <a:ext cx="334790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instr3              // 已取指（可能错误）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261670" y="3696146"/>
            <a:ext cx="354221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分支条件在EX阶段才能判断，此时IF已经取了2条后续指令。如果分支成功，这2条指令是错误的，需要冲刷。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261670" y="4077146"/>
            <a:ext cx="3542211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本设计的处理策略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61670" y="4271367"/>
            <a:ext cx="354221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采用"预测不跳转"策略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5261670" y="4438055"/>
            <a:ext cx="354221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分支成功时冲刷IF/ID和ID/EX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5261670" y="4604742"/>
            <a:ext cx="354221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代价：2个周期的惩罚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8537823" y="4748213"/>
            <a:ext cx="326835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15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冲突处理机制实现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CAF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/tmp/rasterized-gradient-1d7f41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64691"/>
            <a:ext cx="4133850" cy="3491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9100" y="959941"/>
            <a:ext cx="1981962" cy="1586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数据前递 (Forwarding)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285750" y="1309092"/>
            <a:ext cx="4133850" cy="3407866"/>
          </a:xfrm>
          <a:prstGeom prst="roundRect">
            <a:avLst>
              <a:gd name="adj" fmla="val 2236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09575" y="1432917"/>
            <a:ext cx="3963924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前递检测逻辑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09575" y="1646188"/>
            <a:ext cx="3963924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前递单元比较当前EX阶段指令的源寄存器与后续阶段指令的目标寄存器，检测是否存在数据依赖。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09575" y="2027188"/>
            <a:ext cx="3886200" cy="795338"/>
          </a:xfrm>
          <a:prstGeom prst="roundRect">
            <a:avLst>
              <a:gd name="adj" fmla="val 7186"/>
            </a:avLst>
          </a:prstGeom>
          <a:solidFill>
            <a:srgbClr val="E8F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04825" y="2122438"/>
            <a:ext cx="376961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EX冲突检测条件：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04825" y="2303413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EX/MEM.RegWrite == 1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504825" y="2451050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EX/MEM.rd != 0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504825" y="2598688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EX/MEM.rd == ID/EX.rs1 或 ID/EX.rs2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409575" y="2917775"/>
            <a:ext cx="3886200" cy="942975"/>
          </a:xfrm>
          <a:prstGeom prst="roundRect">
            <a:avLst>
              <a:gd name="adj" fmla="val 6061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04825" y="3013025"/>
            <a:ext cx="376961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MEM冲突检测条件：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04825" y="3194000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MEM/WB.RegWrite == 1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504825" y="3341638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MEM/WB.rd != 0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504825" y="3489275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无EX冲突（优先级低于EX）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504825" y="3636913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MEM/WB.rd == ID/EX.rs1 或 ID/EX.rs2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409575" y="3956000"/>
            <a:ext cx="3963924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前递选择信号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09575" y="4150221"/>
            <a:ext cx="396392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ForwardA/B = 00：使用寄存器堆数据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409575" y="4307384"/>
            <a:ext cx="396392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ForwardA/B = 10：使用EX/MEM阶段数据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409575" y="4464546"/>
            <a:ext cx="396392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ForwardA/B = 01：使用MEM/WB阶段数据</a:t>
            </a:r>
            <a:endParaRPr lang="en-US" sz="675" dirty="0"/>
          </a:p>
        </p:txBody>
      </p:sp>
      <p:pic>
        <p:nvPicPr>
          <p:cNvPr id="24" name="Image 1" descr="/tmp/rasterized-gradient-68f8d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764679"/>
            <a:ext cx="4133850" cy="34915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857750" y="859929"/>
            <a:ext cx="1981962" cy="1586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阻塞与冲刷机制</a:t>
            </a:r>
            <a:endParaRPr lang="en-US" sz="1125" dirty="0"/>
          </a:p>
        </p:txBody>
      </p:sp>
      <p:sp>
        <p:nvSpPr>
          <p:cNvPr id="26" name="Text 22"/>
          <p:cNvSpPr/>
          <p:nvPr/>
        </p:nvSpPr>
        <p:spPr>
          <a:xfrm>
            <a:off x="4724400" y="1209080"/>
            <a:ext cx="4133850" cy="2027783"/>
          </a:xfrm>
          <a:prstGeom prst="roundRect">
            <a:avLst>
              <a:gd name="adj" fmla="val 3758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848225" y="1332905"/>
            <a:ext cx="3963924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Load-Use阻塞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848225" y="1546175"/>
            <a:ext cx="3963924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Load指令的数据要到MEM阶段才能获得，如果紧接着的指令需要使用该数据，前递无法解决，必须阻塞一个周期。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4848225" y="1908125"/>
            <a:ext cx="3886200" cy="647700"/>
          </a:xfrm>
          <a:prstGeom prst="roundRect">
            <a:avLst>
              <a:gd name="adj" fmla="val 8824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943475" y="2003375"/>
            <a:ext cx="376961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651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阻塞检测条件：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4943475" y="2184350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ID/EX.MemRead == 1 (EX阶段是Load)</a:t>
            </a:r>
            <a:endParaRPr lang="en-US" sz="675" dirty="0"/>
          </a:p>
        </p:txBody>
      </p:sp>
      <p:sp>
        <p:nvSpPr>
          <p:cNvPr id="32" name="Text 28"/>
          <p:cNvSpPr/>
          <p:nvPr/>
        </p:nvSpPr>
        <p:spPr>
          <a:xfrm>
            <a:off x="4943475" y="2331988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ID/EX.rd == IF/ID.rs1 或 IF/ID.rs2</a:t>
            </a:r>
            <a:endParaRPr lang="en-US" sz="675" dirty="0"/>
          </a:p>
        </p:txBody>
      </p:sp>
      <p:sp>
        <p:nvSpPr>
          <p:cNvPr id="33" name="Text 29"/>
          <p:cNvSpPr/>
          <p:nvPr/>
        </p:nvSpPr>
        <p:spPr>
          <a:xfrm>
            <a:off x="4848225" y="2651075"/>
            <a:ext cx="396392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阻塞操作：PC保持不变</a:t>
            </a:r>
            <a:endParaRPr lang="en-US" sz="675" dirty="0"/>
          </a:p>
        </p:txBody>
      </p:sp>
      <p:sp>
        <p:nvSpPr>
          <p:cNvPr id="34" name="Text 30"/>
          <p:cNvSpPr/>
          <p:nvPr/>
        </p:nvSpPr>
        <p:spPr>
          <a:xfrm>
            <a:off x="4848225" y="2817763"/>
            <a:ext cx="396392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IF/ID寄存器保持不变</a:t>
            </a:r>
            <a:endParaRPr lang="en-US" sz="675" dirty="0"/>
          </a:p>
        </p:txBody>
      </p:sp>
      <p:sp>
        <p:nvSpPr>
          <p:cNvPr id="35" name="Text 31"/>
          <p:cNvSpPr/>
          <p:nvPr/>
        </p:nvSpPr>
        <p:spPr>
          <a:xfrm>
            <a:off x="4848225" y="2984450"/>
            <a:ext cx="396392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ID/EX寄存器插入NOP（气泡）</a:t>
            </a:r>
            <a:endParaRPr lang="en-US" sz="675" dirty="0"/>
          </a:p>
        </p:txBody>
      </p:sp>
      <p:sp>
        <p:nvSpPr>
          <p:cNvPr id="36" name="Text 32"/>
          <p:cNvSpPr/>
          <p:nvPr/>
        </p:nvSpPr>
        <p:spPr>
          <a:xfrm>
            <a:off x="4724400" y="3332113"/>
            <a:ext cx="4133850" cy="1484858"/>
          </a:xfrm>
          <a:prstGeom prst="roundRect">
            <a:avLst>
              <a:gd name="adj" fmla="val 5132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848225" y="3455938"/>
            <a:ext cx="3963924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分支冲刷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4848225" y="3669209"/>
            <a:ext cx="396392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当EX阶段判断分支成功时，IF和ID阶段已取的指令是错误的，需要清除。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4848225" y="3878759"/>
            <a:ext cx="3886200" cy="814388"/>
          </a:xfrm>
          <a:prstGeom prst="roundRect">
            <a:avLst>
              <a:gd name="adj" fmla="val 7018"/>
            </a:avLst>
          </a:prstGeom>
          <a:solidFill>
            <a:srgbClr val="FFEBE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4943475" y="3974009"/>
            <a:ext cx="376961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6282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冲刷操作：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4943475" y="4154984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将IF/ID寄存器清零（变成NOP）</a:t>
            </a:r>
            <a:endParaRPr lang="en-US" sz="675" dirty="0"/>
          </a:p>
        </p:txBody>
      </p:sp>
      <p:sp>
        <p:nvSpPr>
          <p:cNvPr id="42" name="Text 38"/>
          <p:cNvSpPr/>
          <p:nvPr/>
        </p:nvSpPr>
        <p:spPr>
          <a:xfrm>
            <a:off x="4943475" y="4312146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将ID/EX寄存器清零（变成NOP）</a:t>
            </a:r>
            <a:endParaRPr lang="en-US" sz="675" dirty="0"/>
          </a:p>
        </p:txBody>
      </p:sp>
      <p:sp>
        <p:nvSpPr>
          <p:cNvPr id="43" name="Text 39"/>
          <p:cNvSpPr/>
          <p:nvPr/>
        </p:nvSpPr>
        <p:spPr>
          <a:xfrm>
            <a:off x="4943475" y="4469309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更新PC为分支目标地址</a:t>
            </a:r>
            <a:endParaRPr lang="en-US" sz="675" dirty="0"/>
          </a:p>
        </p:txBody>
      </p:sp>
      <p:sp>
        <p:nvSpPr>
          <p:cNvPr id="44" name="Text 40"/>
          <p:cNvSpPr/>
          <p:nvPr/>
        </p:nvSpPr>
        <p:spPr>
          <a:xfrm>
            <a:off x="8545562" y="4748213"/>
            <a:ext cx="318942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/ 15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前递机制详细设计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196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742652"/>
            <a:ext cx="8572500" cy="1318617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9525">
            <a:solidFill>
              <a:srgbClr val="B3D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625" y="885527"/>
            <a:ext cx="4235958" cy="1375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前递数据通路示意图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102793" y="1242120"/>
            <a:ext cx="800249" cy="552450"/>
          </a:xfrm>
          <a:prstGeom prst="roundRect">
            <a:avLst>
              <a:gd name="adj" fmla="val 10345"/>
            </a:avLst>
          </a:prstGeom>
          <a:solidFill>
            <a:srgbClr val="E0F7FA"/>
          </a:solidFill>
          <a:ln w="19050">
            <a:solidFill>
              <a:srgbClr val="00BC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69669" y="1356420"/>
            <a:ext cx="466496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40"/>
              </a:lnSpc>
              <a:buNone/>
            </a:pPr>
            <a:r>
              <a:rPr lang="en-US" sz="825" b="1" dirty="0">
                <a:solidFill>
                  <a:srgbClr val="0097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ID阶段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269669" y="1551682"/>
            <a:ext cx="46649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读取rs1, rs2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093541" y="1375470"/>
            <a:ext cx="194310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00BC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541" y="1118295"/>
            <a:ext cx="876300" cy="552450"/>
          </a:xfrm>
          <a:prstGeom prst="roundRect">
            <a:avLst>
              <a:gd name="adj" fmla="val 10345"/>
            </a:avLst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40657" y="1232595"/>
            <a:ext cx="544068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40"/>
              </a:lnSpc>
              <a:buNone/>
            </a:pPr>
            <a:r>
              <a:rPr lang="en-US" sz="825" b="1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EX阶段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640657" y="1427857"/>
            <a:ext cx="544068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前递MUX选择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608784" y="1708845"/>
            <a:ext cx="607665" cy="209550"/>
          </a:xfrm>
          <a:prstGeom prst="roundRect">
            <a:avLst>
              <a:gd name="adj" fmla="val 18182"/>
            </a:avLst>
          </a:prstGeom>
          <a:solidFill>
            <a:srgbClr val="C8E6C9"/>
          </a:solidFill>
          <a:ln w="9525">
            <a:solidFill>
              <a:srgbClr val="4CAF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94509" y="1756470"/>
            <a:ext cx="444940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Forward Unit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541341" y="1375470"/>
            <a:ext cx="194310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22341" y="1137345"/>
            <a:ext cx="756345" cy="552450"/>
          </a:xfrm>
          <a:prstGeom prst="roundRect">
            <a:avLst>
              <a:gd name="adj" fmla="val 10345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89657" y="1251645"/>
            <a:ext cx="421713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40"/>
              </a:lnSpc>
              <a:buNone/>
            </a:pPr>
            <a:r>
              <a:rPr lang="en-US" sz="825" b="1" dirty="0">
                <a:solidFill>
                  <a:srgbClr val="F57C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EX/MEM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089657" y="1446907"/>
            <a:ext cx="421713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ALU结果</a:t>
            </a:r>
            <a:endParaRPr lang="en-US" sz="675" dirty="0"/>
          </a:p>
        </p:txBody>
      </p:sp>
      <p:sp>
        <p:nvSpPr>
          <p:cNvPr id="19" name="Shape 17"/>
          <p:cNvSpPr/>
          <p:nvPr/>
        </p:nvSpPr>
        <p:spPr>
          <a:xfrm>
            <a:off x="5014764" y="1737420"/>
            <a:ext cx="571500" cy="0"/>
          </a:xfrm>
          <a:prstGeom prst="line">
            <a:avLst/>
          </a:prstGeom>
          <a:noFill/>
          <a:ln w="19050">
            <a:solidFill>
              <a:srgbClr val="FF9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6831" y="1785045"/>
            <a:ext cx="354160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F57C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前递路径1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869186" y="1375470"/>
            <a:ext cx="194310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F98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50186" y="1137345"/>
            <a:ext cx="791021" cy="552450"/>
          </a:xfrm>
          <a:prstGeom prst="roundRect">
            <a:avLst>
              <a:gd name="adj" fmla="val 10345"/>
            </a:avLst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17155" y="1251645"/>
            <a:ext cx="457084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40"/>
              </a:lnSpc>
              <a:buNone/>
            </a:pPr>
            <a:r>
              <a:rPr lang="en-US" sz="825" b="1" dirty="0">
                <a:solidFill>
                  <a:srgbClr val="7B1FA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MEM/WB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417155" y="1446907"/>
            <a:ext cx="45708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写回数据</a:t>
            </a:r>
            <a:endParaRPr lang="en-US" sz="675" dirty="0"/>
          </a:p>
        </p:txBody>
      </p:sp>
      <p:sp>
        <p:nvSpPr>
          <p:cNvPr id="25" name="Shape 23"/>
          <p:cNvSpPr/>
          <p:nvPr/>
        </p:nvSpPr>
        <p:spPr>
          <a:xfrm>
            <a:off x="6359872" y="1737420"/>
            <a:ext cx="571500" cy="0"/>
          </a:xfrm>
          <a:prstGeom prst="line">
            <a:avLst/>
          </a:prstGeom>
          <a:noFill/>
          <a:ln w="19050">
            <a:solidFill>
              <a:srgbClr val="9C27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2089" y="1785045"/>
            <a:ext cx="354160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7B1FA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前递路径2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285750" y="2175570"/>
            <a:ext cx="2117979" cy="1375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975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前递时序分析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285750" y="2389287"/>
            <a:ext cx="4133850" cy="2449711"/>
          </a:xfrm>
          <a:prstGeom prst="roundRect">
            <a:avLst>
              <a:gd name="adj" fmla="val 3111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09575" y="2513112"/>
            <a:ext cx="3963924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执行时序示例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09575" y="2695873"/>
            <a:ext cx="3886200" cy="1771650"/>
          </a:xfrm>
          <a:prstGeom prst="roundRect">
            <a:avLst>
              <a:gd name="adj" fmla="val 3226"/>
            </a:avLst>
          </a:prstGeom>
          <a:solidFill>
            <a:srgbClr val="F5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4825" y="2791123"/>
            <a:ext cx="542095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周期1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88690" y="2791123"/>
            <a:ext cx="307207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ADD在EX，计算x1=x2+x3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4825" y="3114973"/>
            <a:ext cx="542095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周期2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88690" y="3114973"/>
            <a:ext cx="307207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ADD在MEM，SUB在EX需要x1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88690" y="3438823"/>
            <a:ext cx="307207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从EX/MEM前递x1的值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04825" y="3762673"/>
            <a:ext cx="542095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周期3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188690" y="3762673"/>
            <a:ext cx="307207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ADD在WB，AND在EX需要x1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188690" y="4086523"/>
            <a:ext cx="307207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9C27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从MEM/WB前递x1的值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09575" y="4562773"/>
            <a:ext cx="396392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通过前递机制，三条连续依赖的指令可以无阻塞执行，保持CPI接近1。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24400" y="2349401"/>
            <a:ext cx="2117979" cy="1375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975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性能提升效果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4724400" y="2563118"/>
            <a:ext cx="4133850" cy="2102048"/>
          </a:xfrm>
          <a:prstGeom prst="roundRect">
            <a:avLst>
              <a:gd name="adj" fmla="val 3625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48225" y="2686943"/>
            <a:ext cx="3963924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对比分析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4848225" y="2888754"/>
            <a:ext cx="1866900" cy="742950"/>
          </a:xfrm>
          <a:prstGeom prst="roundRect">
            <a:avLst>
              <a:gd name="adj" fmla="val 7692"/>
            </a:avLst>
          </a:prstGeom>
          <a:solidFill>
            <a:srgbClr val="FFEBE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907280" y="2964954"/>
            <a:ext cx="1748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6282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无前递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907280" y="3145929"/>
            <a:ext cx="1748790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6282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3周期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4907280" y="3441204"/>
            <a:ext cx="1748790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等待写回完成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867525" y="2888754"/>
            <a:ext cx="1866900" cy="742950"/>
          </a:xfrm>
          <a:prstGeom prst="roundRect">
            <a:avLst>
              <a:gd name="adj" fmla="val 7692"/>
            </a:avLst>
          </a:prstGeom>
          <a:solidFill>
            <a:srgbClr val="E8F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926580" y="2964954"/>
            <a:ext cx="1748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有前递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926580" y="3145929"/>
            <a:ext cx="1748790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0周期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6926580" y="3441204"/>
            <a:ext cx="1748790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无需等待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848225" y="3726954"/>
            <a:ext cx="3886200" cy="814388"/>
          </a:xfrm>
          <a:prstGeom prst="roundRect">
            <a:avLst>
              <a:gd name="adj" fmla="val 7018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943475" y="3822204"/>
            <a:ext cx="376961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关键设计要点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943475" y="4003179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EX冲突优先级高于MEM冲突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4943475" y="4160341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目标寄存器为x0时不前递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4943475" y="4317504"/>
            <a:ext cx="376961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需要检查RegWrite使能信号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8537823" y="4748213"/>
            <a:ext cx="326835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/ 15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2273427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性能优化与问题修复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667000" y="280988"/>
            <a:ext cx="609600" cy="219075"/>
          </a:xfrm>
          <a:prstGeom prst="roundRect">
            <a:avLst>
              <a:gd name="adj" fmla="val 17391"/>
            </a:avLst>
          </a:prstGeom>
          <a:solidFill>
            <a:srgbClr val="FF98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81300" y="319088"/>
            <a:ext cx="38862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关键改进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85750" y="5905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5750" y="588318"/>
            <a:ext cx="3968502" cy="981521"/>
          </a:xfrm>
          <a:prstGeom prst="rect">
            <a:avLst/>
          </a:prstGeom>
          <a:solidFill>
            <a:srgbClr val="FFEBE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4800" y="588318"/>
            <a:ext cx="0" cy="981521"/>
          </a:xfrm>
          <a:prstGeom prst="line">
            <a:avLst/>
          </a:prstGeom>
          <a:noFill/>
          <a:ln w="38100">
            <a:solidFill>
              <a:srgbClr val="F443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150" y="702618"/>
            <a:ext cx="1894523" cy="148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C6282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问题发现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150" y="926902"/>
            <a:ext cx="3775838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测试过程中发现寄存器x1的值出现异常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38150" y="1160264"/>
            <a:ext cx="662583" cy="295275"/>
          </a:xfrm>
          <a:prstGeom prst="roundRect">
            <a:avLst>
              <a:gd name="adj" fmla="val 12903"/>
            </a:avLst>
          </a:prstGeom>
          <a:solidFill>
            <a:srgbClr val="F44336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2450" y="1236464"/>
            <a:ext cx="44266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C6282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期望值：7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53133" y="1160264"/>
            <a:ext cx="662583" cy="295275"/>
          </a:xfrm>
          <a:prstGeom prst="roundRect">
            <a:avLst>
              <a:gd name="adj" fmla="val 12903"/>
            </a:avLst>
          </a:prstGeom>
          <a:solidFill>
            <a:srgbClr val="F44336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67433" y="1236464"/>
            <a:ext cx="44266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C6282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实际值：5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85750" y="1665089"/>
            <a:ext cx="3968502" cy="3185368"/>
          </a:xfrm>
          <a:prstGeom prst="roundRect">
            <a:avLst>
              <a:gd name="adj" fmla="val 2392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9575" y="1788914"/>
            <a:ext cx="1904238" cy="148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问题分析过程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9575" y="2032248"/>
            <a:ext cx="3795269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问题场景还原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09575" y="2215009"/>
            <a:ext cx="3720852" cy="1390650"/>
          </a:xfrm>
          <a:prstGeom prst="roundRect">
            <a:avLst>
              <a:gd name="adj" fmla="val 4110"/>
            </a:avLst>
          </a:prstGeom>
          <a:solidFill>
            <a:srgbClr val="F5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4825" y="2310259"/>
            <a:ext cx="3600959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225"/>
              </a:spcAft>
              <a:buNone/>
            </a:pPr>
            <a:r>
              <a:rPr lang="en-US" sz="15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周期N：ADDI x1,x1,2 在WB阶段写入x1=7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4825" y="2910334"/>
            <a:ext cx="3600959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225"/>
              </a:spcAft>
              <a:buNone/>
            </a:pPr>
            <a:r>
              <a:rPr lang="en-US" sz="15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周期N：ANDI x1,x1,0xF 在ID阶段读取x1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4825" y="3224659"/>
            <a:ext cx="3600959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6282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问题：读到了旧值x1=5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09575" y="3700909"/>
            <a:ext cx="3795269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根本原因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09575" y="3883670"/>
            <a:ext cx="3795269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寄存器堆在时钟上升沿写入，但读取是组合逻辑。当WB写入和ID读取在同一周期发生时，读取得到的是写入前的旧值。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09575" y="4264670"/>
            <a:ext cx="3720852" cy="461963"/>
          </a:xfrm>
          <a:prstGeom prst="roundRect">
            <a:avLst>
              <a:gd name="adj" fmla="val 12371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5775" y="4340870"/>
            <a:ext cx="3639821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E651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为什么EX/MEM前递无法解决？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5775" y="4521845"/>
            <a:ext cx="3639821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因为写回指令已经离开EX阶段，前递单元检测不到这种依赖关系。</a:t>
            </a:r>
            <a:endParaRPr lang="en-US" sz="675" dirty="0"/>
          </a:p>
        </p:txBody>
      </p:sp>
      <p:pic>
        <p:nvPicPr>
          <p:cNvPr id="26" name="Image 0" descr="/tmp/rasterized-gradient-83dbad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52" y="583853"/>
            <a:ext cx="4299198" cy="767209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673352" y="698153"/>
            <a:ext cx="2079117" cy="148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解决方案：寄存器堆内部前递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673352" y="922437"/>
            <a:ext cx="415201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在寄存器堆中增加写穿透(Write-Through)逻辑，当写入和读取地址相同时，直接返回写入数据。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559052" y="1446312"/>
            <a:ext cx="4299198" cy="1754386"/>
          </a:xfrm>
          <a:prstGeom prst="roundRect">
            <a:avLst>
              <a:gd name="adj" fmla="val 4343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663827" y="1551087"/>
            <a:ext cx="4171441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修改后的寄存器堆读取逻辑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663827" y="1733848"/>
            <a:ext cx="4089648" cy="1362075"/>
          </a:xfrm>
          <a:prstGeom prst="roundRect">
            <a:avLst>
              <a:gd name="adj" fmla="val 4196"/>
            </a:avLst>
          </a:prstGeom>
          <a:solidFill>
            <a:srgbClr val="E8F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740027" y="1810048"/>
            <a:ext cx="4015993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Verilog代码（核心3行）：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4740027" y="2124373"/>
            <a:ext cx="4015993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50"/>
              </a:spcAft>
              <a:buNone/>
            </a:pPr>
            <a:r>
              <a:rPr lang="en-US" sz="150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assign rd1 = (rs1 == 5b0) ? 32b0 :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740027" y="2429173"/>
            <a:ext cx="4015993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50"/>
              </a:spcAft>
              <a:buNone/>
            </a:pPr>
            <a:r>
              <a:rPr lang="en-US" sz="150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(we and rd == rs1) ? wd :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4740027" y="2733973"/>
            <a:ext cx="4015993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registers[rs1];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4559052" y="3295948"/>
            <a:ext cx="4299198" cy="1559123"/>
          </a:xfrm>
          <a:prstGeom prst="roundRect">
            <a:avLst>
              <a:gd name="adj" fmla="val 4887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663827" y="3400723"/>
            <a:ext cx="4171441" cy="125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优化效果对比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4663827" y="3602534"/>
            <a:ext cx="1968698" cy="442913"/>
          </a:xfrm>
          <a:prstGeom prst="roundRect">
            <a:avLst>
              <a:gd name="adj" fmla="val 12903"/>
            </a:avLst>
          </a:prstGeom>
          <a:solidFill>
            <a:srgbClr val="FFEBEE"/>
          </a:solidFill>
          <a:ln w="9525">
            <a:solidFill>
              <a:srgbClr val="FFCDD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731579" y="3688259"/>
            <a:ext cx="1833193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C6282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修复前</a:t>
            </a:r>
            <a:endParaRPr lang="en-US" sz="675" dirty="0"/>
          </a:p>
        </p:txBody>
      </p:sp>
      <p:sp>
        <p:nvSpPr>
          <p:cNvPr id="40" name="Text 37"/>
          <p:cNvSpPr/>
          <p:nvPr/>
        </p:nvSpPr>
        <p:spPr>
          <a:xfrm>
            <a:off x="4731579" y="3845421"/>
            <a:ext cx="1833193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x1值异常，后续计算错误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6784925" y="3602534"/>
            <a:ext cx="1968698" cy="442913"/>
          </a:xfrm>
          <a:prstGeom prst="roundRect">
            <a:avLst>
              <a:gd name="adj" fmla="val 12903"/>
            </a:avLst>
          </a:prstGeom>
          <a:solidFill>
            <a:srgbClr val="E8F5E9"/>
          </a:solidFill>
          <a:ln w="9525">
            <a:solidFill>
              <a:srgbClr val="C8E6C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852678" y="3688259"/>
            <a:ext cx="1833193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修复后</a:t>
            </a:r>
            <a:endParaRPr lang="en-US" sz="675" dirty="0"/>
          </a:p>
        </p:txBody>
      </p:sp>
      <p:sp>
        <p:nvSpPr>
          <p:cNvPr id="43" name="Text 40"/>
          <p:cNvSpPr/>
          <p:nvPr/>
        </p:nvSpPr>
        <p:spPr>
          <a:xfrm>
            <a:off x="6852678" y="3845421"/>
            <a:ext cx="1833193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0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x1值正确，全部通过</a:t>
            </a:r>
            <a:endParaRPr lang="en-US" sz="600" dirty="0"/>
          </a:p>
        </p:txBody>
      </p:sp>
      <p:pic>
        <p:nvPicPr>
          <p:cNvPr id="44" name="Image 1" descr="/tmp/rasterized-gradient-7cab78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827" y="4121646"/>
            <a:ext cx="4089648" cy="62865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4720085" y="4216896"/>
            <a:ext cx="3977131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最终成功标志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4720085" y="4397871"/>
            <a:ext cx="3977131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25"/>
              </a:lnSpc>
              <a:spcBef>
                <a:spcPts val="3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x5 = 0x12345678</a:t>
            </a:r>
            <a:endParaRPr lang="en-US" sz="1350" dirty="0"/>
          </a:p>
        </p:txBody>
      </p:sp>
      <p:sp>
        <p:nvSpPr>
          <p:cNvPr id="47" name="Text 43"/>
          <p:cNvSpPr/>
          <p:nvPr/>
        </p:nvSpPr>
        <p:spPr>
          <a:xfrm>
            <a:off x="8537823" y="4748213"/>
            <a:ext cx="326835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 / 15</a:t>
            </a:r>
            <a:endParaRPr lang="en-US" sz="825" dirty="0"/>
          </a:p>
        </p:txBody>
      </p:sp>
      <p:pic>
        <p:nvPicPr>
          <p:cNvPr id="48" name="图片 47"/>
          <p:cNvPicPr/>
          <p:nvPr/>
        </p:nvPicPr>
        <p:blipFill>
          <a:blip r:embed="rId4"/>
          <a:stretch>
            <a:fillRect/>
          </a:stretch>
        </p:blipFill>
        <p:spPr>
          <a:xfrm>
            <a:off x="4254500" y="0"/>
            <a:ext cx="3352165" cy="6686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测试验证与结果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CAF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/tmp/rasterized-gradient-80685d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5" y="1446530"/>
            <a:ext cx="4598670" cy="5695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0525" y="1555115"/>
            <a:ext cx="4104005" cy="147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测试程序覆盖（43条指令） </a:t>
            </a:r>
            <a:endParaRPr lang="en-US" sz="105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 algn="l">
              <a:lnSpc>
                <a:spcPts val="11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Synthesis</a:t>
            </a:r>
            <a:r>
              <a:rPr lang="zh-CN" alt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-120"/>
              </a:rPr>
              <a:t>、</a:t>
            </a:r>
            <a:r>
              <a:rPr lang="en-US" altLang="zh-CN" sz="1050" b="1" dirty="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-120"/>
              </a:rPr>
              <a:t>Implementation</a:t>
            </a:r>
            <a:r>
              <a:rPr lang="zh-CN" alt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-120"/>
              </a:rPr>
              <a:t>、</a:t>
            </a:r>
            <a:r>
              <a:rPr lang="en-US" altLang="zh-CN" sz="1050" b="1" dirty="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-120"/>
              </a:rPr>
              <a:t>Generate Bitstream</a:t>
            </a:r>
            <a:r>
              <a:rPr lang="zh-CN" alt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-120"/>
              </a:rPr>
              <a:t>均已成功</a:t>
            </a:r>
            <a:r>
              <a:rPr lang="zh-CN" alt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-120"/>
              </a:rPr>
              <a:t>运行</a:t>
            </a:r>
            <a:endParaRPr lang="zh-CN" altLang="en-US" sz="1050" b="1" dirty="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85750" y="2052786"/>
            <a:ext cx="4547295" cy="1909762"/>
          </a:xfrm>
          <a:prstGeom prst="roundRect">
            <a:avLst>
              <a:gd name="adj" fmla="val 3990"/>
            </a:avLst>
          </a:prstGeom>
          <a:solidFill>
            <a:srgbClr val="FFFFFF"/>
          </a:solidFill>
          <a:ln w="9525">
            <a:solidFill>
              <a:srgbClr val="B3D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95275" y="2062311"/>
            <a:ext cx="4528245" cy="266700"/>
          </a:xfrm>
          <a:prstGeom prst="rect">
            <a:avLst/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295275" y="2324249"/>
            <a:ext cx="4528245" cy="0"/>
          </a:xfrm>
          <a:prstGeom prst="line">
            <a:avLst/>
          </a:prstGeom>
          <a:noFill/>
          <a:ln w="9525">
            <a:solidFill>
              <a:srgbClr val="B3D4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0525" y="2119461"/>
            <a:ext cx="123402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测试类别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746700" y="2119461"/>
            <a:ext cx="61693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数量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509986" y="2119461"/>
            <a:ext cx="226264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测试内容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95275" y="2557611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0525" y="2376636"/>
            <a:ext cx="123402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I-type算术逻辑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1746700" y="2376636"/>
            <a:ext cx="61693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2509986" y="2376636"/>
            <a:ext cx="226264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立即数运算、移位、比较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295275" y="2562374"/>
            <a:ext cx="4528245" cy="233362"/>
          </a:xfrm>
          <a:prstGeom prst="rect">
            <a:avLst/>
          </a:prstGeom>
          <a:solidFill>
            <a:srgbClr val="F5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295275" y="2790974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0525" y="2609999"/>
            <a:ext cx="123402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R-type算术逻辑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1746700" y="2609999"/>
            <a:ext cx="61693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2509986" y="2609999"/>
            <a:ext cx="226264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寄存器间运算、所有ALU操作</a:t>
            </a:r>
            <a:endParaRPr lang="en-US" sz="675" dirty="0"/>
          </a:p>
        </p:txBody>
      </p:sp>
      <p:sp>
        <p:nvSpPr>
          <p:cNvPr id="21" name="Shape 18"/>
          <p:cNvSpPr/>
          <p:nvPr/>
        </p:nvSpPr>
        <p:spPr>
          <a:xfrm>
            <a:off x="295275" y="3024336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0525" y="2843361"/>
            <a:ext cx="123402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U-type指令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1746700" y="2843361"/>
            <a:ext cx="61693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2509986" y="2843361"/>
            <a:ext cx="226264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LUI加载立即数、AUIPC地址计算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295275" y="3029099"/>
            <a:ext cx="4528245" cy="233362"/>
          </a:xfrm>
          <a:prstGeom prst="rect">
            <a:avLst/>
          </a:prstGeom>
          <a:solidFill>
            <a:srgbClr val="F5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295275" y="3257699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90525" y="3076724"/>
            <a:ext cx="123402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Load/Store访存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1746700" y="3076724"/>
            <a:ext cx="61693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2509986" y="3076724"/>
            <a:ext cx="226264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字节/半字/字读写、符号扩展</a:t>
            </a:r>
            <a:endParaRPr lang="en-US" sz="675" dirty="0"/>
          </a:p>
        </p:txBody>
      </p:sp>
      <p:sp>
        <p:nvSpPr>
          <p:cNvPr id="30" name="Shape 27"/>
          <p:cNvSpPr/>
          <p:nvPr/>
        </p:nvSpPr>
        <p:spPr>
          <a:xfrm>
            <a:off x="295275" y="3491061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0525" y="3310086"/>
            <a:ext cx="123402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B-type分支</a:t>
            </a:r>
            <a:endParaRPr lang="en-US" sz="675" dirty="0"/>
          </a:p>
        </p:txBody>
      </p:sp>
      <p:sp>
        <p:nvSpPr>
          <p:cNvPr id="32" name="Text 29"/>
          <p:cNvSpPr/>
          <p:nvPr/>
        </p:nvSpPr>
        <p:spPr>
          <a:xfrm>
            <a:off x="1746700" y="3310086"/>
            <a:ext cx="61693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2509986" y="3310086"/>
            <a:ext cx="226264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相等/不等/大小比较分支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295275" y="3495824"/>
            <a:ext cx="4528245" cy="233362"/>
          </a:xfrm>
          <a:prstGeom prst="rect">
            <a:avLst/>
          </a:prstGeom>
          <a:solidFill>
            <a:srgbClr val="F5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295275" y="3724424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90525" y="3543449"/>
            <a:ext cx="123402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J-type跳转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1746700" y="3543449"/>
            <a:ext cx="61693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675" dirty="0"/>
          </a:p>
        </p:txBody>
      </p:sp>
      <p:sp>
        <p:nvSpPr>
          <p:cNvPr id="38" name="Text 35"/>
          <p:cNvSpPr/>
          <p:nvPr/>
        </p:nvSpPr>
        <p:spPr>
          <a:xfrm>
            <a:off x="2509986" y="3543449"/>
            <a:ext cx="226264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JAL/JALR跳转与返回地址保存</a:t>
            </a:r>
            <a:endParaRPr lang="en-US" sz="675" dirty="0"/>
          </a:p>
        </p:txBody>
      </p:sp>
      <p:sp>
        <p:nvSpPr>
          <p:cNvPr id="39" name="Text 36"/>
          <p:cNvSpPr/>
          <p:nvPr/>
        </p:nvSpPr>
        <p:spPr>
          <a:xfrm>
            <a:off x="390525" y="3776811"/>
            <a:ext cx="123402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M扩展乘除法</a:t>
            </a:r>
            <a:endParaRPr lang="en-US" sz="675" dirty="0"/>
          </a:p>
        </p:txBody>
      </p:sp>
      <p:sp>
        <p:nvSpPr>
          <p:cNvPr id="40" name="Text 37"/>
          <p:cNvSpPr/>
          <p:nvPr/>
        </p:nvSpPr>
        <p:spPr>
          <a:xfrm>
            <a:off x="1746700" y="3776811"/>
            <a:ext cx="61693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5"/>
              </a:lnSpc>
              <a:buNone/>
            </a:pPr>
            <a:r>
              <a:rPr lang="en-US" sz="675" b="1" dirty="0">
                <a:solidFill>
                  <a:srgbClr val="FF98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675" dirty="0"/>
          </a:p>
        </p:txBody>
      </p:sp>
      <p:sp>
        <p:nvSpPr>
          <p:cNvPr id="41" name="Text 38"/>
          <p:cNvSpPr/>
          <p:nvPr/>
        </p:nvSpPr>
        <p:spPr>
          <a:xfrm>
            <a:off x="2509986" y="3776811"/>
            <a:ext cx="226264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乘法、除法、取余运算</a:t>
            </a:r>
            <a:endParaRPr lang="en-US" sz="675" dirty="0"/>
          </a:p>
        </p:txBody>
      </p:sp>
      <p:pic>
        <p:nvPicPr>
          <p:cNvPr id="42" name="Image 1" descr="/tmp/rasterized-gradient-86e055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845" y="760512"/>
            <a:ext cx="3720405" cy="338584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5271195" y="855762"/>
            <a:ext cx="1768221" cy="148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FPGA上板验证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5137845" y="1194346"/>
            <a:ext cx="3720405" cy="1118146"/>
          </a:xfrm>
          <a:prstGeom prst="roundRect">
            <a:avLst>
              <a:gd name="adj" fmla="val 6815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5261670" y="1318171"/>
            <a:ext cx="3542211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EGO1开发板配置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5261670" y="1531441"/>
            <a:ext cx="3542211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FPGA芯片：Xilinx Artix-7</a:t>
            </a:r>
            <a:endParaRPr lang="en-US" sz="750" dirty="0"/>
          </a:p>
        </p:txBody>
      </p:sp>
      <p:sp>
        <p:nvSpPr>
          <p:cNvPr id="47" name="Text 43"/>
          <p:cNvSpPr/>
          <p:nvPr/>
        </p:nvSpPr>
        <p:spPr>
          <a:xfrm>
            <a:off x="5261670" y="1702891"/>
            <a:ext cx="3542211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开发工具：Vivado 2019.2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5261670" y="1874341"/>
            <a:ext cx="3542211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显示设备：8位数码管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5261670" y="2045791"/>
            <a:ext cx="3542211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指示灯：16个LED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5137845" y="2407741"/>
            <a:ext cx="3720405" cy="665708"/>
          </a:xfrm>
          <a:prstGeom prst="roundRect">
            <a:avLst>
              <a:gd name="adj" fmla="val 11446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5261670" y="2531566"/>
            <a:ext cx="3542211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按键显示功能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5261670" y="2744837"/>
            <a:ext cx="547836" cy="204788"/>
          </a:xfrm>
          <a:prstGeom prst="roundRect">
            <a:avLst>
              <a:gd name="adj" fmla="val 18605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5356920" y="2782937"/>
            <a:ext cx="364483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S0 → PC</a:t>
            </a:r>
            <a:endParaRPr lang="en-US" sz="675" dirty="0"/>
          </a:p>
        </p:txBody>
      </p:sp>
      <p:sp>
        <p:nvSpPr>
          <p:cNvPr id="54" name="Text 50"/>
          <p:cNvSpPr/>
          <p:nvPr/>
        </p:nvSpPr>
        <p:spPr>
          <a:xfrm>
            <a:off x="5885706" y="2744837"/>
            <a:ext cx="519261" cy="204788"/>
          </a:xfrm>
          <a:prstGeom prst="roundRect">
            <a:avLst>
              <a:gd name="adj" fmla="val 18605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5980956" y="2782937"/>
            <a:ext cx="33533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S1 → x1</a:t>
            </a:r>
            <a:endParaRPr lang="en-US" sz="675" dirty="0"/>
          </a:p>
        </p:txBody>
      </p:sp>
      <p:sp>
        <p:nvSpPr>
          <p:cNvPr id="56" name="Text 52"/>
          <p:cNvSpPr/>
          <p:nvPr/>
        </p:nvSpPr>
        <p:spPr>
          <a:xfrm>
            <a:off x="6481167" y="2744837"/>
            <a:ext cx="519261" cy="204788"/>
          </a:xfrm>
          <a:prstGeom prst="roundRect">
            <a:avLst>
              <a:gd name="adj" fmla="val 18605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6576417" y="2782937"/>
            <a:ext cx="33533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S2 → x2</a:t>
            </a:r>
            <a:endParaRPr lang="en-US" sz="675" dirty="0"/>
          </a:p>
        </p:txBody>
      </p:sp>
      <p:sp>
        <p:nvSpPr>
          <p:cNvPr id="58" name="Text 54"/>
          <p:cNvSpPr/>
          <p:nvPr/>
        </p:nvSpPr>
        <p:spPr>
          <a:xfrm>
            <a:off x="7076629" y="2744837"/>
            <a:ext cx="519261" cy="204788"/>
          </a:xfrm>
          <a:prstGeom prst="roundRect">
            <a:avLst>
              <a:gd name="adj" fmla="val 18605"/>
            </a:avLst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7171879" y="2782937"/>
            <a:ext cx="33533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S3 → x3</a:t>
            </a:r>
            <a:endParaRPr lang="en-US" sz="675" dirty="0"/>
          </a:p>
        </p:txBody>
      </p:sp>
      <p:sp>
        <p:nvSpPr>
          <p:cNvPr id="60" name="Text 56"/>
          <p:cNvSpPr/>
          <p:nvPr/>
        </p:nvSpPr>
        <p:spPr>
          <a:xfrm>
            <a:off x="7672090" y="2744837"/>
            <a:ext cx="943124" cy="204788"/>
          </a:xfrm>
          <a:prstGeom prst="roundRect">
            <a:avLst>
              <a:gd name="adj" fmla="val 18605"/>
            </a:avLst>
          </a:prstGeom>
          <a:solidFill>
            <a:srgbClr val="E8F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7767340" y="2782937"/>
            <a:ext cx="76767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388E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S4 → x5 (成功标志)</a:t>
            </a:r>
            <a:endParaRPr lang="en-US" sz="675" dirty="0"/>
          </a:p>
        </p:txBody>
      </p:sp>
      <p:pic>
        <p:nvPicPr>
          <p:cNvPr id="62" name="Image 2" descr="/tmp/rasterized-gradient-8f2abf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845" y="3168700"/>
            <a:ext cx="3720405" cy="1652588"/>
          </a:xfrm>
          <a:prstGeom prst="rect">
            <a:avLst/>
          </a:prstGeom>
        </p:spPr>
      </p:pic>
      <p:sp>
        <p:nvSpPr>
          <p:cNvPr id="63" name="Text 58"/>
          <p:cNvSpPr/>
          <p:nvPr/>
        </p:nvSpPr>
        <p:spPr>
          <a:xfrm>
            <a:off x="5271195" y="3302050"/>
            <a:ext cx="3522780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验证结果：全部通过</a:t>
            </a:r>
            <a:endParaRPr lang="en-US" sz="975" dirty="0"/>
          </a:p>
        </p:txBody>
      </p:sp>
      <p:sp>
        <p:nvSpPr>
          <p:cNvPr id="64" name="Text 59"/>
          <p:cNvSpPr/>
          <p:nvPr/>
        </p:nvSpPr>
        <p:spPr>
          <a:xfrm>
            <a:off x="5271195" y="3563987"/>
            <a:ext cx="3453705" cy="704850"/>
          </a:xfrm>
          <a:prstGeom prst="roundRect">
            <a:avLst>
              <a:gd name="adj" fmla="val 8108"/>
            </a:avLst>
          </a:prstGeom>
          <a:solidFill>
            <a:srgbClr val="FFFFFF">
              <a:alpha val="2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0"/>
          <p:cNvSpPr/>
          <p:nvPr/>
        </p:nvSpPr>
        <p:spPr>
          <a:xfrm>
            <a:off x="5333812" y="3659237"/>
            <a:ext cx="332847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S4按键数码管显示</a:t>
            </a:r>
            <a:endParaRPr lang="en-US" sz="750" dirty="0"/>
          </a:p>
        </p:txBody>
      </p:sp>
      <p:sp>
        <p:nvSpPr>
          <p:cNvPr id="66" name="Text 61"/>
          <p:cNvSpPr/>
          <p:nvPr/>
        </p:nvSpPr>
        <p:spPr>
          <a:xfrm>
            <a:off x="5333812" y="3859262"/>
            <a:ext cx="332847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75"/>
              </a:lnSpc>
              <a:spcBef>
                <a:spcPts val="450"/>
              </a:spcBef>
              <a:buNone/>
            </a:pPr>
            <a:r>
              <a:rPr lang="en-US" sz="16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12345678</a:t>
            </a:r>
            <a:endParaRPr lang="en-US" sz="1650" dirty="0"/>
          </a:p>
        </p:txBody>
      </p:sp>
      <p:sp>
        <p:nvSpPr>
          <p:cNvPr id="67" name="Text 62"/>
          <p:cNvSpPr/>
          <p:nvPr/>
        </p:nvSpPr>
        <p:spPr>
          <a:xfrm>
            <a:off x="5271195" y="4364087"/>
            <a:ext cx="352278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LED[15] 成功指示灯点亮</a:t>
            </a:r>
            <a:endParaRPr lang="en-US" sz="750" dirty="0"/>
          </a:p>
        </p:txBody>
      </p:sp>
      <p:sp>
        <p:nvSpPr>
          <p:cNvPr id="68" name="Text 63"/>
          <p:cNvSpPr/>
          <p:nvPr/>
        </p:nvSpPr>
        <p:spPr>
          <a:xfrm>
            <a:off x="5271195" y="4545062"/>
            <a:ext cx="352278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所有43条指令执行正确</a:t>
            </a:r>
            <a:endParaRPr lang="en-US" sz="750" dirty="0"/>
          </a:p>
        </p:txBody>
      </p:sp>
      <p:sp>
        <p:nvSpPr>
          <p:cNvPr id="69" name="Text 64"/>
          <p:cNvSpPr/>
          <p:nvPr/>
        </p:nvSpPr>
        <p:spPr>
          <a:xfrm>
            <a:off x="8537823" y="4748213"/>
            <a:ext cx="326835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 / 15</a:t>
            </a:r>
            <a:endParaRPr lang="en-US" sz="825" dirty="0"/>
          </a:p>
        </p:txBody>
      </p:sp>
      <p:pic>
        <p:nvPicPr>
          <p:cNvPr id="70" name="图片 6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0950" y="105410"/>
            <a:ext cx="6014085" cy="635635"/>
          </a:xfrm>
          <a:prstGeom prst="rect">
            <a:avLst/>
          </a:prstGeom>
        </p:spPr>
      </p:pic>
      <p:pic>
        <p:nvPicPr>
          <p:cNvPr id="71" name="图片 7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525" y="855980"/>
            <a:ext cx="1181100" cy="590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测试验证与结果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CAF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295275" y="2557611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5275" y="2790974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5275" y="3024336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95275" y="3257699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95275" y="3491061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95275" y="3724424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537823" y="4748213"/>
            <a:ext cx="326835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 / 15</a:t>
            </a:r>
            <a:endParaRPr lang="en-US" sz="825" dirty="0"/>
          </a:p>
        </p:txBody>
      </p:sp>
      <p:pic>
        <p:nvPicPr>
          <p:cNvPr id="70" name="图片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420" y="274320"/>
            <a:ext cx="2867660" cy="2192655"/>
          </a:xfrm>
          <a:prstGeom prst="rect">
            <a:avLst/>
          </a:prstGeom>
        </p:spPr>
      </p:pic>
      <p:pic>
        <p:nvPicPr>
          <p:cNvPr id="71" name="图片 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590550"/>
            <a:ext cx="3214370" cy="1876425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2649855"/>
            <a:ext cx="3214370" cy="1877060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635" y="2626360"/>
            <a:ext cx="3076575" cy="17964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测试验证与结果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CAF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295275" y="2557611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5275" y="2790974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5275" y="3024336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95275" y="3257699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95275" y="3491061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95275" y="3724424"/>
            <a:ext cx="4528245" cy="0"/>
          </a:xfrm>
          <a:prstGeom prst="line">
            <a:avLst/>
          </a:prstGeom>
          <a:noFill/>
          <a:ln w="9525">
            <a:solidFill>
              <a:srgbClr val="E3F2FD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537823" y="4748213"/>
            <a:ext cx="326835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 / 15</a:t>
            </a:r>
            <a:endParaRPr lang="en-US" sz="825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45415" y="752475"/>
            <a:ext cx="4499610" cy="25006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972c1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80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总结与展望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285750" y="5905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196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/tmp/rasterized-gradient-4a084d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335584"/>
            <a:ext cx="4133850" cy="3385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9100" y="1430834"/>
            <a:ext cx="1981962" cy="148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设计成果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285750" y="1769418"/>
            <a:ext cx="4133850" cy="514350"/>
          </a:xfrm>
          <a:prstGeom prst="roundRect">
            <a:avLst>
              <a:gd name="adj" fmla="val 14815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90525" y="189324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8F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67916" y="1926580"/>
            <a:ext cx="11400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09625" y="1874193"/>
            <a:ext cx="1571634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完成RV32IM五级流水线CPU设计</a:t>
            </a:r>
            <a:endParaRPr lang="en-US" sz="825" dirty="0"/>
          </a:p>
        </p:txBody>
      </p:sp>
      <p:sp>
        <p:nvSpPr>
          <p:cNvPr id="11" name="Text 7"/>
          <p:cNvSpPr/>
          <p:nvPr/>
        </p:nvSpPr>
        <p:spPr>
          <a:xfrm>
            <a:off x="809625" y="2050405"/>
            <a:ext cx="1571634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支持43条指令，包含M扩展乘除法</a:t>
            </a:r>
            <a:endParaRPr lang="en-US" sz="675" dirty="0"/>
          </a:p>
        </p:txBody>
      </p:sp>
      <p:sp>
        <p:nvSpPr>
          <p:cNvPr id="12" name="Text 8"/>
          <p:cNvSpPr/>
          <p:nvPr/>
        </p:nvSpPr>
        <p:spPr>
          <a:xfrm>
            <a:off x="285750" y="2359968"/>
            <a:ext cx="4133850" cy="514350"/>
          </a:xfrm>
          <a:prstGeom prst="roundRect">
            <a:avLst>
              <a:gd name="adj" fmla="val 14815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90525" y="248379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8F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67916" y="2517130"/>
            <a:ext cx="11400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09625" y="2464743"/>
            <a:ext cx="1399032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实现完整冲突检测与处理机制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809625" y="2640955"/>
            <a:ext cx="1399032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前递、阻塞、冲刷三种技术综合运用</a:t>
            </a:r>
            <a:endParaRPr lang="en-US" sz="675" dirty="0"/>
          </a:p>
        </p:txBody>
      </p:sp>
      <p:sp>
        <p:nvSpPr>
          <p:cNvPr id="17" name="Text 13"/>
          <p:cNvSpPr/>
          <p:nvPr/>
        </p:nvSpPr>
        <p:spPr>
          <a:xfrm>
            <a:off x="285750" y="2950518"/>
            <a:ext cx="4133850" cy="514350"/>
          </a:xfrm>
          <a:prstGeom prst="roundRect">
            <a:avLst>
              <a:gd name="adj" fmla="val 14815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90525" y="307434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8F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67916" y="3107680"/>
            <a:ext cx="11400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09625" y="3055293"/>
            <a:ext cx="1389317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解决寄存器堆WB-ID竞争问题</a:t>
            </a:r>
            <a:endParaRPr lang="en-US" sz="825" dirty="0"/>
          </a:p>
        </p:txBody>
      </p:sp>
      <p:sp>
        <p:nvSpPr>
          <p:cNvPr id="21" name="Text 17"/>
          <p:cNvSpPr/>
          <p:nvPr/>
        </p:nvSpPr>
        <p:spPr>
          <a:xfrm>
            <a:off x="809625" y="3231505"/>
            <a:ext cx="1389317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通过内部前递修复关键时序Bug</a:t>
            </a:r>
            <a:endParaRPr lang="en-US" sz="675" dirty="0"/>
          </a:p>
        </p:txBody>
      </p:sp>
      <p:sp>
        <p:nvSpPr>
          <p:cNvPr id="22" name="Text 18"/>
          <p:cNvSpPr/>
          <p:nvPr/>
        </p:nvSpPr>
        <p:spPr>
          <a:xfrm>
            <a:off x="285750" y="3541068"/>
            <a:ext cx="4133850" cy="514350"/>
          </a:xfrm>
          <a:prstGeom prst="roundRect">
            <a:avLst>
              <a:gd name="adj" fmla="val 14815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90525" y="366489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8F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67916" y="3698230"/>
            <a:ext cx="11400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809625" y="3645843"/>
            <a:ext cx="1586663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成功在FPGA上验证运行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809625" y="3822055"/>
            <a:ext cx="1586663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全部测试通过，成功标志x5=0x12345678</a:t>
            </a:r>
            <a:endParaRPr lang="en-US" sz="675" dirty="0"/>
          </a:p>
        </p:txBody>
      </p:sp>
      <p:pic>
        <p:nvPicPr>
          <p:cNvPr id="27" name="Image 2" descr="/tmp/rasterized-gradient-52b8d6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988516"/>
            <a:ext cx="4133850" cy="3385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857750" y="1083766"/>
            <a:ext cx="1981962" cy="148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技术收获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724400" y="1422350"/>
            <a:ext cx="4133850" cy="466725"/>
          </a:xfrm>
          <a:prstGeom prst="rect">
            <a:avLst/>
          </a:prstGeom>
          <a:solidFill>
            <a:srgbClr val="E3F2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5"/>
          <p:cNvSpPr/>
          <p:nvPr/>
        </p:nvSpPr>
        <p:spPr>
          <a:xfrm>
            <a:off x="4738688" y="1422350"/>
            <a:ext cx="0" cy="466725"/>
          </a:xfrm>
          <a:prstGeom prst="line">
            <a:avLst/>
          </a:prstGeom>
          <a:noFill/>
          <a:ln w="28575">
            <a:solidFill>
              <a:srgbClr val="2196F3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867275" y="1498550"/>
            <a:ext cx="3954209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深入理解流水线CPU原理</a:t>
            </a:r>
            <a:endParaRPr lang="en-US" sz="825" dirty="0"/>
          </a:p>
        </p:txBody>
      </p:sp>
      <p:sp>
        <p:nvSpPr>
          <p:cNvPr id="32" name="Text 27"/>
          <p:cNvSpPr/>
          <p:nvPr/>
        </p:nvSpPr>
        <p:spPr>
          <a:xfrm>
            <a:off x="4867275" y="1684288"/>
            <a:ext cx="395420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掌握五级流水线的设计思想与实现方法</a:t>
            </a:r>
            <a:endParaRPr lang="en-US" sz="675" dirty="0"/>
          </a:p>
        </p:txBody>
      </p:sp>
      <p:sp>
        <p:nvSpPr>
          <p:cNvPr id="33" name="Text 28"/>
          <p:cNvSpPr/>
          <p:nvPr/>
        </p:nvSpPr>
        <p:spPr>
          <a:xfrm>
            <a:off x="4724400" y="1946225"/>
            <a:ext cx="4133850" cy="466725"/>
          </a:xfrm>
          <a:prstGeom prst="rect">
            <a:avLst/>
          </a:prstGeom>
          <a:solidFill>
            <a:srgbClr val="E0F7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29"/>
          <p:cNvSpPr/>
          <p:nvPr/>
        </p:nvSpPr>
        <p:spPr>
          <a:xfrm>
            <a:off x="4738688" y="1946225"/>
            <a:ext cx="0" cy="466725"/>
          </a:xfrm>
          <a:prstGeom prst="line">
            <a:avLst/>
          </a:prstGeom>
          <a:noFill/>
          <a:ln w="28575">
            <a:solidFill>
              <a:srgbClr val="00BCD4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867275" y="2022425"/>
            <a:ext cx="3954209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掌握冲突处理核心技术</a:t>
            </a:r>
            <a:endParaRPr lang="en-US" sz="825" dirty="0"/>
          </a:p>
        </p:txBody>
      </p:sp>
      <p:sp>
        <p:nvSpPr>
          <p:cNvPr id="36" name="Text 31"/>
          <p:cNvSpPr/>
          <p:nvPr/>
        </p:nvSpPr>
        <p:spPr>
          <a:xfrm>
            <a:off x="4867275" y="2208163"/>
            <a:ext cx="395420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前递、阻塞、冲刷的原理和应用场景</a:t>
            </a:r>
            <a:endParaRPr lang="en-US" sz="675" dirty="0"/>
          </a:p>
        </p:txBody>
      </p:sp>
      <p:sp>
        <p:nvSpPr>
          <p:cNvPr id="37" name="Text 32"/>
          <p:cNvSpPr/>
          <p:nvPr/>
        </p:nvSpPr>
        <p:spPr>
          <a:xfrm>
            <a:off x="4724400" y="2470100"/>
            <a:ext cx="4133850" cy="466725"/>
          </a:xfrm>
          <a:prstGeom prst="rect">
            <a:avLst/>
          </a:prstGeom>
          <a:solidFill>
            <a:srgbClr val="E8F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3"/>
          <p:cNvSpPr/>
          <p:nvPr/>
        </p:nvSpPr>
        <p:spPr>
          <a:xfrm>
            <a:off x="4738688" y="2470100"/>
            <a:ext cx="0" cy="466725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867275" y="2546300"/>
            <a:ext cx="3954209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学会硬件调试与时序分析</a:t>
            </a:r>
            <a:endParaRPr lang="en-US" sz="825" dirty="0"/>
          </a:p>
        </p:txBody>
      </p:sp>
      <p:sp>
        <p:nvSpPr>
          <p:cNvPr id="40" name="Text 35"/>
          <p:cNvSpPr/>
          <p:nvPr/>
        </p:nvSpPr>
        <p:spPr>
          <a:xfrm>
            <a:off x="4867275" y="2732038"/>
            <a:ext cx="395420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通过分析定位并解决寄存器竞争问题</a:t>
            </a:r>
            <a:endParaRPr lang="en-US" sz="675" dirty="0"/>
          </a:p>
        </p:txBody>
      </p:sp>
      <p:sp>
        <p:nvSpPr>
          <p:cNvPr id="41" name="Text 36"/>
          <p:cNvSpPr/>
          <p:nvPr/>
        </p:nvSpPr>
        <p:spPr>
          <a:xfrm>
            <a:off x="4724400" y="2993975"/>
            <a:ext cx="4133850" cy="466725"/>
          </a:xfrm>
          <a:prstGeom prst="rect">
            <a:avLst/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37"/>
          <p:cNvSpPr/>
          <p:nvPr/>
        </p:nvSpPr>
        <p:spPr>
          <a:xfrm>
            <a:off x="4738688" y="2993975"/>
            <a:ext cx="0" cy="466725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867275" y="3070175"/>
            <a:ext cx="3954209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积累FPGA开发实践经验</a:t>
            </a:r>
            <a:endParaRPr lang="en-US" sz="825" dirty="0"/>
          </a:p>
        </p:txBody>
      </p:sp>
      <p:sp>
        <p:nvSpPr>
          <p:cNvPr id="44" name="Text 39"/>
          <p:cNvSpPr/>
          <p:nvPr/>
        </p:nvSpPr>
        <p:spPr>
          <a:xfrm>
            <a:off x="4867275" y="3255913"/>
            <a:ext cx="3954209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Verilog编程、Vivado工具链、上板验证流程</a:t>
            </a:r>
            <a:endParaRPr lang="en-US" sz="675" dirty="0"/>
          </a:p>
        </p:txBody>
      </p:sp>
      <p:sp>
        <p:nvSpPr>
          <p:cNvPr id="45" name="Text 40"/>
          <p:cNvSpPr/>
          <p:nvPr/>
        </p:nvSpPr>
        <p:spPr>
          <a:xfrm>
            <a:off x="4724400" y="3555950"/>
            <a:ext cx="4133850" cy="846683"/>
          </a:xfrm>
          <a:prstGeom prst="roundRect">
            <a:avLst>
              <a:gd name="adj" fmla="val 9000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B3D4FC"/>
            </a:solidFill>
          </a:ln>
          <a:effectLst>
            <a:outerShdw blurRad="76200" dist="19050" dir="5400000" algn="bl" rotWithShape="0">
              <a:srgbClr val="2196F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4829175" y="3660725"/>
            <a:ext cx="4002786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976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未来改进方向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4829175" y="3854946"/>
            <a:ext cx="400278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添加分支预测器减少控制冲突惩罚</a:t>
            </a:r>
            <a:endParaRPr lang="en-US" sz="675" dirty="0"/>
          </a:p>
        </p:txBody>
      </p:sp>
      <p:sp>
        <p:nvSpPr>
          <p:cNvPr id="48" name="Text 43"/>
          <p:cNvSpPr/>
          <p:nvPr/>
        </p:nvSpPr>
        <p:spPr>
          <a:xfrm>
            <a:off x="4829175" y="4012109"/>
            <a:ext cx="400278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支持中断和异常处理机制</a:t>
            </a:r>
            <a:endParaRPr lang="en-US" sz="675" dirty="0"/>
          </a:p>
        </p:txBody>
      </p:sp>
      <p:sp>
        <p:nvSpPr>
          <p:cNvPr id="49" name="Text 44"/>
          <p:cNvSpPr/>
          <p:nvPr/>
        </p:nvSpPr>
        <p:spPr>
          <a:xfrm>
            <a:off x="4829175" y="4169271"/>
            <a:ext cx="4002786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67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添加Cache提高访存性能</a:t>
            </a:r>
            <a:endParaRPr lang="en-US" sz="675" dirty="0"/>
          </a:p>
        </p:txBody>
      </p:sp>
      <p:sp>
        <p:nvSpPr>
          <p:cNvPr id="50" name="Text 45"/>
          <p:cNvSpPr/>
          <p:nvPr/>
        </p:nvSpPr>
        <p:spPr>
          <a:xfrm>
            <a:off x="3561588" y="4391025"/>
            <a:ext cx="202082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谢谢各位老师，请批评指正！</a:t>
            </a:r>
            <a:endParaRPr lang="en-US" sz="1200" dirty="0"/>
          </a:p>
        </p:txBody>
      </p:sp>
      <p:sp>
        <p:nvSpPr>
          <p:cNvPr id="51" name="Text 46"/>
          <p:cNvSpPr/>
          <p:nvPr/>
        </p:nvSpPr>
        <p:spPr>
          <a:xfrm>
            <a:off x="8537823" y="4748213"/>
            <a:ext cx="326835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5A7A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 / 15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6523</Words>
  <Application>WPS 演示</Application>
  <PresentationFormat>On-screen Show (16:9)</PresentationFormat>
  <Paragraphs>1095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Arial</vt:lpstr>
      <vt:lpstr>Arial</vt:lpstr>
      <vt:lpstr>Calibri</vt:lpstr>
      <vt:lpstr>微软雅黑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RISC-V CPU 课程设计</dc:title>
  <dc:creator>学生</dc:creator>
  <dc:subject>基于RISC-V的五级流水线CPU设计与实现</dc:subject>
  <cp:lastModifiedBy>11不是艺艺</cp:lastModifiedBy>
  <cp:revision>9</cp:revision>
  <dcterms:created xsi:type="dcterms:W3CDTF">2025-12-24T15:12:00Z</dcterms:created>
  <dcterms:modified xsi:type="dcterms:W3CDTF">2025-12-25T08:33:22Z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9A5FB7387B4745D6B0CF07FC6CE87F92_13</vt:lpwstr>
  </property>
  <property fmtid="{D5CDD505-2E9C-101B-9397-08002B2CF9AE}" pid="3" name="KSOProductBuildVer">
    <vt:lpwstr>2052-12.1.0.23542</vt:lpwstr>
  </property>
</Properties>
</file>