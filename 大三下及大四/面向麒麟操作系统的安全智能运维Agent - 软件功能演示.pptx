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测试用例数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CF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F1 OS环境感知</c:v>
                  </c:pt>
                  <c:pt idx="1">
                    <c:v>F2 MCP插件化</c:v>
                  </c:pt>
                  <c:pt idx="2">
                    <c:v>F3 安全校验器</c:v>
                  </c:pt>
                  <c:pt idx="3">
                    <c:v>F4 最小权限执行</c:v>
                  </c:pt>
                  <c:pt idx="4">
                    <c:v>F5 推理链路溯源</c:v>
                  </c:pt>
                  <c:pt idx="5">
                    <c:v>自然语言交互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22</c:v>
                </c:pt>
                <c:pt idx="2">
                  <c:v>30</c:v>
                </c:pt>
                <c:pt idx="3">
                  <c:v>12</c:v>
                </c:pt>
                <c:pt idx="4">
                  <c:v>15</c:v>
                </c:pt>
                <c:pt idx="5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CF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4_Modern_Data_Center_Server_Room_Blue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0"/>
                </a:srgbClr>
              </a:gs>
              <a:gs pos="35000">
                <a:srgbClr val="0A1929">
                  <a:alpha val="50000"/>
                </a:srgbClr>
              </a:gs>
              <a:gs pos="100000">
                <a:srgbClr val="0A1929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355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spc="400" kern="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4064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52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面向麒麟操作系统的</a:t>
            </a:r>
            <a:endParaRPr lang="en-US" sz="5200" dirty="0"/>
          </a:p>
          <a:p>
            <a:pPr algn="l">
              <a:lnSpc>
                <a:spcPct val="130000"/>
              </a:lnSpc>
            </a:pPr>
            <a:r>
              <a:rPr lang="en-US" sz="52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安全智能运维Agent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6096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350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B0C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对话式运维 · 智能决策 · 安全可控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000" y="812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A7D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第十五届中国软件杯 A组赛题 | 麒麟软件有限公司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spc="400" kern="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演示大纲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12000" cy="2667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9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3683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产品概述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241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产品定位、核心特性与技术栈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540000"/>
            <a:ext cx="7112000" cy="2667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279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763000" y="3683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63000" y="4241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分层架构、处理流程与ReAct循环机制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588000"/>
            <a:ext cx="7112000" cy="2667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43000" y="6731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7289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五大功能模块深度解析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588000"/>
            <a:ext cx="7112000" cy="2667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763000" y="6731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性能验证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63000" y="7289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核心性能指标与测试结果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1_Artificial_intelligence_icon_or_AI.png">    </p:cNvPr>
          <p:cNvPicPr>
            <a:picLocks noChangeAspect="1"/>
          </p:cNvPicPr>
          <p:nvPr/>
        </p:nvPicPr>
        <p:blipFill>
          <a:blip r:embed="rId1"/>
          <a:srcRect l="0" r="0" t="18" b="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94000"/>
                </a:srgbClr>
              </a:gs>
              <a:gs pos="60000">
                <a:srgbClr val="0A1929">
                  <a:alpha val="82000"/>
                </a:srgbClr>
              </a:gs>
              <a:gs pos="100000">
                <a:srgbClr val="0A1929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2"/>
          <p:cNvSpPr/>
          <p:nvPr/>
        </p:nvSpPr>
        <p:spPr>
          <a:xfrm>
            <a:off x="762000" y="482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5461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71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产品概述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产品定位、核心特性与技术栈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对话式智能运维新范式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部署在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麒麟高级服务器版V11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上的智能运维系统，运维人员通过浏览器以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自然语言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下达指令。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Agent自动完成系统状态感知、安全校验、最小权限执行和全链路审计，实现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"对话式运维"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905000"/>
            <a:ext cx="7112000" cy="2540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763000" y="209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解决四大运维痛点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630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9194800" y="2641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状态感知碎片化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1920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12623800" y="2641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缺乏安全管控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194800" y="3149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故障溯源困难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3800" y="3149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知识依赖个人经验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典型多步任务示例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70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46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"磁盘满了怎么办"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9500" y="5969000"/>
            <a:ext cx="406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查磁盘 → 查大文件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搜索知识库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给出清理建议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78500" y="5270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546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"检查异常登录"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96000" y="5969000"/>
            <a:ext cx="406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查登录记录 → 查失败登录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查在线用户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汇总分析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795000" y="5270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112500" y="546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"哪些服务挂了"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112500" y="5969000"/>
            <a:ext cx="406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列出失败服务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查看错误日志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给出修复建议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四大核心特性与全栈技术架构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342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0" y="128588"/>
                </a:moveTo>
                <a:cubicBezTo>
                  <a:pt x="304800" y="215384"/>
                  <a:pt x="236538" y="285750"/>
                  <a:pt x="152400" y="285750"/>
                </a:cubicBezTo>
                <a:cubicBezTo>
                  <a:pt x="131207" y="285750"/>
                  <a:pt x="111046" y="281285"/>
                  <a:pt x="92710" y="273248"/>
                </a:cubicBezTo>
                <a:lnTo>
                  <a:pt x="27940" y="311825"/>
                </a:lnTo>
                <a:cubicBezTo>
                  <a:pt x="20558" y="316200"/>
                  <a:pt x="11509" y="314682"/>
                  <a:pt x="5556" y="308074"/>
                </a:cubicBezTo>
                <a:cubicBezTo>
                  <a:pt x="-397" y="301466"/>
                  <a:pt x="-1746" y="291197"/>
                  <a:pt x="2223" y="282893"/>
                </a:cubicBezTo>
                <a:lnTo>
                  <a:pt x="30480" y="222885"/>
                </a:lnTo>
                <a:cubicBezTo>
                  <a:pt x="11351" y="196632"/>
                  <a:pt x="0" y="163949"/>
                  <a:pt x="0" y="128588"/>
                </a:cubicBezTo>
                <a:cubicBezTo>
                  <a:pt x="0" y="41791"/>
                  <a:pt x="68263" y="-28575"/>
                  <a:pt x="152400" y="-28575"/>
                </a:cubicBezTo>
                <a:cubicBezTo>
                  <a:pt x="236538" y="-28575"/>
                  <a:pt x="304800" y="41791"/>
                  <a:pt x="304800" y="128588"/>
                </a:cubicBezTo>
                <a:close/>
                <a:moveTo>
                  <a:pt x="304800" y="457200"/>
                </a:moveTo>
                <a:cubicBezTo>
                  <a:pt x="230108" y="457200"/>
                  <a:pt x="167958" y="401747"/>
                  <a:pt x="154940" y="328613"/>
                </a:cubicBezTo>
                <a:cubicBezTo>
                  <a:pt x="250190" y="327273"/>
                  <a:pt x="332978" y="251014"/>
                  <a:pt x="342106" y="147608"/>
                </a:cubicBezTo>
                <a:cubicBezTo>
                  <a:pt x="408226" y="164753"/>
                  <a:pt x="457200" y="226457"/>
                  <a:pt x="457200" y="300038"/>
                </a:cubicBezTo>
                <a:cubicBezTo>
                  <a:pt x="457200" y="335399"/>
                  <a:pt x="445849" y="368082"/>
                  <a:pt x="426720" y="394335"/>
                </a:cubicBezTo>
                <a:lnTo>
                  <a:pt x="454978" y="454342"/>
                </a:lnTo>
                <a:cubicBezTo>
                  <a:pt x="458867" y="462647"/>
                  <a:pt x="457518" y="472827"/>
                  <a:pt x="451644" y="479524"/>
                </a:cubicBezTo>
                <a:cubicBezTo>
                  <a:pt x="445770" y="486221"/>
                  <a:pt x="436642" y="487740"/>
                  <a:pt x="429260" y="483275"/>
                </a:cubicBezTo>
                <a:lnTo>
                  <a:pt x="364490" y="444698"/>
                </a:lnTo>
                <a:cubicBezTo>
                  <a:pt x="346154" y="452735"/>
                  <a:pt x="325993" y="457200"/>
                  <a:pt x="304800" y="45720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92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自然语言对话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通过浏览器以自然语言下达运维指令，支持多轮对话与实时步骤展示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33900" y="1968500"/>
            <a:ext cx="342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514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-28575"/>
                </a:moveTo>
                <a:cubicBezTo>
                  <a:pt x="148692" y="-28575"/>
                  <a:pt x="163286" y="-15806"/>
                  <a:pt x="163286" y="0"/>
                </a:cubicBezTo>
                <a:lnTo>
                  <a:pt x="163286" y="85725"/>
                </a:lnTo>
                <a:lnTo>
                  <a:pt x="293914" y="85725"/>
                </a:lnTo>
                <a:lnTo>
                  <a:pt x="293914" y="0"/>
                </a:lnTo>
                <a:cubicBezTo>
                  <a:pt x="293914" y="-15806"/>
                  <a:pt x="308508" y="-28575"/>
                  <a:pt x="326571" y="-28575"/>
                </a:cubicBezTo>
                <a:cubicBezTo>
                  <a:pt x="344635" y="-28575"/>
                  <a:pt x="359229" y="-15806"/>
                  <a:pt x="359229" y="0"/>
                </a:cubicBezTo>
                <a:lnTo>
                  <a:pt x="359229" y="85725"/>
                </a:lnTo>
                <a:lnTo>
                  <a:pt x="424543" y="85725"/>
                </a:lnTo>
                <a:cubicBezTo>
                  <a:pt x="442606" y="85725"/>
                  <a:pt x="457200" y="98494"/>
                  <a:pt x="457200" y="114300"/>
                </a:cubicBezTo>
                <a:cubicBezTo>
                  <a:pt x="457200" y="130106"/>
                  <a:pt x="442606" y="142875"/>
                  <a:pt x="424543" y="142875"/>
                </a:cubicBezTo>
                <a:lnTo>
                  <a:pt x="424543" y="200025"/>
                </a:lnTo>
                <a:cubicBezTo>
                  <a:pt x="424543" y="284946"/>
                  <a:pt x="353922" y="355491"/>
                  <a:pt x="261257" y="369064"/>
                </a:cubicBezTo>
                <a:lnTo>
                  <a:pt x="261257" y="428625"/>
                </a:lnTo>
                <a:cubicBezTo>
                  <a:pt x="261257" y="444431"/>
                  <a:pt x="246663" y="457200"/>
                  <a:pt x="228600" y="457200"/>
                </a:cubicBezTo>
                <a:cubicBezTo>
                  <a:pt x="210537" y="457200"/>
                  <a:pt x="195943" y="444431"/>
                  <a:pt x="195943" y="428625"/>
                </a:cubicBezTo>
                <a:lnTo>
                  <a:pt x="195943" y="369064"/>
                </a:lnTo>
                <a:cubicBezTo>
                  <a:pt x="103278" y="355491"/>
                  <a:pt x="32657" y="284946"/>
                  <a:pt x="32657" y="200025"/>
                </a:cubicBezTo>
                <a:lnTo>
                  <a:pt x="32657" y="142875"/>
                </a:lnTo>
                <a:cubicBezTo>
                  <a:pt x="14594" y="142875"/>
                  <a:pt x="0" y="130106"/>
                  <a:pt x="0" y="114300"/>
                </a:cubicBezTo>
                <a:cubicBezTo>
                  <a:pt x="0" y="98494"/>
                  <a:pt x="14594" y="85725"/>
                  <a:pt x="32657" y="85725"/>
                </a:cubicBezTo>
                <a:lnTo>
                  <a:pt x="97971" y="85725"/>
                </a:lnTo>
                <a:lnTo>
                  <a:pt x="97971" y="0"/>
                </a:lnTo>
                <a:cubicBezTo>
                  <a:pt x="97971" y="-15806"/>
                  <a:pt x="112565" y="-28575"/>
                  <a:pt x="130629" y="-28575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851400" y="292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MCP插件化体系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514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19个标准化MCP工具，覆盖环境感知、写操作和知识库三大类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93100" y="1968500"/>
            <a:ext cx="342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106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0600" y="292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多层安全护栏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106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注入检测+黑名单+风险评估+文件保护，高危命令100%拦截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065000" y="1968500"/>
            <a:ext cx="342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57150"/>
                </a:moveTo>
                <a:cubicBezTo>
                  <a:pt x="312738" y="57150"/>
                  <a:pt x="381000" y="133945"/>
                  <a:pt x="381000" y="228600"/>
                </a:cubicBezTo>
                <a:cubicBezTo>
                  <a:pt x="381000" y="323255"/>
                  <a:pt x="312738" y="400050"/>
                  <a:pt x="228600" y="400050"/>
                </a:cubicBezTo>
                <a:cubicBezTo>
                  <a:pt x="176848" y="400050"/>
                  <a:pt x="131048" y="371029"/>
                  <a:pt x="103505" y="326559"/>
                </a:cubicBezTo>
                <a:cubicBezTo>
                  <a:pt x="95488" y="313611"/>
                  <a:pt x="79613" y="310485"/>
                  <a:pt x="68104" y="319504"/>
                </a:cubicBezTo>
                <a:cubicBezTo>
                  <a:pt x="56594" y="328523"/>
                  <a:pt x="53816" y="346383"/>
                  <a:pt x="61833" y="359331"/>
                </a:cubicBezTo>
                <a:cubicBezTo>
                  <a:pt x="98504" y="418445"/>
                  <a:pt x="159544" y="457200"/>
                  <a:pt x="228600" y="457200"/>
                </a:cubicBezTo>
                <a:cubicBezTo>
                  <a:pt x="340836" y="457200"/>
                  <a:pt x="431800" y="354866"/>
                  <a:pt x="431800" y="228600"/>
                </a:cubicBezTo>
                <a:cubicBezTo>
                  <a:pt x="431800" y="102334"/>
                  <a:pt x="340836" y="0"/>
                  <a:pt x="228600" y="0"/>
                </a:cubicBezTo>
                <a:cubicBezTo>
                  <a:pt x="160576" y="0"/>
                  <a:pt x="100409" y="37594"/>
                  <a:pt x="63500" y="95280"/>
                </a:cubicBezTo>
                <a:lnTo>
                  <a:pt x="63500" y="71438"/>
                </a:lnTo>
                <a:cubicBezTo>
                  <a:pt x="63500" y="55632"/>
                  <a:pt x="52149" y="42863"/>
                  <a:pt x="38100" y="42863"/>
                </a:cubicBezTo>
                <a:cubicBezTo>
                  <a:pt x="24051" y="42863"/>
                  <a:pt x="12700" y="55632"/>
                  <a:pt x="12700" y="71438"/>
                </a:cubicBezTo>
                <a:lnTo>
                  <a:pt x="12700" y="171450"/>
                </a:lnTo>
                <a:cubicBezTo>
                  <a:pt x="12700" y="187256"/>
                  <a:pt x="24051" y="200025"/>
                  <a:pt x="38100" y="200025"/>
                </a:cubicBezTo>
                <a:lnTo>
                  <a:pt x="57626" y="200025"/>
                </a:lnTo>
                <a:cubicBezTo>
                  <a:pt x="58023" y="200025"/>
                  <a:pt x="58420" y="200025"/>
                  <a:pt x="58817" y="200025"/>
                </a:cubicBezTo>
                <a:lnTo>
                  <a:pt x="127079" y="200025"/>
                </a:lnTo>
                <a:cubicBezTo>
                  <a:pt x="141129" y="200025"/>
                  <a:pt x="152479" y="187256"/>
                  <a:pt x="152479" y="171450"/>
                </a:cubicBezTo>
                <a:cubicBezTo>
                  <a:pt x="152479" y="155644"/>
                  <a:pt x="141129" y="142875"/>
                  <a:pt x="127079" y="142875"/>
                </a:cubicBezTo>
                <a:lnTo>
                  <a:pt x="96679" y="142875"/>
                </a:lnTo>
                <a:cubicBezTo>
                  <a:pt x="122952" y="91619"/>
                  <a:pt x="172244" y="57150"/>
                  <a:pt x="228600" y="57150"/>
                </a:cubicBezTo>
                <a:close/>
                <a:moveTo>
                  <a:pt x="247650" y="135731"/>
                </a:moveTo>
                <a:cubicBezTo>
                  <a:pt x="247650" y="123855"/>
                  <a:pt x="239157" y="114300"/>
                  <a:pt x="228600" y="114300"/>
                </a:cubicBezTo>
                <a:cubicBezTo>
                  <a:pt x="218043" y="114300"/>
                  <a:pt x="209550" y="123855"/>
                  <a:pt x="209550" y="135731"/>
                </a:cubicBezTo>
                <a:lnTo>
                  <a:pt x="209550" y="228600"/>
                </a:lnTo>
                <a:cubicBezTo>
                  <a:pt x="209550" y="234315"/>
                  <a:pt x="211534" y="239762"/>
                  <a:pt x="215106" y="243780"/>
                </a:cubicBezTo>
                <a:lnTo>
                  <a:pt x="272256" y="308074"/>
                </a:lnTo>
                <a:cubicBezTo>
                  <a:pt x="279717" y="316468"/>
                  <a:pt x="291783" y="316468"/>
                  <a:pt x="299164" y="308074"/>
                </a:cubicBezTo>
                <a:cubicBezTo>
                  <a:pt x="306546" y="299680"/>
                  <a:pt x="306626" y="286107"/>
                  <a:pt x="299164" y="277803"/>
                </a:cubicBezTo>
                <a:lnTo>
                  <a:pt x="247571" y="219760"/>
                </a:lnTo>
                <a:lnTo>
                  <a:pt x="247571" y="135731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0" y="292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全链路审计溯源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82500" y="34036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端到端日志记录，支持trace_id追踪与可视化推理链路展示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2000" y="533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全栈技术架构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05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946400"/>
                <a:gridCol w="5156200"/>
                <a:gridCol w="66294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层次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技术/框架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选型理由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后端框架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 3.10+ / FastAPI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异步高性能，自带OpenAPI文档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前端框架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Vue 2 + Element UI (CDN)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无构建依赖，快速交付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大模型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DeepSeek / Qwen3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国产开源，OpenAI兼容接口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数据库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SQLite + aiosqlite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零运维，单文件异步访问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6_Blue_Technology_Server_Room_Corridor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94000"/>
                </a:srgbClr>
              </a:gs>
              <a:gs pos="60000">
                <a:srgbClr val="0A1929">
                  <a:alpha val="82000"/>
                </a:srgbClr>
              </a:gs>
              <a:gs pos="100000">
                <a:srgbClr val="0A1929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2"/>
          <p:cNvSpPr/>
          <p:nvPr/>
        </p:nvSpPr>
        <p:spPr>
          <a:xfrm>
            <a:off x="762000" y="482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5461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71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分层架构、处理流程与ReAct循环机制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四层分层架构 + 安全护栏横切设计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8890000" cy="12065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095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表现层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Vue 2 + Element UI 前端界面，WebSocket 实时通信，流式对话与步骤推送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53000" y="31750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1A4A6A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429000"/>
            <a:ext cx="8890000" cy="12065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3556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业务层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9370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+ ReAct 循环引擎，注入检测、意图解析、环境感知、总体规划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53000" y="46355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1A4A6A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4889500"/>
            <a:ext cx="8890000" cy="12065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01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3975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Server 工具注册与调用路由，19 个运维工具，三类：只读 / 写操作 / 知识库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53000" y="60960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1A4A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6350000"/>
            <a:ext cx="8890000" cy="12065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6477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8580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麒麟高级服务器版 V11，lsof / netstat / journalctl / systemctl 等系统工具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0" y="1968500"/>
            <a:ext cx="5334000" cy="5588000"/>
          </a:xfrm>
          <a:prstGeom prst="rect">
            <a:avLst/>
          </a:prstGeom>
          <a:solidFill>
            <a:srgbClr val="0F2B3D">
              <a:alpha val="37647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41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12500" y="23114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安全护栏层（横切）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41000" y="2984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InjectionDetector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12种提示词注入攻击检测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41000" y="3937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CmdBlacklistGuard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13条命令黑名单正则匹配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41000" y="4889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FileGuard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21个受保护系统文件写保护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41000" y="5842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RiskAssessorGuard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4级风险参数等级评估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指令处理全流程：从自然语言到执行结果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095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0000" y="22860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175000" y="1968500"/>
            <a:ext cx="1778000" cy="635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5000" y="196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注入检测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80000" y="22860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715000" y="1968500"/>
            <a:ext cx="1778000" cy="635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96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意图解析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0" y="22860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255000" y="1968500"/>
            <a:ext cx="1778000" cy="635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0" y="196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环境感知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60000" y="22860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795000" y="1968500"/>
            <a:ext cx="1778000" cy="635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95000" y="19685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总体规划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700000" y="22860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3335000" y="2095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循环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循环机制（推理 + 行动）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368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每轮循环包含：推理决策 → 安全校验 → 工具执行 → 结果判断，直至任务完成或达到最大轮次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572000"/>
            <a:ext cx="3302000" cy="1651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47879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推理决策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6000" y="5270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LLM分析当前状态，决定下一步操作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91000" y="52705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826000" y="4572000"/>
            <a:ext cx="3302000" cy="1651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80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5562600" y="47879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安全校验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80000" y="5270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Guard链校验：注入/黑名单/文件/风险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55000" y="52705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8890000" y="4572000"/>
            <a:ext cx="3302000" cy="1651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9626600" y="47879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0" y="5270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调用MCP工具，以ops-agent身份执行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2319000" y="5270500"/>
            <a:ext cx="508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2954000" y="4572000"/>
            <a:ext cx="2540000" cy="1651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208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13690600" y="47879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结果判断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208000" y="5270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任务完成？返回结果：继续循环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solidFill>
            <a:srgbClr val="0F2B3D">
              <a:alpha val="2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747000" y="6223000"/>
            <a:ext cx="0" cy="50800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1016000" y="6921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最终回复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审计记录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（trace_id + 全阶段数据 + ReAct循环详情 → SQLite持久化）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3_Cyber_Shield_in_Abstract_Digital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94000"/>
                </a:srgbClr>
              </a:gs>
              <a:gs pos="60000">
                <a:srgbClr val="0A1929">
                  <a:alpha val="82000"/>
                </a:srgbClr>
              </a:gs>
              <a:gs pos="100000">
                <a:srgbClr val="0A1929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2"/>
          <p:cNvSpPr/>
          <p:nvPr/>
        </p:nvSpPr>
        <p:spPr>
          <a:xfrm>
            <a:off x="762000" y="482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5461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71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五大功能模块深度解析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OS环境深度感知：19个MCP工具覆盖全维度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2479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进程信息采集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27940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工具：lsof / ps / top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支持按 PID、进程名、用户过滤，Top N 排序，输出结构化 JSON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耗时 ≤ 3秒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78500" y="1968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4978" y="69850"/>
                </a:moveTo>
                <a:lnTo>
                  <a:pt x="231422" y="69850"/>
                </a:lnTo>
                <a:lnTo>
                  <a:pt x="231422" y="107950"/>
                </a:lnTo>
                <a:lnTo>
                  <a:pt x="174978" y="107950"/>
                </a:lnTo>
                <a:lnTo>
                  <a:pt x="174978" y="69850"/>
                </a:lnTo>
                <a:close/>
                <a:moveTo>
                  <a:pt x="169333" y="25400"/>
                </a:moveTo>
                <a:cubicBezTo>
                  <a:pt x="150636" y="25400"/>
                  <a:pt x="135467" y="42466"/>
                  <a:pt x="135467" y="63500"/>
                </a:cubicBezTo>
                <a:lnTo>
                  <a:pt x="135467" y="114300"/>
                </a:lnTo>
                <a:cubicBezTo>
                  <a:pt x="135467" y="135334"/>
                  <a:pt x="150636" y="152400"/>
                  <a:pt x="169333" y="152400"/>
                </a:cubicBezTo>
                <a:lnTo>
                  <a:pt x="180622" y="152400"/>
                </a:lnTo>
                <a:lnTo>
                  <a:pt x="180622" y="177800"/>
                </a:lnTo>
                <a:lnTo>
                  <a:pt x="22578" y="177800"/>
                </a:lnTo>
                <a:cubicBezTo>
                  <a:pt x="10089" y="177800"/>
                  <a:pt x="0" y="189151"/>
                  <a:pt x="0" y="203200"/>
                </a:cubicBezTo>
                <a:cubicBezTo>
                  <a:pt x="0" y="217249"/>
                  <a:pt x="10089" y="228600"/>
                  <a:pt x="22578" y="228600"/>
                </a:cubicBezTo>
                <a:lnTo>
                  <a:pt x="90311" y="228600"/>
                </a:lnTo>
                <a:lnTo>
                  <a:pt x="90311" y="254000"/>
                </a:lnTo>
                <a:lnTo>
                  <a:pt x="79022" y="254000"/>
                </a:lnTo>
                <a:cubicBezTo>
                  <a:pt x="60325" y="254000"/>
                  <a:pt x="45156" y="271066"/>
                  <a:pt x="45156" y="292100"/>
                </a:cubicBezTo>
                <a:lnTo>
                  <a:pt x="45156" y="342900"/>
                </a:lnTo>
                <a:cubicBezTo>
                  <a:pt x="45156" y="363934"/>
                  <a:pt x="60325" y="381000"/>
                  <a:pt x="79022" y="381000"/>
                </a:cubicBezTo>
                <a:lnTo>
                  <a:pt x="146756" y="381000"/>
                </a:lnTo>
                <a:cubicBezTo>
                  <a:pt x="165453" y="381000"/>
                  <a:pt x="180622" y="363934"/>
                  <a:pt x="180622" y="342900"/>
                </a:cubicBezTo>
                <a:lnTo>
                  <a:pt x="180622" y="292100"/>
                </a:lnTo>
                <a:cubicBezTo>
                  <a:pt x="180622" y="271066"/>
                  <a:pt x="165453" y="254000"/>
                  <a:pt x="146756" y="254000"/>
                </a:cubicBezTo>
                <a:lnTo>
                  <a:pt x="135467" y="254000"/>
                </a:lnTo>
                <a:lnTo>
                  <a:pt x="135467" y="228600"/>
                </a:lnTo>
                <a:lnTo>
                  <a:pt x="270933" y="228600"/>
                </a:lnTo>
                <a:lnTo>
                  <a:pt x="270933" y="254000"/>
                </a:lnTo>
                <a:lnTo>
                  <a:pt x="259644" y="254000"/>
                </a:lnTo>
                <a:cubicBezTo>
                  <a:pt x="240947" y="254000"/>
                  <a:pt x="225778" y="271066"/>
                  <a:pt x="225778" y="292100"/>
                </a:cubicBezTo>
                <a:lnTo>
                  <a:pt x="225778" y="342900"/>
                </a:lnTo>
                <a:cubicBezTo>
                  <a:pt x="225778" y="363934"/>
                  <a:pt x="240947" y="381000"/>
                  <a:pt x="259644" y="381000"/>
                </a:cubicBezTo>
                <a:lnTo>
                  <a:pt x="327378" y="381000"/>
                </a:lnTo>
                <a:cubicBezTo>
                  <a:pt x="346075" y="381000"/>
                  <a:pt x="361244" y="363934"/>
                  <a:pt x="361244" y="342900"/>
                </a:cubicBezTo>
                <a:lnTo>
                  <a:pt x="361244" y="292100"/>
                </a:lnTo>
                <a:cubicBezTo>
                  <a:pt x="361244" y="271066"/>
                  <a:pt x="346075" y="254000"/>
                  <a:pt x="327378" y="254000"/>
                </a:cubicBezTo>
                <a:lnTo>
                  <a:pt x="316089" y="254000"/>
                </a:lnTo>
                <a:lnTo>
                  <a:pt x="316089" y="228600"/>
                </a:lnTo>
                <a:lnTo>
                  <a:pt x="383822" y="228600"/>
                </a:lnTo>
                <a:cubicBezTo>
                  <a:pt x="396311" y="228600"/>
                  <a:pt x="406400" y="217249"/>
                  <a:pt x="406400" y="203200"/>
                </a:cubicBezTo>
                <a:cubicBezTo>
                  <a:pt x="406400" y="189151"/>
                  <a:pt x="396311" y="177800"/>
                  <a:pt x="383822" y="177800"/>
                </a:cubicBezTo>
                <a:lnTo>
                  <a:pt x="225778" y="177800"/>
                </a:lnTo>
                <a:lnTo>
                  <a:pt x="225778" y="152400"/>
                </a:lnTo>
                <a:lnTo>
                  <a:pt x="237067" y="152400"/>
                </a:lnTo>
                <a:cubicBezTo>
                  <a:pt x="255764" y="152400"/>
                  <a:pt x="270933" y="135334"/>
                  <a:pt x="270933" y="114300"/>
                </a:cubicBezTo>
                <a:lnTo>
                  <a:pt x="270933" y="63500"/>
                </a:lnTo>
                <a:cubicBezTo>
                  <a:pt x="270933" y="42466"/>
                  <a:pt x="255764" y="25400"/>
                  <a:pt x="237067" y="25400"/>
                </a:cubicBezTo>
                <a:lnTo>
                  <a:pt x="169333" y="25400"/>
                </a:lnTo>
                <a:close/>
                <a:moveTo>
                  <a:pt x="316089" y="298450"/>
                </a:moveTo>
                <a:lnTo>
                  <a:pt x="321733" y="298450"/>
                </a:lnTo>
                <a:lnTo>
                  <a:pt x="321733" y="336550"/>
                </a:lnTo>
                <a:lnTo>
                  <a:pt x="265289" y="336550"/>
                </a:lnTo>
                <a:lnTo>
                  <a:pt x="265289" y="298450"/>
                </a:lnTo>
                <a:lnTo>
                  <a:pt x="316089" y="298450"/>
                </a:lnTo>
                <a:close/>
                <a:moveTo>
                  <a:pt x="135467" y="298450"/>
                </a:moveTo>
                <a:lnTo>
                  <a:pt x="141111" y="298450"/>
                </a:lnTo>
                <a:lnTo>
                  <a:pt x="141111" y="336550"/>
                </a:lnTo>
                <a:lnTo>
                  <a:pt x="84667" y="336550"/>
                </a:lnTo>
                <a:lnTo>
                  <a:pt x="84667" y="298450"/>
                </a:lnTo>
                <a:lnTo>
                  <a:pt x="135467" y="298450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2479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网络信息采集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0" y="27940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工具：netstat / ss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支持按端口号、协议类型、连接状态过滤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TCP/UDP 全覆盖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68500"/>
            <a:ext cx="46990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27000" y="203200"/>
                </a:moveTo>
                <a:cubicBezTo>
                  <a:pt x="112924" y="203200"/>
                  <a:pt x="101600" y="211693"/>
                  <a:pt x="101600" y="222250"/>
                </a:cubicBezTo>
                <a:cubicBezTo>
                  <a:pt x="101600" y="232807"/>
                  <a:pt x="112924" y="241300"/>
                  <a:pt x="127000" y="241300"/>
                </a:cubicBezTo>
                <a:lnTo>
                  <a:pt x="279400" y="241300"/>
                </a:lnTo>
                <a:cubicBezTo>
                  <a:pt x="293476" y="241300"/>
                  <a:pt x="304800" y="232807"/>
                  <a:pt x="304800" y="222250"/>
                </a:cubicBezTo>
                <a:cubicBezTo>
                  <a:pt x="304800" y="211693"/>
                  <a:pt x="293476" y="203200"/>
                  <a:pt x="279400" y="203200"/>
                </a:cubicBezTo>
                <a:lnTo>
                  <a:pt x="127000" y="203200"/>
                </a:lnTo>
                <a:close/>
                <a:moveTo>
                  <a:pt x="127000" y="279400"/>
                </a:moveTo>
                <a:cubicBezTo>
                  <a:pt x="112924" y="279400"/>
                  <a:pt x="101600" y="287893"/>
                  <a:pt x="101600" y="298450"/>
                </a:cubicBezTo>
                <a:cubicBezTo>
                  <a:pt x="101600" y="309007"/>
                  <a:pt x="112924" y="317500"/>
                  <a:pt x="127000" y="317500"/>
                </a:cubicBezTo>
                <a:lnTo>
                  <a:pt x="279400" y="317500"/>
                </a:lnTo>
                <a:cubicBezTo>
                  <a:pt x="293476" y="317500"/>
                  <a:pt x="304800" y="309007"/>
                  <a:pt x="304800" y="298450"/>
                </a:cubicBezTo>
                <a:cubicBezTo>
                  <a:pt x="304800" y="287893"/>
                  <a:pt x="293476" y="279400"/>
                  <a:pt x="279400" y="279400"/>
                </a:cubicBezTo>
                <a:lnTo>
                  <a:pt x="127000" y="279400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0" y="22479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系统日志采集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12500" y="27940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工具：journalctl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支持时间范围、日志级别、关键词过滤检索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精准定位问题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5334000"/>
            <a:ext cx="71755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206454"/>
                </a:lnTo>
                <a:cubicBezTo>
                  <a:pt x="16419" y="196374"/>
                  <a:pt x="36467" y="190500"/>
                  <a:pt x="58057" y="190500"/>
                </a:cubicBezTo>
                <a:lnTo>
                  <a:pt x="348343" y="190500"/>
                </a:lnTo>
                <a:cubicBezTo>
                  <a:pt x="369933" y="190500"/>
                  <a:pt x="389981" y="196374"/>
                  <a:pt x="406400" y="206454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406400" y="279400"/>
                </a:move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lose/>
                <a:moveTo>
                  <a:pt x="203200" y="304800"/>
                </a:moveTo>
                <a:cubicBezTo>
                  <a:pt x="203200" y="290781"/>
                  <a:pt x="216207" y="279400"/>
                  <a:pt x="232229" y="279400"/>
                </a:cubicBezTo>
                <a:cubicBezTo>
                  <a:pt x="248250" y="279400"/>
                  <a:pt x="261257" y="290781"/>
                  <a:pt x="261257" y="304800"/>
                </a:cubicBezTo>
                <a:cubicBezTo>
                  <a:pt x="261257" y="318819"/>
                  <a:pt x="248250" y="330200"/>
                  <a:pt x="232229" y="330200"/>
                </a:cubicBezTo>
                <a:cubicBezTo>
                  <a:pt x="216207" y="330200"/>
                  <a:pt x="203200" y="318819"/>
                  <a:pt x="203200" y="304800"/>
                </a:cubicBezTo>
                <a:close/>
                <a:moveTo>
                  <a:pt x="319314" y="279400"/>
                </a:moveTo>
                <a:cubicBezTo>
                  <a:pt x="335336" y="279400"/>
                  <a:pt x="348343" y="290781"/>
                  <a:pt x="348343" y="304800"/>
                </a:cubicBezTo>
                <a:cubicBezTo>
                  <a:pt x="348343" y="318819"/>
                  <a:pt x="335336" y="330200"/>
                  <a:pt x="319314" y="330200"/>
                </a:cubicBezTo>
                <a:cubicBezTo>
                  <a:pt x="303293" y="330200"/>
                  <a:pt x="290286" y="318819"/>
                  <a:pt x="290286" y="304800"/>
                </a:cubicBezTo>
                <a:cubicBezTo>
                  <a:pt x="290286" y="290781"/>
                  <a:pt x="303293" y="279400"/>
                  <a:pt x="319314" y="27940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613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磁盘与存储信息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9500" y="6159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工具：df / du / lsblk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磁盘使用率监控，超阈值（90%）自动告警，支持指定路径分析、目录排行、大文件定位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18500" y="5334000"/>
            <a:ext cx="7175500" cy="3048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9207500" y="5613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系统资源监控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36000" y="6159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工具：top / vmstat / free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CPU、内存、负载、运行时间、Swap状态全面采集，为LLM决策提供准确环境上下文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MCP工具体系：标准化、插件化、可扩展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MCP协议架构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Context Protocol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标准协议，所有运维操作封装为标准化 Tool。Agent 启动时自动扫描注册，每个工具具备标准 JSON Schema 参数定义，支持热插拔。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2159000" cy="2032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191000"/>
            <a:ext cx="215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62000" y="5080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只读感知工具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（免安全校验）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5000" y="4064000"/>
            <a:ext cx="2159000" cy="2032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175000" y="4191000"/>
            <a:ext cx="215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175000" y="5080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写操作工具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（需安全校验）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88000" y="4064000"/>
            <a:ext cx="2159000" cy="2032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588000" y="4191000"/>
            <a:ext cx="215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588000" y="5080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知识库工具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（检索管理）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190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运维知识库检索引擎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2413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可解释检索引擎，通过三重打分机制实现精准匹配，预置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7类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常见运维场景解决方案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619500"/>
            <a:ext cx="3429000" cy="1143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3746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n-gram 相似度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字符级模糊匹配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065000" y="3619500"/>
            <a:ext cx="3429000" cy="1143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3746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关键词命中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精确术语匹配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82000" y="5016500"/>
            <a:ext cx="3429000" cy="1143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5143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标签匹配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场景分类匹配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82000" y="6477000"/>
            <a:ext cx="7112000" cy="1778000"/>
          </a:xfrm>
          <a:prstGeom prst="rect">
            <a:avLst/>
          </a:prstGeom>
          <a:solidFill>
            <a:srgbClr val="0F2B3D">
              <a:alpha val="2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660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预置7类运维场景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36000" y="7112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磁盘管理 · 内存管理 · 服务管理 · SSH配置 · CPU排查 · 网络诊断 · 日志分析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四层安全护栏：高危命令100%拦截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3492500" cy="3302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9511" y="44450"/>
                </a:moveTo>
                <a:cubicBezTo>
                  <a:pt x="17718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7718" y="311150"/>
                  <a:pt x="39511" y="311150"/>
                </a:cubicBezTo>
                <a:lnTo>
                  <a:pt x="316089" y="311150"/>
                </a:lnTo>
                <a:cubicBezTo>
                  <a:pt x="337882" y="311150"/>
                  <a:pt x="355600" y="291217"/>
                  <a:pt x="355600" y="266700"/>
                </a:cubicBezTo>
                <a:lnTo>
                  <a:pt x="355600" y="88900"/>
                </a:lnTo>
                <a:cubicBezTo>
                  <a:pt x="355600" y="64383"/>
                  <a:pt x="337882" y="44450"/>
                  <a:pt x="316089" y="44450"/>
                </a:cubicBezTo>
                <a:lnTo>
                  <a:pt x="39511" y="44450"/>
                </a:lnTo>
                <a:close/>
                <a:moveTo>
                  <a:pt x="49389" y="88900"/>
                </a:moveTo>
                <a:lnTo>
                  <a:pt x="69144" y="88900"/>
                </a:lnTo>
                <a:cubicBezTo>
                  <a:pt x="74577" y="88900"/>
                  <a:pt x="79022" y="93901"/>
                  <a:pt x="79022" y="100013"/>
                </a:cubicBezTo>
                <a:lnTo>
                  <a:pt x="79022" y="122238"/>
                </a:lnTo>
                <a:cubicBezTo>
                  <a:pt x="79022" y="128349"/>
                  <a:pt x="74577" y="133350"/>
                  <a:pt x="69144" y="133350"/>
                </a:cubicBezTo>
                <a:lnTo>
                  <a:pt x="49389" y="133350"/>
                </a:lnTo>
                <a:cubicBezTo>
                  <a:pt x="43956" y="133350"/>
                  <a:pt x="39511" y="128349"/>
                  <a:pt x="39511" y="122238"/>
                </a:cubicBezTo>
                <a:lnTo>
                  <a:pt x="39511" y="100013"/>
                </a:lnTo>
                <a:cubicBezTo>
                  <a:pt x="39511" y="93901"/>
                  <a:pt x="43956" y="88900"/>
                  <a:pt x="49389" y="88900"/>
                </a:cubicBezTo>
                <a:close/>
                <a:moveTo>
                  <a:pt x="39511" y="166688"/>
                </a:moveTo>
                <a:cubicBezTo>
                  <a:pt x="39511" y="160576"/>
                  <a:pt x="43956" y="155575"/>
                  <a:pt x="49389" y="155575"/>
                </a:cubicBezTo>
                <a:lnTo>
                  <a:pt x="69144" y="155575"/>
                </a:lnTo>
                <a:cubicBezTo>
                  <a:pt x="74577" y="155575"/>
                  <a:pt x="79022" y="160576"/>
                  <a:pt x="79022" y="166688"/>
                </a:cubicBezTo>
                <a:lnTo>
                  <a:pt x="79022" y="188913"/>
                </a:lnTo>
                <a:cubicBezTo>
                  <a:pt x="79022" y="195024"/>
                  <a:pt x="74577" y="200025"/>
                  <a:pt x="69144" y="200025"/>
                </a:cubicBezTo>
                <a:lnTo>
                  <a:pt x="49389" y="200025"/>
                </a:lnTo>
                <a:cubicBezTo>
                  <a:pt x="43956" y="200025"/>
                  <a:pt x="39511" y="195024"/>
                  <a:pt x="39511" y="188913"/>
                </a:cubicBezTo>
                <a:lnTo>
                  <a:pt x="39511" y="166688"/>
                </a:lnTo>
                <a:close/>
                <a:moveTo>
                  <a:pt x="108656" y="88900"/>
                </a:moveTo>
                <a:lnTo>
                  <a:pt x="128411" y="88900"/>
                </a:lnTo>
                <a:cubicBezTo>
                  <a:pt x="133844" y="88900"/>
                  <a:pt x="138289" y="93901"/>
                  <a:pt x="138289" y="100013"/>
                </a:cubicBezTo>
                <a:lnTo>
                  <a:pt x="138289" y="122238"/>
                </a:lnTo>
                <a:cubicBezTo>
                  <a:pt x="138289" y="128349"/>
                  <a:pt x="133844" y="133350"/>
                  <a:pt x="128411" y="133350"/>
                </a:cubicBezTo>
                <a:lnTo>
                  <a:pt x="108656" y="133350"/>
                </a:lnTo>
                <a:cubicBezTo>
                  <a:pt x="103223" y="133350"/>
                  <a:pt x="98778" y="128349"/>
                  <a:pt x="98778" y="122238"/>
                </a:cubicBezTo>
                <a:lnTo>
                  <a:pt x="98778" y="100013"/>
                </a:lnTo>
                <a:cubicBezTo>
                  <a:pt x="98778" y="93901"/>
                  <a:pt x="103223" y="88900"/>
                  <a:pt x="108656" y="88900"/>
                </a:cubicBezTo>
                <a:close/>
                <a:moveTo>
                  <a:pt x="98778" y="166688"/>
                </a:moveTo>
                <a:cubicBezTo>
                  <a:pt x="98778" y="160576"/>
                  <a:pt x="103223" y="155575"/>
                  <a:pt x="108656" y="155575"/>
                </a:cubicBezTo>
                <a:lnTo>
                  <a:pt x="128411" y="155575"/>
                </a:lnTo>
                <a:cubicBezTo>
                  <a:pt x="133844" y="155575"/>
                  <a:pt x="138289" y="160576"/>
                  <a:pt x="138289" y="166688"/>
                </a:cubicBezTo>
                <a:lnTo>
                  <a:pt x="138289" y="188913"/>
                </a:lnTo>
                <a:cubicBezTo>
                  <a:pt x="138289" y="195024"/>
                  <a:pt x="133844" y="200025"/>
                  <a:pt x="128411" y="200025"/>
                </a:cubicBezTo>
                <a:lnTo>
                  <a:pt x="108656" y="200025"/>
                </a:lnTo>
                <a:cubicBezTo>
                  <a:pt x="103223" y="200025"/>
                  <a:pt x="98778" y="195024"/>
                  <a:pt x="98778" y="188913"/>
                </a:cubicBezTo>
                <a:lnTo>
                  <a:pt x="98778" y="166688"/>
                </a:lnTo>
                <a:close/>
                <a:moveTo>
                  <a:pt x="108656" y="222250"/>
                </a:moveTo>
                <a:lnTo>
                  <a:pt x="246944" y="222250"/>
                </a:lnTo>
                <a:cubicBezTo>
                  <a:pt x="252377" y="222250"/>
                  <a:pt x="256822" y="227251"/>
                  <a:pt x="256822" y="233363"/>
                </a:cubicBezTo>
                <a:lnTo>
                  <a:pt x="256822" y="255587"/>
                </a:lnTo>
                <a:cubicBezTo>
                  <a:pt x="256822" y="261699"/>
                  <a:pt x="252377" y="266700"/>
                  <a:pt x="246944" y="266700"/>
                </a:cubicBezTo>
                <a:lnTo>
                  <a:pt x="108656" y="266700"/>
                </a:lnTo>
                <a:cubicBezTo>
                  <a:pt x="103223" y="266700"/>
                  <a:pt x="98778" y="261699"/>
                  <a:pt x="98778" y="255587"/>
                </a:cubicBezTo>
                <a:lnTo>
                  <a:pt x="98778" y="233363"/>
                </a:lnTo>
                <a:cubicBezTo>
                  <a:pt x="98778" y="227251"/>
                  <a:pt x="103223" y="222250"/>
                  <a:pt x="108656" y="222250"/>
                </a:cubicBezTo>
                <a:close/>
                <a:moveTo>
                  <a:pt x="158044" y="100013"/>
                </a:moveTo>
                <a:cubicBezTo>
                  <a:pt x="158044" y="93901"/>
                  <a:pt x="162489" y="88900"/>
                  <a:pt x="167922" y="88900"/>
                </a:cubicBezTo>
                <a:lnTo>
                  <a:pt x="187678" y="88900"/>
                </a:lnTo>
                <a:cubicBezTo>
                  <a:pt x="193111" y="88900"/>
                  <a:pt x="197556" y="93901"/>
                  <a:pt x="197556" y="100013"/>
                </a:cubicBezTo>
                <a:lnTo>
                  <a:pt x="197556" y="122238"/>
                </a:lnTo>
                <a:cubicBezTo>
                  <a:pt x="197556" y="128349"/>
                  <a:pt x="193111" y="133350"/>
                  <a:pt x="187678" y="133350"/>
                </a:cubicBezTo>
                <a:lnTo>
                  <a:pt x="167922" y="133350"/>
                </a:lnTo>
                <a:cubicBezTo>
                  <a:pt x="162489" y="133350"/>
                  <a:pt x="158044" y="128349"/>
                  <a:pt x="158044" y="122238"/>
                </a:cubicBezTo>
                <a:lnTo>
                  <a:pt x="158044" y="100013"/>
                </a:lnTo>
                <a:close/>
                <a:moveTo>
                  <a:pt x="167922" y="155575"/>
                </a:moveTo>
                <a:lnTo>
                  <a:pt x="187678" y="155575"/>
                </a:lnTo>
                <a:cubicBezTo>
                  <a:pt x="193111" y="155575"/>
                  <a:pt x="197556" y="160576"/>
                  <a:pt x="197556" y="166688"/>
                </a:cubicBezTo>
                <a:lnTo>
                  <a:pt x="197556" y="188913"/>
                </a:lnTo>
                <a:cubicBezTo>
                  <a:pt x="197556" y="195024"/>
                  <a:pt x="193111" y="200025"/>
                  <a:pt x="187678" y="200025"/>
                </a:cubicBezTo>
                <a:lnTo>
                  <a:pt x="167922" y="200025"/>
                </a:lnTo>
                <a:cubicBezTo>
                  <a:pt x="162489" y="200025"/>
                  <a:pt x="158044" y="195024"/>
                  <a:pt x="158044" y="188913"/>
                </a:cubicBezTo>
                <a:lnTo>
                  <a:pt x="158044" y="166688"/>
                </a:lnTo>
                <a:cubicBezTo>
                  <a:pt x="158044" y="160576"/>
                  <a:pt x="162489" y="155575"/>
                  <a:pt x="167922" y="155575"/>
                </a:cubicBezTo>
                <a:close/>
                <a:moveTo>
                  <a:pt x="217311" y="100013"/>
                </a:moveTo>
                <a:cubicBezTo>
                  <a:pt x="217311" y="93901"/>
                  <a:pt x="221756" y="88900"/>
                  <a:pt x="227189" y="88900"/>
                </a:cubicBezTo>
                <a:lnTo>
                  <a:pt x="246944" y="88900"/>
                </a:lnTo>
                <a:cubicBezTo>
                  <a:pt x="252377" y="88900"/>
                  <a:pt x="256822" y="93901"/>
                  <a:pt x="256822" y="100013"/>
                </a:cubicBezTo>
                <a:lnTo>
                  <a:pt x="256822" y="122238"/>
                </a:lnTo>
                <a:cubicBezTo>
                  <a:pt x="256822" y="128349"/>
                  <a:pt x="252377" y="133350"/>
                  <a:pt x="246944" y="133350"/>
                </a:cubicBezTo>
                <a:lnTo>
                  <a:pt x="227189" y="133350"/>
                </a:lnTo>
                <a:cubicBezTo>
                  <a:pt x="221756" y="133350"/>
                  <a:pt x="217311" y="128349"/>
                  <a:pt x="217311" y="122238"/>
                </a:cubicBezTo>
                <a:lnTo>
                  <a:pt x="217311" y="100013"/>
                </a:lnTo>
                <a:close/>
                <a:moveTo>
                  <a:pt x="227189" y="155575"/>
                </a:moveTo>
                <a:lnTo>
                  <a:pt x="246944" y="155575"/>
                </a:lnTo>
                <a:cubicBezTo>
                  <a:pt x="252377" y="155575"/>
                  <a:pt x="256822" y="160576"/>
                  <a:pt x="256822" y="166688"/>
                </a:cubicBezTo>
                <a:lnTo>
                  <a:pt x="256822" y="188913"/>
                </a:lnTo>
                <a:cubicBezTo>
                  <a:pt x="256822" y="195024"/>
                  <a:pt x="252377" y="200025"/>
                  <a:pt x="246944" y="200025"/>
                </a:cubicBezTo>
                <a:lnTo>
                  <a:pt x="227189" y="200025"/>
                </a:lnTo>
                <a:cubicBezTo>
                  <a:pt x="221756" y="200025"/>
                  <a:pt x="217311" y="195024"/>
                  <a:pt x="217311" y="188913"/>
                </a:cubicBezTo>
                <a:lnTo>
                  <a:pt x="217311" y="166688"/>
                </a:lnTo>
                <a:cubicBezTo>
                  <a:pt x="217311" y="160576"/>
                  <a:pt x="221756" y="155575"/>
                  <a:pt x="227189" y="155575"/>
                </a:cubicBezTo>
                <a:close/>
                <a:moveTo>
                  <a:pt x="276578" y="100013"/>
                </a:moveTo>
                <a:cubicBezTo>
                  <a:pt x="276578" y="93901"/>
                  <a:pt x="281023" y="88900"/>
                  <a:pt x="286456" y="88900"/>
                </a:cubicBezTo>
                <a:lnTo>
                  <a:pt x="306211" y="88900"/>
                </a:lnTo>
                <a:cubicBezTo>
                  <a:pt x="311644" y="88900"/>
                  <a:pt x="316089" y="93901"/>
                  <a:pt x="316089" y="100013"/>
                </a:cubicBezTo>
                <a:lnTo>
                  <a:pt x="316089" y="122238"/>
                </a:lnTo>
                <a:cubicBezTo>
                  <a:pt x="316089" y="128349"/>
                  <a:pt x="311644" y="133350"/>
                  <a:pt x="306211" y="133350"/>
                </a:cubicBezTo>
                <a:lnTo>
                  <a:pt x="286456" y="133350"/>
                </a:lnTo>
                <a:cubicBezTo>
                  <a:pt x="281023" y="133350"/>
                  <a:pt x="276578" y="128349"/>
                  <a:pt x="276578" y="122238"/>
                </a:cubicBezTo>
                <a:lnTo>
                  <a:pt x="276578" y="100013"/>
                </a:lnTo>
                <a:close/>
                <a:moveTo>
                  <a:pt x="286456" y="155575"/>
                </a:moveTo>
                <a:lnTo>
                  <a:pt x="306211" y="155575"/>
                </a:lnTo>
                <a:cubicBezTo>
                  <a:pt x="311644" y="155575"/>
                  <a:pt x="316089" y="160576"/>
                  <a:pt x="316089" y="166688"/>
                </a:cubicBezTo>
                <a:lnTo>
                  <a:pt x="316089" y="188913"/>
                </a:lnTo>
                <a:cubicBezTo>
                  <a:pt x="316089" y="195024"/>
                  <a:pt x="311644" y="200025"/>
                  <a:pt x="306211" y="200025"/>
                </a:cubicBezTo>
                <a:lnTo>
                  <a:pt x="286456" y="200025"/>
                </a:lnTo>
                <a:cubicBezTo>
                  <a:pt x="281023" y="200025"/>
                  <a:pt x="276578" y="195024"/>
                  <a:pt x="276578" y="188913"/>
                </a:cubicBezTo>
                <a:lnTo>
                  <a:pt x="276578" y="166688"/>
                </a:lnTo>
                <a:cubicBezTo>
                  <a:pt x="276578" y="160576"/>
                  <a:pt x="281023" y="155575"/>
                  <a:pt x="286456" y="15557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2479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输入安全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768600"/>
            <a:ext cx="298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12种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提示词注入攻击检测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覆盖：指令覆盖、角色劫持、规则绕过、标签伪造、格式注入、命令嵌入等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检测率 ≥ 97%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1500" y="3492500"/>
            <a:ext cx="381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889500" y="1968500"/>
            <a:ext cx="3492500" cy="3302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-11112"/>
                </a:moveTo>
                <a:cubicBezTo>
                  <a:pt x="188727" y="-11112"/>
                  <a:pt x="197556" y="-1181"/>
                  <a:pt x="197556" y="11112"/>
                </a:cubicBezTo>
                <a:lnTo>
                  <a:pt x="197556" y="23822"/>
                </a:lnTo>
                <a:cubicBezTo>
                  <a:pt x="258119" y="33546"/>
                  <a:pt x="306026" y="87441"/>
                  <a:pt x="314669" y="155575"/>
                </a:cubicBezTo>
                <a:lnTo>
                  <a:pt x="325967" y="155575"/>
                </a:lnTo>
                <a:cubicBezTo>
                  <a:pt x="336894" y="155575"/>
                  <a:pt x="345722" y="165507"/>
                  <a:pt x="345722" y="177800"/>
                </a:cubicBezTo>
                <a:cubicBezTo>
                  <a:pt x="345722" y="190093"/>
                  <a:pt x="336894" y="200025"/>
                  <a:pt x="325967" y="200025"/>
                </a:cubicBezTo>
                <a:lnTo>
                  <a:pt x="314669" y="200025"/>
                </a:lnTo>
                <a:cubicBezTo>
                  <a:pt x="306026" y="268159"/>
                  <a:pt x="258119" y="322054"/>
                  <a:pt x="197556" y="331778"/>
                </a:cubicBezTo>
                <a:lnTo>
                  <a:pt x="197556" y="344488"/>
                </a:lnTo>
                <a:cubicBezTo>
                  <a:pt x="197556" y="356781"/>
                  <a:pt x="188727" y="366712"/>
                  <a:pt x="177800" y="366712"/>
                </a:cubicBezTo>
                <a:cubicBezTo>
                  <a:pt x="166873" y="366712"/>
                  <a:pt x="158044" y="356781"/>
                  <a:pt x="158044" y="344488"/>
                </a:cubicBezTo>
                <a:lnTo>
                  <a:pt x="158044" y="331778"/>
                </a:lnTo>
                <a:cubicBezTo>
                  <a:pt x="97481" y="322054"/>
                  <a:pt x="49574" y="268159"/>
                  <a:pt x="40931" y="200025"/>
                </a:cubicBezTo>
                <a:lnTo>
                  <a:pt x="29633" y="200025"/>
                </a:lnTo>
                <a:cubicBezTo>
                  <a:pt x="18706" y="200025"/>
                  <a:pt x="9878" y="190093"/>
                  <a:pt x="9878" y="177800"/>
                </a:cubicBezTo>
                <a:cubicBezTo>
                  <a:pt x="9878" y="165507"/>
                  <a:pt x="18706" y="155575"/>
                  <a:pt x="29633" y="155575"/>
                </a:cubicBezTo>
                <a:lnTo>
                  <a:pt x="40931" y="155575"/>
                </a:lnTo>
                <a:cubicBezTo>
                  <a:pt x="49574" y="87441"/>
                  <a:pt x="97481" y="33546"/>
                  <a:pt x="158044" y="23822"/>
                </a:cubicBezTo>
                <a:lnTo>
                  <a:pt x="158044" y="11112"/>
                </a:lnTo>
                <a:cubicBezTo>
                  <a:pt x="158044" y="-1181"/>
                  <a:pt x="166873" y="-11112"/>
                  <a:pt x="177800" y="-11112"/>
                </a:cubicBezTo>
                <a:close/>
                <a:moveTo>
                  <a:pt x="80998" y="200025"/>
                </a:moveTo>
                <a:cubicBezTo>
                  <a:pt x="88838" y="243572"/>
                  <a:pt x="119336" y="277882"/>
                  <a:pt x="158044" y="286703"/>
                </a:cubicBezTo>
                <a:lnTo>
                  <a:pt x="158044" y="277813"/>
                </a:lnTo>
                <a:cubicBezTo>
                  <a:pt x="158044" y="265519"/>
                  <a:pt x="166873" y="255587"/>
                  <a:pt x="177800" y="255587"/>
                </a:cubicBezTo>
                <a:cubicBezTo>
                  <a:pt x="188727" y="255587"/>
                  <a:pt x="197556" y="265519"/>
                  <a:pt x="197556" y="277813"/>
                </a:cubicBezTo>
                <a:lnTo>
                  <a:pt x="197556" y="286703"/>
                </a:lnTo>
                <a:cubicBezTo>
                  <a:pt x="236264" y="277882"/>
                  <a:pt x="266762" y="243572"/>
                  <a:pt x="274602" y="200025"/>
                </a:cubicBezTo>
                <a:lnTo>
                  <a:pt x="266700" y="200025"/>
                </a:lnTo>
                <a:cubicBezTo>
                  <a:pt x="255773" y="200025"/>
                  <a:pt x="246944" y="190093"/>
                  <a:pt x="246944" y="177800"/>
                </a:cubicBezTo>
                <a:cubicBezTo>
                  <a:pt x="246944" y="165507"/>
                  <a:pt x="255773" y="155575"/>
                  <a:pt x="266700" y="155575"/>
                </a:cubicBezTo>
                <a:lnTo>
                  <a:pt x="274602" y="155575"/>
                </a:lnTo>
                <a:cubicBezTo>
                  <a:pt x="266762" y="112028"/>
                  <a:pt x="236264" y="77718"/>
                  <a:pt x="197556" y="68898"/>
                </a:cubicBezTo>
                <a:lnTo>
                  <a:pt x="197556" y="77788"/>
                </a:lnTo>
                <a:cubicBezTo>
                  <a:pt x="197556" y="90081"/>
                  <a:pt x="188727" y="100013"/>
                  <a:pt x="177800" y="100013"/>
                </a:cubicBezTo>
                <a:cubicBezTo>
                  <a:pt x="166873" y="100013"/>
                  <a:pt x="158044" y="90081"/>
                  <a:pt x="158044" y="77788"/>
                </a:cubicBezTo>
                <a:lnTo>
                  <a:pt x="158044" y="68898"/>
                </a:lnTo>
                <a:cubicBezTo>
                  <a:pt x="119336" y="77718"/>
                  <a:pt x="88838" y="112028"/>
                  <a:pt x="80998" y="155575"/>
                </a:cubicBezTo>
                <a:lnTo>
                  <a:pt x="88900" y="155575"/>
                </a:lnTo>
                <a:cubicBezTo>
                  <a:pt x="99827" y="155575"/>
                  <a:pt x="108656" y="165507"/>
                  <a:pt x="108656" y="177800"/>
                </a:cubicBezTo>
                <a:cubicBezTo>
                  <a:pt x="108656" y="190093"/>
                  <a:pt x="99827" y="200025"/>
                  <a:pt x="88900" y="200025"/>
                </a:cubicBezTo>
                <a:lnTo>
                  <a:pt x="80998" y="200025"/>
                </a:lnTo>
                <a:close/>
                <a:moveTo>
                  <a:pt x="177800" y="144463"/>
                </a:moveTo>
                <a:cubicBezTo>
                  <a:pt x="194155" y="144463"/>
                  <a:pt x="207433" y="159401"/>
                  <a:pt x="207433" y="177800"/>
                </a:cubicBezTo>
                <a:cubicBezTo>
                  <a:pt x="207433" y="196199"/>
                  <a:pt x="194155" y="211138"/>
                  <a:pt x="177800" y="211138"/>
                </a:cubicBezTo>
                <a:cubicBezTo>
                  <a:pt x="161445" y="211138"/>
                  <a:pt x="148167" y="196199"/>
                  <a:pt x="148167" y="177800"/>
                </a:cubicBezTo>
                <a:cubicBezTo>
                  <a:pt x="148167" y="159401"/>
                  <a:pt x="161445" y="144463"/>
                  <a:pt x="177800" y="144463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626100" y="22479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意图安全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43500" y="2768600"/>
            <a:ext cx="298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13条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命令黑名单正则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4级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风险评估体系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只读 / 局部修改 / 服务变更 / 破坏性操作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9000" y="3492500"/>
            <a:ext cx="381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017000" y="1968500"/>
            <a:ext cx="3492500" cy="3302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1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22479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执行安全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71000" y="2768600"/>
            <a:ext cx="298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21个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受保护系统文件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最小权限 ops-agent 账号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执行超时 30秒 控制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636500" y="3492500"/>
            <a:ext cx="381000" cy="0"/>
          </a:xfrm>
          <a:prstGeom prst="straightConnector1">
            <a:avLst/>
          </a:prstGeom>
          <a:noFill/>
          <a:ln w="25400">
            <a:solidFill>
              <a:srgbClr val="2EC4B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3144500" y="1968500"/>
            <a:ext cx="2349500" cy="3302000"/>
          </a:xfrm>
          <a:prstGeom prst="rect">
            <a:avLst/>
          </a:prstGeom>
          <a:solidFill>
            <a:srgbClr val="0F2B3D">
              <a:alpha val="50196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70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255958" y="181064"/>
                </a:moveTo>
                <a:cubicBezTo>
                  <a:pt x="262440" y="173286"/>
                  <a:pt x="259292" y="163006"/>
                  <a:pt x="248920" y="158075"/>
                </a:cubicBezTo>
                <a:cubicBezTo>
                  <a:pt x="238548" y="153144"/>
                  <a:pt x="224843" y="155575"/>
                  <a:pt x="218268" y="163354"/>
                </a:cubicBezTo>
                <a:lnTo>
                  <a:pt x="161409" y="231626"/>
                </a:lnTo>
                <a:lnTo>
                  <a:pt x="136406" y="206623"/>
                </a:lnTo>
                <a:cubicBezTo>
                  <a:pt x="128998" y="199261"/>
                  <a:pt x="115107" y="197733"/>
                  <a:pt x="105291" y="203289"/>
                </a:cubicBezTo>
                <a:cubicBezTo>
                  <a:pt x="95475" y="208846"/>
                  <a:pt x="93438" y="219264"/>
                  <a:pt x="100846" y="226626"/>
                </a:cubicBezTo>
                <a:lnTo>
                  <a:pt x="145296" y="271076"/>
                </a:lnTo>
                <a:cubicBezTo>
                  <a:pt x="149648" y="275451"/>
                  <a:pt x="156686" y="277951"/>
                  <a:pt x="164002" y="277743"/>
                </a:cubicBezTo>
                <a:cubicBezTo>
                  <a:pt x="171318" y="277535"/>
                  <a:pt x="177985" y="274618"/>
                  <a:pt x="181875" y="269895"/>
                </a:cubicBezTo>
                <a:lnTo>
                  <a:pt x="255958" y="180995"/>
                </a:ln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13398500" y="2667000"/>
            <a:ext cx="1841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审计追溯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335000" y="3111500"/>
            <a:ext cx="20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全链路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trace_id 追踪</a:t>
            </a:r>
            <a:endParaRPr lang="en-US" sz="14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可视化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推理链路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000" y="565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4级风险评估与处置策略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23000"/>
          <a:ext cx="14732000" cy="2032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2946400"/>
                <a:gridCol w="58928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风险等级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分值范围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处置方式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C4B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只读查询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直接执行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查看系统负载、查看进程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服务变更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50-79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弹窗审批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重启服务、修改配置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破坏性操作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≥ 80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直接拦截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rm -rf /、mkfs、chmod 777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智能规划与全链路审计溯源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智能规划与执行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6858000" cy="1016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603500"/>
            <a:ext cx="577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目标识别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：LLM解析用户意图，明确运维目标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将自然语言转化为结构化执行意图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6858000" cy="1016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3810000"/>
            <a:ext cx="577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计划生成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：生成结构化执行计划（步骤+风险提示）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 → 步骤列表 → 每步风险标注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889500"/>
            <a:ext cx="6858000" cy="1016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016500"/>
            <a:ext cx="577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ReAct循环执行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：推理→安全→执行→判断，逐轮推进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每轮均经过完整Guard链安全校验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90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全链路审计日志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2476500"/>
            <a:ext cx="7112000" cy="3429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2667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trace_id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全链路唯一追踪ID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从接收指令到最终回复的完整链路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63000" y="3619500"/>
            <a:ext cx="6350000" cy="0"/>
          </a:xfrm>
          <a:prstGeom prst="straightConnector1">
            <a:avLst/>
          </a:prstGeom>
          <a:noFill/>
          <a:ln w="12700">
            <a:solidFill>
              <a:srgbClr val="1A4A6A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763000" y="3746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全流程阶段记录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注入检测 / 意图解析 / 环境感知 / 总体规划 / ReAct循环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63000" y="4699000"/>
            <a:ext cx="6350000" cy="0"/>
          </a:xfrm>
          <a:prstGeom prst="straightConnector1">
            <a:avLst/>
          </a:prstGeom>
          <a:noFill/>
          <a:ln w="12700">
            <a:solidFill>
              <a:srgbClr val="1A4A6A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763000" y="4826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多维度查询支持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按 trace_id / 关键词 / 时间范围检索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651000"/>
          </a:xfrm>
          <a:prstGeom prst="rect">
            <a:avLst/>
          </a:prstGeom>
          <a:solidFill>
            <a:srgbClr val="0F2B3D">
              <a:alpha val="2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5405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每条运维指令生成 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完整审计记录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，包含各阶段数据与 ReAct 循环每轮详情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持久化存储，支持 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可视化推理链路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展示，故障溯源一目了然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2_Server_Room_Under_Blue_Light_Stock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94000"/>
                </a:srgbClr>
              </a:gs>
              <a:gs pos="60000">
                <a:srgbClr val="0A1929">
                  <a:alpha val="82000"/>
                </a:srgbClr>
              </a:gs>
              <a:gs pos="100000">
                <a:srgbClr val="0A1929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2"/>
          <p:cNvSpPr/>
          <p:nvPr/>
        </p:nvSpPr>
        <p:spPr>
          <a:xfrm>
            <a:off x="762000" y="482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5461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71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性能验证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660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核心性能指标与测试结果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六项核心性能指标全部达标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2225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0.45s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79500" y="323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目标：≤ 3秒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683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OS信息采集延迟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实测范围 0.03~0.45s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9685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2225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&lt;1ms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96000" y="323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目标：≤ 500ms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3683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安全校验延迟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Guard链总耗时 0.35ms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685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2225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11112500" y="323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目标：≥ 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12500" y="3683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并发会话数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成功率，0% 错误率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461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8ms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1079500" y="647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目标：≤ 100ms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9500" y="6921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知识库检索延迟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实测范围 3~8ms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78500" y="52070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5461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4.2s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096000" y="647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目标：≤ 10s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0" y="6921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单步端到端响应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实测范围 3.8~4.8s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795000" y="5207000"/>
            <a:ext cx="4699000" cy="2921000"/>
          </a:xfrm>
          <a:prstGeom prst="rect">
            <a:avLst/>
          </a:prstGeom>
          <a:solidFill>
            <a:srgbClr val="0F2B3D">
              <a:alpha val="37647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112500" y="5461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22.5s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11112500" y="647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目标：≤ 60s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12500" y="6921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多步端到端响应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实测范围 12.4~28.3s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2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122个测试用例100%通过，零遗留缺陷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49400"/>
            <a:ext cx="635000" cy="381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3810000" cy="2921000"/>
          </a:xfrm>
          <a:prstGeom prst="rect">
            <a:avLst/>
          </a:prstGeom>
          <a:solidFill>
            <a:srgbClr val="0F2B3D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330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122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016000" y="3556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测试用例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全部通过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0000" y="1968500"/>
          <a:ext cx="10414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缺陷修复情况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42000"/>
          <a:ext cx="14732000" cy="2413000"/>
        </p:xfrm>
        <a:graphic>
          <a:graphicData uri="http://schemas.openxmlformats.org/drawingml/2006/table">
            <a:tbl>
              <a:tblPr/>
              <a:tblGrid>
                <a:gridCol w="2209800"/>
                <a:gridCol w="2209800"/>
                <a:gridCol w="5892800"/>
                <a:gridCol w="2209800"/>
                <a:gridCol w="2209800"/>
              </a:tblGrid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缺陷编号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严重程度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描述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状态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结果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BUG-001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rm -r -f / 分段写法未命中黑名单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已修复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C4B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BUG-002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OpenAI API tool_calls 缺少字段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已修复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C4B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BUG-003~007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中/低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Vue动态属性、审计日志500、中文搜索等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已修复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C4B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000" y="8318500"/>
            <a:ext cx="1473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遗留缺陷：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零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|  系统功能完整性、正确性和安全性均满足需求规格说明书要求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62000" y="876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/ 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dkgpjcok7ia6/mnt/agents/output/kylin-agent-demo/images/4_Modern_Data_Center_Server_Room_Blue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929">
                  <a:alpha val="25000"/>
                </a:srgbClr>
              </a:gs>
              <a:gs pos="40000">
                <a:srgbClr val="0A1929">
                  <a:alpha val="75000"/>
                </a:srgbClr>
              </a:gs>
              <a:gs pos="100000">
                <a:srgbClr val="0A1929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1A4A6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304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spc="400" kern="0" dirty="0">
                <a:solidFill>
                  <a:srgbClr val="2EC4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3683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8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对话式运维 · 智能决策 · 安全可控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62000" y="4826000"/>
            <a:ext cx="762000" cy="508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5080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B0C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面向麒麟操作系统的安全智能运维Agent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000" y="584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A7D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让运维更简单、更安全、更智能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2000" y="812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A7D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第十五届中国软件杯 A组赛题 | 麒麟软件有限公司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面向麒麟操作系统的安全智能运维Agent - 软件功能演示</dc:title>
  <dc:subject>面向麒麟操作系统的安全智能运维Agent - 软件功能演示</dc:subject>
  <dc:creator>Kimi</dc:creator>
  <cp:lastModifiedBy>Kimi</cp:lastModifiedBy>
  <cp:revision>1</cp:revision>
  <dcterms:created xsi:type="dcterms:W3CDTF">2026-06-22T07:21:25Z</dcterms:created>
  <dcterms:modified xsi:type="dcterms:W3CDTF">2026-06-22T07:21:25Z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{"Label":"面向麒麟操作系统的安全智能运维Agent - 软件功能演示","ContentProducer":"001191110108MACG2KBH8F10000","ProduceID":"19eee292-68a2-8387-8000-0000bc81c380","ReservedCode1":"","ContentPropagator":"001191110108MACG2KBH8F20000","PropagateID":"19eee26c-50f2-8e73-8000-0980b9cb115c","ReservedCode2":""}</vt:lpwstr>
  </property>
</Properties>
</file>