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embeddedFontLst>
    <p:embeddedFont>
      <p:font typeface="MiSans" panose="02010600030101010101" charset="-122"/>
      <p:regular r:id="rId26"/>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49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5478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7.jpeg"/></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20.jpeg"/><Relationship Id="rId4" Type="http://schemas.openxmlformats.org/officeDocument/2006/relationships/image" Target="../media/image19.jpeg"/></Relationships>
</file>

<file path=ppt/slides/_rels/slide1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6.jpe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9.jpeg"/></Relationships>
</file>

<file path=ppt/slides/_rels/slide2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7.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3DE"/>
        </a:solidFill>
        <a:effectLst/>
      </p:bgPr>
    </p:bg>
    <p:spTree>
      <p:nvGrpSpPr>
        <p:cNvPr id="1" name=""/>
        <p:cNvGrpSpPr/>
        <p:nvPr/>
      </p:nvGrpSpPr>
      <p:grpSpPr>
        <a:xfrm>
          <a:off x="0" y="0"/>
          <a:ext cx="0" cy="0"/>
          <a:chOff x="0" y="0"/>
          <a:chExt cx="0" cy="0"/>
        </a:xfrm>
      </p:grpSpPr>
      <p:pic>
        <p:nvPicPr>
          <p:cNvPr id="2" name="Image 0" descr="https://kimi-img.moonshot.cn/pub/slides/slides_tmpl/image/25-09-04-15:09:06-d2sjm4m1bb2p4onbqclg.jpg"/>
          <p:cNvPicPr>
            <a:picLocks noChangeAspect="1"/>
          </p:cNvPicPr>
          <p:nvPr/>
        </p:nvPicPr>
        <p:blipFill>
          <a:blip r:embed="rId3"/>
          <a:stretch>
            <a:fillRect/>
          </a:stretch>
        </p:blipFill>
        <p:spPr>
          <a:xfrm>
            <a:off x="0" y="-20003"/>
            <a:ext cx="12263122" cy="6898006"/>
          </a:xfrm>
          <a:prstGeom prst="rect">
            <a:avLst/>
          </a:prstGeom>
        </p:spPr>
      </p:pic>
      <p:sp>
        <p:nvSpPr>
          <p:cNvPr id="3" name="Text 0"/>
          <p:cNvSpPr/>
          <p:nvPr/>
        </p:nvSpPr>
        <p:spPr>
          <a:xfrm>
            <a:off x="1985330" y="1568117"/>
            <a:ext cx="6264818" cy="1834515"/>
          </a:xfrm>
          <a:prstGeom prst="rect">
            <a:avLst/>
          </a:prstGeom>
          <a:noFill/>
          <a:ln/>
        </p:spPr>
        <p:txBody>
          <a:bodyPr wrap="square" lIns="91440" tIns="45720" rIns="91440" bIns="45720" rtlCol="0" anchor="t">
            <a:spAutoFit/>
          </a:bodyPr>
          <a:lstStyle/>
          <a:p>
            <a:pPr>
              <a:lnSpc>
                <a:spcPct val="100000"/>
              </a:lnSpc>
            </a:pPr>
            <a:r>
              <a:rPr lang="en-US" sz="5400" dirty="0">
                <a:solidFill>
                  <a:srgbClr val="6D7AAF"/>
                </a:solidFill>
                <a:latin typeface="MiSans" pitchFamily="34" charset="0"/>
                <a:ea typeface="MiSans" pitchFamily="34" charset="-122"/>
                <a:cs typeface="MiSans" pitchFamily="34" charset="-120"/>
              </a:rPr>
              <a:t>半监督文本分类：从理论到实践</a:t>
            </a:r>
            <a:endParaRPr lang="en-US" sz="1600" dirty="0"/>
          </a:p>
        </p:txBody>
      </p:sp>
      <p:sp>
        <p:nvSpPr>
          <p:cNvPr id="4" name="Text 1"/>
          <p:cNvSpPr/>
          <p:nvPr/>
        </p:nvSpPr>
        <p:spPr>
          <a:xfrm>
            <a:off x="7235190" y="4391660"/>
            <a:ext cx="4064000" cy="266065"/>
          </a:xfrm>
          <a:prstGeom prst="rect">
            <a:avLst/>
          </a:prstGeom>
          <a:noFill/>
          <a:ln/>
        </p:spPr>
        <p:txBody>
          <a:bodyPr wrap="square" lIns="91440" tIns="45720" rIns="91440" bIns="45720" rtlCol="0" anchor="t">
            <a:spAutoFit/>
          </a:bodyPr>
          <a:lstStyle/>
          <a:p>
            <a:pPr>
              <a:lnSpc>
                <a:spcPct val="100000"/>
              </a:lnSpc>
            </a:pPr>
            <a:r>
              <a:rPr lang="en-US" sz="1800" dirty="0">
                <a:solidFill>
                  <a:srgbClr val="000000"/>
                </a:solidFill>
                <a:latin typeface="MiSans" pitchFamily="34" charset="0"/>
                <a:ea typeface="MiSans" pitchFamily="34" charset="-122"/>
                <a:cs typeface="MiSans" pitchFamily="34" charset="-120"/>
              </a:rPr>
              <a:t> </a:t>
            </a:r>
            <a:endParaRPr lang="en-US" sz="1600" dirty="0"/>
          </a:p>
        </p:txBody>
      </p:sp>
      <p:sp>
        <p:nvSpPr>
          <p:cNvPr id="5" name="Shape 2"/>
          <p:cNvSpPr/>
          <p:nvPr/>
        </p:nvSpPr>
        <p:spPr>
          <a:xfrm>
            <a:off x="9158605" y="6381115"/>
            <a:ext cx="133350" cy="137160"/>
          </a:xfrm>
          <a:prstGeom prst="ellipse">
            <a:avLst/>
          </a:prstGeom>
          <a:solidFill>
            <a:srgbClr val="FFFFFF"/>
          </a:solidFill>
          <a:ln/>
        </p:spPr>
      </p:sp>
      <p:sp>
        <p:nvSpPr>
          <p:cNvPr id="6" name="Shape 3"/>
          <p:cNvSpPr/>
          <p:nvPr/>
        </p:nvSpPr>
        <p:spPr>
          <a:xfrm>
            <a:off x="9358630" y="6381115"/>
            <a:ext cx="133350" cy="137160"/>
          </a:xfrm>
          <a:prstGeom prst="ellipse">
            <a:avLst/>
          </a:prstGeom>
          <a:solidFill>
            <a:srgbClr val="FFFFFF"/>
          </a:solidFill>
          <a:ln/>
        </p:spPr>
      </p:sp>
      <p:sp>
        <p:nvSpPr>
          <p:cNvPr id="7" name="Shape 4"/>
          <p:cNvSpPr/>
          <p:nvPr/>
        </p:nvSpPr>
        <p:spPr>
          <a:xfrm>
            <a:off x="9558655" y="6381115"/>
            <a:ext cx="133350" cy="137160"/>
          </a:xfrm>
          <a:prstGeom prst="ellipse">
            <a:avLst/>
          </a:prstGeom>
          <a:solidFill>
            <a:srgbClr val="FFFFFF"/>
          </a:solidFill>
          <a:ln/>
        </p:spPr>
      </p:sp>
      <p:sp>
        <p:nvSpPr>
          <p:cNvPr id="8" name="Shape 5"/>
          <p:cNvSpPr/>
          <p:nvPr/>
        </p:nvSpPr>
        <p:spPr>
          <a:xfrm>
            <a:off x="9758680" y="6381115"/>
            <a:ext cx="133350" cy="137160"/>
          </a:xfrm>
          <a:prstGeom prst="ellipse">
            <a:avLst/>
          </a:prstGeom>
          <a:solidFill>
            <a:srgbClr val="FFFFFF"/>
          </a:solidFill>
          <a:ln/>
        </p:spPr>
      </p:sp>
      <p:sp>
        <p:nvSpPr>
          <p:cNvPr id="9" name="Shape 6"/>
          <p:cNvSpPr/>
          <p:nvPr/>
        </p:nvSpPr>
        <p:spPr>
          <a:xfrm>
            <a:off x="2426315" y="948853"/>
            <a:ext cx="133350" cy="137160"/>
          </a:xfrm>
          <a:prstGeom prst="ellipse">
            <a:avLst/>
          </a:prstGeom>
          <a:solidFill>
            <a:srgbClr val="FFFFFF"/>
          </a:solidFill>
          <a:ln/>
        </p:spPr>
      </p:sp>
      <p:sp>
        <p:nvSpPr>
          <p:cNvPr id="10" name="Shape 7"/>
          <p:cNvSpPr/>
          <p:nvPr/>
        </p:nvSpPr>
        <p:spPr>
          <a:xfrm>
            <a:off x="2626340" y="948853"/>
            <a:ext cx="133350" cy="137160"/>
          </a:xfrm>
          <a:prstGeom prst="ellipse">
            <a:avLst/>
          </a:prstGeom>
          <a:solidFill>
            <a:srgbClr val="FFFFFF"/>
          </a:solidFill>
          <a:ln/>
        </p:spPr>
      </p:sp>
      <p:sp>
        <p:nvSpPr>
          <p:cNvPr id="11" name="Shape 8"/>
          <p:cNvSpPr/>
          <p:nvPr/>
        </p:nvSpPr>
        <p:spPr>
          <a:xfrm>
            <a:off x="2826365" y="948853"/>
            <a:ext cx="133350" cy="137160"/>
          </a:xfrm>
          <a:prstGeom prst="ellipse">
            <a:avLst/>
          </a:prstGeom>
          <a:solidFill>
            <a:srgbClr val="FFFFFF"/>
          </a:solidFill>
          <a:ln/>
        </p:spPr>
      </p:sp>
      <p:sp>
        <p:nvSpPr>
          <p:cNvPr id="12" name="Shape 9"/>
          <p:cNvSpPr/>
          <p:nvPr/>
        </p:nvSpPr>
        <p:spPr>
          <a:xfrm>
            <a:off x="3026390" y="948853"/>
            <a:ext cx="133350" cy="137160"/>
          </a:xfrm>
          <a:prstGeom prst="ellipse">
            <a:avLst/>
          </a:prstGeom>
          <a:solidFill>
            <a:srgbClr val="FFFFFF"/>
          </a:solidFill>
          <a:ln/>
        </p:spPr>
      </p:sp>
      <p:sp>
        <p:nvSpPr>
          <p:cNvPr id="13" name="Text 10"/>
          <p:cNvSpPr/>
          <p:nvPr/>
        </p:nvSpPr>
        <p:spPr>
          <a:xfrm>
            <a:off x="2318365" y="3578388"/>
            <a:ext cx="4064000" cy="459740"/>
          </a:xfrm>
          <a:prstGeom prst="rect">
            <a:avLst/>
          </a:prstGeom>
          <a:noFill/>
          <a:ln/>
        </p:spPr>
        <p:txBody>
          <a:bodyPr wrap="square" lIns="91440" tIns="45720" rIns="91440" bIns="45720" rtlCol="0" anchor="t">
            <a:spAutoFit/>
          </a:bodyPr>
          <a:lstStyle/>
          <a:p>
            <a:pPr>
              <a:lnSpc>
                <a:spcPct val="100000"/>
              </a:lnSpc>
            </a:pPr>
            <a:r>
              <a:rPr lang="en-US" sz="2400" dirty="0" err="1">
                <a:solidFill>
                  <a:srgbClr val="6D7AAF"/>
                </a:solidFill>
                <a:latin typeface="MiSans" pitchFamily="34" charset="0"/>
                <a:ea typeface="MiSans" pitchFamily="34" charset="-122"/>
                <a:cs typeface="MiSans" pitchFamily="34" charset="-120"/>
              </a:rPr>
              <a:t>汇报人</a:t>
            </a:r>
            <a:r>
              <a:rPr lang="en-US" sz="2400" dirty="0">
                <a:solidFill>
                  <a:srgbClr val="6D7AAF"/>
                </a:solidFill>
                <a:latin typeface="MiSans" pitchFamily="34" charset="0"/>
                <a:ea typeface="MiSans" pitchFamily="34" charset="-122"/>
                <a:cs typeface="MiSans" pitchFamily="34" charset="-120"/>
              </a:rPr>
              <a:t>：</a:t>
            </a:r>
            <a:r>
              <a:rPr lang="zh-CN" altLang="en-US" sz="2400" dirty="0">
                <a:solidFill>
                  <a:srgbClr val="6D7AAF"/>
                </a:solidFill>
                <a:latin typeface="MiSans" pitchFamily="34" charset="0"/>
                <a:ea typeface="MiSans" pitchFamily="34" charset="-122"/>
                <a:cs typeface="MiSans" pitchFamily="34" charset="-120"/>
              </a:rPr>
              <a:t>邓杰湧</a:t>
            </a:r>
            <a:endParaRPr lang="en-US" sz="1600" dirty="0"/>
          </a:p>
        </p:txBody>
      </p:sp>
      <p:sp>
        <p:nvSpPr>
          <p:cNvPr id="14" name="Text 11"/>
          <p:cNvSpPr/>
          <p:nvPr/>
        </p:nvSpPr>
        <p:spPr>
          <a:xfrm>
            <a:off x="2318365" y="4213388"/>
            <a:ext cx="3035935" cy="459740"/>
          </a:xfrm>
          <a:prstGeom prst="rect">
            <a:avLst/>
          </a:prstGeom>
          <a:noFill/>
          <a:ln/>
        </p:spPr>
        <p:txBody>
          <a:bodyPr wrap="square" lIns="91440" tIns="45720" rIns="91440" bIns="45720" rtlCol="0" anchor="t">
            <a:spAutoFit/>
          </a:bodyPr>
          <a:lstStyle/>
          <a:p>
            <a:pPr>
              <a:lnSpc>
                <a:spcPct val="100000"/>
              </a:lnSpc>
            </a:pPr>
            <a:r>
              <a:rPr lang="en-US" sz="2400" dirty="0">
                <a:solidFill>
                  <a:srgbClr val="6D7AAF"/>
                </a:solidFill>
                <a:latin typeface="MiSans" pitchFamily="34" charset="0"/>
                <a:ea typeface="MiSans" pitchFamily="34" charset="-122"/>
                <a:cs typeface="MiSans" pitchFamily="34" charset="-120"/>
              </a:rPr>
              <a:t>时间：2026/06/01</a:t>
            </a:r>
            <a:endParaRPr lang="en-US" sz="1600" dirty="0"/>
          </a:p>
        </p:txBody>
      </p:sp>
      <p:pic>
        <p:nvPicPr>
          <p:cNvPr id="15" name="Image 1" descr="https://kimi-img.moonshot.cn/pub/slides/slides_tmpl/image/25-09-04-15:09:06-d2sjm4m1bb2p4onbqckg.png"/>
          <p:cNvPicPr>
            <a:picLocks noChangeAspect="1"/>
          </p:cNvPicPr>
          <p:nvPr/>
        </p:nvPicPr>
        <p:blipFill>
          <a:blip r:embed="rId4"/>
          <a:stretch>
            <a:fillRect/>
          </a:stretch>
        </p:blipFill>
        <p:spPr>
          <a:xfrm>
            <a:off x="492168" y="1412240"/>
            <a:ext cx="1320800" cy="1371600"/>
          </a:xfrm>
          <a:prstGeom prst="rect">
            <a:avLst/>
          </a:prstGeom>
        </p:spPr>
      </p:pic>
      <p:pic>
        <p:nvPicPr>
          <p:cNvPr id="16" name="Image 2" descr="https://kimi-img.moonshot.cn/pub/slides/slides_tmpl/image/25-09-04-15:09:06-d2sjm4m1bb2p4onbqcl0.png"/>
          <p:cNvPicPr>
            <a:picLocks noChangeAspect="1"/>
          </p:cNvPicPr>
          <p:nvPr/>
        </p:nvPicPr>
        <p:blipFill>
          <a:blip r:embed="rId5"/>
          <a:stretch>
            <a:fillRect/>
          </a:stretch>
        </p:blipFill>
        <p:spPr>
          <a:xfrm>
            <a:off x="10665946" y="4391660"/>
            <a:ext cx="983056" cy="907962"/>
          </a:xfrm>
          <a:prstGeom prst="rect">
            <a:avLst/>
          </a:prstGeom>
        </p:spPr>
      </p:pic>
      <p:sp>
        <p:nvSpPr>
          <p:cNvPr id="17" name="Shape 12"/>
          <p:cNvSpPr/>
          <p:nvPr/>
        </p:nvSpPr>
        <p:spPr>
          <a:xfrm>
            <a:off x="1273269" y="2275839"/>
            <a:ext cx="539750" cy="508001"/>
          </a:xfrm>
          <a:prstGeom prst="ellipse">
            <a:avLst/>
          </a:prstGeom>
          <a:solidFill>
            <a:srgbClr val="B2C4FF"/>
          </a:solidFill>
          <a:ln/>
        </p:spPr>
      </p:sp>
      <p:pic>
        <p:nvPicPr>
          <p:cNvPr id="18" name="Image 3" descr="https://kimi-img.moonshot.cn/pub/slides/slides_tmpl/image/25-09-04-15:09:06-d2sjm4m1bb2p4onbqckg.png"/>
          <p:cNvPicPr>
            <a:picLocks noChangeAspect="1"/>
          </p:cNvPicPr>
          <p:nvPr/>
        </p:nvPicPr>
        <p:blipFill>
          <a:blip r:embed="rId4"/>
          <a:stretch>
            <a:fillRect/>
          </a:stretch>
        </p:blipFill>
        <p:spPr>
          <a:xfrm>
            <a:off x="10567925" y="5073480"/>
            <a:ext cx="731154" cy="676035"/>
          </a:xfrm>
          <a:prstGeom prst="rect">
            <a:avLst/>
          </a:prstGeom>
        </p:spPr>
      </p:pic>
      <p:sp>
        <p:nvSpPr>
          <p:cNvPr id="19" name="Shape 13"/>
          <p:cNvSpPr/>
          <p:nvPr/>
        </p:nvSpPr>
        <p:spPr>
          <a:xfrm>
            <a:off x="11511842" y="1219363"/>
            <a:ext cx="133350" cy="137160"/>
          </a:xfrm>
          <a:prstGeom prst="ellipse">
            <a:avLst/>
          </a:prstGeom>
          <a:solidFill>
            <a:srgbClr val="FFFFFF"/>
          </a:solidFill>
          <a:ln/>
        </p:spPr>
      </p:sp>
      <p:sp>
        <p:nvSpPr>
          <p:cNvPr id="20" name="Shape 14"/>
          <p:cNvSpPr/>
          <p:nvPr/>
        </p:nvSpPr>
        <p:spPr>
          <a:xfrm>
            <a:off x="11511842" y="1019337"/>
            <a:ext cx="133350" cy="137160"/>
          </a:xfrm>
          <a:prstGeom prst="ellipse">
            <a:avLst/>
          </a:prstGeom>
          <a:solidFill>
            <a:srgbClr val="FFFFFF"/>
          </a:solidFill>
          <a:ln/>
        </p:spPr>
      </p:sp>
      <p:sp>
        <p:nvSpPr>
          <p:cNvPr id="21" name="Shape 15"/>
          <p:cNvSpPr/>
          <p:nvPr/>
        </p:nvSpPr>
        <p:spPr>
          <a:xfrm>
            <a:off x="11511842" y="819312"/>
            <a:ext cx="133350" cy="137160"/>
          </a:xfrm>
          <a:prstGeom prst="ellipse">
            <a:avLst/>
          </a:prstGeom>
          <a:solidFill>
            <a:srgbClr val="FFFFFF"/>
          </a:solidFill>
          <a:ln/>
        </p:spPr>
      </p:sp>
      <p:sp>
        <p:nvSpPr>
          <p:cNvPr id="22" name="Shape 16"/>
          <p:cNvSpPr/>
          <p:nvPr/>
        </p:nvSpPr>
        <p:spPr>
          <a:xfrm>
            <a:off x="11511842" y="619288"/>
            <a:ext cx="133350" cy="137160"/>
          </a:xfrm>
          <a:prstGeom prst="ellipse">
            <a:avLst/>
          </a:prstGeom>
          <a:solidFill>
            <a:srgbClr val="FFFFFF"/>
          </a:solidFill>
          <a:ln/>
        </p:spPr>
      </p:sp>
      <p:sp>
        <p:nvSpPr>
          <p:cNvPr id="23" name="Shape 17"/>
          <p:cNvSpPr/>
          <p:nvPr/>
        </p:nvSpPr>
        <p:spPr>
          <a:xfrm>
            <a:off x="11511842" y="2012478"/>
            <a:ext cx="133350" cy="137160"/>
          </a:xfrm>
          <a:prstGeom prst="ellipse">
            <a:avLst/>
          </a:prstGeom>
          <a:solidFill>
            <a:srgbClr val="FFFFFF"/>
          </a:solidFill>
          <a:ln/>
        </p:spPr>
      </p:sp>
      <p:sp>
        <p:nvSpPr>
          <p:cNvPr id="24" name="Shape 18"/>
          <p:cNvSpPr/>
          <p:nvPr/>
        </p:nvSpPr>
        <p:spPr>
          <a:xfrm>
            <a:off x="11511842" y="1812453"/>
            <a:ext cx="133350" cy="137160"/>
          </a:xfrm>
          <a:prstGeom prst="ellipse">
            <a:avLst/>
          </a:prstGeom>
          <a:solidFill>
            <a:srgbClr val="FFFFFF"/>
          </a:solidFill>
          <a:ln/>
        </p:spPr>
      </p:sp>
      <p:sp>
        <p:nvSpPr>
          <p:cNvPr id="25" name="Shape 19"/>
          <p:cNvSpPr/>
          <p:nvPr/>
        </p:nvSpPr>
        <p:spPr>
          <a:xfrm>
            <a:off x="11511842" y="1612428"/>
            <a:ext cx="133350" cy="137160"/>
          </a:xfrm>
          <a:prstGeom prst="ellipse">
            <a:avLst/>
          </a:prstGeom>
          <a:solidFill>
            <a:srgbClr val="FFFFFF"/>
          </a:solidFill>
          <a:ln/>
        </p:spPr>
      </p:sp>
      <p:sp>
        <p:nvSpPr>
          <p:cNvPr id="26" name="Shape 20"/>
          <p:cNvSpPr/>
          <p:nvPr/>
        </p:nvSpPr>
        <p:spPr>
          <a:xfrm>
            <a:off x="11511842" y="1412404"/>
            <a:ext cx="133350" cy="137160"/>
          </a:xfrm>
          <a:prstGeom prst="ellipse">
            <a:avLst/>
          </a:prstGeom>
          <a:solidFill>
            <a:srgbClr val="FFFFFF"/>
          </a:solidFill>
          <a:ln/>
        </p:spPr>
      </p:sp>
      <p:sp>
        <p:nvSpPr>
          <p:cNvPr id="27" name="Shape 21"/>
          <p:cNvSpPr/>
          <p:nvPr/>
        </p:nvSpPr>
        <p:spPr>
          <a:xfrm>
            <a:off x="318177" y="5725159"/>
            <a:ext cx="133350" cy="137160"/>
          </a:xfrm>
          <a:prstGeom prst="ellipse">
            <a:avLst/>
          </a:prstGeom>
          <a:solidFill>
            <a:srgbClr val="FFFFFF"/>
          </a:solidFill>
          <a:ln/>
        </p:spPr>
      </p:sp>
      <p:sp>
        <p:nvSpPr>
          <p:cNvPr id="28" name="Shape 22"/>
          <p:cNvSpPr/>
          <p:nvPr/>
        </p:nvSpPr>
        <p:spPr>
          <a:xfrm>
            <a:off x="318178" y="5525134"/>
            <a:ext cx="133350" cy="137160"/>
          </a:xfrm>
          <a:prstGeom prst="ellipse">
            <a:avLst/>
          </a:prstGeom>
          <a:solidFill>
            <a:srgbClr val="FFFFFF"/>
          </a:solidFill>
          <a:ln/>
        </p:spPr>
      </p:sp>
      <p:sp>
        <p:nvSpPr>
          <p:cNvPr id="29" name="Shape 23"/>
          <p:cNvSpPr/>
          <p:nvPr/>
        </p:nvSpPr>
        <p:spPr>
          <a:xfrm>
            <a:off x="318178" y="5325109"/>
            <a:ext cx="133350" cy="137160"/>
          </a:xfrm>
          <a:prstGeom prst="ellipse">
            <a:avLst/>
          </a:prstGeom>
          <a:solidFill>
            <a:srgbClr val="FFFFFF"/>
          </a:solidFill>
          <a:ln/>
        </p:spPr>
      </p:sp>
      <p:sp>
        <p:nvSpPr>
          <p:cNvPr id="30" name="Shape 24"/>
          <p:cNvSpPr/>
          <p:nvPr/>
        </p:nvSpPr>
        <p:spPr>
          <a:xfrm>
            <a:off x="318178" y="5125085"/>
            <a:ext cx="133350" cy="137160"/>
          </a:xfrm>
          <a:prstGeom prst="ellipse">
            <a:avLst/>
          </a:prstGeom>
          <a:solidFill>
            <a:srgbClr val="FFFFFF"/>
          </a:solidFill>
          <a:ln/>
        </p:spPr>
      </p:sp>
      <p:sp>
        <p:nvSpPr>
          <p:cNvPr id="31" name="Shape 25"/>
          <p:cNvSpPr/>
          <p:nvPr/>
        </p:nvSpPr>
        <p:spPr>
          <a:xfrm>
            <a:off x="318177" y="6518275"/>
            <a:ext cx="133350" cy="137160"/>
          </a:xfrm>
          <a:prstGeom prst="ellipse">
            <a:avLst/>
          </a:prstGeom>
          <a:solidFill>
            <a:srgbClr val="FFFFFF"/>
          </a:solidFill>
          <a:ln/>
        </p:spPr>
      </p:sp>
      <p:sp>
        <p:nvSpPr>
          <p:cNvPr id="32" name="Shape 26"/>
          <p:cNvSpPr/>
          <p:nvPr/>
        </p:nvSpPr>
        <p:spPr>
          <a:xfrm>
            <a:off x="318178" y="6318250"/>
            <a:ext cx="133350" cy="137160"/>
          </a:xfrm>
          <a:prstGeom prst="ellipse">
            <a:avLst/>
          </a:prstGeom>
          <a:solidFill>
            <a:srgbClr val="FFFFFF"/>
          </a:solidFill>
          <a:ln/>
        </p:spPr>
      </p:sp>
      <p:sp>
        <p:nvSpPr>
          <p:cNvPr id="33" name="Shape 27"/>
          <p:cNvSpPr/>
          <p:nvPr/>
        </p:nvSpPr>
        <p:spPr>
          <a:xfrm>
            <a:off x="318178" y="6118225"/>
            <a:ext cx="133350" cy="137160"/>
          </a:xfrm>
          <a:prstGeom prst="ellipse">
            <a:avLst/>
          </a:prstGeom>
          <a:solidFill>
            <a:srgbClr val="FFFFFF"/>
          </a:solidFill>
          <a:ln/>
        </p:spPr>
      </p:sp>
      <p:sp>
        <p:nvSpPr>
          <p:cNvPr id="34" name="Shape 28"/>
          <p:cNvSpPr/>
          <p:nvPr/>
        </p:nvSpPr>
        <p:spPr>
          <a:xfrm>
            <a:off x="318178" y="5918201"/>
            <a:ext cx="133350" cy="137160"/>
          </a:xfrm>
          <a:prstGeom prst="ellipse">
            <a:avLst/>
          </a:prstGeom>
          <a:solidFill>
            <a:srgbClr val="FFFFFF"/>
          </a:solidFill>
          <a:ln/>
        </p:spPr>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gradFill flip="none" rotWithShape="0">
          <a:gsLst>
            <a:gs pos="0">
              <a:srgbClr val="FFF2C6"/>
            </a:gs>
            <a:gs pos="74000">
              <a:srgbClr val="C7D5FC"/>
            </a:gs>
            <a:gs pos="83000">
              <a:srgbClr val="D8E1FD"/>
            </a:gs>
            <a:gs pos="100000">
              <a:srgbClr val="D8E1FD"/>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ext 0"/>
          <p:cNvSpPr/>
          <p:nvPr/>
        </p:nvSpPr>
        <p:spPr>
          <a:xfrm>
            <a:off x="574597" y="755059"/>
            <a:ext cx="1751965" cy="920115"/>
          </a:xfrm>
          <a:prstGeom prst="rect">
            <a:avLst/>
          </a:prstGeom>
          <a:noFill/>
          <a:ln/>
        </p:spPr>
        <p:txBody>
          <a:bodyPr wrap="square" lIns="91440" tIns="45720" rIns="91440" bIns="45720" rtlCol="0" anchor="ctr">
            <a:spAutoFit/>
          </a:bodyPr>
          <a:lstStyle/>
          <a:p>
            <a:pPr algn="just">
              <a:lnSpc>
                <a:spcPct val="100000"/>
              </a:lnSpc>
            </a:pPr>
            <a:r>
              <a:rPr lang="en-US" sz="5400" dirty="0">
                <a:solidFill>
                  <a:srgbClr val="6D7AAF"/>
                </a:solidFill>
                <a:latin typeface="MiSans" pitchFamily="34" charset="0"/>
                <a:ea typeface="MiSans" pitchFamily="34" charset="-122"/>
                <a:cs typeface="MiSans" pitchFamily="34" charset="-120"/>
              </a:rPr>
              <a:t>目录</a:t>
            </a:r>
            <a:endParaRPr lang="en-US" sz="1600" dirty="0"/>
          </a:p>
        </p:txBody>
      </p:sp>
      <p:sp>
        <p:nvSpPr>
          <p:cNvPr id="3" name="Shape 1"/>
          <p:cNvSpPr/>
          <p:nvPr/>
        </p:nvSpPr>
        <p:spPr>
          <a:xfrm>
            <a:off x="3114445" y="1325103"/>
            <a:ext cx="133350" cy="137160"/>
          </a:xfrm>
          <a:prstGeom prst="ellipse">
            <a:avLst/>
          </a:prstGeom>
          <a:solidFill>
            <a:srgbClr val="FFFFFF"/>
          </a:solidFill>
          <a:ln/>
        </p:spPr>
      </p:sp>
      <p:sp>
        <p:nvSpPr>
          <p:cNvPr id="4" name="Shape 2"/>
          <p:cNvSpPr/>
          <p:nvPr/>
        </p:nvSpPr>
        <p:spPr>
          <a:xfrm>
            <a:off x="3314470" y="1325103"/>
            <a:ext cx="133350" cy="137160"/>
          </a:xfrm>
          <a:prstGeom prst="ellipse">
            <a:avLst/>
          </a:prstGeom>
          <a:solidFill>
            <a:srgbClr val="FFFFFF"/>
          </a:solidFill>
          <a:ln/>
        </p:spPr>
      </p:sp>
      <p:sp>
        <p:nvSpPr>
          <p:cNvPr id="5" name="Shape 3"/>
          <p:cNvSpPr/>
          <p:nvPr/>
        </p:nvSpPr>
        <p:spPr>
          <a:xfrm>
            <a:off x="3514495" y="1325103"/>
            <a:ext cx="133350" cy="137160"/>
          </a:xfrm>
          <a:prstGeom prst="ellipse">
            <a:avLst/>
          </a:prstGeom>
          <a:solidFill>
            <a:srgbClr val="FFFFFF"/>
          </a:solidFill>
          <a:ln/>
        </p:spPr>
      </p:sp>
      <p:sp>
        <p:nvSpPr>
          <p:cNvPr id="6" name="Shape 4"/>
          <p:cNvSpPr/>
          <p:nvPr/>
        </p:nvSpPr>
        <p:spPr>
          <a:xfrm>
            <a:off x="3714520" y="1325103"/>
            <a:ext cx="133350" cy="137160"/>
          </a:xfrm>
          <a:prstGeom prst="ellipse">
            <a:avLst/>
          </a:prstGeom>
          <a:solidFill>
            <a:srgbClr val="FFFFFF"/>
          </a:solidFill>
          <a:ln/>
        </p:spPr>
      </p:sp>
      <p:sp>
        <p:nvSpPr>
          <p:cNvPr id="7" name="Text 5"/>
          <p:cNvSpPr/>
          <p:nvPr/>
        </p:nvSpPr>
        <p:spPr>
          <a:xfrm>
            <a:off x="2143425" y="799475"/>
            <a:ext cx="2360967" cy="367665"/>
          </a:xfrm>
          <a:prstGeom prst="rect">
            <a:avLst/>
          </a:prstGeom>
          <a:noFill/>
          <a:ln/>
        </p:spPr>
        <p:txBody>
          <a:bodyPr wrap="square" lIns="91440" tIns="45720" rIns="91440" bIns="45720" rtlCol="0" anchor="t">
            <a:spAutoFit/>
          </a:bodyPr>
          <a:lstStyle/>
          <a:p>
            <a:pPr>
              <a:lnSpc>
                <a:spcPct val="100000"/>
              </a:lnSpc>
            </a:pPr>
            <a:r>
              <a:rPr lang="en-US" sz="1800" dirty="0">
                <a:solidFill>
                  <a:srgbClr val="6D7ECC"/>
                </a:solidFill>
                <a:latin typeface="MiSans" pitchFamily="34" charset="0"/>
                <a:ea typeface="MiSans" pitchFamily="34" charset="-122"/>
                <a:cs typeface="MiSans" pitchFamily="34" charset="-120"/>
              </a:rPr>
              <a:t>Contents</a:t>
            </a:r>
            <a:endParaRPr lang="en-US" sz="1600" dirty="0"/>
          </a:p>
        </p:txBody>
      </p:sp>
      <p:sp>
        <p:nvSpPr>
          <p:cNvPr id="8" name="Shape 6"/>
          <p:cNvSpPr/>
          <p:nvPr/>
        </p:nvSpPr>
        <p:spPr>
          <a:xfrm>
            <a:off x="1727873" y="2720187"/>
            <a:ext cx="133350" cy="137160"/>
          </a:xfrm>
          <a:prstGeom prst="ellipse">
            <a:avLst/>
          </a:prstGeom>
          <a:solidFill>
            <a:srgbClr val="FFFFFF"/>
          </a:solidFill>
          <a:ln/>
        </p:spPr>
      </p:sp>
      <p:sp>
        <p:nvSpPr>
          <p:cNvPr id="9" name="Shape 7"/>
          <p:cNvSpPr/>
          <p:nvPr/>
        </p:nvSpPr>
        <p:spPr>
          <a:xfrm>
            <a:off x="1927898" y="2720187"/>
            <a:ext cx="133350" cy="137160"/>
          </a:xfrm>
          <a:prstGeom prst="ellipse">
            <a:avLst/>
          </a:prstGeom>
          <a:solidFill>
            <a:srgbClr val="FFFFFF"/>
          </a:solidFill>
          <a:ln/>
        </p:spPr>
      </p:sp>
      <p:sp>
        <p:nvSpPr>
          <p:cNvPr id="10" name="Shape 8"/>
          <p:cNvSpPr/>
          <p:nvPr/>
        </p:nvSpPr>
        <p:spPr>
          <a:xfrm>
            <a:off x="2127923" y="2720187"/>
            <a:ext cx="133350" cy="137160"/>
          </a:xfrm>
          <a:prstGeom prst="ellipse">
            <a:avLst/>
          </a:prstGeom>
          <a:solidFill>
            <a:srgbClr val="FFFFFF"/>
          </a:solidFill>
          <a:ln/>
        </p:spPr>
      </p:sp>
      <p:sp>
        <p:nvSpPr>
          <p:cNvPr id="11" name="Shape 9"/>
          <p:cNvSpPr/>
          <p:nvPr/>
        </p:nvSpPr>
        <p:spPr>
          <a:xfrm>
            <a:off x="2327948" y="2720187"/>
            <a:ext cx="133350" cy="137160"/>
          </a:xfrm>
          <a:prstGeom prst="ellipse">
            <a:avLst/>
          </a:prstGeom>
          <a:solidFill>
            <a:srgbClr val="FFFFFF"/>
          </a:solidFill>
          <a:ln/>
        </p:spPr>
      </p:sp>
      <p:sp>
        <p:nvSpPr>
          <p:cNvPr id="12" name="Shape 10"/>
          <p:cNvSpPr/>
          <p:nvPr/>
        </p:nvSpPr>
        <p:spPr>
          <a:xfrm>
            <a:off x="8968672" y="2720187"/>
            <a:ext cx="133350" cy="137160"/>
          </a:xfrm>
          <a:prstGeom prst="ellipse">
            <a:avLst/>
          </a:prstGeom>
          <a:solidFill>
            <a:srgbClr val="FFFFFF"/>
          </a:solidFill>
          <a:ln/>
        </p:spPr>
      </p:sp>
      <p:sp>
        <p:nvSpPr>
          <p:cNvPr id="13" name="Shape 11"/>
          <p:cNvSpPr/>
          <p:nvPr/>
        </p:nvSpPr>
        <p:spPr>
          <a:xfrm>
            <a:off x="9168697" y="2720187"/>
            <a:ext cx="133350" cy="137160"/>
          </a:xfrm>
          <a:prstGeom prst="ellipse">
            <a:avLst/>
          </a:prstGeom>
          <a:solidFill>
            <a:srgbClr val="FFFFFF"/>
          </a:solidFill>
          <a:ln/>
        </p:spPr>
      </p:sp>
      <p:sp>
        <p:nvSpPr>
          <p:cNvPr id="14" name="Shape 12"/>
          <p:cNvSpPr/>
          <p:nvPr/>
        </p:nvSpPr>
        <p:spPr>
          <a:xfrm>
            <a:off x="9368722" y="2720187"/>
            <a:ext cx="133350" cy="137160"/>
          </a:xfrm>
          <a:prstGeom prst="ellipse">
            <a:avLst/>
          </a:prstGeom>
          <a:solidFill>
            <a:srgbClr val="FFFFFF"/>
          </a:solidFill>
          <a:ln/>
        </p:spPr>
      </p:sp>
      <p:sp>
        <p:nvSpPr>
          <p:cNvPr id="15" name="Shape 13"/>
          <p:cNvSpPr/>
          <p:nvPr/>
        </p:nvSpPr>
        <p:spPr>
          <a:xfrm>
            <a:off x="9568747" y="2720187"/>
            <a:ext cx="133350" cy="137160"/>
          </a:xfrm>
          <a:prstGeom prst="ellipse">
            <a:avLst/>
          </a:prstGeom>
          <a:solidFill>
            <a:srgbClr val="FFFFFF"/>
          </a:solidFill>
          <a:ln/>
        </p:spPr>
      </p:sp>
      <p:sp>
        <p:nvSpPr>
          <p:cNvPr id="16" name="Shape 14"/>
          <p:cNvSpPr/>
          <p:nvPr/>
        </p:nvSpPr>
        <p:spPr>
          <a:xfrm>
            <a:off x="1776712" y="4793084"/>
            <a:ext cx="133350" cy="137160"/>
          </a:xfrm>
          <a:prstGeom prst="ellipse">
            <a:avLst/>
          </a:prstGeom>
          <a:solidFill>
            <a:srgbClr val="FFFFFF"/>
          </a:solidFill>
          <a:ln/>
        </p:spPr>
      </p:sp>
      <p:sp>
        <p:nvSpPr>
          <p:cNvPr id="17" name="Shape 15"/>
          <p:cNvSpPr/>
          <p:nvPr/>
        </p:nvSpPr>
        <p:spPr>
          <a:xfrm>
            <a:off x="1976737" y="4793084"/>
            <a:ext cx="133350" cy="137160"/>
          </a:xfrm>
          <a:prstGeom prst="ellipse">
            <a:avLst/>
          </a:prstGeom>
          <a:solidFill>
            <a:srgbClr val="FFFFFF"/>
          </a:solidFill>
          <a:ln/>
        </p:spPr>
      </p:sp>
      <p:sp>
        <p:nvSpPr>
          <p:cNvPr id="18" name="Shape 16"/>
          <p:cNvSpPr/>
          <p:nvPr/>
        </p:nvSpPr>
        <p:spPr>
          <a:xfrm>
            <a:off x="2176762" y="4793084"/>
            <a:ext cx="133350" cy="137160"/>
          </a:xfrm>
          <a:prstGeom prst="ellipse">
            <a:avLst/>
          </a:prstGeom>
          <a:solidFill>
            <a:srgbClr val="FFFFFF"/>
          </a:solidFill>
          <a:ln/>
        </p:spPr>
      </p:sp>
      <p:sp>
        <p:nvSpPr>
          <p:cNvPr id="19" name="Shape 17"/>
          <p:cNvSpPr/>
          <p:nvPr/>
        </p:nvSpPr>
        <p:spPr>
          <a:xfrm>
            <a:off x="2376787" y="4793084"/>
            <a:ext cx="133350" cy="137160"/>
          </a:xfrm>
          <a:prstGeom prst="ellipse">
            <a:avLst/>
          </a:prstGeom>
          <a:solidFill>
            <a:srgbClr val="FFFFFF"/>
          </a:solidFill>
          <a:ln/>
        </p:spPr>
      </p:sp>
      <p:sp>
        <p:nvSpPr>
          <p:cNvPr id="20" name="Shape 18"/>
          <p:cNvSpPr/>
          <p:nvPr/>
        </p:nvSpPr>
        <p:spPr>
          <a:xfrm>
            <a:off x="5261062" y="2720187"/>
            <a:ext cx="133350" cy="137160"/>
          </a:xfrm>
          <a:prstGeom prst="ellipse">
            <a:avLst/>
          </a:prstGeom>
          <a:solidFill>
            <a:srgbClr val="FFFFFF"/>
          </a:solidFill>
          <a:ln/>
        </p:spPr>
      </p:sp>
      <p:sp>
        <p:nvSpPr>
          <p:cNvPr id="21" name="Shape 19"/>
          <p:cNvSpPr/>
          <p:nvPr/>
        </p:nvSpPr>
        <p:spPr>
          <a:xfrm>
            <a:off x="5461087" y="2720187"/>
            <a:ext cx="133350" cy="137160"/>
          </a:xfrm>
          <a:prstGeom prst="ellipse">
            <a:avLst/>
          </a:prstGeom>
          <a:solidFill>
            <a:srgbClr val="FFFFFF"/>
          </a:solidFill>
          <a:ln/>
        </p:spPr>
      </p:sp>
      <p:sp>
        <p:nvSpPr>
          <p:cNvPr id="22" name="Shape 20"/>
          <p:cNvSpPr/>
          <p:nvPr/>
        </p:nvSpPr>
        <p:spPr>
          <a:xfrm>
            <a:off x="5661112" y="2720187"/>
            <a:ext cx="133350" cy="137160"/>
          </a:xfrm>
          <a:prstGeom prst="ellipse">
            <a:avLst/>
          </a:prstGeom>
          <a:solidFill>
            <a:srgbClr val="FFFFFF"/>
          </a:solidFill>
          <a:ln/>
        </p:spPr>
      </p:sp>
      <p:sp>
        <p:nvSpPr>
          <p:cNvPr id="23" name="Shape 21"/>
          <p:cNvSpPr/>
          <p:nvPr/>
        </p:nvSpPr>
        <p:spPr>
          <a:xfrm>
            <a:off x="5861137" y="2720187"/>
            <a:ext cx="133350" cy="137160"/>
          </a:xfrm>
          <a:prstGeom prst="ellipse">
            <a:avLst/>
          </a:prstGeom>
          <a:solidFill>
            <a:srgbClr val="FFFFFF"/>
          </a:solidFill>
          <a:ln/>
        </p:spPr>
      </p:sp>
      <p:sp>
        <p:nvSpPr>
          <p:cNvPr id="24" name="Shape 22"/>
          <p:cNvSpPr/>
          <p:nvPr/>
        </p:nvSpPr>
        <p:spPr>
          <a:xfrm>
            <a:off x="2263132" y="1325103"/>
            <a:ext cx="133350" cy="137160"/>
          </a:xfrm>
          <a:prstGeom prst="ellipse">
            <a:avLst/>
          </a:prstGeom>
          <a:solidFill>
            <a:srgbClr val="FFFFFF"/>
          </a:solidFill>
          <a:ln/>
        </p:spPr>
      </p:sp>
      <p:sp>
        <p:nvSpPr>
          <p:cNvPr id="25" name="Shape 23"/>
          <p:cNvSpPr/>
          <p:nvPr/>
        </p:nvSpPr>
        <p:spPr>
          <a:xfrm>
            <a:off x="2463157" y="1325103"/>
            <a:ext cx="133350" cy="137160"/>
          </a:xfrm>
          <a:prstGeom prst="ellipse">
            <a:avLst/>
          </a:prstGeom>
          <a:solidFill>
            <a:srgbClr val="FFFFFF"/>
          </a:solidFill>
          <a:ln/>
        </p:spPr>
      </p:sp>
      <p:sp>
        <p:nvSpPr>
          <p:cNvPr id="26" name="Shape 24"/>
          <p:cNvSpPr/>
          <p:nvPr/>
        </p:nvSpPr>
        <p:spPr>
          <a:xfrm>
            <a:off x="2663182" y="1325103"/>
            <a:ext cx="133350" cy="137160"/>
          </a:xfrm>
          <a:prstGeom prst="ellipse">
            <a:avLst/>
          </a:prstGeom>
          <a:solidFill>
            <a:srgbClr val="FFFFFF"/>
          </a:solidFill>
          <a:ln/>
        </p:spPr>
      </p:sp>
      <p:sp>
        <p:nvSpPr>
          <p:cNvPr id="27" name="Shape 25"/>
          <p:cNvSpPr/>
          <p:nvPr/>
        </p:nvSpPr>
        <p:spPr>
          <a:xfrm>
            <a:off x="2863207" y="1325103"/>
            <a:ext cx="133350" cy="137160"/>
          </a:xfrm>
          <a:prstGeom prst="ellipse">
            <a:avLst/>
          </a:prstGeom>
          <a:solidFill>
            <a:srgbClr val="FFFFFF"/>
          </a:solidFill>
          <a:ln/>
        </p:spPr>
      </p:sp>
      <p:sp>
        <p:nvSpPr>
          <p:cNvPr id="28" name="Shape 26"/>
          <p:cNvSpPr/>
          <p:nvPr/>
        </p:nvSpPr>
        <p:spPr>
          <a:xfrm>
            <a:off x="9002009" y="4851675"/>
            <a:ext cx="133350" cy="137160"/>
          </a:xfrm>
          <a:prstGeom prst="ellipse">
            <a:avLst/>
          </a:prstGeom>
          <a:solidFill>
            <a:srgbClr val="FFFFFF"/>
          </a:solidFill>
          <a:ln/>
        </p:spPr>
      </p:sp>
      <p:sp>
        <p:nvSpPr>
          <p:cNvPr id="29" name="Shape 27"/>
          <p:cNvSpPr/>
          <p:nvPr/>
        </p:nvSpPr>
        <p:spPr>
          <a:xfrm>
            <a:off x="9202034" y="4851675"/>
            <a:ext cx="133350" cy="137160"/>
          </a:xfrm>
          <a:prstGeom prst="ellipse">
            <a:avLst/>
          </a:prstGeom>
          <a:solidFill>
            <a:srgbClr val="FFFFFF"/>
          </a:solidFill>
          <a:ln/>
        </p:spPr>
      </p:sp>
      <p:sp>
        <p:nvSpPr>
          <p:cNvPr id="30" name="Shape 28"/>
          <p:cNvSpPr/>
          <p:nvPr/>
        </p:nvSpPr>
        <p:spPr>
          <a:xfrm>
            <a:off x="9402059" y="4851675"/>
            <a:ext cx="133350" cy="137160"/>
          </a:xfrm>
          <a:prstGeom prst="ellipse">
            <a:avLst/>
          </a:prstGeom>
          <a:solidFill>
            <a:srgbClr val="FFFFFF"/>
          </a:solidFill>
          <a:ln/>
        </p:spPr>
      </p:sp>
      <p:sp>
        <p:nvSpPr>
          <p:cNvPr id="31" name="Shape 29"/>
          <p:cNvSpPr/>
          <p:nvPr/>
        </p:nvSpPr>
        <p:spPr>
          <a:xfrm>
            <a:off x="9602084" y="4851675"/>
            <a:ext cx="133350" cy="137160"/>
          </a:xfrm>
          <a:prstGeom prst="ellipse">
            <a:avLst/>
          </a:prstGeom>
          <a:solidFill>
            <a:srgbClr val="FFFFFF"/>
          </a:solidFill>
          <a:ln/>
        </p:spPr>
      </p:sp>
      <p:sp>
        <p:nvSpPr>
          <p:cNvPr id="32" name="Shape 30"/>
          <p:cNvSpPr/>
          <p:nvPr/>
        </p:nvSpPr>
        <p:spPr>
          <a:xfrm>
            <a:off x="5294399" y="4851675"/>
            <a:ext cx="133350" cy="137160"/>
          </a:xfrm>
          <a:prstGeom prst="ellipse">
            <a:avLst/>
          </a:prstGeom>
          <a:solidFill>
            <a:srgbClr val="FFFFFF"/>
          </a:solidFill>
          <a:ln/>
        </p:spPr>
      </p:sp>
      <p:sp>
        <p:nvSpPr>
          <p:cNvPr id="33" name="Shape 31"/>
          <p:cNvSpPr/>
          <p:nvPr/>
        </p:nvSpPr>
        <p:spPr>
          <a:xfrm>
            <a:off x="5494424" y="4851675"/>
            <a:ext cx="133350" cy="137160"/>
          </a:xfrm>
          <a:prstGeom prst="ellipse">
            <a:avLst/>
          </a:prstGeom>
          <a:solidFill>
            <a:srgbClr val="FFFFFF"/>
          </a:solidFill>
          <a:ln/>
        </p:spPr>
      </p:sp>
      <p:sp>
        <p:nvSpPr>
          <p:cNvPr id="34" name="Shape 32"/>
          <p:cNvSpPr/>
          <p:nvPr/>
        </p:nvSpPr>
        <p:spPr>
          <a:xfrm>
            <a:off x="5694449" y="4851675"/>
            <a:ext cx="133350" cy="137160"/>
          </a:xfrm>
          <a:prstGeom prst="ellipse">
            <a:avLst/>
          </a:prstGeom>
          <a:solidFill>
            <a:srgbClr val="FFFFFF"/>
          </a:solidFill>
          <a:ln/>
        </p:spPr>
      </p:sp>
      <p:sp>
        <p:nvSpPr>
          <p:cNvPr id="35" name="Shape 33"/>
          <p:cNvSpPr/>
          <p:nvPr/>
        </p:nvSpPr>
        <p:spPr>
          <a:xfrm>
            <a:off x="5894474" y="4851675"/>
            <a:ext cx="133350" cy="137160"/>
          </a:xfrm>
          <a:prstGeom prst="ellipse">
            <a:avLst/>
          </a:prstGeom>
          <a:solidFill>
            <a:srgbClr val="FFFFFF"/>
          </a:solidFill>
          <a:ln/>
        </p:spPr>
      </p:sp>
      <p:pic>
        <p:nvPicPr>
          <p:cNvPr id="36" name="Image 0" descr="https://kimi-img.moonshot.cn/pub/slides/slides_tmpl/image/25-09-04-15:09:06-d2sjm4m1bb2p4onbqck0.png"/>
          <p:cNvPicPr>
            <a:picLocks noChangeAspect="1"/>
          </p:cNvPicPr>
          <p:nvPr/>
        </p:nvPicPr>
        <p:blipFill>
          <a:blip r:embed="rId3"/>
          <a:stretch>
            <a:fillRect/>
          </a:stretch>
        </p:blipFill>
        <p:spPr>
          <a:xfrm>
            <a:off x="574675" y="4587240"/>
            <a:ext cx="152400" cy="1524000"/>
          </a:xfrm>
          <a:prstGeom prst="rect">
            <a:avLst/>
          </a:prstGeom>
        </p:spPr>
      </p:pic>
      <p:pic>
        <p:nvPicPr>
          <p:cNvPr id="37" name="Image 1" descr="https://kimi-img.moonshot.cn/pub/slides/slides_tmpl/image/25-09-04-15:09:06-d2sjm4m1bb2p4onbqck0.png"/>
          <p:cNvPicPr>
            <a:picLocks noChangeAspect="1"/>
          </p:cNvPicPr>
          <p:nvPr/>
        </p:nvPicPr>
        <p:blipFill>
          <a:blip r:embed="rId3"/>
          <a:stretch>
            <a:fillRect/>
          </a:stretch>
        </p:blipFill>
        <p:spPr>
          <a:xfrm>
            <a:off x="11556365" y="799465"/>
            <a:ext cx="152400" cy="1524000"/>
          </a:xfrm>
          <a:prstGeom prst="rect">
            <a:avLst/>
          </a:prstGeom>
        </p:spPr>
      </p:pic>
      <p:sp>
        <p:nvSpPr>
          <p:cNvPr id="38" name="Text 34"/>
          <p:cNvSpPr/>
          <p:nvPr/>
        </p:nvSpPr>
        <p:spPr>
          <a:xfrm>
            <a:off x="2566877" y="2246624"/>
            <a:ext cx="1041400" cy="828040"/>
          </a:xfrm>
          <a:prstGeom prst="rect">
            <a:avLst/>
          </a:prstGeom>
          <a:noFill/>
          <a:ln/>
        </p:spPr>
        <p:txBody>
          <a:bodyPr wrap="square" lIns="91440" tIns="45720" rIns="91440" bIns="45720" rtlCol="0" anchor="ctr">
            <a:spAutoFit/>
          </a:bodyPr>
          <a:lstStyle/>
          <a:p>
            <a:pPr algn="just">
              <a:lnSpc>
                <a:spcPct val="100000"/>
              </a:lnSpc>
            </a:pPr>
            <a:r>
              <a:rPr lang="en-US" sz="4800" dirty="0">
                <a:solidFill>
                  <a:srgbClr val="6D7AAF"/>
                </a:solidFill>
                <a:latin typeface="MiSans" pitchFamily="34" charset="0"/>
                <a:ea typeface="MiSans" pitchFamily="34" charset="-122"/>
                <a:cs typeface="MiSans" pitchFamily="34" charset="-120"/>
              </a:rPr>
              <a:t>01.</a:t>
            </a:r>
            <a:endParaRPr lang="en-US" sz="1600" dirty="0"/>
          </a:p>
        </p:txBody>
      </p:sp>
      <p:sp>
        <p:nvSpPr>
          <p:cNvPr id="39" name="Text 35"/>
          <p:cNvSpPr/>
          <p:nvPr/>
        </p:nvSpPr>
        <p:spPr>
          <a:xfrm>
            <a:off x="1214560" y="3157954"/>
            <a:ext cx="2360126" cy="459740"/>
          </a:xfrm>
          <a:prstGeom prst="rect">
            <a:avLst/>
          </a:prstGeom>
          <a:noFill/>
          <a:ln/>
        </p:spPr>
        <p:txBody>
          <a:bodyPr wrap="square" lIns="91440" tIns="45720" rIns="91440" bIns="45720" rtlCol="0" anchor="ctr">
            <a:spAutoFit/>
          </a:bodyPr>
          <a:lstStyle/>
          <a:p>
            <a:pPr algn="just">
              <a:lnSpc>
                <a:spcPct val="100000"/>
              </a:lnSpc>
            </a:pPr>
            <a:r>
              <a:rPr lang="en-US" sz="2400" dirty="0">
                <a:solidFill>
                  <a:srgbClr val="6D7AAF"/>
                </a:solidFill>
                <a:latin typeface="MiSans" pitchFamily="34" charset="0"/>
                <a:ea typeface="MiSans" pitchFamily="34" charset="-122"/>
                <a:cs typeface="MiSans" pitchFamily="34" charset="-120"/>
              </a:rPr>
              <a:t>研究缘起与价值</a:t>
            </a:r>
            <a:endParaRPr lang="en-US" sz="1600" dirty="0"/>
          </a:p>
        </p:txBody>
      </p:sp>
      <p:sp>
        <p:nvSpPr>
          <p:cNvPr id="40" name="Text 36"/>
          <p:cNvSpPr/>
          <p:nvPr/>
        </p:nvSpPr>
        <p:spPr>
          <a:xfrm>
            <a:off x="6094500" y="2246623"/>
            <a:ext cx="1196228" cy="828040"/>
          </a:xfrm>
          <a:prstGeom prst="rect">
            <a:avLst/>
          </a:prstGeom>
          <a:noFill/>
          <a:ln/>
        </p:spPr>
        <p:txBody>
          <a:bodyPr wrap="square" lIns="91440" tIns="45720" rIns="91440" bIns="45720" rtlCol="0" anchor="ctr">
            <a:spAutoFit/>
          </a:bodyPr>
          <a:lstStyle/>
          <a:p>
            <a:pPr algn="just">
              <a:lnSpc>
                <a:spcPct val="100000"/>
              </a:lnSpc>
            </a:pPr>
            <a:r>
              <a:rPr lang="en-US" sz="4800" dirty="0">
                <a:solidFill>
                  <a:srgbClr val="6D7AAF"/>
                </a:solidFill>
                <a:latin typeface="MiSans" pitchFamily="34" charset="0"/>
                <a:ea typeface="MiSans" pitchFamily="34" charset="-122"/>
                <a:cs typeface="MiSans" pitchFamily="34" charset="-120"/>
              </a:rPr>
              <a:t>02.</a:t>
            </a:r>
            <a:endParaRPr lang="en-US" sz="1600" dirty="0"/>
          </a:p>
        </p:txBody>
      </p:sp>
      <p:sp>
        <p:nvSpPr>
          <p:cNvPr id="41" name="Text 37"/>
          <p:cNvSpPr/>
          <p:nvPr/>
        </p:nvSpPr>
        <p:spPr>
          <a:xfrm>
            <a:off x="4896150" y="3157953"/>
            <a:ext cx="2360126" cy="459740"/>
          </a:xfrm>
          <a:prstGeom prst="rect">
            <a:avLst/>
          </a:prstGeom>
          <a:noFill/>
          <a:ln/>
        </p:spPr>
        <p:txBody>
          <a:bodyPr wrap="square" lIns="91440" tIns="45720" rIns="91440" bIns="45720" rtlCol="0" anchor="ctr">
            <a:spAutoFit/>
          </a:bodyPr>
          <a:lstStyle/>
          <a:p>
            <a:pPr algn="just">
              <a:lnSpc>
                <a:spcPct val="100000"/>
              </a:lnSpc>
            </a:pPr>
            <a:r>
              <a:rPr lang="en-US" sz="2400" dirty="0">
                <a:solidFill>
                  <a:srgbClr val="6D7AAF"/>
                </a:solidFill>
                <a:latin typeface="MiSans" pitchFamily="34" charset="0"/>
                <a:ea typeface="MiSans" pitchFamily="34" charset="-122"/>
                <a:cs typeface="MiSans" pitchFamily="34" charset="-120"/>
              </a:rPr>
              <a:t>理论基石与假设</a:t>
            </a:r>
            <a:endParaRPr lang="en-US" sz="1600" dirty="0"/>
          </a:p>
        </p:txBody>
      </p:sp>
      <p:sp>
        <p:nvSpPr>
          <p:cNvPr id="42" name="Text 38"/>
          <p:cNvSpPr/>
          <p:nvPr/>
        </p:nvSpPr>
        <p:spPr>
          <a:xfrm>
            <a:off x="9759950" y="2246630"/>
            <a:ext cx="2244725" cy="828040"/>
          </a:xfrm>
          <a:prstGeom prst="rect">
            <a:avLst/>
          </a:prstGeom>
          <a:noFill/>
          <a:ln/>
        </p:spPr>
        <p:txBody>
          <a:bodyPr wrap="square" lIns="91440" tIns="45720" rIns="91440" bIns="45720" rtlCol="0" anchor="ctr">
            <a:spAutoFit/>
          </a:bodyPr>
          <a:lstStyle/>
          <a:p>
            <a:pPr algn="just">
              <a:lnSpc>
                <a:spcPct val="100000"/>
              </a:lnSpc>
            </a:pPr>
            <a:r>
              <a:rPr lang="en-US" sz="4800" dirty="0">
                <a:solidFill>
                  <a:srgbClr val="6D7AAF"/>
                </a:solidFill>
                <a:latin typeface="MiSans" pitchFamily="34" charset="0"/>
                <a:ea typeface="MiSans" pitchFamily="34" charset="-122"/>
                <a:cs typeface="MiSans" pitchFamily="34" charset="-120"/>
              </a:rPr>
              <a:t>03.</a:t>
            </a:r>
            <a:endParaRPr lang="en-US" sz="1600" dirty="0"/>
          </a:p>
        </p:txBody>
      </p:sp>
      <p:sp>
        <p:nvSpPr>
          <p:cNvPr id="43" name="Text 39"/>
          <p:cNvSpPr/>
          <p:nvPr/>
        </p:nvSpPr>
        <p:spPr>
          <a:xfrm>
            <a:off x="8579716" y="3157953"/>
            <a:ext cx="2360126" cy="459740"/>
          </a:xfrm>
          <a:prstGeom prst="rect">
            <a:avLst/>
          </a:prstGeom>
          <a:noFill/>
          <a:ln/>
        </p:spPr>
        <p:txBody>
          <a:bodyPr wrap="square" lIns="91440" tIns="45720" rIns="91440" bIns="45720" rtlCol="0" anchor="ctr">
            <a:spAutoFit/>
          </a:bodyPr>
          <a:lstStyle/>
          <a:p>
            <a:pPr algn="just">
              <a:lnSpc>
                <a:spcPct val="100000"/>
              </a:lnSpc>
            </a:pPr>
            <a:r>
              <a:rPr lang="en-US" sz="2400" dirty="0">
                <a:solidFill>
                  <a:srgbClr val="6D7AAF"/>
                </a:solidFill>
                <a:latin typeface="MiSans" pitchFamily="34" charset="0"/>
                <a:ea typeface="MiSans" pitchFamily="34" charset="-122"/>
                <a:cs typeface="MiSans" pitchFamily="34" charset="-120"/>
              </a:rPr>
              <a:t>方法设计与创新</a:t>
            </a:r>
            <a:endParaRPr lang="en-US" sz="1600" dirty="0"/>
          </a:p>
        </p:txBody>
      </p:sp>
      <p:sp>
        <p:nvSpPr>
          <p:cNvPr id="44" name="Text 40"/>
          <p:cNvSpPr/>
          <p:nvPr/>
        </p:nvSpPr>
        <p:spPr>
          <a:xfrm>
            <a:off x="2568575" y="4378325"/>
            <a:ext cx="1936750" cy="828040"/>
          </a:xfrm>
          <a:prstGeom prst="rect">
            <a:avLst/>
          </a:prstGeom>
          <a:noFill/>
          <a:ln/>
        </p:spPr>
        <p:txBody>
          <a:bodyPr wrap="square" lIns="91440" tIns="45720" rIns="91440" bIns="45720" rtlCol="0" anchor="ctr">
            <a:spAutoFit/>
          </a:bodyPr>
          <a:lstStyle/>
          <a:p>
            <a:pPr algn="just">
              <a:lnSpc>
                <a:spcPct val="100000"/>
              </a:lnSpc>
            </a:pPr>
            <a:r>
              <a:rPr lang="en-US" sz="4800" dirty="0">
                <a:solidFill>
                  <a:srgbClr val="6D7AAF"/>
                </a:solidFill>
                <a:latin typeface="MiSans" pitchFamily="34" charset="0"/>
                <a:ea typeface="MiSans" pitchFamily="34" charset="-122"/>
                <a:cs typeface="MiSans" pitchFamily="34" charset="-120"/>
              </a:rPr>
              <a:t>04.</a:t>
            </a:r>
            <a:endParaRPr lang="en-US" sz="1600" dirty="0"/>
          </a:p>
        </p:txBody>
      </p:sp>
      <p:sp>
        <p:nvSpPr>
          <p:cNvPr id="45" name="Text 41"/>
          <p:cNvSpPr/>
          <p:nvPr/>
        </p:nvSpPr>
        <p:spPr>
          <a:xfrm>
            <a:off x="1214560" y="5289441"/>
            <a:ext cx="2360126" cy="459740"/>
          </a:xfrm>
          <a:prstGeom prst="rect">
            <a:avLst/>
          </a:prstGeom>
          <a:noFill/>
          <a:ln/>
        </p:spPr>
        <p:txBody>
          <a:bodyPr wrap="square" lIns="91440" tIns="45720" rIns="91440" bIns="45720" rtlCol="0" anchor="ctr">
            <a:spAutoFit/>
          </a:bodyPr>
          <a:lstStyle/>
          <a:p>
            <a:pPr algn="just">
              <a:lnSpc>
                <a:spcPct val="100000"/>
              </a:lnSpc>
            </a:pPr>
            <a:r>
              <a:rPr lang="en-US" sz="2400" dirty="0">
                <a:solidFill>
                  <a:srgbClr val="6D7AAF"/>
                </a:solidFill>
                <a:latin typeface="MiSans" pitchFamily="34" charset="0"/>
                <a:ea typeface="MiSans" pitchFamily="34" charset="-122"/>
                <a:cs typeface="MiSans" pitchFamily="34" charset="-120"/>
              </a:rPr>
              <a:t>系统实现与实验</a:t>
            </a:r>
            <a:endParaRPr lang="en-US" sz="1600" dirty="0"/>
          </a:p>
        </p:txBody>
      </p:sp>
      <p:sp>
        <p:nvSpPr>
          <p:cNvPr id="46" name="Text 42"/>
          <p:cNvSpPr/>
          <p:nvPr/>
        </p:nvSpPr>
        <p:spPr>
          <a:xfrm>
            <a:off x="6127750" y="4378325"/>
            <a:ext cx="1752600" cy="828040"/>
          </a:xfrm>
          <a:prstGeom prst="rect">
            <a:avLst/>
          </a:prstGeom>
          <a:noFill/>
          <a:ln/>
        </p:spPr>
        <p:txBody>
          <a:bodyPr wrap="square" lIns="91440" tIns="45720" rIns="91440" bIns="45720" rtlCol="0" anchor="ctr">
            <a:spAutoFit/>
          </a:bodyPr>
          <a:lstStyle/>
          <a:p>
            <a:pPr algn="just">
              <a:lnSpc>
                <a:spcPct val="100000"/>
              </a:lnSpc>
            </a:pPr>
            <a:r>
              <a:rPr lang="en-US" sz="4800" dirty="0">
                <a:solidFill>
                  <a:srgbClr val="6D7AAF"/>
                </a:solidFill>
                <a:latin typeface="MiSans" pitchFamily="34" charset="0"/>
                <a:ea typeface="MiSans" pitchFamily="34" charset="-122"/>
                <a:cs typeface="MiSans" pitchFamily="34" charset="-120"/>
              </a:rPr>
              <a:t>05.</a:t>
            </a:r>
            <a:endParaRPr lang="en-US" sz="1600" dirty="0"/>
          </a:p>
        </p:txBody>
      </p:sp>
      <p:sp>
        <p:nvSpPr>
          <p:cNvPr id="47" name="Text 43"/>
          <p:cNvSpPr/>
          <p:nvPr/>
        </p:nvSpPr>
        <p:spPr>
          <a:xfrm>
            <a:off x="4930602" y="5289441"/>
            <a:ext cx="2360126" cy="459740"/>
          </a:xfrm>
          <a:prstGeom prst="rect">
            <a:avLst/>
          </a:prstGeom>
          <a:noFill/>
          <a:ln/>
        </p:spPr>
        <p:txBody>
          <a:bodyPr wrap="square" lIns="91440" tIns="45720" rIns="91440" bIns="45720" rtlCol="0" anchor="ctr">
            <a:spAutoFit/>
          </a:bodyPr>
          <a:lstStyle/>
          <a:p>
            <a:pPr algn="just">
              <a:lnSpc>
                <a:spcPct val="100000"/>
              </a:lnSpc>
            </a:pPr>
            <a:r>
              <a:rPr lang="en-US" sz="2400" dirty="0">
                <a:solidFill>
                  <a:srgbClr val="6D7AAF"/>
                </a:solidFill>
                <a:latin typeface="MiSans" pitchFamily="34" charset="0"/>
                <a:ea typeface="MiSans" pitchFamily="34" charset="-122"/>
                <a:cs typeface="MiSans" pitchFamily="34" charset="-120"/>
              </a:rPr>
              <a:t>应用验证与展望</a:t>
            </a:r>
            <a:endParaRPr lang="en-US" sz="1600" dirty="0"/>
          </a:p>
        </p:txBody>
      </p:sp>
      <p:sp>
        <p:nvSpPr>
          <p:cNvPr id="48" name="Text 44"/>
          <p:cNvSpPr/>
          <p:nvPr/>
        </p:nvSpPr>
        <p:spPr>
          <a:xfrm>
            <a:off x="9792970" y="4378325"/>
            <a:ext cx="2211705" cy="828040"/>
          </a:xfrm>
          <a:prstGeom prst="rect">
            <a:avLst/>
          </a:prstGeom>
          <a:noFill/>
          <a:ln/>
        </p:spPr>
        <p:txBody>
          <a:bodyPr wrap="square" lIns="91440" tIns="45720" rIns="91440" bIns="45720" rtlCol="0" anchor="ctr">
            <a:spAutoFit/>
          </a:bodyPr>
          <a:lstStyle/>
          <a:p>
            <a:pPr algn="just">
              <a:lnSpc>
                <a:spcPct val="100000"/>
              </a:lnSpc>
            </a:pPr>
            <a:r>
              <a:rPr lang="en-US" sz="4800" dirty="0">
                <a:solidFill>
                  <a:srgbClr val="6D7AAF"/>
                </a:solidFill>
                <a:latin typeface="MiSans" pitchFamily="34" charset="0"/>
                <a:ea typeface="MiSans" pitchFamily="34" charset="-122"/>
                <a:cs typeface="MiSans" pitchFamily="34" charset="-120"/>
              </a:rPr>
              <a:t>06.</a:t>
            </a:r>
            <a:endParaRPr lang="en-US" sz="1600" dirty="0"/>
          </a:p>
        </p:txBody>
      </p:sp>
      <p:sp>
        <p:nvSpPr>
          <p:cNvPr id="49" name="Text 45"/>
          <p:cNvSpPr/>
          <p:nvPr/>
        </p:nvSpPr>
        <p:spPr>
          <a:xfrm>
            <a:off x="8613053" y="5289441"/>
            <a:ext cx="2360126" cy="459740"/>
          </a:xfrm>
          <a:prstGeom prst="rect">
            <a:avLst/>
          </a:prstGeom>
          <a:noFill/>
          <a:ln/>
        </p:spPr>
        <p:txBody>
          <a:bodyPr wrap="square" lIns="91440" tIns="45720" rIns="91440" bIns="45720" rtlCol="0" anchor="ctr">
            <a:spAutoFit/>
          </a:bodyPr>
          <a:lstStyle/>
          <a:p>
            <a:pPr algn="just">
              <a:lnSpc>
                <a:spcPct val="100000"/>
              </a:lnSpc>
            </a:pPr>
            <a:r>
              <a:rPr lang="en-US" sz="2400" dirty="0">
                <a:solidFill>
                  <a:srgbClr val="6D7AAF"/>
                </a:solidFill>
                <a:latin typeface="MiSans" pitchFamily="34" charset="0"/>
                <a:ea typeface="MiSans" pitchFamily="34" charset="-122"/>
                <a:cs typeface="MiSans" pitchFamily="34" charset="-120"/>
              </a:rPr>
              <a:t>致谢</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gradFill flip="none" rotWithShape="0">
          <a:gsLst>
            <a:gs pos="0">
              <a:srgbClr val="FFF2C6"/>
            </a:gs>
            <a:gs pos="47000">
              <a:srgbClr val="D8E1FD"/>
            </a:gs>
            <a:gs pos="78000">
              <a:srgbClr val="C7D5FC"/>
            </a:gs>
            <a:gs pos="100000">
              <a:srgbClr val="FDF8CB"/>
            </a:gs>
          </a:gsLst>
          <a:lin ang="24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09-04-15:09:12-d2sjm661bb2p4onbqcu0.png"/>
          <p:cNvPicPr>
            <a:picLocks noChangeAspect="1"/>
          </p:cNvPicPr>
          <p:nvPr/>
        </p:nvPicPr>
        <p:blipFill>
          <a:blip r:embed="rId3"/>
          <a:stretch>
            <a:fillRect/>
          </a:stretch>
        </p:blipFill>
        <p:spPr>
          <a:xfrm>
            <a:off x="4928399" y="517692"/>
            <a:ext cx="7251700" cy="6340308"/>
          </a:xfrm>
          <a:prstGeom prst="rect">
            <a:avLst/>
          </a:prstGeom>
        </p:spPr>
      </p:pic>
      <p:sp>
        <p:nvSpPr>
          <p:cNvPr id="3" name="Text 0"/>
          <p:cNvSpPr/>
          <p:nvPr/>
        </p:nvSpPr>
        <p:spPr>
          <a:xfrm>
            <a:off x="7048502" y="2308860"/>
            <a:ext cx="4599086" cy="3951446"/>
          </a:xfrm>
          <a:prstGeom prst="rect">
            <a:avLst/>
          </a:prstGeom>
          <a:noFill/>
          <a:ln/>
        </p:spPr>
        <p:txBody>
          <a:bodyPr wrap="square" lIns="91440" tIns="45720" rIns="91440" bIns="45720" rtlCol="0" anchor="ctr">
            <a:spAutoFit/>
          </a:bodyPr>
          <a:lstStyle/>
          <a:p>
            <a:pPr algn="just">
              <a:lnSpc>
                <a:spcPct val="100000"/>
              </a:lnSpc>
            </a:pPr>
            <a:r>
              <a:rPr lang="en-US" sz="25000" dirty="0">
                <a:solidFill>
                  <a:srgbClr val="7F9CDF"/>
                </a:solidFill>
                <a:latin typeface="MiSans" pitchFamily="34" charset="0"/>
                <a:ea typeface="MiSans" pitchFamily="34" charset="-122"/>
                <a:cs typeface="MiSans" pitchFamily="34" charset="-120"/>
              </a:rPr>
              <a:t>01</a:t>
            </a:r>
            <a:endParaRPr lang="en-US" sz="1600" dirty="0"/>
          </a:p>
        </p:txBody>
      </p:sp>
      <p:sp>
        <p:nvSpPr>
          <p:cNvPr id="4" name="Text 1"/>
          <p:cNvSpPr/>
          <p:nvPr/>
        </p:nvSpPr>
        <p:spPr>
          <a:xfrm>
            <a:off x="797724" y="1781560"/>
            <a:ext cx="4599086" cy="708581"/>
          </a:xfrm>
          <a:prstGeom prst="rect">
            <a:avLst/>
          </a:prstGeom>
          <a:noFill/>
          <a:ln/>
        </p:spPr>
        <p:txBody>
          <a:bodyPr wrap="square" lIns="91440" tIns="45720" rIns="91440" bIns="45720" rtlCol="0" anchor="ctr">
            <a:spAutoFit/>
          </a:bodyPr>
          <a:lstStyle/>
          <a:p>
            <a:pPr algn="just">
              <a:lnSpc>
                <a:spcPct val="100000"/>
              </a:lnSpc>
            </a:pPr>
            <a:r>
              <a:rPr lang="en-US" sz="4000" dirty="0">
                <a:solidFill>
                  <a:srgbClr val="6D7AAF"/>
                </a:solidFill>
                <a:latin typeface="MiSans" pitchFamily="34" charset="0"/>
                <a:ea typeface="MiSans" pitchFamily="34" charset="-122"/>
                <a:cs typeface="MiSans" pitchFamily="34" charset="-120"/>
              </a:rPr>
              <a:t>研究缘起与价值</a:t>
            </a:r>
            <a:endParaRPr lang="en-US" sz="1600" dirty="0"/>
          </a:p>
        </p:txBody>
      </p:sp>
      <p:sp>
        <p:nvSpPr>
          <p:cNvPr id="5" name="Shape 2"/>
          <p:cNvSpPr/>
          <p:nvPr/>
        </p:nvSpPr>
        <p:spPr>
          <a:xfrm>
            <a:off x="731049" y="856006"/>
            <a:ext cx="133350" cy="137160"/>
          </a:xfrm>
          <a:prstGeom prst="ellipse">
            <a:avLst/>
          </a:prstGeom>
          <a:solidFill>
            <a:srgbClr val="FFFFFF"/>
          </a:solidFill>
          <a:ln/>
        </p:spPr>
      </p:sp>
      <p:sp>
        <p:nvSpPr>
          <p:cNvPr id="6" name="Shape 3"/>
          <p:cNvSpPr/>
          <p:nvPr/>
        </p:nvSpPr>
        <p:spPr>
          <a:xfrm>
            <a:off x="931074" y="856006"/>
            <a:ext cx="133350" cy="137160"/>
          </a:xfrm>
          <a:prstGeom prst="ellipse">
            <a:avLst/>
          </a:prstGeom>
          <a:solidFill>
            <a:srgbClr val="FFFFFF"/>
          </a:solidFill>
          <a:ln/>
        </p:spPr>
      </p:sp>
      <p:sp>
        <p:nvSpPr>
          <p:cNvPr id="7" name="Shape 4"/>
          <p:cNvSpPr/>
          <p:nvPr/>
        </p:nvSpPr>
        <p:spPr>
          <a:xfrm>
            <a:off x="1131099" y="856006"/>
            <a:ext cx="133350" cy="137160"/>
          </a:xfrm>
          <a:prstGeom prst="ellipse">
            <a:avLst/>
          </a:prstGeom>
          <a:solidFill>
            <a:srgbClr val="FFFFFF"/>
          </a:solidFill>
          <a:ln/>
        </p:spPr>
      </p:sp>
      <p:sp>
        <p:nvSpPr>
          <p:cNvPr id="8" name="Shape 5"/>
          <p:cNvSpPr/>
          <p:nvPr/>
        </p:nvSpPr>
        <p:spPr>
          <a:xfrm>
            <a:off x="1331124" y="856006"/>
            <a:ext cx="133350" cy="137160"/>
          </a:xfrm>
          <a:prstGeom prst="ellipse">
            <a:avLst/>
          </a:prstGeom>
          <a:solidFill>
            <a:srgbClr val="FFFFFF"/>
          </a:solidFill>
          <a:ln/>
        </p:spPr>
      </p:sp>
      <p:sp>
        <p:nvSpPr>
          <p:cNvPr id="9" name="Shape 6"/>
          <p:cNvSpPr/>
          <p:nvPr/>
        </p:nvSpPr>
        <p:spPr>
          <a:xfrm>
            <a:off x="527687" y="1596530"/>
            <a:ext cx="133350" cy="137160"/>
          </a:xfrm>
          <a:prstGeom prst="ellipse">
            <a:avLst/>
          </a:prstGeom>
          <a:solidFill>
            <a:srgbClr val="FFFFFF"/>
          </a:solidFill>
          <a:ln/>
        </p:spPr>
      </p:sp>
      <p:sp>
        <p:nvSpPr>
          <p:cNvPr id="10" name="Shape 7"/>
          <p:cNvSpPr/>
          <p:nvPr/>
        </p:nvSpPr>
        <p:spPr>
          <a:xfrm>
            <a:off x="527687" y="1396504"/>
            <a:ext cx="133350" cy="137160"/>
          </a:xfrm>
          <a:prstGeom prst="ellipse">
            <a:avLst/>
          </a:prstGeom>
          <a:solidFill>
            <a:srgbClr val="FFFFFF"/>
          </a:solidFill>
          <a:ln/>
        </p:spPr>
      </p:sp>
      <p:sp>
        <p:nvSpPr>
          <p:cNvPr id="11" name="Shape 8"/>
          <p:cNvSpPr/>
          <p:nvPr/>
        </p:nvSpPr>
        <p:spPr>
          <a:xfrm>
            <a:off x="527687" y="1196479"/>
            <a:ext cx="133350" cy="137160"/>
          </a:xfrm>
          <a:prstGeom prst="ellipse">
            <a:avLst/>
          </a:prstGeom>
          <a:solidFill>
            <a:srgbClr val="FFFFFF"/>
          </a:solidFill>
          <a:ln/>
        </p:spPr>
      </p:sp>
      <p:sp>
        <p:nvSpPr>
          <p:cNvPr id="12" name="Shape 9"/>
          <p:cNvSpPr/>
          <p:nvPr/>
        </p:nvSpPr>
        <p:spPr>
          <a:xfrm>
            <a:off x="527687" y="996455"/>
            <a:ext cx="133350" cy="137160"/>
          </a:xfrm>
          <a:prstGeom prst="ellipse">
            <a:avLst/>
          </a:prstGeom>
          <a:solidFill>
            <a:srgbClr val="FFFFFF"/>
          </a:solidFill>
          <a:ln/>
        </p:spPr>
      </p:sp>
      <p:pic>
        <p:nvPicPr>
          <p:cNvPr id="13" name="Image 1" descr="https://kimi-img.moonshot.cn/pub/slides/slides_tmpl/image/25-09-04-15:09:08-d2sjm561bb2p4onbqcmg.png"/>
          <p:cNvPicPr>
            <a:picLocks noChangeAspect="1"/>
          </p:cNvPicPr>
          <p:nvPr/>
        </p:nvPicPr>
        <p:blipFill>
          <a:blip r:embed="rId4">
            <a:alphaModFix amt="59000"/>
          </a:blip>
          <a:stretch>
            <a:fillRect/>
          </a:stretch>
        </p:blipFill>
        <p:spPr>
          <a:xfrm>
            <a:off x="5143500" y="698500"/>
            <a:ext cx="7048500" cy="6197600"/>
          </a:xfrm>
          <a:prstGeom prst="rect">
            <a:avLst/>
          </a:prstGeom>
        </p:spPr>
      </p:pic>
      <p:pic>
        <p:nvPicPr>
          <p:cNvPr id="14" name="Image 2" descr="https://kimi-img.moonshot.cn/pub/slides/slides_tmpl/image/25-09-04-15:09:07-d2sjm4u1bb2p4onbqcm0.png"/>
          <p:cNvPicPr>
            <a:picLocks noChangeAspect="1"/>
          </p:cNvPicPr>
          <p:nvPr/>
        </p:nvPicPr>
        <p:blipFill>
          <a:blip r:embed="rId5"/>
          <a:stretch>
            <a:fillRect/>
          </a:stretch>
        </p:blipFill>
        <p:spPr>
          <a:xfrm>
            <a:off x="0" y="3797300"/>
            <a:ext cx="5143500" cy="3060700"/>
          </a:xfrm>
          <a:prstGeom prst="rect">
            <a:avLst/>
          </a:prstGeom>
        </p:spPr>
      </p:pic>
      <p:pic>
        <p:nvPicPr>
          <p:cNvPr id="15" name="Image 3" descr="https://kimi-img.moonshot.cn/pub/slides/slides_tmpl/image/25-09-04-15:09:06-d2sjm4m1bb2p4onbqck0.png"/>
          <p:cNvPicPr>
            <a:picLocks noChangeAspect="1"/>
          </p:cNvPicPr>
          <p:nvPr/>
        </p:nvPicPr>
        <p:blipFill>
          <a:blip r:embed="rId6"/>
          <a:stretch>
            <a:fillRect/>
          </a:stretch>
        </p:blipFill>
        <p:spPr>
          <a:xfrm>
            <a:off x="512445" y="4587240"/>
            <a:ext cx="152400" cy="1524000"/>
          </a:xfrm>
          <a:prstGeom prst="rect">
            <a:avLst/>
          </a:prstGeom>
        </p:spPr>
      </p:pic>
      <p:pic>
        <p:nvPicPr>
          <p:cNvPr id="16" name="Image 4" descr="https://kimi-img.moonshot.cn/pub/slides/slides_tmpl/image/25-09-04-15:09:06-d2sjm4m1bb2p4onbqckg.png"/>
          <p:cNvPicPr>
            <a:picLocks noChangeAspect="1"/>
          </p:cNvPicPr>
          <p:nvPr/>
        </p:nvPicPr>
        <p:blipFill>
          <a:blip r:embed="rId7"/>
          <a:stretch>
            <a:fillRect/>
          </a:stretch>
        </p:blipFill>
        <p:spPr>
          <a:xfrm>
            <a:off x="1311275" y="3907257"/>
            <a:ext cx="1320800" cy="1371600"/>
          </a:xfrm>
          <a:prstGeom prst="rect">
            <a:avLst/>
          </a:prstGeom>
        </p:spPr>
      </p:pic>
      <p:pic>
        <p:nvPicPr>
          <p:cNvPr id="17" name="Image 5" descr="https://kimi-img.moonshot.cn/pub/slides/slides_tmpl/image/25-09-04-15:09:06-d2sjm4m1bb2p4onbqcl0.png"/>
          <p:cNvPicPr>
            <a:picLocks noChangeAspect="1"/>
          </p:cNvPicPr>
          <p:nvPr/>
        </p:nvPicPr>
        <p:blipFill>
          <a:blip r:embed="rId8"/>
          <a:stretch>
            <a:fillRect/>
          </a:stretch>
        </p:blipFill>
        <p:spPr>
          <a:xfrm>
            <a:off x="10570172" y="1111250"/>
            <a:ext cx="983056" cy="907962"/>
          </a:xfrm>
          <a:prstGeom prst="rect">
            <a:avLst/>
          </a:prstGeom>
        </p:spPr>
      </p:pic>
      <p:sp>
        <p:nvSpPr>
          <p:cNvPr id="18" name="Shape 10"/>
          <p:cNvSpPr/>
          <p:nvPr/>
        </p:nvSpPr>
        <p:spPr>
          <a:xfrm>
            <a:off x="1101725" y="3958057"/>
            <a:ext cx="539750" cy="508001"/>
          </a:xfrm>
          <a:prstGeom prst="ellipse">
            <a:avLst/>
          </a:prstGeom>
          <a:solidFill>
            <a:srgbClr val="B2C4FF"/>
          </a:solidFill>
          <a:ln/>
        </p:spPr>
      </p:sp>
      <p:pic>
        <p:nvPicPr>
          <p:cNvPr id="19" name="Image 6" descr="https://kimi-img.moonshot.cn/pub/slides/slides_tmpl/image/25-09-04-15:09:06-d2sjm4m1bb2p4onbqckg.png"/>
          <p:cNvPicPr>
            <a:picLocks noChangeAspect="1"/>
          </p:cNvPicPr>
          <p:nvPr/>
        </p:nvPicPr>
        <p:blipFill>
          <a:blip r:embed="rId7"/>
          <a:stretch>
            <a:fillRect/>
          </a:stretch>
        </p:blipFill>
        <p:spPr>
          <a:xfrm>
            <a:off x="11187651" y="1515914"/>
            <a:ext cx="731154" cy="676035"/>
          </a:xfrm>
          <a:prstGeom prst="rect">
            <a:avLst/>
          </a:prstGeom>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gradFill flip="none" rotWithShape="0">
          <a:gsLst>
            <a:gs pos="0">
              <a:srgbClr val="D8E1FD"/>
            </a:gs>
            <a:gs pos="0">
              <a:srgbClr val="C7D5FC"/>
            </a:gs>
            <a:gs pos="5000">
              <a:srgbClr val="FFF2C6"/>
            </a:gs>
            <a:gs pos="92000">
              <a:srgbClr val="C7D5FC"/>
            </a:gs>
            <a:gs pos="100000">
              <a:srgbClr val="C7D5FC"/>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Shape 0"/>
          <p:cNvSpPr/>
          <p:nvPr/>
        </p:nvSpPr>
        <p:spPr>
          <a:xfrm>
            <a:off x="450066" y="4403258"/>
            <a:ext cx="228803" cy="212992"/>
          </a:xfrm>
          <a:prstGeom prst="ellipse">
            <a:avLst/>
          </a:prstGeom>
          <a:solidFill>
            <a:srgbClr val="000000">
              <a:alpha val="0"/>
            </a:srgbClr>
          </a:solidFill>
          <a:ln w="41275">
            <a:solidFill>
              <a:srgbClr val="FFFFFF"/>
            </a:solidFill>
            <a:prstDash val="solid"/>
          </a:ln>
        </p:spPr>
      </p:sp>
      <p:sp>
        <p:nvSpPr>
          <p:cNvPr id="3" name="Shape 1"/>
          <p:cNvSpPr/>
          <p:nvPr/>
        </p:nvSpPr>
        <p:spPr>
          <a:xfrm>
            <a:off x="526465" y="4443796"/>
            <a:ext cx="137562" cy="131914"/>
          </a:xfrm>
          <a:prstGeom prst="ellipse">
            <a:avLst/>
          </a:prstGeom>
          <a:solidFill>
            <a:srgbClr val="C1CEF6"/>
          </a:solidFill>
          <a:ln/>
        </p:spPr>
      </p:sp>
      <p:sp>
        <p:nvSpPr>
          <p:cNvPr id="4" name="Shape 2"/>
          <p:cNvSpPr/>
          <p:nvPr/>
        </p:nvSpPr>
        <p:spPr>
          <a:xfrm>
            <a:off x="616682" y="429475"/>
            <a:ext cx="133350" cy="137160"/>
          </a:xfrm>
          <a:prstGeom prst="ellipse">
            <a:avLst/>
          </a:prstGeom>
          <a:solidFill>
            <a:srgbClr val="FFFFFF"/>
          </a:solidFill>
          <a:ln/>
        </p:spPr>
      </p:sp>
      <p:sp>
        <p:nvSpPr>
          <p:cNvPr id="5" name="Shape 3"/>
          <p:cNvSpPr/>
          <p:nvPr/>
        </p:nvSpPr>
        <p:spPr>
          <a:xfrm>
            <a:off x="816707" y="429475"/>
            <a:ext cx="133350" cy="137160"/>
          </a:xfrm>
          <a:prstGeom prst="ellipse">
            <a:avLst/>
          </a:prstGeom>
          <a:solidFill>
            <a:srgbClr val="FFFFFF"/>
          </a:solidFill>
          <a:ln/>
        </p:spPr>
      </p:sp>
      <p:sp>
        <p:nvSpPr>
          <p:cNvPr id="6" name="Shape 4"/>
          <p:cNvSpPr/>
          <p:nvPr/>
        </p:nvSpPr>
        <p:spPr>
          <a:xfrm>
            <a:off x="1016732" y="429475"/>
            <a:ext cx="133350" cy="137160"/>
          </a:xfrm>
          <a:prstGeom prst="ellipse">
            <a:avLst/>
          </a:prstGeom>
          <a:solidFill>
            <a:srgbClr val="FFFFFF"/>
          </a:solidFill>
          <a:ln/>
        </p:spPr>
      </p:sp>
      <p:sp>
        <p:nvSpPr>
          <p:cNvPr id="7" name="Shape 5"/>
          <p:cNvSpPr/>
          <p:nvPr/>
        </p:nvSpPr>
        <p:spPr>
          <a:xfrm>
            <a:off x="1216757" y="429475"/>
            <a:ext cx="133350" cy="137160"/>
          </a:xfrm>
          <a:prstGeom prst="ellipse">
            <a:avLst/>
          </a:prstGeom>
          <a:solidFill>
            <a:srgbClr val="FFFFFF"/>
          </a:solidFill>
          <a:ln/>
        </p:spPr>
      </p:sp>
      <p:sp>
        <p:nvSpPr>
          <p:cNvPr id="8" name="Shape 6"/>
          <p:cNvSpPr/>
          <p:nvPr/>
        </p:nvSpPr>
        <p:spPr>
          <a:xfrm>
            <a:off x="413320" y="1169998"/>
            <a:ext cx="133350" cy="137160"/>
          </a:xfrm>
          <a:prstGeom prst="ellipse">
            <a:avLst/>
          </a:prstGeom>
          <a:solidFill>
            <a:srgbClr val="FFFFFF"/>
          </a:solidFill>
          <a:ln/>
        </p:spPr>
      </p:sp>
      <p:sp>
        <p:nvSpPr>
          <p:cNvPr id="9" name="Shape 7"/>
          <p:cNvSpPr/>
          <p:nvPr/>
        </p:nvSpPr>
        <p:spPr>
          <a:xfrm>
            <a:off x="413320" y="969973"/>
            <a:ext cx="133350" cy="137160"/>
          </a:xfrm>
          <a:prstGeom prst="ellipse">
            <a:avLst/>
          </a:prstGeom>
          <a:solidFill>
            <a:srgbClr val="FFFFFF"/>
          </a:solidFill>
          <a:ln/>
        </p:spPr>
      </p:sp>
      <p:sp>
        <p:nvSpPr>
          <p:cNvPr id="10" name="Shape 8"/>
          <p:cNvSpPr/>
          <p:nvPr/>
        </p:nvSpPr>
        <p:spPr>
          <a:xfrm>
            <a:off x="413320" y="769948"/>
            <a:ext cx="133350" cy="137160"/>
          </a:xfrm>
          <a:prstGeom prst="ellipse">
            <a:avLst/>
          </a:prstGeom>
          <a:solidFill>
            <a:srgbClr val="FFFFFF"/>
          </a:solidFill>
          <a:ln/>
        </p:spPr>
      </p:sp>
      <p:sp>
        <p:nvSpPr>
          <p:cNvPr id="11" name="Shape 9"/>
          <p:cNvSpPr/>
          <p:nvPr/>
        </p:nvSpPr>
        <p:spPr>
          <a:xfrm>
            <a:off x="413320" y="569924"/>
            <a:ext cx="133350" cy="137160"/>
          </a:xfrm>
          <a:prstGeom prst="ellipse">
            <a:avLst/>
          </a:prstGeom>
          <a:solidFill>
            <a:srgbClr val="FFFFFF"/>
          </a:solidFill>
          <a:ln/>
        </p:spPr>
      </p:sp>
      <p:sp>
        <p:nvSpPr>
          <p:cNvPr id="12" name="Text 10"/>
          <p:cNvSpPr/>
          <p:nvPr/>
        </p:nvSpPr>
        <p:spPr>
          <a:xfrm>
            <a:off x="700405" y="636270"/>
            <a:ext cx="4902835" cy="1913255"/>
          </a:xfrm>
          <a:prstGeom prst="rect">
            <a:avLst/>
          </a:prstGeom>
          <a:noFill/>
          <a:ln/>
        </p:spPr>
        <p:txBody>
          <a:bodyPr wrap="square" lIns="91440" tIns="45720" rIns="91440" bIns="45720" rtlCol="0" anchor="t"/>
          <a:lstStyle/>
          <a:p>
            <a:pPr algn="just">
              <a:lnSpc>
                <a:spcPct val="100000"/>
              </a:lnSpc>
            </a:pPr>
            <a:r>
              <a:rPr lang="en-US" sz="3200" dirty="0">
                <a:solidFill>
                  <a:srgbClr val="606C9A"/>
                </a:solidFill>
                <a:latin typeface="MiSans" pitchFamily="34" charset="0"/>
                <a:ea typeface="MiSans" pitchFamily="34" charset="-122"/>
                <a:cs typeface="MiSans" pitchFamily="34" charset="-120"/>
              </a:rPr>
              <a:t>文本分类面临标注瓶颈困境</a:t>
            </a:r>
            <a:endParaRPr lang="en-US" sz="1600" dirty="0"/>
          </a:p>
        </p:txBody>
      </p:sp>
      <p:sp>
        <p:nvSpPr>
          <p:cNvPr id="13" name="Shape 11"/>
          <p:cNvSpPr/>
          <p:nvPr/>
        </p:nvSpPr>
        <p:spPr>
          <a:xfrm>
            <a:off x="1821458" y="4113863"/>
            <a:ext cx="133350" cy="137160"/>
          </a:xfrm>
          <a:prstGeom prst="ellipse">
            <a:avLst/>
          </a:prstGeom>
          <a:solidFill>
            <a:srgbClr val="FFFFFF"/>
          </a:solidFill>
          <a:ln/>
        </p:spPr>
      </p:sp>
      <p:sp>
        <p:nvSpPr>
          <p:cNvPr id="14" name="Shape 12"/>
          <p:cNvSpPr/>
          <p:nvPr/>
        </p:nvSpPr>
        <p:spPr>
          <a:xfrm>
            <a:off x="2021483" y="4113863"/>
            <a:ext cx="133350" cy="137160"/>
          </a:xfrm>
          <a:prstGeom prst="ellipse">
            <a:avLst/>
          </a:prstGeom>
          <a:solidFill>
            <a:srgbClr val="FFFFFF"/>
          </a:solidFill>
          <a:ln/>
        </p:spPr>
      </p:sp>
      <p:sp>
        <p:nvSpPr>
          <p:cNvPr id="15" name="Shape 13"/>
          <p:cNvSpPr/>
          <p:nvPr/>
        </p:nvSpPr>
        <p:spPr>
          <a:xfrm>
            <a:off x="2221508" y="4113863"/>
            <a:ext cx="133350" cy="137160"/>
          </a:xfrm>
          <a:prstGeom prst="ellipse">
            <a:avLst/>
          </a:prstGeom>
          <a:solidFill>
            <a:srgbClr val="FFFFFF"/>
          </a:solidFill>
          <a:ln/>
        </p:spPr>
      </p:sp>
      <p:sp>
        <p:nvSpPr>
          <p:cNvPr id="16" name="Shape 14"/>
          <p:cNvSpPr/>
          <p:nvPr/>
        </p:nvSpPr>
        <p:spPr>
          <a:xfrm>
            <a:off x="2421533" y="4113863"/>
            <a:ext cx="133350" cy="137160"/>
          </a:xfrm>
          <a:prstGeom prst="ellipse">
            <a:avLst/>
          </a:prstGeom>
          <a:solidFill>
            <a:srgbClr val="FFFFFF"/>
          </a:solidFill>
          <a:ln/>
        </p:spPr>
      </p:sp>
      <p:sp>
        <p:nvSpPr>
          <p:cNvPr id="17" name="Shape 15"/>
          <p:cNvSpPr/>
          <p:nvPr/>
        </p:nvSpPr>
        <p:spPr>
          <a:xfrm>
            <a:off x="969006" y="4113863"/>
            <a:ext cx="133350" cy="137160"/>
          </a:xfrm>
          <a:prstGeom prst="ellipse">
            <a:avLst/>
          </a:prstGeom>
          <a:solidFill>
            <a:srgbClr val="FFFFFF"/>
          </a:solidFill>
          <a:ln/>
        </p:spPr>
      </p:sp>
      <p:sp>
        <p:nvSpPr>
          <p:cNvPr id="18" name="Shape 16"/>
          <p:cNvSpPr/>
          <p:nvPr/>
        </p:nvSpPr>
        <p:spPr>
          <a:xfrm>
            <a:off x="1169031" y="4113863"/>
            <a:ext cx="133350" cy="137160"/>
          </a:xfrm>
          <a:prstGeom prst="ellipse">
            <a:avLst/>
          </a:prstGeom>
          <a:solidFill>
            <a:srgbClr val="FFFFFF"/>
          </a:solidFill>
          <a:ln/>
        </p:spPr>
      </p:sp>
      <p:sp>
        <p:nvSpPr>
          <p:cNvPr id="19" name="Shape 17"/>
          <p:cNvSpPr/>
          <p:nvPr/>
        </p:nvSpPr>
        <p:spPr>
          <a:xfrm>
            <a:off x="1369056" y="4113863"/>
            <a:ext cx="133350" cy="137160"/>
          </a:xfrm>
          <a:prstGeom prst="ellipse">
            <a:avLst/>
          </a:prstGeom>
          <a:solidFill>
            <a:srgbClr val="FFFFFF"/>
          </a:solidFill>
          <a:ln/>
        </p:spPr>
      </p:sp>
      <p:sp>
        <p:nvSpPr>
          <p:cNvPr id="20" name="Shape 18"/>
          <p:cNvSpPr/>
          <p:nvPr/>
        </p:nvSpPr>
        <p:spPr>
          <a:xfrm>
            <a:off x="1569081" y="4113863"/>
            <a:ext cx="133350" cy="137160"/>
          </a:xfrm>
          <a:prstGeom prst="ellipse">
            <a:avLst/>
          </a:prstGeom>
          <a:solidFill>
            <a:srgbClr val="FFFFFF"/>
          </a:solidFill>
          <a:ln/>
        </p:spPr>
      </p:sp>
      <p:sp>
        <p:nvSpPr>
          <p:cNvPr id="21" name="Shape 19"/>
          <p:cNvSpPr/>
          <p:nvPr/>
        </p:nvSpPr>
        <p:spPr>
          <a:xfrm>
            <a:off x="3537490" y="4113863"/>
            <a:ext cx="133350" cy="137160"/>
          </a:xfrm>
          <a:prstGeom prst="ellipse">
            <a:avLst/>
          </a:prstGeom>
          <a:solidFill>
            <a:srgbClr val="FFFFFF"/>
          </a:solidFill>
          <a:ln/>
        </p:spPr>
      </p:sp>
      <p:sp>
        <p:nvSpPr>
          <p:cNvPr id="22" name="Shape 20"/>
          <p:cNvSpPr/>
          <p:nvPr/>
        </p:nvSpPr>
        <p:spPr>
          <a:xfrm>
            <a:off x="3737515" y="4113863"/>
            <a:ext cx="133350" cy="137160"/>
          </a:xfrm>
          <a:prstGeom prst="ellipse">
            <a:avLst/>
          </a:prstGeom>
          <a:solidFill>
            <a:srgbClr val="FFFFFF"/>
          </a:solidFill>
          <a:ln/>
        </p:spPr>
      </p:sp>
      <p:sp>
        <p:nvSpPr>
          <p:cNvPr id="23" name="Shape 21"/>
          <p:cNvSpPr/>
          <p:nvPr/>
        </p:nvSpPr>
        <p:spPr>
          <a:xfrm>
            <a:off x="3937540" y="4113863"/>
            <a:ext cx="133350" cy="137160"/>
          </a:xfrm>
          <a:prstGeom prst="ellipse">
            <a:avLst/>
          </a:prstGeom>
          <a:solidFill>
            <a:srgbClr val="FFFFFF"/>
          </a:solidFill>
          <a:ln/>
        </p:spPr>
      </p:sp>
      <p:sp>
        <p:nvSpPr>
          <p:cNvPr id="24" name="Shape 22"/>
          <p:cNvSpPr/>
          <p:nvPr/>
        </p:nvSpPr>
        <p:spPr>
          <a:xfrm>
            <a:off x="4137565" y="4113863"/>
            <a:ext cx="133350" cy="137160"/>
          </a:xfrm>
          <a:prstGeom prst="ellipse">
            <a:avLst/>
          </a:prstGeom>
          <a:solidFill>
            <a:srgbClr val="FFFFFF"/>
          </a:solidFill>
          <a:ln/>
        </p:spPr>
      </p:sp>
      <p:sp>
        <p:nvSpPr>
          <p:cNvPr id="25" name="Shape 23"/>
          <p:cNvSpPr/>
          <p:nvPr/>
        </p:nvSpPr>
        <p:spPr>
          <a:xfrm>
            <a:off x="2685038" y="4113863"/>
            <a:ext cx="133350" cy="137160"/>
          </a:xfrm>
          <a:prstGeom prst="ellipse">
            <a:avLst/>
          </a:prstGeom>
          <a:solidFill>
            <a:srgbClr val="FFFFFF"/>
          </a:solidFill>
          <a:ln/>
        </p:spPr>
      </p:sp>
      <p:sp>
        <p:nvSpPr>
          <p:cNvPr id="26" name="Shape 24"/>
          <p:cNvSpPr/>
          <p:nvPr/>
        </p:nvSpPr>
        <p:spPr>
          <a:xfrm>
            <a:off x="2885063" y="4113863"/>
            <a:ext cx="133350" cy="137160"/>
          </a:xfrm>
          <a:prstGeom prst="ellipse">
            <a:avLst/>
          </a:prstGeom>
          <a:solidFill>
            <a:srgbClr val="FFFFFF"/>
          </a:solidFill>
          <a:ln/>
        </p:spPr>
      </p:sp>
      <p:sp>
        <p:nvSpPr>
          <p:cNvPr id="27" name="Shape 25"/>
          <p:cNvSpPr/>
          <p:nvPr/>
        </p:nvSpPr>
        <p:spPr>
          <a:xfrm>
            <a:off x="3085088" y="4113863"/>
            <a:ext cx="133350" cy="137160"/>
          </a:xfrm>
          <a:prstGeom prst="ellipse">
            <a:avLst/>
          </a:prstGeom>
          <a:solidFill>
            <a:srgbClr val="FFFFFF"/>
          </a:solidFill>
          <a:ln/>
        </p:spPr>
      </p:sp>
      <p:sp>
        <p:nvSpPr>
          <p:cNvPr id="28" name="Shape 26"/>
          <p:cNvSpPr/>
          <p:nvPr/>
        </p:nvSpPr>
        <p:spPr>
          <a:xfrm>
            <a:off x="3285113" y="4113863"/>
            <a:ext cx="133350" cy="137160"/>
          </a:xfrm>
          <a:prstGeom prst="ellipse">
            <a:avLst/>
          </a:prstGeom>
          <a:solidFill>
            <a:srgbClr val="FFFFFF"/>
          </a:solidFill>
          <a:ln/>
        </p:spPr>
      </p:sp>
      <p:sp>
        <p:nvSpPr>
          <p:cNvPr id="29" name="Shape 27"/>
          <p:cNvSpPr/>
          <p:nvPr/>
        </p:nvSpPr>
        <p:spPr>
          <a:xfrm>
            <a:off x="5246952" y="4113863"/>
            <a:ext cx="133350" cy="137160"/>
          </a:xfrm>
          <a:prstGeom prst="ellipse">
            <a:avLst/>
          </a:prstGeom>
          <a:solidFill>
            <a:srgbClr val="FFFFFF"/>
          </a:solidFill>
          <a:ln/>
        </p:spPr>
      </p:sp>
      <p:sp>
        <p:nvSpPr>
          <p:cNvPr id="30" name="Shape 28"/>
          <p:cNvSpPr/>
          <p:nvPr/>
        </p:nvSpPr>
        <p:spPr>
          <a:xfrm>
            <a:off x="5446977" y="4113863"/>
            <a:ext cx="133350" cy="137160"/>
          </a:xfrm>
          <a:prstGeom prst="ellipse">
            <a:avLst/>
          </a:prstGeom>
          <a:solidFill>
            <a:srgbClr val="FFFFFF"/>
          </a:solidFill>
          <a:ln/>
        </p:spPr>
      </p:sp>
      <p:sp>
        <p:nvSpPr>
          <p:cNvPr id="31" name="Shape 29"/>
          <p:cNvSpPr/>
          <p:nvPr/>
        </p:nvSpPr>
        <p:spPr>
          <a:xfrm>
            <a:off x="5647002" y="4113863"/>
            <a:ext cx="133350" cy="137160"/>
          </a:xfrm>
          <a:prstGeom prst="ellipse">
            <a:avLst/>
          </a:prstGeom>
          <a:solidFill>
            <a:srgbClr val="FFFFFF"/>
          </a:solidFill>
          <a:ln/>
        </p:spPr>
      </p:sp>
      <p:sp>
        <p:nvSpPr>
          <p:cNvPr id="32" name="Shape 30"/>
          <p:cNvSpPr/>
          <p:nvPr/>
        </p:nvSpPr>
        <p:spPr>
          <a:xfrm>
            <a:off x="5847027" y="4113863"/>
            <a:ext cx="133350" cy="137160"/>
          </a:xfrm>
          <a:prstGeom prst="ellipse">
            <a:avLst/>
          </a:prstGeom>
          <a:solidFill>
            <a:srgbClr val="FFFFFF"/>
          </a:solidFill>
          <a:ln/>
        </p:spPr>
      </p:sp>
      <p:sp>
        <p:nvSpPr>
          <p:cNvPr id="33" name="Shape 31"/>
          <p:cNvSpPr/>
          <p:nvPr/>
        </p:nvSpPr>
        <p:spPr>
          <a:xfrm>
            <a:off x="4394500" y="4113863"/>
            <a:ext cx="133350" cy="137160"/>
          </a:xfrm>
          <a:prstGeom prst="ellipse">
            <a:avLst/>
          </a:prstGeom>
          <a:solidFill>
            <a:srgbClr val="FFFFFF"/>
          </a:solidFill>
          <a:ln/>
        </p:spPr>
      </p:sp>
      <p:sp>
        <p:nvSpPr>
          <p:cNvPr id="34" name="Shape 32"/>
          <p:cNvSpPr/>
          <p:nvPr/>
        </p:nvSpPr>
        <p:spPr>
          <a:xfrm>
            <a:off x="4594525" y="4113863"/>
            <a:ext cx="133350" cy="137160"/>
          </a:xfrm>
          <a:prstGeom prst="ellipse">
            <a:avLst/>
          </a:prstGeom>
          <a:solidFill>
            <a:srgbClr val="FFFFFF"/>
          </a:solidFill>
          <a:ln/>
        </p:spPr>
      </p:sp>
      <p:sp>
        <p:nvSpPr>
          <p:cNvPr id="35" name="Shape 33"/>
          <p:cNvSpPr/>
          <p:nvPr/>
        </p:nvSpPr>
        <p:spPr>
          <a:xfrm>
            <a:off x="4794550" y="4113863"/>
            <a:ext cx="133350" cy="137160"/>
          </a:xfrm>
          <a:prstGeom prst="ellipse">
            <a:avLst/>
          </a:prstGeom>
          <a:solidFill>
            <a:srgbClr val="FFFFFF"/>
          </a:solidFill>
          <a:ln/>
        </p:spPr>
      </p:sp>
      <p:sp>
        <p:nvSpPr>
          <p:cNvPr id="36" name="Shape 34"/>
          <p:cNvSpPr/>
          <p:nvPr/>
        </p:nvSpPr>
        <p:spPr>
          <a:xfrm>
            <a:off x="4994575" y="4113863"/>
            <a:ext cx="133350" cy="137160"/>
          </a:xfrm>
          <a:prstGeom prst="ellipse">
            <a:avLst/>
          </a:prstGeom>
          <a:solidFill>
            <a:srgbClr val="FFFFFF"/>
          </a:solidFill>
          <a:ln/>
        </p:spPr>
      </p:sp>
      <p:sp>
        <p:nvSpPr>
          <p:cNvPr id="37" name="Shape 35"/>
          <p:cNvSpPr/>
          <p:nvPr/>
        </p:nvSpPr>
        <p:spPr>
          <a:xfrm>
            <a:off x="6962984" y="4113863"/>
            <a:ext cx="133350" cy="137160"/>
          </a:xfrm>
          <a:prstGeom prst="ellipse">
            <a:avLst/>
          </a:prstGeom>
          <a:solidFill>
            <a:srgbClr val="FFFFFF"/>
          </a:solidFill>
          <a:ln/>
        </p:spPr>
      </p:sp>
      <p:sp>
        <p:nvSpPr>
          <p:cNvPr id="38" name="Shape 36"/>
          <p:cNvSpPr/>
          <p:nvPr/>
        </p:nvSpPr>
        <p:spPr>
          <a:xfrm>
            <a:off x="7163009" y="4113863"/>
            <a:ext cx="133350" cy="137160"/>
          </a:xfrm>
          <a:prstGeom prst="ellipse">
            <a:avLst/>
          </a:prstGeom>
          <a:solidFill>
            <a:srgbClr val="FFFFFF"/>
          </a:solidFill>
          <a:ln/>
        </p:spPr>
      </p:sp>
      <p:sp>
        <p:nvSpPr>
          <p:cNvPr id="39" name="Shape 37"/>
          <p:cNvSpPr/>
          <p:nvPr/>
        </p:nvSpPr>
        <p:spPr>
          <a:xfrm>
            <a:off x="7363034" y="4113863"/>
            <a:ext cx="133350" cy="137160"/>
          </a:xfrm>
          <a:prstGeom prst="ellipse">
            <a:avLst/>
          </a:prstGeom>
          <a:solidFill>
            <a:srgbClr val="FFFFFF"/>
          </a:solidFill>
          <a:ln/>
        </p:spPr>
      </p:sp>
      <p:sp>
        <p:nvSpPr>
          <p:cNvPr id="40" name="Shape 38"/>
          <p:cNvSpPr/>
          <p:nvPr/>
        </p:nvSpPr>
        <p:spPr>
          <a:xfrm>
            <a:off x="7563059" y="4113863"/>
            <a:ext cx="133350" cy="137160"/>
          </a:xfrm>
          <a:prstGeom prst="ellipse">
            <a:avLst/>
          </a:prstGeom>
          <a:solidFill>
            <a:srgbClr val="FFFFFF"/>
          </a:solidFill>
          <a:ln/>
        </p:spPr>
      </p:sp>
      <p:sp>
        <p:nvSpPr>
          <p:cNvPr id="41" name="Shape 39"/>
          <p:cNvSpPr/>
          <p:nvPr/>
        </p:nvSpPr>
        <p:spPr>
          <a:xfrm>
            <a:off x="6110532" y="4113863"/>
            <a:ext cx="133350" cy="137160"/>
          </a:xfrm>
          <a:prstGeom prst="ellipse">
            <a:avLst/>
          </a:prstGeom>
          <a:solidFill>
            <a:srgbClr val="FFFFFF"/>
          </a:solidFill>
          <a:ln/>
        </p:spPr>
      </p:sp>
      <p:sp>
        <p:nvSpPr>
          <p:cNvPr id="42" name="Shape 40"/>
          <p:cNvSpPr/>
          <p:nvPr/>
        </p:nvSpPr>
        <p:spPr>
          <a:xfrm>
            <a:off x="6310557" y="4113863"/>
            <a:ext cx="133350" cy="137160"/>
          </a:xfrm>
          <a:prstGeom prst="ellipse">
            <a:avLst/>
          </a:prstGeom>
          <a:solidFill>
            <a:srgbClr val="FFFFFF"/>
          </a:solidFill>
          <a:ln/>
        </p:spPr>
      </p:sp>
      <p:sp>
        <p:nvSpPr>
          <p:cNvPr id="43" name="Shape 41"/>
          <p:cNvSpPr/>
          <p:nvPr/>
        </p:nvSpPr>
        <p:spPr>
          <a:xfrm>
            <a:off x="6510582" y="4113863"/>
            <a:ext cx="133350" cy="137160"/>
          </a:xfrm>
          <a:prstGeom prst="ellipse">
            <a:avLst/>
          </a:prstGeom>
          <a:solidFill>
            <a:srgbClr val="FFFFFF"/>
          </a:solidFill>
          <a:ln/>
        </p:spPr>
      </p:sp>
      <p:sp>
        <p:nvSpPr>
          <p:cNvPr id="44" name="Shape 42"/>
          <p:cNvSpPr/>
          <p:nvPr/>
        </p:nvSpPr>
        <p:spPr>
          <a:xfrm>
            <a:off x="6710607" y="4113863"/>
            <a:ext cx="133350" cy="137160"/>
          </a:xfrm>
          <a:prstGeom prst="ellipse">
            <a:avLst/>
          </a:prstGeom>
          <a:solidFill>
            <a:srgbClr val="FFFFFF"/>
          </a:solidFill>
          <a:ln/>
        </p:spPr>
      </p:sp>
      <p:sp>
        <p:nvSpPr>
          <p:cNvPr id="45" name="Shape 43"/>
          <p:cNvSpPr/>
          <p:nvPr/>
        </p:nvSpPr>
        <p:spPr>
          <a:xfrm>
            <a:off x="8615537" y="4119059"/>
            <a:ext cx="133350" cy="137160"/>
          </a:xfrm>
          <a:prstGeom prst="ellipse">
            <a:avLst/>
          </a:prstGeom>
          <a:solidFill>
            <a:srgbClr val="FFFFFF"/>
          </a:solidFill>
          <a:ln/>
        </p:spPr>
      </p:sp>
      <p:sp>
        <p:nvSpPr>
          <p:cNvPr id="46" name="Shape 44"/>
          <p:cNvSpPr/>
          <p:nvPr/>
        </p:nvSpPr>
        <p:spPr>
          <a:xfrm>
            <a:off x="8815562" y="4119059"/>
            <a:ext cx="133350" cy="137160"/>
          </a:xfrm>
          <a:prstGeom prst="ellipse">
            <a:avLst/>
          </a:prstGeom>
          <a:solidFill>
            <a:srgbClr val="FFFFFF"/>
          </a:solidFill>
          <a:ln/>
        </p:spPr>
      </p:sp>
      <p:sp>
        <p:nvSpPr>
          <p:cNvPr id="47" name="Shape 45"/>
          <p:cNvSpPr/>
          <p:nvPr/>
        </p:nvSpPr>
        <p:spPr>
          <a:xfrm>
            <a:off x="9015587" y="4119059"/>
            <a:ext cx="133350" cy="137160"/>
          </a:xfrm>
          <a:prstGeom prst="ellipse">
            <a:avLst/>
          </a:prstGeom>
          <a:solidFill>
            <a:srgbClr val="FFFFFF"/>
          </a:solidFill>
          <a:ln/>
        </p:spPr>
      </p:sp>
      <p:sp>
        <p:nvSpPr>
          <p:cNvPr id="48" name="Shape 46"/>
          <p:cNvSpPr/>
          <p:nvPr/>
        </p:nvSpPr>
        <p:spPr>
          <a:xfrm>
            <a:off x="9215612" y="4119059"/>
            <a:ext cx="133350" cy="137160"/>
          </a:xfrm>
          <a:prstGeom prst="ellipse">
            <a:avLst/>
          </a:prstGeom>
          <a:solidFill>
            <a:srgbClr val="FFFFFF"/>
          </a:solidFill>
          <a:ln/>
        </p:spPr>
      </p:sp>
      <p:sp>
        <p:nvSpPr>
          <p:cNvPr id="49" name="Shape 47"/>
          <p:cNvSpPr/>
          <p:nvPr/>
        </p:nvSpPr>
        <p:spPr>
          <a:xfrm>
            <a:off x="7763085" y="4119059"/>
            <a:ext cx="133350" cy="137160"/>
          </a:xfrm>
          <a:prstGeom prst="ellipse">
            <a:avLst/>
          </a:prstGeom>
          <a:solidFill>
            <a:srgbClr val="FFFFFF"/>
          </a:solidFill>
          <a:ln/>
        </p:spPr>
      </p:sp>
      <p:sp>
        <p:nvSpPr>
          <p:cNvPr id="50" name="Shape 48"/>
          <p:cNvSpPr/>
          <p:nvPr/>
        </p:nvSpPr>
        <p:spPr>
          <a:xfrm>
            <a:off x="7963110" y="4119059"/>
            <a:ext cx="133350" cy="137160"/>
          </a:xfrm>
          <a:prstGeom prst="ellipse">
            <a:avLst/>
          </a:prstGeom>
          <a:solidFill>
            <a:srgbClr val="FFFFFF"/>
          </a:solidFill>
          <a:ln/>
        </p:spPr>
      </p:sp>
      <p:sp>
        <p:nvSpPr>
          <p:cNvPr id="51" name="Shape 49"/>
          <p:cNvSpPr/>
          <p:nvPr/>
        </p:nvSpPr>
        <p:spPr>
          <a:xfrm>
            <a:off x="8163135" y="4119059"/>
            <a:ext cx="133350" cy="137160"/>
          </a:xfrm>
          <a:prstGeom prst="ellipse">
            <a:avLst/>
          </a:prstGeom>
          <a:solidFill>
            <a:srgbClr val="FFFFFF"/>
          </a:solidFill>
          <a:ln/>
        </p:spPr>
      </p:sp>
      <p:sp>
        <p:nvSpPr>
          <p:cNvPr id="52" name="Shape 50"/>
          <p:cNvSpPr/>
          <p:nvPr/>
        </p:nvSpPr>
        <p:spPr>
          <a:xfrm>
            <a:off x="8363160" y="4119059"/>
            <a:ext cx="133350" cy="137160"/>
          </a:xfrm>
          <a:prstGeom prst="ellipse">
            <a:avLst/>
          </a:prstGeom>
          <a:solidFill>
            <a:srgbClr val="FFFFFF"/>
          </a:solidFill>
          <a:ln/>
        </p:spPr>
      </p:sp>
      <p:sp>
        <p:nvSpPr>
          <p:cNvPr id="53" name="Shape 51"/>
          <p:cNvSpPr/>
          <p:nvPr/>
        </p:nvSpPr>
        <p:spPr>
          <a:xfrm>
            <a:off x="10331569" y="4119059"/>
            <a:ext cx="133350" cy="137160"/>
          </a:xfrm>
          <a:prstGeom prst="ellipse">
            <a:avLst/>
          </a:prstGeom>
          <a:solidFill>
            <a:srgbClr val="FFFFFF"/>
          </a:solidFill>
          <a:ln/>
        </p:spPr>
      </p:sp>
      <p:sp>
        <p:nvSpPr>
          <p:cNvPr id="54" name="Shape 52"/>
          <p:cNvSpPr/>
          <p:nvPr/>
        </p:nvSpPr>
        <p:spPr>
          <a:xfrm>
            <a:off x="10531594" y="4119059"/>
            <a:ext cx="133350" cy="137160"/>
          </a:xfrm>
          <a:prstGeom prst="ellipse">
            <a:avLst/>
          </a:prstGeom>
          <a:solidFill>
            <a:srgbClr val="FFFFFF"/>
          </a:solidFill>
          <a:ln/>
        </p:spPr>
      </p:sp>
      <p:sp>
        <p:nvSpPr>
          <p:cNvPr id="55" name="Shape 53"/>
          <p:cNvSpPr/>
          <p:nvPr/>
        </p:nvSpPr>
        <p:spPr>
          <a:xfrm>
            <a:off x="10731619" y="4119059"/>
            <a:ext cx="133350" cy="137160"/>
          </a:xfrm>
          <a:prstGeom prst="ellipse">
            <a:avLst/>
          </a:prstGeom>
          <a:solidFill>
            <a:srgbClr val="FFFFFF"/>
          </a:solidFill>
          <a:ln/>
        </p:spPr>
      </p:sp>
      <p:sp>
        <p:nvSpPr>
          <p:cNvPr id="56" name="Shape 54"/>
          <p:cNvSpPr/>
          <p:nvPr/>
        </p:nvSpPr>
        <p:spPr>
          <a:xfrm>
            <a:off x="10931644" y="4119059"/>
            <a:ext cx="133350" cy="137160"/>
          </a:xfrm>
          <a:prstGeom prst="ellipse">
            <a:avLst/>
          </a:prstGeom>
          <a:solidFill>
            <a:srgbClr val="FFFFFF"/>
          </a:solidFill>
          <a:ln/>
        </p:spPr>
      </p:sp>
      <p:sp>
        <p:nvSpPr>
          <p:cNvPr id="57" name="Shape 55"/>
          <p:cNvSpPr/>
          <p:nvPr/>
        </p:nvSpPr>
        <p:spPr>
          <a:xfrm>
            <a:off x="9479117" y="4119059"/>
            <a:ext cx="133350" cy="137160"/>
          </a:xfrm>
          <a:prstGeom prst="ellipse">
            <a:avLst/>
          </a:prstGeom>
          <a:solidFill>
            <a:srgbClr val="FFFFFF"/>
          </a:solidFill>
          <a:ln/>
        </p:spPr>
      </p:sp>
      <p:sp>
        <p:nvSpPr>
          <p:cNvPr id="58" name="Shape 56"/>
          <p:cNvSpPr/>
          <p:nvPr/>
        </p:nvSpPr>
        <p:spPr>
          <a:xfrm>
            <a:off x="9679142" y="4119059"/>
            <a:ext cx="133350" cy="137160"/>
          </a:xfrm>
          <a:prstGeom prst="ellipse">
            <a:avLst/>
          </a:prstGeom>
          <a:solidFill>
            <a:srgbClr val="FFFFFF"/>
          </a:solidFill>
          <a:ln/>
        </p:spPr>
      </p:sp>
      <p:sp>
        <p:nvSpPr>
          <p:cNvPr id="59" name="Shape 57"/>
          <p:cNvSpPr/>
          <p:nvPr/>
        </p:nvSpPr>
        <p:spPr>
          <a:xfrm>
            <a:off x="9879167" y="4119059"/>
            <a:ext cx="133350" cy="137160"/>
          </a:xfrm>
          <a:prstGeom prst="ellipse">
            <a:avLst/>
          </a:prstGeom>
          <a:solidFill>
            <a:srgbClr val="FFFFFF"/>
          </a:solidFill>
          <a:ln/>
        </p:spPr>
      </p:sp>
      <p:sp>
        <p:nvSpPr>
          <p:cNvPr id="60" name="Shape 58"/>
          <p:cNvSpPr/>
          <p:nvPr/>
        </p:nvSpPr>
        <p:spPr>
          <a:xfrm>
            <a:off x="10079192" y="4119059"/>
            <a:ext cx="133350" cy="137160"/>
          </a:xfrm>
          <a:prstGeom prst="ellipse">
            <a:avLst/>
          </a:prstGeom>
          <a:solidFill>
            <a:srgbClr val="FFFFFF"/>
          </a:solidFill>
          <a:ln/>
        </p:spPr>
      </p:sp>
      <p:pic>
        <p:nvPicPr>
          <p:cNvPr id="61" name="Image 0" descr="https://kimi-img.moonshot.cn/pub/slides/slides_tmpl/image/25-09-04-15:09:15-d2sjm6u1bb2p4onbqd20.jpeg"/>
          <p:cNvPicPr>
            <a:picLocks noChangeAspect="1"/>
          </p:cNvPicPr>
          <p:nvPr/>
        </p:nvPicPr>
        <p:blipFill>
          <a:blip r:embed="rId3"/>
          <a:stretch>
            <a:fillRect/>
          </a:stretch>
        </p:blipFill>
        <p:spPr>
          <a:xfrm>
            <a:off x="6096000" y="-353154"/>
            <a:ext cx="5145200" cy="4421711"/>
          </a:xfrm>
          <a:prstGeom prst="rect">
            <a:avLst/>
          </a:prstGeom>
        </p:spPr>
      </p:pic>
      <p:sp>
        <p:nvSpPr>
          <p:cNvPr id="63" name="Shape 59"/>
          <p:cNvSpPr/>
          <p:nvPr/>
        </p:nvSpPr>
        <p:spPr>
          <a:xfrm>
            <a:off x="436451" y="5638466"/>
            <a:ext cx="228803" cy="212992"/>
          </a:xfrm>
          <a:prstGeom prst="ellipse">
            <a:avLst/>
          </a:prstGeom>
          <a:solidFill>
            <a:srgbClr val="000000">
              <a:alpha val="0"/>
            </a:srgbClr>
          </a:solidFill>
          <a:ln w="41275">
            <a:solidFill>
              <a:srgbClr val="FFFFFF"/>
            </a:solidFill>
            <a:prstDash val="solid"/>
          </a:ln>
        </p:spPr>
      </p:sp>
      <p:sp>
        <p:nvSpPr>
          <p:cNvPr id="64" name="Shape 60"/>
          <p:cNvSpPr/>
          <p:nvPr/>
        </p:nvSpPr>
        <p:spPr>
          <a:xfrm>
            <a:off x="512850" y="5679004"/>
            <a:ext cx="137562" cy="131914"/>
          </a:xfrm>
          <a:prstGeom prst="ellipse">
            <a:avLst/>
          </a:prstGeom>
          <a:solidFill>
            <a:srgbClr val="C1CEF6"/>
          </a:solidFill>
          <a:ln/>
        </p:spPr>
      </p:sp>
      <p:sp>
        <p:nvSpPr>
          <p:cNvPr id="65" name="Text 61"/>
          <p:cNvSpPr/>
          <p:nvPr/>
        </p:nvSpPr>
        <p:spPr>
          <a:xfrm>
            <a:off x="749935" y="4340860"/>
            <a:ext cx="9714865" cy="367665"/>
          </a:xfrm>
          <a:prstGeom prst="rect">
            <a:avLst/>
          </a:prstGeom>
          <a:noFill/>
          <a:ln/>
        </p:spPr>
        <p:txBody>
          <a:bodyPr wrap="square" lIns="91440" tIns="45720" rIns="91440" bIns="45720" rtlCol="0" anchor="ctr">
            <a:spAutoFit/>
          </a:bodyPr>
          <a:lstStyle/>
          <a:p>
            <a:pPr algn="just">
              <a:lnSpc>
                <a:spcPct val="100000"/>
              </a:lnSpc>
            </a:pPr>
            <a:r>
              <a:rPr lang="en-US" altLang="zh-CN" dirty="0" err="1">
                <a:solidFill>
                  <a:srgbClr val="606C9A"/>
                </a:solidFill>
                <a:latin typeface="MiSans" pitchFamily="34" charset="0"/>
                <a:ea typeface="MiSans" pitchFamily="34" charset="-122"/>
                <a:cs typeface="MiSans" pitchFamily="34" charset="-120"/>
              </a:rPr>
              <a:t>数据爆炸与标注成本矛盾</a:t>
            </a:r>
            <a:endParaRPr lang="en-US" altLang="zh-CN" sz="1600" dirty="0"/>
          </a:p>
        </p:txBody>
      </p:sp>
      <p:sp>
        <p:nvSpPr>
          <p:cNvPr id="66" name="Text 62"/>
          <p:cNvSpPr/>
          <p:nvPr/>
        </p:nvSpPr>
        <p:spPr>
          <a:xfrm>
            <a:off x="817245" y="4664075"/>
            <a:ext cx="11090910" cy="845185"/>
          </a:xfrm>
          <a:prstGeom prst="rect">
            <a:avLst/>
          </a:prstGeom>
          <a:noFill/>
          <a:ln/>
        </p:spPr>
        <p:txBody>
          <a:bodyPr wrap="square" lIns="91440" tIns="45720" rIns="91440" bIns="45720" rtlCol="0" anchor="t"/>
          <a:lstStyle/>
          <a:p>
            <a:pPr algn="just">
              <a:lnSpc>
                <a:spcPct val="100000"/>
              </a:lnSpc>
            </a:pPr>
            <a:r>
              <a:rPr lang="en-US" sz="1600" dirty="0">
                <a:solidFill>
                  <a:srgbClr val="606C9A"/>
                </a:solidFill>
                <a:latin typeface="MiSans" pitchFamily="34" charset="0"/>
                <a:ea typeface="MiSans" pitchFamily="34" charset="-122"/>
                <a:cs typeface="MiSans" pitchFamily="34" charset="-120"/>
              </a:rPr>
              <a:t>互联网与社交媒体催生海量文本数据，新闻、评论、邮件等场景对自动分类需求激增，但人工标注需耗费大量人力与时间，标注资源稀缺成为制约模型性能的核心瓶颈。</a:t>
            </a:r>
            <a:endParaRPr lang="en-US" sz="1600" dirty="0"/>
          </a:p>
        </p:txBody>
      </p:sp>
      <p:sp>
        <p:nvSpPr>
          <p:cNvPr id="67" name="Text 63"/>
          <p:cNvSpPr/>
          <p:nvPr/>
        </p:nvSpPr>
        <p:spPr>
          <a:xfrm>
            <a:off x="736600" y="5638165"/>
            <a:ext cx="9714865" cy="539750"/>
          </a:xfrm>
          <a:prstGeom prst="rect">
            <a:avLst/>
          </a:prstGeom>
          <a:noFill/>
          <a:ln/>
        </p:spPr>
        <p:txBody>
          <a:bodyPr wrap="square" lIns="91440" tIns="45720" rIns="91440" bIns="45720" rtlCol="0" anchor="ctr"/>
          <a:lstStyle/>
          <a:p>
            <a:pPr algn="just">
              <a:lnSpc>
                <a:spcPct val="100000"/>
              </a:lnSpc>
            </a:pPr>
            <a:r>
              <a:rPr lang="en-US" sz="1800" dirty="0">
                <a:solidFill>
                  <a:srgbClr val="606C9A"/>
                </a:solidFill>
                <a:latin typeface="MiSans" pitchFamily="34" charset="0"/>
                <a:ea typeface="MiSans" pitchFamily="34" charset="-122"/>
                <a:cs typeface="MiSans" pitchFamily="34" charset="-120"/>
              </a:rPr>
              <a:t>半监督学习的解决路径</a:t>
            </a:r>
            <a:endParaRPr lang="en-US" sz="1600" dirty="0"/>
          </a:p>
        </p:txBody>
      </p:sp>
      <p:sp>
        <p:nvSpPr>
          <p:cNvPr id="68" name="Text 64"/>
          <p:cNvSpPr/>
          <p:nvPr/>
        </p:nvSpPr>
        <p:spPr>
          <a:xfrm>
            <a:off x="829310" y="5932805"/>
            <a:ext cx="11090275" cy="614521"/>
          </a:xfrm>
          <a:prstGeom prst="rect">
            <a:avLst/>
          </a:prstGeom>
          <a:noFill/>
          <a:ln/>
        </p:spPr>
        <p:txBody>
          <a:bodyPr wrap="square" lIns="91440" tIns="45720" rIns="91440" bIns="45720" rtlCol="0" anchor="t">
            <a:spAutoFit/>
          </a:bodyPr>
          <a:lstStyle/>
          <a:p>
            <a:pPr algn="just">
              <a:lnSpc>
                <a:spcPct val="100000"/>
              </a:lnSpc>
            </a:pPr>
            <a:r>
              <a:rPr lang="en-US" sz="1600" dirty="0">
                <a:solidFill>
                  <a:srgbClr val="606C9A"/>
                </a:solidFill>
                <a:latin typeface="MiSans" pitchFamily="34" charset="0"/>
                <a:ea typeface="MiSans" pitchFamily="34" charset="-122"/>
                <a:cs typeface="MiSans" pitchFamily="34" charset="-120"/>
              </a:rPr>
              <a:t>半监督学习范式能够协同利用少量标注数据与海量未标注数据，在降低标注成本的同时提升模型性能，为文本分类任务提供经济高效的解决方案，具有重要的理论研究价值与广泛的实际应用前景。</a:t>
            </a:r>
            <a:endParaRPr lang="en-US" sz="1600" dirty="0"/>
          </a:p>
        </p:txBody>
      </p:sp>
      <p:pic>
        <p:nvPicPr>
          <p:cNvPr id="1028" name="Picture 4" descr="半监督学习介绍为什么半监督学习是机器学习的未来">
            <a:extLst>
              <a:ext uri="{FF2B5EF4-FFF2-40B4-BE49-F238E27FC236}">
                <a16:creationId xmlns:a16="http://schemas.microsoft.com/office/drawing/2014/main" id="{BB508E38-4857-80A7-9B7C-1CB367C7CAC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7208"/>
          <a:stretch>
            <a:fillRect/>
          </a:stretch>
        </p:blipFill>
        <p:spPr bwMode="auto">
          <a:xfrm>
            <a:off x="5913702" y="326971"/>
            <a:ext cx="5904952" cy="40648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gradFill flip="none" rotWithShape="0">
          <a:gsLst>
            <a:gs pos="0">
              <a:srgbClr val="FFF2C6"/>
            </a:gs>
            <a:gs pos="66000">
              <a:srgbClr val="D8E1FD"/>
            </a:gs>
            <a:gs pos="92000">
              <a:srgbClr val="C7D5FC"/>
            </a:gs>
            <a:gs pos="100000">
              <a:srgbClr val="A1D9F1"/>
            </a:gs>
          </a:gsLst>
          <a:lin ang="0" scaled="1"/>
        </a:gradFill>
        <a:effectLst/>
      </p:bgPr>
    </p:bg>
    <p:spTree>
      <p:nvGrpSpPr>
        <p:cNvPr id="1" name=""/>
        <p:cNvGrpSpPr/>
        <p:nvPr/>
      </p:nvGrpSpPr>
      <p:grpSpPr>
        <a:xfrm>
          <a:off x="0" y="0"/>
          <a:ext cx="0" cy="0"/>
          <a:chOff x="0" y="0"/>
          <a:chExt cx="0" cy="0"/>
        </a:xfrm>
      </p:grpSpPr>
      <p:sp>
        <p:nvSpPr>
          <p:cNvPr id="2" name="Shape 0"/>
          <p:cNvSpPr/>
          <p:nvPr/>
        </p:nvSpPr>
        <p:spPr>
          <a:xfrm>
            <a:off x="596084" y="354792"/>
            <a:ext cx="133350" cy="137160"/>
          </a:xfrm>
          <a:prstGeom prst="ellipse">
            <a:avLst/>
          </a:prstGeom>
          <a:solidFill>
            <a:srgbClr val="FFFFFF"/>
          </a:solidFill>
          <a:ln/>
        </p:spPr>
      </p:sp>
      <p:sp>
        <p:nvSpPr>
          <p:cNvPr id="3" name="Shape 1"/>
          <p:cNvSpPr/>
          <p:nvPr/>
        </p:nvSpPr>
        <p:spPr>
          <a:xfrm>
            <a:off x="796109" y="354792"/>
            <a:ext cx="133350" cy="137160"/>
          </a:xfrm>
          <a:prstGeom prst="ellipse">
            <a:avLst/>
          </a:prstGeom>
          <a:solidFill>
            <a:srgbClr val="FFFFFF"/>
          </a:solidFill>
          <a:ln/>
        </p:spPr>
      </p:sp>
      <p:sp>
        <p:nvSpPr>
          <p:cNvPr id="4" name="Shape 2"/>
          <p:cNvSpPr/>
          <p:nvPr/>
        </p:nvSpPr>
        <p:spPr>
          <a:xfrm>
            <a:off x="996134" y="354792"/>
            <a:ext cx="133350" cy="137160"/>
          </a:xfrm>
          <a:prstGeom prst="ellipse">
            <a:avLst/>
          </a:prstGeom>
          <a:solidFill>
            <a:srgbClr val="FFFFFF"/>
          </a:solidFill>
          <a:ln/>
        </p:spPr>
      </p:sp>
      <p:sp>
        <p:nvSpPr>
          <p:cNvPr id="5" name="Shape 3"/>
          <p:cNvSpPr/>
          <p:nvPr/>
        </p:nvSpPr>
        <p:spPr>
          <a:xfrm>
            <a:off x="1196159" y="354792"/>
            <a:ext cx="133350" cy="137160"/>
          </a:xfrm>
          <a:prstGeom prst="ellipse">
            <a:avLst/>
          </a:prstGeom>
          <a:solidFill>
            <a:srgbClr val="FFFFFF"/>
          </a:solidFill>
          <a:ln/>
        </p:spPr>
      </p:sp>
      <p:sp>
        <p:nvSpPr>
          <p:cNvPr id="6" name="Shape 4"/>
          <p:cNvSpPr/>
          <p:nvPr/>
        </p:nvSpPr>
        <p:spPr>
          <a:xfrm>
            <a:off x="392721" y="1095316"/>
            <a:ext cx="133350" cy="137160"/>
          </a:xfrm>
          <a:prstGeom prst="ellipse">
            <a:avLst/>
          </a:prstGeom>
          <a:solidFill>
            <a:srgbClr val="FFFFFF"/>
          </a:solidFill>
          <a:ln/>
        </p:spPr>
      </p:sp>
      <p:sp>
        <p:nvSpPr>
          <p:cNvPr id="7" name="Shape 5"/>
          <p:cNvSpPr/>
          <p:nvPr/>
        </p:nvSpPr>
        <p:spPr>
          <a:xfrm>
            <a:off x="392722" y="895290"/>
            <a:ext cx="133350" cy="137160"/>
          </a:xfrm>
          <a:prstGeom prst="ellipse">
            <a:avLst/>
          </a:prstGeom>
          <a:solidFill>
            <a:srgbClr val="FFFFFF"/>
          </a:solidFill>
          <a:ln/>
        </p:spPr>
      </p:sp>
      <p:sp>
        <p:nvSpPr>
          <p:cNvPr id="8" name="Shape 6"/>
          <p:cNvSpPr/>
          <p:nvPr/>
        </p:nvSpPr>
        <p:spPr>
          <a:xfrm>
            <a:off x="392722" y="695265"/>
            <a:ext cx="133350" cy="137160"/>
          </a:xfrm>
          <a:prstGeom prst="ellipse">
            <a:avLst/>
          </a:prstGeom>
          <a:solidFill>
            <a:srgbClr val="FFFFFF"/>
          </a:solidFill>
          <a:ln/>
        </p:spPr>
      </p:sp>
      <p:sp>
        <p:nvSpPr>
          <p:cNvPr id="9" name="Shape 7"/>
          <p:cNvSpPr/>
          <p:nvPr/>
        </p:nvSpPr>
        <p:spPr>
          <a:xfrm>
            <a:off x="392722" y="495241"/>
            <a:ext cx="133350" cy="137160"/>
          </a:xfrm>
          <a:prstGeom prst="ellipse">
            <a:avLst/>
          </a:prstGeom>
          <a:solidFill>
            <a:srgbClr val="FFFFFF"/>
          </a:solidFill>
          <a:ln/>
        </p:spPr>
      </p:sp>
      <p:sp>
        <p:nvSpPr>
          <p:cNvPr id="10" name="Text 8"/>
          <p:cNvSpPr/>
          <p:nvPr/>
        </p:nvSpPr>
        <p:spPr>
          <a:xfrm>
            <a:off x="662940" y="549275"/>
            <a:ext cx="11036300" cy="1504950"/>
          </a:xfrm>
          <a:prstGeom prst="rect">
            <a:avLst/>
          </a:prstGeom>
          <a:noFill/>
          <a:ln/>
        </p:spPr>
        <p:txBody>
          <a:bodyPr wrap="square" lIns="91440" tIns="45720" rIns="91440" bIns="45720" rtlCol="0" anchor="t"/>
          <a:lstStyle/>
          <a:p>
            <a:pPr algn="just">
              <a:lnSpc>
                <a:spcPct val="100000"/>
              </a:lnSpc>
            </a:pPr>
            <a:r>
              <a:rPr lang="en-US" sz="4000" dirty="0">
                <a:solidFill>
                  <a:srgbClr val="606C9A"/>
                </a:solidFill>
                <a:latin typeface="MiSans" pitchFamily="34" charset="0"/>
                <a:ea typeface="MiSans" pitchFamily="34" charset="-122"/>
                <a:cs typeface="MiSans" pitchFamily="34" charset="-120"/>
              </a:rPr>
              <a:t>国内外研究演进脉络梳理</a:t>
            </a:r>
            <a:endParaRPr lang="en-US" sz="1600" dirty="0"/>
          </a:p>
        </p:txBody>
      </p:sp>
      <p:sp>
        <p:nvSpPr>
          <p:cNvPr id="11" name="Shape 9"/>
          <p:cNvSpPr/>
          <p:nvPr/>
        </p:nvSpPr>
        <p:spPr>
          <a:xfrm>
            <a:off x="662759" y="1454971"/>
            <a:ext cx="273761" cy="268403"/>
          </a:xfrm>
          <a:prstGeom prst="ellipse">
            <a:avLst/>
          </a:prstGeom>
          <a:solidFill>
            <a:srgbClr val="000000">
              <a:alpha val="0"/>
            </a:srgbClr>
          </a:solidFill>
          <a:ln w="41275">
            <a:solidFill>
              <a:srgbClr val="FFFFFF"/>
            </a:solidFill>
            <a:prstDash val="solid"/>
          </a:ln>
        </p:spPr>
      </p:sp>
      <p:sp>
        <p:nvSpPr>
          <p:cNvPr id="12" name="Shape 10"/>
          <p:cNvSpPr/>
          <p:nvPr/>
        </p:nvSpPr>
        <p:spPr>
          <a:xfrm>
            <a:off x="754170" y="1506055"/>
            <a:ext cx="164592" cy="166233"/>
          </a:xfrm>
          <a:prstGeom prst="ellipse">
            <a:avLst/>
          </a:prstGeom>
          <a:solidFill>
            <a:srgbClr val="C1CEF6"/>
          </a:solidFill>
          <a:ln/>
        </p:spPr>
      </p:sp>
      <p:pic>
        <p:nvPicPr>
          <p:cNvPr id="13" name="Image 0" descr="https://kimi-img.moonshot.cn/pub/slides/slides_tmpl/image/25-09-04-15:09:13-d2sjm6e1bb2p4onbqcv0.jpeg"/>
          <p:cNvPicPr>
            <a:picLocks noChangeAspect="1"/>
          </p:cNvPicPr>
          <p:nvPr/>
        </p:nvPicPr>
        <p:blipFill>
          <a:blip r:embed="rId3"/>
          <a:stretch>
            <a:fillRect/>
          </a:stretch>
        </p:blipFill>
        <p:spPr>
          <a:xfrm>
            <a:off x="1161825" y="4403930"/>
            <a:ext cx="4209775" cy="1927662"/>
          </a:xfrm>
          <a:prstGeom prst="rect">
            <a:avLst/>
          </a:prstGeom>
        </p:spPr>
      </p:pic>
      <p:sp>
        <p:nvSpPr>
          <p:cNvPr id="15" name="Shape 11"/>
          <p:cNvSpPr/>
          <p:nvPr/>
        </p:nvSpPr>
        <p:spPr>
          <a:xfrm>
            <a:off x="662759" y="2348994"/>
            <a:ext cx="273761" cy="268403"/>
          </a:xfrm>
          <a:prstGeom prst="ellipse">
            <a:avLst/>
          </a:prstGeom>
          <a:solidFill>
            <a:srgbClr val="000000">
              <a:alpha val="0"/>
            </a:srgbClr>
          </a:solidFill>
          <a:ln w="41275">
            <a:solidFill>
              <a:srgbClr val="FFFFFF"/>
            </a:solidFill>
            <a:prstDash val="solid"/>
          </a:ln>
        </p:spPr>
      </p:sp>
      <p:sp>
        <p:nvSpPr>
          <p:cNvPr id="16" name="Shape 12"/>
          <p:cNvSpPr/>
          <p:nvPr/>
        </p:nvSpPr>
        <p:spPr>
          <a:xfrm>
            <a:off x="754170" y="2400078"/>
            <a:ext cx="164592" cy="166233"/>
          </a:xfrm>
          <a:prstGeom prst="ellipse">
            <a:avLst/>
          </a:prstGeom>
          <a:solidFill>
            <a:srgbClr val="C1CEF6"/>
          </a:solidFill>
          <a:ln/>
        </p:spPr>
      </p:sp>
      <p:sp>
        <p:nvSpPr>
          <p:cNvPr id="17" name="Shape 13"/>
          <p:cNvSpPr/>
          <p:nvPr/>
        </p:nvSpPr>
        <p:spPr>
          <a:xfrm>
            <a:off x="662759" y="3243823"/>
            <a:ext cx="273761" cy="268403"/>
          </a:xfrm>
          <a:prstGeom prst="ellipse">
            <a:avLst/>
          </a:prstGeom>
          <a:solidFill>
            <a:srgbClr val="000000">
              <a:alpha val="0"/>
            </a:srgbClr>
          </a:solidFill>
          <a:ln w="41275">
            <a:solidFill>
              <a:srgbClr val="FFFFFF"/>
            </a:solidFill>
            <a:prstDash val="solid"/>
          </a:ln>
        </p:spPr>
      </p:sp>
      <p:sp>
        <p:nvSpPr>
          <p:cNvPr id="18" name="Shape 14"/>
          <p:cNvSpPr/>
          <p:nvPr/>
        </p:nvSpPr>
        <p:spPr>
          <a:xfrm>
            <a:off x="754170" y="3294907"/>
            <a:ext cx="164592" cy="166233"/>
          </a:xfrm>
          <a:prstGeom prst="ellipse">
            <a:avLst/>
          </a:prstGeom>
          <a:solidFill>
            <a:srgbClr val="C1CEF6"/>
          </a:solidFill>
          <a:ln/>
        </p:spPr>
      </p:sp>
      <p:sp>
        <p:nvSpPr>
          <p:cNvPr id="19" name="Text 15"/>
          <p:cNvSpPr/>
          <p:nvPr/>
        </p:nvSpPr>
        <p:spPr>
          <a:xfrm>
            <a:off x="996134" y="1442418"/>
            <a:ext cx="9241170" cy="367665"/>
          </a:xfrm>
          <a:prstGeom prst="rect">
            <a:avLst/>
          </a:prstGeom>
          <a:noFill/>
          <a:ln/>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0"/>
                <a:ea typeface="MiSans" pitchFamily="34" charset="-122"/>
                <a:cs typeface="MiSans" pitchFamily="34" charset="-120"/>
              </a:rPr>
              <a:t>国际研究发展历程</a:t>
            </a:r>
            <a:endParaRPr lang="en-US" sz="1600" dirty="0"/>
          </a:p>
        </p:txBody>
      </p:sp>
      <p:sp>
        <p:nvSpPr>
          <p:cNvPr id="20" name="Text 16"/>
          <p:cNvSpPr/>
          <p:nvPr/>
        </p:nvSpPr>
        <p:spPr>
          <a:xfrm>
            <a:off x="1062809" y="1805661"/>
            <a:ext cx="10360401" cy="597456"/>
          </a:xfrm>
          <a:prstGeom prst="rect">
            <a:avLst/>
          </a:prstGeom>
          <a:noFill/>
          <a:ln/>
        </p:spPr>
        <p:txBody>
          <a:bodyPr wrap="square" lIns="91440" tIns="45720" rIns="91440" bIns="45720" rtlCol="0" anchor="ctr">
            <a:spAutoFit/>
          </a:bodyPr>
          <a:lstStyle/>
          <a:p>
            <a:pPr algn="just">
              <a:lnSpc>
                <a:spcPct val="100000"/>
              </a:lnSpc>
            </a:pPr>
            <a:r>
              <a:rPr lang="en-US" sz="1400" dirty="0">
                <a:solidFill>
                  <a:srgbClr val="606C9A"/>
                </a:solidFill>
                <a:latin typeface="MiSans" pitchFamily="34" charset="0"/>
                <a:ea typeface="MiSans" pitchFamily="34" charset="-122"/>
                <a:cs typeface="MiSans" pitchFamily="34" charset="-120"/>
              </a:rPr>
              <a:t>从20世纪70年代生成模型起步，到1998年Blum与Mitchell提出协同训练算法，再到基于图的标签传播方法兴起，以及近年来深度学习与半监督学习的融合创新。</a:t>
            </a:r>
            <a:endParaRPr lang="en-US" sz="1600" dirty="0"/>
          </a:p>
        </p:txBody>
      </p:sp>
      <p:sp>
        <p:nvSpPr>
          <p:cNvPr id="21" name="Text 17"/>
          <p:cNvSpPr/>
          <p:nvPr/>
        </p:nvSpPr>
        <p:spPr>
          <a:xfrm>
            <a:off x="996134" y="2336441"/>
            <a:ext cx="9936909" cy="367665"/>
          </a:xfrm>
          <a:prstGeom prst="rect">
            <a:avLst/>
          </a:prstGeom>
          <a:noFill/>
          <a:ln/>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0"/>
                <a:ea typeface="MiSans" pitchFamily="34" charset="-122"/>
                <a:cs typeface="MiSans" pitchFamily="34" charset="-120"/>
              </a:rPr>
              <a:t>国内研究重要贡献</a:t>
            </a:r>
            <a:endParaRPr lang="en-US" sz="1600" dirty="0"/>
          </a:p>
        </p:txBody>
      </p:sp>
      <p:sp>
        <p:nvSpPr>
          <p:cNvPr id="22" name="Text 18"/>
          <p:cNvSpPr/>
          <p:nvPr/>
        </p:nvSpPr>
        <p:spPr>
          <a:xfrm>
            <a:off x="1062809" y="2699684"/>
            <a:ext cx="10360401" cy="597456"/>
          </a:xfrm>
          <a:prstGeom prst="rect">
            <a:avLst/>
          </a:prstGeom>
          <a:noFill/>
          <a:ln/>
        </p:spPr>
        <p:txBody>
          <a:bodyPr wrap="square" lIns="91440" tIns="45720" rIns="91440" bIns="45720" rtlCol="0" anchor="ctr">
            <a:spAutoFit/>
          </a:bodyPr>
          <a:lstStyle/>
          <a:p>
            <a:pPr algn="just">
              <a:lnSpc>
                <a:spcPct val="100000"/>
              </a:lnSpc>
            </a:pPr>
            <a:r>
              <a:rPr lang="en-US" sz="1400" dirty="0">
                <a:solidFill>
                  <a:srgbClr val="606C9A"/>
                </a:solidFill>
                <a:latin typeface="MiSans" pitchFamily="34" charset="0"/>
                <a:ea typeface="MiSans" pitchFamily="34" charset="-122"/>
                <a:cs typeface="MiSans" pitchFamily="34" charset="-120"/>
              </a:rPr>
              <a:t>国内学者在自训练改进策略、多视图协同机制、图半监督学习优化等方面开展大量工作，有力推动了半监督学习技术在中文文本分类场景中的本土化应用与性能提升。</a:t>
            </a:r>
            <a:endParaRPr lang="en-US" sz="1600" dirty="0"/>
          </a:p>
        </p:txBody>
      </p:sp>
      <p:sp>
        <p:nvSpPr>
          <p:cNvPr id="23" name="Text 19"/>
          <p:cNvSpPr/>
          <p:nvPr/>
        </p:nvSpPr>
        <p:spPr>
          <a:xfrm>
            <a:off x="996134" y="3231270"/>
            <a:ext cx="9936909" cy="367665"/>
          </a:xfrm>
          <a:prstGeom prst="rect">
            <a:avLst/>
          </a:prstGeom>
          <a:noFill/>
          <a:ln/>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0"/>
                <a:ea typeface="MiSans" pitchFamily="34" charset="-122"/>
                <a:cs typeface="MiSans" pitchFamily="34" charset="-120"/>
              </a:rPr>
              <a:t>现有方法的改进空间</a:t>
            </a:r>
            <a:endParaRPr lang="en-US" sz="1600" dirty="0"/>
          </a:p>
        </p:txBody>
      </p:sp>
      <p:sp>
        <p:nvSpPr>
          <p:cNvPr id="24" name="Text 20"/>
          <p:cNvSpPr/>
          <p:nvPr/>
        </p:nvSpPr>
        <p:spPr>
          <a:xfrm>
            <a:off x="1062809" y="3594513"/>
            <a:ext cx="10360401" cy="597456"/>
          </a:xfrm>
          <a:prstGeom prst="rect">
            <a:avLst/>
          </a:prstGeom>
          <a:noFill/>
          <a:ln/>
        </p:spPr>
        <p:txBody>
          <a:bodyPr wrap="square" lIns="91440" tIns="45720" rIns="91440" bIns="45720" rtlCol="0" anchor="ctr">
            <a:spAutoFit/>
          </a:bodyPr>
          <a:lstStyle/>
          <a:p>
            <a:pPr algn="just">
              <a:lnSpc>
                <a:spcPct val="100000"/>
              </a:lnSpc>
            </a:pPr>
            <a:r>
              <a:rPr lang="en-US" sz="1400" dirty="0">
                <a:solidFill>
                  <a:srgbClr val="606C9A"/>
                </a:solidFill>
                <a:latin typeface="MiSans" pitchFamily="34" charset="0"/>
                <a:ea typeface="MiSans" pitchFamily="34" charset="-122"/>
                <a:cs typeface="MiSans" pitchFamily="34" charset="-120"/>
              </a:rPr>
              <a:t>当前方法仍存在单一模型能力局限、视图独立性假设苛刻、大规模数据处理效率不足等问题，为本文提出混合半监督学习方法提供了明确的研究切入点与创新动力。</a:t>
            </a:r>
            <a:endParaRPr lang="en-US" sz="1600" dirty="0"/>
          </a:p>
        </p:txBody>
      </p:sp>
      <p:pic>
        <p:nvPicPr>
          <p:cNvPr id="25" name="图片 24">
            <a:extLst>
              <a:ext uri="{FF2B5EF4-FFF2-40B4-BE49-F238E27FC236}">
                <a16:creationId xmlns:a16="http://schemas.microsoft.com/office/drawing/2014/main" id="{CB03E2BD-3257-B85A-A6EB-514AD92E515C}"/>
              </a:ext>
            </a:extLst>
          </p:cNvPr>
          <p:cNvPicPr>
            <a:picLocks noChangeAspect="1"/>
          </p:cNvPicPr>
          <p:nvPr/>
        </p:nvPicPr>
        <p:blipFill>
          <a:blip r:embed="rId4"/>
          <a:stretch>
            <a:fillRect/>
          </a:stretch>
        </p:blipFill>
        <p:spPr>
          <a:xfrm>
            <a:off x="1137343" y="4300812"/>
            <a:ext cx="8268854" cy="2133898"/>
          </a:xfrm>
          <a:prstGeom prst="rect">
            <a:avLst/>
          </a:prstGeom>
        </p:spPr>
      </p:pic>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gradFill flip="none" rotWithShape="0">
          <a:gsLst>
            <a:gs pos="0">
              <a:srgbClr val="F9F1DC">
                <a:alpha val="38000"/>
              </a:srgbClr>
            </a:gs>
            <a:gs pos="74000">
              <a:srgbClr val="B2C4FF"/>
            </a:gs>
            <a:gs pos="83000">
              <a:srgbClr val="B2C4FF"/>
            </a:gs>
            <a:gs pos="99000">
              <a:srgbClr val="C7D5FC"/>
            </a:gs>
            <a:gs pos="100000">
              <a:srgbClr val="C7D5FC"/>
            </a:gs>
          </a:gsLst>
          <a:lin ang="78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09-04-15:09:07-d2sjm4u1bb2p4onbqcm0.png"/>
          <p:cNvPicPr>
            <a:picLocks noChangeAspect="1"/>
          </p:cNvPicPr>
          <p:nvPr/>
        </p:nvPicPr>
        <p:blipFill>
          <a:blip r:embed="rId3"/>
          <a:stretch>
            <a:fillRect/>
          </a:stretch>
        </p:blipFill>
        <p:spPr>
          <a:xfrm>
            <a:off x="0" y="-426720"/>
            <a:ext cx="12192000" cy="7284720"/>
          </a:xfrm>
          <a:prstGeom prst="rect">
            <a:avLst/>
          </a:prstGeom>
        </p:spPr>
      </p:pic>
      <p:sp>
        <p:nvSpPr>
          <p:cNvPr id="3" name="Shape 0"/>
          <p:cNvSpPr/>
          <p:nvPr/>
        </p:nvSpPr>
        <p:spPr>
          <a:xfrm>
            <a:off x="667808" y="418871"/>
            <a:ext cx="133350" cy="137160"/>
          </a:xfrm>
          <a:prstGeom prst="ellipse">
            <a:avLst/>
          </a:prstGeom>
          <a:solidFill>
            <a:srgbClr val="FFFFFF"/>
          </a:solidFill>
          <a:ln/>
        </p:spPr>
      </p:sp>
      <p:sp>
        <p:nvSpPr>
          <p:cNvPr id="4" name="Shape 1"/>
          <p:cNvSpPr/>
          <p:nvPr/>
        </p:nvSpPr>
        <p:spPr>
          <a:xfrm>
            <a:off x="867833" y="418871"/>
            <a:ext cx="133350" cy="137160"/>
          </a:xfrm>
          <a:prstGeom prst="ellipse">
            <a:avLst/>
          </a:prstGeom>
          <a:solidFill>
            <a:srgbClr val="FFFFFF"/>
          </a:solidFill>
          <a:ln/>
        </p:spPr>
      </p:sp>
      <p:sp>
        <p:nvSpPr>
          <p:cNvPr id="5" name="Shape 2"/>
          <p:cNvSpPr/>
          <p:nvPr/>
        </p:nvSpPr>
        <p:spPr>
          <a:xfrm>
            <a:off x="1067858" y="418871"/>
            <a:ext cx="133350" cy="137160"/>
          </a:xfrm>
          <a:prstGeom prst="ellipse">
            <a:avLst/>
          </a:prstGeom>
          <a:solidFill>
            <a:srgbClr val="FFFFFF"/>
          </a:solidFill>
          <a:ln/>
        </p:spPr>
      </p:sp>
      <p:sp>
        <p:nvSpPr>
          <p:cNvPr id="6" name="Shape 3"/>
          <p:cNvSpPr/>
          <p:nvPr/>
        </p:nvSpPr>
        <p:spPr>
          <a:xfrm>
            <a:off x="1267883" y="418871"/>
            <a:ext cx="133350" cy="137160"/>
          </a:xfrm>
          <a:prstGeom prst="ellipse">
            <a:avLst/>
          </a:prstGeom>
          <a:solidFill>
            <a:srgbClr val="FFFFFF"/>
          </a:solidFill>
          <a:ln/>
        </p:spPr>
      </p:sp>
      <p:sp>
        <p:nvSpPr>
          <p:cNvPr id="7" name="Shape 4"/>
          <p:cNvSpPr/>
          <p:nvPr/>
        </p:nvSpPr>
        <p:spPr>
          <a:xfrm>
            <a:off x="464445" y="1159395"/>
            <a:ext cx="133350" cy="137160"/>
          </a:xfrm>
          <a:prstGeom prst="ellipse">
            <a:avLst/>
          </a:prstGeom>
          <a:solidFill>
            <a:srgbClr val="FFFFFF"/>
          </a:solidFill>
          <a:ln/>
        </p:spPr>
      </p:sp>
      <p:sp>
        <p:nvSpPr>
          <p:cNvPr id="8" name="Shape 5"/>
          <p:cNvSpPr/>
          <p:nvPr/>
        </p:nvSpPr>
        <p:spPr>
          <a:xfrm>
            <a:off x="464445" y="959369"/>
            <a:ext cx="133350" cy="137160"/>
          </a:xfrm>
          <a:prstGeom prst="ellipse">
            <a:avLst/>
          </a:prstGeom>
          <a:solidFill>
            <a:srgbClr val="FFFFFF"/>
          </a:solidFill>
          <a:ln/>
        </p:spPr>
      </p:sp>
      <p:sp>
        <p:nvSpPr>
          <p:cNvPr id="9" name="Shape 6"/>
          <p:cNvSpPr/>
          <p:nvPr/>
        </p:nvSpPr>
        <p:spPr>
          <a:xfrm>
            <a:off x="464445" y="759344"/>
            <a:ext cx="133350" cy="137160"/>
          </a:xfrm>
          <a:prstGeom prst="ellipse">
            <a:avLst/>
          </a:prstGeom>
          <a:solidFill>
            <a:srgbClr val="FFFFFF"/>
          </a:solidFill>
          <a:ln/>
        </p:spPr>
      </p:sp>
      <p:sp>
        <p:nvSpPr>
          <p:cNvPr id="10" name="Shape 7"/>
          <p:cNvSpPr/>
          <p:nvPr/>
        </p:nvSpPr>
        <p:spPr>
          <a:xfrm>
            <a:off x="464445" y="559320"/>
            <a:ext cx="133350" cy="137160"/>
          </a:xfrm>
          <a:prstGeom prst="ellipse">
            <a:avLst/>
          </a:prstGeom>
          <a:solidFill>
            <a:srgbClr val="FFFFFF"/>
          </a:solidFill>
          <a:ln/>
        </p:spPr>
      </p:sp>
      <p:sp>
        <p:nvSpPr>
          <p:cNvPr id="11" name="Text 8"/>
          <p:cNvSpPr/>
          <p:nvPr/>
        </p:nvSpPr>
        <p:spPr>
          <a:xfrm>
            <a:off x="601345" y="556260"/>
            <a:ext cx="4869815" cy="2004060"/>
          </a:xfrm>
          <a:prstGeom prst="rect">
            <a:avLst/>
          </a:prstGeom>
          <a:noFill/>
          <a:ln/>
        </p:spPr>
        <p:txBody>
          <a:bodyPr wrap="square" lIns="91440" tIns="45720" rIns="91440" bIns="45720" rtlCol="0" anchor="t"/>
          <a:lstStyle/>
          <a:p>
            <a:pPr algn="just">
              <a:lnSpc>
                <a:spcPct val="100000"/>
              </a:lnSpc>
            </a:pPr>
            <a:r>
              <a:rPr lang="en-US" sz="3200" dirty="0">
                <a:solidFill>
                  <a:srgbClr val="606C9A"/>
                </a:solidFill>
                <a:latin typeface="MiSans" pitchFamily="34" charset="0"/>
                <a:ea typeface="MiSans" pitchFamily="34" charset="-122"/>
                <a:cs typeface="MiSans" pitchFamily="34" charset="-120"/>
              </a:rPr>
              <a:t>研究目标与论文结构总览</a:t>
            </a:r>
            <a:endParaRPr lang="en-US" sz="1600" dirty="0"/>
          </a:p>
        </p:txBody>
      </p:sp>
      <p:sp>
        <p:nvSpPr>
          <p:cNvPr id="12" name="Shape 9"/>
          <p:cNvSpPr/>
          <p:nvPr/>
        </p:nvSpPr>
        <p:spPr>
          <a:xfrm>
            <a:off x="11719690" y="1105009"/>
            <a:ext cx="133350" cy="137160"/>
          </a:xfrm>
          <a:prstGeom prst="ellipse">
            <a:avLst/>
          </a:prstGeom>
          <a:solidFill>
            <a:srgbClr val="FFFFFF"/>
          </a:solidFill>
          <a:ln/>
        </p:spPr>
      </p:sp>
      <p:sp>
        <p:nvSpPr>
          <p:cNvPr id="13" name="Shape 10"/>
          <p:cNvSpPr/>
          <p:nvPr/>
        </p:nvSpPr>
        <p:spPr>
          <a:xfrm>
            <a:off x="11719690" y="904983"/>
            <a:ext cx="133350" cy="137160"/>
          </a:xfrm>
          <a:prstGeom prst="ellipse">
            <a:avLst/>
          </a:prstGeom>
          <a:solidFill>
            <a:srgbClr val="FFFFFF"/>
          </a:solidFill>
          <a:ln/>
        </p:spPr>
      </p:sp>
      <p:sp>
        <p:nvSpPr>
          <p:cNvPr id="14" name="Shape 11"/>
          <p:cNvSpPr/>
          <p:nvPr/>
        </p:nvSpPr>
        <p:spPr>
          <a:xfrm>
            <a:off x="11719690" y="704958"/>
            <a:ext cx="133350" cy="137160"/>
          </a:xfrm>
          <a:prstGeom prst="ellipse">
            <a:avLst/>
          </a:prstGeom>
          <a:solidFill>
            <a:srgbClr val="FFFFFF"/>
          </a:solidFill>
          <a:ln/>
        </p:spPr>
      </p:sp>
      <p:sp>
        <p:nvSpPr>
          <p:cNvPr id="15" name="Shape 12"/>
          <p:cNvSpPr/>
          <p:nvPr/>
        </p:nvSpPr>
        <p:spPr>
          <a:xfrm>
            <a:off x="11719690" y="504934"/>
            <a:ext cx="133350" cy="137160"/>
          </a:xfrm>
          <a:prstGeom prst="ellipse">
            <a:avLst/>
          </a:prstGeom>
          <a:solidFill>
            <a:srgbClr val="FFFFFF"/>
          </a:solidFill>
          <a:ln/>
        </p:spPr>
      </p:sp>
      <p:sp>
        <p:nvSpPr>
          <p:cNvPr id="16" name="Shape 13"/>
          <p:cNvSpPr/>
          <p:nvPr/>
        </p:nvSpPr>
        <p:spPr>
          <a:xfrm>
            <a:off x="11719690" y="1898125"/>
            <a:ext cx="133350" cy="137160"/>
          </a:xfrm>
          <a:prstGeom prst="ellipse">
            <a:avLst/>
          </a:prstGeom>
          <a:solidFill>
            <a:srgbClr val="FFFFFF"/>
          </a:solidFill>
          <a:ln/>
        </p:spPr>
      </p:sp>
      <p:sp>
        <p:nvSpPr>
          <p:cNvPr id="17" name="Shape 14"/>
          <p:cNvSpPr/>
          <p:nvPr/>
        </p:nvSpPr>
        <p:spPr>
          <a:xfrm>
            <a:off x="11719690" y="1698099"/>
            <a:ext cx="133350" cy="137160"/>
          </a:xfrm>
          <a:prstGeom prst="ellipse">
            <a:avLst/>
          </a:prstGeom>
          <a:solidFill>
            <a:srgbClr val="FFFFFF"/>
          </a:solidFill>
          <a:ln/>
        </p:spPr>
      </p:sp>
      <p:sp>
        <p:nvSpPr>
          <p:cNvPr id="18" name="Shape 15"/>
          <p:cNvSpPr/>
          <p:nvPr/>
        </p:nvSpPr>
        <p:spPr>
          <a:xfrm>
            <a:off x="11719690" y="1498074"/>
            <a:ext cx="133350" cy="137160"/>
          </a:xfrm>
          <a:prstGeom prst="ellipse">
            <a:avLst/>
          </a:prstGeom>
          <a:solidFill>
            <a:srgbClr val="FFFFFF"/>
          </a:solidFill>
          <a:ln/>
        </p:spPr>
      </p:sp>
      <p:sp>
        <p:nvSpPr>
          <p:cNvPr id="19" name="Shape 16"/>
          <p:cNvSpPr/>
          <p:nvPr/>
        </p:nvSpPr>
        <p:spPr>
          <a:xfrm>
            <a:off x="11719690" y="1298050"/>
            <a:ext cx="133350" cy="137160"/>
          </a:xfrm>
          <a:prstGeom prst="ellipse">
            <a:avLst/>
          </a:prstGeom>
          <a:solidFill>
            <a:srgbClr val="FFFFFF"/>
          </a:solidFill>
          <a:ln/>
        </p:spPr>
      </p:sp>
      <p:pic>
        <p:nvPicPr>
          <p:cNvPr id="20" name="Image 1" descr="https://kimi-img.moonshot.cn/pub/slides/slides_tmpl/image/25-09-04-15:09:20-d2sjm861bb2p4onbqdh0.jpeg"/>
          <p:cNvPicPr>
            <a:picLocks noChangeAspect="1"/>
          </p:cNvPicPr>
          <p:nvPr/>
        </p:nvPicPr>
        <p:blipFill>
          <a:blip r:embed="rId4"/>
          <a:stretch>
            <a:fillRect/>
          </a:stretch>
        </p:blipFill>
        <p:spPr>
          <a:xfrm>
            <a:off x="6081158" y="4114887"/>
            <a:ext cx="2074038" cy="2261184"/>
          </a:xfrm>
          <a:prstGeom prst="rect">
            <a:avLst/>
          </a:prstGeom>
        </p:spPr>
      </p:pic>
      <p:pic>
        <p:nvPicPr>
          <p:cNvPr id="21" name="Image 2" descr="https://kimi-img.moonshot.cn/pub/slides/slides_tmpl/image/25-09-04-15:09:20-d2sjm861bb2p4onbqdhg.jpeg"/>
          <p:cNvPicPr>
            <a:picLocks noChangeAspect="1"/>
          </p:cNvPicPr>
          <p:nvPr/>
        </p:nvPicPr>
        <p:blipFill>
          <a:blip r:embed="rId5"/>
          <a:stretch>
            <a:fillRect/>
          </a:stretch>
        </p:blipFill>
        <p:spPr>
          <a:xfrm>
            <a:off x="3944831" y="3745013"/>
            <a:ext cx="2074038" cy="2631057"/>
          </a:xfrm>
          <a:prstGeom prst="rect">
            <a:avLst/>
          </a:prstGeom>
        </p:spPr>
      </p:pic>
      <p:pic>
        <p:nvPicPr>
          <p:cNvPr id="22" name="Image 3" descr="https://kimi-img.moonshot.cn/pub/slides/slides_tmpl/image/25-09-04-15:09:20-d2sjm861bb2p4onbqdi0.jpeg"/>
          <p:cNvPicPr>
            <a:picLocks noChangeAspect="1"/>
          </p:cNvPicPr>
          <p:nvPr/>
        </p:nvPicPr>
        <p:blipFill>
          <a:blip r:embed="rId6"/>
          <a:stretch>
            <a:fillRect/>
          </a:stretch>
        </p:blipFill>
        <p:spPr>
          <a:xfrm>
            <a:off x="6081067" y="904984"/>
            <a:ext cx="2074037" cy="3098304"/>
          </a:xfrm>
          <a:prstGeom prst="rect">
            <a:avLst/>
          </a:prstGeom>
        </p:spPr>
      </p:pic>
      <p:sp>
        <p:nvSpPr>
          <p:cNvPr id="23" name="Text 17"/>
          <p:cNvSpPr/>
          <p:nvPr/>
        </p:nvSpPr>
        <p:spPr>
          <a:xfrm>
            <a:off x="523992" y="2064864"/>
            <a:ext cx="5252340" cy="367665"/>
          </a:xfrm>
          <a:prstGeom prst="rect">
            <a:avLst/>
          </a:prstGeom>
          <a:noFill/>
          <a:ln/>
        </p:spPr>
        <p:txBody>
          <a:bodyPr wrap="square" lIns="91440" tIns="45720" rIns="91440" bIns="45720" rtlCol="0" anchor="ctr">
            <a:spAutoFit/>
          </a:bodyPr>
          <a:lstStyle/>
          <a:p>
            <a:pPr>
              <a:lnSpc>
                <a:spcPct val="100000"/>
              </a:lnSpc>
            </a:pPr>
            <a:r>
              <a:rPr lang="en-US" sz="1800" dirty="0">
                <a:solidFill>
                  <a:srgbClr val="606C9A"/>
                </a:solidFill>
                <a:latin typeface="MiSans" pitchFamily="34" charset="0"/>
                <a:ea typeface="MiSans" pitchFamily="34" charset="-122"/>
                <a:cs typeface="MiSans" pitchFamily="34" charset="-120"/>
              </a:rPr>
              <a:t>核心研究目标</a:t>
            </a:r>
            <a:endParaRPr lang="en-US" sz="1600" dirty="0"/>
          </a:p>
        </p:txBody>
      </p:sp>
      <p:sp>
        <p:nvSpPr>
          <p:cNvPr id="24" name="Text 18"/>
          <p:cNvSpPr/>
          <p:nvPr/>
        </p:nvSpPr>
        <p:spPr>
          <a:xfrm>
            <a:off x="510247" y="2382203"/>
            <a:ext cx="5266085" cy="597456"/>
          </a:xfrm>
          <a:prstGeom prst="rect">
            <a:avLst/>
          </a:prstGeom>
          <a:noFill/>
          <a:ln/>
        </p:spPr>
        <p:txBody>
          <a:bodyPr wrap="square" lIns="91440" tIns="45720" rIns="91440" bIns="45720" rtlCol="0" anchor="t">
            <a:spAutoFit/>
          </a:bodyPr>
          <a:lstStyle/>
          <a:p>
            <a:pPr algn="just">
              <a:lnSpc>
                <a:spcPct val="100000"/>
              </a:lnSpc>
            </a:pPr>
            <a:r>
              <a:rPr lang="en-US" sz="1400" dirty="0">
                <a:solidFill>
                  <a:srgbClr val="606C9A"/>
                </a:solidFill>
                <a:latin typeface="MiSans" pitchFamily="34" charset="0"/>
                <a:ea typeface="MiSans" pitchFamily="34" charset="-122"/>
                <a:cs typeface="MiSans" pitchFamily="34" charset="-120"/>
              </a:rPr>
              <a:t>深入理解半监督学习原理，实现高效半监督算法，提出混合方法提升分类性能，构建完整系统提供技术支撑。</a:t>
            </a:r>
            <a:endParaRPr lang="en-US" sz="1600" dirty="0"/>
          </a:p>
        </p:txBody>
      </p:sp>
      <p:sp>
        <p:nvSpPr>
          <p:cNvPr id="25" name="Text 19"/>
          <p:cNvSpPr/>
          <p:nvPr/>
        </p:nvSpPr>
        <p:spPr>
          <a:xfrm>
            <a:off x="449939" y="3847206"/>
            <a:ext cx="3336840" cy="367665"/>
          </a:xfrm>
          <a:prstGeom prst="rect">
            <a:avLst/>
          </a:prstGeom>
          <a:noFill/>
          <a:ln/>
        </p:spPr>
        <p:txBody>
          <a:bodyPr wrap="square" lIns="91440" tIns="45720" rIns="91440" bIns="45720" rtlCol="0" anchor="ctr">
            <a:spAutoFit/>
          </a:bodyPr>
          <a:lstStyle/>
          <a:p>
            <a:pPr algn="r">
              <a:lnSpc>
                <a:spcPct val="100000"/>
              </a:lnSpc>
            </a:pPr>
            <a:r>
              <a:rPr lang="en-US" sz="1800" dirty="0">
                <a:solidFill>
                  <a:srgbClr val="606C9A"/>
                </a:solidFill>
                <a:latin typeface="MiSans" pitchFamily="34" charset="0"/>
                <a:ea typeface="MiSans" pitchFamily="34" charset="-122"/>
                <a:cs typeface="MiSans" pitchFamily="34" charset="-120"/>
              </a:rPr>
              <a:t>五大工作板块</a:t>
            </a:r>
            <a:endParaRPr lang="en-US" sz="1600" dirty="0"/>
          </a:p>
        </p:txBody>
      </p:sp>
      <p:sp>
        <p:nvSpPr>
          <p:cNvPr id="26" name="Text 20"/>
          <p:cNvSpPr/>
          <p:nvPr/>
        </p:nvSpPr>
        <p:spPr>
          <a:xfrm>
            <a:off x="464446" y="4309133"/>
            <a:ext cx="3284570" cy="1125696"/>
          </a:xfrm>
          <a:prstGeom prst="rect">
            <a:avLst/>
          </a:prstGeom>
          <a:noFill/>
          <a:ln/>
        </p:spPr>
        <p:txBody>
          <a:bodyPr wrap="square" lIns="91440" tIns="45720" rIns="91440" bIns="45720" rtlCol="0" anchor="t">
            <a:spAutoFit/>
          </a:bodyPr>
          <a:lstStyle/>
          <a:p>
            <a:pPr algn="just">
              <a:lnSpc>
                <a:spcPct val="100000"/>
              </a:lnSpc>
            </a:pPr>
            <a:r>
              <a:rPr lang="en-US" sz="1400" dirty="0">
                <a:solidFill>
                  <a:srgbClr val="606C9A"/>
                </a:solidFill>
                <a:latin typeface="MiSans" pitchFamily="34" charset="0"/>
                <a:ea typeface="MiSans" pitchFamily="34" charset="-122"/>
                <a:cs typeface="MiSans" pitchFamily="34" charset="-120"/>
              </a:rPr>
              <a:t>涵盖理论梳理、方法研究、混合模型创新、多数据集实验验证及系统全流程实现，形成理论与实践紧密结合的研究体系。</a:t>
            </a:r>
            <a:endParaRPr lang="en-US" sz="1600" dirty="0"/>
          </a:p>
        </p:txBody>
      </p:sp>
      <p:sp>
        <p:nvSpPr>
          <p:cNvPr id="27" name="Text 21"/>
          <p:cNvSpPr/>
          <p:nvPr/>
        </p:nvSpPr>
        <p:spPr>
          <a:xfrm>
            <a:off x="8279774" y="1587311"/>
            <a:ext cx="3835409" cy="367665"/>
          </a:xfrm>
          <a:prstGeom prst="rect">
            <a:avLst/>
          </a:prstGeom>
          <a:noFill/>
          <a:ln/>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0"/>
                <a:ea typeface="MiSans" pitchFamily="34" charset="-122"/>
                <a:cs typeface="MiSans" pitchFamily="34" charset="-120"/>
              </a:rPr>
              <a:t>七章结构安排</a:t>
            </a:r>
            <a:endParaRPr lang="en-US" sz="1600" dirty="0"/>
          </a:p>
        </p:txBody>
      </p:sp>
      <p:sp>
        <p:nvSpPr>
          <p:cNvPr id="28" name="Text 22"/>
          <p:cNvSpPr/>
          <p:nvPr/>
        </p:nvSpPr>
        <p:spPr>
          <a:xfrm>
            <a:off x="8279774" y="1998270"/>
            <a:ext cx="3272890" cy="861576"/>
          </a:xfrm>
          <a:prstGeom prst="rect">
            <a:avLst/>
          </a:prstGeom>
          <a:noFill/>
          <a:ln/>
        </p:spPr>
        <p:txBody>
          <a:bodyPr wrap="square" lIns="91440" tIns="45720" rIns="91440" bIns="45720" rtlCol="0" anchor="t">
            <a:spAutoFit/>
          </a:bodyPr>
          <a:lstStyle/>
          <a:p>
            <a:pPr>
              <a:lnSpc>
                <a:spcPct val="100000"/>
              </a:lnSpc>
            </a:pPr>
            <a:r>
              <a:rPr lang="en-US" sz="1400" dirty="0">
                <a:solidFill>
                  <a:srgbClr val="606C9A"/>
                </a:solidFill>
                <a:latin typeface="MiSans" pitchFamily="34" charset="0"/>
                <a:ea typeface="MiSans" pitchFamily="34" charset="-122"/>
                <a:cs typeface="MiSans" pitchFamily="34" charset="-120"/>
              </a:rPr>
              <a:t>从理论基础到方法设计，再到系统实现、实验分析与应用案例，最终总结展望，逻辑严密层层递进。</a:t>
            </a:r>
            <a:endParaRPr lang="en-US" sz="1600" dirty="0"/>
          </a:p>
        </p:txBody>
      </p:sp>
      <p:sp>
        <p:nvSpPr>
          <p:cNvPr id="29" name="Text 23"/>
          <p:cNvSpPr/>
          <p:nvPr/>
        </p:nvSpPr>
        <p:spPr>
          <a:xfrm>
            <a:off x="8270413" y="3871138"/>
            <a:ext cx="3835409" cy="367665"/>
          </a:xfrm>
          <a:prstGeom prst="rect">
            <a:avLst/>
          </a:prstGeom>
          <a:noFill/>
          <a:ln/>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0"/>
                <a:ea typeface="MiSans" pitchFamily="34" charset="-122"/>
                <a:cs typeface="MiSans" pitchFamily="34" charset="-120"/>
              </a:rPr>
              <a:t>研究闭环构建</a:t>
            </a:r>
            <a:endParaRPr lang="en-US" sz="1600" dirty="0"/>
          </a:p>
        </p:txBody>
      </p:sp>
      <p:sp>
        <p:nvSpPr>
          <p:cNvPr id="30" name="Text 24"/>
          <p:cNvSpPr/>
          <p:nvPr/>
        </p:nvSpPr>
        <p:spPr>
          <a:xfrm>
            <a:off x="8279773" y="4309133"/>
            <a:ext cx="3272891" cy="861576"/>
          </a:xfrm>
          <a:prstGeom prst="rect">
            <a:avLst/>
          </a:prstGeom>
          <a:noFill/>
          <a:ln/>
        </p:spPr>
        <p:txBody>
          <a:bodyPr wrap="square" lIns="91440" tIns="45720" rIns="91440" bIns="45720" rtlCol="0" anchor="t">
            <a:spAutoFit/>
          </a:bodyPr>
          <a:lstStyle/>
          <a:p>
            <a:pPr>
              <a:lnSpc>
                <a:spcPct val="100000"/>
              </a:lnSpc>
            </a:pPr>
            <a:r>
              <a:rPr lang="en-US" sz="1400" dirty="0">
                <a:solidFill>
                  <a:srgbClr val="606C9A"/>
                </a:solidFill>
                <a:latin typeface="MiSans" pitchFamily="34" charset="0"/>
                <a:ea typeface="MiSans" pitchFamily="34" charset="-122"/>
                <a:cs typeface="MiSans" pitchFamily="34" charset="-120"/>
              </a:rPr>
              <a:t>以问题驱动为起点，经理论分析、方法创新、实验验证至应用落地，形成完整的学术研究闭环。</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gradFill flip="none" rotWithShape="0">
          <a:gsLst>
            <a:gs pos="0">
              <a:srgbClr val="FFF2C6"/>
            </a:gs>
            <a:gs pos="47000">
              <a:srgbClr val="D8E1FD"/>
            </a:gs>
            <a:gs pos="78000">
              <a:srgbClr val="C7D5FC"/>
            </a:gs>
            <a:gs pos="100000">
              <a:srgbClr val="FDF8CB"/>
            </a:gs>
          </a:gsLst>
          <a:lin ang="24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09-04-15:09:12-d2sjm661bb2p4onbqcu0.png"/>
          <p:cNvPicPr>
            <a:picLocks noChangeAspect="1"/>
          </p:cNvPicPr>
          <p:nvPr/>
        </p:nvPicPr>
        <p:blipFill>
          <a:blip r:embed="rId3"/>
          <a:stretch>
            <a:fillRect/>
          </a:stretch>
        </p:blipFill>
        <p:spPr>
          <a:xfrm>
            <a:off x="4928399" y="517692"/>
            <a:ext cx="7251700" cy="6340308"/>
          </a:xfrm>
          <a:prstGeom prst="rect">
            <a:avLst/>
          </a:prstGeom>
        </p:spPr>
      </p:pic>
      <p:sp>
        <p:nvSpPr>
          <p:cNvPr id="3" name="Text 0"/>
          <p:cNvSpPr/>
          <p:nvPr/>
        </p:nvSpPr>
        <p:spPr>
          <a:xfrm>
            <a:off x="7048502" y="2308860"/>
            <a:ext cx="4599086" cy="3951446"/>
          </a:xfrm>
          <a:prstGeom prst="rect">
            <a:avLst/>
          </a:prstGeom>
          <a:noFill/>
          <a:ln/>
        </p:spPr>
        <p:txBody>
          <a:bodyPr wrap="square" lIns="91440" tIns="45720" rIns="91440" bIns="45720" rtlCol="0" anchor="ctr">
            <a:spAutoFit/>
          </a:bodyPr>
          <a:lstStyle/>
          <a:p>
            <a:pPr algn="just">
              <a:lnSpc>
                <a:spcPct val="100000"/>
              </a:lnSpc>
            </a:pPr>
            <a:r>
              <a:rPr lang="en-US" sz="25000" dirty="0">
                <a:solidFill>
                  <a:srgbClr val="7F9CDF"/>
                </a:solidFill>
                <a:latin typeface="MiSans" pitchFamily="34" charset="0"/>
                <a:ea typeface="MiSans" pitchFamily="34" charset="-122"/>
                <a:cs typeface="MiSans" pitchFamily="34" charset="-120"/>
              </a:rPr>
              <a:t>02</a:t>
            </a:r>
            <a:endParaRPr lang="en-US" sz="1600" dirty="0"/>
          </a:p>
        </p:txBody>
      </p:sp>
      <p:sp>
        <p:nvSpPr>
          <p:cNvPr id="4" name="Text 1"/>
          <p:cNvSpPr/>
          <p:nvPr/>
        </p:nvSpPr>
        <p:spPr>
          <a:xfrm>
            <a:off x="797724" y="1781560"/>
            <a:ext cx="4599086" cy="708581"/>
          </a:xfrm>
          <a:prstGeom prst="rect">
            <a:avLst/>
          </a:prstGeom>
          <a:noFill/>
          <a:ln/>
        </p:spPr>
        <p:txBody>
          <a:bodyPr wrap="square" lIns="91440" tIns="45720" rIns="91440" bIns="45720" rtlCol="0" anchor="ctr">
            <a:spAutoFit/>
          </a:bodyPr>
          <a:lstStyle/>
          <a:p>
            <a:pPr algn="just">
              <a:lnSpc>
                <a:spcPct val="100000"/>
              </a:lnSpc>
            </a:pPr>
            <a:r>
              <a:rPr lang="en-US" sz="4000" dirty="0">
                <a:solidFill>
                  <a:srgbClr val="6D7AAF"/>
                </a:solidFill>
                <a:latin typeface="MiSans" pitchFamily="34" charset="0"/>
                <a:ea typeface="MiSans" pitchFamily="34" charset="-122"/>
                <a:cs typeface="MiSans" pitchFamily="34" charset="-120"/>
              </a:rPr>
              <a:t>理论基石与假设</a:t>
            </a:r>
            <a:endParaRPr lang="en-US" sz="1600" dirty="0"/>
          </a:p>
        </p:txBody>
      </p:sp>
      <p:sp>
        <p:nvSpPr>
          <p:cNvPr id="5" name="Shape 2"/>
          <p:cNvSpPr/>
          <p:nvPr/>
        </p:nvSpPr>
        <p:spPr>
          <a:xfrm>
            <a:off x="731049" y="856006"/>
            <a:ext cx="133350" cy="137160"/>
          </a:xfrm>
          <a:prstGeom prst="ellipse">
            <a:avLst/>
          </a:prstGeom>
          <a:solidFill>
            <a:srgbClr val="FFFFFF"/>
          </a:solidFill>
          <a:ln/>
        </p:spPr>
      </p:sp>
      <p:sp>
        <p:nvSpPr>
          <p:cNvPr id="6" name="Shape 3"/>
          <p:cNvSpPr/>
          <p:nvPr/>
        </p:nvSpPr>
        <p:spPr>
          <a:xfrm>
            <a:off x="931074" y="856006"/>
            <a:ext cx="133350" cy="137160"/>
          </a:xfrm>
          <a:prstGeom prst="ellipse">
            <a:avLst/>
          </a:prstGeom>
          <a:solidFill>
            <a:srgbClr val="FFFFFF"/>
          </a:solidFill>
          <a:ln/>
        </p:spPr>
      </p:sp>
      <p:sp>
        <p:nvSpPr>
          <p:cNvPr id="7" name="Shape 4"/>
          <p:cNvSpPr/>
          <p:nvPr/>
        </p:nvSpPr>
        <p:spPr>
          <a:xfrm>
            <a:off x="1131099" y="856006"/>
            <a:ext cx="133350" cy="137160"/>
          </a:xfrm>
          <a:prstGeom prst="ellipse">
            <a:avLst/>
          </a:prstGeom>
          <a:solidFill>
            <a:srgbClr val="FFFFFF"/>
          </a:solidFill>
          <a:ln/>
        </p:spPr>
      </p:sp>
      <p:sp>
        <p:nvSpPr>
          <p:cNvPr id="8" name="Shape 5"/>
          <p:cNvSpPr/>
          <p:nvPr/>
        </p:nvSpPr>
        <p:spPr>
          <a:xfrm>
            <a:off x="1331124" y="856006"/>
            <a:ext cx="133350" cy="137160"/>
          </a:xfrm>
          <a:prstGeom prst="ellipse">
            <a:avLst/>
          </a:prstGeom>
          <a:solidFill>
            <a:srgbClr val="FFFFFF"/>
          </a:solidFill>
          <a:ln/>
        </p:spPr>
      </p:sp>
      <p:sp>
        <p:nvSpPr>
          <p:cNvPr id="9" name="Shape 6"/>
          <p:cNvSpPr/>
          <p:nvPr/>
        </p:nvSpPr>
        <p:spPr>
          <a:xfrm>
            <a:off x="527687" y="1596530"/>
            <a:ext cx="133350" cy="137160"/>
          </a:xfrm>
          <a:prstGeom prst="ellipse">
            <a:avLst/>
          </a:prstGeom>
          <a:solidFill>
            <a:srgbClr val="FFFFFF"/>
          </a:solidFill>
          <a:ln/>
        </p:spPr>
      </p:sp>
      <p:sp>
        <p:nvSpPr>
          <p:cNvPr id="10" name="Shape 7"/>
          <p:cNvSpPr/>
          <p:nvPr/>
        </p:nvSpPr>
        <p:spPr>
          <a:xfrm>
            <a:off x="527687" y="1396504"/>
            <a:ext cx="133350" cy="137160"/>
          </a:xfrm>
          <a:prstGeom prst="ellipse">
            <a:avLst/>
          </a:prstGeom>
          <a:solidFill>
            <a:srgbClr val="FFFFFF"/>
          </a:solidFill>
          <a:ln/>
        </p:spPr>
      </p:sp>
      <p:sp>
        <p:nvSpPr>
          <p:cNvPr id="11" name="Shape 8"/>
          <p:cNvSpPr/>
          <p:nvPr/>
        </p:nvSpPr>
        <p:spPr>
          <a:xfrm>
            <a:off x="527687" y="1196479"/>
            <a:ext cx="133350" cy="137160"/>
          </a:xfrm>
          <a:prstGeom prst="ellipse">
            <a:avLst/>
          </a:prstGeom>
          <a:solidFill>
            <a:srgbClr val="FFFFFF"/>
          </a:solidFill>
          <a:ln/>
        </p:spPr>
      </p:sp>
      <p:sp>
        <p:nvSpPr>
          <p:cNvPr id="12" name="Shape 9"/>
          <p:cNvSpPr/>
          <p:nvPr/>
        </p:nvSpPr>
        <p:spPr>
          <a:xfrm>
            <a:off x="527687" y="996455"/>
            <a:ext cx="133350" cy="137160"/>
          </a:xfrm>
          <a:prstGeom prst="ellipse">
            <a:avLst/>
          </a:prstGeom>
          <a:solidFill>
            <a:srgbClr val="FFFFFF"/>
          </a:solidFill>
          <a:ln/>
        </p:spPr>
      </p:sp>
      <p:pic>
        <p:nvPicPr>
          <p:cNvPr id="13" name="Image 1" descr="https://kimi-img.moonshot.cn/pub/slides/slides_tmpl/image/25-09-04-15:09:08-d2sjm561bb2p4onbqcmg.png"/>
          <p:cNvPicPr>
            <a:picLocks noChangeAspect="1"/>
          </p:cNvPicPr>
          <p:nvPr/>
        </p:nvPicPr>
        <p:blipFill>
          <a:blip r:embed="rId4">
            <a:alphaModFix amt="59000"/>
          </a:blip>
          <a:stretch>
            <a:fillRect/>
          </a:stretch>
        </p:blipFill>
        <p:spPr>
          <a:xfrm>
            <a:off x="5143500" y="698500"/>
            <a:ext cx="7048500" cy="6197600"/>
          </a:xfrm>
          <a:prstGeom prst="rect">
            <a:avLst/>
          </a:prstGeom>
        </p:spPr>
      </p:pic>
      <p:pic>
        <p:nvPicPr>
          <p:cNvPr id="14" name="Image 2" descr="https://kimi-img.moonshot.cn/pub/slides/slides_tmpl/image/25-09-04-15:09:07-d2sjm4u1bb2p4onbqcm0.png"/>
          <p:cNvPicPr>
            <a:picLocks noChangeAspect="1"/>
          </p:cNvPicPr>
          <p:nvPr/>
        </p:nvPicPr>
        <p:blipFill>
          <a:blip r:embed="rId5"/>
          <a:stretch>
            <a:fillRect/>
          </a:stretch>
        </p:blipFill>
        <p:spPr>
          <a:xfrm>
            <a:off x="0" y="3797300"/>
            <a:ext cx="5143500" cy="3060700"/>
          </a:xfrm>
          <a:prstGeom prst="rect">
            <a:avLst/>
          </a:prstGeom>
        </p:spPr>
      </p:pic>
      <p:pic>
        <p:nvPicPr>
          <p:cNvPr id="15" name="Image 3" descr="https://kimi-img.moonshot.cn/pub/slides/slides_tmpl/image/25-09-04-15:09:06-d2sjm4m1bb2p4onbqck0.png"/>
          <p:cNvPicPr>
            <a:picLocks noChangeAspect="1"/>
          </p:cNvPicPr>
          <p:nvPr/>
        </p:nvPicPr>
        <p:blipFill>
          <a:blip r:embed="rId6"/>
          <a:stretch>
            <a:fillRect/>
          </a:stretch>
        </p:blipFill>
        <p:spPr>
          <a:xfrm>
            <a:off x="512445" y="4587240"/>
            <a:ext cx="152400" cy="1524000"/>
          </a:xfrm>
          <a:prstGeom prst="rect">
            <a:avLst/>
          </a:prstGeom>
        </p:spPr>
      </p:pic>
      <p:pic>
        <p:nvPicPr>
          <p:cNvPr id="16" name="Image 4" descr="https://kimi-img.moonshot.cn/pub/slides/slides_tmpl/image/25-09-04-15:09:06-d2sjm4m1bb2p4onbqckg.png"/>
          <p:cNvPicPr>
            <a:picLocks noChangeAspect="1"/>
          </p:cNvPicPr>
          <p:nvPr/>
        </p:nvPicPr>
        <p:blipFill>
          <a:blip r:embed="rId7"/>
          <a:stretch>
            <a:fillRect/>
          </a:stretch>
        </p:blipFill>
        <p:spPr>
          <a:xfrm>
            <a:off x="1311275" y="3907257"/>
            <a:ext cx="1320800" cy="1371600"/>
          </a:xfrm>
          <a:prstGeom prst="rect">
            <a:avLst/>
          </a:prstGeom>
        </p:spPr>
      </p:pic>
      <p:pic>
        <p:nvPicPr>
          <p:cNvPr id="17" name="Image 5" descr="https://kimi-img.moonshot.cn/pub/slides/slides_tmpl/image/25-09-04-15:09:06-d2sjm4m1bb2p4onbqcl0.png"/>
          <p:cNvPicPr>
            <a:picLocks noChangeAspect="1"/>
          </p:cNvPicPr>
          <p:nvPr/>
        </p:nvPicPr>
        <p:blipFill>
          <a:blip r:embed="rId8"/>
          <a:stretch>
            <a:fillRect/>
          </a:stretch>
        </p:blipFill>
        <p:spPr>
          <a:xfrm>
            <a:off x="10570172" y="1111250"/>
            <a:ext cx="983056" cy="907962"/>
          </a:xfrm>
          <a:prstGeom prst="rect">
            <a:avLst/>
          </a:prstGeom>
        </p:spPr>
      </p:pic>
      <p:sp>
        <p:nvSpPr>
          <p:cNvPr id="18" name="Shape 10"/>
          <p:cNvSpPr/>
          <p:nvPr/>
        </p:nvSpPr>
        <p:spPr>
          <a:xfrm>
            <a:off x="1101725" y="3958057"/>
            <a:ext cx="539750" cy="508001"/>
          </a:xfrm>
          <a:prstGeom prst="ellipse">
            <a:avLst/>
          </a:prstGeom>
          <a:solidFill>
            <a:srgbClr val="B2C4FF"/>
          </a:solidFill>
          <a:ln/>
        </p:spPr>
      </p:sp>
      <p:pic>
        <p:nvPicPr>
          <p:cNvPr id="19" name="Image 6" descr="https://kimi-img.moonshot.cn/pub/slides/slides_tmpl/image/25-09-04-15:09:06-d2sjm4m1bb2p4onbqckg.png"/>
          <p:cNvPicPr>
            <a:picLocks noChangeAspect="1"/>
          </p:cNvPicPr>
          <p:nvPr/>
        </p:nvPicPr>
        <p:blipFill>
          <a:blip r:embed="rId7"/>
          <a:stretch>
            <a:fillRect/>
          </a:stretch>
        </p:blipFill>
        <p:spPr>
          <a:xfrm>
            <a:off x="11187651" y="1515914"/>
            <a:ext cx="731154" cy="676035"/>
          </a:xfrm>
          <a:prstGeom prst="rect">
            <a:avLst/>
          </a:prstGeom>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D8E1FD"/>
        </a:solidFill>
        <a:effectLst/>
      </p:bgPr>
    </p:bg>
    <p:spTree>
      <p:nvGrpSpPr>
        <p:cNvPr id="1" name=""/>
        <p:cNvGrpSpPr/>
        <p:nvPr/>
      </p:nvGrpSpPr>
      <p:grpSpPr>
        <a:xfrm>
          <a:off x="0" y="0"/>
          <a:ext cx="0" cy="0"/>
          <a:chOff x="0" y="0"/>
          <a:chExt cx="0" cy="0"/>
        </a:xfrm>
      </p:grpSpPr>
      <p:sp>
        <p:nvSpPr>
          <p:cNvPr id="2" name="Shape 0"/>
          <p:cNvSpPr/>
          <p:nvPr/>
        </p:nvSpPr>
        <p:spPr>
          <a:xfrm>
            <a:off x="647179" y="506141"/>
            <a:ext cx="133350" cy="137160"/>
          </a:xfrm>
          <a:prstGeom prst="ellipse">
            <a:avLst/>
          </a:prstGeom>
          <a:solidFill>
            <a:srgbClr val="FFFFFF"/>
          </a:solidFill>
          <a:ln/>
        </p:spPr>
      </p:sp>
      <p:sp>
        <p:nvSpPr>
          <p:cNvPr id="3" name="Shape 1"/>
          <p:cNvSpPr/>
          <p:nvPr/>
        </p:nvSpPr>
        <p:spPr>
          <a:xfrm>
            <a:off x="847204" y="506141"/>
            <a:ext cx="133350" cy="137160"/>
          </a:xfrm>
          <a:prstGeom prst="ellipse">
            <a:avLst/>
          </a:prstGeom>
          <a:solidFill>
            <a:srgbClr val="FFFFFF"/>
          </a:solidFill>
          <a:ln/>
        </p:spPr>
      </p:sp>
      <p:sp>
        <p:nvSpPr>
          <p:cNvPr id="4" name="Shape 2"/>
          <p:cNvSpPr/>
          <p:nvPr/>
        </p:nvSpPr>
        <p:spPr>
          <a:xfrm>
            <a:off x="1047229" y="506141"/>
            <a:ext cx="133350" cy="137160"/>
          </a:xfrm>
          <a:prstGeom prst="ellipse">
            <a:avLst/>
          </a:prstGeom>
          <a:solidFill>
            <a:srgbClr val="FFFFFF"/>
          </a:solidFill>
          <a:ln/>
        </p:spPr>
      </p:sp>
      <p:sp>
        <p:nvSpPr>
          <p:cNvPr id="5" name="Shape 3"/>
          <p:cNvSpPr/>
          <p:nvPr/>
        </p:nvSpPr>
        <p:spPr>
          <a:xfrm>
            <a:off x="1247254" y="506141"/>
            <a:ext cx="133350" cy="137160"/>
          </a:xfrm>
          <a:prstGeom prst="ellipse">
            <a:avLst/>
          </a:prstGeom>
          <a:solidFill>
            <a:srgbClr val="FFFFFF"/>
          </a:solidFill>
          <a:ln/>
        </p:spPr>
      </p:sp>
      <p:sp>
        <p:nvSpPr>
          <p:cNvPr id="6" name="Shape 4"/>
          <p:cNvSpPr/>
          <p:nvPr/>
        </p:nvSpPr>
        <p:spPr>
          <a:xfrm>
            <a:off x="443817" y="1246665"/>
            <a:ext cx="133350" cy="137160"/>
          </a:xfrm>
          <a:prstGeom prst="ellipse">
            <a:avLst/>
          </a:prstGeom>
          <a:solidFill>
            <a:srgbClr val="FFFFFF"/>
          </a:solidFill>
          <a:ln/>
        </p:spPr>
      </p:sp>
      <p:sp>
        <p:nvSpPr>
          <p:cNvPr id="7" name="Shape 5"/>
          <p:cNvSpPr/>
          <p:nvPr/>
        </p:nvSpPr>
        <p:spPr>
          <a:xfrm>
            <a:off x="443817" y="1046639"/>
            <a:ext cx="133350" cy="137160"/>
          </a:xfrm>
          <a:prstGeom prst="ellipse">
            <a:avLst/>
          </a:prstGeom>
          <a:solidFill>
            <a:srgbClr val="FFFFFF"/>
          </a:solidFill>
          <a:ln/>
        </p:spPr>
      </p:sp>
      <p:sp>
        <p:nvSpPr>
          <p:cNvPr id="8" name="Shape 6"/>
          <p:cNvSpPr/>
          <p:nvPr/>
        </p:nvSpPr>
        <p:spPr>
          <a:xfrm>
            <a:off x="443817" y="846614"/>
            <a:ext cx="133350" cy="137160"/>
          </a:xfrm>
          <a:prstGeom prst="ellipse">
            <a:avLst/>
          </a:prstGeom>
          <a:solidFill>
            <a:srgbClr val="FFFFFF"/>
          </a:solidFill>
          <a:ln/>
        </p:spPr>
      </p:sp>
      <p:sp>
        <p:nvSpPr>
          <p:cNvPr id="9" name="Shape 7"/>
          <p:cNvSpPr/>
          <p:nvPr/>
        </p:nvSpPr>
        <p:spPr>
          <a:xfrm>
            <a:off x="443817" y="646590"/>
            <a:ext cx="133350" cy="137160"/>
          </a:xfrm>
          <a:prstGeom prst="ellipse">
            <a:avLst/>
          </a:prstGeom>
          <a:solidFill>
            <a:srgbClr val="FFFFFF"/>
          </a:solidFill>
          <a:ln/>
        </p:spPr>
      </p:sp>
      <p:sp>
        <p:nvSpPr>
          <p:cNvPr id="10" name="Text 8"/>
          <p:cNvSpPr/>
          <p:nvPr/>
        </p:nvSpPr>
        <p:spPr>
          <a:xfrm>
            <a:off x="693420" y="713105"/>
            <a:ext cx="4472940" cy="1998345"/>
          </a:xfrm>
          <a:prstGeom prst="rect">
            <a:avLst/>
          </a:prstGeom>
          <a:noFill/>
          <a:ln/>
        </p:spPr>
        <p:txBody>
          <a:bodyPr wrap="square" lIns="91440" tIns="45720" rIns="91440" bIns="45720" rtlCol="0" anchor="t"/>
          <a:lstStyle/>
          <a:p>
            <a:pPr algn="just">
              <a:lnSpc>
                <a:spcPct val="100000"/>
              </a:lnSpc>
            </a:pPr>
            <a:r>
              <a:rPr lang="en-US" sz="3200" dirty="0">
                <a:solidFill>
                  <a:srgbClr val="606C9A"/>
                </a:solidFill>
                <a:latin typeface="MiSans" pitchFamily="34" charset="0"/>
                <a:ea typeface="MiSans" pitchFamily="34" charset="-122"/>
                <a:cs typeface="MiSans" pitchFamily="34" charset="-120"/>
              </a:rPr>
              <a:t>半监督学习的核心假设体系</a:t>
            </a:r>
            <a:endParaRPr lang="en-US" sz="1600" dirty="0"/>
          </a:p>
        </p:txBody>
      </p:sp>
      <p:sp>
        <p:nvSpPr>
          <p:cNvPr id="11" name="Shape 9"/>
          <p:cNvSpPr/>
          <p:nvPr/>
        </p:nvSpPr>
        <p:spPr>
          <a:xfrm>
            <a:off x="710205" y="2202359"/>
            <a:ext cx="228803" cy="212992"/>
          </a:xfrm>
          <a:prstGeom prst="ellipse">
            <a:avLst/>
          </a:prstGeom>
          <a:solidFill>
            <a:srgbClr val="000000">
              <a:alpha val="0"/>
            </a:srgbClr>
          </a:solidFill>
          <a:ln w="41275">
            <a:solidFill>
              <a:srgbClr val="FFFFFF"/>
            </a:solidFill>
            <a:prstDash val="solid"/>
          </a:ln>
        </p:spPr>
      </p:sp>
      <p:sp>
        <p:nvSpPr>
          <p:cNvPr id="12" name="Shape 10"/>
          <p:cNvSpPr/>
          <p:nvPr/>
        </p:nvSpPr>
        <p:spPr>
          <a:xfrm>
            <a:off x="786604" y="2242897"/>
            <a:ext cx="137562" cy="131914"/>
          </a:xfrm>
          <a:prstGeom prst="ellipse">
            <a:avLst/>
          </a:prstGeom>
          <a:solidFill>
            <a:srgbClr val="C1CEF6"/>
          </a:solidFill>
          <a:ln/>
        </p:spPr>
      </p:sp>
      <p:sp>
        <p:nvSpPr>
          <p:cNvPr id="13" name="Shape 11"/>
          <p:cNvSpPr/>
          <p:nvPr/>
        </p:nvSpPr>
        <p:spPr>
          <a:xfrm>
            <a:off x="710205" y="4335864"/>
            <a:ext cx="228803" cy="212992"/>
          </a:xfrm>
          <a:prstGeom prst="ellipse">
            <a:avLst/>
          </a:prstGeom>
          <a:solidFill>
            <a:srgbClr val="000000">
              <a:alpha val="0"/>
            </a:srgbClr>
          </a:solidFill>
          <a:ln w="41275">
            <a:solidFill>
              <a:srgbClr val="FFFFFF"/>
            </a:solidFill>
            <a:prstDash val="solid"/>
          </a:ln>
        </p:spPr>
      </p:sp>
      <p:sp>
        <p:nvSpPr>
          <p:cNvPr id="14" name="Shape 12"/>
          <p:cNvSpPr/>
          <p:nvPr/>
        </p:nvSpPr>
        <p:spPr>
          <a:xfrm>
            <a:off x="786604" y="4376402"/>
            <a:ext cx="137562" cy="131914"/>
          </a:xfrm>
          <a:prstGeom prst="ellipse">
            <a:avLst/>
          </a:prstGeom>
          <a:solidFill>
            <a:srgbClr val="C1CEF6"/>
          </a:solidFill>
          <a:ln/>
        </p:spPr>
      </p:sp>
      <p:pic>
        <p:nvPicPr>
          <p:cNvPr id="15" name="Image 0" descr="https://kimi-img.moonshot.cn/pub/slides/slides_tmpl/image/25-09-04-15:09:15-d2sjm6u1bb2p4onbqd3g.jpeg"/>
          <p:cNvPicPr>
            <a:picLocks noChangeAspect="1"/>
          </p:cNvPicPr>
          <p:nvPr/>
        </p:nvPicPr>
        <p:blipFill>
          <a:blip r:embed="rId3"/>
          <a:stretch>
            <a:fillRect/>
          </a:stretch>
        </p:blipFill>
        <p:spPr>
          <a:xfrm>
            <a:off x="5622277" y="0"/>
            <a:ext cx="6564268" cy="3429000"/>
          </a:xfrm>
          <a:prstGeom prst="rect">
            <a:avLst/>
          </a:prstGeom>
        </p:spPr>
      </p:pic>
      <p:pic>
        <p:nvPicPr>
          <p:cNvPr id="16" name="Image 1" descr="https://kimi-img.moonshot.cn/pub/slides/slides_tmpl/image/25-09-04-15:09:16-d2sjm761bb2p4onbqd40.jpeg"/>
          <p:cNvPicPr>
            <a:picLocks noChangeAspect="1"/>
          </p:cNvPicPr>
          <p:nvPr/>
        </p:nvPicPr>
        <p:blipFill>
          <a:blip r:embed="rId4"/>
          <a:stretch>
            <a:fillRect/>
          </a:stretch>
        </p:blipFill>
        <p:spPr>
          <a:xfrm>
            <a:off x="5620849" y="3429001"/>
            <a:ext cx="6571151" cy="3429000"/>
          </a:xfrm>
          <a:prstGeom prst="rect">
            <a:avLst/>
          </a:prstGeom>
        </p:spPr>
      </p:pic>
      <p:sp>
        <p:nvSpPr>
          <p:cNvPr id="17" name="Shape 13"/>
          <p:cNvSpPr/>
          <p:nvPr/>
        </p:nvSpPr>
        <p:spPr>
          <a:xfrm>
            <a:off x="5580731" y="-1"/>
            <a:ext cx="1940488" cy="6858000"/>
          </a:xfrm>
          <a:prstGeom prst="rect">
            <a:avLst/>
          </a:prstGeom>
          <a:gradFill flip="none" rotWithShape="1">
            <a:gsLst>
              <a:gs pos="0">
                <a:srgbClr val="D8E1FD"/>
              </a:gs>
              <a:gs pos="1000">
                <a:srgbClr val="D9E2FE"/>
              </a:gs>
              <a:gs pos="18000">
                <a:srgbClr val="D8E1FD"/>
              </a:gs>
              <a:gs pos="29000">
                <a:srgbClr val="D9E2FE"/>
              </a:gs>
              <a:gs pos="99000">
                <a:srgbClr val="FFF2C6">
                  <a:alpha val="0"/>
                </a:srgbClr>
              </a:gs>
              <a:gs pos="100000">
                <a:srgbClr val="FFF2C6">
                  <a:alpha val="0"/>
                </a:srgbClr>
              </a:gs>
            </a:gsLst>
            <a:lin ang="0" scaled="1"/>
          </a:gradFill>
          <a:ln/>
        </p:spPr>
      </p:sp>
      <p:sp>
        <p:nvSpPr>
          <p:cNvPr id="18" name="Text 14"/>
          <p:cNvSpPr/>
          <p:nvPr/>
        </p:nvSpPr>
        <p:spPr>
          <a:xfrm>
            <a:off x="1169035" y="2135505"/>
            <a:ext cx="4624705" cy="367665"/>
          </a:xfrm>
          <a:prstGeom prst="rect">
            <a:avLst/>
          </a:prstGeom>
          <a:noFill/>
          <a:ln/>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0"/>
                <a:ea typeface="MiSans" pitchFamily="34" charset="-122"/>
                <a:cs typeface="MiSans" pitchFamily="34" charset="-120"/>
              </a:rPr>
              <a:t>三大基础假设及其内涵</a:t>
            </a:r>
            <a:endParaRPr lang="en-US" sz="1600" dirty="0"/>
          </a:p>
        </p:txBody>
      </p:sp>
      <p:sp>
        <p:nvSpPr>
          <p:cNvPr id="19" name="Text 15"/>
          <p:cNvSpPr/>
          <p:nvPr/>
        </p:nvSpPr>
        <p:spPr>
          <a:xfrm>
            <a:off x="1205865" y="2534920"/>
            <a:ext cx="4624705" cy="1163201"/>
          </a:xfrm>
          <a:prstGeom prst="rect">
            <a:avLst/>
          </a:prstGeom>
          <a:noFill/>
          <a:ln/>
        </p:spPr>
        <p:txBody>
          <a:bodyPr wrap="square" lIns="91440" tIns="45720" rIns="91440" bIns="45720" rtlCol="0" anchor="t">
            <a:spAutoFit/>
          </a:bodyPr>
          <a:lstStyle/>
          <a:p>
            <a:pPr algn="just">
              <a:lnSpc>
                <a:spcPct val="100000"/>
              </a:lnSpc>
            </a:pPr>
            <a:r>
              <a:rPr lang="en-US" sz="1600" dirty="0">
                <a:solidFill>
                  <a:srgbClr val="606C9A"/>
                </a:solidFill>
                <a:latin typeface="MiSans" pitchFamily="34" charset="0"/>
                <a:ea typeface="MiSans" pitchFamily="34" charset="-122"/>
                <a:cs typeface="MiSans" pitchFamily="34" charset="-120"/>
              </a:rPr>
              <a:t>聚类假设认为同一簇内数据共享标签，应用最广泛；流形假设指出数据分布于低维流形，标签平滑变化；平滑假设推广前两者，强调邻近点标签相似，构成算法设计的核心先验。</a:t>
            </a:r>
            <a:endParaRPr lang="en-US" sz="1600" dirty="0"/>
          </a:p>
        </p:txBody>
      </p:sp>
      <p:sp>
        <p:nvSpPr>
          <p:cNvPr id="20" name="Text 16"/>
          <p:cNvSpPr/>
          <p:nvPr/>
        </p:nvSpPr>
        <p:spPr>
          <a:xfrm>
            <a:off x="1169035" y="4269105"/>
            <a:ext cx="4624705" cy="367665"/>
          </a:xfrm>
          <a:prstGeom prst="rect">
            <a:avLst/>
          </a:prstGeom>
          <a:noFill/>
          <a:ln/>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0"/>
                <a:ea typeface="MiSans" pitchFamily="34" charset="-122"/>
                <a:cs typeface="MiSans" pitchFamily="34" charset="-120"/>
              </a:rPr>
              <a:t>两大拓展假设与方法论映射</a:t>
            </a:r>
            <a:endParaRPr lang="en-US" sz="1600" dirty="0"/>
          </a:p>
        </p:txBody>
      </p:sp>
      <p:sp>
        <p:nvSpPr>
          <p:cNvPr id="21" name="Text 17"/>
          <p:cNvSpPr/>
          <p:nvPr/>
        </p:nvSpPr>
        <p:spPr>
          <a:xfrm>
            <a:off x="1205865" y="4668520"/>
            <a:ext cx="4624705" cy="1437640"/>
          </a:xfrm>
          <a:prstGeom prst="rect">
            <a:avLst/>
          </a:prstGeom>
          <a:noFill/>
          <a:ln/>
        </p:spPr>
        <p:txBody>
          <a:bodyPr wrap="square" lIns="91440" tIns="45720" rIns="91440" bIns="45720" rtlCol="0" anchor="t">
            <a:spAutoFit/>
          </a:bodyPr>
          <a:lstStyle/>
          <a:p>
            <a:pPr algn="just">
              <a:lnSpc>
                <a:spcPct val="100000"/>
              </a:lnSpc>
            </a:pPr>
            <a:r>
              <a:rPr lang="en-US" sz="1600" dirty="0">
                <a:solidFill>
                  <a:srgbClr val="606C9A"/>
                </a:solidFill>
                <a:latin typeface="MiSans" pitchFamily="34" charset="0"/>
                <a:ea typeface="MiSans" pitchFamily="34" charset="-122"/>
                <a:cs typeface="MiSans" pitchFamily="34" charset="-120"/>
              </a:rPr>
              <a:t>低密度分离假设要求决策边界穿越数据稀疏区域，指导S3VM等算法优化；一致性假设认为数据变换后标签不变，为数据增强与正则化策略提供理论依据。五大假设共同支撑半监督学习的有效性。</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gradFill flip="none" rotWithShape="0">
          <a:gsLst>
            <a:gs pos="0">
              <a:srgbClr val="FFF2C6"/>
            </a:gs>
            <a:gs pos="66000">
              <a:srgbClr val="D8E1FD"/>
            </a:gs>
            <a:gs pos="92000">
              <a:srgbClr val="C7D5FC"/>
            </a:gs>
            <a:gs pos="100000">
              <a:srgbClr val="A1D9F1"/>
            </a:gs>
          </a:gsLst>
          <a:lin ang="54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09-04-15:09:07-d2sjm4u1bb2p4onbqcm0.png"/>
          <p:cNvPicPr>
            <a:picLocks noChangeAspect="1"/>
          </p:cNvPicPr>
          <p:nvPr/>
        </p:nvPicPr>
        <p:blipFill>
          <a:blip r:embed="rId3"/>
          <a:stretch>
            <a:fillRect/>
          </a:stretch>
        </p:blipFill>
        <p:spPr>
          <a:xfrm flipH="1">
            <a:off x="5409900" y="2308860"/>
            <a:ext cx="6782099" cy="4533204"/>
          </a:xfrm>
          <a:prstGeom prst="rect">
            <a:avLst/>
          </a:prstGeom>
        </p:spPr>
      </p:pic>
      <p:sp>
        <p:nvSpPr>
          <p:cNvPr id="3" name="Shape 0"/>
          <p:cNvSpPr/>
          <p:nvPr/>
        </p:nvSpPr>
        <p:spPr>
          <a:xfrm>
            <a:off x="626131" y="324163"/>
            <a:ext cx="133350" cy="137160"/>
          </a:xfrm>
          <a:prstGeom prst="ellipse">
            <a:avLst/>
          </a:prstGeom>
          <a:solidFill>
            <a:srgbClr val="FFFFFF"/>
          </a:solidFill>
          <a:ln/>
        </p:spPr>
      </p:sp>
      <p:sp>
        <p:nvSpPr>
          <p:cNvPr id="4" name="Shape 1"/>
          <p:cNvSpPr/>
          <p:nvPr/>
        </p:nvSpPr>
        <p:spPr>
          <a:xfrm>
            <a:off x="826156" y="324163"/>
            <a:ext cx="133350" cy="137160"/>
          </a:xfrm>
          <a:prstGeom prst="ellipse">
            <a:avLst/>
          </a:prstGeom>
          <a:solidFill>
            <a:srgbClr val="FFFFFF"/>
          </a:solidFill>
          <a:ln/>
        </p:spPr>
      </p:sp>
      <p:sp>
        <p:nvSpPr>
          <p:cNvPr id="5" name="Shape 2"/>
          <p:cNvSpPr/>
          <p:nvPr/>
        </p:nvSpPr>
        <p:spPr>
          <a:xfrm>
            <a:off x="1026181" y="324163"/>
            <a:ext cx="133350" cy="137160"/>
          </a:xfrm>
          <a:prstGeom prst="ellipse">
            <a:avLst/>
          </a:prstGeom>
          <a:solidFill>
            <a:srgbClr val="FFFFFF"/>
          </a:solidFill>
          <a:ln/>
        </p:spPr>
      </p:sp>
      <p:sp>
        <p:nvSpPr>
          <p:cNvPr id="6" name="Shape 3"/>
          <p:cNvSpPr/>
          <p:nvPr/>
        </p:nvSpPr>
        <p:spPr>
          <a:xfrm>
            <a:off x="1226206" y="324163"/>
            <a:ext cx="133350" cy="137160"/>
          </a:xfrm>
          <a:prstGeom prst="ellipse">
            <a:avLst/>
          </a:prstGeom>
          <a:solidFill>
            <a:srgbClr val="FFFFFF"/>
          </a:solidFill>
          <a:ln/>
        </p:spPr>
      </p:sp>
      <p:sp>
        <p:nvSpPr>
          <p:cNvPr id="7" name="Shape 4"/>
          <p:cNvSpPr/>
          <p:nvPr/>
        </p:nvSpPr>
        <p:spPr>
          <a:xfrm>
            <a:off x="422769" y="1064687"/>
            <a:ext cx="133350" cy="137160"/>
          </a:xfrm>
          <a:prstGeom prst="ellipse">
            <a:avLst/>
          </a:prstGeom>
          <a:solidFill>
            <a:srgbClr val="FFFFFF"/>
          </a:solidFill>
          <a:ln/>
        </p:spPr>
      </p:sp>
      <p:sp>
        <p:nvSpPr>
          <p:cNvPr id="8" name="Shape 5"/>
          <p:cNvSpPr/>
          <p:nvPr/>
        </p:nvSpPr>
        <p:spPr>
          <a:xfrm>
            <a:off x="422769" y="864661"/>
            <a:ext cx="133350" cy="137160"/>
          </a:xfrm>
          <a:prstGeom prst="ellipse">
            <a:avLst/>
          </a:prstGeom>
          <a:solidFill>
            <a:srgbClr val="FFFFFF"/>
          </a:solidFill>
          <a:ln/>
        </p:spPr>
      </p:sp>
      <p:sp>
        <p:nvSpPr>
          <p:cNvPr id="9" name="Shape 6"/>
          <p:cNvSpPr/>
          <p:nvPr/>
        </p:nvSpPr>
        <p:spPr>
          <a:xfrm>
            <a:off x="422769" y="664636"/>
            <a:ext cx="133350" cy="137160"/>
          </a:xfrm>
          <a:prstGeom prst="ellipse">
            <a:avLst/>
          </a:prstGeom>
          <a:solidFill>
            <a:srgbClr val="FFFFFF"/>
          </a:solidFill>
          <a:ln/>
        </p:spPr>
      </p:sp>
      <p:sp>
        <p:nvSpPr>
          <p:cNvPr id="10" name="Shape 7"/>
          <p:cNvSpPr/>
          <p:nvPr/>
        </p:nvSpPr>
        <p:spPr>
          <a:xfrm>
            <a:off x="422769" y="464612"/>
            <a:ext cx="133350" cy="137160"/>
          </a:xfrm>
          <a:prstGeom prst="ellipse">
            <a:avLst/>
          </a:prstGeom>
          <a:solidFill>
            <a:srgbClr val="FFFFFF"/>
          </a:solidFill>
          <a:ln/>
        </p:spPr>
      </p:sp>
      <p:sp>
        <p:nvSpPr>
          <p:cNvPr id="11" name="Text 8"/>
          <p:cNvSpPr/>
          <p:nvPr/>
        </p:nvSpPr>
        <p:spPr>
          <a:xfrm>
            <a:off x="692785" y="474345"/>
            <a:ext cx="10204450" cy="1657350"/>
          </a:xfrm>
          <a:prstGeom prst="rect">
            <a:avLst/>
          </a:prstGeom>
          <a:noFill/>
          <a:ln/>
        </p:spPr>
        <p:txBody>
          <a:bodyPr wrap="square" lIns="91440" tIns="45720" rIns="91440" bIns="45720" rtlCol="0" anchor="t"/>
          <a:lstStyle/>
          <a:p>
            <a:pPr algn="just">
              <a:lnSpc>
                <a:spcPct val="100000"/>
              </a:lnSpc>
            </a:pPr>
            <a:r>
              <a:rPr lang="en-US" sz="4000" dirty="0">
                <a:solidFill>
                  <a:srgbClr val="606C9A"/>
                </a:solidFill>
                <a:latin typeface="MiSans" pitchFamily="34" charset="0"/>
                <a:ea typeface="MiSans" pitchFamily="34" charset="-122"/>
                <a:cs typeface="MiSans" pitchFamily="34" charset="-120"/>
              </a:rPr>
              <a:t>四大半监督方法范式解析</a:t>
            </a:r>
            <a:endParaRPr lang="en-US" sz="1600" dirty="0"/>
          </a:p>
        </p:txBody>
      </p:sp>
      <p:sp>
        <p:nvSpPr>
          <p:cNvPr id="12" name="Shape 9"/>
          <p:cNvSpPr/>
          <p:nvPr/>
        </p:nvSpPr>
        <p:spPr>
          <a:xfrm>
            <a:off x="5880705" y="1839219"/>
            <a:ext cx="273761" cy="268403"/>
          </a:xfrm>
          <a:prstGeom prst="ellipse">
            <a:avLst/>
          </a:prstGeom>
          <a:solidFill>
            <a:srgbClr val="000000">
              <a:alpha val="0"/>
            </a:srgbClr>
          </a:solidFill>
          <a:ln w="41275">
            <a:solidFill>
              <a:srgbClr val="FFFFFF"/>
            </a:solidFill>
            <a:prstDash val="solid"/>
          </a:ln>
        </p:spPr>
      </p:sp>
      <p:sp>
        <p:nvSpPr>
          <p:cNvPr id="13" name="Shape 10"/>
          <p:cNvSpPr/>
          <p:nvPr/>
        </p:nvSpPr>
        <p:spPr>
          <a:xfrm>
            <a:off x="5972116" y="1890303"/>
            <a:ext cx="164592" cy="166233"/>
          </a:xfrm>
          <a:prstGeom prst="ellipse">
            <a:avLst/>
          </a:prstGeom>
          <a:solidFill>
            <a:srgbClr val="C1CEF6"/>
          </a:solidFill>
          <a:ln/>
        </p:spPr>
      </p:sp>
      <p:sp>
        <p:nvSpPr>
          <p:cNvPr id="14" name="Shape 11"/>
          <p:cNvSpPr/>
          <p:nvPr/>
        </p:nvSpPr>
        <p:spPr>
          <a:xfrm>
            <a:off x="5880705" y="3461544"/>
            <a:ext cx="273761" cy="268403"/>
          </a:xfrm>
          <a:prstGeom prst="ellipse">
            <a:avLst/>
          </a:prstGeom>
          <a:solidFill>
            <a:srgbClr val="000000">
              <a:alpha val="0"/>
            </a:srgbClr>
          </a:solidFill>
          <a:ln w="41275">
            <a:solidFill>
              <a:srgbClr val="FFFFFF"/>
            </a:solidFill>
            <a:prstDash val="solid"/>
          </a:ln>
        </p:spPr>
      </p:sp>
      <p:sp>
        <p:nvSpPr>
          <p:cNvPr id="15" name="Shape 12"/>
          <p:cNvSpPr/>
          <p:nvPr/>
        </p:nvSpPr>
        <p:spPr>
          <a:xfrm>
            <a:off x="5972116" y="3512628"/>
            <a:ext cx="164592" cy="166233"/>
          </a:xfrm>
          <a:prstGeom prst="ellipse">
            <a:avLst/>
          </a:prstGeom>
          <a:solidFill>
            <a:srgbClr val="C1CEF6"/>
          </a:solidFill>
          <a:ln/>
        </p:spPr>
      </p:sp>
      <p:pic>
        <p:nvPicPr>
          <p:cNvPr id="16" name="Image 1" descr="https://kimi-img.moonshot.cn/pub/slides/slides_tmpl/image/25-09-04-15:09:16-d2sjm761bb2p4onbqd5g.jpeg"/>
          <p:cNvPicPr>
            <a:picLocks noChangeAspect="1"/>
          </p:cNvPicPr>
          <p:nvPr/>
        </p:nvPicPr>
        <p:blipFill>
          <a:blip r:embed="rId4"/>
          <a:stretch>
            <a:fillRect/>
          </a:stretch>
        </p:blipFill>
        <p:spPr>
          <a:xfrm>
            <a:off x="911975" y="1870714"/>
            <a:ext cx="4406868" cy="4533204"/>
          </a:xfrm>
          <a:prstGeom prst="rect">
            <a:avLst/>
          </a:prstGeom>
        </p:spPr>
      </p:pic>
      <p:sp>
        <p:nvSpPr>
          <p:cNvPr id="17" name="Shape 13"/>
          <p:cNvSpPr/>
          <p:nvPr/>
        </p:nvSpPr>
        <p:spPr>
          <a:xfrm>
            <a:off x="5838171" y="5083869"/>
            <a:ext cx="273761" cy="268403"/>
          </a:xfrm>
          <a:prstGeom prst="ellipse">
            <a:avLst/>
          </a:prstGeom>
          <a:solidFill>
            <a:srgbClr val="000000">
              <a:alpha val="0"/>
            </a:srgbClr>
          </a:solidFill>
          <a:ln w="41275">
            <a:solidFill>
              <a:srgbClr val="FFFFFF"/>
            </a:solidFill>
            <a:prstDash val="solid"/>
          </a:ln>
        </p:spPr>
      </p:sp>
      <p:sp>
        <p:nvSpPr>
          <p:cNvPr id="18" name="Shape 14"/>
          <p:cNvSpPr/>
          <p:nvPr/>
        </p:nvSpPr>
        <p:spPr>
          <a:xfrm>
            <a:off x="5929582" y="5134953"/>
            <a:ext cx="164592" cy="166233"/>
          </a:xfrm>
          <a:prstGeom prst="ellipse">
            <a:avLst/>
          </a:prstGeom>
          <a:solidFill>
            <a:srgbClr val="C1CEF6"/>
          </a:solidFill>
          <a:ln/>
        </p:spPr>
      </p:sp>
      <p:sp>
        <p:nvSpPr>
          <p:cNvPr id="19" name="Text 15"/>
          <p:cNvSpPr/>
          <p:nvPr/>
        </p:nvSpPr>
        <p:spPr>
          <a:xfrm>
            <a:off x="6234654" y="1692123"/>
            <a:ext cx="5480551" cy="459740"/>
          </a:xfrm>
          <a:prstGeom prst="rect">
            <a:avLst/>
          </a:prstGeom>
          <a:noFill/>
          <a:ln/>
        </p:spPr>
        <p:txBody>
          <a:bodyPr wrap="square" lIns="91440" tIns="45720" rIns="91440" bIns="45720" rtlCol="0" anchor="ctr">
            <a:spAutoFit/>
          </a:bodyPr>
          <a:lstStyle/>
          <a:p>
            <a:pPr algn="just">
              <a:lnSpc>
                <a:spcPct val="100000"/>
              </a:lnSpc>
            </a:pPr>
            <a:r>
              <a:rPr lang="en-US" sz="2400" dirty="0">
                <a:solidFill>
                  <a:srgbClr val="606C9A"/>
                </a:solidFill>
                <a:latin typeface="MiSans" pitchFamily="34" charset="0"/>
                <a:ea typeface="MiSans" pitchFamily="34" charset="-122"/>
                <a:cs typeface="MiSans" pitchFamily="34" charset="-120"/>
              </a:rPr>
              <a:t>生成模型与自训练范式</a:t>
            </a:r>
            <a:endParaRPr lang="en-US" sz="1600" dirty="0"/>
          </a:p>
        </p:txBody>
      </p:sp>
      <p:sp>
        <p:nvSpPr>
          <p:cNvPr id="20" name="Text 16"/>
          <p:cNvSpPr/>
          <p:nvPr/>
        </p:nvSpPr>
        <p:spPr>
          <a:xfrm>
            <a:off x="5986395" y="2260810"/>
            <a:ext cx="5480551" cy="861576"/>
          </a:xfrm>
          <a:prstGeom prst="rect">
            <a:avLst/>
          </a:prstGeom>
          <a:noFill/>
          <a:ln/>
        </p:spPr>
        <p:txBody>
          <a:bodyPr wrap="square" lIns="91440" tIns="45720" rIns="91440" bIns="45720" rtlCol="0" anchor="ctr">
            <a:spAutoFit/>
          </a:bodyPr>
          <a:lstStyle/>
          <a:p>
            <a:pPr algn="just">
              <a:lnSpc>
                <a:spcPct val="100000"/>
              </a:lnSpc>
            </a:pPr>
            <a:r>
              <a:rPr lang="en-US" sz="1400" dirty="0">
                <a:solidFill>
                  <a:srgbClr val="606C9A"/>
                </a:solidFill>
                <a:latin typeface="MiSans" pitchFamily="34" charset="0"/>
                <a:ea typeface="MiSans" pitchFamily="34" charset="-122"/>
                <a:cs typeface="MiSans" pitchFamily="34" charset="-120"/>
              </a:rPr>
              <a:t>生成模型假设数据服从特定分布，利用EM算法估计参数，代表为高斯混合模型；自训练通过迭代扩充高置信度伪标签样本，实现简单但易受误差累积影响。</a:t>
            </a:r>
            <a:endParaRPr lang="en-US" sz="1600" dirty="0"/>
          </a:p>
        </p:txBody>
      </p:sp>
      <p:sp>
        <p:nvSpPr>
          <p:cNvPr id="21" name="Text 17"/>
          <p:cNvSpPr/>
          <p:nvPr/>
        </p:nvSpPr>
        <p:spPr>
          <a:xfrm>
            <a:off x="6234654" y="3314448"/>
            <a:ext cx="5480551" cy="459740"/>
          </a:xfrm>
          <a:prstGeom prst="rect">
            <a:avLst/>
          </a:prstGeom>
          <a:noFill/>
          <a:ln/>
        </p:spPr>
        <p:txBody>
          <a:bodyPr wrap="square" lIns="91440" tIns="45720" rIns="91440" bIns="45720" rtlCol="0" anchor="ctr">
            <a:spAutoFit/>
          </a:bodyPr>
          <a:lstStyle/>
          <a:p>
            <a:pPr algn="just">
              <a:lnSpc>
                <a:spcPct val="100000"/>
              </a:lnSpc>
            </a:pPr>
            <a:r>
              <a:rPr lang="en-US" sz="2400" dirty="0">
                <a:solidFill>
                  <a:srgbClr val="606C9A"/>
                </a:solidFill>
                <a:latin typeface="MiSans" pitchFamily="34" charset="0"/>
                <a:ea typeface="MiSans" pitchFamily="34" charset="-122"/>
                <a:cs typeface="MiSans" pitchFamily="34" charset="-120"/>
              </a:rPr>
              <a:t>协同训练与图方法范式</a:t>
            </a:r>
            <a:endParaRPr lang="en-US" sz="1600" dirty="0"/>
          </a:p>
        </p:txBody>
      </p:sp>
      <p:sp>
        <p:nvSpPr>
          <p:cNvPr id="22" name="Text 18"/>
          <p:cNvSpPr/>
          <p:nvPr/>
        </p:nvSpPr>
        <p:spPr>
          <a:xfrm>
            <a:off x="5967954" y="3862458"/>
            <a:ext cx="5480551" cy="861576"/>
          </a:xfrm>
          <a:prstGeom prst="rect">
            <a:avLst/>
          </a:prstGeom>
          <a:noFill/>
          <a:ln/>
        </p:spPr>
        <p:txBody>
          <a:bodyPr wrap="square" lIns="91440" tIns="45720" rIns="91440" bIns="45720" rtlCol="0" anchor="ctr">
            <a:spAutoFit/>
          </a:bodyPr>
          <a:lstStyle/>
          <a:p>
            <a:pPr algn="just">
              <a:lnSpc>
                <a:spcPct val="100000"/>
              </a:lnSpc>
            </a:pPr>
            <a:r>
              <a:rPr lang="en-US" sz="1400" dirty="0">
                <a:solidFill>
                  <a:srgbClr val="606C9A"/>
                </a:solidFill>
                <a:latin typeface="MiSans" pitchFamily="34" charset="0"/>
                <a:ea typeface="MiSans" pitchFamily="34" charset="-122"/>
                <a:cs typeface="MiSans" pitchFamily="34" charset="-120"/>
              </a:rPr>
              <a:t>协同训练依托多视图假设，让不同视图分类器相互教学，鲁棒性较强但视图独立性要求苛刻；图方法将数据建模为图结构，通过标签传播利用相似性，理论扎实但计算复杂度高。</a:t>
            </a:r>
            <a:endParaRPr lang="en-US" sz="1600" dirty="0"/>
          </a:p>
        </p:txBody>
      </p:sp>
      <p:sp>
        <p:nvSpPr>
          <p:cNvPr id="23" name="Text 19"/>
          <p:cNvSpPr/>
          <p:nvPr/>
        </p:nvSpPr>
        <p:spPr>
          <a:xfrm>
            <a:off x="6192120" y="4936773"/>
            <a:ext cx="5480551" cy="459740"/>
          </a:xfrm>
          <a:prstGeom prst="rect">
            <a:avLst/>
          </a:prstGeom>
          <a:noFill/>
          <a:ln/>
        </p:spPr>
        <p:txBody>
          <a:bodyPr wrap="square" lIns="91440" tIns="45720" rIns="91440" bIns="45720" rtlCol="0" anchor="ctr">
            <a:spAutoFit/>
          </a:bodyPr>
          <a:lstStyle/>
          <a:p>
            <a:pPr algn="just">
              <a:lnSpc>
                <a:spcPct val="100000"/>
              </a:lnSpc>
            </a:pPr>
            <a:r>
              <a:rPr lang="en-US" sz="2400" dirty="0">
                <a:solidFill>
                  <a:srgbClr val="606C9A"/>
                </a:solidFill>
                <a:latin typeface="MiSans" pitchFamily="34" charset="0"/>
                <a:ea typeface="MiSans" pitchFamily="34" charset="-122"/>
                <a:cs typeface="MiSans" pitchFamily="34" charset="-120"/>
              </a:rPr>
              <a:t>半监督支持向量机</a:t>
            </a:r>
            <a:endParaRPr lang="en-US" sz="1600" dirty="0"/>
          </a:p>
        </p:txBody>
      </p:sp>
      <p:sp>
        <p:nvSpPr>
          <p:cNvPr id="24" name="Text 20"/>
          <p:cNvSpPr/>
          <p:nvPr/>
        </p:nvSpPr>
        <p:spPr>
          <a:xfrm>
            <a:off x="5925420" y="5484783"/>
            <a:ext cx="5480551" cy="861576"/>
          </a:xfrm>
          <a:prstGeom prst="rect">
            <a:avLst/>
          </a:prstGeom>
          <a:noFill/>
          <a:ln/>
        </p:spPr>
        <p:txBody>
          <a:bodyPr wrap="square" lIns="91440" tIns="45720" rIns="91440" bIns="45720" rtlCol="0" anchor="ctr">
            <a:spAutoFit/>
          </a:bodyPr>
          <a:lstStyle/>
          <a:p>
            <a:pPr algn="just">
              <a:lnSpc>
                <a:spcPct val="100000"/>
              </a:lnSpc>
            </a:pPr>
            <a:r>
              <a:rPr lang="en-US" sz="1400" dirty="0">
                <a:solidFill>
                  <a:srgbClr val="606C9A"/>
                </a:solidFill>
                <a:latin typeface="MiSans" pitchFamily="34" charset="0"/>
                <a:ea typeface="MiSans" pitchFamily="34" charset="-122"/>
                <a:cs typeface="MiSans" pitchFamily="34" charset="-120"/>
              </a:rPr>
              <a:t>S3VM直接优化穿越低密度区域的决策边界，将监督SVM扩展至半监督场景，是判别式半监督学习的典型代表，与生成式方法形成互补。</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gradFill flip="none" rotWithShape="0">
          <a:gsLst>
            <a:gs pos="0">
              <a:srgbClr val="FFF2C6"/>
            </a:gs>
            <a:gs pos="47000">
              <a:srgbClr val="D8E1FD"/>
            </a:gs>
            <a:gs pos="78000">
              <a:srgbClr val="C7D5FC"/>
            </a:gs>
            <a:gs pos="100000">
              <a:srgbClr val="FDF8CB"/>
            </a:gs>
          </a:gsLst>
          <a:lin ang="24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09-04-15:09:12-d2sjm661bb2p4onbqcu0.png"/>
          <p:cNvPicPr>
            <a:picLocks noChangeAspect="1"/>
          </p:cNvPicPr>
          <p:nvPr/>
        </p:nvPicPr>
        <p:blipFill>
          <a:blip r:embed="rId3"/>
          <a:stretch>
            <a:fillRect/>
          </a:stretch>
        </p:blipFill>
        <p:spPr>
          <a:xfrm>
            <a:off x="4928399" y="517692"/>
            <a:ext cx="7251700" cy="6340308"/>
          </a:xfrm>
          <a:prstGeom prst="rect">
            <a:avLst/>
          </a:prstGeom>
        </p:spPr>
      </p:pic>
      <p:sp>
        <p:nvSpPr>
          <p:cNvPr id="3" name="Text 0"/>
          <p:cNvSpPr/>
          <p:nvPr/>
        </p:nvSpPr>
        <p:spPr>
          <a:xfrm>
            <a:off x="7048502" y="2308860"/>
            <a:ext cx="4599086" cy="3951446"/>
          </a:xfrm>
          <a:prstGeom prst="rect">
            <a:avLst/>
          </a:prstGeom>
          <a:noFill/>
          <a:ln/>
        </p:spPr>
        <p:txBody>
          <a:bodyPr wrap="square" lIns="91440" tIns="45720" rIns="91440" bIns="45720" rtlCol="0" anchor="ctr">
            <a:spAutoFit/>
          </a:bodyPr>
          <a:lstStyle/>
          <a:p>
            <a:pPr algn="just">
              <a:lnSpc>
                <a:spcPct val="100000"/>
              </a:lnSpc>
            </a:pPr>
            <a:r>
              <a:rPr lang="en-US" sz="25000" dirty="0">
                <a:solidFill>
                  <a:srgbClr val="7F9CDF"/>
                </a:solidFill>
                <a:latin typeface="MiSans" pitchFamily="34" charset="0"/>
                <a:ea typeface="MiSans" pitchFamily="34" charset="-122"/>
                <a:cs typeface="MiSans" pitchFamily="34" charset="-120"/>
              </a:rPr>
              <a:t>03</a:t>
            </a:r>
            <a:endParaRPr lang="en-US" sz="1600" dirty="0"/>
          </a:p>
        </p:txBody>
      </p:sp>
      <p:sp>
        <p:nvSpPr>
          <p:cNvPr id="4" name="Text 1"/>
          <p:cNvSpPr/>
          <p:nvPr/>
        </p:nvSpPr>
        <p:spPr>
          <a:xfrm>
            <a:off x="797724" y="1781560"/>
            <a:ext cx="4599086" cy="708581"/>
          </a:xfrm>
          <a:prstGeom prst="rect">
            <a:avLst/>
          </a:prstGeom>
          <a:noFill/>
          <a:ln/>
        </p:spPr>
        <p:txBody>
          <a:bodyPr wrap="square" lIns="91440" tIns="45720" rIns="91440" bIns="45720" rtlCol="0" anchor="ctr">
            <a:spAutoFit/>
          </a:bodyPr>
          <a:lstStyle/>
          <a:p>
            <a:pPr algn="just">
              <a:lnSpc>
                <a:spcPct val="100000"/>
              </a:lnSpc>
            </a:pPr>
            <a:r>
              <a:rPr lang="en-US" sz="4000" dirty="0">
                <a:solidFill>
                  <a:srgbClr val="6D7AAF"/>
                </a:solidFill>
                <a:latin typeface="MiSans" pitchFamily="34" charset="0"/>
                <a:ea typeface="MiSans" pitchFamily="34" charset="-122"/>
                <a:cs typeface="MiSans" pitchFamily="34" charset="-120"/>
              </a:rPr>
              <a:t>方法设计与创新</a:t>
            </a:r>
            <a:endParaRPr lang="en-US" sz="1600" dirty="0"/>
          </a:p>
        </p:txBody>
      </p:sp>
      <p:sp>
        <p:nvSpPr>
          <p:cNvPr id="5" name="Shape 2"/>
          <p:cNvSpPr/>
          <p:nvPr/>
        </p:nvSpPr>
        <p:spPr>
          <a:xfrm>
            <a:off x="731049" y="856006"/>
            <a:ext cx="133350" cy="137160"/>
          </a:xfrm>
          <a:prstGeom prst="ellipse">
            <a:avLst/>
          </a:prstGeom>
          <a:solidFill>
            <a:srgbClr val="FFFFFF"/>
          </a:solidFill>
          <a:ln/>
        </p:spPr>
      </p:sp>
      <p:sp>
        <p:nvSpPr>
          <p:cNvPr id="6" name="Shape 3"/>
          <p:cNvSpPr/>
          <p:nvPr/>
        </p:nvSpPr>
        <p:spPr>
          <a:xfrm>
            <a:off x="931074" y="856006"/>
            <a:ext cx="133350" cy="137160"/>
          </a:xfrm>
          <a:prstGeom prst="ellipse">
            <a:avLst/>
          </a:prstGeom>
          <a:solidFill>
            <a:srgbClr val="FFFFFF"/>
          </a:solidFill>
          <a:ln/>
        </p:spPr>
      </p:sp>
      <p:sp>
        <p:nvSpPr>
          <p:cNvPr id="7" name="Shape 4"/>
          <p:cNvSpPr/>
          <p:nvPr/>
        </p:nvSpPr>
        <p:spPr>
          <a:xfrm>
            <a:off x="1131099" y="856006"/>
            <a:ext cx="133350" cy="137160"/>
          </a:xfrm>
          <a:prstGeom prst="ellipse">
            <a:avLst/>
          </a:prstGeom>
          <a:solidFill>
            <a:srgbClr val="FFFFFF"/>
          </a:solidFill>
          <a:ln/>
        </p:spPr>
      </p:sp>
      <p:sp>
        <p:nvSpPr>
          <p:cNvPr id="8" name="Shape 5"/>
          <p:cNvSpPr/>
          <p:nvPr/>
        </p:nvSpPr>
        <p:spPr>
          <a:xfrm>
            <a:off x="1331124" y="856006"/>
            <a:ext cx="133350" cy="137160"/>
          </a:xfrm>
          <a:prstGeom prst="ellipse">
            <a:avLst/>
          </a:prstGeom>
          <a:solidFill>
            <a:srgbClr val="FFFFFF"/>
          </a:solidFill>
          <a:ln/>
        </p:spPr>
      </p:sp>
      <p:sp>
        <p:nvSpPr>
          <p:cNvPr id="9" name="Shape 6"/>
          <p:cNvSpPr/>
          <p:nvPr/>
        </p:nvSpPr>
        <p:spPr>
          <a:xfrm>
            <a:off x="527687" y="1596530"/>
            <a:ext cx="133350" cy="137160"/>
          </a:xfrm>
          <a:prstGeom prst="ellipse">
            <a:avLst/>
          </a:prstGeom>
          <a:solidFill>
            <a:srgbClr val="FFFFFF"/>
          </a:solidFill>
          <a:ln/>
        </p:spPr>
      </p:sp>
      <p:sp>
        <p:nvSpPr>
          <p:cNvPr id="10" name="Shape 7"/>
          <p:cNvSpPr/>
          <p:nvPr/>
        </p:nvSpPr>
        <p:spPr>
          <a:xfrm>
            <a:off x="527687" y="1396504"/>
            <a:ext cx="133350" cy="137160"/>
          </a:xfrm>
          <a:prstGeom prst="ellipse">
            <a:avLst/>
          </a:prstGeom>
          <a:solidFill>
            <a:srgbClr val="FFFFFF"/>
          </a:solidFill>
          <a:ln/>
        </p:spPr>
      </p:sp>
      <p:sp>
        <p:nvSpPr>
          <p:cNvPr id="11" name="Shape 8"/>
          <p:cNvSpPr/>
          <p:nvPr/>
        </p:nvSpPr>
        <p:spPr>
          <a:xfrm>
            <a:off x="527687" y="1196479"/>
            <a:ext cx="133350" cy="137160"/>
          </a:xfrm>
          <a:prstGeom prst="ellipse">
            <a:avLst/>
          </a:prstGeom>
          <a:solidFill>
            <a:srgbClr val="FFFFFF"/>
          </a:solidFill>
          <a:ln/>
        </p:spPr>
      </p:sp>
      <p:sp>
        <p:nvSpPr>
          <p:cNvPr id="12" name="Shape 9"/>
          <p:cNvSpPr/>
          <p:nvPr/>
        </p:nvSpPr>
        <p:spPr>
          <a:xfrm>
            <a:off x="527687" y="996455"/>
            <a:ext cx="133350" cy="137160"/>
          </a:xfrm>
          <a:prstGeom prst="ellipse">
            <a:avLst/>
          </a:prstGeom>
          <a:solidFill>
            <a:srgbClr val="FFFFFF"/>
          </a:solidFill>
          <a:ln/>
        </p:spPr>
      </p:sp>
      <p:pic>
        <p:nvPicPr>
          <p:cNvPr id="13" name="Image 1" descr="https://kimi-img.moonshot.cn/pub/slides/slides_tmpl/image/25-09-04-15:09:08-d2sjm561bb2p4onbqcmg.png"/>
          <p:cNvPicPr>
            <a:picLocks noChangeAspect="1"/>
          </p:cNvPicPr>
          <p:nvPr/>
        </p:nvPicPr>
        <p:blipFill>
          <a:blip r:embed="rId4">
            <a:alphaModFix amt="59000"/>
          </a:blip>
          <a:stretch>
            <a:fillRect/>
          </a:stretch>
        </p:blipFill>
        <p:spPr>
          <a:xfrm>
            <a:off x="5143500" y="698500"/>
            <a:ext cx="7048500" cy="6197600"/>
          </a:xfrm>
          <a:prstGeom prst="rect">
            <a:avLst/>
          </a:prstGeom>
        </p:spPr>
      </p:pic>
      <p:pic>
        <p:nvPicPr>
          <p:cNvPr id="14" name="Image 2" descr="https://kimi-img.moonshot.cn/pub/slides/slides_tmpl/image/25-09-04-15:09:07-d2sjm4u1bb2p4onbqcm0.png"/>
          <p:cNvPicPr>
            <a:picLocks noChangeAspect="1"/>
          </p:cNvPicPr>
          <p:nvPr/>
        </p:nvPicPr>
        <p:blipFill>
          <a:blip r:embed="rId5"/>
          <a:stretch>
            <a:fillRect/>
          </a:stretch>
        </p:blipFill>
        <p:spPr>
          <a:xfrm>
            <a:off x="0" y="3797300"/>
            <a:ext cx="5143500" cy="3060700"/>
          </a:xfrm>
          <a:prstGeom prst="rect">
            <a:avLst/>
          </a:prstGeom>
        </p:spPr>
      </p:pic>
      <p:pic>
        <p:nvPicPr>
          <p:cNvPr id="15" name="Image 3" descr="https://kimi-img.moonshot.cn/pub/slides/slides_tmpl/image/25-09-04-15:09:06-d2sjm4m1bb2p4onbqck0.png"/>
          <p:cNvPicPr>
            <a:picLocks noChangeAspect="1"/>
          </p:cNvPicPr>
          <p:nvPr/>
        </p:nvPicPr>
        <p:blipFill>
          <a:blip r:embed="rId6"/>
          <a:stretch>
            <a:fillRect/>
          </a:stretch>
        </p:blipFill>
        <p:spPr>
          <a:xfrm>
            <a:off x="512445" y="4587240"/>
            <a:ext cx="152400" cy="1524000"/>
          </a:xfrm>
          <a:prstGeom prst="rect">
            <a:avLst/>
          </a:prstGeom>
        </p:spPr>
      </p:pic>
      <p:pic>
        <p:nvPicPr>
          <p:cNvPr id="16" name="Image 4" descr="https://kimi-img.moonshot.cn/pub/slides/slides_tmpl/image/25-09-04-15:09:06-d2sjm4m1bb2p4onbqckg.png"/>
          <p:cNvPicPr>
            <a:picLocks noChangeAspect="1"/>
          </p:cNvPicPr>
          <p:nvPr/>
        </p:nvPicPr>
        <p:blipFill>
          <a:blip r:embed="rId7"/>
          <a:stretch>
            <a:fillRect/>
          </a:stretch>
        </p:blipFill>
        <p:spPr>
          <a:xfrm>
            <a:off x="1311275" y="3907257"/>
            <a:ext cx="1320800" cy="1371600"/>
          </a:xfrm>
          <a:prstGeom prst="rect">
            <a:avLst/>
          </a:prstGeom>
        </p:spPr>
      </p:pic>
      <p:pic>
        <p:nvPicPr>
          <p:cNvPr id="17" name="Image 5" descr="https://kimi-img.moonshot.cn/pub/slides/slides_tmpl/image/25-09-04-15:09:06-d2sjm4m1bb2p4onbqcl0.png"/>
          <p:cNvPicPr>
            <a:picLocks noChangeAspect="1"/>
          </p:cNvPicPr>
          <p:nvPr/>
        </p:nvPicPr>
        <p:blipFill>
          <a:blip r:embed="rId8"/>
          <a:stretch>
            <a:fillRect/>
          </a:stretch>
        </p:blipFill>
        <p:spPr>
          <a:xfrm>
            <a:off x="10570172" y="1111250"/>
            <a:ext cx="983056" cy="907962"/>
          </a:xfrm>
          <a:prstGeom prst="rect">
            <a:avLst/>
          </a:prstGeom>
        </p:spPr>
      </p:pic>
      <p:sp>
        <p:nvSpPr>
          <p:cNvPr id="18" name="Shape 10"/>
          <p:cNvSpPr/>
          <p:nvPr/>
        </p:nvSpPr>
        <p:spPr>
          <a:xfrm>
            <a:off x="1101725" y="3958057"/>
            <a:ext cx="539750" cy="508001"/>
          </a:xfrm>
          <a:prstGeom prst="ellipse">
            <a:avLst/>
          </a:prstGeom>
          <a:solidFill>
            <a:srgbClr val="B2C4FF"/>
          </a:solidFill>
          <a:ln/>
        </p:spPr>
      </p:sp>
      <p:pic>
        <p:nvPicPr>
          <p:cNvPr id="19" name="Image 6" descr="https://kimi-img.moonshot.cn/pub/slides/slides_tmpl/image/25-09-04-15:09:06-d2sjm4m1bb2p4onbqckg.png"/>
          <p:cNvPicPr>
            <a:picLocks noChangeAspect="1"/>
          </p:cNvPicPr>
          <p:nvPr/>
        </p:nvPicPr>
        <p:blipFill>
          <a:blip r:embed="rId7"/>
          <a:stretch>
            <a:fillRect/>
          </a:stretch>
        </p:blipFill>
        <p:spPr>
          <a:xfrm>
            <a:off x="11187651" y="1515914"/>
            <a:ext cx="731154" cy="676035"/>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gradFill flip="none" rotWithShape="0">
          <a:gsLst>
            <a:gs pos="0">
              <a:srgbClr val="FFF2C6"/>
            </a:gs>
            <a:gs pos="47000">
              <a:srgbClr val="D8E1FD"/>
            </a:gs>
            <a:gs pos="78000">
              <a:srgbClr val="C7D5FC"/>
            </a:gs>
            <a:gs pos="100000">
              <a:srgbClr val="FDF8CB"/>
            </a:gs>
          </a:gsLst>
          <a:lin ang="2400000" scaled="1"/>
        </a:gradFill>
        <a:effectLst/>
      </p:bgPr>
    </p:bg>
    <p:spTree>
      <p:nvGrpSpPr>
        <p:cNvPr id="1" name=""/>
        <p:cNvGrpSpPr/>
        <p:nvPr/>
      </p:nvGrpSpPr>
      <p:grpSpPr>
        <a:xfrm>
          <a:off x="0" y="0"/>
          <a:ext cx="0" cy="0"/>
          <a:chOff x="0" y="0"/>
          <a:chExt cx="0" cy="0"/>
        </a:xfrm>
      </p:grpSpPr>
      <p:sp>
        <p:nvSpPr>
          <p:cNvPr id="2" name="Shape 0"/>
          <p:cNvSpPr/>
          <p:nvPr/>
        </p:nvSpPr>
        <p:spPr>
          <a:xfrm>
            <a:off x="662944" y="382994"/>
            <a:ext cx="133350" cy="137160"/>
          </a:xfrm>
          <a:prstGeom prst="ellipse">
            <a:avLst/>
          </a:prstGeom>
          <a:solidFill>
            <a:srgbClr val="FFFFFF"/>
          </a:solidFill>
          <a:ln/>
        </p:spPr>
      </p:sp>
      <p:sp>
        <p:nvSpPr>
          <p:cNvPr id="3" name="Shape 1"/>
          <p:cNvSpPr/>
          <p:nvPr/>
        </p:nvSpPr>
        <p:spPr>
          <a:xfrm>
            <a:off x="862969" y="382994"/>
            <a:ext cx="133350" cy="137160"/>
          </a:xfrm>
          <a:prstGeom prst="ellipse">
            <a:avLst/>
          </a:prstGeom>
          <a:solidFill>
            <a:srgbClr val="FFFFFF"/>
          </a:solidFill>
          <a:ln/>
        </p:spPr>
      </p:sp>
      <p:sp>
        <p:nvSpPr>
          <p:cNvPr id="4" name="Shape 2"/>
          <p:cNvSpPr/>
          <p:nvPr/>
        </p:nvSpPr>
        <p:spPr>
          <a:xfrm>
            <a:off x="1062994" y="382994"/>
            <a:ext cx="133350" cy="137160"/>
          </a:xfrm>
          <a:prstGeom prst="ellipse">
            <a:avLst/>
          </a:prstGeom>
          <a:solidFill>
            <a:srgbClr val="FFFFFF"/>
          </a:solidFill>
          <a:ln/>
        </p:spPr>
      </p:sp>
      <p:sp>
        <p:nvSpPr>
          <p:cNvPr id="5" name="Shape 3"/>
          <p:cNvSpPr/>
          <p:nvPr/>
        </p:nvSpPr>
        <p:spPr>
          <a:xfrm>
            <a:off x="1263019" y="382994"/>
            <a:ext cx="133350" cy="137160"/>
          </a:xfrm>
          <a:prstGeom prst="ellipse">
            <a:avLst/>
          </a:prstGeom>
          <a:solidFill>
            <a:srgbClr val="FFFFFF"/>
          </a:solidFill>
          <a:ln/>
        </p:spPr>
      </p:sp>
      <p:sp>
        <p:nvSpPr>
          <p:cNvPr id="6" name="Shape 4"/>
          <p:cNvSpPr/>
          <p:nvPr/>
        </p:nvSpPr>
        <p:spPr>
          <a:xfrm>
            <a:off x="459582" y="1123517"/>
            <a:ext cx="133350" cy="137160"/>
          </a:xfrm>
          <a:prstGeom prst="ellipse">
            <a:avLst/>
          </a:prstGeom>
          <a:solidFill>
            <a:srgbClr val="FFFFFF"/>
          </a:solidFill>
          <a:ln/>
        </p:spPr>
      </p:sp>
      <p:sp>
        <p:nvSpPr>
          <p:cNvPr id="7" name="Shape 5"/>
          <p:cNvSpPr/>
          <p:nvPr/>
        </p:nvSpPr>
        <p:spPr>
          <a:xfrm>
            <a:off x="459582" y="923492"/>
            <a:ext cx="133350" cy="137160"/>
          </a:xfrm>
          <a:prstGeom prst="ellipse">
            <a:avLst/>
          </a:prstGeom>
          <a:solidFill>
            <a:srgbClr val="FFFFFF"/>
          </a:solidFill>
          <a:ln/>
        </p:spPr>
      </p:sp>
      <p:sp>
        <p:nvSpPr>
          <p:cNvPr id="8" name="Shape 6"/>
          <p:cNvSpPr/>
          <p:nvPr/>
        </p:nvSpPr>
        <p:spPr>
          <a:xfrm>
            <a:off x="459582" y="723467"/>
            <a:ext cx="133350" cy="137160"/>
          </a:xfrm>
          <a:prstGeom prst="ellipse">
            <a:avLst/>
          </a:prstGeom>
          <a:solidFill>
            <a:srgbClr val="FFFFFF"/>
          </a:solidFill>
          <a:ln/>
        </p:spPr>
      </p:sp>
      <p:sp>
        <p:nvSpPr>
          <p:cNvPr id="9" name="Shape 7"/>
          <p:cNvSpPr/>
          <p:nvPr/>
        </p:nvSpPr>
        <p:spPr>
          <a:xfrm>
            <a:off x="459582" y="523443"/>
            <a:ext cx="133350" cy="137160"/>
          </a:xfrm>
          <a:prstGeom prst="ellipse">
            <a:avLst/>
          </a:prstGeom>
          <a:solidFill>
            <a:srgbClr val="FFFFFF"/>
          </a:solidFill>
          <a:ln/>
        </p:spPr>
      </p:sp>
      <p:sp>
        <p:nvSpPr>
          <p:cNvPr id="10" name="Text 8"/>
          <p:cNvSpPr/>
          <p:nvPr/>
        </p:nvSpPr>
        <p:spPr>
          <a:xfrm>
            <a:off x="760730" y="586105"/>
            <a:ext cx="4331335" cy="2404745"/>
          </a:xfrm>
          <a:prstGeom prst="rect">
            <a:avLst/>
          </a:prstGeom>
          <a:noFill/>
          <a:ln/>
        </p:spPr>
        <p:txBody>
          <a:bodyPr wrap="square" lIns="91440" tIns="45720" rIns="91440" bIns="45720" rtlCol="0" anchor="t"/>
          <a:lstStyle/>
          <a:p>
            <a:pPr algn="just">
              <a:lnSpc>
                <a:spcPct val="100000"/>
              </a:lnSpc>
            </a:pPr>
            <a:r>
              <a:rPr lang="en-US" sz="4000" dirty="0">
                <a:solidFill>
                  <a:srgbClr val="606C9A"/>
                </a:solidFill>
                <a:latin typeface="MiSans" pitchFamily="34" charset="0"/>
                <a:ea typeface="MiSans" pitchFamily="34" charset="-122"/>
                <a:cs typeface="MiSans" pitchFamily="34" charset="-120"/>
              </a:rPr>
              <a:t>自训练与协同训练机制剖析</a:t>
            </a:r>
            <a:endParaRPr lang="en-US" sz="1600" dirty="0"/>
          </a:p>
        </p:txBody>
      </p:sp>
      <p:sp>
        <p:nvSpPr>
          <p:cNvPr id="11" name="Shape 9"/>
          <p:cNvSpPr/>
          <p:nvPr/>
        </p:nvSpPr>
        <p:spPr>
          <a:xfrm>
            <a:off x="5741473" y="633256"/>
            <a:ext cx="273761" cy="268403"/>
          </a:xfrm>
          <a:prstGeom prst="ellipse">
            <a:avLst/>
          </a:prstGeom>
          <a:solidFill>
            <a:srgbClr val="000000">
              <a:alpha val="0"/>
            </a:srgbClr>
          </a:solidFill>
          <a:ln w="41275">
            <a:solidFill>
              <a:srgbClr val="FFFFFF"/>
            </a:solidFill>
            <a:prstDash val="solid"/>
          </a:ln>
        </p:spPr>
      </p:sp>
      <p:sp>
        <p:nvSpPr>
          <p:cNvPr id="12" name="Shape 10"/>
          <p:cNvSpPr/>
          <p:nvPr/>
        </p:nvSpPr>
        <p:spPr>
          <a:xfrm>
            <a:off x="5832884" y="684340"/>
            <a:ext cx="164592" cy="166233"/>
          </a:xfrm>
          <a:prstGeom prst="ellipse">
            <a:avLst/>
          </a:prstGeom>
          <a:solidFill>
            <a:srgbClr val="C1CEF6"/>
          </a:solidFill>
          <a:ln/>
        </p:spPr>
      </p:sp>
      <p:pic>
        <p:nvPicPr>
          <p:cNvPr id="13" name="Image 0" descr="https://kimi-img.moonshot.cn/pub/slides/slides_tmpl/image/25-09-04-15:09:18-d2sjm7m1bb2p4onbqda0.jpeg"/>
          <p:cNvPicPr>
            <a:picLocks noChangeAspect="1"/>
          </p:cNvPicPr>
          <p:nvPr/>
        </p:nvPicPr>
        <p:blipFill>
          <a:blip r:embed="rId3"/>
          <a:stretch>
            <a:fillRect/>
          </a:stretch>
        </p:blipFill>
        <p:spPr>
          <a:xfrm>
            <a:off x="5865797" y="4091333"/>
            <a:ext cx="2595557" cy="2178740"/>
          </a:xfrm>
          <a:prstGeom prst="rect">
            <a:avLst/>
          </a:prstGeom>
        </p:spPr>
      </p:pic>
      <p:pic>
        <p:nvPicPr>
          <p:cNvPr id="14" name="Image 1" descr="https://kimi-img.moonshot.cn/pub/slides/slides_tmpl/image/25-09-04-15:09:18-d2sjm7m1bb2p4onbqdb0.jpeg"/>
          <p:cNvPicPr>
            <a:picLocks noChangeAspect="1"/>
          </p:cNvPicPr>
          <p:nvPr/>
        </p:nvPicPr>
        <p:blipFill>
          <a:blip r:embed="rId4"/>
          <a:stretch>
            <a:fillRect/>
          </a:stretch>
        </p:blipFill>
        <p:spPr>
          <a:xfrm>
            <a:off x="8835698" y="4035628"/>
            <a:ext cx="2595557" cy="2178740"/>
          </a:xfrm>
          <a:prstGeom prst="rect">
            <a:avLst/>
          </a:prstGeom>
        </p:spPr>
      </p:pic>
      <p:pic>
        <p:nvPicPr>
          <p:cNvPr id="15" name="Image 2" descr="https://kimi-img.moonshot.cn/pub/slides/slides_tmpl/image/25-09-04-15:09:18-d2sjm7m1bb2p4onbqdbg.jpeg"/>
          <p:cNvPicPr>
            <a:picLocks noChangeAspect="1"/>
          </p:cNvPicPr>
          <p:nvPr/>
        </p:nvPicPr>
        <p:blipFill>
          <a:blip r:embed="rId5"/>
          <a:stretch>
            <a:fillRect/>
          </a:stretch>
        </p:blipFill>
        <p:spPr>
          <a:xfrm>
            <a:off x="-2069507" y="-2812672"/>
            <a:ext cx="4139014" cy="2744055"/>
          </a:xfrm>
          <a:prstGeom prst="rect">
            <a:avLst/>
          </a:prstGeom>
        </p:spPr>
      </p:pic>
      <p:sp>
        <p:nvSpPr>
          <p:cNvPr id="16" name="Shape 11"/>
          <p:cNvSpPr/>
          <p:nvPr/>
        </p:nvSpPr>
        <p:spPr>
          <a:xfrm>
            <a:off x="5741473" y="2426622"/>
            <a:ext cx="273761" cy="268403"/>
          </a:xfrm>
          <a:prstGeom prst="ellipse">
            <a:avLst/>
          </a:prstGeom>
          <a:solidFill>
            <a:srgbClr val="000000">
              <a:alpha val="0"/>
            </a:srgbClr>
          </a:solidFill>
          <a:ln w="41275">
            <a:solidFill>
              <a:srgbClr val="FFFFFF"/>
            </a:solidFill>
            <a:prstDash val="solid"/>
          </a:ln>
        </p:spPr>
      </p:sp>
      <p:sp>
        <p:nvSpPr>
          <p:cNvPr id="17" name="Shape 12"/>
          <p:cNvSpPr/>
          <p:nvPr/>
        </p:nvSpPr>
        <p:spPr>
          <a:xfrm>
            <a:off x="5832884" y="2477706"/>
            <a:ext cx="164592" cy="166233"/>
          </a:xfrm>
          <a:prstGeom prst="ellipse">
            <a:avLst/>
          </a:prstGeom>
          <a:solidFill>
            <a:srgbClr val="C1CEF6"/>
          </a:solidFill>
          <a:ln/>
        </p:spPr>
      </p:sp>
      <p:sp>
        <p:nvSpPr>
          <p:cNvPr id="18" name="Shape 13"/>
          <p:cNvSpPr/>
          <p:nvPr/>
        </p:nvSpPr>
        <p:spPr>
          <a:xfrm>
            <a:off x="642370" y="2795559"/>
            <a:ext cx="273761" cy="268403"/>
          </a:xfrm>
          <a:prstGeom prst="ellipse">
            <a:avLst/>
          </a:prstGeom>
          <a:solidFill>
            <a:srgbClr val="000000">
              <a:alpha val="0"/>
            </a:srgbClr>
          </a:solidFill>
          <a:ln w="41275">
            <a:solidFill>
              <a:srgbClr val="FFFFFF"/>
            </a:solidFill>
            <a:prstDash val="solid"/>
          </a:ln>
        </p:spPr>
      </p:sp>
      <p:sp>
        <p:nvSpPr>
          <p:cNvPr id="19" name="Shape 14"/>
          <p:cNvSpPr/>
          <p:nvPr/>
        </p:nvSpPr>
        <p:spPr>
          <a:xfrm>
            <a:off x="733781" y="2846643"/>
            <a:ext cx="164592" cy="166233"/>
          </a:xfrm>
          <a:prstGeom prst="ellipse">
            <a:avLst/>
          </a:prstGeom>
          <a:solidFill>
            <a:srgbClr val="C1CEF6"/>
          </a:solidFill>
          <a:ln/>
        </p:spPr>
      </p:sp>
      <p:sp>
        <p:nvSpPr>
          <p:cNvPr id="20" name="Shape 15"/>
          <p:cNvSpPr/>
          <p:nvPr/>
        </p:nvSpPr>
        <p:spPr>
          <a:xfrm>
            <a:off x="642370" y="4586768"/>
            <a:ext cx="273761" cy="268403"/>
          </a:xfrm>
          <a:prstGeom prst="ellipse">
            <a:avLst/>
          </a:prstGeom>
          <a:solidFill>
            <a:srgbClr val="000000">
              <a:alpha val="0"/>
            </a:srgbClr>
          </a:solidFill>
          <a:ln w="41275">
            <a:solidFill>
              <a:srgbClr val="FFFFFF"/>
            </a:solidFill>
            <a:prstDash val="solid"/>
          </a:ln>
        </p:spPr>
      </p:sp>
      <p:sp>
        <p:nvSpPr>
          <p:cNvPr id="21" name="Shape 16"/>
          <p:cNvSpPr/>
          <p:nvPr/>
        </p:nvSpPr>
        <p:spPr>
          <a:xfrm>
            <a:off x="733781" y="4637852"/>
            <a:ext cx="164592" cy="166233"/>
          </a:xfrm>
          <a:prstGeom prst="ellipse">
            <a:avLst/>
          </a:prstGeom>
          <a:solidFill>
            <a:srgbClr val="C1CEF6"/>
          </a:solidFill>
          <a:ln/>
        </p:spPr>
      </p:sp>
      <p:sp>
        <p:nvSpPr>
          <p:cNvPr id="22" name="Text 17"/>
          <p:cNvSpPr/>
          <p:nvPr/>
        </p:nvSpPr>
        <p:spPr>
          <a:xfrm>
            <a:off x="996315" y="2729230"/>
            <a:ext cx="4594860" cy="394851"/>
          </a:xfrm>
          <a:prstGeom prst="rect">
            <a:avLst/>
          </a:prstGeom>
          <a:noFill/>
          <a:ln/>
        </p:spPr>
        <p:txBody>
          <a:bodyPr wrap="square" lIns="91440" tIns="45720" rIns="91440" bIns="45720" rtlCol="0" anchor="ctr">
            <a:spAutoFit/>
          </a:bodyPr>
          <a:lstStyle/>
          <a:p>
            <a:pPr algn="just">
              <a:lnSpc>
                <a:spcPct val="100000"/>
              </a:lnSpc>
            </a:pPr>
            <a:r>
              <a:rPr lang="en-US" sz="2000" dirty="0">
                <a:solidFill>
                  <a:srgbClr val="606C9A"/>
                </a:solidFill>
                <a:latin typeface="MiSans" pitchFamily="34" charset="0"/>
                <a:ea typeface="MiSans" pitchFamily="34" charset="-122"/>
                <a:cs typeface="MiSans" pitchFamily="34" charset="-120"/>
              </a:rPr>
              <a:t>自训练核心机制</a:t>
            </a:r>
            <a:endParaRPr lang="en-US" sz="1600" dirty="0"/>
          </a:p>
        </p:txBody>
      </p:sp>
      <p:sp>
        <p:nvSpPr>
          <p:cNvPr id="23" name="Text 18"/>
          <p:cNvSpPr/>
          <p:nvPr/>
        </p:nvSpPr>
        <p:spPr>
          <a:xfrm>
            <a:off x="674370" y="3180080"/>
            <a:ext cx="4899660" cy="597456"/>
          </a:xfrm>
          <a:prstGeom prst="rect">
            <a:avLst/>
          </a:prstGeom>
          <a:noFill/>
          <a:ln/>
        </p:spPr>
        <p:txBody>
          <a:bodyPr wrap="square" lIns="91440" tIns="45720" rIns="91440" bIns="45720" rtlCol="0" anchor="ctr">
            <a:spAutoFit/>
          </a:bodyPr>
          <a:lstStyle/>
          <a:p>
            <a:pPr algn="just">
              <a:lnSpc>
                <a:spcPct val="100000"/>
              </a:lnSpc>
            </a:pPr>
            <a:r>
              <a:rPr lang="en-US" sz="1400" dirty="0">
                <a:solidFill>
                  <a:srgbClr val="606C9A"/>
                </a:solidFill>
                <a:latin typeface="MiSans" pitchFamily="34" charset="0"/>
                <a:ea typeface="MiSans" pitchFamily="34" charset="-122"/>
                <a:cs typeface="MiSans" pitchFamily="34" charset="-120"/>
              </a:rPr>
              <a:t>通过初始化分类器、预测未标注数据、筛选高置信度样本加入训练集的迭代循环，逐步扩大标注规模并提升模型性能。</a:t>
            </a:r>
            <a:endParaRPr lang="en-US" sz="1600" dirty="0"/>
          </a:p>
        </p:txBody>
      </p:sp>
      <p:sp>
        <p:nvSpPr>
          <p:cNvPr id="24" name="Text 19"/>
          <p:cNvSpPr/>
          <p:nvPr/>
        </p:nvSpPr>
        <p:spPr>
          <a:xfrm>
            <a:off x="6095422" y="548281"/>
            <a:ext cx="5480551" cy="394851"/>
          </a:xfrm>
          <a:prstGeom prst="rect">
            <a:avLst/>
          </a:prstGeom>
          <a:noFill/>
          <a:ln/>
        </p:spPr>
        <p:txBody>
          <a:bodyPr wrap="square" lIns="91440" tIns="45720" rIns="91440" bIns="45720" rtlCol="0" anchor="ctr">
            <a:spAutoFit/>
          </a:bodyPr>
          <a:lstStyle/>
          <a:p>
            <a:pPr algn="just">
              <a:lnSpc>
                <a:spcPct val="100000"/>
              </a:lnSpc>
            </a:pPr>
            <a:r>
              <a:rPr lang="en-US" sz="2000" dirty="0">
                <a:solidFill>
                  <a:srgbClr val="606C9A"/>
                </a:solidFill>
                <a:latin typeface="MiSans" pitchFamily="34" charset="0"/>
                <a:ea typeface="MiSans" pitchFamily="34" charset="-122"/>
                <a:cs typeface="MiSans" pitchFamily="34" charset="-120"/>
              </a:rPr>
              <a:t>自训练优势与局限</a:t>
            </a:r>
            <a:endParaRPr lang="en-US" sz="1600" dirty="0"/>
          </a:p>
        </p:txBody>
      </p:sp>
      <p:sp>
        <p:nvSpPr>
          <p:cNvPr id="25" name="Text 20"/>
          <p:cNvSpPr/>
          <p:nvPr/>
        </p:nvSpPr>
        <p:spPr>
          <a:xfrm>
            <a:off x="5950388" y="951763"/>
            <a:ext cx="5480551" cy="597456"/>
          </a:xfrm>
          <a:prstGeom prst="rect">
            <a:avLst/>
          </a:prstGeom>
          <a:noFill/>
          <a:ln/>
        </p:spPr>
        <p:txBody>
          <a:bodyPr wrap="square" lIns="91440" tIns="45720" rIns="91440" bIns="45720" rtlCol="0" anchor="ctr">
            <a:spAutoFit/>
          </a:bodyPr>
          <a:lstStyle/>
          <a:p>
            <a:pPr algn="just">
              <a:lnSpc>
                <a:spcPct val="100000"/>
              </a:lnSpc>
            </a:pPr>
            <a:r>
              <a:rPr lang="en-US" sz="1400" dirty="0">
                <a:solidFill>
                  <a:srgbClr val="606C9A"/>
                </a:solidFill>
                <a:latin typeface="MiSans" pitchFamily="34" charset="0"/>
                <a:ea typeface="MiSans" pitchFamily="34" charset="-122"/>
                <a:cs typeface="MiSans" pitchFamily="34" charset="-120"/>
              </a:rPr>
              <a:t>优势在于实现简洁、无需特殊数据假设、适用性广；劣势在于对初始模型质量与置信度阈值高度敏感，误差可能在迭代中累积放大。</a:t>
            </a:r>
            <a:endParaRPr lang="en-US" sz="1600" dirty="0"/>
          </a:p>
        </p:txBody>
      </p:sp>
      <p:sp>
        <p:nvSpPr>
          <p:cNvPr id="26" name="Text 21"/>
          <p:cNvSpPr/>
          <p:nvPr/>
        </p:nvSpPr>
        <p:spPr>
          <a:xfrm>
            <a:off x="996315" y="4519930"/>
            <a:ext cx="4594860" cy="394851"/>
          </a:xfrm>
          <a:prstGeom prst="rect">
            <a:avLst/>
          </a:prstGeom>
          <a:noFill/>
          <a:ln/>
        </p:spPr>
        <p:txBody>
          <a:bodyPr wrap="square" lIns="91440" tIns="45720" rIns="91440" bIns="45720" rtlCol="0" anchor="ctr">
            <a:spAutoFit/>
          </a:bodyPr>
          <a:lstStyle/>
          <a:p>
            <a:pPr algn="just">
              <a:lnSpc>
                <a:spcPct val="100000"/>
              </a:lnSpc>
            </a:pPr>
            <a:r>
              <a:rPr lang="en-US" sz="2000" dirty="0">
                <a:solidFill>
                  <a:srgbClr val="606C9A"/>
                </a:solidFill>
                <a:latin typeface="MiSans" pitchFamily="34" charset="0"/>
                <a:ea typeface="MiSans" pitchFamily="34" charset="-122"/>
                <a:cs typeface="MiSans" pitchFamily="34" charset="-120"/>
              </a:rPr>
              <a:t>协同训练核心机制</a:t>
            </a:r>
            <a:endParaRPr lang="en-US" sz="1600" dirty="0"/>
          </a:p>
        </p:txBody>
      </p:sp>
      <p:sp>
        <p:nvSpPr>
          <p:cNvPr id="27" name="Text 22"/>
          <p:cNvSpPr/>
          <p:nvPr/>
        </p:nvSpPr>
        <p:spPr>
          <a:xfrm>
            <a:off x="674370" y="4971415"/>
            <a:ext cx="4918075" cy="861576"/>
          </a:xfrm>
          <a:prstGeom prst="rect">
            <a:avLst/>
          </a:prstGeom>
          <a:noFill/>
          <a:ln/>
        </p:spPr>
        <p:txBody>
          <a:bodyPr wrap="square" lIns="91440" tIns="45720" rIns="91440" bIns="45720" rtlCol="0" anchor="ctr">
            <a:spAutoFit/>
          </a:bodyPr>
          <a:lstStyle/>
          <a:p>
            <a:pPr algn="just">
              <a:lnSpc>
                <a:spcPct val="100000"/>
              </a:lnSpc>
            </a:pPr>
            <a:r>
              <a:rPr lang="en-US" sz="1400" dirty="0">
                <a:solidFill>
                  <a:srgbClr val="606C9A"/>
                </a:solidFill>
                <a:latin typeface="MiSans" pitchFamily="34" charset="0"/>
                <a:ea typeface="MiSans" pitchFamily="34" charset="-122"/>
                <a:cs typeface="MiSans" pitchFamily="34" charset="-120"/>
              </a:rPr>
              <a:t>要求数据具备两个及以上充分且条件独立的视图，各视图分类器互为教师，将高置信度预测注入对方训练集实现相互增强。</a:t>
            </a:r>
            <a:endParaRPr lang="en-US" sz="1600" dirty="0"/>
          </a:p>
        </p:txBody>
      </p:sp>
      <p:sp>
        <p:nvSpPr>
          <p:cNvPr id="28" name="Text 23"/>
          <p:cNvSpPr/>
          <p:nvPr/>
        </p:nvSpPr>
        <p:spPr>
          <a:xfrm>
            <a:off x="6095422" y="2341647"/>
            <a:ext cx="5480551" cy="394851"/>
          </a:xfrm>
          <a:prstGeom prst="rect">
            <a:avLst/>
          </a:prstGeom>
          <a:noFill/>
          <a:ln/>
        </p:spPr>
        <p:txBody>
          <a:bodyPr wrap="square" lIns="91440" tIns="45720" rIns="91440" bIns="45720" rtlCol="0" anchor="ctr">
            <a:spAutoFit/>
          </a:bodyPr>
          <a:lstStyle/>
          <a:p>
            <a:pPr algn="just">
              <a:lnSpc>
                <a:spcPct val="100000"/>
              </a:lnSpc>
            </a:pPr>
            <a:r>
              <a:rPr lang="en-US" sz="2000" dirty="0">
                <a:solidFill>
                  <a:srgbClr val="606C9A"/>
                </a:solidFill>
                <a:latin typeface="MiSans" pitchFamily="34" charset="0"/>
                <a:ea typeface="MiSans" pitchFamily="34" charset="-122"/>
                <a:cs typeface="MiSans" pitchFamily="34" charset="-120"/>
              </a:rPr>
              <a:t>协同训练优势与局限</a:t>
            </a:r>
            <a:endParaRPr lang="en-US" sz="1600" dirty="0"/>
          </a:p>
        </p:txBody>
      </p:sp>
      <p:sp>
        <p:nvSpPr>
          <p:cNvPr id="29" name="Text 24"/>
          <p:cNvSpPr/>
          <p:nvPr/>
        </p:nvSpPr>
        <p:spPr>
          <a:xfrm>
            <a:off x="5950388" y="2745129"/>
            <a:ext cx="5480551" cy="597456"/>
          </a:xfrm>
          <a:prstGeom prst="rect">
            <a:avLst/>
          </a:prstGeom>
          <a:noFill/>
          <a:ln/>
        </p:spPr>
        <p:txBody>
          <a:bodyPr wrap="square" lIns="91440" tIns="45720" rIns="91440" bIns="45720" rtlCol="0" anchor="ctr">
            <a:spAutoFit/>
          </a:bodyPr>
          <a:lstStyle/>
          <a:p>
            <a:pPr algn="just">
              <a:lnSpc>
                <a:spcPct val="100000"/>
              </a:lnSpc>
            </a:pPr>
            <a:r>
              <a:rPr lang="en-US" sz="1400" dirty="0">
                <a:solidFill>
                  <a:srgbClr val="606C9A"/>
                </a:solidFill>
                <a:latin typeface="MiSans" pitchFamily="34" charset="0"/>
                <a:ea typeface="MiSans" pitchFamily="34" charset="-122"/>
                <a:cs typeface="MiSans" pitchFamily="34" charset="-120"/>
              </a:rPr>
              <a:t>优势在于视图间误差可相互纠正，鲁棒性较好；劣势在于真实场景中严格独立的视图难以构造，多视图设计本身即为挑战。</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gradFill flip="none" rotWithShape="0">
          <a:gsLst>
            <a:gs pos="0">
              <a:srgbClr val="FFF2C6"/>
            </a:gs>
            <a:gs pos="66000">
              <a:srgbClr val="D8E1FD"/>
            </a:gs>
            <a:gs pos="92000">
              <a:srgbClr val="C7D5FC"/>
            </a:gs>
            <a:gs pos="100000">
              <a:srgbClr val="A1D9F1"/>
            </a:gs>
          </a:gsLst>
          <a:lin ang="5400000" scaled="1"/>
        </a:gradFill>
        <a:effectLst/>
      </p:bgPr>
    </p:bg>
    <p:spTree>
      <p:nvGrpSpPr>
        <p:cNvPr id="1" name=""/>
        <p:cNvGrpSpPr/>
        <p:nvPr/>
      </p:nvGrpSpPr>
      <p:grpSpPr>
        <a:xfrm>
          <a:off x="0" y="0"/>
          <a:ext cx="0" cy="0"/>
          <a:chOff x="0" y="0"/>
          <a:chExt cx="0" cy="0"/>
        </a:xfrm>
      </p:grpSpPr>
      <p:sp>
        <p:nvSpPr>
          <p:cNvPr id="2" name="Shape 0"/>
          <p:cNvSpPr/>
          <p:nvPr/>
        </p:nvSpPr>
        <p:spPr>
          <a:xfrm>
            <a:off x="877615" y="558828"/>
            <a:ext cx="133350" cy="137160"/>
          </a:xfrm>
          <a:prstGeom prst="ellipse">
            <a:avLst/>
          </a:prstGeom>
          <a:solidFill>
            <a:srgbClr val="FFFFFF"/>
          </a:solidFill>
          <a:ln/>
        </p:spPr>
      </p:sp>
      <p:sp>
        <p:nvSpPr>
          <p:cNvPr id="3" name="Shape 1"/>
          <p:cNvSpPr/>
          <p:nvPr/>
        </p:nvSpPr>
        <p:spPr>
          <a:xfrm>
            <a:off x="1077640" y="558828"/>
            <a:ext cx="133350" cy="137160"/>
          </a:xfrm>
          <a:prstGeom prst="ellipse">
            <a:avLst/>
          </a:prstGeom>
          <a:solidFill>
            <a:srgbClr val="FFFFFF"/>
          </a:solidFill>
          <a:ln/>
        </p:spPr>
      </p:sp>
      <p:sp>
        <p:nvSpPr>
          <p:cNvPr id="4" name="Shape 2"/>
          <p:cNvSpPr/>
          <p:nvPr/>
        </p:nvSpPr>
        <p:spPr>
          <a:xfrm>
            <a:off x="1277665" y="558828"/>
            <a:ext cx="133350" cy="137160"/>
          </a:xfrm>
          <a:prstGeom prst="ellipse">
            <a:avLst/>
          </a:prstGeom>
          <a:solidFill>
            <a:srgbClr val="FFFFFF"/>
          </a:solidFill>
          <a:ln/>
        </p:spPr>
      </p:sp>
      <p:sp>
        <p:nvSpPr>
          <p:cNvPr id="5" name="Shape 3"/>
          <p:cNvSpPr/>
          <p:nvPr/>
        </p:nvSpPr>
        <p:spPr>
          <a:xfrm>
            <a:off x="1477690" y="558828"/>
            <a:ext cx="133350" cy="137160"/>
          </a:xfrm>
          <a:prstGeom prst="ellipse">
            <a:avLst/>
          </a:prstGeom>
          <a:solidFill>
            <a:srgbClr val="FFFFFF"/>
          </a:solidFill>
          <a:ln/>
        </p:spPr>
      </p:sp>
      <p:sp>
        <p:nvSpPr>
          <p:cNvPr id="6" name="Shape 4"/>
          <p:cNvSpPr/>
          <p:nvPr/>
        </p:nvSpPr>
        <p:spPr>
          <a:xfrm>
            <a:off x="674253" y="1299352"/>
            <a:ext cx="133350" cy="137160"/>
          </a:xfrm>
          <a:prstGeom prst="ellipse">
            <a:avLst/>
          </a:prstGeom>
          <a:solidFill>
            <a:srgbClr val="FFFFFF"/>
          </a:solidFill>
          <a:ln/>
        </p:spPr>
      </p:sp>
      <p:sp>
        <p:nvSpPr>
          <p:cNvPr id="7" name="Shape 5"/>
          <p:cNvSpPr/>
          <p:nvPr/>
        </p:nvSpPr>
        <p:spPr>
          <a:xfrm>
            <a:off x="674253" y="1099326"/>
            <a:ext cx="133350" cy="137160"/>
          </a:xfrm>
          <a:prstGeom prst="ellipse">
            <a:avLst/>
          </a:prstGeom>
          <a:solidFill>
            <a:srgbClr val="FFFFFF"/>
          </a:solidFill>
          <a:ln/>
        </p:spPr>
      </p:sp>
      <p:sp>
        <p:nvSpPr>
          <p:cNvPr id="8" name="Shape 6"/>
          <p:cNvSpPr/>
          <p:nvPr/>
        </p:nvSpPr>
        <p:spPr>
          <a:xfrm>
            <a:off x="674253" y="899301"/>
            <a:ext cx="133350" cy="137160"/>
          </a:xfrm>
          <a:prstGeom prst="ellipse">
            <a:avLst/>
          </a:prstGeom>
          <a:solidFill>
            <a:srgbClr val="FFFFFF"/>
          </a:solidFill>
          <a:ln/>
        </p:spPr>
      </p:sp>
      <p:sp>
        <p:nvSpPr>
          <p:cNvPr id="9" name="Shape 7"/>
          <p:cNvSpPr/>
          <p:nvPr/>
        </p:nvSpPr>
        <p:spPr>
          <a:xfrm>
            <a:off x="674253" y="699277"/>
            <a:ext cx="133350" cy="137160"/>
          </a:xfrm>
          <a:prstGeom prst="ellipse">
            <a:avLst/>
          </a:prstGeom>
          <a:solidFill>
            <a:srgbClr val="FFFFFF"/>
          </a:solidFill>
          <a:ln/>
        </p:spPr>
      </p:sp>
      <p:sp>
        <p:nvSpPr>
          <p:cNvPr id="10" name="Text 8"/>
          <p:cNvSpPr/>
          <p:nvPr/>
        </p:nvSpPr>
        <p:spPr>
          <a:xfrm>
            <a:off x="940435" y="666750"/>
            <a:ext cx="3412490" cy="2200910"/>
          </a:xfrm>
          <a:prstGeom prst="rect">
            <a:avLst/>
          </a:prstGeom>
          <a:noFill/>
          <a:ln/>
        </p:spPr>
        <p:txBody>
          <a:bodyPr wrap="square" lIns="91440" tIns="45720" rIns="91440" bIns="45720" rtlCol="0" anchor="ctr"/>
          <a:lstStyle/>
          <a:p>
            <a:pPr algn="just">
              <a:lnSpc>
                <a:spcPct val="100000"/>
              </a:lnSpc>
            </a:pPr>
            <a:r>
              <a:rPr lang="en-US" sz="3200" dirty="0">
                <a:solidFill>
                  <a:srgbClr val="606C9A"/>
                </a:solidFill>
                <a:latin typeface="MiSans" pitchFamily="34" charset="0"/>
                <a:ea typeface="MiSans" pitchFamily="34" charset="-122"/>
                <a:cs typeface="MiSans" pitchFamily="34" charset="-120"/>
              </a:rPr>
              <a:t>混合半监督学习方法提出</a:t>
            </a:r>
            <a:endParaRPr lang="en-US" sz="1600" dirty="0"/>
          </a:p>
        </p:txBody>
      </p:sp>
      <p:sp>
        <p:nvSpPr>
          <p:cNvPr id="11" name="Shape 9"/>
          <p:cNvSpPr/>
          <p:nvPr/>
        </p:nvSpPr>
        <p:spPr>
          <a:xfrm>
            <a:off x="746289" y="2173964"/>
            <a:ext cx="200024" cy="212992"/>
          </a:xfrm>
          <a:prstGeom prst="ellipse">
            <a:avLst/>
          </a:prstGeom>
          <a:solidFill>
            <a:srgbClr val="000000">
              <a:alpha val="0"/>
            </a:srgbClr>
          </a:solidFill>
          <a:ln w="41275">
            <a:solidFill>
              <a:srgbClr val="FFFFFF"/>
            </a:solidFill>
            <a:prstDash val="solid"/>
          </a:ln>
        </p:spPr>
      </p:sp>
      <p:sp>
        <p:nvSpPr>
          <p:cNvPr id="12" name="Shape 10"/>
          <p:cNvSpPr/>
          <p:nvPr/>
        </p:nvSpPr>
        <p:spPr>
          <a:xfrm>
            <a:off x="813079" y="2214502"/>
            <a:ext cx="120259" cy="131914"/>
          </a:xfrm>
          <a:prstGeom prst="ellipse">
            <a:avLst/>
          </a:prstGeom>
          <a:solidFill>
            <a:srgbClr val="C1CEF6"/>
          </a:solidFill>
          <a:ln/>
        </p:spPr>
      </p:sp>
      <p:sp>
        <p:nvSpPr>
          <p:cNvPr id="13" name="Shape 11"/>
          <p:cNvSpPr/>
          <p:nvPr/>
        </p:nvSpPr>
        <p:spPr>
          <a:xfrm>
            <a:off x="1115231" y="4267076"/>
            <a:ext cx="200024" cy="212992"/>
          </a:xfrm>
          <a:prstGeom prst="ellipse">
            <a:avLst/>
          </a:prstGeom>
          <a:solidFill>
            <a:srgbClr val="000000">
              <a:alpha val="0"/>
            </a:srgbClr>
          </a:solidFill>
          <a:ln w="41275">
            <a:solidFill>
              <a:srgbClr val="FFFFFF"/>
            </a:solidFill>
            <a:prstDash val="solid"/>
          </a:ln>
        </p:spPr>
      </p:sp>
      <p:sp>
        <p:nvSpPr>
          <p:cNvPr id="14" name="Shape 12"/>
          <p:cNvSpPr/>
          <p:nvPr/>
        </p:nvSpPr>
        <p:spPr>
          <a:xfrm>
            <a:off x="1182021" y="4307614"/>
            <a:ext cx="120259" cy="131914"/>
          </a:xfrm>
          <a:prstGeom prst="ellipse">
            <a:avLst/>
          </a:prstGeom>
          <a:solidFill>
            <a:srgbClr val="C1CEF6"/>
          </a:solidFill>
          <a:ln/>
        </p:spPr>
      </p:sp>
      <p:pic>
        <p:nvPicPr>
          <p:cNvPr id="15" name="Image 0" descr="https://kimi-img.moonshot.cn/pub/slides/slides_tmpl/image/25-09-04-15:09:13-d2sjm6e1bb2p4onbqd0g.jpeg"/>
          <p:cNvPicPr>
            <a:picLocks noChangeAspect="1"/>
          </p:cNvPicPr>
          <p:nvPr/>
        </p:nvPicPr>
        <p:blipFill>
          <a:blip r:embed="rId3"/>
          <a:stretch>
            <a:fillRect/>
          </a:stretch>
        </p:blipFill>
        <p:spPr>
          <a:xfrm>
            <a:off x="6096000" y="0"/>
            <a:ext cx="6204927" cy="6858000"/>
          </a:xfrm>
          <a:prstGeom prst="rect">
            <a:avLst/>
          </a:prstGeom>
        </p:spPr>
      </p:pic>
      <p:sp>
        <p:nvSpPr>
          <p:cNvPr id="16" name="Text 13"/>
          <p:cNvSpPr/>
          <p:nvPr/>
        </p:nvSpPr>
        <p:spPr>
          <a:xfrm>
            <a:off x="1010920" y="2128520"/>
            <a:ext cx="3861435" cy="367665"/>
          </a:xfrm>
          <a:prstGeom prst="rect">
            <a:avLst/>
          </a:prstGeom>
          <a:noFill/>
          <a:ln/>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0"/>
                <a:ea typeface="MiSans" pitchFamily="34" charset="-122"/>
                <a:cs typeface="MiSans" pitchFamily="34" charset="-120"/>
              </a:rPr>
              <a:t>融合思路与框架设计</a:t>
            </a:r>
            <a:endParaRPr lang="en-US" sz="1600" dirty="0"/>
          </a:p>
        </p:txBody>
      </p:sp>
      <p:sp>
        <p:nvSpPr>
          <p:cNvPr id="17" name="Text 14"/>
          <p:cNvSpPr/>
          <p:nvPr/>
        </p:nvSpPr>
        <p:spPr>
          <a:xfrm>
            <a:off x="940435" y="2554288"/>
            <a:ext cx="3931920" cy="1711881"/>
          </a:xfrm>
          <a:prstGeom prst="rect">
            <a:avLst/>
          </a:prstGeom>
          <a:noFill/>
          <a:ln/>
        </p:spPr>
        <p:txBody>
          <a:bodyPr wrap="square" lIns="91440" tIns="45720" rIns="91440" bIns="45720" rtlCol="0" anchor="ctr">
            <a:spAutoFit/>
          </a:bodyPr>
          <a:lstStyle/>
          <a:p>
            <a:pPr algn="just">
              <a:lnSpc>
                <a:spcPct val="100000"/>
              </a:lnSpc>
            </a:pPr>
            <a:r>
              <a:rPr lang="en-US" sz="1600" dirty="0">
                <a:solidFill>
                  <a:srgbClr val="606C9A"/>
                </a:solidFill>
                <a:latin typeface="MiSans" pitchFamily="34" charset="0"/>
                <a:ea typeface="MiSans" pitchFamily="34" charset="-122"/>
                <a:cs typeface="MiSans" pitchFamily="34" charset="-120"/>
              </a:rPr>
              <a:t>针对单一方法局限，提出融合自训练与协同训练的混合方法：为文本构建词袋模型与TF-IDF等多个独立视图，以协同训练初始化多视图分类器，在各视图内引入自训练迭代机制，最终融合多分类器预测结果，兼顾简洁高效与多视图互补优势。</a:t>
            </a:r>
            <a:endParaRPr lang="en-US" sz="1600" dirty="0"/>
          </a:p>
        </p:txBody>
      </p:sp>
      <p:sp>
        <p:nvSpPr>
          <p:cNvPr id="18" name="Text 15"/>
          <p:cNvSpPr/>
          <p:nvPr/>
        </p:nvSpPr>
        <p:spPr>
          <a:xfrm>
            <a:off x="1410335" y="4221480"/>
            <a:ext cx="4234180" cy="367665"/>
          </a:xfrm>
          <a:prstGeom prst="rect">
            <a:avLst/>
          </a:prstGeom>
          <a:noFill/>
          <a:ln/>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0"/>
                <a:ea typeface="MiSans" pitchFamily="34" charset="-122"/>
                <a:cs typeface="MiSans" pitchFamily="34" charset="-120"/>
              </a:rPr>
              <a:t>双向增强的迭代优化</a:t>
            </a:r>
            <a:endParaRPr lang="en-US" sz="1600" dirty="0"/>
          </a:p>
        </p:txBody>
      </p:sp>
      <p:sp>
        <p:nvSpPr>
          <p:cNvPr id="19" name="Text 16"/>
          <p:cNvSpPr/>
          <p:nvPr/>
        </p:nvSpPr>
        <p:spPr>
          <a:xfrm>
            <a:off x="1276985" y="4647565"/>
            <a:ext cx="4297045" cy="1702435"/>
          </a:xfrm>
          <a:prstGeom prst="rect">
            <a:avLst/>
          </a:prstGeom>
          <a:noFill/>
          <a:ln/>
        </p:spPr>
        <p:txBody>
          <a:bodyPr wrap="square" lIns="91440" tIns="45720" rIns="91440" bIns="45720" rtlCol="0" anchor="ctr"/>
          <a:lstStyle/>
          <a:p>
            <a:pPr algn="just">
              <a:lnSpc>
                <a:spcPct val="100000"/>
              </a:lnSpc>
            </a:pPr>
            <a:r>
              <a:rPr lang="en-US" sz="1600" dirty="0">
                <a:solidFill>
                  <a:srgbClr val="606C9A"/>
                </a:solidFill>
                <a:latin typeface="MiSans" pitchFamily="34" charset="0"/>
                <a:ea typeface="MiSans" pitchFamily="34" charset="-122"/>
                <a:cs typeface="MiSans" pitchFamily="34" charset="-120"/>
              </a:rPr>
              <a:t>混合方法形成视图间交叉教学与视图内自主挖掘的双向增强框架，多视图协同降低单一模型误差风险，自训练迭代充分挖掘未标注数据价值，投票融合机制进一步提升预测稳定性与分类精度。</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gradFill flip="none" rotWithShape="0">
          <a:gsLst>
            <a:gs pos="0">
              <a:srgbClr val="FFF2C6"/>
            </a:gs>
            <a:gs pos="47000">
              <a:srgbClr val="D8E1FD"/>
            </a:gs>
            <a:gs pos="78000">
              <a:srgbClr val="C7D5FC"/>
            </a:gs>
            <a:gs pos="100000">
              <a:srgbClr val="FDF8CB"/>
            </a:gs>
          </a:gsLst>
          <a:lin ang="24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09-04-15:09:12-d2sjm661bb2p4onbqcu0.png"/>
          <p:cNvPicPr>
            <a:picLocks noChangeAspect="1"/>
          </p:cNvPicPr>
          <p:nvPr/>
        </p:nvPicPr>
        <p:blipFill>
          <a:blip r:embed="rId3"/>
          <a:stretch>
            <a:fillRect/>
          </a:stretch>
        </p:blipFill>
        <p:spPr>
          <a:xfrm>
            <a:off x="4928399" y="517692"/>
            <a:ext cx="7251700" cy="6340308"/>
          </a:xfrm>
          <a:prstGeom prst="rect">
            <a:avLst/>
          </a:prstGeom>
        </p:spPr>
      </p:pic>
      <p:sp>
        <p:nvSpPr>
          <p:cNvPr id="3" name="Text 0"/>
          <p:cNvSpPr/>
          <p:nvPr/>
        </p:nvSpPr>
        <p:spPr>
          <a:xfrm>
            <a:off x="7048502" y="2308860"/>
            <a:ext cx="4599086" cy="3951446"/>
          </a:xfrm>
          <a:prstGeom prst="rect">
            <a:avLst/>
          </a:prstGeom>
          <a:noFill/>
          <a:ln/>
        </p:spPr>
        <p:txBody>
          <a:bodyPr wrap="square" lIns="91440" tIns="45720" rIns="91440" bIns="45720" rtlCol="0" anchor="ctr">
            <a:spAutoFit/>
          </a:bodyPr>
          <a:lstStyle/>
          <a:p>
            <a:pPr algn="just">
              <a:lnSpc>
                <a:spcPct val="100000"/>
              </a:lnSpc>
            </a:pPr>
            <a:r>
              <a:rPr lang="en-US" sz="25000" dirty="0">
                <a:solidFill>
                  <a:srgbClr val="7F9CDF"/>
                </a:solidFill>
                <a:latin typeface="MiSans" pitchFamily="34" charset="0"/>
                <a:ea typeface="MiSans" pitchFamily="34" charset="-122"/>
                <a:cs typeface="MiSans" pitchFamily="34" charset="-120"/>
              </a:rPr>
              <a:t>04</a:t>
            </a:r>
            <a:endParaRPr lang="en-US" sz="1600" dirty="0"/>
          </a:p>
        </p:txBody>
      </p:sp>
      <p:sp>
        <p:nvSpPr>
          <p:cNvPr id="4" name="Text 1"/>
          <p:cNvSpPr/>
          <p:nvPr/>
        </p:nvSpPr>
        <p:spPr>
          <a:xfrm>
            <a:off x="797724" y="1781560"/>
            <a:ext cx="4599086" cy="708581"/>
          </a:xfrm>
          <a:prstGeom prst="rect">
            <a:avLst/>
          </a:prstGeom>
          <a:noFill/>
          <a:ln/>
        </p:spPr>
        <p:txBody>
          <a:bodyPr wrap="square" lIns="91440" tIns="45720" rIns="91440" bIns="45720" rtlCol="0" anchor="ctr">
            <a:spAutoFit/>
          </a:bodyPr>
          <a:lstStyle/>
          <a:p>
            <a:pPr algn="just">
              <a:lnSpc>
                <a:spcPct val="100000"/>
              </a:lnSpc>
            </a:pPr>
            <a:r>
              <a:rPr lang="en-US" sz="4000" dirty="0">
                <a:solidFill>
                  <a:srgbClr val="6D7AAF"/>
                </a:solidFill>
                <a:latin typeface="MiSans" pitchFamily="34" charset="0"/>
                <a:ea typeface="MiSans" pitchFamily="34" charset="-122"/>
                <a:cs typeface="MiSans" pitchFamily="34" charset="-120"/>
              </a:rPr>
              <a:t>系统实现与实验</a:t>
            </a:r>
            <a:endParaRPr lang="en-US" sz="1600" dirty="0"/>
          </a:p>
        </p:txBody>
      </p:sp>
      <p:sp>
        <p:nvSpPr>
          <p:cNvPr id="5" name="Shape 2"/>
          <p:cNvSpPr/>
          <p:nvPr/>
        </p:nvSpPr>
        <p:spPr>
          <a:xfrm>
            <a:off x="731049" y="856006"/>
            <a:ext cx="133350" cy="137160"/>
          </a:xfrm>
          <a:prstGeom prst="ellipse">
            <a:avLst/>
          </a:prstGeom>
          <a:solidFill>
            <a:srgbClr val="FFFFFF"/>
          </a:solidFill>
          <a:ln/>
        </p:spPr>
      </p:sp>
      <p:sp>
        <p:nvSpPr>
          <p:cNvPr id="6" name="Shape 3"/>
          <p:cNvSpPr/>
          <p:nvPr/>
        </p:nvSpPr>
        <p:spPr>
          <a:xfrm>
            <a:off x="931074" y="856006"/>
            <a:ext cx="133350" cy="137160"/>
          </a:xfrm>
          <a:prstGeom prst="ellipse">
            <a:avLst/>
          </a:prstGeom>
          <a:solidFill>
            <a:srgbClr val="FFFFFF"/>
          </a:solidFill>
          <a:ln/>
        </p:spPr>
      </p:sp>
      <p:sp>
        <p:nvSpPr>
          <p:cNvPr id="7" name="Shape 4"/>
          <p:cNvSpPr/>
          <p:nvPr/>
        </p:nvSpPr>
        <p:spPr>
          <a:xfrm>
            <a:off x="1131099" y="856006"/>
            <a:ext cx="133350" cy="137160"/>
          </a:xfrm>
          <a:prstGeom prst="ellipse">
            <a:avLst/>
          </a:prstGeom>
          <a:solidFill>
            <a:srgbClr val="FFFFFF"/>
          </a:solidFill>
          <a:ln/>
        </p:spPr>
      </p:sp>
      <p:sp>
        <p:nvSpPr>
          <p:cNvPr id="8" name="Shape 5"/>
          <p:cNvSpPr/>
          <p:nvPr/>
        </p:nvSpPr>
        <p:spPr>
          <a:xfrm>
            <a:off x="1331124" y="856006"/>
            <a:ext cx="133350" cy="137160"/>
          </a:xfrm>
          <a:prstGeom prst="ellipse">
            <a:avLst/>
          </a:prstGeom>
          <a:solidFill>
            <a:srgbClr val="FFFFFF"/>
          </a:solidFill>
          <a:ln/>
        </p:spPr>
      </p:sp>
      <p:sp>
        <p:nvSpPr>
          <p:cNvPr id="9" name="Shape 6"/>
          <p:cNvSpPr/>
          <p:nvPr/>
        </p:nvSpPr>
        <p:spPr>
          <a:xfrm>
            <a:off x="527687" y="1596530"/>
            <a:ext cx="133350" cy="137160"/>
          </a:xfrm>
          <a:prstGeom prst="ellipse">
            <a:avLst/>
          </a:prstGeom>
          <a:solidFill>
            <a:srgbClr val="FFFFFF"/>
          </a:solidFill>
          <a:ln/>
        </p:spPr>
      </p:sp>
      <p:sp>
        <p:nvSpPr>
          <p:cNvPr id="10" name="Shape 7"/>
          <p:cNvSpPr/>
          <p:nvPr/>
        </p:nvSpPr>
        <p:spPr>
          <a:xfrm>
            <a:off x="527687" y="1396504"/>
            <a:ext cx="133350" cy="137160"/>
          </a:xfrm>
          <a:prstGeom prst="ellipse">
            <a:avLst/>
          </a:prstGeom>
          <a:solidFill>
            <a:srgbClr val="FFFFFF"/>
          </a:solidFill>
          <a:ln/>
        </p:spPr>
      </p:sp>
      <p:sp>
        <p:nvSpPr>
          <p:cNvPr id="11" name="Shape 8"/>
          <p:cNvSpPr/>
          <p:nvPr/>
        </p:nvSpPr>
        <p:spPr>
          <a:xfrm>
            <a:off x="527687" y="1196479"/>
            <a:ext cx="133350" cy="137160"/>
          </a:xfrm>
          <a:prstGeom prst="ellipse">
            <a:avLst/>
          </a:prstGeom>
          <a:solidFill>
            <a:srgbClr val="FFFFFF"/>
          </a:solidFill>
          <a:ln/>
        </p:spPr>
      </p:sp>
      <p:sp>
        <p:nvSpPr>
          <p:cNvPr id="12" name="Shape 9"/>
          <p:cNvSpPr/>
          <p:nvPr/>
        </p:nvSpPr>
        <p:spPr>
          <a:xfrm>
            <a:off x="527687" y="996455"/>
            <a:ext cx="133350" cy="137160"/>
          </a:xfrm>
          <a:prstGeom prst="ellipse">
            <a:avLst/>
          </a:prstGeom>
          <a:solidFill>
            <a:srgbClr val="FFFFFF"/>
          </a:solidFill>
          <a:ln/>
        </p:spPr>
      </p:sp>
      <p:pic>
        <p:nvPicPr>
          <p:cNvPr id="13" name="Image 1" descr="https://kimi-img.moonshot.cn/pub/slides/slides_tmpl/image/25-09-04-15:09:08-d2sjm561bb2p4onbqcmg.png"/>
          <p:cNvPicPr>
            <a:picLocks noChangeAspect="1"/>
          </p:cNvPicPr>
          <p:nvPr/>
        </p:nvPicPr>
        <p:blipFill>
          <a:blip r:embed="rId4">
            <a:alphaModFix amt="59000"/>
          </a:blip>
          <a:stretch>
            <a:fillRect/>
          </a:stretch>
        </p:blipFill>
        <p:spPr>
          <a:xfrm>
            <a:off x="5143500" y="698500"/>
            <a:ext cx="7048500" cy="6197600"/>
          </a:xfrm>
          <a:prstGeom prst="rect">
            <a:avLst/>
          </a:prstGeom>
        </p:spPr>
      </p:pic>
      <p:pic>
        <p:nvPicPr>
          <p:cNvPr id="14" name="Image 2" descr="https://kimi-img.moonshot.cn/pub/slides/slides_tmpl/image/25-09-04-15:09:07-d2sjm4u1bb2p4onbqcm0.png"/>
          <p:cNvPicPr>
            <a:picLocks noChangeAspect="1"/>
          </p:cNvPicPr>
          <p:nvPr/>
        </p:nvPicPr>
        <p:blipFill>
          <a:blip r:embed="rId5"/>
          <a:stretch>
            <a:fillRect/>
          </a:stretch>
        </p:blipFill>
        <p:spPr>
          <a:xfrm>
            <a:off x="0" y="3797300"/>
            <a:ext cx="5143500" cy="3060700"/>
          </a:xfrm>
          <a:prstGeom prst="rect">
            <a:avLst/>
          </a:prstGeom>
        </p:spPr>
      </p:pic>
      <p:pic>
        <p:nvPicPr>
          <p:cNvPr id="15" name="Image 3" descr="https://kimi-img.moonshot.cn/pub/slides/slides_tmpl/image/25-09-04-15:09:06-d2sjm4m1bb2p4onbqck0.png"/>
          <p:cNvPicPr>
            <a:picLocks noChangeAspect="1"/>
          </p:cNvPicPr>
          <p:nvPr/>
        </p:nvPicPr>
        <p:blipFill>
          <a:blip r:embed="rId6"/>
          <a:stretch>
            <a:fillRect/>
          </a:stretch>
        </p:blipFill>
        <p:spPr>
          <a:xfrm>
            <a:off x="512445" y="4587240"/>
            <a:ext cx="152400" cy="1524000"/>
          </a:xfrm>
          <a:prstGeom prst="rect">
            <a:avLst/>
          </a:prstGeom>
        </p:spPr>
      </p:pic>
      <p:pic>
        <p:nvPicPr>
          <p:cNvPr id="16" name="Image 4" descr="https://kimi-img.moonshot.cn/pub/slides/slides_tmpl/image/25-09-04-15:09:06-d2sjm4m1bb2p4onbqckg.png"/>
          <p:cNvPicPr>
            <a:picLocks noChangeAspect="1"/>
          </p:cNvPicPr>
          <p:nvPr/>
        </p:nvPicPr>
        <p:blipFill>
          <a:blip r:embed="rId7"/>
          <a:stretch>
            <a:fillRect/>
          </a:stretch>
        </p:blipFill>
        <p:spPr>
          <a:xfrm>
            <a:off x="1311275" y="3907257"/>
            <a:ext cx="1320800" cy="1371600"/>
          </a:xfrm>
          <a:prstGeom prst="rect">
            <a:avLst/>
          </a:prstGeom>
        </p:spPr>
      </p:pic>
      <p:pic>
        <p:nvPicPr>
          <p:cNvPr id="17" name="Image 5" descr="https://kimi-img.moonshot.cn/pub/slides/slides_tmpl/image/25-09-04-15:09:06-d2sjm4m1bb2p4onbqcl0.png"/>
          <p:cNvPicPr>
            <a:picLocks noChangeAspect="1"/>
          </p:cNvPicPr>
          <p:nvPr/>
        </p:nvPicPr>
        <p:blipFill>
          <a:blip r:embed="rId8"/>
          <a:stretch>
            <a:fillRect/>
          </a:stretch>
        </p:blipFill>
        <p:spPr>
          <a:xfrm>
            <a:off x="10570172" y="1111250"/>
            <a:ext cx="983056" cy="907962"/>
          </a:xfrm>
          <a:prstGeom prst="rect">
            <a:avLst/>
          </a:prstGeom>
        </p:spPr>
      </p:pic>
      <p:sp>
        <p:nvSpPr>
          <p:cNvPr id="18" name="Shape 10"/>
          <p:cNvSpPr/>
          <p:nvPr/>
        </p:nvSpPr>
        <p:spPr>
          <a:xfrm>
            <a:off x="1101725" y="3958057"/>
            <a:ext cx="539750" cy="508001"/>
          </a:xfrm>
          <a:prstGeom prst="ellipse">
            <a:avLst/>
          </a:prstGeom>
          <a:solidFill>
            <a:srgbClr val="B2C4FF"/>
          </a:solidFill>
          <a:ln/>
        </p:spPr>
      </p:sp>
      <p:pic>
        <p:nvPicPr>
          <p:cNvPr id="19" name="Image 6" descr="https://kimi-img.moonshot.cn/pub/slides/slides_tmpl/image/25-09-04-15:09:06-d2sjm4m1bb2p4onbqckg.png"/>
          <p:cNvPicPr>
            <a:picLocks noChangeAspect="1"/>
          </p:cNvPicPr>
          <p:nvPr/>
        </p:nvPicPr>
        <p:blipFill>
          <a:blip r:embed="rId7"/>
          <a:stretch>
            <a:fillRect/>
          </a:stretch>
        </p:blipFill>
        <p:spPr>
          <a:xfrm>
            <a:off x="11187651" y="1515914"/>
            <a:ext cx="731154" cy="676035"/>
          </a:xfrm>
          <a:prstGeom prst="rect">
            <a:avLst/>
          </a:prstGeom>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gradFill flip="none" rotWithShape="0">
          <a:gsLst>
            <a:gs pos="0">
              <a:srgbClr val="FFF2C6"/>
            </a:gs>
            <a:gs pos="51000">
              <a:srgbClr val="D8E1FD"/>
            </a:gs>
            <a:gs pos="83000">
              <a:srgbClr val="D8E1FD"/>
            </a:gs>
            <a:gs pos="99000">
              <a:srgbClr val="C7D5FC"/>
            </a:gs>
            <a:gs pos="100000">
              <a:srgbClr val="C7D5FC"/>
            </a:gs>
          </a:gsLst>
          <a:lin ang="78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09-04-15:09:17-d2sjm7e1bb2p4onbqd60.jpeg"/>
          <p:cNvPicPr>
            <a:picLocks noChangeAspect="1"/>
          </p:cNvPicPr>
          <p:nvPr/>
        </p:nvPicPr>
        <p:blipFill>
          <a:blip r:embed="rId3"/>
          <a:stretch>
            <a:fillRect/>
          </a:stretch>
        </p:blipFill>
        <p:spPr>
          <a:xfrm>
            <a:off x="0" y="-16611"/>
            <a:ext cx="5143500" cy="6858000"/>
          </a:xfrm>
          <a:prstGeom prst="rect">
            <a:avLst/>
          </a:prstGeom>
        </p:spPr>
      </p:pic>
      <p:sp>
        <p:nvSpPr>
          <p:cNvPr id="3" name="Shape 0"/>
          <p:cNvSpPr/>
          <p:nvPr/>
        </p:nvSpPr>
        <p:spPr>
          <a:xfrm>
            <a:off x="5939718" y="323676"/>
            <a:ext cx="133350" cy="137160"/>
          </a:xfrm>
          <a:prstGeom prst="ellipse">
            <a:avLst/>
          </a:prstGeom>
          <a:solidFill>
            <a:srgbClr val="FFFFFF"/>
          </a:solidFill>
          <a:ln/>
        </p:spPr>
      </p:sp>
      <p:sp>
        <p:nvSpPr>
          <p:cNvPr id="4" name="Shape 1"/>
          <p:cNvSpPr/>
          <p:nvPr/>
        </p:nvSpPr>
        <p:spPr>
          <a:xfrm>
            <a:off x="6139743" y="323676"/>
            <a:ext cx="133350" cy="137160"/>
          </a:xfrm>
          <a:prstGeom prst="ellipse">
            <a:avLst/>
          </a:prstGeom>
          <a:solidFill>
            <a:srgbClr val="FFFFFF"/>
          </a:solidFill>
          <a:ln/>
        </p:spPr>
      </p:sp>
      <p:sp>
        <p:nvSpPr>
          <p:cNvPr id="5" name="Shape 2"/>
          <p:cNvSpPr/>
          <p:nvPr/>
        </p:nvSpPr>
        <p:spPr>
          <a:xfrm>
            <a:off x="6339768" y="323676"/>
            <a:ext cx="133350" cy="137160"/>
          </a:xfrm>
          <a:prstGeom prst="ellipse">
            <a:avLst/>
          </a:prstGeom>
          <a:solidFill>
            <a:srgbClr val="FFFFFF"/>
          </a:solidFill>
          <a:ln/>
        </p:spPr>
      </p:sp>
      <p:sp>
        <p:nvSpPr>
          <p:cNvPr id="6" name="Shape 3"/>
          <p:cNvSpPr/>
          <p:nvPr/>
        </p:nvSpPr>
        <p:spPr>
          <a:xfrm>
            <a:off x="6539793" y="323676"/>
            <a:ext cx="133350" cy="137160"/>
          </a:xfrm>
          <a:prstGeom prst="ellipse">
            <a:avLst/>
          </a:prstGeom>
          <a:solidFill>
            <a:srgbClr val="FFFFFF"/>
          </a:solidFill>
          <a:ln/>
        </p:spPr>
      </p:sp>
      <p:sp>
        <p:nvSpPr>
          <p:cNvPr id="7" name="Shape 4"/>
          <p:cNvSpPr/>
          <p:nvPr/>
        </p:nvSpPr>
        <p:spPr>
          <a:xfrm>
            <a:off x="5736356" y="1064200"/>
            <a:ext cx="133350" cy="137160"/>
          </a:xfrm>
          <a:prstGeom prst="ellipse">
            <a:avLst/>
          </a:prstGeom>
          <a:solidFill>
            <a:srgbClr val="FFFFFF"/>
          </a:solidFill>
          <a:ln/>
        </p:spPr>
      </p:sp>
      <p:sp>
        <p:nvSpPr>
          <p:cNvPr id="8" name="Shape 5"/>
          <p:cNvSpPr/>
          <p:nvPr/>
        </p:nvSpPr>
        <p:spPr>
          <a:xfrm>
            <a:off x="5736356" y="864174"/>
            <a:ext cx="133350" cy="137160"/>
          </a:xfrm>
          <a:prstGeom prst="ellipse">
            <a:avLst/>
          </a:prstGeom>
          <a:solidFill>
            <a:srgbClr val="FFFFFF"/>
          </a:solidFill>
          <a:ln/>
        </p:spPr>
      </p:sp>
      <p:sp>
        <p:nvSpPr>
          <p:cNvPr id="9" name="Shape 6"/>
          <p:cNvSpPr/>
          <p:nvPr/>
        </p:nvSpPr>
        <p:spPr>
          <a:xfrm>
            <a:off x="5736356" y="664149"/>
            <a:ext cx="133350" cy="137160"/>
          </a:xfrm>
          <a:prstGeom prst="ellipse">
            <a:avLst/>
          </a:prstGeom>
          <a:solidFill>
            <a:srgbClr val="FFFFFF"/>
          </a:solidFill>
          <a:ln/>
        </p:spPr>
      </p:sp>
      <p:sp>
        <p:nvSpPr>
          <p:cNvPr id="10" name="Shape 7"/>
          <p:cNvSpPr/>
          <p:nvPr/>
        </p:nvSpPr>
        <p:spPr>
          <a:xfrm>
            <a:off x="5736356" y="464125"/>
            <a:ext cx="133350" cy="137160"/>
          </a:xfrm>
          <a:prstGeom prst="ellipse">
            <a:avLst/>
          </a:prstGeom>
          <a:solidFill>
            <a:srgbClr val="FFFFFF"/>
          </a:solidFill>
          <a:ln/>
        </p:spPr>
      </p:sp>
      <p:sp>
        <p:nvSpPr>
          <p:cNvPr id="11" name="Text 8"/>
          <p:cNvSpPr/>
          <p:nvPr/>
        </p:nvSpPr>
        <p:spPr>
          <a:xfrm>
            <a:off x="6004560" y="530225"/>
            <a:ext cx="5942330" cy="1550670"/>
          </a:xfrm>
          <a:prstGeom prst="rect">
            <a:avLst/>
          </a:prstGeom>
          <a:noFill/>
          <a:ln/>
        </p:spPr>
        <p:txBody>
          <a:bodyPr wrap="square" lIns="91440" tIns="45720" rIns="91440" bIns="45720" rtlCol="0" anchor="t"/>
          <a:lstStyle/>
          <a:p>
            <a:pPr algn="just">
              <a:lnSpc>
                <a:spcPct val="100000"/>
              </a:lnSpc>
            </a:pPr>
            <a:r>
              <a:rPr lang="en-US" sz="3200" dirty="0">
                <a:solidFill>
                  <a:srgbClr val="606C9A"/>
                </a:solidFill>
                <a:latin typeface="MiSans" pitchFamily="34" charset="0"/>
                <a:ea typeface="MiSans" pitchFamily="34" charset="-122"/>
                <a:cs typeface="MiSans" pitchFamily="34" charset="-120"/>
              </a:rPr>
              <a:t>系统架构与核心算法实现</a:t>
            </a:r>
            <a:endParaRPr lang="en-US" sz="1600" dirty="0"/>
          </a:p>
        </p:txBody>
      </p:sp>
      <p:sp>
        <p:nvSpPr>
          <p:cNvPr id="12" name="Shape 9"/>
          <p:cNvSpPr/>
          <p:nvPr/>
        </p:nvSpPr>
        <p:spPr>
          <a:xfrm>
            <a:off x="5709664" y="4860305"/>
            <a:ext cx="228803" cy="212992"/>
          </a:xfrm>
          <a:prstGeom prst="ellipse">
            <a:avLst/>
          </a:prstGeom>
          <a:solidFill>
            <a:srgbClr val="000000">
              <a:alpha val="0"/>
            </a:srgbClr>
          </a:solidFill>
          <a:ln w="41275">
            <a:solidFill>
              <a:srgbClr val="FFFFFF"/>
            </a:solidFill>
            <a:prstDash val="solid"/>
          </a:ln>
        </p:spPr>
      </p:sp>
      <p:sp>
        <p:nvSpPr>
          <p:cNvPr id="13" name="Shape 10"/>
          <p:cNvSpPr/>
          <p:nvPr/>
        </p:nvSpPr>
        <p:spPr>
          <a:xfrm>
            <a:off x="5786063" y="4900843"/>
            <a:ext cx="137562" cy="131914"/>
          </a:xfrm>
          <a:prstGeom prst="ellipse">
            <a:avLst/>
          </a:prstGeom>
          <a:solidFill>
            <a:srgbClr val="C1CEF6"/>
          </a:solidFill>
          <a:ln/>
        </p:spPr>
      </p:sp>
      <p:sp>
        <p:nvSpPr>
          <p:cNvPr id="14" name="Shape 11"/>
          <p:cNvSpPr/>
          <p:nvPr/>
        </p:nvSpPr>
        <p:spPr>
          <a:xfrm>
            <a:off x="5709664" y="1693639"/>
            <a:ext cx="228803" cy="212992"/>
          </a:xfrm>
          <a:prstGeom prst="ellipse">
            <a:avLst/>
          </a:prstGeom>
          <a:solidFill>
            <a:srgbClr val="000000">
              <a:alpha val="0"/>
            </a:srgbClr>
          </a:solidFill>
          <a:ln w="41275">
            <a:solidFill>
              <a:srgbClr val="FFFFFF"/>
            </a:solidFill>
            <a:prstDash val="solid"/>
          </a:ln>
        </p:spPr>
      </p:sp>
      <p:sp>
        <p:nvSpPr>
          <p:cNvPr id="15" name="Shape 12"/>
          <p:cNvSpPr/>
          <p:nvPr/>
        </p:nvSpPr>
        <p:spPr>
          <a:xfrm>
            <a:off x="5786063" y="1734177"/>
            <a:ext cx="137562" cy="131914"/>
          </a:xfrm>
          <a:prstGeom prst="ellipse">
            <a:avLst/>
          </a:prstGeom>
          <a:solidFill>
            <a:srgbClr val="C1CEF6"/>
          </a:solidFill>
          <a:ln/>
        </p:spPr>
      </p:sp>
      <p:sp>
        <p:nvSpPr>
          <p:cNvPr id="16" name="Shape 13"/>
          <p:cNvSpPr/>
          <p:nvPr/>
        </p:nvSpPr>
        <p:spPr>
          <a:xfrm>
            <a:off x="5709664" y="3309446"/>
            <a:ext cx="228803" cy="212992"/>
          </a:xfrm>
          <a:prstGeom prst="ellipse">
            <a:avLst/>
          </a:prstGeom>
          <a:solidFill>
            <a:srgbClr val="000000">
              <a:alpha val="0"/>
            </a:srgbClr>
          </a:solidFill>
          <a:ln w="41275">
            <a:solidFill>
              <a:srgbClr val="FFFFFF"/>
            </a:solidFill>
            <a:prstDash val="solid"/>
          </a:ln>
        </p:spPr>
      </p:sp>
      <p:sp>
        <p:nvSpPr>
          <p:cNvPr id="17" name="Shape 14"/>
          <p:cNvSpPr/>
          <p:nvPr/>
        </p:nvSpPr>
        <p:spPr>
          <a:xfrm>
            <a:off x="5786063" y="3349984"/>
            <a:ext cx="137562" cy="131914"/>
          </a:xfrm>
          <a:prstGeom prst="ellipse">
            <a:avLst/>
          </a:prstGeom>
          <a:solidFill>
            <a:srgbClr val="C1CEF6"/>
          </a:solidFill>
          <a:ln/>
        </p:spPr>
      </p:sp>
      <p:sp>
        <p:nvSpPr>
          <p:cNvPr id="18" name="Text 15"/>
          <p:cNvSpPr/>
          <p:nvPr/>
        </p:nvSpPr>
        <p:spPr>
          <a:xfrm>
            <a:off x="6002020" y="1622425"/>
            <a:ext cx="5871845" cy="367665"/>
          </a:xfrm>
          <a:prstGeom prst="rect">
            <a:avLst/>
          </a:prstGeom>
          <a:noFill/>
          <a:ln/>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0"/>
                <a:ea typeface="MiSans" pitchFamily="34" charset="-122"/>
                <a:cs typeface="MiSans" pitchFamily="34" charset="-120"/>
              </a:rPr>
              <a:t>七大功能模块架构</a:t>
            </a:r>
            <a:endParaRPr lang="en-US" sz="1600" dirty="0"/>
          </a:p>
        </p:txBody>
      </p:sp>
      <p:sp>
        <p:nvSpPr>
          <p:cNvPr id="19" name="Text 16"/>
          <p:cNvSpPr/>
          <p:nvPr/>
        </p:nvSpPr>
        <p:spPr>
          <a:xfrm>
            <a:off x="6000115" y="2068830"/>
            <a:ext cx="5942330" cy="888960"/>
          </a:xfrm>
          <a:prstGeom prst="rect">
            <a:avLst/>
          </a:prstGeom>
          <a:noFill/>
          <a:ln/>
        </p:spPr>
        <p:txBody>
          <a:bodyPr wrap="square" lIns="91440" tIns="45720" rIns="91440" bIns="45720" rtlCol="0" anchor="t">
            <a:spAutoFit/>
          </a:bodyPr>
          <a:lstStyle/>
          <a:p>
            <a:pPr algn="just">
              <a:lnSpc>
                <a:spcPct val="100000"/>
              </a:lnSpc>
            </a:pPr>
            <a:r>
              <a:rPr lang="en-US" sz="1600" dirty="0">
                <a:solidFill>
                  <a:srgbClr val="606C9A"/>
                </a:solidFill>
                <a:latin typeface="MiSans" pitchFamily="34" charset="0"/>
                <a:ea typeface="MiSans" pitchFamily="34" charset="-122"/>
                <a:cs typeface="MiSans" pitchFamily="34" charset="-120"/>
              </a:rPr>
              <a:t>系统涵盖数据预处理、特征提取、多视图构建、半监督学习、模型训练、模型评估与分类预测七大模块，覆盖文本分类完整流程，模块化设计便于扩展维护。</a:t>
            </a:r>
            <a:endParaRPr lang="en-US" sz="1600" dirty="0"/>
          </a:p>
        </p:txBody>
      </p:sp>
      <p:sp>
        <p:nvSpPr>
          <p:cNvPr id="20" name="Text 17"/>
          <p:cNvSpPr/>
          <p:nvPr/>
        </p:nvSpPr>
        <p:spPr>
          <a:xfrm>
            <a:off x="6000115" y="3242945"/>
            <a:ext cx="5874385" cy="367665"/>
          </a:xfrm>
          <a:prstGeom prst="rect">
            <a:avLst/>
          </a:prstGeom>
          <a:noFill/>
          <a:ln/>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0"/>
                <a:ea typeface="MiSans" pitchFamily="34" charset="-122"/>
                <a:cs typeface="MiSans" pitchFamily="34" charset="-120"/>
              </a:rPr>
              <a:t>自训练算法实现</a:t>
            </a:r>
            <a:endParaRPr lang="en-US" sz="1600" dirty="0"/>
          </a:p>
        </p:txBody>
      </p:sp>
      <p:sp>
        <p:nvSpPr>
          <p:cNvPr id="21" name="Text 18"/>
          <p:cNvSpPr/>
          <p:nvPr/>
        </p:nvSpPr>
        <p:spPr>
          <a:xfrm>
            <a:off x="5938520" y="3642360"/>
            <a:ext cx="5942330" cy="888960"/>
          </a:xfrm>
          <a:prstGeom prst="rect">
            <a:avLst/>
          </a:prstGeom>
          <a:noFill/>
          <a:ln/>
        </p:spPr>
        <p:txBody>
          <a:bodyPr wrap="square" lIns="91440" tIns="45720" rIns="91440" bIns="45720" rtlCol="0" anchor="t">
            <a:spAutoFit/>
          </a:bodyPr>
          <a:lstStyle/>
          <a:p>
            <a:pPr algn="just">
              <a:lnSpc>
                <a:spcPct val="100000"/>
              </a:lnSpc>
            </a:pPr>
            <a:r>
              <a:rPr lang="en-US" sz="1600" dirty="0">
                <a:solidFill>
                  <a:srgbClr val="606C9A"/>
                </a:solidFill>
                <a:latin typeface="MiSans" pitchFamily="34" charset="0"/>
                <a:ea typeface="MiSans" pitchFamily="34" charset="-122"/>
                <a:cs typeface="MiSans" pitchFamily="34" charset="-120"/>
              </a:rPr>
              <a:t>基于Python与Scikit-learn框架，继承BaseEstimator封装迭代训练逻辑，支持置信度阈值与最大迭代次数灵活配置，自动分离并动态扩充标注数据集。</a:t>
            </a:r>
            <a:endParaRPr lang="en-US" sz="1600" dirty="0"/>
          </a:p>
        </p:txBody>
      </p:sp>
      <p:sp>
        <p:nvSpPr>
          <p:cNvPr id="22" name="Text 19"/>
          <p:cNvSpPr/>
          <p:nvPr/>
        </p:nvSpPr>
        <p:spPr>
          <a:xfrm>
            <a:off x="6000115" y="4793615"/>
            <a:ext cx="5874385" cy="367665"/>
          </a:xfrm>
          <a:prstGeom prst="rect">
            <a:avLst/>
          </a:prstGeom>
          <a:noFill/>
          <a:ln/>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0"/>
                <a:ea typeface="MiSans" pitchFamily="34" charset="-122"/>
                <a:cs typeface="MiSans" pitchFamily="34" charset="-120"/>
              </a:rPr>
              <a:t>协同训练算法实现</a:t>
            </a:r>
            <a:endParaRPr lang="en-US" sz="1600" dirty="0"/>
          </a:p>
        </p:txBody>
      </p:sp>
      <p:sp>
        <p:nvSpPr>
          <p:cNvPr id="23" name="Text 20"/>
          <p:cNvSpPr/>
          <p:nvPr/>
        </p:nvSpPr>
        <p:spPr>
          <a:xfrm>
            <a:off x="5938520" y="5193030"/>
            <a:ext cx="5942330" cy="614521"/>
          </a:xfrm>
          <a:prstGeom prst="rect">
            <a:avLst/>
          </a:prstGeom>
          <a:noFill/>
          <a:ln/>
        </p:spPr>
        <p:txBody>
          <a:bodyPr wrap="square" lIns="91440" tIns="45720" rIns="91440" bIns="45720" rtlCol="0" anchor="t">
            <a:spAutoFit/>
          </a:bodyPr>
          <a:lstStyle/>
          <a:p>
            <a:pPr algn="just">
              <a:lnSpc>
                <a:spcPct val="100000"/>
              </a:lnSpc>
            </a:pPr>
            <a:r>
              <a:rPr lang="en-US" sz="1600" dirty="0">
                <a:solidFill>
                  <a:srgbClr val="606C9A"/>
                </a:solidFill>
                <a:latin typeface="MiSans" pitchFamily="34" charset="0"/>
                <a:ea typeface="MiSans" pitchFamily="34" charset="-122"/>
                <a:cs typeface="MiSans" pitchFamily="34" charset="-120"/>
              </a:rPr>
              <a:t>实现多视图数据管理、交叉标注扩充与投票融合机制，各视图分类器独立训练又相互协同，确保系统可复现性与工程实用性。</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3DE"/>
        </a:solidFill>
        <a:effectLst/>
      </p:bgPr>
    </p:bg>
    <p:spTree>
      <p:nvGrpSpPr>
        <p:cNvPr id="1" name=""/>
        <p:cNvGrpSpPr/>
        <p:nvPr/>
      </p:nvGrpSpPr>
      <p:grpSpPr>
        <a:xfrm>
          <a:off x="0" y="0"/>
          <a:ext cx="0" cy="0"/>
          <a:chOff x="0" y="0"/>
          <a:chExt cx="0" cy="0"/>
        </a:xfrm>
      </p:grpSpPr>
      <p:sp>
        <p:nvSpPr>
          <p:cNvPr id="2" name="Shape 0"/>
          <p:cNvSpPr/>
          <p:nvPr/>
        </p:nvSpPr>
        <p:spPr>
          <a:xfrm>
            <a:off x="743842" y="520391"/>
            <a:ext cx="133350" cy="137160"/>
          </a:xfrm>
          <a:prstGeom prst="ellipse">
            <a:avLst/>
          </a:prstGeom>
          <a:solidFill>
            <a:srgbClr val="FFFFFF"/>
          </a:solidFill>
          <a:ln/>
        </p:spPr>
      </p:sp>
      <p:sp>
        <p:nvSpPr>
          <p:cNvPr id="3" name="Shape 1"/>
          <p:cNvSpPr/>
          <p:nvPr/>
        </p:nvSpPr>
        <p:spPr>
          <a:xfrm>
            <a:off x="943867" y="520391"/>
            <a:ext cx="133350" cy="137160"/>
          </a:xfrm>
          <a:prstGeom prst="ellipse">
            <a:avLst/>
          </a:prstGeom>
          <a:solidFill>
            <a:srgbClr val="FFFFFF"/>
          </a:solidFill>
          <a:ln/>
        </p:spPr>
      </p:sp>
      <p:sp>
        <p:nvSpPr>
          <p:cNvPr id="4" name="Shape 2"/>
          <p:cNvSpPr/>
          <p:nvPr/>
        </p:nvSpPr>
        <p:spPr>
          <a:xfrm>
            <a:off x="1143892" y="520391"/>
            <a:ext cx="133350" cy="137160"/>
          </a:xfrm>
          <a:prstGeom prst="ellipse">
            <a:avLst/>
          </a:prstGeom>
          <a:solidFill>
            <a:srgbClr val="FFFFFF"/>
          </a:solidFill>
          <a:ln/>
        </p:spPr>
      </p:sp>
      <p:sp>
        <p:nvSpPr>
          <p:cNvPr id="5" name="Shape 3"/>
          <p:cNvSpPr/>
          <p:nvPr/>
        </p:nvSpPr>
        <p:spPr>
          <a:xfrm>
            <a:off x="1343917" y="520391"/>
            <a:ext cx="133350" cy="137160"/>
          </a:xfrm>
          <a:prstGeom prst="ellipse">
            <a:avLst/>
          </a:prstGeom>
          <a:solidFill>
            <a:srgbClr val="FFFFFF"/>
          </a:solidFill>
          <a:ln/>
        </p:spPr>
      </p:sp>
      <p:sp>
        <p:nvSpPr>
          <p:cNvPr id="6" name="Shape 4"/>
          <p:cNvSpPr/>
          <p:nvPr/>
        </p:nvSpPr>
        <p:spPr>
          <a:xfrm>
            <a:off x="540480" y="1260915"/>
            <a:ext cx="133350" cy="137160"/>
          </a:xfrm>
          <a:prstGeom prst="ellipse">
            <a:avLst/>
          </a:prstGeom>
          <a:solidFill>
            <a:srgbClr val="FFFFFF"/>
          </a:solidFill>
          <a:ln/>
        </p:spPr>
      </p:sp>
      <p:sp>
        <p:nvSpPr>
          <p:cNvPr id="7" name="Shape 5"/>
          <p:cNvSpPr/>
          <p:nvPr/>
        </p:nvSpPr>
        <p:spPr>
          <a:xfrm>
            <a:off x="540480" y="1060889"/>
            <a:ext cx="133350" cy="137160"/>
          </a:xfrm>
          <a:prstGeom prst="ellipse">
            <a:avLst/>
          </a:prstGeom>
          <a:solidFill>
            <a:srgbClr val="FFFFFF"/>
          </a:solidFill>
          <a:ln/>
        </p:spPr>
      </p:sp>
      <p:sp>
        <p:nvSpPr>
          <p:cNvPr id="8" name="Shape 6"/>
          <p:cNvSpPr/>
          <p:nvPr/>
        </p:nvSpPr>
        <p:spPr>
          <a:xfrm>
            <a:off x="540480" y="860864"/>
            <a:ext cx="133350" cy="137160"/>
          </a:xfrm>
          <a:prstGeom prst="ellipse">
            <a:avLst/>
          </a:prstGeom>
          <a:solidFill>
            <a:srgbClr val="FFFFFF"/>
          </a:solidFill>
          <a:ln/>
        </p:spPr>
      </p:sp>
      <p:sp>
        <p:nvSpPr>
          <p:cNvPr id="9" name="Shape 7"/>
          <p:cNvSpPr/>
          <p:nvPr/>
        </p:nvSpPr>
        <p:spPr>
          <a:xfrm>
            <a:off x="540480" y="660840"/>
            <a:ext cx="133350" cy="137160"/>
          </a:xfrm>
          <a:prstGeom prst="ellipse">
            <a:avLst/>
          </a:prstGeom>
          <a:solidFill>
            <a:srgbClr val="FFFFFF"/>
          </a:solidFill>
          <a:ln/>
        </p:spPr>
      </p:sp>
      <p:sp>
        <p:nvSpPr>
          <p:cNvPr id="10" name="Text 8"/>
          <p:cNvSpPr/>
          <p:nvPr/>
        </p:nvSpPr>
        <p:spPr>
          <a:xfrm>
            <a:off x="777875" y="683895"/>
            <a:ext cx="4934585" cy="1790065"/>
          </a:xfrm>
          <a:prstGeom prst="rect">
            <a:avLst/>
          </a:prstGeom>
          <a:noFill/>
          <a:ln/>
        </p:spPr>
        <p:txBody>
          <a:bodyPr wrap="square" lIns="91440" tIns="45720" rIns="91440" bIns="45720" rtlCol="0" anchor="ctr"/>
          <a:lstStyle/>
          <a:p>
            <a:pPr algn="just">
              <a:lnSpc>
                <a:spcPct val="100000"/>
              </a:lnSpc>
            </a:pPr>
            <a:r>
              <a:rPr lang="en-US" sz="3200" dirty="0">
                <a:solidFill>
                  <a:srgbClr val="606C9A"/>
                </a:solidFill>
                <a:latin typeface="MiSans" pitchFamily="34" charset="0"/>
                <a:ea typeface="MiSans" pitchFamily="34" charset="-122"/>
                <a:cs typeface="MiSans" pitchFamily="34" charset="-120"/>
              </a:rPr>
              <a:t>多数据集实验方案设计</a:t>
            </a:r>
            <a:endParaRPr lang="en-US" sz="1600" dirty="0"/>
          </a:p>
        </p:txBody>
      </p:sp>
      <p:sp>
        <p:nvSpPr>
          <p:cNvPr id="11" name="Shape 9"/>
          <p:cNvSpPr/>
          <p:nvPr/>
        </p:nvSpPr>
        <p:spPr>
          <a:xfrm>
            <a:off x="469017" y="2113627"/>
            <a:ext cx="273761" cy="268403"/>
          </a:xfrm>
          <a:prstGeom prst="ellipse">
            <a:avLst/>
          </a:prstGeom>
          <a:solidFill>
            <a:srgbClr val="000000">
              <a:alpha val="0"/>
            </a:srgbClr>
          </a:solidFill>
          <a:ln w="41275">
            <a:solidFill>
              <a:srgbClr val="FFFFFF"/>
            </a:solidFill>
            <a:prstDash val="solid"/>
          </a:ln>
        </p:spPr>
      </p:sp>
      <p:sp>
        <p:nvSpPr>
          <p:cNvPr id="12" name="Shape 10"/>
          <p:cNvSpPr/>
          <p:nvPr/>
        </p:nvSpPr>
        <p:spPr>
          <a:xfrm>
            <a:off x="560428" y="2164711"/>
            <a:ext cx="164592" cy="166233"/>
          </a:xfrm>
          <a:prstGeom prst="ellipse">
            <a:avLst/>
          </a:prstGeom>
          <a:solidFill>
            <a:srgbClr val="C1CEF6"/>
          </a:solidFill>
          <a:ln/>
        </p:spPr>
      </p:sp>
      <p:sp>
        <p:nvSpPr>
          <p:cNvPr id="13" name="Shape 11"/>
          <p:cNvSpPr/>
          <p:nvPr/>
        </p:nvSpPr>
        <p:spPr>
          <a:xfrm>
            <a:off x="469017" y="4508754"/>
            <a:ext cx="273761" cy="268403"/>
          </a:xfrm>
          <a:prstGeom prst="ellipse">
            <a:avLst/>
          </a:prstGeom>
          <a:solidFill>
            <a:srgbClr val="000000">
              <a:alpha val="0"/>
            </a:srgbClr>
          </a:solidFill>
          <a:ln w="41275">
            <a:solidFill>
              <a:srgbClr val="FFFFFF"/>
            </a:solidFill>
            <a:prstDash val="solid"/>
          </a:ln>
        </p:spPr>
      </p:sp>
      <p:sp>
        <p:nvSpPr>
          <p:cNvPr id="14" name="Shape 12"/>
          <p:cNvSpPr/>
          <p:nvPr/>
        </p:nvSpPr>
        <p:spPr>
          <a:xfrm>
            <a:off x="560428" y="4559838"/>
            <a:ext cx="164592" cy="166233"/>
          </a:xfrm>
          <a:prstGeom prst="ellipse">
            <a:avLst/>
          </a:prstGeom>
          <a:solidFill>
            <a:srgbClr val="C1CEF6"/>
          </a:solidFill>
          <a:ln/>
        </p:spPr>
      </p:sp>
      <p:pic>
        <p:nvPicPr>
          <p:cNvPr id="15" name="Image 0" descr="https://kimi-img.moonshot.cn/pub/slides/slides_tmpl/image/25-09-04-15:09:11-d2sjm5u1bb2p4onbqcpg.jpeg"/>
          <p:cNvPicPr>
            <a:picLocks noChangeAspect="1"/>
          </p:cNvPicPr>
          <p:nvPr/>
        </p:nvPicPr>
        <p:blipFill>
          <a:blip r:embed="rId3"/>
          <a:stretch>
            <a:fillRect/>
          </a:stretch>
        </p:blipFill>
        <p:spPr>
          <a:xfrm>
            <a:off x="6096000" y="19841"/>
            <a:ext cx="6095999" cy="6838159"/>
          </a:xfrm>
          <a:prstGeom prst="rect">
            <a:avLst/>
          </a:prstGeom>
        </p:spPr>
      </p:pic>
      <p:sp>
        <p:nvSpPr>
          <p:cNvPr id="16" name="Text 13"/>
          <p:cNvSpPr/>
          <p:nvPr/>
        </p:nvSpPr>
        <p:spPr>
          <a:xfrm>
            <a:off x="777875" y="2087245"/>
            <a:ext cx="4934585" cy="1169035"/>
          </a:xfrm>
          <a:prstGeom prst="rect">
            <a:avLst/>
          </a:prstGeom>
          <a:noFill/>
          <a:ln/>
        </p:spPr>
        <p:txBody>
          <a:bodyPr wrap="square" lIns="91440" tIns="45720" rIns="91440" bIns="45720" rtlCol="0" anchor="t"/>
          <a:lstStyle/>
          <a:p>
            <a:pPr algn="just">
              <a:lnSpc>
                <a:spcPct val="100000"/>
              </a:lnSpc>
            </a:pPr>
            <a:r>
              <a:rPr lang="en-US" sz="2000" dirty="0">
                <a:solidFill>
                  <a:srgbClr val="606C9A"/>
                </a:solidFill>
                <a:latin typeface="MiSans" pitchFamily="34" charset="0"/>
                <a:ea typeface="MiSans" pitchFamily="34" charset="-122"/>
                <a:cs typeface="MiSans" pitchFamily="34" charset="-120"/>
              </a:rPr>
              <a:t>四类数据集选取依据</a:t>
            </a:r>
            <a:endParaRPr lang="en-US" sz="1600" dirty="0"/>
          </a:p>
        </p:txBody>
      </p:sp>
      <p:sp>
        <p:nvSpPr>
          <p:cNvPr id="17" name="Text 14"/>
          <p:cNvSpPr/>
          <p:nvPr/>
        </p:nvSpPr>
        <p:spPr>
          <a:xfrm>
            <a:off x="810260" y="2597150"/>
            <a:ext cx="4934585" cy="1769745"/>
          </a:xfrm>
          <a:prstGeom prst="rect">
            <a:avLst/>
          </a:prstGeom>
          <a:noFill/>
          <a:ln/>
        </p:spPr>
        <p:txBody>
          <a:bodyPr wrap="square" lIns="91440" tIns="45720" rIns="91440" bIns="45720" rtlCol="0" anchor="t"/>
          <a:lstStyle/>
          <a:p>
            <a:pPr algn="just">
              <a:lnSpc>
                <a:spcPct val="100000"/>
              </a:lnSpc>
            </a:pPr>
            <a:r>
              <a:rPr lang="en-US" sz="1600" dirty="0">
                <a:solidFill>
                  <a:srgbClr val="606C9A"/>
                </a:solidFill>
                <a:latin typeface="MiSans" pitchFamily="34" charset="0"/>
                <a:ea typeface="MiSans" pitchFamily="34" charset="-122"/>
                <a:cs typeface="MiSans" pitchFamily="34" charset="-120"/>
              </a:rPr>
              <a:t>选用IMDB电影评论、20 Newsgroups新闻、AG News标题、Reuters-21578新闻四个公开数据集，覆盖情感分析与新闻分类任务，类别数2至90、规模万余至十余万不等，保证结论广泛适用性。</a:t>
            </a:r>
            <a:endParaRPr lang="en-US" sz="1600" dirty="0"/>
          </a:p>
        </p:txBody>
      </p:sp>
      <p:sp>
        <p:nvSpPr>
          <p:cNvPr id="18" name="Text 15"/>
          <p:cNvSpPr/>
          <p:nvPr/>
        </p:nvSpPr>
        <p:spPr>
          <a:xfrm>
            <a:off x="777663" y="4472248"/>
            <a:ext cx="4983898" cy="394851"/>
          </a:xfrm>
          <a:prstGeom prst="rect">
            <a:avLst/>
          </a:prstGeom>
          <a:noFill/>
          <a:ln/>
        </p:spPr>
        <p:txBody>
          <a:bodyPr wrap="square" lIns="91440" tIns="45720" rIns="91440" bIns="45720" rtlCol="0" anchor="t">
            <a:spAutoFit/>
          </a:bodyPr>
          <a:lstStyle/>
          <a:p>
            <a:pPr algn="just">
              <a:lnSpc>
                <a:spcPct val="100000"/>
              </a:lnSpc>
            </a:pPr>
            <a:r>
              <a:rPr lang="en-US" sz="2000" dirty="0">
                <a:solidFill>
                  <a:srgbClr val="606C9A"/>
                </a:solidFill>
                <a:latin typeface="MiSans" pitchFamily="34" charset="0"/>
                <a:ea typeface="MiSans" pitchFamily="34" charset="-122"/>
                <a:cs typeface="MiSans" pitchFamily="34" charset="-120"/>
              </a:rPr>
              <a:t>多维度评测方案</a:t>
            </a:r>
            <a:endParaRPr lang="en-US" sz="1600" dirty="0"/>
          </a:p>
        </p:txBody>
      </p:sp>
      <p:sp>
        <p:nvSpPr>
          <p:cNvPr id="19" name="Text 16"/>
          <p:cNvSpPr/>
          <p:nvPr/>
        </p:nvSpPr>
        <p:spPr>
          <a:xfrm>
            <a:off x="810517" y="5044864"/>
            <a:ext cx="4934300" cy="1163201"/>
          </a:xfrm>
          <a:prstGeom prst="rect">
            <a:avLst/>
          </a:prstGeom>
          <a:noFill/>
          <a:ln/>
        </p:spPr>
        <p:txBody>
          <a:bodyPr wrap="square" lIns="91440" tIns="45720" rIns="91440" bIns="45720" rtlCol="0" anchor="t">
            <a:spAutoFit/>
          </a:bodyPr>
          <a:lstStyle/>
          <a:p>
            <a:pPr algn="just">
              <a:lnSpc>
                <a:spcPct val="100000"/>
              </a:lnSpc>
            </a:pPr>
            <a:r>
              <a:rPr lang="en-US" sz="1600" dirty="0">
                <a:solidFill>
                  <a:srgbClr val="606C9A"/>
                </a:solidFill>
                <a:latin typeface="MiSans" pitchFamily="34" charset="0"/>
                <a:ea typeface="MiSans" pitchFamily="34" charset="-122"/>
                <a:cs typeface="MiSans" pitchFamily="34" charset="-120"/>
              </a:rPr>
              <a:t>设置10%、20%、30%、50%多种标注比例模拟稀缺场景，采用准确率、精确率、召回率、F1-score多维指标，对比监督基准与多种半监督方法，系统分析有效性、性价比与参数敏感性。</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gradFill flip="none" rotWithShape="0">
          <a:gsLst>
            <a:gs pos="0">
              <a:srgbClr val="C7D5FC"/>
            </a:gs>
            <a:gs pos="42000">
              <a:srgbClr val="C7D5FC"/>
            </a:gs>
            <a:gs pos="56000">
              <a:srgbClr val="D8E1FD"/>
            </a:gs>
            <a:gs pos="100000">
              <a:srgbClr val="D8E1FD"/>
            </a:gs>
            <a:gs pos="100000">
              <a:srgbClr val="FFF2C6"/>
            </a:gs>
          </a:gsLst>
          <a:lin ang="27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09-04-15:09:20-d2sjm861bb2p4onbqdgg.jpeg"/>
          <p:cNvPicPr>
            <a:picLocks noChangeAspect="1"/>
          </p:cNvPicPr>
          <p:nvPr/>
        </p:nvPicPr>
        <p:blipFill>
          <a:blip r:embed="rId3"/>
          <a:stretch>
            <a:fillRect/>
          </a:stretch>
        </p:blipFill>
        <p:spPr>
          <a:xfrm>
            <a:off x="15192" y="11819"/>
            <a:ext cx="3698415" cy="6858000"/>
          </a:xfrm>
          <a:prstGeom prst="rect">
            <a:avLst/>
          </a:prstGeom>
        </p:spPr>
      </p:pic>
      <p:sp>
        <p:nvSpPr>
          <p:cNvPr id="3" name="Shape 0"/>
          <p:cNvSpPr/>
          <p:nvPr/>
        </p:nvSpPr>
        <p:spPr>
          <a:xfrm>
            <a:off x="4244822" y="653687"/>
            <a:ext cx="6604129" cy="1073170"/>
          </a:xfrm>
          <a:prstGeom prst="rect">
            <a:avLst/>
          </a:prstGeom>
          <a:solidFill>
            <a:srgbClr val="F9F1DC"/>
          </a:solidFill>
          <a:ln/>
        </p:spPr>
      </p:sp>
      <p:sp>
        <p:nvSpPr>
          <p:cNvPr id="4" name="Shape 1"/>
          <p:cNvSpPr/>
          <p:nvPr/>
        </p:nvSpPr>
        <p:spPr>
          <a:xfrm>
            <a:off x="4109932" y="1944718"/>
            <a:ext cx="228803" cy="212992"/>
          </a:xfrm>
          <a:prstGeom prst="ellipse">
            <a:avLst/>
          </a:prstGeom>
          <a:solidFill>
            <a:srgbClr val="000000">
              <a:alpha val="0"/>
            </a:srgbClr>
          </a:solidFill>
          <a:ln w="41275">
            <a:solidFill>
              <a:srgbClr val="FFFFFF"/>
            </a:solidFill>
            <a:prstDash val="solid"/>
          </a:ln>
        </p:spPr>
      </p:sp>
      <p:sp>
        <p:nvSpPr>
          <p:cNvPr id="5" name="Shape 2"/>
          <p:cNvSpPr/>
          <p:nvPr/>
        </p:nvSpPr>
        <p:spPr>
          <a:xfrm>
            <a:off x="4186331" y="1985256"/>
            <a:ext cx="137562" cy="131914"/>
          </a:xfrm>
          <a:prstGeom prst="ellipse">
            <a:avLst/>
          </a:prstGeom>
          <a:solidFill>
            <a:srgbClr val="C1CEF6"/>
          </a:solidFill>
          <a:ln/>
        </p:spPr>
      </p:sp>
      <p:sp>
        <p:nvSpPr>
          <p:cNvPr id="6" name="Shape 3"/>
          <p:cNvSpPr/>
          <p:nvPr/>
        </p:nvSpPr>
        <p:spPr>
          <a:xfrm>
            <a:off x="4244822" y="381148"/>
            <a:ext cx="133350" cy="137160"/>
          </a:xfrm>
          <a:prstGeom prst="ellipse">
            <a:avLst/>
          </a:prstGeom>
          <a:solidFill>
            <a:srgbClr val="FFFFFF"/>
          </a:solidFill>
          <a:ln/>
        </p:spPr>
      </p:sp>
      <p:sp>
        <p:nvSpPr>
          <p:cNvPr id="7" name="Shape 4"/>
          <p:cNvSpPr/>
          <p:nvPr/>
        </p:nvSpPr>
        <p:spPr>
          <a:xfrm>
            <a:off x="4444847" y="381148"/>
            <a:ext cx="133350" cy="137160"/>
          </a:xfrm>
          <a:prstGeom prst="ellipse">
            <a:avLst/>
          </a:prstGeom>
          <a:solidFill>
            <a:srgbClr val="FFFFFF"/>
          </a:solidFill>
          <a:ln/>
        </p:spPr>
      </p:sp>
      <p:sp>
        <p:nvSpPr>
          <p:cNvPr id="8" name="Shape 5"/>
          <p:cNvSpPr/>
          <p:nvPr/>
        </p:nvSpPr>
        <p:spPr>
          <a:xfrm>
            <a:off x="4644872" y="381148"/>
            <a:ext cx="133350" cy="137160"/>
          </a:xfrm>
          <a:prstGeom prst="ellipse">
            <a:avLst/>
          </a:prstGeom>
          <a:solidFill>
            <a:srgbClr val="FFFFFF"/>
          </a:solidFill>
          <a:ln/>
        </p:spPr>
      </p:sp>
      <p:sp>
        <p:nvSpPr>
          <p:cNvPr id="9" name="Shape 6"/>
          <p:cNvSpPr/>
          <p:nvPr/>
        </p:nvSpPr>
        <p:spPr>
          <a:xfrm>
            <a:off x="4844897" y="381148"/>
            <a:ext cx="133350" cy="137160"/>
          </a:xfrm>
          <a:prstGeom prst="ellipse">
            <a:avLst/>
          </a:prstGeom>
          <a:solidFill>
            <a:srgbClr val="FFFFFF"/>
          </a:solidFill>
          <a:ln/>
        </p:spPr>
      </p:sp>
      <p:sp>
        <p:nvSpPr>
          <p:cNvPr id="10" name="Shape 7"/>
          <p:cNvSpPr/>
          <p:nvPr/>
        </p:nvSpPr>
        <p:spPr>
          <a:xfrm>
            <a:off x="4041460" y="1121672"/>
            <a:ext cx="133350" cy="137160"/>
          </a:xfrm>
          <a:prstGeom prst="ellipse">
            <a:avLst/>
          </a:prstGeom>
          <a:solidFill>
            <a:srgbClr val="FFFFFF"/>
          </a:solidFill>
          <a:ln/>
        </p:spPr>
      </p:sp>
      <p:sp>
        <p:nvSpPr>
          <p:cNvPr id="11" name="Shape 8"/>
          <p:cNvSpPr/>
          <p:nvPr/>
        </p:nvSpPr>
        <p:spPr>
          <a:xfrm>
            <a:off x="4041460" y="921646"/>
            <a:ext cx="133350" cy="137160"/>
          </a:xfrm>
          <a:prstGeom prst="ellipse">
            <a:avLst/>
          </a:prstGeom>
          <a:solidFill>
            <a:srgbClr val="FFFFFF"/>
          </a:solidFill>
          <a:ln/>
        </p:spPr>
      </p:sp>
      <p:sp>
        <p:nvSpPr>
          <p:cNvPr id="12" name="Shape 9"/>
          <p:cNvSpPr/>
          <p:nvPr/>
        </p:nvSpPr>
        <p:spPr>
          <a:xfrm>
            <a:off x="4041460" y="721621"/>
            <a:ext cx="133350" cy="137160"/>
          </a:xfrm>
          <a:prstGeom prst="ellipse">
            <a:avLst/>
          </a:prstGeom>
          <a:solidFill>
            <a:srgbClr val="FFFFFF"/>
          </a:solidFill>
          <a:ln/>
        </p:spPr>
      </p:sp>
      <p:sp>
        <p:nvSpPr>
          <p:cNvPr id="13" name="Shape 10"/>
          <p:cNvSpPr/>
          <p:nvPr/>
        </p:nvSpPr>
        <p:spPr>
          <a:xfrm>
            <a:off x="4041460" y="521597"/>
            <a:ext cx="133350" cy="137160"/>
          </a:xfrm>
          <a:prstGeom prst="ellipse">
            <a:avLst/>
          </a:prstGeom>
          <a:solidFill>
            <a:srgbClr val="FFFFFF"/>
          </a:solidFill>
          <a:ln/>
        </p:spPr>
      </p:sp>
      <p:sp>
        <p:nvSpPr>
          <p:cNvPr id="14" name="Text 11"/>
          <p:cNvSpPr/>
          <p:nvPr/>
        </p:nvSpPr>
        <p:spPr>
          <a:xfrm>
            <a:off x="4311650" y="788670"/>
            <a:ext cx="6387465" cy="885825"/>
          </a:xfrm>
          <a:prstGeom prst="rect">
            <a:avLst/>
          </a:prstGeom>
          <a:noFill/>
          <a:ln/>
        </p:spPr>
        <p:txBody>
          <a:bodyPr wrap="square" lIns="91440" tIns="45720" rIns="91440" bIns="45720" rtlCol="0" anchor="ctr"/>
          <a:lstStyle/>
          <a:p>
            <a:pPr algn="just">
              <a:lnSpc>
                <a:spcPct val="100000"/>
              </a:lnSpc>
            </a:pPr>
            <a:r>
              <a:rPr lang="en-US" sz="3200" dirty="0">
                <a:solidFill>
                  <a:srgbClr val="606C9A"/>
                </a:solidFill>
                <a:latin typeface="MiSans" pitchFamily="34" charset="0"/>
                <a:ea typeface="MiSans" pitchFamily="34" charset="-122"/>
                <a:cs typeface="MiSans" pitchFamily="34" charset="-120"/>
              </a:rPr>
              <a:t>实验结果与多维度对比分析</a:t>
            </a:r>
            <a:endParaRPr lang="en-US" sz="1600" dirty="0"/>
          </a:p>
        </p:txBody>
      </p:sp>
      <p:sp>
        <p:nvSpPr>
          <p:cNvPr id="15" name="Shape 12"/>
          <p:cNvSpPr/>
          <p:nvPr/>
        </p:nvSpPr>
        <p:spPr>
          <a:xfrm>
            <a:off x="713528" y="6589818"/>
            <a:ext cx="133350" cy="137160"/>
          </a:xfrm>
          <a:prstGeom prst="ellipse">
            <a:avLst/>
          </a:prstGeom>
          <a:solidFill>
            <a:srgbClr val="FFFFFF"/>
          </a:solidFill>
          <a:ln/>
        </p:spPr>
      </p:sp>
      <p:sp>
        <p:nvSpPr>
          <p:cNvPr id="16" name="Shape 13"/>
          <p:cNvSpPr/>
          <p:nvPr/>
        </p:nvSpPr>
        <p:spPr>
          <a:xfrm>
            <a:off x="713528" y="6389793"/>
            <a:ext cx="133350" cy="137160"/>
          </a:xfrm>
          <a:prstGeom prst="ellipse">
            <a:avLst/>
          </a:prstGeom>
          <a:solidFill>
            <a:srgbClr val="FFFFFF"/>
          </a:solidFill>
          <a:ln/>
        </p:spPr>
      </p:sp>
      <p:sp>
        <p:nvSpPr>
          <p:cNvPr id="17" name="Shape 14"/>
          <p:cNvSpPr/>
          <p:nvPr/>
        </p:nvSpPr>
        <p:spPr>
          <a:xfrm>
            <a:off x="713528" y="6189768"/>
            <a:ext cx="133350" cy="137160"/>
          </a:xfrm>
          <a:prstGeom prst="ellipse">
            <a:avLst/>
          </a:prstGeom>
          <a:solidFill>
            <a:srgbClr val="FFFFFF"/>
          </a:solidFill>
          <a:ln/>
        </p:spPr>
      </p:sp>
      <p:sp>
        <p:nvSpPr>
          <p:cNvPr id="18" name="Shape 15"/>
          <p:cNvSpPr/>
          <p:nvPr/>
        </p:nvSpPr>
        <p:spPr>
          <a:xfrm>
            <a:off x="713528" y="5989744"/>
            <a:ext cx="133350" cy="137160"/>
          </a:xfrm>
          <a:prstGeom prst="ellipse">
            <a:avLst/>
          </a:prstGeom>
          <a:solidFill>
            <a:srgbClr val="FFFFFF"/>
          </a:solidFill>
          <a:ln/>
        </p:spPr>
      </p:sp>
      <p:sp>
        <p:nvSpPr>
          <p:cNvPr id="19" name="Shape 16"/>
          <p:cNvSpPr/>
          <p:nvPr/>
        </p:nvSpPr>
        <p:spPr>
          <a:xfrm>
            <a:off x="713528" y="5737366"/>
            <a:ext cx="133350" cy="137160"/>
          </a:xfrm>
          <a:prstGeom prst="ellipse">
            <a:avLst/>
          </a:prstGeom>
          <a:solidFill>
            <a:srgbClr val="FFFFFF"/>
          </a:solidFill>
          <a:ln/>
        </p:spPr>
      </p:sp>
      <p:sp>
        <p:nvSpPr>
          <p:cNvPr id="20" name="Shape 17"/>
          <p:cNvSpPr/>
          <p:nvPr/>
        </p:nvSpPr>
        <p:spPr>
          <a:xfrm>
            <a:off x="713528" y="5537341"/>
            <a:ext cx="133350" cy="137160"/>
          </a:xfrm>
          <a:prstGeom prst="ellipse">
            <a:avLst/>
          </a:prstGeom>
          <a:solidFill>
            <a:srgbClr val="FFFFFF"/>
          </a:solidFill>
          <a:ln/>
        </p:spPr>
      </p:sp>
      <p:sp>
        <p:nvSpPr>
          <p:cNvPr id="21" name="Shape 18"/>
          <p:cNvSpPr/>
          <p:nvPr/>
        </p:nvSpPr>
        <p:spPr>
          <a:xfrm>
            <a:off x="713528" y="5337316"/>
            <a:ext cx="133350" cy="137160"/>
          </a:xfrm>
          <a:prstGeom prst="ellipse">
            <a:avLst/>
          </a:prstGeom>
          <a:solidFill>
            <a:srgbClr val="FFFFFF"/>
          </a:solidFill>
          <a:ln/>
        </p:spPr>
      </p:sp>
      <p:sp>
        <p:nvSpPr>
          <p:cNvPr id="22" name="Shape 19"/>
          <p:cNvSpPr/>
          <p:nvPr/>
        </p:nvSpPr>
        <p:spPr>
          <a:xfrm>
            <a:off x="713528" y="5137292"/>
            <a:ext cx="133350" cy="137160"/>
          </a:xfrm>
          <a:prstGeom prst="ellipse">
            <a:avLst/>
          </a:prstGeom>
          <a:solidFill>
            <a:srgbClr val="FFFFFF"/>
          </a:solidFill>
          <a:ln/>
        </p:spPr>
      </p:sp>
      <p:sp>
        <p:nvSpPr>
          <p:cNvPr id="23" name="Shape 20"/>
          <p:cNvSpPr/>
          <p:nvPr/>
        </p:nvSpPr>
        <p:spPr>
          <a:xfrm>
            <a:off x="11539043" y="2213591"/>
            <a:ext cx="133350" cy="137160"/>
          </a:xfrm>
          <a:prstGeom prst="ellipse">
            <a:avLst/>
          </a:prstGeom>
          <a:solidFill>
            <a:srgbClr val="FFFFFF"/>
          </a:solidFill>
          <a:ln/>
        </p:spPr>
      </p:sp>
      <p:sp>
        <p:nvSpPr>
          <p:cNvPr id="24" name="Shape 21"/>
          <p:cNvSpPr/>
          <p:nvPr/>
        </p:nvSpPr>
        <p:spPr>
          <a:xfrm>
            <a:off x="11539043" y="2013565"/>
            <a:ext cx="133350" cy="137160"/>
          </a:xfrm>
          <a:prstGeom prst="ellipse">
            <a:avLst/>
          </a:prstGeom>
          <a:solidFill>
            <a:srgbClr val="FFFFFF"/>
          </a:solidFill>
          <a:ln/>
        </p:spPr>
      </p:sp>
      <p:sp>
        <p:nvSpPr>
          <p:cNvPr id="25" name="Shape 22"/>
          <p:cNvSpPr/>
          <p:nvPr/>
        </p:nvSpPr>
        <p:spPr>
          <a:xfrm>
            <a:off x="11539043" y="1813540"/>
            <a:ext cx="133350" cy="137160"/>
          </a:xfrm>
          <a:prstGeom prst="ellipse">
            <a:avLst/>
          </a:prstGeom>
          <a:solidFill>
            <a:srgbClr val="FFFFFF"/>
          </a:solidFill>
          <a:ln/>
        </p:spPr>
      </p:sp>
      <p:sp>
        <p:nvSpPr>
          <p:cNvPr id="26" name="Shape 23"/>
          <p:cNvSpPr/>
          <p:nvPr/>
        </p:nvSpPr>
        <p:spPr>
          <a:xfrm>
            <a:off x="11539043" y="1613516"/>
            <a:ext cx="133350" cy="137160"/>
          </a:xfrm>
          <a:prstGeom prst="ellipse">
            <a:avLst/>
          </a:prstGeom>
          <a:solidFill>
            <a:srgbClr val="FFFFFF"/>
          </a:solidFill>
          <a:ln/>
        </p:spPr>
      </p:sp>
      <p:sp>
        <p:nvSpPr>
          <p:cNvPr id="27" name="Shape 24"/>
          <p:cNvSpPr/>
          <p:nvPr/>
        </p:nvSpPr>
        <p:spPr>
          <a:xfrm>
            <a:off x="11539043" y="1361139"/>
            <a:ext cx="133350" cy="137160"/>
          </a:xfrm>
          <a:prstGeom prst="ellipse">
            <a:avLst/>
          </a:prstGeom>
          <a:solidFill>
            <a:srgbClr val="FFFFFF"/>
          </a:solidFill>
          <a:ln/>
        </p:spPr>
      </p:sp>
      <p:sp>
        <p:nvSpPr>
          <p:cNvPr id="28" name="Shape 25"/>
          <p:cNvSpPr/>
          <p:nvPr/>
        </p:nvSpPr>
        <p:spPr>
          <a:xfrm>
            <a:off x="11539043" y="1161113"/>
            <a:ext cx="133350" cy="137160"/>
          </a:xfrm>
          <a:prstGeom prst="ellipse">
            <a:avLst/>
          </a:prstGeom>
          <a:solidFill>
            <a:srgbClr val="FFFFFF"/>
          </a:solidFill>
          <a:ln/>
        </p:spPr>
      </p:sp>
      <p:sp>
        <p:nvSpPr>
          <p:cNvPr id="29" name="Shape 26"/>
          <p:cNvSpPr/>
          <p:nvPr/>
        </p:nvSpPr>
        <p:spPr>
          <a:xfrm>
            <a:off x="11539043" y="961088"/>
            <a:ext cx="133350" cy="137160"/>
          </a:xfrm>
          <a:prstGeom prst="ellipse">
            <a:avLst/>
          </a:prstGeom>
          <a:solidFill>
            <a:srgbClr val="FFFFFF"/>
          </a:solidFill>
          <a:ln/>
        </p:spPr>
      </p:sp>
      <p:sp>
        <p:nvSpPr>
          <p:cNvPr id="30" name="Shape 27"/>
          <p:cNvSpPr/>
          <p:nvPr/>
        </p:nvSpPr>
        <p:spPr>
          <a:xfrm>
            <a:off x="11539043" y="761064"/>
            <a:ext cx="133350" cy="137160"/>
          </a:xfrm>
          <a:prstGeom prst="ellipse">
            <a:avLst/>
          </a:prstGeom>
          <a:solidFill>
            <a:srgbClr val="FFFFFF"/>
          </a:solidFill>
          <a:ln/>
        </p:spPr>
      </p:sp>
      <p:sp>
        <p:nvSpPr>
          <p:cNvPr id="31" name="Shape 28"/>
          <p:cNvSpPr/>
          <p:nvPr/>
        </p:nvSpPr>
        <p:spPr>
          <a:xfrm>
            <a:off x="4109932" y="3101088"/>
            <a:ext cx="228803" cy="212992"/>
          </a:xfrm>
          <a:prstGeom prst="ellipse">
            <a:avLst/>
          </a:prstGeom>
          <a:solidFill>
            <a:srgbClr val="000000">
              <a:alpha val="0"/>
            </a:srgbClr>
          </a:solidFill>
          <a:ln w="41275">
            <a:solidFill>
              <a:srgbClr val="FFFFFF"/>
            </a:solidFill>
            <a:prstDash val="solid"/>
          </a:ln>
        </p:spPr>
      </p:sp>
      <p:sp>
        <p:nvSpPr>
          <p:cNvPr id="32" name="Shape 29"/>
          <p:cNvSpPr/>
          <p:nvPr/>
        </p:nvSpPr>
        <p:spPr>
          <a:xfrm>
            <a:off x="4186331" y="3141626"/>
            <a:ext cx="137562" cy="131914"/>
          </a:xfrm>
          <a:prstGeom prst="ellipse">
            <a:avLst/>
          </a:prstGeom>
          <a:solidFill>
            <a:srgbClr val="C1CEF6"/>
          </a:solidFill>
          <a:ln/>
        </p:spPr>
      </p:sp>
      <p:sp>
        <p:nvSpPr>
          <p:cNvPr id="33" name="Shape 30"/>
          <p:cNvSpPr/>
          <p:nvPr/>
        </p:nvSpPr>
        <p:spPr>
          <a:xfrm>
            <a:off x="4109932" y="4251441"/>
            <a:ext cx="228803" cy="212992"/>
          </a:xfrm>
          <a:prstGeom prst="ellipse">
            <a:avLst/>
          </a:prstGeom>
          <a:solidFill>
            <a:srgbClr val="000000">
              <a:alpha val="0"/>
            </a:srgbClr>
          </a:solidFill>
          <a:ln w="41275">
            <a:solidFill>
              <a:srgbClr val="FFFFFF"/>
            </a:solidFill>
            <a:prstDash val="solid"/>
          </a:ln>
        </p:spPr>
      </p:sp>
      <p:sp>
        <p:nvSpPr>
          <p:cNvPr id="34" name="Shape 31"/>
          <p:cNvSpPr/>
          <p:nvPr/>
        </p:nvSpPr>
        <p:spPr>
          <a:xfrm>
            <a:off x="4186331" y="4291979"/>
            <a:ext cx="137562" cy="131914"/>
          </a:xfrm>
          <a:prstGeom prst="ellipse">
            <a:avLst/>
          </a:prstGeom>
          <a:solidFill>
            <a:srgbClr val="C1CEF6"/>
          </a:solidFill>
          <a:ln/>
        </p:spPr>
      </p:sp>
      <p:sp>
        <p:nvSpPr>
          <p:cNvPr id="35" name="Shape 32"/>
          <p:cNvSpPr/>
          <p:nvPr/>
        </p:nvSpPr>
        <p:spPr>
          <a:xfrm>
            <a:off x="4109932" y="5468655"/>
            <a:ext cx="228803" cy="212992"/>
          </a:xfrm>
          <a:prstGeom prst="ellipse">
            <a:avLst/>
          </a:prstGeom>
          <a:solidFill>
            <a:srgbClr val="000000">
              <a:alpha val="0"/>
            </a:srgbClr>
          </a:solidFill>
          <a:ln w="41275">
            <a:solidFill>
              <a:srgbClr val="FFFFFF"/>
            </a:solidFill>
            <a:prstDash val="solid"/>
          </a:ln>
        </p:spPr>
      </p:sp>
      <p:sp>
        <p:nvSpPr>
          <p:cNvPr id="36" name="Shape 33"/>
          <p:cNvSpPr/>
          <p:nvPr/>
        </p:nvSpPr>
        <p:spPr>
          <a:xfrm>
            <a:off x="4186331" y="5509193"/>
            <a:ext cx="137562" cy="131914"/>
          </a:xfrm>
          <a:prstGeom prst="ellipse">
            <a:avLst/>
          </a:prstGeom>
          <a:solidFill>
            <a:srgbClr val="C1CEF6"/>
          </a:solidFill>
          <a:ln/>
        </p:spPr>
      </p:sp>
      <p:sp>
        <p:nvSpPr>
          <p:cNvPr id="37" name="Text 34"/>
          <p:cNvSpPr/>
          <p:nvPr/>
        </p:nvSpPr>
        <p:spPr>
          <a:xfrm>
            <a:off x="4538760" y="1875037"/>
            <a:ext cx="6824019" cy="367665"/>
          </a:xfrm>
          <a:prstGeom prst="rect">
            <a:avLst/>
          </a:prstGeom>
          <a:noFill/>
          <a:ln/>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0"/>
                <a:ea typeface="MiSans" pitchFamily="34" charset="-122"/>
                <a:cs typeface="MiSans" pitchFamily="34" charset="-120"/>
              </a:rPr>
              <a:t>IMDB数据集性能领先</a:t>
            </a:r>
            <a:endParaRPr lang="en-US" sz="1600" dirty="0"/>
          </a:p>
        </p:txBody>
      </p:sp>
      <p:sp>
        <p:nvSpPr>
          <p:cNvPr id="38" name="Text 35"/>
          <p:cNvSpPr/>
          <p:nvPr/>
        </p:nvSpPr>
        <p:spPr>
          <a:xfrm>
            <a:off x="4566214" y="2223351"/>
            <a:ext cx="6824019" cy="597456"/>
          </a:xfrm>
          <a:prstGeom prst="rect">
            <a:avLst/>
          </a:prstGeom>
          <a:noFill/>
          <a:ln/>
        </p:spPr>
        <p:txBody>
          <a:bodyPr wrap="square" lIns="91440" tIns="45720" rIns="91440" bIns="45720" rtlCol="0" anchor="t">
            <a:spAutoFit/>
          </a:bodyPr>
          <a:lstStyle/>
          <a:p>
            <a:pPr algn="just">
              <a:lnSpc>
                <a:spcPct val="100000"/>
              </a:lnSpc>
            </a:pPr>
            <a:r>
              <a:rPr lang="en-US" sz="1400" dirty="0">
                <a:solidFill>
                  <a:srgbClr val="606C9A"/>
                </a:solidFill>
                <a:latin typeface="MiSans" pitchFamily="34" charset="0"/>
                <a:ea typeface="MiSans" pitchFamily="34" charset="-122"/>
                <a:cs typeface="MiSans" pitchFamily="34" charset="-120"/>
              </a:rPr>
              <a:t>10%标注条件下混合方法准确率达89.2%，较监督学习提升10.7个百分点，较自训练、协同训练分别提升5.0和2.5个百分点。</a:t>
            </a:r>
            <a:endParaRPr lang="en-US" sz="1600" dirty="0"/>
          </a:p>
        </p:txBody>
      </p:sp>
      <p:sp>
        <p:nvSpPr>
          <p:cNvPr id="39" name="Text 36"/>
          <p:cNvSpPr/>
          <p:nvPr/>
        </p:nvSpPr>
        <p:spPr>
          <a:xfrm>
            <a:off x="4538760" y="3031407"/>
            <a:ext cx="6824019" cy="367665"/>
          </a:xfrm>
          <a:prstGeom prst="rect">
            <a:avLst/>
          </a:prstGeom>
          <a:noFill/>
          <a:ln/>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0"/>
                <a:ea typeface="MiSans" pitchFamily="34" charset="-122"/>
                <a:cs typeface="MiSans" pitchFamily="34" charset="-120"/>
              </a:rPr>
              <a:t>20 Newsgroups数据集验证</a:t>
            </a:r>
            <a:endParaRPr lang="en-US" sz="1600" dirty="0"/>
          </a:p>
        </p:txBody>
      </p:sp>
      <p:sp>
        <p:nvSpPr>
          <p:cNvPr id="40" name="Text 37"/>
          <p:cNvSpPr/>
          <p:nvPr/>
        </p:nvSpPr>
        <p:spPr>
          <a:xfrm>
            <a:off x="4566214" y="3379721"/>
            <a:ext cx="6824019" cy="597456"/>
          </a:xfrm>
          <a:prstGeom prst="rect">
            <a:avLst/>
          </a:prstGeom>
          <a:noFill/>
          <a:ln/>
        </p:spPr>
        <p:txBody>
          <a:bodyPr wrap="square" lIns="91440" tIns="45720" rIns="91440" bIns="45720" rtlCol="0" anchor="t">
            <a:spAutoFit/>
          </a:bodyPr>
          <a:lstStyle/>
          <a:p>
            <a:pPr algn="just">
              <a:lnSpc>
                <a:spcPct val="100000"/>
              </a:lnSpc>
            </a:pPr>
            <a:r>
              <a:rPr lang="en-US" sz="1400" dirty="0">
                <a:solidFill>
                  <a:srgbClr val="606C9A"/>
                </a:solidFill>
                <a:latin typeface="MiSans" pitchFamily="34" charset="0"/>
                <a:ea typeface="MiSans" pitchFamily="34" charset="-122"/>
                <a:cs typeface="MiSans" pitchFamily="34" charset="-120"/>
              </a:rPr>
              <a:t>混合方法准确率78.9%，同样优于所有对比方法，证明其在多分类新闻场景中的稳定优势与良好泛化能力。</a:t>
            </a:r>
            <a:endParaRPr lang="en-US" sz="1600" dirty="0"/>
          </a:p>
        </p:txBody>
      </p:sp>
      <p:sp>
        <p:nvSpPr>
          <p:cNvPr id="41" name="Text 38"/>
          <p:cNvSpPr/>
          <p:nvPr/>
        </p:nvSpPr>
        <p:spPr>
          <a:xfrm>
            <a:off x="4538760" y="4181760"/>
            <a:ext cx="6824019" cy="367665"/>
          </a:xfrm>
          <a:prstGeom prst="rect">
            <a:avLst/>
          </a:prstGeom>
          <a:noFill/>
          <a:ln/>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0"/>
                <a:ea typeface="MiSans" pitchFamily="34" charset="-122"/>
                <a:cs typeface="MiSans" pitchFamily="34" charset="-120"/>
              </a:rPr>
              <a:t>标注比例影响规律</a:t>
            </a:r>
            <a:endParaRPr lang="en-US" sz="1600" dirty="0"/>
          </a:p>
        </p:txBody>
      </p:sp>
      <p:sp>
        <p:nvSpPr>
          <p:cNvPr id="42" name="Text 39"/>
          <p:cNvSpPr/>
          <p:nvPr/>
        </p:nvSpPr>
        <p:spPr>
          <a:xfrm>
            <a:off x="4566214" y="4530074"/>
            <a:ext cx="6824019" cy="597456"/>
          </a:xfrm>
          <a:prstGeom prst="rect">
            <a:avLst/>
          </a:prstGeom>
          <a:noFill/>
          <a:ln/>
        </p:spPr>
        <p:txBody>
          <a:bodyPr wrap="square" lIns="91440" tIns="45720" rIns="91440" bIns="45720" rtlCol="0" anchor="t">
            <a:spAutoFit/>
          </a:bodyPr>
          <a:lstStyle/>
          <a:p>
            <a:pPr algn="just">
              <a:lnSpc>
                <a:spcPct val="100000"/>
              </a:lnSpc>
            </a:pPr>
            <a:r>
              <a:rPr lang="en-US" sz="1400" dirty="0">
                <a:solidFill>
                  <a:srgbClr val="606C9A"/>
                </a:solidFill>
                <a:latin typeface="MiSans" pitchFamily="34" charset="0"/>
                <a:ea typeface="MiSans" pitchFamily="34" charset="-122"/>
                <a:cs typeface="MiSans" pitchFamily="34" charset="-120"/>
              </a:rPr>
              <a:t>性能随标注量增加而提升但边际递减，印证半监督学习在低标注场景价值最大，性价比最优。</a:t>
            </a:r>
            <a:endParaRPr lang="en-US" sz="1600" dirty="0"/>
          </a:p>
        </p:txBody>
      </p:sp>
      <p:sp>
        <p:nvSpPr>
          <p:cNvPr id="43" name="Text 40"/>
          <p:cNvSpPr/>
          <p:nvPr/>
        </p:nvSpPr>
        <p:spPr>
          <a:xfrm>
            <a:off x="4538760" y="5398974"/>
            <a:ext cx="6824019" cy="367665"/>
          </a:xfrm>
          <a:prstGeom prst="rect">
            <a:avLst/>
          </a:prstGeom>
          <a:noFill/>
          <a:ln/>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0"/>
                <a:ea typeface="MiSans" pitchFamily="34" charset="-122"/>
                <a:cs typeface="MiSans" pitchFamily="34" charset="-120"/>
              </a:rPr>
              <a:t>基分类器与文献对比</a:t>
            </a:r>
            <a:endParaRPr lang="en-US" sz="1600" dirty="0"/>
          </a:p>
        </p:txBody>
      </p:sp>
      <p:sp>
        <p:nvSpPr>
          <p:cNvPr id="44" name="Text 41"/>
          <p:cNvSpPr/>
          <p:nvPr/>
        </p:nvSpPr>
        <p:spPr>
          <a:xfrm>
            <a:off x="4566214" y="5747288"/>
            <a:ext cx="6824019" cy="597456"/>
          </a:xfrm>
          <a:prstGeom prst="rect">
            <a:avLst/>
          </a:prstGeom>
          <a:noFill/>
          <a:ln/>
        </p:spPr>
        <p:txBody>
          <a:bodyPr wrap="square" lIns="91440" tIns="45720" rIns="91440" bIns="45720" rtlCol="0" anchor="t">
            <a:spAutoFit/>
          </a:bodyPr>
          <a:lstStyle/>
          <a:p>
            <a:pPr algn="just">
              <a:lnSpc>
                <a:spcPct val="100000"/>
              </a:lnSpc>
            </a:pPr>
            <a:r>
              <a:rPr lang="en-US" sz="1400" dirty="0">
                <a:solidFill>
                  <a:srgbClr val="606C9A"/>
                </a:solidFill>
                <a:latin typeface="MiSans" pitchFamily="34" charset="0"/>
                <a:ea typeface="MiSans" pitchFamily="34" charset="-122"/>
                <a:cs typeface="MiSans" pitchFamily="34" charset="-120"/>
              </a:rPr>
              <a:t>SVM作为基分类器效果最佳；与近期文献对比，同等10%标注条件下本文方法全面领先，验证创新有效性。</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gradFill flip="none" rotWithShape="0">
          <a:gsLst>
            <a:gs pos="0">
              <a:srgbClr val="FFF2C6"/>
            </a:gs>
            <a:gs pos="47000">
              <a:srgbClr val="D8E1FD"/>
            </a:gs>
            <a:gs pos="78000">
              <a:srgbClr val="C7D5FC"/>
            </a:gs>
            <a:gs pos="100000">
              <a:srgbClr val="FDF8CB"/>
            </a:gs>
          </a:gsLst>
          <a:lin ang="24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09-04-15:09:12-d2sjm661bb2p4onbqcu0.png"/>
          <p:cNvPicPr>
            <a:picLocks noChangeAspect="1"/>
          </p:cNvPicPr>
          <p:nvPr/>
        </p:nvPicPr>
        <p:blipFill>
          <a:blip r:embed="rId3"/>
          <a:stretch>
            <a:fillRect/>
          </a:stretch>
        </p:blipFill>
        <p:spPr>
          <a:xfrm>
            <a:off x="4928399" y="517692"/>
            <a:ext cx="7251700" cy="6340308"/>
          </a:xfrm>
          <a:prstGeom prst="rect">
            <a:avLst/>
          </a:prstGeom>
        </p:spPr>
      </p:pic>
      <p:sp>
        <p:nvSpPr>
          <p:cNvPr id="3" name="Text 0"/>
          <p:cNvSpPr/>
          <p:nvPr/>
        </p:nvSpPr>
        <p:spPr>
          <a:xfrm>
            <a:off x="7048502" y="2308860"/>
            <a:ext cx="4599086" cy="3951446"/>
          </a:xfrm>
          <a:prstGeom prst="rect">
            <a:avLst/>
          </a:prstGeom>
          <a:noFill/>
          <a:ln/>
        </p:spPr>
        <p:txBody>
          <a:bodyPr wrap="square" lIns="91440" tIns="45720" rIns="91440" bIns="45720" rtlCol="0" anchor="ctr">
            <a:spAutoFit/>
          </a:bodyPr>
          <a:lstStyle/>
          <a:p>
            <a:pPr algn="just">
              <a:lnSpc>
                <a:spcPct val="100000"/>
              </a:lnSpc>
            </a:pPr>
            <a:r>
              <a:rPr lang="en-US" sz="25000" dirty="0">
                <a:solidFill>
                  <a:srgbClr val="7F9CDF"/>
                </a:solidFill>
                <a:latin typeface="MiSans" pitchFamily="34" charset="0"/>
                <a:ea typeface="MiSans" pitchFamily="34" charset="-122"/>
                <a:cs typeface="MiSans" pitchFamily="34" charset="-120"/>
              </a:rPr>
              <a:t>05</a:t>
            </a:r>
            <a:endParaRPr lang="en-US" sz="1600" dirty="0"/>
          </a:p>
        </p:txBody>
      </p:sp>
      <p:sp>
        <p:nvSpPr>
          <p:cNvPr id="4" name="Text 1"/>
          <p:cNvSpPr/>
          <p:nvPr/>
        </p:nvSpPr>
        <p:spPr>
          <a:xfrm>
            <a:off x="797724" y="1781560"/>
            <a:ext cx="4599086" cy="708581"/>
          </a:xfrm>
          <a:prstGeom prst="rect">
            <a:avLst/>
          </a:prstGeom>
          <a:noFill/>
          <a:ln/>
        </p:spPr>
        <p:txBody>
          <a:bodyPr wrap="square" lIns="91440" tIns="45720" rIns="91440" bIns="45720" rtlCol="0" anchor="ctr">
            <a:spAutoFit/>
          </a:bodyPr>
          <a:lstStyle/>
          <a:p>
            <a:pPr algn="just">
              <a:lnSpc>
                <a:spcPct val="100000"/>
              </a:lnSpc>
            </a:pPr>
            <a:r>
              <a:rPr lang="en-US" sz="4000" dirty="0">
                <a:solidFill>
                  <a:srgbClr val="6D7AAF"/>
                </a:solidFill>
                <a:latin typeface="MiSans" pitchFamily="34" charset="0"/>
                <a:ea typeface="MiSans" pitchFamily="34" charset="-122"/>
                <a:cs typeface="MiSans" pitchFamily="34" charset="-120"/>
              </a:rPr>
              <a:t>应用验证与展望</a:t>
            </a:r>
            <a:endParaRPr lang="en-US" sz="1600" dirty="0"/>
          </a:p>
        </p:txBody>
      </p:sp>
      <p:sp>
        <p:nvSpPr>
          <p:cNvPr id="5" name="Shape 2"/>
          <p:cNvSpPr/>
          <p:nvPr/>
        </p:nvSpPr>
        <p:spPr>
          <a:xfrm>
            <a:off x="731049" y="856006"/>
            <a:ext cx="133350" cy="137160"/>
          </a:xfrm>
          <a:prstGeom prst="ellipse">
            <a:avLst/>
          </a:prstGeom>
          <a:solidFill>
            <a:srgbClr val="FFFFFF"/>
          </a:solidFill>
          <a:ln/>
        </p:spPr>
      </p:sp>
      <p:sp>
        <p:nvSpPr>
          <p:cNvPr id="6" name="Shape 3"/>
          <p:cNvSpPr/>
          <p:nvPr/>
        </p:nvSpPr>
        <p:spPr>
          <a:xfrm>
            <a:off x="931074" y="856006"/>
            <a:ext cx="133350" cy="137160"/>
          </a:xfrm>
          <a:prstGeom prst="ellipse">
            <a:avLst/>
          </a:prstGeom>
          <a:solidFill>
            <a:srgbClr val="FFFFFF"/>
          </a:solidFill>
          <a:ln/>
        </p:spPr>
      </p:sp>
      <p:sp>
        <p:nvSpPr>
          <p:cNvPr id="7" name="Shape 4"/>
          <p:cNvSpPr/>
          <p:nvPr/>
        </p:nvSpPr>
        <p:spPr>
          <a:xfrm>
            <a:off x="1131099" y="856006"/>
            <a:ext cx="133350" cy="137160"/>
          </a:xfrm>
          <a:prstGeom prst="ellipse">
            <a:avLst/>
          </a:prstGeom>
          <a:solidFill>
            <a:srgbClr val="FFFFFF"/>
          </a:solidFill>
          <a:ln/>
        </p:spPr>
      </p:sp>
      <p:sp>
        <p:nvSpPr>
          <p:cNvPr id="8" name="Shape 5"/>
          <p:cNvSpPr/>
          <p:nvPr/>
        </p:nvSpPr>
        <p:spPr>
          <a:xfrm>
            <a:off x="1331124" y="856006"/>
            <a:ext cx="133350" cy="137160"/>
          </a:xfrm>
          <a:prstGeom prst="ellipse">
            <a:avLst/>
          </a:prstGeom>
          <a:solidFill>
            <a:srgbClr val="FFFFFF"/>
          </a:solidFill>
          <a:ln/>
        </p:spPr>
      </p:sp>
      <p:sp>
        <p:nvSpPr>
          <p:cNvPr id="9" name="Shape 6"/>
          <p:cNvSpPr/>
          <p:nvPr/>
        </p:nvSpPr>
        <p:spPr>
          <a:xfrm>
            <a:off x="527687" y="1596530"/>
            <a:ext cx="133350" cy="137160"/>
          </a:xfrm>
          <a:prstGeom prst="ellipse">
            <a:avLst/>
          </a:prstGeom>
          <a:solidFill>
            <a:srgbClr val="FFFFFF"/>
          </a:solidFill>
          <a:ln/>
        </p:spPr>
      </p:sp>
      <p:sp>
        <p:nvSpPr>
          <p:cNvPr id="10" name="Shape 7"/>
          <p:cNvSpPr/>
          <p:nvPr/>
        </p:nvSpPr>
        <p:spPr>
          <a:xfrm>
            <a:off x="527687" y="1396504"/>
            <a:ext cx="133350" cy="137160"/>
          </a:xfrm>
          <a:prstGeom prst="ellipse">
            <a:avLst/>
          </a:prstGeom>
          <a:solidFill>
            <a:srgbClr val="FFFFFF"/>
          </a:solidFill>
          <a:ln/>
        </p:spPr>
      </p:sp>
      <p:sp>
        <p:nvSpPr>
          <p:cNvPr id="11" name="Shape 8"/>
          <p:cNvSpPr/>
          <p:nvPr/>
        </p:nvSpPr>
        <p:spPr>
          <a:xfrm>
            <a:off x="527687" y="1196479"/>
            <a:ext cx="133350" cy="137160"/>
          </a:xfrm>
          <a:prstGeom prst="ellipse">
            <a:avLst/>
          </a:prstGeom>
          <a:solidFill>
            <a:srgbClr val="FFFFFF"/>
          </a:solidFill>
          <a:ln/>
        </p:spPr>
      </p:sp>
      <p:sp>
        <p:nvSpPr>
          <p:cNvPr id="12" name="Shape 9"/>
          <p:cNvSpPr/>
          <p:nvPr/>
        </p:nvSpPr>
        <p:spPr>
          <a:xfrm>
            <a:off x="527687" y="996455"/>
            <a:ext cx="133350" cy="137160"/>
          </a:xfrm>
          <a:prstGeom prst="ellipse">
            <a:avLst/>
          </a:prstGeom>
          <a:solidFill>
            <a:srgbClr val="FFFFFF"/>
          </a:solidFill>
          <a:ln/>
        </p:spPr>
      </p:sp>
      <p:pic>
        <p:nvPicPr>
          <p:cNvPr id="13" name="Image 1" descr="https://kimi-img.moonshot.cn/pub/slides/slides_tmpl/image/25-09-04-15:09:08-d2sjm561bb2p4onbqcmg.png"/>
          <p:cNvPicPr>
            <a:picLocks noChangeAspect="1"/>
          </p:cNvPicPr>
          <p:nvPr/>
        </p:nvPicPr>
        <p:blipFill>
          <a:blip r:embed="rId4">
            <a:alphaModFix amt="59000"/>
          </a:blip>
          <a:stretch>
            <a:fillRect/>
          </a:stretch>
        </p:blipFill>
        <p:spPr>
          <a:xfrm>
            <a:off x="5143500" y="698500"/>
            <a:ext cx="7048500" cy="6197600"/>
          </a:xfrm>
          <a:prstGeom prst="rect">
            <a:avLst/>
          </a:prstGeom>
        </p:spPr>
      </p:pic>
      <p:pic>
        <p:nvPicPr>
          <p:cNvPr id="14" name="Image 2" descr="https://kimi-img.moonshot.cn/pub/slides/slides_tmpl/image/25-09-04-15:09:07-d2sjm4u1bb2p4onbqcm0.png"/>
          <p:cNvPicPr>
            <a:picLocks noChangeAspect="1"/>
          </p:cNvPicPr>
          <p:nvPr/>
        </p:nvPicPr>
        <p:blipFill>
          <a:blip r:embed="rId5"/>
          <a:stretch>
            <a:fillRect/>
          </a:stretch>
        </p:blipFill>
        <p:spPr>
          <a:xfrm>
            <a:off x="0" y="3797300"/>
            <a:ext cx="5143500" cy="3060700"/>
          </a:xfrm>
          <a:prstGeom prst="rect">
            <a:avLst/>
          </a:prstGeom>
        </p:spPr>
      </p:pic>
      <p:pic>
        <p:nvPicPr>
          <p:cNvPr id="15" name="Image 3" descr="https://kimi-img.moonshot.cn/pub/slides/slides_tmpl/image/25-09-04-15:09:06-d2sjm4m1bb2p4onbqck0.png"/>
          <p:cNvPicPr>
            <a:picLocks noChangeAspect="1"/>
          </p:cNvPicPr>
          <p:nvPr/>
        </p:nvPicPr>
        <p:blipFill>
          <a:blip r:embed="rId6"/>
          <a:stretch>
            <a:fillRect/>
          </a:stretch>
        </p:blipFill>
        <p:spPr>
          <a:xfrm>
            <a:off x="512445" y="4587240"/>
            <a:ext cx="152400" cy="1524000"/>
          </a:xfrm>
          <a:prstGeom prst="rect">
            <a:avLst/>
          </a:prstGeom>
        </p:spPr>
      </p:pic>
      <p:pic>
        <p:nvPicPr>
          <p:cNvPr id="16" name="Image 4" descr="https://kimi-img.moonshot.cn/pub/slides/slides_tmpl/image/25-09-04-15:09:06-d2sjm4m1bb2p4onbqckg.png"/>
          <p:cNvPicPr>
            <a:picLocks noChangeAspect="1"/>
          </p:cNvPicPr>
          <p:nvPr/>
        </p:nvPicPr>
        <p:blipFill>
          <a:blip r:embed="rId7"/>
          <a:stretch>
            <a:fillRect/>
          </a:stretch>
        </p:blipFill>
        <p:spPr>
          <a:xfrm>
            <a:off x="1311275" y="3907257"/>
            <a:ext cx="1320800" cy="1371600"/>
          </a:xfrm>
          <a:prstGeom prst="rect">
            <a:avLst/>
          </a:prstGeom>
        </p:spPr>
      </p:pic>
      <p:pic>
        <p:nvPicPr>
          <p:cNvPr id="17" name="Image 5" descr="https://kimi-img.moonshot.cn/pub/slides/slides_tmpl/image/25-09-04-15:09:06-d2sjm4m1bb2p4onbqcl0.png"/>
          <p:cNvPicPr>
            <a:picLocks noChangeAspect="1"/>
          </p:cNvPicPr>
          <p:nvPr/>
        </p:nvPicPr>
        <p:blipFill>
          <a:blip r:embed="rId8"/>
          <a:stretch>
            <a:fillRect/>
          </a:stretch>
        </p:blipFill>
        <p:spPr>
          <a:xfrm>
            <a:off x="10570172" y="1111250"/>
            <a:ext cx="983056" cy="907962"/>
          </a:xfrm>
          <a:prstGeom prst="rect">
            <a:avLst/>
          </a:prstGeom>
        </p:spPr>
      </p:pic>
      <p:sp>
        <p:nvSpPr>
          <p:cNvPr id="18" name="Shape 10"/>
          <p:cNvSpPr/>
          <p:nvPr/>
        </p:nvSpPr>
        <p:spPr>
          <a:xfrm>
            <a:off x="1101725" y="3958057"/>
            <a:ext cx="539750" cy="508001"/>
          </a:xfrm>
          <a:prstGeom prst="ellipse">
            <a:avLst/>
          </a:prstGeom>
          <a:solidFill>
            <a:srgbClr val="B2C4FF"/>
          </a:solidFill>
          <a:ln/>
        </p:spPr>
      </p:sp>
      <p:pic>
        <p:nvPicPr>
          <p:cNvPr id="19" name="Image 6" descr="https://kimi-img.moonshot.cn/pub/slides/slides_tmpl/image/25-09-04-15:09:06-d2sjm4m1bb2p4onbqckg.png"/>
          <p:cNvPicPr>
            <a:picLocks noChangeAspect="1"/>
          </p:cNvPicPr>
          <p:nvPr/>
        </p:nvPicPr>
        <p:blipFill>
          <a:blip r:embed="rId7"/>
          <a:stretch>
            <a:fillRect/>
          </a:stretch>
        </p:blipFill>
        <p:spPr>
          <a:xfrm>
            <a:off x="11187651" y="1515914"/>
            <a:ext cx="731154" cy="676035"/>
          </a:xfrm>
          <a:prstGeom prst="rect">
            <a:avLst/>
          </a:prstGeom>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gradFill flip="none" rotWithShape="0">
          <a:gsLst>
            <a:gs pos="0">
              <a:srgbClr val="C7D5FC"/>
            </a:gs>
            <a:gs pos="29000">
              <a:srgbClr val="C7D5FC"/>
            </a:gs>
            <a:gs pos="49000">
              <a:srgbClr val="FFF7DD"/>
            </a:gs>
            <a:gs pos="83000">
              <a:srgbClr val="D8E1FD"/>
            </a:gs>
            <a:gs pos="100000">
              <a:srgbClr val="D8E1FD"/>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Shape 0"/>
          <p:cNvSpPr/>
          <p:nvPr/>
        </p:nvSpPr>
        <p:spPr>
          <a:xfrm>
            <a:off x="4207664" y="3773157"/>
            <a:ext cx="228803" cy="212992"/>
          </a:xfrm>
          <a:prstGeom prst="ellipse">
            <a:avLst/>
          </a:prstGeom>
          <a:solidFill>
            <a:srgbClr val="000000">
              <a:alpha val="0"/>
            </a:srgbClr>
          </a:solidFill>
          <a:ln w="41275">
            <a:solidFill>
              <a:srgbClr val="FFFFFF"/>
            </a:solidFill>
            <a:prstDash val="solid"/>
          </a:ln>
        </p:spPr>
      </p:sp>
      <p:sp>
        <p:nvSpPr>
          <p:cNvPr id="3" name="Shape 1"/>
          <p:cNvSpPr/>
          <p:nvPr/>
        </p:nvSpPr>
        <p:spPr>
          <a:xfrm>
            <a:off x="4284063" y="3813695"/>
            <a:ext cx="137562" cy="131914"/>
          </a:xfrm>
          <a:prstGeom prst="ellipse">
            <a:avLst/>
          </a:prstGeom>
          <a:solidFill>
            <a:srgbClr val="C1CEF6"/>
          </a:solidFill>
          <a:ln/>
        </p:spPr>
      </p:sp>
      <p:sp>
        <p:nvSpPr>
          <p:cNvPr id="4" name="Shape 2"/>
          <p:cNvSpPr/>
          <p:nvPr/>
        </p:nvSpPr>
        <p:spPr>
          <a:xfrm>
            <a:off x="8306882" y="1088529"/>
            <a:ext cx="228803" cy="212992"/>
          </a:xfrm>
          <a:prstGeom prst="ellipse">
            <a:avLst/>
          </a:prstGeom>
          <a:solidFill>
            <a:srgbClr val="000000">
              <a:alpha val="0"/>
            </a:srgbClr>
          </a:solidFill>
          <a:ln w="41275">
            <a:solidFill>
              <a:srgbClr val="FFFFFF"/>
            </a:solidFill>
            <a:prstDash val="solid"/>
          </a:ln>
        </p:spPr>
      </p:sp>
      <p:sp>
        <p:nvSpPr>
          <p:cNvPr id="5" name="Shape 3"/>
          <p:cNvSpPr/>
          <p:nvPr/>
        </p:nvSpPr>
        <p:spPr>
          <a:xfrm>
            <a:off x="8383281" y="1129067"/>
            <a:ext cx="137562" cy="131914"/>
          </a:xfrm>
          <a:prstGeom prst="ellipse">
            <a:avLst/>
          </a:prstGeom>
          <a:solidFill>
            <a:srgbClr val="C1CEF6"/>
          </a:solidFill>
          <a:ln/>
        </p:spPr>
      </p:sp>
      <p:pic>
        <p:nvPicPr>
          <p:cNvPr id="6" name="Image 0" descr="https://kimi-img.moonshot.cn/pub/slides/slides_tmpl/image/25-09-04-15:09:17-d2sjm7e1bb2p4onbqd7g.jpeg"/>
          <p:cNvPicPr>
            <a:picLocks noChangeAspect="1"/>
          </p:cNvPicPr>
          <p:nvPr/>
        </p:nvPicPr>
        <p:blipFill>
          <a:blip r:embed="rId3"/>
          <a:stretch>
            <a:fillRect/>
          </a:stretch>
        </p:blipFill>
        <p:spPr>
          <a:xfrm>
            <a:off x="666115" y="939165"/>
            <a:ext cx="2995930" cy="2520950"/>
          </a:xfrm>
          <a:prstGeom prst="rect">
            <a:avLst/>
          </a:prstGeom>
        </p:spPr>
      </p:pic>
      <p:pic>
        <p:nvPicPr>
          <p:cNvPr id="7" name="Image 1" descr="https://kimi-img.moonshot.cn/pub/slides/slides_tmpl/image/25-09-04-15:09:17-d2sjm7e1bb2p4onbqd6g.jpeg"/>
          <p:cNvPicPr>
            <a:picLocks noChangeAspect="1"/>
          </p:cNvPicPr>
          <p:nvPr/>
        </p:nvPicPr>
        <p:blipFill>
          <a:blip r:embed="rId4"/>
          <a:stretch>
            <a:fillRect/>
          </a:stretch>
        </p:blipFill>
        <p:spPr>
          <a:xfrm>
            <a:off x="3620135" y="939165"/>
            <a:ext cx="4514215" cy="2520950"/>
          </a:xfrm>
          <a:prstGeom prst="rect">
            <a:avLst/>
          </a:prstGeom>
        </p:spPr>
      </p:pic>
      <p:sp>
        <p:nvSpPr>
          <p:cNvPr id="8" name="Shape 4"/>
          <p:cNvSpPr/>
          <p:nvPr/>
        </p:nvSpPr>
        <p:spPr>
          <a:xfrm>
            <a:off x="769099" y="3873546"/>
            <a:ext cx="133350" cy="137160"/>
          </a:xfrm>
          <a:prstGeom prst="ellipse">
            <a:avLst/>
          </a:prstGeom>
          <a:solidFill>
            <a:srgbClr val="FFFFFF"/>
          </a:solidFill>
          <a:ln/>
        </p:spPr>
      </p:sp>
      <p:sp>
        <p:nvSpPr>
          <p:cNvPr id="9" name="Shape 5"/>
          <p:cNvSpPr/>
          <p:nvPr/>
        </p:nvSpPr>
        <p:spPr>
          <a:xfrm>
            <a:off x="969124" y="3873546"/>
            <a:ext cx="133350" cy="137160"/>
          </a:xfrm>
          <a:prstGeom prst="ellipse">
            <a:avLst/>
          </a:prstGeom>
          <a:solidFill>
            <a:srgbClr val="FFFFFF"/>
          </a:solidFill>
          <a:ln/>
        </p:spPr>
      </p:sp>
      <p:sp>
        <p:nvSpPr>
          <p:cNvPr id="10" name="Shape 6"/>
          <p:cNvSpPr/>
          <p:nvPr/>
        </p:nvSpPr>
        <p:spPr>
          <a:xfrm>
            <a:off x="1169149" y="3873546"/>
            <a:ext cx="133350" cy="137160"/>
          </a:xfrm>
          <a:prstGeom prst="ellipse">
            <a:avLst/>
          </a:prstGeom>
          <a:solidFill>
            <a:srgbClr val="FFFFFF"/>
          </a:solidFill>
          <a:ln/>
        </p:spPr>
      </p:sp>
      <p:sp>
        <p:nvSpPr>
          <p:cNvPr id="11" name="Shape 7"/>
          <p:cNvSpPr/>
          <p:nvPr/>
        </p:nvSpPr>
        <p:spPr>
          <a:xfrm>
            <a:off x="1369174" y="3873546"/>
            <a:ext cx="133350" cy="137160"/>
          </a:xfrm>
          <a:prstGeom prst="ellipse">
            <a:avLst/>
          </a:prstGeom>
          <a:solidFill>
            <a:srgbClr val="FFFFFF"/>
          </a:solidFill>
          <a:ln/>
        </p:spPr>
      </p:sp>
      <p:sp>
        <p:nvSpPr>
          <p:cNvPr id="12" name="Shape 8"/>
          <p:cNvSpPr/>
          <p:nvPr/>
        </p:nvSpPr>
        <p:spPr>
          <a:xfrm>
            <a:off x="565737" y="4614069"/>
            <a:ext cx="133350" cy="137160"/>
          </a:xfrm>
          <a:prstGeom prst="ellipse">
            <a:avLst/>
          </a:prstGeom>
          <a:solidFill>
            <a:srgbClr val="FFFFFF"/>
          </a:solidFill>
          <a:ln/>
        </p:spPr>
      </p:sp>
      <p:sp>
        <p:nvSpPr>
          <p:cNvPr id="13" name="Shape 9"/>
          <p:cNvSpPr/>
          <p:nvPr/>
        </p:nvSpPr>
        <p:spPr>
          <a:xfrm>
            <a:off x="565737" y="4414044"/>
            <a:ext cx="133350" cy="137160"/>
          </a:xfrm>
          <a:prstGeom prst="ellipse">
            <a:avLst/>
          </a:prstGeom>
          <a:solidFill>
            <a:srgbClr val="FFFFFF"/>
          </a:solidFill>
          <a:ln/>
        </p:spPr>
      </p:sp>
      <p:sp>
        <p:nvSpPr>
          <p:cNvPr id="14" name="Shape 10"/>
          <p:cNvSpPr/>
          <p:nvPr/>
        </p:nvSpPr>
        <p:spPr>
          <a:xfrm>
            <a:off x="565737" y="4214019"/>
            <a:ext cx="133350" cy="137160"/>
          </a:xfrm>
          <a:prstGeom prst="ellipse">
            <a:avLst/>
          </a:prstGeom>
          <a:solidFill>
            <a:srgbClr val="FFFFFF"/>
          </a:solidFill>
          <a:ln/>
        </p:spPr>
      </p:sp>
      <p:sp>
        <p:nvSpPr>
          <p:cNvPr id="15" name="Shape 11"/>
          <p:cNvSpPr/>
          <p:nvPr/>
        </p:nvSpPr>
        <p:spPr>
          <a:xfrm>
            <a:off x="565737" y="4013995"/>
            <a:ext cx="133350" cy="137160"/>
          </a:xfrm>
          <a:prstGeom prst="ellipse">
            <a:avLst/>
          </a:prstGeom>
          <a:solidFill>
            <a:srgbClr val="FFFFFF"/>
          </a:solidFill>
          <a:ln/>
        </p:spPr>
      </p:sp>
      <p:sp>
        <p:nvSpPr>
          <p:cNvPr id="16" name="Text 12"/>
          <p:cNvSpPr/>
          <p:nvPr/>
        </p:nvSpPr>
        <p:spPr>
          <a:xfrm>
            <a:off x="815340" y="4079875"/>
            <a:ext cx="3196590" cy="2083435"/>
          </a:xfrm>
          <a:prstGeom prst="rect">
            <a:avLst/>
          </a:prstGeom>
          <a:noFill/>
          <a:ln/>
        </p:spPr>
        <p:txBody>
          <a:bodyPr wrap="square" lIns="91440" tIns="45720" rIns="91440" bIns="45720" rtlCol="0" anchor="t"/>
          <a:lstStyle/>
          <a:p>
            <a:pPr algn="just">
              <a:lnSpc>
                <a:spcPct val="100000"/>
              </a:lnSpc>
            </a:pPr>
            <a:r>
              <a:rPr lang="en-US" sz="3200" dirty="0">
                <a:solidFill>
                  <a:srgbClr val="606C9A"/>
                </a:solidFill>
                <a:latin typeface="MiSans" pitchFamily="34" charset="0"/>
                <a:ea typeface="MiSans" pitchFamily="34" charset="-122"/>
                <a:cs typeface="MiSans" pitchFamily="34" charset="-120"/>
              </a:rPr>
              <a:t>三类典型场景应用效果评估</a:t>
            </a:r>
            <a:endParaRPr lang="en-US" sz="1600" dirty="0"/>
          </a:p>
        </p:txBody>
      </p:sp>
      <p:sp>
        <p:nvSpPr>
          <p:cNvPr id="17" name="Shape 13"/>
          <p:cNvSpPr/>
          <p:nvPr/>
        </p:nvSpPr>
        <p:spPr>
          <a:xfrm>
            <a:off x="4207029" y="5159997"/>
            <a:ext cx="228803" cy="212992"/>
          </a:xfrm>
          <a:prstGeom prst="ellipse">
            <a:avLst/>
          </a:prstGeom>
          <a:solidFill>
            <a:srgbClr val="000000">
              <a:alpha val="0"/>
            </a:srgbClr>
          </a:solidFill>
          <a:ln w="41275">
            <a:solidFill>
              <a:srgbClr val="FFFFFF"/>
            </a:solidFill>
            <a:prstDash val="solid"/>
          </a:ln>
        </p:spPr>
      </p:sp>
      <p:sp>
        <p:nvSpPr>
          <p:cNvPr id="18" name="Shape 14"/>
          <p:cNvSpPr/>
          <p:nvPr/>
        </p:nvSpPr>
        <p:spPr>
          <a:xfrm>
            <a:off x="4283428" y="5200535"/>
            <a:ext cx="137562" cy="131914"/>
          </a:xfrm>
          <a:prstGeom prst="ellipse">
            <a:avLst/>
          </a:prstGeom>
          <a:solidFill>
            <a:srgbClr val="C1CEF6"/>
          </a:solidFill>
          <a:ln/>
        </p:spPr>
      </p:sp>
      <p:sp>
        <p:nvSpPr>
          <p:cNvPr id="19" name="Text 15"/>
          <p:cNvSpPr/>
          <p:nvPr/>
        </p:nvSpPr>
        <p:spPr>
          <a:xfrm>
            <a:off x="8610791" y="1014933"/>
            <a:ext cx="2995242" cy="367665"/>
          </a:xfrm>
          <a:prstGeom prst="rect">
            <a:avLst/>
          </a:prstGeom>
          <a:noFill/>
          <a:ln/>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0"/>
                <a:ea typeface="MiSans" pitchFamily="34" charset="-122"/>
                <a:cs typeface="MiSans" pitchFamily="34" charset="-120"/>
              </a:rPr>
              <a:t>新闻分类场景</a:t>
            </a:r>
            <a:endParaRPr lang="en-US" sz="1600" dirty="0"/>
          </a:p>
        </p:txBody>
      </p:sp>
      <p:sp>
        <p:nvSpPr>
          <p:cNvPr id="20" name="Text 16"/>
          <p:cNvSpPr/>
          <p:nvPr/>
        </p:nvSpPr>
        <p:spPr>
          <a:xfrm>
            <a:off x="8409022" y="1816706"/>
            <a:ext cx="3197011" cy="1125696"/>
          </a:xfrm>
          <a:prstGeom prst="rect">
            <a:avLst/>
          </a:prstGeom>
          <a:noFill/>
          <a:ln/>
        </p:spPr>
        <p:txBody>
          <a:bodyPr wrap="square" lIns="91440" tIns="45720" rIns="91440" bIns="45720" rtlCol="0" anchor="t">
            <a:spAutoFit/>
          </a:bodyPr>
          <a:lstStyle/>
          <a:p>
            <a:pPr algn="just">
              <a:lnSpc>
                <a:spcPct val="100000"/>
              </a:lnSpc>
            </a:pPr>
            <a:r>
              <a:rPr lang="en-US" sz="1400" dirty="0">
                <a:solidFill>
                  <a:srgbClr val="606C9A"/>
                </a:solidFill>
                <a:latin typeface="MiSans" pitchFamily="34" charset="0"/>
                <a:ea typeface="MiSans" pitchFamily="34" charset="-122"/>
                <a:cs typeface="MiSans" pitchFamily="34" charset="-120"/>
              </a:rPr>
              <a:t>混合方法将准确率从75.3%提升至88.6%，助力新闻平台实现自动化栏目分发，降低编辑人工分类工作量，提升内容运营效率。</a:t>
            </a:r>
            <a:endParaRPr lang="en-US" sz="1600" dirty="0"/>
          </a:p>
        </p:txBody>
      </p:sp>
      <p:sp>
        <p:nvSpPr>
          <p:cNvPr id="21" name="Text 17"/>
          <p:cNvSpPr/>
          <p:nvPr/>
        </p:nvSpPr>
        <p:spPr>
          <a:xfrm>
            <a:off x="4511675" y="3717925"/>
            <a:ext cx="6991985" cy="367665"/>
          </a:xfrm>
          <a:prstGeom prst="rect">
            <a:avLst/>
          </a:prstGeom>
          <a:noFill/>
          <a:ln/>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0"/>
                <a:ea typeface="MiSans" pitchFamily="34" charset="-122"/>
                <a:cs typeface="MiSans" pitchFamily="34" charset="-120"/>
              </a:rPr>
              <a:t>情感分析场景</a:t>
            </a:r>
            <a:endParaRPr lang="en-US" sz="1600" dirty="0"/>
          </a:p>
        </p:txBody>
      </p:sp>
      <p:sp>
        <p:nvSpPr>
          <p:cNvPr id="22" name="Text 18"/>
          <p:cNvSpPr/>
          <p:nvPr/>
        </p:nvSpPr>
        <p:spPr>
          <a:xfrm>
            <a:off x="4309745" y="4239895"/>
            <a:ext cx="7106920" cy="597456"/>
          </a:xfrm>
          <a:prstGeom prst="rect">
            <a:avLst/>
          </a:prstGeom>
          <a:noFill/>
          <a:ln/>
        </p:spPr>
        <p:txBody>
          <a:bodyPr wrap="square" lIns="91440" tIns="45720" rIns="91440" bIns="45720" rtlCol="0" anchor="t">
            <a:spAutoFit/>
          </a:bodyPr>
          <a:lstStyle/>
          <a:p>
            <a:pPr algn="just">
              <a:lnSpc>
                <a:spcPct val="100000"/>
              </a:lnSpc>
            </a:pPr>
            <a:r>
              <a:rPr lang="en-US" sz="1400" dirty="0">
                <a:solidFill>
                  <a:srgbClr val="606C9A"/>
                </a:solidFill>
                <a:latin typeface="MiSans" pitchFamily="34" charset="0"/>
                <a:ea typeface="MiSans" pitchFamily="34" charset="-122"/>
                <a:cs typeface="MiSans" pitchFamily="34" charset="-120"/>
              </a:rPr>
              <a:t>准确率从78.5%提升至89.2%，有效支撑电商平台评论监测与社交媒体舆情分析，帮助企业及时洞察用户情感倾向与产品口碑。</a:t>
            </a:r>
            <a:endParaRPr lang="en-US" sz="1600" dirty="0"/>
          </a:p>
        </p:txBody>
      </p:sp>
      <p:sp>
        <p:nvSpPr>
          <p:cNvPr id="23" name="Text 19"/>
          <p:cNvSpPr/>
          <p:nvPr/>
        </p:nvSpPr>
        <p:spPr>
          <a:xfrm>
            <a:off x="4511040" y="5104765"/>
            <a:ext cx="7006590" cy="367665"/>
          </a:xfrm>
          <a:prstGeom prst="rect">
            <a:avLst/>
          </a:prstGeom>
          <a:noFill/>
          <a:ln/>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0"/>
                <a:ea typeface="MiSans" pitchFamily="34" charset="-122"/>
                <a:cs typeface="MiSans" pitchFamily="34" charset="-120"/>
              </a:rPr>
              <a:t>垃圾邮件检测场景</a:t>
            </a:r>
            <a:endParaRPr lang="en-US" sz="1600" dirty="0"/>
          </a:p>
        </p:txBody>
      </p:sp>
      <p:sp>
        <p:nvSpPr>
          <p:cNvPr id="24" name="Text 20"/>
          <p:cNvSpPr/>
          <p:nvPr/>
        </p:nvSpPr>
        <p:spPr>
          <a:xfrm>
            <a:off x="4309110" y="5626735"/>
            <a:ext cx="7106920" cy="597456"/>
          </a:xfrm>
          <a:prstGeom prst="rect">
            <a:avLst/>
          </a:prstGeom>
          <a:noFill/>
          <a:ln/>
        </p:spPr>
        <p:txBody>
          <a:bodyPr wrap="square" lIns="91440" tIns="45720" rIns="91440" bIns="45720" rtlCol="0" anchor="t">
            <a:spAutoFit/>
          </a:bodyPr>
          <a:lstStyle/>
          <a:p>
            <a:pPr algn="just">
              <a:lnSpc>
                <a:spcPct val="100000"/>
              </a:lnSpc>
            </a:pPr>
            <a:r>
              <a:rPr lang="en-US" sz="1400" dirty="0">
                <a:solidFill>
                  <a:srgbClr val="606C9A"/>
                </a:solidFill>
                <a:latin typeface="MiSans" pitchFamily="34" charset="0"/>
                <a:ea typeface="MiSans" pitchFamily="34" charset="-122"/>
                <a:cs typeface="MiSans" pitchFamily="34" charset="-120"/>
              </a:rPr>
              <a:t>准确率从85.7%大幅提升至96.3%，显著降低垃圾邮件对用户的干扰与邮件系统负载，验证方法在安全敏感场景中的高可靠性。</a:t>
            </a:r>
            <a:endParaRPr lang="en-US" sz="16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gradFill flip="none" rotWithShape="0">
          <a:gsLst>
            <a:gs pos="0">
              <a:srgbClr val="D8E1FD"/>
            </a:gs>
            <a:gs pos="0">
              <a:srgbClr val="C7D5FC"/>
            </a:gs>
            <a:gs pos="0">
              <a:srgbClr val="FFF2C6"/>
            </a:gs>
            <a:gs pos="0">
              <a:srgbClr val="F2ECD9"/>
            </a:gs>
            <a:gs pos="49000">
              <a:srgbClr val="D8E1FD"/>
            </a:gs>
            <a:gs pos="100000">
              <a:srgbClr val="D8E1FD"/>
            </a:gs>
          </a:gsLst>
          <a:lin ang="27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09-04-15:09:16-d2sjm761bb2p4onbqd4g.png"/>
          <p:cNvPicPr>
            <a:picLocks noChangeAspect="1"/>
          </p:cNvPicPr>
          <p:nvPr/>
        </p:nvPicPr>
        <p:blipFill>
          <a:blip r:embed="rId3"/>
          <a:stretch>
            <a:fillRect/>
          </a:stretch>
        </p:blipFill>
        <p:spPr>
          <a:xfrm>
            <a:off x="4998335" y="222978"/>
            <a:ext cx="7217149" cy="6858000"/>
          </a:xfrm>
          <a:prstGeom prst="rect">
            <a:avLst/>
          </a:prstGeom>
        </p:spPr>
      </p:pic>
      <p:sp>
        <p:nvSpPr>
          <p:cNvPr id="3" name="Shape 0"/>
          <p:cNvSpPr/>
          <p:nvPr/>
        </p:nvSpPr>
        <p:spPr>
          <a:xfrm>
            <a:off x="1067840" y="732176"/>
            <a:ext cx="133350" cy="137160"/>
          </a:xfrm>
          <a:prstGeom prst="ellipse">
            <a:avLst/>
          </a:prstGeom>
          <a:solidFill>
            <a:srgbClr val="FFFFFF"/>
          </a:solidFill>
          <a:ln/>
        </p:spPr>
      </p:sp>
      <p:sp>
        <p:nvSpPr>
          <p:cNvPr id="4" name="Shape 1"/>
          <p:cNvSpPr/>
          <p:nvPr/>
        </p:nvSpPr>
        <p:spPr>
          <a:xfrm>
            <a:off x="1267865" y="732176"/>
            <a:ext cx="133350" cy="137160"/>
          </a:xfrm>
          <a:prstGeom prst="ellipse">
            <a:avLst/>
          </a:prstGeom>
          <a:solidFill>
            <a:srgbClr val="FFFFFF"/>
          </a:solidFill>
          <a:ln/>
        </p:spPr>
      </p:sp>
      <p:sp>
        <p:nvSpPr>
          <p:cNvPr id="5" name="Shape 2"/>
          <p:cNvSpPr/>
          <p:nvPr/>
        </p:nvSpPr>
        <p:spPr>
          <a:xfrm>
            <a:off x="1467890" y="732176"/>
            <a:ext cx="133350" cy="137160"/>
          </a:xfrm>
          <a:prstGeom prst="ellipse">
            <a:avLst/>
          </a:prstGeom>
          <a:solidFill>
            <a:srgbClr val="FFFFFF"/>
          </a:solidFill>
          <a:ln/>
        </p:spPr>
      </p:sp>
      <p:sp>
        <p:nvSpPr>
          <p:cNvPr id="6" name="Shape 3"/>
          <p:cNvSpPr/>
          <p:nvPr/>
        </p:nvSpPr>
        <p:spPr>
          <a:xfrm>
            <a:off x="1667915" y="732176"/>
            <a:ext cx="133350" cy="137160"/>
          </a:xfrm>
          <a:prstGeom prst="ellipse">
            <a:avLst/>
          </a:prstGeom>
          <a:solidFill>
            <a:srgbClr val="FFFFFF"/>
          </a:solidFill>
          <a:ln/>
        </p:spPr>
      </p:sp>
      <p:sp>
        <p:nvSpPr>
          <p:cNvPr id="7" name="Shape 4"/>
          <p:cNvSpPr/>
          <p:nvPr/>
        </p:nvSpPr>
        <p:spPr>
          <a:xfrm>
            <a:off x="864477" y="1472700"/>
            <a:ext cx="133350" cy="137160"/>
          </a:xfrm>
          <a:prstGeom prst="ellipse">
            <a:avLst/>
          </a:prstGeom>
          <a:solidFill>
            <a:srgbClr val="FFFFFF"/>
          </a:solidFill>
          <a:ln/>
        </p:spPr>
      </p:sp>
      <p:sp>
        <p:nvSpPr>
          <p:cNvPr id="8" name="Shape 5"/>
          <p:cNvSpPr/>
          <p:nvPr/>
        </p:nvSpPr>
        <p:spPr>
          <a:xfrm>
            <a:off x="864477" y="1272674"/>
            <a:ext cx="133350" cy="137160"/>
          </a:xfrm>
          <a:prstGeom prst="ellipse">
            <a:avLst/>
          </a:prstGeom>
          <a:solidFill>
            <a:srgbClr val="FFFFFF"/>
          </a:solidFill>
          <a:ln/>
        </p:spPr>
      </p:sp>
      <p:sp>
        <p:nvSpPr>
          <p:cNvPr id="9" name="Shape 6"/>
          <p:cNvSpPr/>
          <p:nvPr/>
        </p:nvSpPr>
        <p:spPr>
          <a:xfrm>
            <a:off x="864477" y="1072649"/>
            <a:ext cx="133350" cy="137160"/>
          </a:xfrm>
          <a:prstGeom prst="ellipse">
            <a:avLst/>
          </a:prstGeom>
          <a:solidFill>
            <a:srgbClr val="FFFFFF"/>
          </a:solidFill>
          <a:ln/>
        </p:spPr>
      </p:sp>
      <p:sp>
        <p:nvSpPr>
          <p:cNvPr id="10" name="Shape 7"/>
          <p:cNvSpPr/>
          <p:nvPr/>
        </p:nvSpPr>
        <p:spPr>
          <a:xfrm>
            <a:off x="864477" y="872625"/>
            <a:ext cx="133350" cy="137160"/>
          </a:xfrm>
          <a:prstGeom prst="ellipse">
            <a:avLst/>
          </a:prstGeom>
          <a:solidFill>
            <a:srgbClr val="FFFFFF"/>
          </a:solidFill>
          <a:ln/>
        </p:spPr>
      </p:sp>
      <p:sp>
        <p:nvSpPr>
          <p:cNvPr id="11" name="Text 8"/>
          <p:cNvSpPr/>
          <p:nvPr/>
        </p:nvSpPr>
        <p:spPr>
          <a:xfrm>
            <a:off x="1153160" y="932180"/>
            <a:ext cx="5875655" cy="1645920"/>
          </a:xfrm>
          <a:prstGeom prst="rect">
            <a:avLst/>
          </a:prstGeom>
          <a:noFill/>
          <a:ln/>
        </p:spPr>
        <p:txBody>
          <a:bodyPr wrap="square" lIns="91440" tIns="45720" rIns="91440" bIns="45720" rtlCol="0" anchor="t"/>
          <a:lstStyle/>
          <a:p>
            <a:pPr algn="just">
              <a:lnSpc>
                <a:spcPct val="100000"/>
              </a:lnSpc>
            </a:pPr>
            <a:r>
              <a:rPr lang="en-US" sz="3200" dirty="0">
                <a:solidFill>
                  <a:srgbClr val="606C9A"/>
                </a:solidFill>
                <a:latin typeface="MiSans" pitchFamily="34" charset="0"/>
                <a:ea typeface="MiSans" pitchFamily="34" charset="-122"/>
                <a:cs typeface="MiSans" pitchFamily="34" charset="-120"/>
              </a:rPr>
              <a:t>研究结论与核心贡献总结</a:t>
            </a:r>
            <a:endParaRPr lang="en-US" sz="1600" dirty="0"/>
          </a:p>
        </p:txBody>
      </p:sp>
      <p:sp>
        <p:nvSpPr>
          <p:cNvPr id="12" name="Shape 9"/>
          <p:cNvSpPr/>
          <p:nvPr/>
        </p:nvSpPr>
        <p:spPr>
          <a:xfrm>
            <a:off x="962750" y="2531093"/>
            <a:ext cx="273761" cy="268403"/>
          </a:xfrm>
          <a:prstGeom prst="ellipse">
            <a:avLst/>
          </a:prstGeom>
          <a:solidFill>
            <a:srgbClr val="000000">
              <a:alpha val="0"/>
            </a:srgbClr>
          </a:solidFill>
          <a:ln w="41275">
            <a:solidFill>
              <a:srgbClr val="FFFFFF"/>
            </a:solidFill>
            <a:prstDash val="solid"/>
          </a:ln>
        </p:spPr>
      </p:sp>
      <p:sp>
        <p:nvSpPr>
          <p:cNvPr id="13" name="Shape 10"/>
          <p:cNvSpPr/>
          <p:nvPr/>
        </p:nvSpPr>
        <p:spPr>
          <a:xfrm>
            <a:off x="1054161" y="2582177"/>
            <a:ext cx="164592" cy="166233"/>
          </a:xfrm>
          <a:prstGeom prst="ellipse">
            <a:avLst/>
          </a:prstGeom>
          <a:solidFill>
            <a:srgbClr val="C1CEF6"/>
          </a:solidFill>
          <a:ln/>
        </p:spPr>
      </p:sp>
      <p:sp>
        <p:nvSpPr>
          <p:cNvPr id="14" name="Shape 11"/>
          <p:cNvSpPr/>
          <p:nvPr/>
        </p:nvSpPr>
        <p:spPr>
          <a:xfrm>
            <a:off x="962750" y="4455050"/>
            <a:ext cx="273761" cy="268403"/>
          </a:xfrm>
          <a:prstGeom prst="ellipse">
            <a:avLst/>
          </a:prstGeom>
          <a:solidFill>
            <a:srgbClr val="000000">
              <a:alpha val="0"/>
            </a:srgbClr>
          </a:solidFill>
          <a:ln w="41275">
            <a:solidFill>
              <a:srgbClr val="FFFFFF"/>
            </a:solidFill>
            <a:prstDash val="solid"/>
          </a:ln>
        </p:spPr>
      </p:sp>
      <p:sp>
        <p:nvSpPr>
          <p:cNvPr id="15" name="Shape 12"/>
          <p:cNvSpPr/>
          <p:nvPr/>
        </p:nvSpPr>
        <p:spPr>
          <a:xfrm>
            <a:off x="1054161" y="4506134"/>
            <a:ext cx="164592" cy="166233"/>
          </a:xfrm>
          <a:prstGeom prst="ellipse">
            <a:avLst/>
          </a:prstGeom>
          <a:solidFill>
            <a:srgbClr val="C1CEF6"/>
          </a:solidFill>
          <a:ln/>
        </p:spPr>
      </p:sp>
      <p:pic>
        <p:nvPicPr>
          <p:cNvPr id="16" name="Image 1" descr="https://kimi-img.moonshot.cn/pub/slides/slides_tmpl/image/25-09-04-15:09:19-d2sjm7u1bb2p4onbqdc0.png"/>
          <p:cNvPicPr>
            <a:picLocks noChangeAspect="1"/>
          </p:cNvPicPr>
          <p:nvPr/>
        </p:nvPicPr>
        <p:blipFill>
          <a:blip r:embed="rId4"/>
          <a:stretch>
            <a:fillRect/>
          </a:stretch>
        </p:blipFill>
        <p:spPr>
          <a:xfrm>
            <a:off x="7429500" y="1165624"/>
            <a:ext cx="4762500" cy="5715000"/>
          </a:xfrm>
          <a:prstGeom prst="rect">
            <a:avLst/>
          </a:prstGeom>
        </p:spPr>
      </p:pic>
      <p:sp>
        <p:nvSpPr>
          <p:cNvPr id="17" name="Text 13"/>
          <p:cNvSpPr/>
          <p:nvPr/>
        </p:nvSpPr>
        <p:spPr>
          <a:xfrm>
            <a:off x="1271396" y="2494587"/>
            <a:ext cx="4112864" cy="394851"/>
          </a:xfrm>
          <a:prstGeom prst="rect">
            <a:avLst/>
          </a:prstGeom>
          <a:noFill/>
          <a:ln/>
        </p:spPr>
        <p:txBody>
          <a:bodyPr wrap="square" lIns="91440" tIns="45720" rIns="91440" bIns="45720" rtlCol="0" anchor="ctr">
            <a:spAutoFit/>
          </a:bodyPr>
          <a:lstStyle/>
          <a:p>
            <a:pPr algn="just">
              <a:lnSpc>
                <a:spcPct val="100000"/>
              </a:lnSpc>
            </a:pPr>
            <a:r>
              <a:rPr lang="en-US" sz="2000" dirty="0">
                <a:solidFill>
                  <a:srgbClr val="606C9A"/>
                </a:solidFill>
                <a:latin typeface="MiSans" pitchFamily="34" charset="0"/>
                <a:ea typeface="MiSans" pitchFamily="34" charset="-122"/>
                <a:cs typeface="MiSans" pitchFamily="34" charset="-120"/>
              </a:rPr>
              <a:t>理论方法与系统贡献</a:t>
            </a:r>
            <a:endParaRPr lang="en-US" sz="1600" dirty="0"/>
          </a:p>
        </p:txBody>
      </p:sp>
      <p:sp>
        <p:nvSpPr>
          <p:cNvPr id="18" name="Text 14"/>
          <p:cNvSpPr/>
          <p:nvPr/>
        </p:nvSpPr>
        <p:spPr>
          <a:xfrm>
            <a:off x="1304250" y="3067203"/>
            <a:ext cx="4336778" cy="1654135"/>
          </a:xfrm>
          <a:prstGeom prst="rect">
            <a:avLst/>
          </a:prstGeom>
          <a:noFill/>
          <a:ln/>
        </p:spPr>
        <p:txBody>
          <a:bodyPr wrap="square" lIns="91440" tIns="45720" rIns="91440" bIns="45720" rtlCol="0" anchor="ctr">
            <a:spAutoFit/>
          </a:bodyPr>
          <a:lstStyle/>
          <a:p>
            <a:pPr algn="just">
              <a:lnSpc>
                <a:spcPct val="100000"/>
              </a:lnSpc>
            </a:pPr>
            <a:r>
              <a:rPr lang="en-US" sz="1400" dirty="0">
                <a:solidFill>
                  <a:srgbClr val="606C9A"/>
                </a:solidFill>
                <a:latin typeface="MiSans" pitchFamily="34" charset="0"/>
                <a:ea typeface="MiSans" pitchFamily="34" charset="-122"/>
                <a:cs typeface="MiSans" pitchFamily="34" charset="-120"/>
              </a:rPr>
              <a:t>系统梳理文本分类与半监督学习知识体系，厘清五大假设的方法论映射；提出融合自训练与协同训练的混合方法，实现多视图互补与自主迭代有机结合；在四个数据集完成全面对比，量化验证混合方法优越性、低标注高性价比及SVM基分类器适配性；实现覆盖预处理、特征提取、训练评估的完整系统。</a:t>
            </a:r>
            <a:endParaRPr lang="en-US" sz="1600" dirty="0"/>
          </a:p>
        </p:txBody>
      </p:sp>
      <p:sp>
        <p:nvSpPr>
          <p:cNvPr id="19" name="Text 15"/>
          <p:cNvSpPr/>
          <p:nvPr/>
        </p:nvSpPr>
        <p:spPr>
          <a:xfrm>
            <a:off x="1271396" y="4418544"/>
            <a:ext cx="4112864" cy="394851"/>
          </a:xfrm>
          <a:prstGeom prst="rect">
            <a:avLst/>
          </a:prstGeom>
          <a:noFill/>
          <a:ln/>
        </p:spPr>
        <p:txBody>
          <a:bodyPr wrap="square" lIns="91440" tIns="45720" rIns="91440" bIns="45720" rtlCol="0" anchor="ctr">
            <a:spAutoFit/>
          </a:bodyPr>
          <a:lstStyle/>
          <a:p>
            <a:pPr algn="just">
              <a:lnSpc>
                <a:spcPct val="100000"/>
              </a:lnSpc>
            </a:pPr>
            <a:r>
              <a:rPr lang="en-US" sz="2000" dirty="0">
                <a:solidFill>
                  <a:srgbClr val="606C9A"/>
                </a:solidFill>
                <a:latin typeface="MiSans" pitchFamily="34" charset="0"/>
                <a:ea typeface="MiSans" pitchFamily="34" charset="-122"/>
                <a:cs typeface="MiSans" pitchFamily="34" charset="-120"/>
              </a:rPr>
              <a:t>核心研究结论</a:t>
            </a:r>
            <a:endParaRPr lang="en-US" sz="1600" dirty="0"/>
          </a:p>
        </p:txBody>
      </p:sp>
      <p:sp>
        <p:nvSpPr>
          <p:cNvPr id="20" name="Text 16"/>
          <p:cNvSpPr/>
          <p:nvPr/>
        </p:nvSpPr>
        <p:spPr>
          <a:xfrm>
            <a:off x="1304250" y="4991160"/>
            <a:ext cx="4336778" cy="1125696"/>
          </a:xfrm>
          <a:prstGeom prst="rect">
            <a:avLst/>
          </a:prstGeom>
          <a:noFill/>
          <a:ln/>
        </p:spPr>
        <p:txBody>
          <a:bodyPr wrap="square" lIns="91440" tIns="45720" rIns="91440" bIns="45720" rtlCol="0" anchor="ctr">
            <a:spAutoFit/>
          </a:bodyPr>
          <a:lstStyle/>
          <a:p>
            <a:pPr algn="just">
              <a:lnSpc>
                <a:spcPct val="100000"/>
              </a:lnSpc>
            </a:pPr>
            <a:r>
              <a:rPr lang="en-US" sz="1400" dirty="0">
                <a:solidFill>
                  <a:srgbClr val="606C9A"/>
                </a:solidFill>
                <a:latin typeface="MiSans" pitchFamily="34" charset="0"/>
                <a:ea typeface="MiSans" pitchFamily="34" charset="-122"/>
                <a:cs typeface="MiSans" pitchFamily="34" charset="-120"/>
              </a:rPr>
              <a:t>半监督学习有效利用未标注数据可降低标注依赖与成本；混合策略优于单一策略，实现1+1&gt;2的协同效应；标注越稀缺价值越突出，为资源受限场景提供经济高效的文本分类解决方案。</a:t>
            </a:r>
            <a:endParaRPr lang="en-US" sz="1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gradFill flip="none" rotWithShape="0">
          <a:gsLst>
            <a:gs pos="0">
              <a:srgbClr val="F2ECD9"/>
            </a:gs>
            <a:gs pos="7000">
              <a:srgbClr val="D8E1FD"/>
            </a:gs>
            <a:gs pos="59000">
              <a:srgbClr val="FFF2C6"/>
            </a:gs>
            <a:gs pos="75000">
              <a:srgbClr val="D8E1FD"/>
            </a:gs>
            <a:gs pos="86000">
              <a:srgbClr val="C7D5FC"/>
            </a:gs>
            <a:gs pos="100000">
              <a:srgbClr val="C7D5FC"/>
            </a:gs>
          </a:gsLst>
          <a:lin ang="27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09-04-15:09:16-d2sjm761bb2p4onbqd4g.png"/>
          <p:cNvPicPr>
            <a:picLocks noChangeAspect="1"/>
          </p:cNvPicPr>
          <p:nvPr/>
        </p:nvPicPr>
        <p:blipFill>
          <a:blip r:embed="rId3"/>
          <a:stretch>
            <a:fillRect/>
          </a:stretch>
        </p:blipFill>
        <p:spPr>
          <a:xfrm flipH="1">
            <a:off x="0" y="86155"/>
            <a:ext cx="7806354" cy="6685689"/>
          </a:xfrm>
          <a:prstGeom prst="rect">
            <a:avLst/>
          </a:prstGeom>
        </p:spPr>
      </p:pic>
      <p:sp>
        <p:nvSpPr>
          <p:cNvPr id="3" name="Shape 0"/>
          <p:cNvSpPr/>
          <p:nvPr/>
        </p:nvSpPr>
        <p:spPr>
          <a:xfrm>
            <a:off x="784528" y="292643"/>
            <a:ext cx="133350" cy="137160"/>
          </a:xfrm>
          <a:prstGeom prst="ellipse">
            <a:avLst/>
          </a:prstGeom>
          <a:solidFill>
            <a:srgbClr val="FFFFFF"/>
          </a:solidFill>
          <a:ln/>
        </p:spPr>
      </p:sp>
      <p:sp>
        <p:nvSpPr>
          <p:cNvPr id="4" name="Shape 1"/>
          <p:cNvSpPr/>
          <p:nvPr/>
        </p:nvSpPr>
        <p:spPr>
          <a:xfrm>
            <a:off x="984553" y="292643"/>
            <a:ext cx="133350" cy="137160"/>
          </a:xfrm>
          <a:prstGeom prst="ellipse">
            <a:avLst/>
          </a:prstGeom>
          <a:solidFill>
            <a:srgbClr val="FFFFFF"/>
          </a:solidFill>
          <a:ln/>
        </p:spPr>
      </p:sp>
      <p:sp>
        <p:nvSpPr>
          <p:cNvPr id="5" name="Shape 2"/>
          <p:cNvSpPr/>
          <p:nvPr/>
        </p:nvSpPr>
        <p:spPr>
          <a:xfrm>
            <a:off x="1184578" y="292643"/>
            <a:ext cx="133350" cy="137160"/>
          </a:xfrm>
          <a:prstGeom prst="ellipse">
            <a:avLst/>
          </a:prstGeom>
          <a:solidFill>
            <a:srgbClr val="FFFFFF"/>
          </a:solidFill>
          <a:ln/>
        </p:spPr>
      </p:sp>
      <p:sp>
        <p:nvSpPr>
          <p:cNvPr id="6" name="Shape 3"/>
          <p:cNvSpPr/>
          <p:nvPr/>
        </p:nvSpPr>
        <p:spPr>
          <a:xfrm>
            <a:off x="1384603" y="292643"/>
            <a:ext cx="133350" cy="137160"/>
          </a:xfrm>
          <a:prstGeom prst="ellipse">
            <a:avLst/>
          </a:prstGeom>
          <a:solidFill>
            <a:srgbClr val="FFFFFF"/>
          </a:solidFill>
          <a:ln/>
        </p:spPr>
      </p:sp>
      <p:sp>
        <p:nvSpPr>
          <p:cNvPr id="7" name="Shape 4"/>
          <p:cNvSpPr/>
          <p:nvPr/>
        </p:nvSpPr>
        <p:spPr>
          <a:xfrm>
            <a:off x="581166" y="1033166"/>
            <a:ext cx="133350" cy="137160"/>
          </a:xfrm>
          <a:prstGeom prst="ellipse">
            <a:avLst/>
          </a:prstGeom>
          <a:solidFill>
            <a:srgbClr val="FFFFFF"/>
          </a:solidFill>
          <a:ln/>
        </p:spPr>
      </p:sp>
      <p:sp>
        <p:nvSpPr>
          <p:cNvPr id="8" name="Shape 5"/>
          <p:cNvSpPr/>
          <p:nvPr/>
        </p:nvSpPr>
        <p:spPr>
          <a:xfrm>
            <a:off x="581166" y="833141"/>
            <a:ext cx="133350" cy="137160"/>
          </a:xfrm>
          <a:prstGeom prst="ellipse">
            <a:avLst/>
          </a:prstGeom>
          <a:solidFill>
            <a:srgbClr val="FFFFFF"/>
          </a:solidFill>
          <a:ln/>
        </p:spPr>
      </p:sp>
      <p:sp>
        <p:nvSpPr>
          <p:cNvPr id="9" name="Shape 6"/>
          <p:cNvSpPr/>
          <p:nvPr/>
        </p:nvSpPr>
        <p:spPr>
          <a:xfrm>
            <a:off x="581166" y="633116"/>
            <a:ext cx="133350" cy="137160"/>
          </a:xfrm>
          <a:prstGeom prst="ellipse">
            <a:avLst/>
          </a:prstGeom>
          <a:solidFill>
            <a:srgbClr val="FFFFFF"/>
          </a:solidFill>
          <a:ln/>
        </p:spPr>
      </p:sp>
      <p:sp>
        <p:nvSpPr>
          <p:cNvPr id="10" name="Shape 7"/>
          <p:cNvSpPr/>
          <p:nvPr/>
        </p:nvSpPr>
        <p:spPr>
          <a:xfrm>
            <a:off x="581166" y="433092"/>
            <a:ext cx="133350" cy="137160"/>
          </a:xfrm>
          <a:prstGeom prst="ellipse">
            <a:avLst/>
          </a:prstGeom>
          <a:solidFill>
            <a:srgbClr val="FFFFFF"/>
          </a:solidFill>
          <a:ln/>
        </p:spPr>
      </p:sp>
      <p:sp>
        <p:nvSpPr>
          <p:cNvPr id="11" name="Text 8"/>
          <p:cNvSpPr/>
          <p:nvPr/>
        </p:nvSpPr>
        <p:spPr>
          <a:xfrm>
            <a:off x="850900" y="546100"/>
            <a:ext cx="5053965" cy="1950085"/>
          </a:xfrm>
          <a:prstGeom prst="rect">
            <a:avLst/>
          </a:prstGeom>
          <a:noFill/>
          <a:ln/>
        </p:spPr>
        <p:txBody>
          <a:bodyPr wrap="square" lIns="91440" tIns="45720" rIns="91440" bIns="45720" rtlCol="0" anchor="t"/>
          <a:lstStyle/>
          <a:p>
            <a:pPr algn="just">
              <a:lnSpc>
                <a:spcPct val="100000"/>
              </a:lnSpc>
            </a:pPr>
            <a:r>
              <a:rPr lang="en-US" sz="3200" dirty="0">
                <a:solidFill>
                  <a:srgbClr val="606C9A"/>
                </a:solidFill>
                <a:latin typeface="MiSans" pitchFamily="34" charset="0"/>
                <a:ea typeface="MiSans" pitchFamily="34" charset="-122"/>
                <a:cs typeface="MiSans" pitchFamily="34" charset="-120"/>
              </a:rPr>
              <a:t>研究局限与未来方向展望</a:t>
            </a:r>
            <a:endParaRPr lang="en-US" sz="1600" dirty="0"/>
          </a:p>
        </p:txBody>
      </p:sp>
      <p:sp>
        <p:nvSpPr>
          <p:cNvPr id="12" name="Shape 9"/>
          <p:cNvSpPr/>
          <p:nvPr/>
        </p:nvSpPr>
        <p:spPr>
          <a:xfrm>
            <a:off x="736801" y="2077016"/>
            <a:ext cx="228803" cy="212992"/>
          </a:xfrm>
          <a:prstGeom prst="ellipse">
            <a:avLst/>
          </a:prstGeom>
          <a:solidFill>
            <a:srgbClr val="000000">
              <a:alpha val="0"/>
            </a:srgbClr>
          </a:solidFill>
          <a:ln w="41275">
            <a:solidFill>
              <a:srgbClr val="FFFFFF"/>
            </a:solidFill>
            <a:prstDash val="solid"/>
          </a:ln>
        </p:spPr>
      </p:sp>
      <p:sp>
        <p:nvSpPr>
          <p:cNvPr id="13" name="Shape 10"/>
          <p:cNvSpPr/>
          <p:nvPr/>
        </p:nvSpPr>
        <p:spPr>
          <a:xfrm>
            <a:off x="813200" y="2117554"/>
            <a:ext cx="137562" cy="131914"/>
          </a:xfrm>
          <a:prstGeom prst="ellipse">
            <a:avLst/>
          </a:prstGeom>
          <a:solidFill>
            <a:srgbClr val="C1CEF6"/>
          </a:solidFill>
          <a:ln/>
        </p:spPr>
      </p:sp>
      <p:sp>
        <p:nvSpPr>
          <p:cNvPr id="14" name="Shape 11"/>
          <p:cNvSpPr/>
          <p:nvPr/>
        </p:nvSpPr>
        <p:spPr>
          <a:xfrm>
            <a:off x="6600474" y="1100479"/>
            <a:ext cx="228803" cy="212992"/>
          </a:xfrm>
          <a:prstGeom prst="ellipse">
            <a:avLst/>
          </a:prstGeom>
          <a:solidFill>
            <a:srgbClr val="000000">
              <a:alpha val="0"/>
            </a:srgbClr>
          </a:solidFill>
          <a:ln w="41275">
            <a:solidFill>
              <a:srgbClr val="FFFFFF"/>
            </a:solidFill>
            <a:prstDash val="solid"/>
          </a:ln>
        </p:spPr>
      </p:sp>
      <p:sp>
        <p:nvSpPr>
          <p:cNvPr id="15" name="Shape 12"/>
          <p:cNvSpPr/>
          <p:nvPr/>
        </p:nvSpPr>
        <p:spPr>
          <a:xfrm>
            <a:off x="6676873" y="1141017"/>
            <a:ext cx="137562" cy="131914"/>
          </a:xfrm>
          <a:prstGeom prst="ellipse">
            <a:avLst/>
          </a:prstGeom>
          <a:solidFill>
            <a:srgbClr val="C1CEF6"/>
          </a:solidFill>
          <a:ln/>
        </p:spPr>
      </p:sp>
      <p:pic>
        <p:nvPicPr>
          <p:cNvPr id="16" name="Image 1" descr="https://kimi-img.moonshot.cn/pub/slides/slides_tmpl/image/25-09-04-15:09:19-d2sjm7u1bb2p4onbqdg0.jpeg"/>
          <p:cNvPicPr>
            <a:picLocks noChangeAspect="1"/>
          </p:cNvPicPr>
          <p:nvPr/>
        </p:nvPicPr>
        <p:blipFill>
          <a:blip r:embed="rId4"/>
          <a:stretch>
            <a:fillRect/>
          </a:stretch>
        </p:blipFill>
        <p:spPr>
          <a:xfrm>
            <a:off x="851203" y="3960796"/>
            <a:ext cx="5289402" cy="2986063"/>
          </a:xfrm>
          <a:prstGeom prst="rect">
            <a:avLst/>
          </a:prstGeom>
        </p:spPr>
      </p:pic>
      <p:sp>
        <p:nvSpPr>
          <p:cNvPr id="17" name="Shape 13"/>
          <p:cNvSpPr/>
          <p:nvPr/>
        </p:nvSpPr>
        <p:spPr>
          <a:xfrm>
            <a:off x="6600474" y="2929871"/>
            <a:ext cx="228803" cy="212992"/>
          </a:xfrm>
          <a:prstGeom prst="ellipse">
            <a:avLst/>
          </a:prstGeom>
          <a:solidFill>
            <a:srgbClr val="000000">
              <a:alpha val="0"/>
            </a:srgbClr>
          </a:solidFill>
          <a:ln w="41275">
            <a:solidFill>
              <a:srgbClr val="FFFFFF"/>
            </a:solidFill>
            <a:prstDash val="solid"/>
          </a:ln>
        </p:spPr>
      </p:sp>
      <p:sp>
        <p:nvSpPr>
          <p:cNvPr id="18" name="Shape 14"/>
          <p:cNvSpPr/>
          <p:nvPr/>
        </p:nvSpPr>
        <p:spPr>
          <a:xfrm>
            <a:off x="6676873" y="2970409"/>
            <a:ext cx="137562" cy="131914"/>
          </a:xfrm>
          <a:prstGeom prst="ellipse">
            <a:avLst/>
          </a:prstGeom>
          <a:solidFill>
            <a:srgbClr val="C1CEF6"/>
          </a:solidFill>
          <a:ln/>
        </p:spPr>
      </p:sp>
      <p:sp>
        <p:nvSpPr>
          <p:cNvPr id="19" name="Shape 15"/>
          <p:cNvSpPr/>
          <p:nvPr/>
        </p:nvSpPr>
        <p:spPr>
          <a:xfrm>
            <a:off x="6600474" y="4706826"/>
            <a:ext cx="228803" cy="212992"/>
          </a:xfrm>
          <a:prstGeom prst="ellipse">
            <a:avLst/>
          </a:prstGeom>
          <a:solidFill>
            <a:srgbClr val="000000">
              <a:alpha val="0"/>
            </a:srgbClr>
          </a:solidFill>
          <a:ln w="41275">
            <a:solidFill>
              <a:srgbClr val="FFFFFF"/>
            </a:solidFill>
            <a:prstDash val="solid"/>
          </a:ln>
        </p:spPr>
      </p:sp>
      <p:sp>
        <p:nvSpPr>
          <p:cNvPr id="20" name="Shape 16"/>
          <p:cNvSpPr/>
          <p:nvPr/>
        </p:nvSpPr>
        <p:spPr>
          <a:xfrm>
            <a:off x="6676873" y="4747364"/>
            <a:ext cx="137562" cy="131914"/>
          </a:xfrm>
          <a:prstGeom prst="ellipse">
            <a:avLst/>
          </a:prstGeom>
          <a:solidFill>
            <a:srgbClr val="C1CEF6"/>
          </a:solidFill>
          <a:ln/>
        </p:spPr>
      </p:sp>
      <p:sp>
        <p:nvSpPr>
          <p:cNvPr id="21" name="Text 17"/>
          <p:cNvSpPr/>
          <p:nvPr/>
        </p:nvSpPr>
        <p:spPr>
          <a:xfrm>
            <a:off x="1042003" y="2010460"/>
            <a:ext cx="5053997" cy="367665"/>
          </a:xfrm>
          <a:prstGeom prst="rect">
            <a:avLst/>
          </a:prstGeom>
          <a:noFill/>
          <a:ln/>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0"/>
                <a:ea typeface="MiSans" pitchFamily="34" charset="-122"/>
                <a:cs typeface="MiSans" pitchFamily="34" charset="-120"/>
              </a:rPr>
              <a:t>当前研究局限</a:t>
            </a:r>
            <a:endParaRPr lang="en-US" sz="1600" dirty="0"/>
          </a:p>
        </p:txBody>
      </p:sp>
      <p:sp>
        <p:nvSpPr>
          <p:cNvPr id="22" name="Text 18"/>
          <p:cNvSpPr/>
          <p:nvPr/>
        </p:nvSpPr>
        <p:spPr>
          <a:xfrm>
            <a:off x="851203" y="2466483"/>
            <a:ext cx="5289402" cy="597456"/>
          </a:xfrm>
          <a:prstGeom prst="rect">
            <a:avLst/>
          </a:prstGeom>
          <a:noFill/>
          <a:ln/>
        </p:spPr>
        <p:txBody>
          <a:bodyPr wrap="square" lIns="91440" tIns="45720" rIns="91440" bIns="45720" rtlCol="0" anchor="t">
            <a:spAutoFit/>
          </a:bodyPr>
          <a:lstStyle/>
          <a:p>
            <a:pPr algn="just">
              <a:lnSpc>
                <a:spcPct val="100000"/>
              </a:lnSpc>
            </a:pPr>
            <a:r>
              <a:rPr lang="en-US" sz="1400" dirty="0">
                <a:solidFill>
                  <a:srgbClr val="606C9A"/>
                </a:solidFill>
                <a:latin typeface="MiSans" pitchFamily="34" charset="0"/>
                <a:ea typeface="MiSans" pitchFamily="34" charset="-122"/>
                <a:cs typeface="MiSans" pitchFamily="34" charset="-120"/>
              </a:rPr>
              <a:t>实验集中于中等规模数据集，大规模场景图方法计算效率亟待优化；未充分融合预训练语言模型，特征表示仍有提升空间。</a:t>
            </a:r>
            <a:endParaRPr lang="en-US" sz="1600" dirty="0"/>
          </a:p>
        </p:txBody>
      </p:sp>
      <p:sp>
        <p:nvSpPr>
          <p:cNvPr id="23" name="Text 19"/>
          <p:cNvSpPr/>
          <p:nvPr/>
        </p:nvSpPr>
        <p:spPr>
          <a:xfrm>
            <a:off x="7059330" y="1033167"/>
            <a:ext cx="4281467" cy="367665"/>
          </a:xfrm>
          <a:prstGeom prst="rect">
            <a:avLst/>
          </a:prstGeom>
          <a:noFill/>
          <a:ln/>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0"/>
                <a:ea typeface="MiSans" pitchFamily="34" charset="-122"/>
                <a:cs typeface="MiSans" pitchFamily="34" charset="-120"/>
              </a:rPr>
              <a:t>模态与动态性不足</a:t>
            </a:r>
            <a:endParaRPr lang="en-US" sz="1600" dirty="0"/>
          </a:p>
        </p:txBody>
      </p:sp>
      <p:sp>
        <p:nvSpPr>
          <p:cNvPr id="24" name="Text 20"/>
          <p:cNvSpPr/>
          <p:nvPr/>
        </p:nvSpPr>
        <p:spPr>
          <a:xfrm>
            <a:off x="7095896" y="1433248"/>
            <a:ext cx="4282212" cy="861576"/>
          </a:xfrm>
          <a:prstGeom prst="rect">
            <a:avLst/>
          </a:prstGeom>
          <a:noFill/>
          <a:ln/>
        </p:spPr>
        <p:txBody>
          <a:bodyPr wrap="square" lIns="91440" tIns="45720" rIns="91440" bIns="45720" rtlCol="0" anchor="t">
            <a:spAutoFit/>
          </a:bodyPr>
          <a:lstStyle/>
          <a:p>
            <a:pPr algn="just">
              <a:lnSpc>
                <a:spcPct val="100000"/>
              </a:lnSpc>
            </a:pPr>
            <a:r>
              <a:rPr lang="en-US" sz="1400" dirty="0">
                <a:solidFill>
                  <a:srgbClr val="606C9A"/>
                </a:solidFill>
                <a:latin typeface="MiSans" pitchFamily="34" charset="0"/>
                <a:ea typeface="MiSans" pitchFamily="34" charset="-122"/>
                <a:cs typeface="MiSans" pitchFamily="34" charset="-120"/>
              </a:rPr>
              <a:t>研究聚焦单模态文本，未涉及图文音多模态协同；模型为静态训练，缺乏对数据分布动态变化的自适应能力。</a:t>
            </a:r>
            <a:endParaRPr lang="en-US" sz="1600" dirty="0"/>
          </a:p>
        </p:txBody>
      </p:sp>
      <p:sp>
        <p:nvSpPr>
          <p:cNvPr id="25" name="Text 21"/>
          <p:cNvSpPr/>
          <p:nvPr/>
        </p:nvSpPr>
        <p:spPr>
          <a:xfrm>
            <a:off x="7059330" y="2862559"/>
            <a:ext cx="4281467" cy="367665"/>
          </a:xfrm>
          <a:prstGeom prst="rect">
            <a:avLst/>
          </a:prstGeom>
          <a:noFill/>
          <a:ln/>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0"/>
                <a:ea typeface="MiSans" pitchFamily="34" charset="-122"/>
                <a:cs typeface="MiSans" pitchFamily="34" charset="-120"/>
              </a:rPr>
              <a:t>跨领域迁移挑战</a:t>
            </a:r>
            <a:endParaRPr lang="en-US" sz="1600" dirty="0"/>
          </a:p>
        </p:txBody>
      </p:sp>
      <p:sp>
        <p:nvSpPr>
          <p:cNvPr id="26" name="Text 22"/>
          <p:cNvSpPr/>
          <p:nvPr/>
        </p:nvSpPr>
        <p:spPr>
          <a:xfrm>
            <a:off x="7095896" y="3262640"/>
            <a:ext cx="4282212" cy="861576"/>
          </a:xfrm>
          <a:prstGeom prst="rect">
            <a:avLst/>
          </a:prstGeom>
          <a:noFill/>
          <a:ln/>
        </p:spPr>
        <p:txBody>
          <a:bodyPr wrap="square" lIns="91440" tIns="45720" rIns="91440" bIns="45720" rtlCol="0" anchor="t">
            <a:spAutoFit/>
          </a:bodyPr>
          <a:lstStyle/>
          <a:p>
            <a:pPr algn="just">
              <a:lnSpc>
                <a:spcPct val="100000"/>
              </a:lnSpc>
            </a:pPr>
            <a:r>
              <a:rPr lang="en-US" sz="1400" dirty="0">
                <a:solidFill>
                  <a:srgbClr val="606C9A"/>
                </a:solidFill>
                <a:latin typeface="MiSans" pitchFamily="34" charset="0"/>
                <a:ea typeface="MiSans" pitchFamily="34" charset="-122"/>
                <a:cs typeface="MiSans" pitchFamily="34" charset="-120"/>
              </a:rPr>
              <a:t>跨领域场景下性能存在波动，领域自适应机制有待加强，以提升模型在目标域数据分布差异较大时的鲁棒性。</a:t>
            </a:r>
            <a:endParaRPr lang="en-US" sz="1600" dirty="0"/>
          </a:p>
        </p:txBody>
      </p:sp>
      <p:sp>
        <p:nvSpPr>
          <p:cNvPr id="27" name="Text 23"/>
          <p:cNvSpPr/>
          <p:nvPr/>
        </p:nvSpPr>
        <p:spPr>
          <a:xfrm>
            <a:off x="7059330" y="4639514"/>
            <a:ext cx="4281467" cy="367665"/>
          </a:xfrm>
          <a:prstGeom prst="rect">
            <a:avLst/>
          </a:prstGeom>
          <a:noFill/>
          <a:ln/>
        </p:spPr>
        <p:txBody>
          <a:bodyPr wrap="square" lIns="91440" tIns="45720" rIns="91440" bIns="45720" rtlCol="0" anchor="ctr">
            <a:spAutoFit/>
          </a:bodyPr>
          <a:lstStyle/>
          <a:p>
            <a:pPr algn="just">
              <a:lnSpc>
                <a:spcPct val="100000"/>
              </a:lnSpc>
            </a:pPr>
            <a:r>
              <a:rPr lang="en-US" sz="1800" dirty="0">
                <a:solidFill>
                  <a:srgbClr val="606C9A"/>
                </a:solidFill>
                <a:latin typeface="MiSans" pitchFamily="34" charset="0"/>
                <a:ea typeface="MiSans" pitchFamily="34" charset="-122"/>
                <a:cs typeface="MiSans" pitchFamily="34" charset="-120"/>
              </a:rPr>
              <a:t>未来探索方向</a:t>
            </a:r>
            <a:endParaRPr lang="en-US" sz="1600" dirty="0"/>
          </a:p>
        </p:txBody>
      </p:sp>
      <p:sp>
        <p:nvSpPr>
          <p:cNvPr id="28" name="Text 24"/>
          <p:cNvSpPr/>
          <p:nvPr/>
        </p:nvSpPr>
        <p:spPr>
          <a:xfrm>
            <a:off x="7095896" y="5039595"/>
            <a:ext cx="4282212" cy="861576"/>
          </a:xfrm>
          <a:prstGeom prst="rect">
            <a:avLst/>
          </a:prstGeom>
          <a:noFill/>
          <a:ln/>
        </p:spPr>
        <p:txBody>
          <a:bodyPr wrap="square" lIns="91440" tIns="45720" rIns="91440" bIns="45720" rtlCol="0" anchor="t">
            <a:spAutoFit/>
          </a:bodyPr>
          <a:lstStyle/>
          <a:p>
            <a:pPr algn="just">
              <a:lnSpc>
                <a:spcPct val="100000"/>
              </a:lnSpc>
            </a:pPr>
            <a:r>
              <a:rPr lang="en-US" sz="1400" dirty="0">
                <a:solidFill>
                  <a:srgbClr val="606C9A"/>
                </a:solidFill>
                <a:latin typeface="MiSans" pitchFamily="34" charset="0"/>
                <a:ea typeface="MiSans" pitchFamily="34" charset="-122"/>
                <a:cs typeface="MiSans" pitchFamily="34" charset="-120"/>
              </a:rPr>
              <a:t>涵盖高效可扩展算法、半监督与BERT等预训练模型深度结合、多模态框架构建、动态在线学习机制及领域自适应技术融合五大方向。</a:t>
            </a:r>
            <a:endParaRPr lang="en-US" sz="16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gradFill flip="none" rotWithShape="0">
          <a:gsLst>
            <a:gs pos="0">
              <a:srgbClr val="FFF2C6"/>
            </a:gs>
            <a:gs pos="47000">
              <a:srgbClr val="D8E1FD"/>
            </a:gs>
            <a:gs pos="78000">
              <a:srgbClr val="C7D5FC"/>
            </a:gs>
            <a:gs pos="100000">
              <a:srgbClr val="FDF8CB"/>
            </a:gs>
          </a:gsLst>
          <a:lin ang="2400000" scaled="1"/>
        </a:gradFill>
        <a:effectLst/>
      </p:bgPr>
    </p:bg>
    <p:spTree>
      <p:nvGrpSpPr>
        <p:cNvPr id="1" name=""/>
        <p:cNvGrpSpPr/>
        <p:nvPr/>
      </p:nvGrpSpPr>
      <p:grpSpPr>
        <a:xfrm>
          <a:off x="0" y="0"/>
          <a:ext cx="0" cy="0"/>
          <a:chOff x="0" y="0"/>
          <a:chExt cx="0" cy="0"/>
        </a:xfrm>
      </p:grpSpPr>
      <p:pic>
        <p:nvPicPr>
          <p:cNvPr id="2" name="Image 0" descr="https://kimi-img.moonshot.cn/pub/slides/slides_tmpl/image/25-09-04-15:09:12-d2sjm661bb2p4onbqcu0.png"/>
          <p:cNvPicPr>
            <a:picLocks noChangeAspect="1"/>
          </p:cNvPicPr>
          <p:nvPr/>
        </p:nvPicPr>
        <p:blipFill>
          <a:blip r:embed="rId3"/>
          <a:stretch>
            <a:fillRect/>
          </a:stretch>
        </p:blipFill>
        <p:spPr>
          <a:xfrm>
            <a:off x="4928399" y="517692"/>
            <a:ext cx="7251700" cy="6340308"/>
          </a:xfrm>
          <a:prstGeom prst="rect">
            <a:avLst/>
          </a:prstGeom>
        </p:spPr>
      </p:pic>
      <p:sp>
        <p:nvSpPr>
          <p:cNvPr id="3" name="Text 0"/>
          <p:cNvSpPr/>
          <p:nvPr/>
        </p:nvSpPr>
        <p:spPr>
          <a:xfrm>
            <a:off x="7048502" y="2308860"/>
            <a:ext cx="4599086" cy="3951446"/>
          </a:xfrm>
          <a:prstGeom prst="rect">
            <a:avLst/>
          </a:prstGeom>
          <a:noFill/>
          <a:ln/>
        </p:spPr>
        <p:txBody>
          <a:bodyPr wrap="square" lIns="91440" tIns="45720" rIns="91440" bIns="45720" rtlCol="0" anchor="ctr">
            <a:spAutoFit/>
          </a:bodyPr>
          <a:lstStyle/>
          <a:p>
            <a:pPr algn="just">
              <a:lnSpc>
                <a:spcPct val="100000"/>
              </a:lnSpc>
            </a:pPr>
            <a:r>
              <a:rPr lang="en-US" sz="25000" dirty="0">
                <a:solidFill>
                  <a:srgbClr val="7F9CDF"/>
                </a:solidFill>
                <a:latin typeface="MiSans" pitchFamily="34" charset="0"/>
                <a:ea typeface="MiSans" pitchFamily="34" charset="-122"/>
                <a:cs typeface="MiSans" pitchFamily="34" charset="-120"/>
              </a:rPr>
              <a:t>06</a:t>
            </a:r>
            <a:endParaRPr lang="en-US" sz="1600" dirty="0"/>
          </a:p>
        </p:txBody>
      </p:sp>
      <p:sp>
        <p:nvSpPr>
          <p:cNvPr id="4" name="Text 1"/>
          <p:cNvSpPr/>
          <p:nvPr/>
        </p:nvSpPr>
        <p:spPr>
          <a:xfrm>
            <a:off x="797724" y="1781560"/>
            <a:ext cx="4599086" cy="708581"/>
          </a:xfrm>
          <a:prstGeom prst="rect">
            <a:avLst/>
          </a:prstGeom>
          <a:noFill/>
          <a:ln/>
        </p:spPr>
        <p:txBody>
          <a:bodyPr wrap="square" lIns="91440" tIns="45720" rIns="91440" bIns="45720" rtlCol="0" anchor="ctr">
            <a:spAutoFit/>
          </a:bodyPr>
          <a:lstStyle/>
          <a:p>
            <a:pPr algn="just">
              <a:lnSpc>
                <a:spcPct val="100000"/>
              </a:lnSpc>
            </a:pPr>
            <a:r>
              <a:rPr lang="en-US" sz="4000" dirty="0">
                <a:solidFill>
                  <a:srgbClr val="6D7AAF"/>
                </a:solidFill>
                <a:latin typeface="MiSans" pitchFamily="34" charset="0"/>
                <a:ea typeface="MiSans" pitchFamily="34" charset="-122"/>
                <a:cs typeface="MiSans" pitchFamily="34" charset="-120"/>
              </a:rPr>
              <a:t>致谢</a:t>
            </a:r>
            <a:endParaRPr lang="en-US" sz="1600" dirty="0"/>
          </a:p>
        </p:txBody>
      </p:sp>
      <p:sp>
        <p:nvSpPr>
          <p:cNvPr id="5" name="Shape 2"/>
          <p:cNvSpPr/>
          <p:nvPr/>
        </p:nvSpPr>
        <p:spPr>
          <a:xfrm>
            <a:off x="731049" y="856006"/>
            <a:ext cx="133350" cy="137160"/>
          </a:xfrm>
          <a:prstGeom prst="ellipse">
            <a:avLst/>
          </a:prstGeom>
          <a:solidFill>
            <a:srgbClr val="FFFFFF"/>
          </a:solidFill>
          <a:ln/>
        </p:spPr>
      </p:sp>
      <p:sp>
        <p:nvSpPr>
          <p:cNvPr id="6" name="Shape 3"/>
          <p:cNvSpPr/>
          <p:nvPr/>
        </p:nvSpPr>
        <p:spPr>
          <a:xfrm>
            <a:off x="931074" y="856006"/>
            <a:ext cx="133350" cy="137160"/>
          </a:xfrm>
          <a:prstGeom prst="ellipse">
            <a:avLst/>
          </a:prstGeom>
          <a:solidFill>
            <a:srgbClr val="FFFFFF"/>
          </a:solidFill>
          <a:ln/>
        </p:spPr>
      </p:sp>
      <p:sp>
        <p:nvSpPr>
          <p:cNvPr id="7" name="Shape 4"/>
          <p:cNvSpPr/>
          <p:nvPr/>
        </p:nvSpPr>
        <p:spPr>
          <a:xfrm>
            <a:off x="1131099" y="856006"/>
            <a:ext cx="133350" cy="137160"/>
          </a:xfrm>
          <a:prstGeom prst="ellipse">
            <a:avLst/>
          </a:prstGeom>
          <a:solidFill>
            <a:srgbClr val="FFFFFF"/>
          </a:solidFill>
          <a:ln/>
        </p:spPr>
      </p:sp>
      <p:sp>
        <p:nvSpPr>
          <p:cNvPr id="8" name="Shape 5"/>
          <p:cNvSpPr/>
          <p:nvPr/>
        </p:nvSpPr>
        <p:spPr>
          <a:xfrm>
            <a:off x="1331124" y="856006"/>
            <a:ext cx="133350" cy="137160"/>
          </a:xfrm>
          <a:prstGeom prst="ellipse">
            <a:avLst/>
          </a:prstGeom>
          <a:solidFill>
            <a:srgbClr val="FFFFFF"/>
          </a:solidFill>
          <a:ln/>
        </p:spPr>
      </p:sp>
      <p:sp>
        <p:nvSpPr>
          <p:cNvPr id="9" name="Shape 6"/>
          <p:cNvSpPr/>
          <p:nvPr/>
        </p:nvSpPr>
        <p:spPr>
          <a:xfrm>
            <a:off x="527687" y="1596530"/>
            <a:ext cx="133350" cy="137160"/>
          </a:xfrm>
          <a:prstGeom prst="ellipse">
            <a:avLst/>
          </a:prstGeom>
          <a:solidFill>
            <a:srgbClr val="FFFFFF"/>
          </a:solidFill>
          <a:ln/>
        </p:spPr>
      </p:sp>
      <p:sp>
        <p:nvSpPr>
          <p:cNvPr id="10" name="Shape 7"/>
          <p:cNvSpPr/>
          <p:nvPr/>
        </p:nvSpPr>
        <p:spPr>
          <a:xfrm>
            <a:off x="527687" y="1396504"/>
            <a:ext cx="133350" cy="137160"/>
          </a:xfrm>
          <a:prstGeom prst="ellipse">
            <a:avLst/>
          </a:prstGeom>
          <a:solidFill>
            <a:srgbClr val="FFFFFF"/>
          </a:solidFill>
          <a:ln/>
        </p:spPr>
      </p:sp>
      <p:sp>
        <p:nvSpPr>
          <p:cNvPr id="11" name="Shape 8"/>
          <p:cNvSpPr/>
          <p:nvPr/>
        </p:nvSpPr>
        <p:spPr>
          <a:xfrm>
            <a:off x="527687" y="1196479"/>
            <a:ext cx="133350" cy="137160"/>
          </a:xfrm>
          <a:prstGeom prst="ellipse">
            <a:avLst/>
          </a:prstGeom>
          <a:solidFill>
            <a:srgbClr val="FFFFFF"/>
          </a:solidFill>
          <a:ln/>
        </p:spPr>
      </p:sp>
      <p:sp>
        <p:nvSpPr>
          <p:cNvPr id="12" name="Shape 9"/>
          <p:cNvSpPr/>
          <p:nvPr/>
        </p:nvSpPr>
        <p:spPr>
          <a:xfrm>
            <a:off x="527687" y="996455"/>
            <a:ext cx="133350" cy="137160"/>
          </a:xfrm>
          <a:prstGeom prst="ellipse">
            <a:avLst/>
          </a:prstGeom>
          <a:solidFill>
            <a:srgbClr val="FFFFFF"/>
          </a:solidFill>
          <a:ln/>
        </p:spPr>
      </p:sp>
      <p:pic>
        <p:nvPicPr>
          <p:cNvPr id="13" name="Image 1" descr="https://kimi-img.moonshot.cn/pub/slides/slides_tmpl/image/25-09-04-15:09:08-d2sjm561bb2p4onbqcmg.png"/>
          <p:cNvPicPr>
            <a:picLocks noChangeAspect="1"/>
          </p:cNvPicPr>
          <p:nvPr/>
        </p:nvPicPr>
        <p:blipFill>
          <a:blip r:embed="rId4">
            <a:alphaModFix amt="59000"/>
          </a:blip>
          <a:stretch>
            <a:fillRect/>
          </a:stretch>
        </p:blipFill>
        <p:spPr>
          <a:xfrm>
            <a:off x="5143500" y="698500"/>
            <a:ext cx="7048500" cy="6197600"/>
          </a:xfrm>
          <a:prstGeom prst="rect">
            <a:avLst/>
          </a:prstGeom>
        </p:spPr>
      </p:pic>
      <p:pic>
        <p:nvPicPr>
          <p:cNvPr id="14" name="Image 2" descr="https://kimi-img.moonshot.cn/pub/slides/slides_tmpl/image/25-09-04-15:09:07-d2sjm4u1bb2p4onbqcm0.png"/>
          <p:cNvPicPr>
            <a:picLocks noChangeAspect="1"/>
          </p:cNvPicPr>
          <p:nvPr/>
        </p:nvPicPr>
        <p:blipFill>
          <a:blip r:embed="rId5"/>
          <a:stretch>
            <a:fillRect/>
          </a:stretch>
        </p:blipFill>
        <p:spPr>
          <a:xfrm>
            <a:off x="0" y="3797300"/>
            <a:ext cx="5143500" cy="3060700"/>
          </a:xfrm>
          <a:prstGeom prst="rect">
            <a:avLst/>
          </a:prstGeom>
        </p:spPr>
      </p:pic>
      <p:pic>
        <p:nvPicPr>
          <p:cNvPr id="15" name="Image 3" descr="https://kimi-img.moonshot.cn/pub/slides/slides_tmpl/image/25-09-04-15:09:06-d2sjm4m1bb2p4onbqck0.png"/>
          <p:cNvPicPr>
            <a:picLocks noChangeAspect="1"/>
          </p:cNvPicPr>
          <p:nvPr/>
        </p:nvPicPr>
        <p:blipFill>
          <a:blip r:embed="rId6"/>
          <a:stretch>
            <a:fillRect/>
          </a:stretch>
        </p:blipFill>
        <p:spPr>
          <a:xfrm>
            <a:off x="512445" y="4587240"/>
            <a:ext cx="152400" cy="1524000"/>
          </a:xfrm>
          <a:prstGeom prst="rect">
            <a:avLst/>
          </a:prstGeom>
        </p:spPr>
      </p:pic>
      <p:pic>
        <p:nvPicPr>
          <p:cNvPr id="16" name="Image 4" descr="https://kimi-img.moonshot.cn/pub/slides/slides_tmpl/image/25-09-04-15:09:06-d2sjm4m1bb2p4onbqckg.png"/>
          <p:cNvPicPr>
            <a:picLocks noChangeAspect="1"/>
          </p:cNvPicPr>
          <p:nvPr/>
        </p:nvPicPr>
        <p:blipFill>
          <a:blip r:embed="rId7"/>
          <a:stretch>
            <a:fillRect/>
          </a:stretch>
        </p:blipFill>
        <p:spPr>
          <a:xfrm>
            <a:off x="1311275" y="3907257"/>
            <a:ext cx="1320800" cy="1371600"/>
          </a:xfrm>
          <a:prstGeom prst="rect">
            <a:avLst/>
          </a:prstGeom>
        </p:spPr>
      </p:pic>
      <p:pic>
        <p:nvPicPr>
          <p:cNvPr id="17" name="Image 5" descr="https://kimi-img.moonshot.cn/pub/slides/slides_tmpl/image/25-09-04-15:09:06-d2sjm4m1bb2p4onbqcl0.png"/>
          <p:cNvPicPr>
            <a:picLocks noChangeAspect="1"/>
          </p:cNvPicPr>
          <p:nvPr/>
        </p:nvPicPr>
        <p:blipFill>
          <a:blip r:embed="rId8"/>
          <a:stretch>
            <a:fillRect/>
          </a:stretch>
        </p:blipFill>
        <p:spPr>
          <a:xfrm>
            <a:off x="10570172" y="1111250"/>
            <a:ext cx="983056" cy="907962"/>
          </a:xfrm>
          <a:prstGeom prst="rect">
            <a:avLst/>
          </a:prstGeom>
        </p:spPr>
      </p:pic>
      <p:sp>
        <p:nvSpPr>
          <p:cNvPr id="18" name="Shape 10"/>
          <p:cNvSpPr/>
          <p:nvPr/>
        </p:nvSpPr>
        <p:spPr>
          <a:xfrm>
            <a:off x="1101725" y="3958057"/>
            <a:ext cx="539750" cy="508001"/>
          </a:xfrm>
          <a:prstGeom prst="ellipse">
            <a:avLst/>
          </a:prstGeom>
          <a:solidFill>
            <a:srgbClr val="B2C4FF"/>
          </a:solidFill>
          <a:ln/>
        </p:spPr>
      </p:sp>
      <p:pic>
        <p:nvPicPr>
          <p:cNvPr id="19" name="Image 6" descr="https://kimi-img.moonshot.cn/pub/slides/slides_tmpl/image/25-09-04-15:09:06-d2sjm4m1bb2p4onbqckg.png"/>
          <p:cNvPicPr>
            <a:picLocks noChangeAspect="1"/>
          </p:cNvPicPr>
          <p:nvPr/>
        </p:nvPicPr>
        <p:blipFill>
          <a:blip r:embed="rId7"/>
          <a:stretch>
            <a:fillRect/>
          </a:stretch>
        </p:blipFill>
        <p:spPr>
          <a:xfrm>
            <a:off x="11187651" y="1515914"/>
            <a:ext cx="731154" cy="676035"/>
          </a:xfrm>
          <a:prstGeom prst="rect">
            <a:avLst/>
          </a:prstGeom>
        </p:spPr>
      </p:pic>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D8E1FD"/>
        </a:solidFill>
        <a:effectLst/>
      </p:bgPr>
    </p:bg>
    <p:spTree>
      <p:nvGrpSpPr>
        <p:cNvPr id="1" name=""/>
        <p:cNvGrpSpPr/>
        <p:nvPr/>
      </p:nvGrpSpPr>
      <p:grpSpPr>
        <a:xfrm>
          <a:off x="0" y="0"/>
          <a:ext cx="0" cy="0"/>
          <a:chOff x="0" y="0"/>
          <a:chExt cx="0" cy="0"/>
        </a:xfrm>
      </p:grpSpPr>
      <p:pic>
        <p:nvPicPr>
          <p:cNvPr id="2" name="Image 0" descr="https://kimi-img.moonshot.cn/pub/slides/slides_tmpl/image/25-09-04-15:09:13-d2sjm6e1bb2p4onbqcug.jpeg"/>
          <p:cNvPicPr>
            <a:picLocks noChangeAspect="1"/>
          </p:cNvPicPr>
          <p:nvPr/>
        </p:nvPicPr>
        <p:blipFill>
          <a:blip r:embed="rId3"/>
          <a:stretch>
            <a:fillRect/>
          </a:stretch>
        </p:blipFill>
        <p:spPr>
          <a:xfrm flipH="1">
            <a:off x="775381" y="764053"/>
            <a:ext cx="11416619" cy="6020104"/>
          </a:xfrm>
          <a:prstGeom prst="rect">
            <a:avLst/>
          </a:prstGeom>
        </p:spPr>
      </p:pic>
      <p:sp>
        <p:nvSpPr>
          <p:cNvPr id="3" name="Shape 0"/>
          <p:cNvSpPr/>
          <p:nvPr/>
        </p:nvSpPr>
        <p:spPr>
          <a:xfrm>
            <a:off x="763270" y="363523"/>
            <a:ext cx="133350" cy="137160"/>
          </a:xfrm>
          <a:prstGeom prst="ellipse">
            <a:avLst/>
          </a:prstGeom>
          <a:solidFill>
            <a:srgbClr val="FFFFFF"/>
          </a:solidFill>
          <a:ln/>
        </p:spPr>
      </p:sp>
      <p:sp>
        <p:nvSpPr>
          <p:cNvPr id="4" name="Shape 1"/>
          <p:cNvSpPr/>
          <p:nvPr/>
        </p:nvSpPr>
        <p:spPr>
          <a:xfrm>
            <a:off x="963295" y="363523"/>
            <a:ext cx="133350" cy="137160"/>
          </a:xfrm>
          <a:prstGeom prst="ellipse">
            <a:avLst/>
          </a:prstGeom>
          <a:solidFill>
            <a:srgbClr val="FFFFFF"/>
          </a:solidFill>
          <a:ln/>
        </p:spPr>
      </p:sp>
      <p:sp>
        <p:nvSpPr>
          <p:cNvPr id="5" name="Shape 2"/>
          <p:cNvSpPr/>
          <p:nvPr/>
        </p:nvSpPr>
        <p:spPr>
          <a:xfrm>
            <a:off x="1163320" y="363523"/>
            <a:ext cx="133350" cy="137160"/>
          </a:xfrm>
          <a:prstGeom prst="ellipse">
            <a:avLst/>
          </a:prstGeom>
          <a:solidFill>
            <a:srgbClr val="FFFFFF"/>
          </a:solidFill>
          <a:ln/>
        </p:spPr>
      </p:sp>
      <p:sp>
        <p:nvSpPr>
          <p:cNvPr id="6" name="Shape 3"/>
          <p:cNvSpPr/>
          <p:nvPr/>
        </p:nvSpPr>
        <p:spPr>
          <a:xfrm>
            <a:off x="1363345" y="363523"/>
            <a:ext cx="133350" cy="137160"/>
          </a:xfrm>
          <a:prstGeom prst="ellipse">
            <a:avLst/>
          </a:prstGeom>
          <a:solidFill>
            <a:srgbClr val="FFFFFF"/>
          </a:solidFill>
          <a:ln/>
        </p:spPr>
      </p:sp>
      <p:sp>
        <p:nvSpPr>
          <p:cNvPr id="7" name="Shape 4"/>
          <p:cNvSpPr/>
          <p:nvPr/>
        </p:nvSpPr>
        <p:spPr>
          <a:xfrm>
            <a:off x="1563370" y="363523"/>
            <a:ext cx="133350" cy="137160"/>
          </a:xfrm>
          <a:prstGeom prst="ellipse">
            <a:avLst/>
          </a:prstGeom>
          <a:solidFill>
            <a:srgbClr val="FFFFFF"/>
          </a:solidFill>
          <a:ln/>
        </p:spPr>
      </p:sp>
      <p:sp>
        <p:nvSpPr>
          <p:cNvPr id="8" name="Shape 5"/>
          <p:cNvSpPr/>
          <p:nvPr/>
        </p:nvSpPr>
        <p:spPr>
          <a:xfrm>
            <a:off x="1763395" y="363523"/>
            <a:ext cx="133350" cy="137160"/>
          </a:xfrm>
          <a:prstGeom prst="ellipse">
            <a:avLst/>
          </a:prstGeom>
          <a:solidFill>
            <a:srgbClr val="FFFFFF"/>
          </a:solidFill>
          <a:ln/>
        </p:spPr>
      </p:sp>
      <p:sp>
        <p:nvSpPr>
          <p:cNvPr id="9" name="Shape 6"/>
          <p:cNvSpPr/>
          <p:nvPr/>
        </p:nvSpPr>
        <p:spPr>
          <a:xfrm>
            <a:off x="1963420" y="363523"/>
            <a:ext cx="133350" cy="137160"/>
          </a:xfrm>
          <a:prstGeom prst="ellipse">
            <a:avLst/>
          </a:prstGeom>
          <a:solidFill>
            <a:srgbClr val="FFFFFF"/>
          </a:solidFill>
          <a:ln/>
        </p:spPr>
      </p:sp>
      <p:sp>
        <p:nvSpPr>
          <p:cNvPr id="10" name="Shape 7"/>
          <p:cNvSpPr/>
          <p:nvPr/>
        </p:nvSpPr>
        <p:spPr>
          <a:xfrm>
            <a:off x="2163445" y="363523"/>
            <a:ext cx="133350" cy="137160"/>
          </a:xfrm>
          <a:prstGeom prst="ellipse">
            <a:avLst/>
          </a:prstGeom>
          <a:solidFill>
            <a:srgbClr val="FFFFFF"/>
          </a:solidFill>
          <a:ln/>
        </p:spPr>
      </p:sp>
      <p:sp>
        <p:nvSpPr>
          <p:cNvPr id="11" name="Shape 8"/>
          <p:cNvSpPr/>
          <p:nvPr/>
        </p:nvSpPr>
        <p:spPr>
          <a:xfrm>
            <a:off x="3576320" y="3007360"/>
            <a:ext cx="8615680" cy="3827983"/>
          </a:xfrm>
          <a:prstGeom prst="snipRoundRect">
            <a:avLst>
              <a:gd name="adj1" fmla="val 16667"/>
              <a:gd name="adj2" fmla="val 16667"/>
            </a:avLst>
          </a:prstGeom>
          <a:solidFill>
            <a:srgbClr val="FFF2C6"/>
          </a:solidFill>
          <a:ln/>
        </p:spPr>
      </p:sp>
      <p:sp>
        <p:nvSpPr>
          <p:cNvPr id="12" name="Shape 9"/>
          <p:cNvSpPr/>
          <p:nvPr/>
        </p:nvSpPr>
        <p:spPr>
          <a:xfrm>
            <a:off x="4273339" y="3433631"/>
            <a:ext cx="133350" cy="137160"/>
          </a:xfrm>
          <a:prstGeom prst="ellipse">
            <a:avLst/>
          </a:prstGeom>
          <a:solidFill>
            <a:srgbClr val="FFFFFF"/>
          </a:solidFill>
          <a:ln/>
        </p:spPr>
      </p:sp>
      <p:sp>
        <p:nvSpPr>
          <p:cNvPr id="13" name="Shape 10"/>
          <p:cNvSpPr/>
          <p:nvPr/>
        </p:nvSpPr>
        <p:spPr>
          <a:xfrm>
            <a:off x="4473364" y="3433631"/>
            <a:ext cx="133350" cy="137160"/>
          </a:xfrm>
          <a:prstGeom prst="ellipse">
            <a:avLst/>
          </a:prstGeom>
          <a:solidFill>
            <a:srgbClr val="FFFFFF"/>
          </a:solidFill>
          <a:ln/>
        </p:spPr>
      </p:sp>
      <p:sp>
        <p:nvSpPr>
          <p:cNvPr id="14" name="Shape 11"/>
          <p:cNvSpPr/>
          <p:nvPr/>
        </p:nvSpPr>
        <p:spPr>
          <a:xfrm>
            <a:off x="4673389" y="3433631"/>
            <a:ext cx="133350" cy="137160"/>
          </a:xfrm>
          <a:prstGeom prst="ellipse">
            <a:avLst/>
          </a:prstGeom>
          <a:solidFill>
            <a:srgbClr val="FFFFFF"/>
          </a:solidFill>
          <a:ln/>
        </p:spPr>
      </p:sp>
      <p:sp>
        <p:nvSpPr>
          <p:cNvPr id="15" name="Shape 12"/>
          <p:cNvSpPr/>
          <p:nvPr/>
        </p:nvSpPr>
        <p:spPr>
          <a:xfrm>
            <a:off x="4873414" y="3433631"/>
            <a:ext cx="133350" cy="137160"/>
          </a:xfrm>
          <a:prstGeom prst="ellipse">
            <a:avLst/>
          </a:prstGeom>
          <a:solidFill>
            <a:srgbClr val="FFFFFF"/>
          </a:solidFill>
          <a:ln/>
        </p:spPr>
      </p:sp>
      <p:sp>
        <p:nvSpPr>
          <p:cNvPr id="16" name="Shape 13"/>
          <p:cNvSpPr/>
          <p:nvPr/>
        </p:nvSpPr>
        <p:spPr>
          <a:xfrm>
            <a:off x="4069976" y="4174154"/>
            <a:ext cx="133350" cy="137160"/>
          </a:xfrm>
          <a:prstGeom prst="ellipse">
            <a:avLst/>
          </a:prstGeom>
          <a:solidFill>
            <a:srgbClr val="FFFFFF"/>
          </a:solidFill>
          <a:ln/>
        </p:spPr>
      </p:sp>
      <p:sp>
        <p:nvSpPr>
          <p:cNvPr id="17" name="Shape 14"/>
          <p:cNvSpPr/>
          <p:nvPr/>
        </p:nvSpPr>
        <p:spPr>
          <a:xfrm>
            <a:off x="4069976" y="3974129"/>
            <a:ext cx="133350" cy="137160"/>
          </a:xfrm>
          <a:prstGeom prst="ellipse">
            <a:avLst/>
          </a:prstGeom>
          <a:solidFill>
            <a:srgbClr val="FFFFFF"/>
          </a:solidFill>
          <a:ln/>
        </p:spPr>
      </p:sp>
      <p:sp>
        <p:nvSpPr>
          <p:cNvPr id="18" name="Shape 15"/>
          <p:cNvSpPr/>
          <p:nvPr/>
        </p:nvSpPr>
        <p:spPr>
          <a:xfrm>
            <a:off x="4069976" y="3774104"/>
            <a:ext cx="133350" cy="137160"/>
          </a:xfrm>
          <a:prstGeom prst="ellipse">
            <a:avLst/>
          </a:prstGeom>
          <a:solidFill>
            <a:srgbClr val="FFFFFF"/>
          </a:solidFill>
          <a:ln/>
        </p:spPr>
      </p:sp>
      <p:sp>
        <p:nvSpPr>
          <p:cNvPr id="19" name="Shape 16"/>
          <p:cNvSpPr/>
          <p:nvPr/>
        </p:nvSpPr>
        <p:spPr>
          <a:xfrm>
            <a:off x="4069976" y="3574080"/>
            <a:ext cx="133350" cy="137160"/>
          </a:xfrm>
          <a:prstGeom prst="ellipse">
            <a:avLst/>
          </a:prstGeom>
          <a:solidFill>
            <a:srgbClr val="FFFFFF"/>
          </a:solidFill>
          <a:ln/>
        </p:spPr>
      </p:sp>
      <p:sp>
        <p:nvSpPr>
          <p:cNvPr id="20" name="Text 17"/>
          <p:cNvSpPr/>
          <p:nvPr/>
        </p:nvSpPr>
        <p:spPr>
          <a:xfrm>
            <a:off x="4339590" y="3569970"/>
            <a:ext cx="6898640" cy="1231900"/>
          </a:xfrm>
          <a:prstGeom prst="rect">
            <a:avLst/>
          </a:prstGeom>
          <a:noFill/>
          <a:ln/>
        </p:spPr>
        <p:txBody>
          <a:bodyPr wrap="square" lIns="91440" tIns="45720" rIns="91440" bIns="45720" rtlCol="0" anchor="ctr"/>
          <a:lstStyle/>
          <a:p>
            <a:pPr algn="just">
              <a:lnSpc>
                <a:spcPct val="100000"/>
              </a:lnSpc>
            </a:pPr>
            <a:r>
              <a:rPr lang="en-US" sz="3200" dirty="0">
                <a:solidFill>
                  <a:srgbClr val="6D7AAF"/>
                </a:solidFill>
                <a:latin typeface="MiSans" pitchFamily="34" charset="0"/>
                <a:ea typeface="MiSans" pitchFamily="34" charset="-122"/>
                <a:cs typeface="MiSans" pitchFamily="34" charset="-120"/>
              </a:rPr>
              <a:t>恳请各位老师批评指正</a:t>
            </a:r>
            <a:endParaRPr lang="en-US" sz="1600" dirty="0"/>
          </a:p>
        </p:txBody>
      </p:sp>
      <p:sp>
        <p:nvSpPr>
          <p:cNvPr id="21" name="Shape 18"/>
          <p:cNvSpPr/>
          <p:nvPr/>
        </p:nvSpPr>
        <p:spPr>
          <a:xfrm>
            <a:off x="11600789" y="4943906"/>
            <a:ext cx="228803" cy="212992"/>
          </a:xfrm>
          <a:prstGeom prst="ellipse">
            <a:avLst/>
          </a:prstGeom>
          <a:solidFill>
            <a:srgbClr val="000000">
              <a:alpha val="0"/>
            </a:srgbClr>
          </a:solidFill>
          <a:ln w="41275">
            <a:solidFill>
              <a:srgbClr val="FFFFFF"/>
            </a:solidFill>
            <a:prstDash val="solid"/>
          </a:ln>
        </p:spPr>
      </p:sp>
      <p:sp>
        <p:nvSpPr>
          <p:cNvPr id="22" name="Shape 19"/>
          <p:cNvSpPr/>
          <p:nvPr/>
        </p:nvSpPr>
        <p:spPr>
          <a:xfrm>
            <a:off x="11677188" y="4984444"/>
            <a:ext cx="137562" cy="131914"/>
          </a:xfrm>
          <a:prstGeom prst="ellipse">
            <a:avLst/>
          </a:prstGeom>
          <a:solidFill>
            <a:srgbClr val="C1CEF6"/>
          </a:solidFill>
          <a:ln/>
        </p:spPr>
      </p:sp>
      <p:sp>
        <p:nvSpPr>
          <p:cNvPr id="23" name="Text 20"/>
          <p:cNvSpPr/>
          <p:nvPr/>
        </p:nvSpPr>
        <p:spPr>
          <a:xfrm>
            <a:off x="5006975" y="4676140"/>
            <a:ext cx="6579235" cy="1050925"/>
          </a:xfrm>
          <a:prstGeom prst="rect">
            <a:avLst/>
          </a:prstGeom>
          <a:noFill/>
          <a:ln/>
        </p:spPr>
        <p:txBody>
          <a:bodyPr wrap="square" lIns="91440" tIns="45720" rIns="91440" bIns="45720" rtlCol="0" anchor="ctr"/>
          <a:lstStyle/>
          <a:p>
            <a:pPr algn="r">
              <a:lnSpc>
                <a:spcPct val="100000"/>
              </a:lnSpc>
            </a:pPr>
            <a:r>
              <a:rPr lang="en-US" sz="1800" dirty="0">
                <a:solidFill>
                  <a:srgbClr val="6D7AAF"/>
                </a:solidFill>
                <a:latin typeface="MiSans" pitchFamily="34" charset="0"/>
                <a:ea typeface="MiSans" pitchFamily="34" charset="-122"/>
                <a:cs typeface="MiSans" pitchFamily="34" charset="-120"/>
              </a:rPr>
              <a:t>诚挚感谢与恳请指正</a:t>
            </a:r>
            <a:endParaRPr lang="en-US" sz="1600" dirty="0"/>
          </a:p>
        </p:txBody>
      </p:sp>
      <p:sp>
        <p:nvSpPr>
          <p:cNvPr id="24" name="Text 21"/>
          <p:cNvSpPr/>
          <p:nvPr/>
        </p:nvSpPr>
        <p:spPr>
          <a:xfrm>
            <a:off x="4582160" y="5418455"/>
            <a:ext cx="7346315" cy="1232535"/>
          </a:xfrm>
          <a:prstGeom prst="rect">
            <a:avLst/>
          </a:prstGeom>
          <a:noFill/>
          <a:ln/>
        </p:spPr>
        <p:txBody>
          <a:bodyPr wrap="square" lIns="91440" tIns="45720" rIns="91440" bIns="45720" rtlCol="0" anchor="t"/>
          <a:lstStyle/>
          <a:p>
            <a:pPr algn="r">
              <a:lnSpc>
                <a:spcPct val="100000"/>
              </a:lnSpc>
            </a:pPr>
            <a:r>
              <a:rPr lang="en-US" sz="1600" dirty="0">
                <a:solidFill>
                  <a:srgbClr val="6D7AAF"/>
                </a:solidFill>
                <a:latin typeface="MiSans" pitchFamily="34" charset="0"/>
                <a:ea typeface="MiSans" pitchFamily="34" charset="-122"/>
                <a:cs typeface="MiSans" pitchFamily="34" charset="-120"/>
              </a:rPr>
              <a:t>衷心感谢导师的悉心指导与学术引领，感谢课题组同门的讨论启发与技术支持。研究虽力求严谨，但受限于个人能力与时间，疏漏之处在所难免，恳请各位评审老师不吝赐教，提出宝贵批评与改进建议，本人将认真吸纳、持续完善。再次感谢各位老师的聆听与指导。</a:t>
            </a:r>
            <a:endParaRPr lang="en-US" sz="1600"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9F1DC"/>
        </a:solidFill>
        <a:effectLst/>
      </p:bgPr>
    </p:bg>
    <p:spTree>
      <p:nvGrpSpPr>
        <p:cNvPr id="1" name=""/>
        <p:cNvGrpSpPr/>
        <p:nvPr/>
      </p:nvGrpSpPr>
      <p:grpSpPr>
        <a:xfrm>
          <a:off x="0" y="0"/>
          <a:ext cx="0" cy="0"/>
          <a:chOff x="0" y="0"/>
          <a:chExt cx="0" cy="0"/>
        </a:xfrm>
      </p:grpSpPr>
      <p:pic>
        <p:nvPicPr>
          <p:cNvPr id="2" name="Image 0" descr="https://kimi-img.moonshot.cn/pub/slides/slides_tmpl/image/25-09-04-15:09:11-d2sjm5u1bb2p4onbqcs0.jpg"/>
          <p:cNvPicPr>
            <a:picLocks noChangeAspect="1"/>
          </p:cNvPicPr>
          <p:nvPr/>
        </p:nvPicPr>
        <p:blipFill>
          <a:blip r:embed="rId3"/>
          <a:stretch>
            <a:fillRect/>
          </a:stretch>
        </p:blipFill>
        <p:spPr>
          <a:xfrm>
            <a:off x="0" y="-20003"/>
            <a:ext cx="12263122" cy="6898006"/>
          </a:xfrm>
          <a:prstGeom prst="rect">
            <a:avLst/>
          </a:prstGeom>
        </p:spPr>
      </p:pic>
      <p:sp>
        <p:nvSpPr>
          <p:cNvPr id="3" name="Text 0"/>
          <p:cNvSpPr/>
          <p:nvPr/>
        </p:nvSpPr>
        <p:spPr>
          <a:xfrm>
            <a:off x="3063240" y="2311248"/>
            <a:ext cx="6295390" cy="1749385"/>
          </a:xfrm>
          <a:prstGeom prst="rect">
            <a:avLst/>
          </a:prstGeom>
          <a:noFill/>
          <a:ln/>
        </p:spPr>
        <p:txBody>
          <a:bodyPr wrap="square" lIns="91440" tIns="45720" rIns="91440" bIns="45720" rtlCol="0" anchor="t">
            <a:spAutoFit/>
          </a:bodyPr>
          <a:lstStyle/>
          <a:p>
            <a:pPr>
              <a:lnSpc>
                <a:spcPct val="100000"/>
              </a:lnSpc>
            </a:pPr>
            <a:r>
              <a:rPr lang="en-US" sz="9600" b="1" dirty="0">
                <a:solidFill>
                  <a:srgbClr val="FFFFFF"/>
                </a:solidFill>
                <a:latin typeface="MiSans" pitchFamily="34" charset="0"/>
                <a:ea typeface="MiSans" pitchFamily="34" charset="-122"/>
                <a:cs typeface="MiSans" pitchFamily="34" charset="-120"/>
              </a:rPr>
              <a:t>Thank You</a:t>
            </a:r>
            <a:endParaRPr lang="en-US" sz="1600" dirty="0"/>
          </a:p>
          <a:p>
            <a:pPr>
              <a:lnSpc>
                <a:spcPct val="100000"/>
              </a:lnSpc>
            </a:pPr>
            <a:r>
              <a:rPr lang="en-US" sz="1800" dirty="0">
                <a:solidFill>
                  <a:srgbClr val="000000"/>
                </a:solidFill>
                <a:latin typeface="MiSans" pitchFamily="34" charset="0"/>
                <a:ea typeface="MiSans" pitchFamily="34" charset="-122"/>
                <a:cs typeface="MiSans" pitchFamily="34" charset="-120"/>
              </a:rPr>
              <a:t> </a:t>
            </a:r>
            <a:endParaRPr lang="en-US" sz="1600" dirty="0"/>
          </a:p>
        </p:txBody>
      </p:sp>
      <p:sp>
        <p:nvSpPr>
          <p:cNvPr id="4" name="Text 1"/>
          <p:cNvSpPr/>
          <p:nvPr/>
        </p:nvSpPr>
        <p:spPr>
          <a:xfrm>
            <a:off x="7235190" y="4391660"/>
            <a:ext cx="4064000" cy="266065"/>
          </a:xfrm>
          <a:prstGeom prst="rect">
            <a:avLst/>
          </a:prstGeom>
          <a:noFill/>
          <a:ln/>
        </p:spPr>
        <p:txBody>
          <a:bodyPr wrap="square" lIns="91440" tIns="45720" rIns="91440" bIns="45720" rtlCol="0" anchor="t">
            <a:spAutoFit/>
          </a:bodyPr>
          <a:lstStyle/>
          <a:p>
            <a:pPr>
              <a:lnSpc>
                <a:spcPct val="100000"/>
              </a:lnSpc>
            </a:pPr>
            <a:r>
              <a:rPr lang="en-US" sz="1800" dirty="0">
                <a:solidFill>
                  <a:srgbClr val="000000"/>
                </a:solidFill>
                <a:latin typeface="MiSans" pitchFamily="34" charset="0"/>
                <a:ea typeface="MiSans" pitchFamily="34" charset="-122"/>
                <a:cs typeface="MiSans" pitchFamily="34" charset="-120"/>
              </a:rPr>
              <a:t> </a:t>
            </a:r>
            <a:endParaRPr lang="en-US" sz="1600" dirty="0"/>
          </a:p>
        </p:txBody>
      </p:sp>
      <p:sp>
        <p:nvSpPr>
          <p:cNvPr id="5" name="Shape 2"/>
          <p:cNvSpPr/>
          <p:nvPr/>
        </p:nvSpPr>
        <p:spPr>
          <a:xfrm>
            <a:off x="8414347" y="6381115"/>
            <a:ext cx="133350" cy="137160"/>
          </a:xfrm>
          <a:prstGeom prst="ellipse">
            <a:avLst/>
          </a:prstGeom>
          <a:solidFill>
            <a:srgbClr val="FFFFFF"/>
          </a:solidFill>
          <a:ln/>
        </p:spPr>
      </p:sp>
      <p:sp>
        <p:nvSpPr>
          <p:cNvPr id="6" name="Shape 3"/>
          <p:cNvSpPr/>
          <p:nvPr/>
        </p:nvSpPr>
        <p:spPr>
          <a:xfrm>
            <a:off x="8614372" y="6381115"/>
            <a:ext cx="133350" cy="137160"/>
          </a:xfrm>
          <a:prstGeom prst="ellipse">
            <a:avLst/>
          </a:prstGeom>
          <a:solidFill>
            <a:srgbClr val="FFFFFF"/>
          </a:solidFill>
          <a:ln/>
        </p:spPr>
      </p:sp>
      <p:sp>
        <p:nvSpPr>
          <p:cNvPr id="7" name="Shape 4"/>
          <p:cNvSpPr/>
          <p:nvPr/>
        </p:nvSpPr>
        <p:spPr>
          <a:xfrm>
            <a:off x="8814397" y="6381115"/>
            <a:ext cx="133350" cy="137160"/>
          </a:xfrm>
          <a:prstGeom prst="ellipse">
            <a:avLst/>
          </a:prstGeom>
          <a:solidFill>
            <a:srgbClr val="FFFFFF"/>
          </a:solidFill>
          <a:ln/>
        </p:spPr>
      </p:sp>
      <p:sp>
        <p:nvSpPr>
          <p:cNvPr id="8" name="Shape 5"/>
          <p:cNvSpPr/>
          <p:nvPr/>
        </p:nvSpPr>
        <p:spPr>
          <a:xfrm>
            <a:off x="9014422" y="6381115"/>
            <a:ext cx="133350" cy="137160"/>
          </a:xfrm>
          <a:prstGeom prst="ellipse">
            <a:avLst/>
          </a:prstGeom>
          <a:solidFill>
            <a:srgbClr val="FFFFFF"/>
          </a:solidFill>
          <a:ln/>
        </p:spPr>
      </p:sp>
      <p:sp>
        <p:nvSpPr>
          <p:cNvPr id="9" name="Shape 6"/>
          <p:cNvSpPr/>
          <p:nvPr/>
        </p:nvSpPr>
        <p:spPr>
          <a:xfrm>
            <a:off x="1238250" y="789940"/>
            <a:ext cx="133350" cy="137160"/>
          </a:xfrm>
          <a:prstGeom prst="ellipse">
            <a:avLst/>
          </a:prstGeom>
          <a:solidFill>
            <a:srgbClr val="FFFFFF"/>
          </a:solidFill>
          <a:ln/>
        </p:spPr>
      </p:sp>
      <p:sp>
        <p:nvSpPr>
          <p:cNvPr id="10" name="Shape 7"/>
          <p:cNvSpPr/>
          <p:nvPr/>
        </p:nvSpPr>
        <p:spPr>
          <a:xfrm>
            <a:off x="1438275" y="789940"/>
            <a:ext cx="133350" cy="137160"/>
          </a:xfrm>
          <a:prstGeom prst="ellipse">
            <a:avLst/>
          </a:prstGeom>
          <a:solidFill>
            <a:srgbClr val="FFFFFF"/>
          </a:solidFill>
          <a:ln/>
        </p:spPr>
      </p:sp>
      <p:sp>
        <p:nvSpPr>
          <p:cNvPr id="11" name="Shape 8"/>
          <p:cNvSpPr/>
          <p:nvPr/>
        </p:nvSpPr>
        <p:spPr>
          <a:xfrm>
            <a:off x="1638300" y="789940"/>
            <a:ext cx="133350" cy="137160"/>
          </a:xfrm>
          <a:prstGeom prst="ellipse">
            <a:avLst/>
          </a:prstGeom>
          <a:solidFill>
            <a:srgbClr val="FFFFFF"/>
          </a:solidFill>
          <a:ln/>
        </p:spPr>
      </p:sp>
      <p:sp>
        <p:nvSpPr>
          <p:cNvPr id="12" name="Shape 9"/>
          <p:cNvSpPr/>
          <p:nvPr/>
        </p:nvSpPr>
        <p:spPr>
          <a:xfrm>
            <a:off x="1838325" y="789940"/>
            <a:ext cx="133350" cy="137160"/>
          </a:xfrm>
          <a:prstGeom prst="ellipse">
            <a:avLst/>
          </a:prstGeom>
          <a:solidFill>
            <a:srgbClr val="FFFFFF"/>
          </a:solidFill>
          <a:ln/>
        </p:spPr>
      </p:sp>
      <p:sp>
        <p:nvSpPr>
          <p:cNvPr id="13" name="Text 10"/>
          <p:cNvSpPr/>
          <p:nvPr/>
        </p:nvSpPr>
        <p:spPr>
          <a:xfrm>
            <a:off x="2934970" y="3863913"/>
            <a:ext cx="4064000" cy="459740"/>
          </a:xfrm>
          <a:prstGeom prst="rect">
            <a:avLst/>
          </a:prstGeom>
          <a:noFill/>
          <a:ln/>
        </p:spPr>
        <p:txBody>
          <a:bodyPr wrap="square" lIns="91440" tIns="45720" rIns="91440" bIns="45720" rtlCol="0" anchor="t">
            <a:spAutoFit/>
          </a:bodyPr>
          <a:lstStyle/>
          <a:p>
            <a:pPr>
              <a:lnSpc>
                <a:spcPct val="100000"/>
              </a:lnSpc>
            </a:pPr>
            <a:r>
              <a:rPr lang="en-US" sz="2400" dirty="0" err="1">
                <a:solidFill>
                  <a:srgbClr val="FFFFFF"/>
                </a:solidFill>
                <a:latin typeface="MiSans" pitchFamily="34" charset="0"/>
                <a:ea typeface="MiSans" pitchFamily="34" charset="-122"/>
                <a:cs typeface="MiSans" pitchFamily="34" charset="-120"/>
              </a:rPr>
              <a:t>汇报人</a:t>
            </a:r>
            <a:r>
              <a:rPr lang="en-US" sz="2400" dirty="0">
                <a:solidFill>
                  <a:srgbClr val="FFFFFF"/>
                </a:solidFill>
                <a:latin typeface="MiSans" pitchFamily="34" charset="0"/>
                <a:ea typeface="MiSans" pitchFamily="34" charset="-122"/>
                <a:cs typeface="MiSans" pitchFamily="34" charset="-120"/>
              </a:rPr>
              <a:t>：</a:t>
            </a:r>
            <a:r>
              <a:rPr lang="zh-CN" altLang="en-US" sz="2400" dirty="0">
                <a:solidFill>
                  <a:srgbClr val="FFFFFF"/>
                </a:solidFill>
                <a:latin typeface="MiSans" pitchFamily="34" charset="0"/>
                <a:ea typeface="MiSans" pitchFamily="34" charset="-122"/>
                <a:cs typeface="MiSans" pitchFamily="34" charset="-120"/>
              </a:rPr>
              <a:t>邓杰湧</a:t>
            </a:r>
            <a:endParaRPr lang="en-US" sz="1600" dirty="0"/>
          </a:p>
        </p:txBody>
      </p:sp>
      <p:sp>
        <p:nvSpPr>
          <p:cNvPr id="14" name="Text 11"/>
          <p:cNvSpPr/>
          <p:nvPr/>
        </p:nvSpPr>
        <p:spPr>
          <a:xfrm>
            <a:off x="6637020" y="3907257"/>
            <a:ext cx="3035935" cy="459740"/>
          </a:xfrm>
          <a:prstGeom prst="rect">
            <a:avLst/>
          </a:prstGeom>
          <a:noFill/>
          <a:ln/>
        </p:spPr>
        <p:txBody>
          <a:bodyPr wrap="square" lIns="91440" tIns="45720" rIns="91440" bIns="45720" rtlCol="0" anchor="t">
            <a:spAutoFit/>
          </a:bodyPr>
          <a:lstStyle/>
          <a:p>
            <a:pPr>
              <a:lnSpc>
                <a:spcPct val="100000"/>
              </a:lnSpc>
            </a:pPr>
            <a:r>
              <a:rPr lang="en-US" sz="2400" dirty="0">
                <a:solidFill>
                  <a:srgbClr val="FFFFFF"/>
                </a:solidFill>
                <a:latin typeface="MiSans" pitchFamily="34" charset="0"/>
                <a:ea typeface="MiSans" pitchFamily="34" charset="-122"/>
                <a:cs typeface="MiSans" pitchFamily="34" charset="-120"/>
              </a:rPr>
              <a:t>时间：2026/06/01</a:t>
            </a:r>
            <a:endParaRPr lang="en-US" sz="1600" dirty="0"/>
          </a:p>
        </p:txBody>
      </p:sp>
      <p:pic>
        <p:nvPicPr>
          <p:cNvPr id="15" name="Image 1" descr="https://kimi-img.moonshot.cn/pub/slides/slides_tmpl/image/25-09-04-15:09:06-d2sjm4m1bb2p4onbqckg.png"/>
          <p:cNvPicPr>
            <a:picLocks noChangeAspect="1"/>
          </p:cNvPicPr>
          <p:nvPr/>
        </p:nvPicPr>
        <p:blipFill>
          <a:blip r:embed="rId4"/>
          <a:stretch>
            <a:fillRect/>
          </a:stretch>
        </p:blipFill>
        <p:spPr>
          <a:xfrm>
            <a:off x="1311275" y="3907257"/>
            <a:ext cx="1320800" cy="1371600"/>
          </a:xfrm>
          <a:prstGeom prst="rect">
            <a:avLst/>
          </a:prstGeom>
        </p:spPr>
      </p:pic>
      <p:pic>
        <p:nvPicPr>
          <p:cNvPr id="16" name="Image 2" descr="https://kimi-img.moonshot.cn/pub/slides/slides_tmpl/image/25-09-04-15:09:06-d2sjm4m1bb2p4onbqcl0.png"/>
          <p:cNvPicPr>
            <a:picLocks noChangeAspect="1"/>
          </p:cNvPicPr>
          <p:nvPr/>
        </p:nvPicPr>
        <p:blipFill>
          <a:blip r:embed="rId5"/>
          <a:stretch>
            <a:fillRect/>
          </a:stretch>
        </p:blipFill>
        <p:spPr>
          <a:xfrm>
            <a:off x="10570172" y="1111250"/>
            <a:ext cx="983056" cy="907962"/>
          </a:xfrm>
          <a:prstGeom prst="rect">
            <a:avLst/>
          </a:prstGeom>
        </p:spPr>
      </p:pic>
      <p:sp>
        <p:nvSpPr>
          <p:cNvPr id="17" name="Shape 12"/>
          <p:cNvSpPr/>
          <p:nvPr/>
        </p:nvSpPr>
        <p:spPr>
          <a:xfrm>
            <a:off x="1101725" y="3958057"/>
            <a:ext cx="539750" cy="508001"/>
          </a:xfrm>
          <a:prstGeom prst="ellipse">
            <a:avLst/>
          </a:prstGeom>
          <a:solidFill>
            <a:srgbClr val="B2C4FF"/>
          </a:solidFill>
          <a:ln/>
        </p:spPr>
      </p:sp>
      <p:pic>
        <p:nvPicPr>
          <p:cNvPr id="18" name="Image 3" descr="https://kimi-img.moonshot.cn/pub/slides/slides_tmpl/image/25-09-04-15:09:06-d2sjm4m1bb2p4onbqckg.png"/>
          <p:cNvPicPr>
            <a:picLocks noChangeAspect="1"/>
          </p:cNvPicPr>
          <p:nvPr/>
        </p:nvPicPr>
        <p:blipFill>
          <a:blip r:embed="rId4"/>
          <a:stretch>
            <a:fillRect/>
          </a:stretch>
        </p:blipFill>
        <p:spPr>
          <a:xfrm>
            <a:off x="11187651" y="1515914"/>
            <a:ext cx="731154" cy="676035"/>
          </a:xfrm>
          <a:prstGeom prst="rect">
            <a:avLst/>
          </a:prstGeom>
        </p:spPr>
      </p:pic>
      <p:sp>
        <p:nvSpPr>
          <p:cNvPr id="19" name="Shape 13"/>
          <p:cNvSpPr/>
          <p:nvPr/>
        </p:nvSpPr>
        <p:spPr>
          <a:xfrm>
            <a:off x="10565765" y="5609590"/>
            <a:ext cx="133350" cy="137160"/>
          </a:xfrm>
          <a:prstGeom prst="ellipse">
            <a:avLst/>
          </a:prstGeom>
          <a:solidFill>
            <a:srgbClr val="FFFFFF"/>
          </a:solidFill>
          <a:ln/>
        </p:spPr>
      </p:sp>
      <p:sp>
        <p:nvSpPr>
          <p:cNvPr id="20" name="Shape 14"/>
          <p:cNvSpPr/>
          <p:nvPr/>
        </p:nvSpPr>
        <p:spPr>
          <a:xfrm>
            <a:off x="10765790" y="5609590"/>
            <a:ext cx="133350" cy="137160"/>
          </a:xfrm>
          <a:prstGeom prst="ellipse">
            <a:avLst/>
          </a:prstGeom>
          <a:solidFill>
            <a:srgbClr val="FFFFFF"/>
          </a:solidFill>
          <a:ln/>
        </p:spPr>
      </p:sp>
      <p:sp>
        <p:nvSpPr>
          <p:cNvPr id="21" name="Shape 15"/>
          <p:cNvSpPr/>
          <p:nvPr/>
        </p:nvSpPr>
        <p:spPr>
          <a:xfrm>
            <a:off x="10965815" y="5609590"/>
            <a:ext cx="133350" cy="137160"/>
          </a:xfrm>
          <a:prstGeom prst="ellipse">
            <a:avLst/>
          </a:prstGeom>
          <a:solidFill>
            <a:srgbClr val="FFFFFF"/>
          </a:solidFill>
          <a:ln/>
        </p:spPr>
      </p:sp>
      <p:sp>
        <p:nvSpPr>
          <p:cNvPr id="22" name="Shape 16"/>
          <p:cNvSpPr/>
          <p:nvPr/>
        </p:nvSpPr>
        <p:spPr>
          <a:xfrm>
            <a:off x="11165840" y="5609590"/>
            <a:ext cx="133350" cy="137160"/>
          </a:xfrm>
          <a:prstGeom prst="ellipse">
            <a:avLst/>
          </a:prstGeom>
          <a:solidFill>
            <a:srgbClr val="FFFFFF"/>
          </a:solidFill>
          <a:ln/>
        </p:spPr>
      </p:sp>
      <p:sp>
        <p:nvSpPr>
          <p:cNvPr id="23" name="Shape 17"/>
          <p:cNvSpPr/>
          <p:nvPr/>
        </p:nvSpPr>
        <p:spPr>
          <a:xfrm>
            <a:off x="523388" y="5746751"/>
            <a:ext cx="133350" cy="137160"/>
          </a:xfrm>
          <a:prstGeom prst="ellipse">
            <a:avLst/>
          </a:prstGeom>
          <a:solidFill>
            <a:srgbClr val="FFFFFF"/>
          </a:solidFill>
          <a:ln/>
        </p:spPr>
      </p:sp>
      <p:sp>
        <p:nvSpPr>
          <p:cNvPr id="24" name="Shape 18"/>
          <p:cNvSpPr/>
          <p:nvPr/>
        </p:nvSpPr>
        <p:spPr>
          <a:xfrm>
            <a:off x="523388" y="5546725"/>
            <a:ext cx="133350" cy="137160"/>
          </a:xfrm>
          <a:prstGeom prst="ellipse">
            <a:avLst/>
          </a:prstGeom>
          <a:solidFill>
            <a:srgbClr val="FFFFFF"/>
          </a:solidFill>
          <a:ln/>
        </p:spPr>
      </p:sp>
      <p:sp>
        <p:nvSpPr>
          <p:cNvPr id="25" name="Shape 19"/>
          <p:cNvSpPr/>
          <p:nvPr/>
        </p:nvSpPr>
        <p:spPr>
          <a:xfrm>
            <a:off x="523388" y="5346700"/>
            <a:ext cx="133350" cy="137160"/>
          </a:xfrm>
          <a:prstGeom prst="ellipse">
            <a:avLst/>
          </a:prstGeom>
          <a:solidFill>
            <a:srgbClr val="FFFFFF"/>
          </a:solidFill>
          <a:ln/>
        </p:spPr>
      </p:sp>
      <p:sp>
        <p:nvSpPr>
          <p:cNvPr id="26" name="Shape 20"/>
          <p:cNvSpPr/>
          <p:nvPr/>
        </p:nvSpPr>
        <p:spPr>
          <a:xfrm>
            <a:off x="523388" y="5146676"/>
            <a:ext cx="133350" cy="137160"/>
          </a:xfrm>
          <a:prstGeom prst="ellipse">
            <a:avLst/>
          </a:prstGeom>
          <a:solidFill>
            <a:srgbClr val="FFFFFF"/>
          </a:solidFill>
          <a:ln/>
        </p:spPr>
      </p:sp>
      <p:sp>
        <p:nvSpPr>
          <p:cNvPr id="27" name="Shape 21"/>
          <p:cNvSpPr/>
          <p:nvPr/>
        </p:nvSpPr>
        <p:spPr>
          <a:xfrm>
            <a:off x="523388" y="6539866"/>
            <a:ext cx="133350" cy="137160"/>
          </a:xfrm>
          <a:prstGeom prst="ellipse">
            <a:avLst/>
          </a:prstGeom>
          <a:solidFill>
            <a:srgbClr val="FFFFFF"/>
          </a:solidFill>
          <a:ln/>
        </p:spPr>
      </p:sp>
      <p:sp>
        <p:nvSpPr>
          <p:cNvPr id="28" name="Shape 22"/>
          <p:cNvSpPr/>
          <p:nvPr/>
        </p:nvSpPr>
        <p:spPr>
          <a:xfrm>
            <a:off x="523388" y="6339841"/>
            <a:ext cx="133350" cy="137160"/>
          </a:xfrm>
          <a:prstGeom prst="ellipse">
            <a:avLst/>
          </a:prstGeom>
          <a:solidFill>
            <a:srgbClr val="FFFFFF"/>
          </a:solidFill>
          <a:ln/>
        </p:spPr>
      </p:sp>
      <p:sp>
        <p:nvSpPr>
          <p:cNvPr id="29" name="Shape 23"/>
          <p:cNvSpPr/>
          <p:nvPr/>
        </p:nvSpPr>
        <p:spPr>
          <a:xfrm>
            <a:off x="523388" y="6139816"/>
            <a:ext cx="133350" cy="137160"/>
          </a:xfrm>
          <a:prstGeom prst="ellipse">
            <a:avLst/>
          </a:prstGeom>
          <a:solidFill>
            <a:srgbClr val="FFFFFF"/>
          </a:solidFill>
          <a:ln/>
        </p:spPr>
      </p:sp>
      <p:sp>
        <p:nvSpPr>
          <p:cNvPr id="30" name="Shape 24"/>
          <p:cNvSpPr/>
          <p:nvPr/>
        </p:nvSpPr>
        <p:spPr>
          <a:xfrm>
            <a:off x="523388" y="5939792"/>
            <a:ext cx="133350" cy="137160"/>
          </a:xfrm>
          <a:prstGeom prst="ellipse">
            <a:avLst/>
          </a:prstGeom>
          <a:solidFill>
            <a:srgbClr val="FFFFFF"/>
          </a:solidFill>
          <a:ln/>
        </p:spPr>
      </p:sp>
      <p:sp>
        <p:nvSpPr>
          <p:cNvPr id="31" name="Shape 25"/>
          <p:cNvSpPr/>
          <p:nvPr/>
        </p:nvSpPr>
        <p:spPr>
          <a:xfrm>
            <a:off x="11468678" y="3041866"/>
            <a:ext cx="133350" cy="137160"/>
          </a:xfrm>
          <a:prstGeom prst="ellipse">
            <a:avLst/>
          </a:prstGeom>
          <a:solidFill>
            <a:srgbClr val="FFFFFF"/>
          </a:solidFill>
          <a:ln/>
        </p:spPr>
      </p:sp>
      <p:sp>
        <p:nvSpPr>
          <p:cNvPr id="32" name="Shape 26"/>
          <p:cNvSpPr/>
          <p:nvPr/>
        </p:nvSpPr>
        <p:spPr>
          <a:xfrm>
            <a:off x="11468678" y="2841841"/>
            <a:ext cx="133350" cy="137160"/>
          </a:xfrm>
          <a:prstGeom prst="ellipse">
            <a:avLst/>
          </a:prstGeom>
          <a:solidFill>
            <a:srgbClr val="FFFFFF"/>
          </a:solidFill>
          <a:ln/>
        </p:spPr>
      </p:sp>
      <p:sp>
        <p:nvSpPr>
          <p:cNvPr id="33" name="Shape 27"/>
          <p:cNvSpPr/>
          <p:nvPr/>
        </p:nvSpPr>
        <p:spPr>
          <a:xfrm>
            <a:off x="11468678" y="2641816"/>
            <a:ext cx="133350" cy="137160"/>
          </a:xfrm>
          <a:prstGeom prst="ellipse">
            <a:avLst/>
          </a:prstGeom>
          <a:solidFill>
            <a:srgbClr val="FFFFFF"/>
          </a:solidFill>
          <a:ln/>
        </p:spPr>
      </p:sp>
      <p:sp>
        <p:nvSpPr>
          <p:cNvPr id="34" name="Shape 28"/>
          <p:cNvSpPr/>
          <p:nvPr/>
        </p:nvSpPr>
        <p:spPr>
          <a:xfrm>
            <a:off x="11468678" y="2441792"/>
            <a:ext cx="133350" cy="137160"/>
          </a:xfrm>
          <a:prstGeom prst="ellipse">
            <a:avLst/>
          </a:prstGeom>
          <a:solidFill>
            <a:srgbClr val="FFFFFF"/>
          </a:solidFill>
          <a:ln/>
        </p:spPr>
      </p:sp>
      <p:sp>
        <p:nvSpPr>
          <p:cNvPr id="35" name="Shape 29"/>
          <p:cNvSpPr/>
          <p:nvPr/>
        </p:nvSpPr>
        <p:spPr>
          <a:xfrm>
            <a:off x="11468678" y="3834983"/>
            <a:ext cx="133350" cy="137160"/>
          </a:xfrm>
          <a:prstGeom prst="ellipse">
            <a:avLst/>
          </a:prstGeom>
          <a:solidFill>
            <a:srgbClr val="FFFFFF"/>
          </a:solidFill>
          <a:ln/>
        </p:spPr>
      </p:sp>
      <p:sp>
        <p:nvSpPr>
          <p:cNvPr id="36" name="Shape 30"/>
          <p:cNvSpPr/>
          <p:nvPr/>
        </p:nvSpPr>
        <p:spPr>
          <a:xfrm>
            <a:off x="11468678" y="3634957"/>
            <a:ext cx="133350" cy="137160"/>
          </a:xfrm>
          <a:prstGeom prst="ellipse">
            <a:avLst/>
          </a:prstGeom>
          <a:solidFill>
            <a:srgbClr val="FFFFFF"/>
          </a:solidFill>
          <a:ln/>
        </p:spPr>
      </p:sp>
      <p:sp>
        <p:nvSpPr>
          <p:cNvPr id="37" name="Shape 31"/>
          <p:cNvSpPr/>
          <p:nvPr/>
        </p:nvSpPr>
        <p:spPr>
          <a:xfrm>
            <a:off x="11468678" y="3434932"/>
            <a:ext cx="133350" cy="137160"/>
          </a:xfrm>
          <a:prstGeom prst="ellipse">
            <a:avLst/>
          </a:prstGeom>
          <a:solidFill>
            <a:srgbClr val="FFFFFF"/>
          </a:solidFill>
          <a:ln/>
        </p:spPr>
      </p:sp>
      <p:sp>
        <p:nvSpPr>
          <p:cNvPr id="38" name="Shape 32"/>
          <p:cNvSpPr/>
          <p:nvPr/>
        </p:nvSpPr>
        <p:spPr>
          <a:xfrm>
            <a:off x="11468678" y="3234908"/>
            <a:ext cx="133350" cy="137160"/>
          </a:xfrm>
          <a:prstGeom prst="ellipse">
            <a:avLst/>
          </a:prstGeom>
          <a:solidFill>
            <a:srgbClr val="FFFFFF"/>
          </a:solidFill>
          <a:ln/>
        </p:spPr>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592</Words>
  <Application>Microsoft Office PowerPoint</Application>
  <PresentationFormat>宽屏</PresentationFormat>
  <Paragraphs>150</Paragraphs>
  <Slides>23</Slides>
  <Notes>23</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23</vt:i4>
      </vt:variant>
    </vt:vector>
  </HeadingPairs>
  <TitlesOfParts>
    <vt:vector size="26" baseType="lpstr">
      <vt:lpstr>Arial</vt:lpstr>
      <vt:lpstr>MiSans</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半监督文本分类：从理论到实践</dc:title>
  <dc:subject>半监督文本分类：从理论到实践</dc:subject>
  <dc:creator>Kimi</dc:creator>
  <cp:lastModifiedBy>maikesw D</cp:lastModifiedBy>
  <cp:revision>3</cp:revision>
  <dcterms:created xsi:type="dcterms:W3CDTF">2026-06-01T06:57:58Z</dcterms:created>
  <dcterms:modified xsi:type="dcterms:W3CDTF">2026-06-01T07:15:01Z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半监督文本分类：从理论到实践","ContentProducer":"001191110108MACG2KBH8F10000","ProduceID":"19e81f46-09f2-894c-8000-00007d8bdc8e","ReservedCode1":"","ContentPropagator":"001191110108MACG2KBH8F20000","PropagateID":"19e81f46-09f2-894c-8000-00007d8bdc8e","ReservedCode2":""}</vt:lpwstr>
  </property>
</Properties>
</file>