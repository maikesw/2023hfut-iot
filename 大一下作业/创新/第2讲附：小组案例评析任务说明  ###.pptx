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418" r:id="rId3"/>
    <p:sldId id="385" r:id="rId4"/>
    <p:sldId id="424" r:id="rId5"/>
    <p:sldId id="457" r:id="rId6"/>
    <p:sldId id="458" r:id="rId7"/>
    <p:sldId id="459" r:id="rId8"/>
    <p:sldId id="463" r:id="rId9"/>
    <p:sldId id="464" r:id="rId10"/>
    <p:sldId id="465" r:id="rId11"/>
    <p:sldId id="466" r:id="rId12"/>
    <p:sldId id="467" r:id="rId13"/>
    <p:sldId id="460" r:id="rId14"/>
    <p:sldId id="461" r:id="rId15"/>
    <p:sldId id="45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23" autoAdjust="0"/>
  </p:normalViewPr>
  <p:slideViewPr>
    <p:cSldViewPr snapToGrid="0">
      <p:cViewPr varScale="1">
        <p:scale>
          <a:sx n="110" d="100"/>
          <a:sy n="110"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5A1AB-42F4-43E0-83E4-DCAB59017F3C}" type="datetimeFigureOut">
              <a:rPr lang="zh-CN" altLang="en-US" smtClean="0"/>
              <a:t>2024/5/8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BE7AE9-B6E4-4F0D-A868-D3DB946749D1}" type="slidenum">
              <a:rPr lang="zh-CN" altLang="en-US" smtClean="0"/>
              <a:t>‹#›</a:t>
            </a:fld>
            <a:endParaRPr lang="zh-CN" altLang="en-US"/>
          </a:p>
        </p:txBody>
      </p:sp>
    </p:spTree>
    <p:extLst>
      <p:ext uri="{BB962C8B-B14F-4D97-AF65-F5344CB8AC3E}">
        <p14:creationId xmlns:p14="http://schemas.microsoft.com/office/powerpoint/2010/main" val="3655218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4</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5</a:t>
            </a:fld>
            <a:endParaRPr kumimoji="1" lang="zh-CN" altLang="en-US"/>
          </a:p>
        </p:txBody>
      </p:sp>
    </p:spTree>
    <p:extLst>
      <p:ext uri="{BB962C8B-B14F-4D97-AF65-F5344CB8AC3E}">
        <p14:creationId xmlns:p14="http://schemas.microsoft.com/office/powerpoint/2010/main" val="1426494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6</a:t>
            </a:fld>
            <a:endParaRPr kumimoji="1" lang="zh-CN" altLang="en-US"/>
          </a:p>
        </p:txBody>
      </p:sp>
    </p:spTree>
    <p:extLst>
      <p:ext uri="{BB962C8B-B14F-4D97-AF65-F5344CB8AC3E}">
        <p14:creationId xmlns:p14="http://schemas.microsoft.com/office/powerpoint/2010/main" val="3251243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7</a:t>
            </a:fld>
            <a:endParaRPr kumimoji="1" lang="zh-CN" altLang="en-US"/>
          </a:p>
        </p:txBody>
      </p:sp>
    </p:spTree>
    <p:extLst>
      <p:ext uri="{BB962C8B-B14F-4D97-AF65-F5344CB8AC3E}">
        <p14:creationId xmlns:p14="http://schemas.microsoft.com/office/powerpoint/2010/main" val="3167512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8</a:t>
            </a:fld>
            <a:endParaRPr kumimoji="1" lang="zh-CN" altLang="en-US"/>
          </a:p>
        </p:txBody>
      </p:sp>
    </p:spTree>
    <p:extLst>
      <p:ext uri="{BB962C8B-B14F-4D97-AF65-F5344CB8AC3E}">
        <p14:creationId xmlns:p14="http://schemas.microsoft.com/office/powerpoint/2010/main" val="2422794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9</a:t>
            </a:fld>
            <a:endParaRPr kumimoji="1" lang="zh-CN" altLang="en-US"/>
          </a:p>
        </p:txBody>
      </p:sp>
    </p:spTree>
    <p:extLst>
      <p:ext uri="{BB962C8B-B14F-4D97-AF65-F5344CB8AC3E}">
        <p14:creationId xmlns:p14="http://schemas.microsoft.com/office/powerpoint/2010/main" val="1951009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10</a:t>
            </a:fld>
            <a:endParaRPr kumimoji="1" lang="zh-CN" altLang="en-US"/>
          </a:p>
        </p:txBody>
      </p:sp>
    </p:spTree>
    <p:extLst>
      <p:ext uri="{BB962C8B-B14F-4D97-AF65-F5344CB8AC3E}">
        <p14:creationId xmlns:p14="http://schemas.microsoft.com/office/powerpoint/2010/main" val="576079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11</a:t>
            </a:fld>
            <a:endParaRPr kumimoji="1" lang="zh-CN" altLang="en-US"/>
          </a:p>
        </p:txBody>
      </p:sp>
    </p:spTree>
    <p:extLst>
      <p:ext uri="{BB962C8B-B14F-4D97-AF65-F5344CB8AC3E}">
        <p14:creationId xmlns:p14="http://schemas.microsoft.com/office/powerpoint/2010/main" val="1961879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12</a:t>
            </a:fld>
            <a:endParaRPr kumimoji="1" lang="zh-CN" altLang="en-US"/>
          </a:p>
        </p:txBody>
      </p:sp>
    </p:spTree>
    <p:extLst>
      <p:ext uri="{BB962C8B-B14F-4D97-AF65-F5344CB8AC3E}">
        <p14:creationId xmlns:p14="http://schemas.microsoft.com/office/powerpoint/2010/main" val="1821105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13</a:t>
            </a:fld>
            <a:endParaRPr kumimoji="1" lang="zh-CN" altLang="en-US"/>
          </a:p>
        </p:txBody>
      </p:sp>
    </p:spTree>
    <p:extLst>
      <p:ext uri="{BB962C8B-B14F-4D97-AF65-F5344CB8AC3E}">
        <p14:creationId xmlns:p14="http://schemas.microsoft.com/office/powerpoint/2010/main" val="255289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b="1" dirty="0"/>
              <a:t>一、创新创业能力的概念和内涵</a:t>
            </a:r>
            <a:endParaRPr lang="en-US" altLang="zh-CN" b="1" dirty="0"/>
          </a:p>
          <a:p>
            <a:r>
              <a:rPr lang="zh-CN" altLang="en-US" dirty="0"/>
              <a:t>在创新创业能力的涵义描述上，个体与组织的创新创业能力表述有所不同，但没有本质的区别。</a:t>
            </a:r>
            <a:endParaRPr lang="en-US" altLang="zh-CN" dirty="0"/>
          </a:p>
          <a:p>
            <a:r>
              <a:rPr lang="zh-CN" altLang="en-US" dirty="0"/>
              <a:t>本课基于育人视角，诠释创新创业能力是针对个体的，旨在培养和开发个人的创新创业能力。</a:t>
            </a:r>
            <a:endParaRPr lang="en-US" altLang="zh-CN" dirty="0"/>
          </a:p>
          <a:p>
            <a:r>
              <a:rPr lang="zh-CN" altLang="en-US" dirty="0"/>
              <a:t>（</a:t>
            </a:r>
            <a:r>
              <a:rPr lang="en-US" altLang="zh-CN" dirty="0"/>
              <a:t>1</a:t>
            </a:r>
            <a:r>
              <a:rPr lang="zh-CN" altLang="en-US" dirty="0"/>
              <a:t>）针对个体，创新创业能力是指个人的探索未知、利用资源和创造价值的能力；</a:t>
            </a:r>
            <a:endParaRPr lang="en-US" altLang="zh-CN" dirty="0"/>
          </a:p>
          <a:p>
            <a:r>
              <a:rPr lang="zh-CN" altLang="en-US" dirty="0"/>
              <a:t>（</a:t>
            </a:r>
            <a:r>
              <a:rPr lang="en-US" altLang="zh-CN" dirty="0"/>
              <a:t>2</a:t>
            </a:r>
            <a:r>
              <a:rPr lang="zh-CN" altLang="en-US" dirty="0"/>
              <a:t>）针对企业，创新创业能力是指企业能够创造新产品、新工艺以及改善现有产品与工艺的能力。企业的创新创业能力，就是企业创新能力。</a:t>
            </a:r>
            <a:endParaRPr lang="en-US" altLang="zh-CN" dirty="0"/>
          </a:p>
          <a:p>
            <a:endParaRPr lang="en-US" altLang="zh-CN" dirty="0"/>
          </a:p>
          <a:p>
            <a:r>
              <a:rPr lang="zh-CN" altLang="en-US" dirty="0"/>
              <a:t>（</a:t>
            </a:r>
            <a:r>
              <a:rPr lang="en-US" altLang="zh-CN" dirty="0"/>
              <a:t>1</a:t>
            </a:r>
            <a:r>
              <a:rPr lang="zh-CN" altLang="en-US" dirty="0"/>
              <a:t>）从过程上来看，企业创新能力是企业开发新创意，并将其转化为新产品、新工艺或新系统的能力，并能够为企业及股东创造收益的能力。</a:t>
            </a:r>
            <a:endParaRPr lang="en-US" altLang="zh-CN" dirty="0"/>
          </a:p>
          <a:p>
            <a:r>
              <a:rPr lang="zh-CN" altLang="en-US" dirty="0"/>
              <a:t>由技术创新过程的六个阶段“确认机会、形成思想、求解问题、得到解决、技术开发、技术运用和技术扩散”来看，企业创新能力可定义为支持企业创新战略的实现，由产品创新能力和工艺创新能力两者耦合并由此决定的系统整体功能的实现。</a:t>
            </a:r>
            <a:endParaRPr lang="en-US" altLang="zh-CN" dirty="0"/>
          </a:p>
          <a:p>
            <a:r>
              <a:rPr lang="zh-CN" altLang="en-US" dirty="0"/>
              <a:t>（</a:t>
            </a:r>
            <a:r>
              <a:rPr lang="en-US" altLang="zh-CN" dirty="0"/>
              <a:t>2</a:t>
            </a:r>
            <a:r>
              <a:rPr lang="zh-CN" altLang="en-US" dirty="0"/>
              <a:t>）从内容上来看，企业创新能力体现在组织管理职能的各种要素上，包括专业化人才、技术系统、管理系统以及企业价值观等。</a:t>
            </a:r>
            <a:endParaRPr lang="en-US" altLang="zh-CN" dirty="0"/>
          </a:p>
          <a:p>
            <a:r>
              <a:rPr lang="zh-CN" altLang="en-US" dirty="0"/>
              <a:t>狭义地说，企业的创新能力专指企业的技术创新能力，是企业有效地吸收、掌握和改进现有技术，并创造新技术所需技能和知识的能力。</a:t>
            </a:r>
            <a:endParaRPr lang="en-US" altLang="zh-CN" dirty="0"/>
          </a:p>
          <a:p>
            <a:r>
              <a:rPr lang="zh-CN" altLang="en-US" dirty="0"/>
              <a:t>广义上说，企业的创新能力不仅包括技术创新能力，还包括非技术的创新能力，如战略能力、组织能力、市场能力等。</a:t>
            </a:r>
            <a:endParaRPr lang="en-US" altLang="zh-CN" dirty="0"/>
          </a:p>
          <a:p>
            <a:r>
              <a:rPr lang="zh-CN" altLang="en-US" dirty="0"/>
              <a:t>概括地说，企业的创新能力是促进与支持创新战略实现的全部组织特性，包括战略愿景、竞争基础、组织智力、创造性、组织结构、文化氛围、技术管理等。</a:t>
            </a:r>
            <a:endParaRPr lang="en-US" altLang="zh-CN" dirty="0"/>
          </a:p>
          <a:p>
            <a:endParaRPr lang="en-US" altLang="zh-CN" dirty="0"/>
          </a:p>
          <a:p>
            <a:r>
              <a:rPr lang="zh-CN" altLang="en-US" b="1" dirty="0"/>
              <a:t>二、创新创业能力的培养与开发。</a:t>
            </a:r>
            <a:endParaRPr lang="en-US" altLang="zh-CN" b="1" dirty="0"/>
          </a:p>
          <a:p>
            <a:r>
              <a:rPr lang="zh-CN" altLang="en-US" b="1" dirty="0"/>
              <a:t>创新创业能力最早被认为是个人创办企业的创业能力，因此早期研究创业胜任力。</a:t>
            </a:r>
            <a:endParaRPr lang="en-US" altLang="zh-CN" dirty="0"/>
          </a:p>
          <a:p>
            <a:r>
              <a:rPr lang="zh-CN" altLang="en-US" dirty="0"/>
              <a:t>早期对创业胜任力的研究焦点在于影响创业者成败的个体人格特质要素，如冒险性、开放性等。</a:t>
            </a:r>
            <a:endParaRPr lang="en-US" altLang="zh-CN" dirty="0"/>
          </a:p>
          <a:p>
            <a:r>
              <a:rPr lang="zh-CN" altLang="en-US" dirty="0"/>
              <a:t>随着研究的深度和官渡，人们逐渐建立起包括创业机会的识别和开发、创业资源的整合和利用、创业团队的组建和领导、商业系统的创建和经营、社会嵌入和合法性获取、创新学习和变革领导、使命承诺和愿景驱动、风险承担和自我效能、客户导向和领先行动等多层次、多维度的创业胜任力模型，为创业能力的开发奠定了理论基础。同时，在创业能力开发策略和方法上，也从早期的以一般性的商科教育与培训策略为主导，逐渐发展演变为以创新创业政策环境为基础，各级政府、各层次学校、教育培训及技术和资本市场与创业者多元主体深度参与，以众创空间、孵化器、加速器、创业学院、创业训练营等专业化的开发载体，通过课程培训、案例研讨、参访观摩、模拟演练、行动学习、教练指导、私董会、社群网络支持等多元化和全程化的开发策略和方法，同时融合了虚拟仿真、网络慕课、人工智能、直播互动等新一代创业能力开发技术手段。</a:t>
            </a:r>
          </a:p>
          <a:p>
            <a:endParaRPr lang="zh-CN" altLang="en-US"/>
          </a:p>
          <a:p>
            <a:endParaRPr lang="en-US" altLang="zh-CN" dirty="0"/>
          </a:p>
        </p:txBody>
      </p:sp>
      <p:sp>
        <p:nvSpPr>
          <p:cNvPr id="4" name="灯片编号占位符 3"/>
          <p:cNvSpPr>
            <a:spLocks noGrp="1"/>
          </p:cNvSpPr>
          <p:nvPr>
            <p:ph type="sldNum" sz="quarter" idx="10"/>
          </p:nvPr>
        </p:nvSpPr>
        <p:spPr/>
        <p:txBody>
          <a:bodyPr/>
          <a:lstStyle/>
          <a:p>
            <a:fld id="{42A0AB4E-63C4-9548-A330-CCCE1C9D7716}" type="slidenum">
              <a:rPr kumimoji="1" lang="zh-CN" altLang="en-US" smtClean="0"/>
              <a:pPr/>
              <a:t>14</a:t>
            </a:fld>
            <a:endParaRPr kumimoji="1" lang="zh-CN" altLang="en-US"/>
          </a:p>
        </p:txBody>
      </p:sp>
    </p:spTree>
    <p:extLst>
      <p:ext uri="{BB962C8B-B14F-4D97-AF65-F5344CB8AC3E}">
        <p14:creationId xmlns:p14="http://schemas.microsoft.com/office/powerpoint/2010/main" val="35937543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DE6A9A2-A06E-4BA2-A022-26BC92E5D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15772" r="-2005" b="18057"/>
          <a:stretch>
            <a:fillRect/>
          </a:stretch>
        </p:blipFill>
        <p:spPr>
          <a:xfrm>
            <a:off x="5052553" y="-1"/>
            <a:ext cx="7111054" cy="6858001"/>
          </a:xfrm>
          <a:prstGeom prst="rect">
            <a:avLst/>
          </a:prstGeom>
        </p:spPr>
      </p:pic>
      <p:sp>
        <p:nvSpPr>
          <p:cNvPr id="8" name="矩形 7">
            <a:extLst>
              <a:ext uri="{FF2B5EF4-FFF2-40B4-BE49-F238E27FC236}">
                <a16:creationId xmlns:a16="http://schemas.microsoft.com/office/drawing/2014/main" id="{5E846B5D-6E26-4392-A99D-4A89CA1744E6}"/>
              </a:ext>
            </a:extLst>
          </p:cNvPr>
          <p:cNvSpPr/>
          <p:nvPr userDrawn="1"/>
        </p:nvSpPr>
        <p:spPr>
          <a:xfrm>
            <a:off x="-9046" y="-19991"/>
            <a:ext cx="5222378" cy="6877991"/>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50021"/>
              </a:solidFill>
              <a:latin typeface="思源黑体 CN Light" panose="020F05020202040A0204" pitchFamily="34" charset="-122"/>
              <a:ea typeface="思源黑体 CN Light" panose="020F05020202040A0204" pitchFamily="34" charset="-122"/>
            </a:endParaRPr>
          </a:p>
        </p:txBody>
      </p:sp>
      <p:sp>
        <p:nvSpPr>
          <p:cNvPr id="9" name="矩形 8">
            <a:extLst>
              <a:ext uri="{FF2B5EF4-FFF2-40B4-BE49-F238E27FC236}">
                <a16:creationId xmlns:a16="http://schemas.microsoft.com/office/drawing/2014/main" id="{53C316FA-F6B9-4AB2-A007-EB6995F3A691}"/>
              </a:ext>
            </a:extLst>
          </p:cNvPr>
          <p:cNvSpPr/>
          <p:nvPr userDrawn="1"/>
        </p:nvSpPr>
        <p:spPr>
          <a:xfrm>
            <a:off x="11194118" y="-19877"/>
            <a:ext cx="997882" cy="6877877"/>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F05020202040A0204" pitchFamily="34" charset="-122"/>
              <a:ea typeface="思源黑体 CN Light" panose="020F05020202040A0204" pitchFamily="34" charset="-122"/>
            </a:endParaRPr>
          </a:p>
        </p:txBody>
      </p:sp>
      <p:grpSp>
        <p:nvGrpSpPr>
          <p:cNvPr id="10" name="组合 9">
            <a:extLst>
              <a:ext uri="{FF2B5EF4-FFF2-40B4-BE49-F238E27FC236}">
                <a16:creationId xmlns:a16="http://schemas.microsoft.com/office/drawing/2014/main" id="{3275A265-9417-48A4-AA1E-2AF8C6268012}"/>
              </a:ext>
            </a:extLst>
          </p:cNvPr>
          <p:cNvGrpSpPr/>
          <p:nvPr userDrawn="1"/>
        </p:nvGrpSpPr>
        <p:grpSpPr>
          <a:xfrm>
            <a:off x="11439143" y="2223847"/>
            <a:ext cx="507831" cy="3864238"/>
            <a:chOff x="366787" y="1433771"/>
            <a:chExt cx="507831" cy="3864238"/>
          </a:xfrm>
        </p:grpSpPr>
        <p:sp>
          <p:nvSpPr>
            <p:cNvPr id="11" name="文本框 33">
              <a:extLst>
                <a:ext uri="{FF2B5EF4-FFF2-40B4-BE49-F238E27FC236}">
                  <a16:creationId xmlns:a16="http://schemas.microsoft.com/office/drawing/2014/main" id="{B8C3C120-18E4-4DC6-AAAA-9EA88FB97888}"/>
                </a:ext>
              </a:extLst>
            </p:cNvPr>
            <p:cNvSpPr txBox="1"/>
            <p:nvPr/>
          </p:nvSpPr>
          <p:spPr>
            <a:xfrm>
              <a:off x="366787" y="2397866"/>
              <a:ext cx="507831" cy="2900143"/>
            </a:xfrm>
            <a:prstGeom prst="rect">
              <a:avLst/>
            </a:prstGeom>
            <a:noFill/>
          </p:spPr>
          <p:txBody>
            <a:bodyPr vert="eaVert" wrap="square">
              <a:spAutoFit/>
            </a:bodyPr>
            <a:lstStyle/>
            <a:p>
              <a:r>
                <a:rPr lang="en-US" altLang="zh-CN" sz="2100" b="1" dirty="0">
                  <a:solidFill>
                    <a:schemeClr val="bg1"/>
                  </a:solidFill>
                  <a:effectLst>
                    <a:outerShdw blurRad="38100" dist="38100" dir="2700000" algn="tl">
                      <a:srgbClr val="000000">
                        <a:alpha val="43137"/>
                      </a:srgbClr>
                    </a:outerShdw>
                  </a:effectLst>
                  <a:latin typeface="Times New Roman" panose="02020603050405020304" pitchFamily="18" charset="0"/>
                  <a:ea typeface="FZCuHeiSongS-B-GB" panose="02000000000000000000" pitchFamily="2" charset="-122"/>
                  <a:cs typeface="Times New Roman" panose="02020603050405020304" pitchFamily="18" charset="0"/>
                </a:rPr>
                <a:t>H F U T</a:t>
              </a:r>
              <a:endParaRPr lang="zh-CN" altLang="en-US" sz="2100" b="1" dirty="0">
                <a:solidFill>
                  <a:schemeClr val="bg1"/>
                </a:solidFill>
                <a:effectLst>
                  <a:outerShdw blurRad="38100" dist="38100" dir="2700000" algn="tl">
                    <a:srgbClr val="000000">
                      <a:alpha val="43137"/>
                    </a:srgbClr>
                  </a:outerShdw>
                </a:effectLst>
                <a:latin typeface="Times New Roman" panose="02020603050405020304" pitchFamily="18" charset="0"/>
                <a:ea typeface="FZCuHeiSongS-B-GB" panose="02000000000000000000" pitchFamily="2" charset="-122"/>
                <a:cs typeface="Times New Roman" panose="02020603050405020304" pitchFamily="18" charset="0"/>
              </a:endParaRPr>
            </a:p>
          </p:txBody>
        </p:sp>
        <p:cxnSp>
          <p:nvCxnSpPr>
            <p:cNvPr id="12" name="直接连接符 33">
              <a:extLst>
                <a:ext uri="{FF2B5EF4-FFF2-40B4-BE49-F238E27FC236}">
                  <a16:creationId xmlns:a16="http://schemas.microsoft.com/office/drawing/2014/main" id="{B8AA480D-038D-4D3D-92A8-AA6DCBC859A7}"/>
                </a:ext>
              </a:extLst>
            </p:cNvPr>
            <p:cNvCxnSpPr/>
            <p:nvPr/>
          </p:nvCxnSpPr>
          <p:spPr>
            <a:xfrm>
              <a:off x="620533" y="1433771"/>
              <a:ext cx="0" cy="79672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3" name="图片 12">
            <a:extLst>
              <a:ext uri="{FF2B5EF4-FFF2-40B4-BE49-F238E27FC236}">
                <a16:creationId xmlns:a16="http://schemas.microsoft.com/office/drawing/2014/main" id="{1E0F1BEF-78EB-4736-A087-414791CE6F44}"/>
              </a:ext>
            </a:extLst>
          </p:cNvPr>
          <p:cNvPicPr>
            <a:picLocks noChangeAspect="1"/>
          </p:cNvPicPr>
          <p:nvPr userDrawn="1"/>
        </p:nvPicPr>
        <p:blipFill>
          <a:blip r:embed="rId3" cstate="print">
            <a:grayscl/>
            <a:extLst>
              <a:ext uri="{28A0092B-C50C-407E-A947-70E740481C1C}">
                <a14:useLocalDpi xmlns:a14="http://schemas.microsoft.com/office/drawing/2010/main" val="0"/>
              </a:ext>
            </a:extLst>
          </a:blip>
          <a:stretch>
            <a:fillRect/>
          </a:stretch>
        </p:blipFill>
        <p:spPr>
          <a:xfrm>
            <a:off x="389809" y="5151067"/>
            <a:ext cx="4569185" cy="1504680"/>
          </a:xfrm>
          <a:prstGeom prst="rect">
            <a:avLst/>
          </a:prstGeom>
        </p:spPr>
      </p:pic>
      <p:pic>
        <p:nvPicPr>
          <p:cNvPr id="14" name="图片 13">
            <a:extLst>
              <a:ext uri="{FF2B5EF4-FFF2-40B4-BE49-F238E27FC236}">
                <a16:creationId xmlns:a16="http://schemas.microsoft.com/office/drawing/2014/main" id="{FB6BC779-D27A-40AC-BA8E-49F1A88AA5CA}"/>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389809" y="331746"/>
            <a:ext cx="2743275" cy="514663"/>
          </a:xfrm>
          <a:prstGeom prst="rect">
            <a:avLst/>
          </a:prstGeom>
        </p:spPr>
      </p:pic>
      <p:sp>
        <p:nvSpPr>
          <p:cNvPr id="15" name="矩形 14">
            <a:extLst>
              <a:ext uri="{FF2B5EF4-FFF2-40B4-BE49-F238E27FC236}">
                <a16:creationId xmlns:a16="http://schemas.microsoft.com/office/drawing/2014/main" id="{BE4C38EC-8D42-4234-BBD0-72391FAFA243}"/>
              </a:ext>
            </a:extLst>
          </p:cNvPr>
          <p:cNvSpPr/>
          <p:nvPr userDrawn="1"/>
        </p:nvSpPr>
        <p:spPr>
          <a:xfrm>
            <a:off x="922947" y="1444241"/>
            <a:ext cx="5597496" cy="1107996"/>
          </a:xfrm>
          <a:prstGeom prst="rect">
            <a:avLst/>
          </a:prstGeom>
          <a:noFill/>
          <a:ln>
            <a:noFill/>
          </a:ln>
        </p:spPr>
        <p:txBody>
          <a:bodyPr wrap="square" lIns="0" tIns="0" rIns="0" bIns="0">
            <a:spAutoFit/>
          </a:bodyPr>
          <a:lstStyle/>
          <a:p>
            <a:pPr algn="ctr"/>
            <a:r>
              <a:rPr lang="zh-CN" altLang="en-US" sz="7200" b="1" cap="none" spc="0" dirty="0">
                <a:ln w="18415" cmpd="sng">
                  <a:solidFill>
                    <a:srgbClr val="FFFFFF"/>
                  </a:solidFill>
                  <a:prstDash val="solid"/>
                </a:ln>
                <a:solidFill>
                  <a:srgbClr val="FF0000"/>
                </a:solidFill>
                <a:effectLst>
                  <a:outerShdw blurRad="38100" dist="38100" dir="2700000" algn="tl">
                    <a:srgbClr val="000000">
                      <a:alpha val="43137"/>
                    </a:srgbClr>
                  </a:outerShdw>
                </a:effectLst>
                <a:latin typeface="微软雅黑" pitchFamily="34" charset="-122"/>
                <a:ea typeface="微软雅黑" pitchFamily="34" charset="-122"/>
                <a:cs typeface="字魂105号-简雅黑" panose="00000500000000000000" pitchFamily="2" charset="-122"/>
              </a:rPr>
              <a:t>创新创业基础</a:t>
            </a:r>
            <a:endParaRPr lang="zh-CN" altLang="en-US" sz="7200" b="1" cap="none" spc="0" dirty="0">
              <a:ln w="18415" cmpd="sng">
                <a:solidFill>
                  <a:srgbClr val="FFFFFF"/>
                </a:solidFill>
                <a:prstDash val="solid"/>
              </a:ln>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6" name="矩形 15">
            <a:extLst>
              <a:ext uri="{FF2B5EF4-FFF2-40B4-BE49-F238E27FC236}">
                <a16:creationId xmlns:a16="http://schemas.microsoft.com/office/drawing/2014/main" id="{2431E4C8-42A6-4065-9372-3510D21E202B}"/>
              </a:ext>
            </a:extLst>
          </p:cNvPr>
          <p:cNvSpPr/>
          <p:nvPr userDrawn="1"/>
        </p:nvSpPr>
        <p:spPr>
          <a:xfrm>
            <a:off x="2170630" y="3954545"/>
            <a:ext cx="2694969" cy="584775"/>
          </a:xfrm>
          <a:prstGeom prst="rect">
            <a:avLst/>
          </a:prstGeom>
          <a:noFill/>
          <a:ln>
            <a:noFill/>
          </a:ln>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200" b="1" spc="50" dirty="0">
                <a:ln w="11430"/>
                <a:solidFill>
                  <a:srgbClr val="FF0000"/>
                </a:solidFill>
                <a:latin typeface="黑体" panose="02010609060101010101" pitchFamily="49" charset="-122"/>
                <a:ea typeface="黑体" panose="02010609060101010101" pitchFamily="49" charset="-122"/>
                <a:cs typeface="思源黑体 CN Medium" panose="020B0600000000000000" charset="-122"/>
              </a:rPr>
              <a:t>主讲人：</a:t>
            </a:r>
            <a:r>
              <a:rPr lang="zh-CN" altLang="en-US" sz="3200" b="1" spc="50" dirty="0">
                <a:ln w="11430"/>
                <a:solidFill>
                  <a:srgbClr val="0000CC"/>
                </a:solidFill>
                <a:latin typeface="黑体" panose="02010609060101010101" pitchFamily="49" charset="-122"/>
                <a:ea typeface="黑体" panose="02010609060101010101" pitchFamily="49" charset="-122"/>
                <a:cs typeface="思源黑体 CN Medium" panose="020B0600000000000000" charset="-122"/>
              </a:rPr>
              <a:t>代宝</a:t>
            </a:r>
          </a:p>
        </p:txBody>
      </p:sp>
      <p:sp>
        <p:nvSpPr>
          <p:cNvPr id="17" name="文本框 28">
            <a:extLst>
              <a:ext uri="{FF2B5EF4-FFF2-40B4-BE49-F238E27FC236}">
                <a16:creationId xmlns:a16="http://schemas.microsoft.com/office/drawing/2014/main" id="{C706A2A9-D257-429B-AE70-490A22A657A6}"/>
              </a:ext>
            </a:extLst>
          </p:cNvPr>
          <p:cNvSpPr txBox="1"/>
          <p:nvPr userDrawn="1"/>
        </p:nvSpPr>
        <p:spPr>
          <a:xfrm>
            <a:off x="2885715" y="5005069"/>
            <a:ext cx="1671960" cy="246221"/>
          </a:xfrm>
          <a:prstGeom prst="rect">
            <a:avLst/>
          </a:prstGeom>
          <a:noFill/>
        </p:spPr>
        <p:txBody>
          <a:bodyPr wrap="square" lIns="0" tIns="0" rIns="0" bIns="0" rtlCol="0">
            <a:spAutoFit/>
          </a:bodyPr>
          <a:lstStyle/>
          <a:p>
            <a:pPr algn="ctr"/>
            <a:fld id="{D06CBC9D-0031-4AB9-99F8-1E14D50E9075}" type="datetime2">
              <a:rPr lang="zh-CN" altLang="en-US" sz="1600" b="1" smtClean="0">
                <a:solidFill>
                  <a:schemeClr val="bg1">
                    <a:lumMod val="95000"/>
                  </a:schemeClr>
                </a:solidFill>
                <a:latin typeface="黑体" panose="02010609060101010101" pitchFamily="49" charset="-122"/>
                <a:ea typeface="黑体" panose="02010609060101010101" pitchFamily="49" charset="-122"/>
                <a:cs typeface="Arial" pitchFamily="34" charset="0"/>
              </a:rPr>
              <a:t>2024年5月8日</a:t>
            </a:fld>
            <a:endParaRPr lang="zh-CN" altLang="en-US" sz="1600" b="1" dirty="0">
              <a:solidFill>
                <a:schemeClr val="bg1">
                  <a:lumMod val="95000"/>
                </a:schemeClr>
              </a:solidFill>
              <a:latin typeface="黑体" panose="02010609060101010101" pitchFamily="49" charset="-122"/>
              <a:ea typeface="黑体" panose="02010609060101010101" pitchFamily="49" charset="-122"/>
              <a:cs typeface="Arial" pitchFamily="34" charset="0"/>
            </a:endParaRPr>
          </a:p>
        </p:txBody>
      </p:sp>
    </p:spTree>
    <p:extLst>
      <p:ext uri="{BB962C8B-B14F-4D97-AF65-F5344CB8AC3E}">
        <p14:creationId xmlns:p14="http://schemas.microsoft.com/office/powerpoint/2010/main" val="2529833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4B8BE6-AB0B-4B05-8071-E597C07A67BC}"/>
              </a:ext>
            </a:extLst>
          </p:cNvPr>
          <p:cNvSpPr/>
          <p:nvPr userDrawn="1"/>
        </p:nvSpPr>
        <p:spPr>
          <a:xfrm flipV="1">
            <a:off x="7514329" y="6663349"/>
            <a:ext cx="4682001" cy="208223"/>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a:extLst>
              <a:ext uri="{FF2B5EF4-FFF2-40B4-BE49-F238E27FC236}">
                <a16:creationId xmlns:a16="http://schemas.microsoft.com/office/drawing/2014/main" id="{11FD1FEC-32C3-4A69-BFBB-AB208EC7C0E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9560410" y="200080"/>
            <a:ext cx="2458817" cy="461296"/>
          </a:xfrm>
          <a:prstGeom prst="rect">
            <a:avLst/>
          </a:prstGeom>
        </p:spPr>
      </p:pic>
      <p:grpSp>
        <p:nvGrpSpPr>
          <p:cNvPr id="4" name="组合 3">
            <a:extLst>
              <a:ext uri="{FF2B5EF4-FFF2-40B4-BE49-F238E27FC236}">
                <a16:creationId xmlns:a16="http://schemas.microsoft.com/office/drawing/2014/main" id="{BCE0EE50-33AD-4752-874B-632B00B6BA7B}"/>
              </a:ext>
            </a:extLst>
          </p:cNvPr>
          <p:cNvGrpSpPr/>
          <p:nvPr userDrawn="1"/>
        </p:nvGrpSpPr>
        <p:grpSpPr>
          <a:xfrm>
            <a:off x="371198" y="790480"/>
            <a:ext cx="9243578" cy="86778"/>
            <a:chOff x="371198" y="681844"/>
            <a:chExt cx="9243578" cy="86778"/>
          </a:xfrm>
        </p:grpSpPr>
        <p:sp>
          <p:nvSpPr>
            <p:cNvPr id="5" name="Rectangle 22">
              <a:extLst>
                <a:ext uri="{FF2B5EF4-FFF2-40B4-BE49-F238E27FC236}">
                  <a16:creationId xmlns:a16="http://schemas.microsoft.com/office/drawing/2014/main" id="{542003DF-EB25-433C-BB07-981A6DDA7AC3}"/>
                </a:ext>
              </a:extLst>
            </p:cNvPr>
            <p:cNvSpPr/>
            <p:nvPr userDrawn="1"/>
          </p:nvSpPr>
          <p:spPr>
            <a:xfrm>
              <a:off x="371198" y="681844"/>
              <a:ext cx="9243578" cy="36000"/>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kumimoji="1" lang="en-US" altLang="en-US" sz="1800" kern="1200">
                <a:solidFill>
                  <a:schemeClr val="lt1"/>
                </a:solidFill>
                <a:latin typeface="+mn-lt"/>
                <a:ea typeface="+mn-ea"/>
                <a:cs typeface="+mn-cs"/>
              </a:endParaRPr>
            </a:p>
          </p:txBody>
        </p:sp>
        <p:sp>
          <p:nvSpPr>
            <p:cNvPr id="6" name="矩形 5">
              <a:extLst>
                <a:ext uri="{FF2B5EF4-FFF2-40B4-BE49-F238E27FC236}">
                  <a16:creationId xmlns:a16="http://schemas.microsoft.com/office/drawing/2014/main" id="{32733669-9299-4DED-976F-C326198AA3EC}"/>
                </a:ext>
              </a:extLst>
            </p:cNvPr>
            <p:cNvSpPr/>
            <p:nvPr userDrawn="1"/>
          </p:nvSpPr>
          <p:spPr>
            <a:xfrm flipV="1">
              <a:off x="375714" y="714622"/>
              <a:ext cx="4682001" cy="54000"/>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7" name="Rectangle 15">
            <a:extLst>
              <a:ext uri="{FF2B5EF4-FFF2-40B4-BE49-F238E27FC236}">
                <a16:creationId xmlns:a16="http://schemas.microsoft.com/office/drawing/2014/main" id="{25CCAA4C-39E2-4318-AEE7-517F2F7E8E67}"/>
              </a:ext>
            </a:extLst>
          </p:cNvPr>
          <p:cNvSpPr>
            <a:spLocks noChangeArrowheads="1"/>
          </p:cNvSpPr>
          <p:nvPr userDrawn="1"/>
        </p:nvSpPr>
        <p:spPr bwMode="auto">
          <a:xfrm>
            <a:off x="11664833" y="6674266"/>
            <a:ext cx="470197" cy="184666"/>
          </a:xfrm>
          <a:prstGeom prst="rect">
            <a:avLst/>
          </a:prstGeom>
          <a:noFill/>
          <a:ln w="9525">
            <a:noFill/>
            <a:miter lim="800000"/>
            <a:headEnd/>
            <a:tailEnd/>
          </a:ln>
          <a:effectLst/>
        </p:spPr>
        <p:txBody>
          <a:bodyPr wrap="square" lIns="0" tIns="0" rIns="0" bIns="0">
            <a:spAutoFit/>
          </a:bodyPr>
          <a:lstStyle/>
          <a:p>
            <a:pPr>
              <a:defRPr/>
            </a:pPr>
            <a:fld id="{D7EC9B45-E750-4B39-9702-90A7DDEB9C68}" type="slidenum">
              <a:rPr kumimoji="0" lang="en-US" altLang="zh-CN" sz="1200" b="0" smtClean="0">
                <a:solidFill>
                  <a:schemeClr val="accent6">
                    <a:lumMod val="40000"/>
                    <a:lumOff val="60000"/>
                  </a:schemeClr>
                </a:solidFill>
                <a:latin typeface="Arial" charset="0"/>
              </a:rPr>
              <a:pPr>
                <a:defRPr/>
              </a:pPr>
              <a:t>‹#›</a:t>
            </a:fld>
            <a:r>
              <a:rPr kumimoji="0" lang="en-US" altLang="zh-CN" sz="1200" b="0" dirty="0">
                <a:solidFill>
                  <a:schemeClr val="accent6">
                    <a:lumMod val="40000"/>
                    <a:lumOff val="60000"/>
                  </a:schemeClr>
                </a:solidFill>
                <a:latin typeface="Arial" charset="0"/>
              </a:rPr>
              <a:t>/27</a:t>
            </a:r>
          </a:p>
        </p:txBody>
      </p:sp>
      <p:pic>
        <p:nvPicPr>
          <p:cNvPr id="8" name="图片 7" descr="合肥工业大学校徽(浮雕).jpg">
            <a:extLst>
              <a:ext uri="{FF2B5EF4-FFF2-40B4-BE49-F238E27FC236}">
                <a16:creationId xmlns:a16="http://schemas.microsoft.com/office/drawing/2014/main" id="{0A1CF316-75C4-4990-BC0D-37EB62A92403}"/>
              </a:ext>
            </a:extLst>
          </p:cNvPr>
          <p:cNvPicPr>
            <a:picLocks noChangeAspect="1"/>
          </p:cNvPicPr>
          <p:nvPr userDrawn="1"/>
        </p:nvPicPr>
        <p:blipFill>
          <a:blip r:embed="rId3" cstate="print"/>
          <a:stretch>
            <a:fillRect/>
          </a:stretch>
        </p:blipFill>
        <p:spPr>
          <a:xfrm>
            <a:off x="3244440" y="898205"/>
            <a:ext cx="5720098" cy="5707330"/>
          </a:xfrm>
          <a:prstGeom prst="rect">
            <a:avLst/>
          </a:prstGeom>
        </p:spPr>
      </p:pic>
    </p:spTree>
    <p:extLst>
      <p:ext uri="{BB962C8B-B14F-4D97-AF65-F5344CB8AC3E}">
        <p14:creationId xmlns:p14="http://schemas.microsoft.com/office/powerpoint/2010/main" val="934451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F8B41F8-5E2D-444B-8EC6-FBEB8D0C70F7}"/>
              </a:ext>
            </a:extLst>
          </p:cNvPr>
          <p:cNvPicPr>
            <a:picLocks noChangeAspect="1"/>
          </p:cNvPicPr>
          <p:nvPr userDrawn="1"/>
        </p:nvPicPr>
        <p:blipFill>
          <a:blip r:embed="rId2" cstate="print">
            <a:duotone>
              <a:prstClr val="black"/>
              <a:srgbClr val="410C07">
                <a:tint val="45000"/>
                <a:satMod val="400000"/>
              </a:srgb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2014" y="5557263"/>
            <a:ext cx="5587549" cy="1435971"/>
          </a:xfrm>
          <a:prstGeom prst="rect">
            <a:avLst/>
          </a:prstGeom>
          <a:ln>
            <a:noFill/>
          </a:ln>
          <a:effectLst/>
        </p:spPr>
      </p:pic>
      <p:pic>
        <p:nvPicPr>
          <p:cNvPr id="9" name="图片 8">
            <a:extLst>
              <a:ext uri="{FF2B5EF4-FFF2-40B4-BE49-F238E27FC236}">
                <a16:creationId xmlns:a16="http://schemas.microsoft.com/office/drawing/2014/main" id="{C4959080-D583-459B-B3F1-56EA575E4274}"/>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42534" r="214" b="7706"/>
          <a:stretch>
            <a:fillRect/>
          </a:stretch>
        </p:blipFill>
        <p:spPr>
          <a:xfrm>
            <a:off x="-14371" y="0"/>
            <a:ext cx="12206371" cy="4057924"/>
          </a:xfrm>
          <a:prstGeom prst="rect">
            <a:avLst/>
          </a:prstGeom>
        </p:spPr>
      </p:pic>
      <p:sp>
        <p:nvSpPr>
          <p:cNvPr id="10" name="文本框 9">
            <a:extLst>
              <a:ext uri="{FF2B5EF4-FFF2-40B4-BE49-F238E27FC236}">
                <a16:creationId xmlns:a16="http://schemas.microsoft.com/office/drawing/2014/main" id="{47B64E18-C1ED-4197-97AF-2E7245FAB5DA}"/>
              </a:ext>
            </a:extLst>
          </p:cNvPr>
          <p:cNvSpPr txBox="1"/>
          <p:nvPr userDrawn="1"/>
        </p:nvSpPr>
        <p:spPr>
          <a:xfrm>
            <a:off x="802532" y="4486890"/>
            <a:ext cx="7196332" cy="830997"/>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字魂105号-简雅黑" panose="00000500000000000000" pitchFamily="2" charset="-122"/>
              </a:rPr>
              <a:t>三创：创新、创意及创业</a:t>
            </a:r>
          </a:p>
        </p:txBody>
      </p:sp>
      <p:grpSp>
        <p:nvGrpSpPr>
          <p:cNvPr id="11" name="组合 10">
            <a:extLst>
              <a:ext uri="{FF2B5EF4-FFF2-40B4-BE49-F238E27FC236}">
                <a16:creationId xmlns:a16="http://schemas.microsoft.com/office/drawing/2014/main" id="{A762B784-F9BA-49F9-9C53-EC4C772DC567}"/>
              </a:ext>
            </a:extLst>
          </p:cNvPr>
          <p:cNvGrpSpPr/>
          <p:nvPr userDrawn="1"/>
        </p:nvGrpSpPr>
        <p:grpSpPr>
          <a:xfrm>
            <a:off x="200377" y="888498"/>
            <a:ext cx="507831" cy="3353324"/>
            <a:chOff x="381322" y="1224343"/>
            <a:chExt cx="507831" cy="3353324"/>
          </a:xfrm>
        </p:grpSpPr>
        <p:sp>
          <p:nvSpPr>
            <p:cNvPr id="12" name="文本框 33">
              <a:extLst>
                <a:ext uri="{FF2B5EF4-FFF2-40B4-BE49-F238E27FC236}">
                  <a16:creationId xmlns:a16="http://schemas.microsoft.com/office/drawing/2014/main" id="{9FB88569-0492-45F9-B753-DEF62939E3E2}"/>
                </a:ext>
              </a:extLst>
            </p:cNvPr>
            <p:cNvSpPr txBox="1"/>
            <p:nvPr/>
          </p:nvSpPr>
          <p:spPr>
            <a:xfrm>
              <a:off x="381322" y="1677524"/>
              <a:ext cx="507831" cy="2900143"/>
            </a:xfrm>
            <a:prstGeom prst="rect">
              <a:avLst/>
            </a:prstGeom>
            <a:noFill/>
          </p:spPr>
          <p:txBody>
            <a:bodyPr vert="eaVert" wrap="square">
              <a:spAutoFit/>
            </a:bodyPr>
            <a:lstStyle/>
            <a:p>
              <a:r>
                <a:rPr lang="en-US" altLang="zh-CN" sz="2100" dirty="0">
                  <a:solidFill>
                    <a:schemeClr val="bg1"/>
                  </a:solidFill>
                  <a:latin typeface="FZCuHeiSongS-B-GB" panose="02000000000000000000" pitchFamily="2" charset="-122"/>
                  <a:ea typeface="FZCuHeiSongS-B-GB" panose="02000000000000000000" pitchFamily="2" charset="-122"/>
                  <a:cs typeface="字魂105号-简雅黑" panose="00000500000000000000" pitchFamily="2" charset="-122"/>
                </a:rPr>
                <a:t>H F U T</a:t>
              </a:r>
              <a:endParaRPr lang="zh-CN" altLang="en-US" sz="2100" dirty="0">
                <a:solidFill>
                  <a:schemeClr val="bg1"/>
                </a:solidFill>
                <a:latin typeface="FZCuHeiSongS-B-GB" panose="02000000000000000000" pitchFamily="2" charset="-122"/>
                <a:ea typeface="FZCuHeiSongS-B-GB" panose="02000000000000000000" pitchFamily="2" charset="-122"/>
                <a:cs typeface="字魂105号-简雅黑" panose="00000500000000000000" pitchFamily="2" charset="-122"/>
              </a:endParaRPr>
            </a:p>
          </p:txBody>
        </p:sp>
        <p:cxnSp>
          <p:nvCxnSpPr>
            <p:cNvPr id="13" name="直接连接符 26">
              <a:extLst>
                <a:ext uri="{FF2B5EF4-FFF2-40B4-BE49-F238E27FC236}">
                  <a16:creationId xmlns:a16="http://schemas.microsoft.com/office/drawing/2014/main" id="{18ED9718-17BE-41A4-AABE-04689CFA164B}"/>
                </a:ext>
              </a:extLst>
            </p:cNvPr>
            <p:cNvCxnSpPr/>
            <p:nvPr/>
          </p:nvCxnSpPr>
          <p:spPr>
            <a:xfrm>
              <a:off x="621617" y="1224343"/>
              <a:ext cx="0" cy="314885"/>
            </a:xfrm>
            <a:prstGeom prst="line">
              <a:avLst/>
            </a:prstGeom>
            <a:ln w="76200">
              <a:solidFill>
                <a:srgbClr val="9A0000"/>
              </a:solidFill>
            </a:ln>
          </p:spPr>
          <p:style>
            <a:lnRef idx="1">
              <a:schemeClr val="accent1"/>
            </a:lnRef>
            <a:fillRef idx="0">
              <a:schemeClr val="accent1"/>
            </a:fillRef>
            <a:effectRef idx="0">
              <a:schemeClr val="accent1"/>
            </a:effectRef>
            <a:fontRef idx="minor">
              <a:schemeClr val="tx1"/>
            </a:fontRef>
          </p:style>
        </p:cxnSp>
        <p:cxnSp>
          <p:nvCxnSpPr>
            <p:cNvPr id="14" name="直接连接符 33">
              <a:extLst>
                <a:ext uri="{FF2B5EF4-FFF2-40B4-BE49-F238E27FC236}">
                  <a16:creationId xmlns:a16="http://schemas.microsoft.com/office/drawing/2014/main" id="{DC813AF3-6E63-447E-B526-44D290CE368A}"/>
                </a:ext>
              </a:extLst>
            </p:cNvPr>
            <p:cNvCxnSpPr/>
            <p:nvPr/>
          </p:nvCxnSpPr>
          <p:spPr>
            <a:xfrm>
              <a:off x="621617" y="2861406"/>
              <a:ext cx="0" cy="79672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5" name="矩形 14">
            <a:extLst>
              <a:ext uri="{FF2B5EF4-FFF2-40B4-BE49-F238E27FC236}">
                <a16:creationId xmlns:a16="http://schemas.microsoft.com/office/drawing/2014/main" id="{02BBA0DE-6DF0-46E2-9DA7-ADB81FAAA46C}"/>
              </a:ext>
            </a:extLst>
          </p:cNvPr>
          <p:cNvSpPr/>
          <p:nvPr userDrawn="1"/>
        </p:nvSpPr>
        <p:spPr>
          <a:xfrm>
            <a:off x="8474537" y="-19456"/>
            <a:ext cx="2476006" cy="5446166"/>
          </a:xfrm>
          <a:prstGeom prst="rect">
            <a:avLst/>
          </a:prstGeom>
          <a:solidFill>
            <a:srgbClr val="9A000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F05020202040A0204" pitchFamily="34" charset="-122"/>
              <a:ea typeface="思源黑体 CN Light" panose="020F05020202040A0204" pitchFamily="34" charset="-122"/>
            </a:endParaRPr>
          </a:p>
        </p:txBody>
      </p:sp>
      <p:sp>
        <p:nvSpPr>
          <p:cNvPr id="16" name="矩形 15">
            <a:extLst>
              <a:ext uri="{FF2B5EF4-FFF2-40B4-BE49-F238E27FC236}">
                <a16:creationId xmlns:a16="http://schemas.microsoft.com/office/drawing/2014/main" id="{D2A783AB-868D-4C40-9A34-2242785AB76F}"/>
              </a:ext>
            </a:extLst>
          </p:cNvPr>
          <p:cNvSpPr/>
          <p:nvPr userDrawn="1"/>
        </p:nvSpPr>
        <p:spPr>
          <a:xfrm>
            <a:off x="2910457" y="6831223"/>
            <a:ext cx="8606804" cy="45719"/>
          </a:xfrm>
          <a:prstGeom prst="rect">
            <a:avLst/>
          </a:prstGeom>
          <a:solidFill>
            <a:srgbClr val="9A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Light" panose="020F05020202040A0204" pitchFamily="34" charset="-122"/>
              <a:ea typeface="思源黑体 CN Light" panose="020F05020202040A0204" pitchFamily="34" charset="-122"/>
            </a:endParaRPr>
          </a:p>
        </p:txBody>
      </p:sp>
      <p:sp>
        <p:nvSpPr>
          <p:cNvPr id="18" name="椭圆 17">
            <a:extLst>
              <a:ext uri="{FF2B5EF4-FFF2-40B4-BE49-F238E27FC236}">
                <a16:creationId xmlns:a16="http://schemas.microsoft.com/office/drawing/2014/main" id="{BCCEA69A-E349-436F-878B-3F127B166459}"/>
              </a:ext>
            </a:extLst>
          </p:cNvPr>
          <p:cNvSpPr/>
          <p:nvPr userDrawn="1"/>
        </p:nvSpPr>
        <p:spPr>
          <a:xfrm>
            <a:off x="9238189" y="4857986"/>
            <a:ext cx="1085850" cy="1085850"/>
          </a:xfrm>
          <a:prstGeom prst="ellipse">
            <a:avLst/>
          </a:prstGeom>
          <a:solidFill>
            <a:schemeClr val="bg1"/>
          </a:solidFill>
          <a:ln>
            <a:noFill/>
          </a:ln>
          <a:effectLst>
            <a:outerShdw blurRad="203200" dist="139700" dir="5820000" sx="104000" sy="104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B792BEFE-B49E-4BDD-A42B-E91D6A838F7F}"/>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l="321" r="321"/>
          <a:stretch>
            <a:fillRect/>
          </a:stretch>
        </p:blipFill>
        <p:spPr>
          <a:xfrm>
            <a:off x="9235808" y="4864604"/>
            <a:ext cx="1085850" cy="1085850"/>
          </a:xfrm>
          <a:prstGeom prst="ellipse">
            <a:avLst/>
          </a:prstGeom>
        </p:spPr>
      </p:pic>
      <p:pic>
        <p:nvPicPr>
          <p:cNvPr id="20" name="图片 19">
            <a:extLst>
              <a:ext uri="{FF2B5EF4-FFF2-40B4-BE49-F238E27FC236}">
                <a16:creationId xmlns:a16="http://schemas.microsoft.com/office/drawing/2014/main" id="{30347E13-95B0-4580-B026-4510D9EAAE15}"/>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8806025" y="6019182"/>
            <a:ext cx="1950177" cy="537838"/>
          </a:xfrm>
          <a:prstGeom prst="rect">
            <a:avLst/>
          </a:prstGeom>
        </p:spPr>
      </p:pic>
      <p:sp>
        <p:nvSpPr>
          <p:cNvPr id="21" name="WordArt 6">
            <a:extLst>
              <a:ext uri="{FF2B5EF4-FFF2-40B4-BE49-F238E27FC236}">
                <a16:creationId xmlns:a16="http://schemas.microsoft.com/office/drawing/2014/main" id="{EF7AC735-1C9D-4F54-86A6-51F365CC873D}"/>
              </a:ext>
            </a:extLst>
          </p:cNvPr>
          <p:cNvSpPr>
            <a:spLocks noChangeArrowheads="1" noChangeShapeType="1" noTextEdit="1"/>
          </p:cNvSpPr>
          <p:nvPr userDrawn="1"/>
        </p:nvSpPr>
        <p:spPr bwMode="auto">
          <a:xfrm>
            <a:off x="8607252" y="1651914"/>
            <a:ext cx="2215297" cy="2041864"/>
          </a:xfrm>
          <a:prstGeom prst="rect">
            <a:avLst/>
          </a:prstGeom>
        </p:spPr>
        <p:txBody>
          <a:bodyPr wrap="none" fromWordArt="1">
            <a:prstTxWarp prst="textPlain">
              <a:avLst>
                <a:gd name="adj" fmla="val 49824"/>
              </a:avLst>
            </a:prstTxWarp>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50000"/>
              </a:lnSpc>
            </a:pPr>
            <a:r>
              <a:rPr lang="zh-CN" altLang="en-US" sz="3600" b="1" kern="10"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行楷" pitchFamily="2" charset="-122"/>
                <a:ea typeface="华文行楷" pitchFamily="2" charset="-122"/>
              </a:rPr>
              <a:t>新知识</a:t>
            </a:r>
            <a:endParaRPr lang="en-US" altLang="zh-CN" sz="3600" b="1" kern="10"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行楷" pitchFamily="2" charset="-122"/>
              <a:ea typeface="华文行楷" pitchFamily="2" charset="-122"/>
            </a:endParaRPr>
          </a:p>
          <a:p>
            <a:pPr>
              <a:lnSpc>
                <a:spcPct val="150000"/>
              </a:lnSpc>
            </a:pPr>
            <a:r>
              <a:rPr lang="zh-CN" altLang="en-US" sz="3600" b="1" kern="10"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行楷" pitchFamily="2" charset="-122"/>
                <a:ea typeface="华文行楷" pitchFamily="2" charset="-122"/>
              </a:rPr>
              <a:t>新能力</a:t>
            </a:r>
          </a:p>
        </p:txBody>
      </p:sp>
      <p:sp>
        <p:nvSpPr>
          <p:cNvPr id="22" name="矩形 21">
            <a:extLst>
              <a:ext uri="{FF2B5EF4-FFF2-40B4-BE49-F238E27FC236}">
                <a16:creationId xmlns:a16="http://schemas.microsoft.com/office/drawing/2014/main" id="{9277A787-9216-4F22-B343-BA015E5E35CD}"/>
              </a:ext>
            </a:extLst>
          </p:cNvPr>
          <p:cNvSpPr/>
          <p:nvPr userDrawn="1"/>
        </p:nvSpPr>
        <p:spPr>
          <a:xfrm>
            <a:off x="5668781" y="5488049"/>
            <a:ext cx="2031325" cy="461665"/>
          </a:xfrm>
          <a:prstGeom prst="rect">
            <a:avLst/>
          </a:prstGeom>
          <a:noFill/>
          <a:ln>
            <a:noFill/>
          </a:ln>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2400" b="1" kern="1200" dirty="0">
                <a:solidFill>
                  <a:srgbClr val="C00000"/>
                </a:solidFill>
                <a:latin typeface="华文仿宋" pitchFamily="2" charset="-122"/>
                <a:ea typeface="华文仿宋" pitchFamily="2" charset="-122"/>
                <a:cs typeface="思源黑体 CN Medium" panose="020B0600000000000000" charset="-122"/>
              </a:rPr>
              <a:t>主讲人：代宝</a:t>
            </a:r>
          </a:p>
        </p:txBody>
      </p:sp>
      <p:sp>
        <p:nvSpPr>
          <p:cNvPr id="23" name="文本框 28">
            <a:extLst>
              <a:ext uri="{FF2B5EF4-FFF2-40B4-BE49-F238E27FC236}">
                <a16:creationId xmlns:a16="http://schemas.microsoft.com/office/drawing/2014/main" id="{9C8608A6-569F-4993-AC5D-EF93A989EFCB}"/>
              </a:ext>
            </a:extLst>
          </p:cNvPr>
          <p:cNvSpPr txBox="1"/>
          <p:nvPr userDrawn="1"/>
        </p:nvSpPr>
        <p:spPr>
          <a:xfrm>
            <a:off x="5848464" y="6041880"/>
            <a:ext cx="1671960" cy="307777"/>
          </a:xfrm>
          <a:prstGeom prst="rect">
            <a:avLst/>
          </a:prstGeom>
          <a:noFill/>
        </p:spPr>
        <p:txBody>
          <a:bodyPr wrap="square" lIns="0" tIns="0" rIns="0" bIns="0" rtlCol="0">
            <a:spAutoFit/>
          </a:bodyPr>
          <a:lstStyle/>
          <a:p>
            <a:pPr algn="ctr"/>
            <a:fld id="{D06CBC9D-0031-4AB9-99F8-1E14D50E9075}" type="datetime2">
              <a:rPr lang="zh-CN" altLang="en-US" sz="2000" b="1" kern="1200" smtClean="0">
                <a:solidFill>
                  <a:srgbClr val="C00000"/>
                </a:solidFill>
                <a:latin typeface="华文仿宋" pitchFamily="2" charset="-122"/>
                <a:ea typeface="华文仿宋" pitchFamily="2" charset="-122"/>
                <a:cs typeface="Arial" pitchFamily="34" charset="0"/>
              </a:rPr>
              <a:pPr algn="ctr"/>
              <a:t>2024年5月8日</a:t>
            </a:fld>
            <a:endParaRPr lang="zh-CN" altLang="en-US" sz="2400" b="1" kern="1200" dirty="0">
              <a:solidFill>
                <a:srgbClr val="C00000"/>
              </a:solidFill>
              <a:latin typeface="华文仿宋" pitchFamily="2" charset="-122"/>
              <a:ea typeface="华文仿宋" pitchFamily="2" charset="-122"/>
              <a:cs typeface="Arial" pitchFamily="34" charset="0"/>
            </a:endParaRPr>
          </a:p>
        </p:txBody>
      </p:sp>
    </p:spTree>
    <p:extLst>
      <p:ext uri="{BB962C8B-B14F-4D97-AF65-F5344CB8AC3E}">
        <p14:creationId xmlns:p14="http://schemas.microsoft.com/office/powerpoint/2010/main" val="241804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5057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82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F272442-5350-4C3F-AF72-0CA68C0ED18D}"/>
              </a:ext>
            </a:extLst>
          </p:cNvPr>
          <p:cNvSpPr/>
          <p:nvPr/>
        </p:nvSpPr>
        <p:spPr>
          <a:xfrm>
            <a:off x="1499421" y="2780910"/>
            <a:ext cx="4301177" cy="707886"/>
          </a:xfrm>
          <a:prstGeom prst="rect">
            <a:avLst/>
          </a:prstGeom>
          <a:noFill/>
        </p:spPr>
        <p:txBody>
          <a:bodyPr wrap="none" lIns="91440" tIns="45720" rIns="91440" bIns="45720">
            <a:spAutoFit/>
          </a:bodyPr>
          <a:lstStyle/>
          <a:p>
            <a:pPr algn="ctr"/>
            <a:r>
              <a:rPr lang="zh-CN" altLang="en-US" sz="4000" b="1" dirty="0">
                <a:ln w="18415" cmpd="sng">
                  <a:solidFill>
                    <a:srgbClr val="FFFFFF"/>
                  </a:solidFill>
                  <a:prstDash val="solid"/>
                </a:ln>
                <a:solidFill>
                  <a:srgbClr val="000066"/>
                </a:solidFill>
                <a:effectLst>
                  <a:outerShdw blurRad="63500" dir="3600000" algn="tl" rotWithShape="0">
                    <a:srgbClr val="000000">
                      <a:alpha val="70000"/>
                    </a:srgbClr>
                  </a:outerShdw>
                </a:effectLst>
                <a:latin typeface="黑体" panose="02010609060101010101" pitchFamily="49" charset="-122"/>
                <a:ea typeface="黑体" panose="02010609060101010101" pitchFamily="49" charset="-122"/>
                <a:cs typeface="思源黑体 CN Medium" panose="020B0600000000000000" charset="-122"/>
              </a:rPr>
              <a:t>创新创业案例评析</a:t>
            </a:r>
          </a:p>
        </p:txBody>
      </p:sp>
    </p:spTree>
    <p:extLst>
      <p:ext uri="{BB962C8B-B14F-4D97-AF65-F5344CB8AC3E}">
        <p14:creationId xmlns:p14="http://schemas.microsoft.com/office/powerpoint/2010/main" val="2579246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a:spLocks noChangeArrowheads="1"/>
          </p:cNvSpPr>
          <p:nvPr/>
        </p:nvSpPr>
        <p:spPr bwMode="auto">
          <a:xfrm>
            <a:off x="751876" y="1251153"/>
            <a:ext cx="10688248" cy="830997"/>
          </a:xfrm>
          <a:prstGeom prst="rect">
            <a:avLst/>
          </a:prstGeom>
          <a:noFill/>
          <a:ln w="9525">
            <a:noFill/>
            <a:miter lim="800000"/>
            <a:headEnd/>
            <a:tailEnd/>
          </a:ln>
        </p:spPr>
        <p:txBody>
          <a:bodyPr wrap="square" lIns="0" tIns="0" rIns="0" bIns="0" anchor="ctr">
            <a:spAutoFit/>
          </a:bodyPr>
          <a:lstStyle/>
          <a:p>
            <a:pPr algn="ctr">
              <a:defRPr/>
            </a:pPr>
            <a:r>
              <a:rPr lang="zh-CN" altLang="en-US" sz="5400" b="1" kern="0" dirty="0">
                <a:ln w="3175">
                  <a:noFill/>
                  <a:round/>
                  <a:headEnd/>
                  <a:tailEnd/>
                </a:ln>
                <a:solidFill>
                  <a:srgbClr val="C00000"/>
                </a:solidFill>
                <a:latin typeface="微软雅黑" pitchFamily="34" charset="-122"/>
                <a:ea typeface="微软雅黑" pitchFamily="34" charset="-122"/>
              </a:rPr>
              <a:t>创新创业案例评析</a:t>
            </a:r>
          </a:p>
        </p:txBody>
      </p:sp>
      <p:sp>
        <p:nvSpPr>
          <p:cNvPr id="5" name="Rectangle 4"/>
          <p:cNvSpPr txBox="1">
            <a:spLocks noChangeArrowheads="1"/>
          </p:cNvSpPr>
          <p:nvPr/>
        </p:nvSpPr>
        <p:spPr bwMode="auto">
          <a:xfrm>
            <a:off x="1259440" y="269738"/>
            <a:ext cx="2816763" cy="512460"/>
          </a:xfrm>
          <a:prstGeom prst="rect">
            <a:avLst/>
          </a:prstGeom>
          <a:noFill/>
          <a:ln>
            <a:miter lim="800000"/>
            <a:headEnd/>
            <a:tailEnd/>
          </a:ln>
        </p:spPr>
        <p:txBody>
          <a:bodyPr vert="horz" wrap="square" lIns="0" tIns="0" rIns="0" bIns="0" numCol="1" anchor="t" anchorCtr="0" compatLnSpc="1">
            <a:prstTxWarp prst="textNoShape">
              <a:avLst/>
            </a:prstTxWarp>
          </a:bodyPr>
          <a:lstStyle/>
          <a:p>
            <a:pPr marL="0" lvl="1">
              <a:buClr>
                <a:srgbClr val="C00000"/>
              </a:buClr>
              <a:buSzPct val="85000"/>
              <a:defRPr/>
            </a:pPr>
            <a:r>
              <a:rPr kumimoji="0" lang="zh-CN" altLang="en-US" sz="3600" b="1" i="0" u="none" strike="noStrike" kern="1200" cap="none" spc="0" normalizeH="0" baseline="0" noProof="0" dirty="0">
                <a:ln>
                  <a:noFill/>
                </a:ln>
                <a:solidFill>
                  <a:srgbClr val="CC0000"/>
                </a:solidFill>
                <a:uLnTx/>
                <a:uFillTx/>
                <a:latin typeface="微软雅黑" pitchFamily="34" charset="-122"/>
                <a:ea typeface="微软雅黑" pitchFamily="34" charset="-122"/>
                <a:cs typeface="+mn-cs"/>
              </a:rPr>
              <a:t>创新创业基础</a:t>
            </a:r>
            <a:endParaRPr kumimoji="0" lang="zh-CN" altLang="en-US" sz="3600" b="1" i="0" u="none" strike="noStrike" kern="1200" cap="none" spc="0" normalizeH="0" baseline="0" noProof="0" dirty="0">
              <a:ln>
                <a:noFill/>
              </a:ln>
              <a:solidFill>
                <a:srgbClr val="CC0000"/>
              </a:solidFill>
              <a:uLnTx/>
              <a:uFillTx/>
              <a:latin typeface="方正粗黑宋简体" pitchFamily="2" charset="-122"/>
              <a:ea typeface="方正粗黑宋简体" pitchFamily="2" charset="-122"/>
              <a:cs typeface="Arial" pitchFamily="34" charset="0"/>
            </a:endParaRPr>
          </a:p>
        </p:txBody>
      </p:sp>
      <p:sp>
        <p:nvSpPr>
          <p:cNvPr id="6" name="Rectangle 4">
            <a:extLst>
              <a:ext uri="{FF2B5EF4-FFF2-40B4-BE49-F238E27FC236}">
                <a16:creationId xmlns:a16="http://schemas.microsoft.com/office/drawing/2014/main" id="{B5039892-4F5D-4D1F-A96A-616EB922304A}"/>
              </a:ext>
            </a:extLst>
          </p:cNvPr>
          <p:cNvSpPr>
            <a:spLocks noChangeArrowheads="1"/>
          </p:cNvSpPr>
          <p:nvPr/>
        </p:nvSpPr>
        <p:spPr bwMode="auto">
          <a:xfrm>
            <a:off x="1150420" y="2324020"/>
            <a:ext cx="9891160" cy="3863715"/>
          </a:xfrm>
          <a:prstGeom prst="rect">
            <a:avLst/>
          </a:prstGeom>
          <a:noFill/>
          <a:ln w="9525">
            <a:noFill/>
            <a:miter lim="800000"/>
          </a:ln>
          <a:effectLst/>
        </p:spPr>
        <p:txBody>
          <a:bodyPr/>
          <a:lstStyle/>
          <a:p>
            <a:pPr marL="609600" indent="-609600" algn="ctr">
              <a:lnSpc>
                <a:spcPct val="130000"/>
              </a:lnSpc>
              <a:spcBef>
                <a:spcPts val="0"/>
              </a:spcBef>
              <a:buClr>
                <a:schemeClr val="hlink"/>
              </a:buClr>
              <a:buSzPct val="75000"/>
              <a:buFont typeface="Wingdings" panose="05000000000000000000" pitchFamily="2" charset="2"/>
              <a:buNone/>
              <a:defRPr/>
            </a:pPr>
            <a:r>
              <a:rPr lang="zh-CN" altLang="en-US" sz="3600" b="1" dirty="0">
                <a:solidFill>
                  <a:srgbClr val="000099"/>
                </a:solidFill>
                <a:latin typeface="华文楷体" pitchFamily="2" charset="-122"/>
                <a:ea typeface="华文楷体" pitchFamily="2" charset="-122"/>
                <a:cs typeface="Arial" pitchFamily="34" charset="0"/>
              </a:rPr>
              <a:t>教学目标和要求</a:t>
            </a:r>
          </a:p>
          <a:p>
            <a:pPr marL="609600" indent="-609600" algn="ctr">
              <a:lnSpc>
                <a:spcPct val="130000"/>
              </a:lnSpc>
              <a:spcBef>
                <a:spcPts val="0"/>
              </a:spcBef>
              <a:buClr>
                <a:schemeClr val="hlink"/>
              </a:buClr>
              <a:buSzPct val="75000"/>
              <a:buFont typeface="Wingdings" panose="05000000000000000000" pitchFamily="2" charset="2"/>
              <a:buNone/>
              <a:defRPr/>
            </a:pPr>
            <a:endParaRPr lang="zh-CN" altLang="en-US" sz="900" b="1" dirty="0">
              <a:solidFill>
                <a:srgbClr val="000066"/>
              </a:solidFill>
              <a:latin typeface="Arial" pitchFamily="34" charset="0"/>
              <a:ea typeface="华文仿宋" pitchFamily="2" charset="-122"/>
              <a:cs typeface="Arial" pitchFamily="34" charset="0"/>
            </a:endParaRPr>
          </a:p>
          <a:p>
            <a:pPr marL="609600" indent="-609600">
              <a:lnSpc>
                <a:spcPct val="130000"/>
              </a:lnSpc>
              <a:spcBef>
                <a:spcPts val="0"/>
              </a:spcBef>
              <a:buClr>
                <a:schemeClr val="hlink"/>
              </a:buClr>
              <a:buSzPct val="75000"/>
              <a:buFont typeface="Wingdings" panose="05000000000000000000" pitchFamily="2" charset="2"/>
              <a:buNone/>
              <a:defRPr/>
            </a:pPr>
            <a:r>
              <a:rPr lang="zh-CN" altLang="en-US" sz="2800" b="1" dirty="0">
                <a:solidFill>
                  <a:srgbClr val="000000"/>
                </a:solidFill>
                <a:latin typeface="Arial" pitchFamily="34" charset="0"/>
                <a:ea typeface="华文仿宋" pitchFamily="2" charset="-122"/>
                <a:cs typeface="Arial" pitchFamily="34" charset="0"/>
              </a:rPr>
              <a:t>（</a:t>
            </a:r>
            <a:r>
              <a:rPr lang="en-US" altLang="zh-CN" sz="2800" b="1" dirty="0">
                <a:solidFill>
                  <a:srgbClr val="000000"/>
                </a:solidFill>
                <a:latin typeface="Arial" pitchFamily="34" charset="0"/>
                <a:ea typeface="华文仿宋" pitchFamily="2" charset="-122"/>
                <a:cs typeface="Arial" pitchFamily="34" charset="0"/>
              </a:rPr>
              <a:t>1</a:t>
            </a:r>
            <a:r>
              <a:rPr lang="zh-CN" altLang="en-US" sz="2800" b="1" dirty="0">
                <a:solidFill>
                  <a:srgbClr val="000000"/>
                </a:solidFill>
                <a:latin typeface="Arial" pitchFamily="34" charset="0"/>
                <a:ea typeface="华文仿宋" pitchFamily="2" charset="-122"/>
                <a:cs typeface="Arial" pitchFamily="34" charset="0"/>
              </a:rPr>
              <a:t>）</a:t>
            </a:r>
            <a:r>
              <a:rPr lang="zh-CN" altLang="en-US" sz="2800" b="1" dirty="0">
                <a:solidFill>
                  <a:srgbClr val="FF0000"/>
                </a:solidFill>
                <a:latin typeface="Arial" pitchFamily="34" charset="0"/>
                <a:ea typeface="华文仿宋" pitchFamily="2" charset="-122"/>
                <a:cs typeface="Arial" pitchFamily="34" charset="0"/>
              </a:rPr>
              <a:t>记忆</a:t>
            </a:r>
            <a:r>
              <a:rPr lang="zh-CN" altLang="en-US" sz="2800" b="1" dirty="0">
                <a:solidFill>
                  <a:srgbClr val="000000"/>
                </a:solidFill>
                <a:latin typeface="Arial" pitchFamily="34" charset="0"/>
                <a:ea typeface="华文仿宋" pitchFamily="2" charset="-122"/>
                <a:cs typeface="Arial" pitchFamily="34" charset="0"/>
              </a:rPr>
              <a:t>案例评析的要点</a:t>
            </a:r>
            <a:endParaRPr lang="en-US" altLang="zh-CN" sz="2800" b="1" dirty="0">
              <a:solidFill>
                <a:srgbClr val="000000"/>
              </a:solidFill>
              <a:latin typeface="Arial" pitchFamily="34" charset="0"/>
              <a:ea typeface="华文仿宋" pitchFamily="2" charset="-122"/>
              <a:cs typeface="Arial" pitchFamily="34" charset="0"/>
            </a:endParaRPr>
          </a:p>
          <a:p>
            <a:pPr marL="609600" indent="-609600">
              <a:lnSpc>
                <a:spcPct val="130000"/>
              </a:lnSpc>
              <a:spcBef>
                <a:spcPts val="0"/>
              </a:spcBef>
              <a:buClr>
                <a:schemeClr val="hlink"/>
              </a:buClr>
              <a:buSzPct val="75000"/>
              <a:buFont typeface="Wingdings" panose="05000000000000000000" pitchFamily="2" charset="2"/>
              <a:buNone/>
              <a:defRPr/>
            </a:pPr>
            <a:r>
              <a:rPr lang="zh-CN" altLang="en-US" sz="2800" b="1" dirty="0">
                <a:solidFill>
                  <a:srgbClr val="000000"/>
                </a:solidFill>
                <a:latin typeface="Arial" pitchFamily="34" charset="0"/>
                <a:ea typeface="华文仿宋" pitchFamily="2" charset="-122"/>
                <a:cs typeface="Arial" pitchFamily="34" charset="0"/>
              </a:rPr>
              <a:t>（</a:t>
            </a:r>
            <a:r>
              <a:rPr lang="en-US" altLang="zh-CN" sz="2800" b="1" dirty="0">
                <a:solidFill>
                  <a:srgbClr val="000000"/>
                </a:solidFill>
                <a:latin typeface="Arial" pitchFamily="34" charset="0"/>
                <a:ea typeface="华文仿宋" pitchFamily="2" charset="-122"/>
                <a:cs typeface="Arial" pitchFamily="34" charset="0"/>
              </a:rPr>
              <a:t>2</a:t>
            </a:r>
            <a:r>
              <a:rPr lang="zh-CN" altLang="en-US" sz="2800" b="1" dirty="0">
                <a:solidFill>
                  <a:srgbClr val="000000"/>
                </a:solidFill>
                <a:latin typeface="Arial" pitchFamily="34" charset="0"/>
                <a:ea typeface="华文仿宋" pitchFamily="2" charset="-122"/>
                <a:cs typeface="Arial" pitchFamily="34" charset="0"/>
              </a:rPr>
              <a:t>）</a:t>
            </a:r>
            <a:r>
              <a:rPr lang="zh-CN" altLang="en-US" sz="2800" b="1" dirty="0">
                <a:solidFill>
                  <a:srgbClr val="FF0000"/>
                </a:solidFill>
                <a:latin typeface="Arial" pitchFamily="34" charset="0"/>
                <a:ea typeface="华文仿宋" pitchFamily="2" charset="-122"/>
                <a:cs typeface="Arial" pitchFamily="34" charset="0"/>
              </a:rPr>
              <a:t>理解</a:t>
            </a:r>
            <a:r>
              <a:rPr lang="zh-CN" altLang="en-US" sz="2800" b="1" dirty="0">
                <a:solidFill>
                  <a:srgbClr val="000000"/>
                </a:solidFill>
                <a:latin typeface="Arial" pitchFamily="34" charset="0"/>
                <a:ea typeface="华文仿宋" pitchFamily="2" charset="-122"/>
                <a:cs typeface="Arial" pitchFamily="34" charset="0"/>
              </a:rPr>
              <a:t>案例评析的流程</a:t>
            </a:r>
            <a:endParaRPr lang="en-US" altLang="zh-CN" sz="2800" b="1" dirty="0">
              <a:solidFill>
                <a:srgbClr val="000000"/>
              </a:solidFill>
              <a:latin typeface="Arial" pitchFamily="34" charset="0"/>
              <a:ea typeface="华文仿宋" pitchFamily="2" charset="-122"/>
              <a:cs typeface="Arial" pitchFamily="34" charset="0"/>
            </a:endParaRPr>
          </a:p>
          <a:p>
            <a:pPr marL="609600" indent="-609600">
              <a:lnSpc>
                <a:spcPct val="130000"/>
              </a:lnSpc>
              <a:spcBef>
                <a:spcPts val="0"/>
              </a:spcBef>
              <a:buClr>
                <a:schemeClr val="hlink"/>
              </a:buClr>
              <a:buSzPct val="75000"/>
              <a:buFont typeface="Wingdings" panose="05000000000000000000" pitchFamily="2" charset="2"/>
              <a:buNone/>
              <a:defRPr/>
            </a:pPr>
            <a:r>
              <a:rPr lang="zh-CN" altLang="en-US" sz="2800" b="1" dirty="0">
                <a:solidFill>
                  <a:srgbClr val="000000"/>
                </a:solidFill>
                <a:latin typeface="Arial" pitchFamily="34" charset="0"/>
                <a:ea typeface="华文仿宋" pitchFamily="2" charset="-122"/>
                <a:cs typeface="Arial" pitchFamily="34" charset="0"/>
              </a:rPr>
              <a:t>（</a:t>
            </a:r>
            <a:r>
              <a:rPr lang="en-US" altLang="zh-CN" sz="2800" b="1" dirty="0">
                <a:solidFill>
                  <a:srgbClr val="000000"/>
                </a:solidFill>
                <a:latin typeface="Arial" pitchFamily="34" charset="0"/>
                <a:ea typeface="华文仿宋" pitchFamily="2" charset="-122"/>
                <a:cs typeface="Arial" pitchFamily="34" charset="0"/>
              </a:rPr>
              <a:t>3</a:t>
            </a:r>
            <a:r>
              <a:rPr lang="zh-CN" altLang="en-US" sz="2800" b="1" dirty="0">
                <a:solidFill>
                  <a:srgbClr val="000000"/>
                </a:solidFill>
                <a:latin typeface="Arial" pitchFamily="34" charset="0"/>
                <a:ea typeface="华文仿宋" pitchFamily="2" charset="-122"/>
                <a:cs typeface="Arial" pitchFamily="34" charset="0"/>
              </a:rPr>
              <a:t>）</a:t>
            </a:r>
            <a:r>
              <a:rPr lang="zh-CN" altLang="en-US" sz="2800" b="1" dirty="0">
                <a:solidFill>
                  <a:srgbClr val="FF0000"/>
                </a:solidFill>
                <a:latin typeface="Arial" pitchFamily="34" charset="0"/>
                <a:ea typeface="华文仿宋" pitchFamily="2" charset="-122"/>
                <a:cs typeface="Arial" pitchFamily="34" charset="0"/>
              </a:rPr>
              <a:t>应用</a:t>
            </a:r>
            <a:r>
              <a:rPr lang="zh-CN" altLang="en-US" sz="2800" b="1" dirty="0">
                <a:solidFill>
                  <a:srgbClr val="000000"/>
                </a:solidFill>
                <a:latin typeface="Arial" pitchFamily="34" charset="0"/>
                <a:ea typeface="华文仿宋" pitchFamily="2" charset="-122"/>
                <a:cs typeface="Arial" pitchFamily="34" charset="0"/>
              </a:rPr>
              <a:t>案例评析方法深化对创新创业理论知识的理解</a:t>
            </a:r>
            <a:endParaRPr lang="en-US" altLang="zh-CN" sz="2800" b="1" dirty="0">
              <a:solidFill>
                <a:srgbClr val="000000"/>
              </a:solidFill>
              <a:latin typeface="Arial" pitchFamily="34" charset="0"/>
              <a:ea typeface="华文仿宋" pitchFamily="2" charset="-122"/>
              <a:cs typeface="Arial" pitchFamily="34" charset="0"/>
            </a:endParaRPr>
          </a:p>
          <a:p>
            <a:pPr marL="609600" indent="-609600">
              <a:lnSpc>
                <a:spcPct val="130000"/>
              </a:lnSpc>
              <a:spcBef>
                <a:spcPts val="0"/>
              </a:spcBef>
              <a:buClr>
                <a:schemeClr val="hlink"/>
              </a:buClr>
              <a:buSzPct val="75000"/>
              <a:buFont typeface="Wingdings" panose="05000000000000000000" pitchFamily="2" charset="2"/>
              <a:buNone/>
              <a:defRPr/>
            </a:pPr>
            <a:r>
              <a:rPr lang="zh-CN" altLang="en-US" sz="2800" b="1" dirty="0">
                <a:solidFill>
                  <a:srgbClr val="000000"/>
                </a:solidFill>
                <a:latin typeface="Arial" pitchFamily="34" charset="0"/>
                <a:ea typeface="华文仿宋" pitchFamily="2" charset="-122"/>
                <a:cs typeface="Arial" pitchFamily="34" charset="0"/>
              </a:rPr>
              <a:t>（</a:t>
            </a:r>
            <a:r>
              <a:rPr lang="en-US" altLang="zh-CN" sz="2800" b="1" dirty="0">
                <a:solidFill>
                  <a:srgbClr val="000000"/>
                </a:solidFill>
                <a:latin typeface="Arial" pitchFamily="34" charset="0"/>
                <a:ea typeface="华文仿宋" pitchFamily="2" charset="-122"/>
                <a:cs typeface="Arial" pitchFamily="34" charset="0"/>
              </a:rPr>
              <a:t>4</a:t>
            </a:r>
            <a:r>
              <a:rPr lang="zh-CN" altLang="en-US" sz="2800" b="1" dirty="0">
                <a:solidFill>
                  <a:srgbClr val="000000"/>
                </a:solidFill>
                <a:latin typeface="Arial" pitchFamily="34" charset="0"/>
                <a:ea typeface="华文仿宋" pitchFamily="2" charset="-122"/>
                <a:cs typeface="Arial" pitchFamily="34" charset="0"/>
              </a:rPr>
              <a:t>）</a:t>
            </a:r>
            <a:r>
              <a:rPr lang="zh-CN" altLang="en-US" sz="2800" b="1" dirty="0">
                <a:solidFill>
                  <a:srgbClr val="FF0000"/>
                </a:solidFill>
                <a:latin typeface="Arial" pitchFamily="34" charset="0"/>
                <a:ea typeface="华文仿宋" pitchFamily="2" charset="-122"/>
                <a:cs typeface="Arial" pitchFamily="34" charset="0"/>
              </a:rPr>
              <a:t>分析和评价</a:t>
            </a:r>
            <a:r>
              <a:rPr lang="zh-CN" altLang="en-US" sz="2800" b="1" dirty="0">
                <a:solidFill>
                  <a:srgbClr val="000000"/>
                </a:solidFill>
                <a:latin typeface="Arial" pitchFamily="34" charset="0"/>
                <a:ea typeface="华文仿宋" pitchFamily="2" charset="-122"/>
                <a:cs typeface="Arial" pitchFamily="34" charset="0"/>
              </a:rPr>
              <a:t>创新创业案例的优点和不足</a:t>
            </a:r>
            <a:endParaRPr lang="en-US" altLang="zh-CN" sz="2800" b="1" dirty="0">
              <a:solidFill>
                <a:srgbClr val="000000"/>
              </a:solidFill>
              <a:latin typeface="Arial" pitchFamily="34" charset="0"/>
              <a:ea typeface="华文仿宋" pitchFamily="2" charset="-122"/>
              <a:cs typeface="Arial" pitchFamily="34" charset="0"/>
            </a:endParaRPr>
          </a:p>
          <a:p>
            <a:pPr marL="609600" indent="-609600">
              <a:lnSpc>
                <a:spcPct val="130000"/>
              </a:lnSpc>
              <a:spcBef>
                <a:spcPts val="0"/>
              </a:spcBef>
              <a:buClr>
                <a:schemeClr val="hlink"/>
              </a:buClr>
              <a:buSzPct val="75000"/>
              <a:buFont typeface="Wingdings" panose="05000000000000000000" pitchFamily="2" charset="2"/>
              <a:buNone/>
              <a:defRPr/>
            </a:pPr>
            <a:r>
              <a:rPr lang="zh-CN" altLang="en-US" sz="2800" b="1" dirty="0">
                <a:solidFill>
                  <a:srgbClr val="000000"/>
                </a:solidFill>
                <a:latin typeface="Arial" pitchFamily="34" charset="0"/>
                <a:ea typeface="华文仿宋" pitchFamily="2" charset="-122"/>
                <a:cs typeface="Arial" pitchFamily="34" charset="0"/>
              </a:rPr>
              <a:t>（</a:t>
            </a:r>
            <a:r>
              <a:rPr lang="en-US" altLang="zh-CN" sz="2800" b="1" dirty="0">
                <a:solidFill>
                  <a:srgbClr val="000000"/>
                </a:solidFill>
                <a:latin typeface="Arial" pitchFamily="34" charset="0"/>
                <a:ea typeface="华文仿宋" pitchFamily="2" charset="-122"/>
                <a:cs typeface="Arial" pitchFamily="34" charset="0"/>
              </a:rPr>
              <a:t>5</a:t>
            </a:r>
            <a:r>
              <a:rPr lang="zh-CN" altLang="en-US" sz="2800" b="1" dirty="0">
                <a:solidFill>
                  <a:srgbClr val="000000"/>
                </a:solidFill>
                <a:latin typeface="Arial" pitchFamily="34" charset="0"/>
                <a:ea typeface="华文仿宋" pitchFamily="2" charset="-122"/>
                <a:cs typeface="Arial" pitchFamily="34" charset="0"/>
              </a:rPr>
              <a:t>）</a:t>
            </a:r>
            <a:r>
              <a:rPr lang="zh-CN" altLang="en-US" sz="2800" b="1" dirty="0">
                <a:solidFill>
                  <a:srgbClr val="FF0000"/>
                </a:solidFill>
                <a:latin typeface="Arial" pitchFamily="34" charset="0"/>
                <a:ea typeface="华文仿宋" pitchFamily="2" charset="-122"/>
                <a:cs typeface="Arial" pitchFamily="34" charset="0"/>
              </a:rPr>
              <a:t>争取创造</a:t>
            </a:r>
            <a:r>
              <a:rPr lang="zh-CN" altLang="en-US" sz="2800" b="1" dirty="0">
                <a:solidFill>
                  <a:srgbClr val="000000"/>
                </a:solidFill>
                <a:latin typeface="Arial" pitchFamily="34" charset="0"/>
                <a:ea typeface="华文仿宋" pitchFamily="2" charset="-122"/>
                <a:cs typeface="Arial" pitchFamily="34" charset="0"/>
              </a:rPr>
              <a:t>一条基于案例评析的好项目发现途径</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ChangeArrowheads="1"/>
          </p:cNvSpPr>
          <p:nvPr/>
        </p:nvSpPr>
        <p:spPr bwMode="auto">
          <a:xfrm>
            <a:off x="3420534" y="2217662"/>
            <a:ext cx="5350932" cy="4318603"/>
          </a:xfrm>
          <a:prstGeom prst="rect">
            <a:avLst/>
          </a:prstGeom>
          <a:noFill/>
          <a:ln w="9525">
            <a:noFill/>
            <a:miter lim="800000"/>
          </a:ln>
          <a:effectLst/>
        </p:spPr>
        <p:txBody>
          <a:bodyPr/>
          <a:lstStyle/>
          <a:p>
            <a:pPr marL="609600" indent="-609600" algn="ctr">
              <a:lnSpc>
                <a:spcPct val="130000"/>
              </a:lnSpc>
              <a:buClr>
                <a:schemeClr val="hlink"/>
              </a:buClr>
              <a:buSzPct val="75000"/>
              <a:defRPr/>
            </a:pPr>
            <a:r>
              <a:rPr lang="zh-CN" altLang="en-US" sz="2800" b="1" dirty="0">
                <a:solidFill>
                  <a:srgbClr val="000099"/>
                </a:solidFill>
                <a:latin typeface="华文楷体" pitchFamily="2" charset="-122"/>
                <a:ea typeface="华文楷体" pitchFamily="2" charset="-122"/>
                <a:cs typeface="Arial" pitchFamily="34" charset="0"/>
              </a:rPr>
              <a:t>主要内容</a:t>
            </a:r>
          </a:p>
          <a:p>
            <a:pPr indent="457200">
              <a:lnSpc>
                <a:spcPct val="130000"/>
              </a:lnSpc>
              <a:spcBef>
                <a:spcPct val="20000"/>
              </a:spcBef>
              <a:buClr>
                <a:schemeClr val="hlink"/>
              </a:buClr>
              <a:buSzPct val="75000"/>
              <a:buFont typeface="Wingdings" panose="05000000000000000000" pitchFamily="2" charset="2"/>
              <a:buNone/>
              <a:defRPr/>
            </a:pPr>
            <a:r>
              <a:rPr lang="en-US" altLang="en-US"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A.1</a:t>
            </a:r>
            <a:r>
              <a:rPr lang="en-US"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任务布置</a:t>
            </a:r>
          </a:p>
          <a:p>
            <a:pPr indent="457200">
              <a:lnSpc>
                <a:spcPct val="130000"/>
              </a:lnSpc>
              <a:spcBef>
                <a:spcPct val="20000"/>
              </a:spcBef>
              <a:buClr>
                <a:schemeClr val="hlink"/>
              </a:buClr>
              <a:buSzPct val="75000"/>
              <a:buFont typeface="Wingdings" panose="05000000000000000000" pitchFamily="2" charset="2"/>
              <a:buNone/>
              <a:defRPr/>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A.2</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案例分析报告撰写</a:t>
            </a:r>
          </a:p>
          <a:p>
            <a:pPr indent="457200">
              <a:lnSpc>
                <a:spcPct val="130000"/>
              </a:lnSpc>
              <a:spcBef>
                <a:spcPct val="20000"/>
              </a:spcBef>
              <a:buClr>
                <a:schemeClr val="hlink"/>
              </a:buClr>
              <a:buSzPct val="75000"/>
              <a:defRPr/>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翻转课堂的组织</a:t>
            </a:r>
            <a:endPar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indent="457200">
              <a:lnSpc>
                <a:spcPct val="130000"/>
              </a:lnSpc>
              <a:spcBef>
                <a:spcPct val="20000"/>
              </a:spcBef>
              <a:buClr>
                <a:schemeClr val="hlink"/>
              </a:buClr>
              <a:buSzPct val="75000"/>
              <a:defRPr/>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A.4</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最终成绩评定</a:t>
            </a:r>
            <a:endPar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p>
            <a:pPr indent="457200">
              <a:lnSpc>
                <a:spcPct val="130000"/>
              </a:lnSpc>
              <a:spcBef>
                <a:spcPct val="20000"/>
              </a:spcBef>
              <a:buClr>
                <a:schemeClr val="hlink"/>
              </a:buClr>
              <a:buSzPct val="75000"/>
              <a:defRPr/>
            </a:pPr>
            <a:r>
              <a:rPr lang="en-US" altLang="zh-CN" sz="3200" b="1" dirty="0" err="1">
                <a:solidFill>
                  <a:srgbClr val="000000"/>
                </a:solidFill>
                <a:latin typeface="Arial" panose="020B0604020202020204" pitchFamily="34" charset="0"/>
                <a:ea typeface="微软雅黑" panose="020B0503020204020204" pitchFamily="34" charset="-122"/>
                <a:cs typeface="Arial" panose="020B0604020202020204" pitchFamily="34" charset="0"/>
              </a:rPr>
              <a:t>A.5</a:t>
            </a:r>
            <a:r>
              <a:rPr lang="en-US"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zh-CN" sz="3200" b="1" dirty="0">
                <a:solidFill>
                  <a:srgbClr val="000000"/>
                </a:solidFill>
                <a:latin typeface="Arial" panose="020B0604020202020204" pitchFamily="34" charset="0"/>
                <a:ea typeface="微软雅黑" panose="020B0503020204020204" pitchFamily="34" charset="-122"/>
                <a:cs typeface="Arial" panose="020B0604020202020204" pitchFamily="34" charset="0"/>
              </a:rPr>
              <a:t>资料归档</a:t>
            </a:r>
            <a:endParaRPr lang="zh-CN" altLang="en-US" sz="32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Rectangle 4"/>
          <p:cNvSpPr txBox="1">
            <a:spLocks noChangeArrowheads="1"/>
          </p:cNvSpPr>
          <p:nvPr/>
        </p:nvSpPr>
        <p:spPr bwMode="auto">
          <a:xfrm>
            <a:off x="1259440" y="269738"/>
            <a:ext cx="2816763" cy="501444"/>
          </a:xfrm>
          <a:prstGeom prst="rect">
            <a:avLst/>
          </a:prstGeom>
          <a:noFill/>
          <a:ln>
            <a:miter lim="800000"/>
            <a:headEnd/>
            <a:tailEnd/>
          </a:ln>
        </p:spPr>
        <p:txBody>
          <a:bodyPr vert="horz" wrap="square" lIns="0" tIns="0" rIns="0" bIns="0" numCol="1" anchor="t" anchorCtr="0" compatLnSpc="1">
            <a:prstTxWarp prst="textNoShape">
              <a:avLst/>
            </a:prstTxWarp>
          </a:bodyPr>
          <a:lstStyle/>
          <a:p>
            <a:pPr marL="0" lvl="1">
              <a:buClr>
                <a:srgbClr val="C00000"/>
              </a:buClr>
              <a:buSzPct val="85000"/>
              <a:defRPr/>
            </a:pPr>
            <a:r>
              <a:rPr kumimoji="0" lang="zh-CN" altLang="en-US" sz="3600" b="1" i="0" u="none" strike="noStrike" kern="1200" cap="none" spc="0" normalizeH="0" baseline="0" noProof="0" dirty="0">
                <a:ln>
                  <a:noFill/>
                </a:ln>
                <a:solidFill>
                  <a:srgbClr val="CC0000"/>
                </a:solidFill>
                <a:uLnTx/>
                <a:uFillTx/>
                <a:latin typeface="微软雅黑" pitchFamily="34" charset="-122"/>
                <a:ea typeface="微软雅黑" pitchFamily="34" charset="-122"/>
                <a:cs typeface="+mn-cs"/>
              </a:rPr>
              <a:t>创新创业基础</a:t>
            </a:r>
            <a:endParaRPr kumimoji="0" lang="zh-CN" altLang="en-US" sz="3600" b="1" i="0" u="none" strike="noStrike" kern="1200" cap="none" spc="0" normalizeH="0" baseline="0" noProof="0" dirty="0">
              <a:ln>
                <a:noFill/>
              </a:ln>
              <a:solidFill>
                <a:srgbClr val="CC0000"/>
              </a:solidFill>
              <a:uLnTx/>
              <a:uFillTx/>
              <a:latin typeface="方正粗黑宋简体" pitchFamily="2" charset="-122"/>
              <a:ea typeface="方正粗黑宋简体" pitchFamily="2" charset="-122"/>
              <a:cs typeface="Arial" pitchFamily="34" charset="0"/>
            </a:endParaRPr>
          </a:p>
        </p:txBody>
      </p:sp>
      <p:sp>
        <p:nvSpPr>
          <p:cNvPr id="5" name="Rectangle 8">
            <a:extLst>
              <a:ext uri="{FF2B5EF4-FFF2-40B4-BE49-F238E27FC236}">
                <a16:creationId xmlns:a16="http://schemas.microsoft.com/office/drawing/2014/main" id="{D23A30B1-2653-4AEB-BB81-D46E9F295680}"/>
              </a:ext>
            </a:extLst>
          </p:cNvPr>
          <p:cNvSpPr>
            <a:spLocks noChangeArrowheads="1"/>
          </p:cNvSpPr>
          <p:nvPr/>
        </p:nvSpPr>
        <p:spPr bwMode="auto">
          <a:xfrm>
            <a:off x="751876" y="1251153"/>
            <a:ext cx="10688248" cy="830997"/>
          </a:xfrm>
          <a:prstGeom prst="rect">
            <a:avLst/>
          </a:prstGeom>
          <a:noFill/>
          <a:ln w="9525">
            <a:noFill/>
            <a:miter lim="800000"/>
            <a:headEnd/>
            <a:tailEnd/>
          </a:ln>
        </p:spPr>
        <p:txBody>
          <a:bodyPr wrap="square" lIns="0" tIns="0" rIns="0" bIns="0" anchor="ctr">
            <a:spAutoFit/>
          </a:bodyPr>
          <a:lstStyle/>
          <a:p>
            <a:pPr algn="ctr">
              <a:defRPr/>
            </a:pPr>
            <a:r>
              <a:rPr lang="zh-CN" altLang="en-US" sz="5400" b="1" kern="0" dirty="0">
                <a:ln w="3175">
                  <a:noFill/>
                  <a:round/>
                  <a:headEnd/>
                  <a:tailEnd/>
                </a:ln>
                <a:solidFill>
                  <a:srgbClr val="C00000"/>
                </a:solidFill>
                <a:latin typeface="微软雅黑" pitchFamily="34" charset="-122"/>
                <a:ea typeface="微软雅黑" pitchFamily="34" charset="-122"/>
              </a:rPr>
              <a:t>创新创业案例评析</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A.1</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任务布置</a:t>
            </a:r>
            <a:endParaRPr lang="zh-CN" altLang="en-US" sz="3200" b="1" kern="0" dirty="0">
              <a:ln w="3175">
                <a:noFill/>
                <a:round/>
                <a:headEnd/>
                <a:tailEnd/>
              </a:ln>
              <a:solidFill>
                <a:srgbClr val="C00000"/>
              </a:solidFill>
              <a:latin typeface="Arial" pitchFamily="34" charset="0"/>
              <a:ea typeface="微软雅黑" pitchFamily="34" charset="-122"/>
              <a:cs typeface="Arial" pitchFamily="34" charset="0"/>
            </a:endParaRPr>
          </a:p>
        </p:txBody>
      </p:sp>
      <p:sp>
        <p:nvSpPr>
          <p:cNvPr id="10" name="Rectangle 4">
            <a:extLst>
              <a:ext uri="{FF2B5EF4-FFF2-40B4-BE49-F238E27FC236}">
                <a16:creationId xmlns:a16="http://schemas.microsoft.com/office/drawing/2014/main" id="{D53C53DF-9267-4223-82AA-2621283F4A4D}"/>
              </a:ext>
            </a:extLst>
          </p:cNvPr>
          <p:cNvSpPr txBox="1">
            <a:spLocks noChangeArrowheads="1"/>
          </p:cNvSpPr>
          <p:nvPr/>
        </p:nvSpPr>
        <p:spPr bwMode="auto">
          <a:xfrm>
            <a:off x="587829" y="1478894"/>
            <a:ext cx="11126407" cy="163506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本教学班共分为</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12</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组（</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23-1</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班和</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23-2</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班各分</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6</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个小组，分别为</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01-06</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组和</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07-12</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组），每组</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6</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人左右。每个小组推选</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1</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名组长负责本组的活动组织。</a:t>
            </a:r>
            <a:endParaRPr lang="en-US" altLang="zh-CN" sz="3000" dirty="0">
              <a:latin typeface="方正粗黑宋简体" pitchFamily="2" charset="-122"/>
              <a:ea typeface="方正粗黑宋简体" pitchFamily="2" charset="-122"/>
            </a:endParaRPr>
          </a:p>
        </p:txBody>
      </p:sp>
      <p:sp>
        <p:nvSpPr>
          <p:cNvPr id="11" name="Rectangle 4">
            <a:extLst>
              <a:ext uri="{FF2B5EF4-FFF2-40B4-BE49-F238E27FC236}">
                <a16:creationId xmlns:a16="http://schemas.microsoft.com/office/drawing/2014/main" id="{34F0EEF4-BA07-48B9-ABB6-B1CA6E5F47E6}"/>
              </a:ext>
            </a:extLst>
          </p:cNvPr>
          <p:cNvSpPr txBox="1">
            <a:spLocks noChangeArrowheads="1"/>
          </p:cNvSpPr>
          <p:nvPr/>
        </p:nvSpPr>
        <p:spPr bwMode="auto">
          <a:xfrm>
            <a:off x="501056" y="888628"/>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学生分组</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391371" y="3133031"/>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案例材料发放</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3691467"/>
            <a:ext cx="10884504"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本教学班共使用</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份案例材料，各组案例分析材料如下：</a:t>
            </a:r>
            <a:endParaRPr lang="en-US" altLang="zh-CN" sz="3000" dirty="0">
              <a:latin typeface="方正粗黑宋简体" pitchFamily="2" charset="-122"/>
              <a:ea typeface="方正粗黑宋简体" pitchFamily="2" charset="-122"/>
            </a:endParaRPr>
          </a:p>
        </p:txBody>
      </p:sp>
      <p:graphicFrame>
        <p:nvGraphicFramePr>
          <p:cNvPr id="2" name="表格 1">
            <a:extLst>
              <a:ext uri="{FF2B5EF4-FFF2-40B4-BE49-F238E27FC236}">
                <a16:creationId xmlns:a16="http://schemas.microsoft.com/office/drawing/2014/main" id="{A6A75C68-8A39-44AC-A974-97A3450E0472}"/>
              </a:ext>
            </a:extLst>
          </p:cNvPr>
          <p:cNvGraphicFramePr>
            <a:graphicFrameLocks noGrp="1"/>
          </p:cNvGraphicFramePr>
          <p:nvPr>
            <p:extLst>
              <p:ext uri="{D42A27DB-BD31-4B8C-83A1-F6EECF244321}">
                <p14:modId xmlns:p14="http://schemas.microsoft.com/office/powerpoint/2010/main" val="17581717"/>
              </p:ext>
            </p:extLst>
          </p:nvPr>
        </p:nvGraphicFramePr>
        <p:xfrm>
          <a:off x="587829" y="4413494"/>
          <a:ext cx="11126408" cy="1635060"/>
        </p:xfrm>
        <a:graphic>
          <a:graphicData uri="http://schemas.openxmlformats.org/drawingml/2006/table">
            <a:tbl>
              <a:tblPr firstRow="1" bandRow="1">
                <a:tableStyleId>{616DA210-FB5B-4158-B5E0-FEB733F419BA}</a:tableStyleId>
              </a:tblPr>
              <a:tblGrid>
                <a:gridCol w="2668529">
                  <a:extLst>
                    <a:ext uri="{9D8B030D-6E8A-4147-A177-3AD203B41FA5}">
                      <a16:colId xmlns:a16="http://schemas.microsoft.com/office/drawing/2014/main" val="2994495656"/>
                    </a:ext>
                  </a:extLst>
                </a:gridCol>
                <a:gridCol w="8457879">
                  <a:extLst>
                    <a:ext uri="{9D8B030D-6E8A-4147-A177-3AD203B41FA5}">
                      <a16:colId xmlns:a16="http://schemas.microsoft.com/office/drawing/2014/main" val="1788850741"/>
                    </a:ext>
                  </a:extLst>
                </a:gridCol>
              </a:tblGrid>
              <a:tr h="545020">
                <a:tc>
                  <a:txBody>
                    <a:bodyPr/>
                    <a:lstStyle/>
                    <a:p>
                      <a:pPr algn="ctr"/>
                      <a:r>
                        <a:rPr lang="zh-CN" altLang="en-US" sz="2400" b="1" dirty="0"/>
                        <a:t>组号</a:t>
                      </a:r>
                    </a:p>
                  </a:txBody>
                  <a:tcPr anchor="ctr"/>
                </a:tc>
                <a:tc>
                  <a:txBody>
                    <a:bodyPr/>
                    <a:lstStyle/>
                    <a:p>
                      <a:pPr algn="ctr"/>
                      <a:r>
                        <a:rPr lang="zh-CN" altLang="en-US" sz="2400" b="1" dirty="0"/>
                        <a:t>案例材料</a:t>
                      </a:r>
                    </a:p>
                  </a:txBody>
                  <a:tcPr anchor="ctr"/>
                </a:tc>
                <a:extLst>
                  <a:ext uri="{0D108BD9-81ED-4DB2-BD59-A6C34878D82A}">
                    <a16:rowId xmlns:a16="http://schemas.microsoft.com/office/drawing/2014/main" val="3700392606"/>
                  </a:ext>
                </a:extLst>
              </a:tr>
              <a:tr h="545020">
                <a:tc>
                  <a:txBody>
                    <a:bodyPr/>
                    <a:lstStyle/>
                    <a:p>
                      <a:pPr algn="ctr"/>
                      <a:r>
                        <a:rPr lang="zh-CN" altLang="en-US" sz="2400" b="1" dirty="0"/>
                        <a:t>第</a:t>
                      </a:r>
                      <a:r>
                        <a:rPr lang="en-US" altLang="zh-CN" sz="2400" b="1" dirty="0"/>
                        <a:t>01</a:t>
                      </a:r>
                      <a:r>
                        <a:rPr lang="zh-CN" altLang="en-US" sz="2400" b="1" dirty="0"/>
                        <a:t>组</a:t>
                      </a:r>
                      <a:r>
                        <a:rPr lang="en-US" altLang="zh-CN" sz="2400" b="1" dirty="0"/>
                        <a:t>-</a:t>
                      </a:r>
                      <a:r>
                        <a:rPr lang="zh-CN" altLang="en-US" sz="2400" b="1" dirty="0"/>
                        <a:t>第</a:t>
                      </a:r>
                      <a:r>
                        <a:rPr lang="en-US" altLang="zh-CN" sz="2400" b="1" dirty="0"/>
                        <a:t>06</a:t>
                      </a:r>
                      <a:r>
                        <a:rPr lang="zh-CN" altLang="en-US" sz="2400" b="1" dirty="0"/>
                        <a:t>组</a:t>
                      </a:r>
                    </a:p>
                  </a:txBody>
                  <a:tcPr anchor="ctr"/>
                </a:tc>
                <a:tc>
                  <a:txBody>
                    <a:bodyPr/>
                    <a:lstStyle/>
                    <a:p>
                      <a:pPr algn="l"/>
                      <a:r>
                        <a:rPr lang="en-US" altLang="zh-CN" sz="2400" b="1" dirty="0"/>
                        <a:t>1.</a:t>
                      </a:r>
                      <a:r>
                        <a:rPr lang="zh-CN" altLang="en-US" sz="2400" b="1" dirty="0"/>
                        <a:t>聚散沉浮为哪般？星茂公司创业过程中的人和事</a:t>
                      </a:r>
                    </a:p>
                  </a:txBody>
                  <a:tcPr anchor="ctr"/>
                </a:tc>
                <a:extLst>
                  <a:ext uri="{0D108BD9-81ED-4DB2-BD59-A6C34878D82A}">
                    <a16:rowId xmlns:a16="http://schemas.microsoft.com/office/drawing/2014/main" val="2808149187"/>
                  </a:ext>
                </a:extLst>
              </a:tr>
              <a:tr h="545020">
                <a:tc>
                  <a:txBody>
                    <a:bodyPr/>
                    <a:lstStyle/>
                    <a:p>
                      <a:pPr algn="ctr"/>
                      <a:r>
                        <a:rPr lang="zh-CN" altLang="en-US" sz="2400" b="1" dirty="0"/>
                        <a:t>第</a:t>
                      </a:r>
                      <a:r>
                        <a:rPr lang="en-US" altLang="zh-CN" sz="2400" b="1" dirty="0"/>
                        <a:t>07</a:t>
                      </a:r>
                      <a:r>
                        <a:rPr lang="zh-CN" altLang="en-US" sz="2400" b="1" dirty="0"/>
                        <a:t>组</a:t>
                      </a:r>
                      <a:r>
                        <a:rPr lang="en-US" altLang="zh-CN" sz="2400" b="1" dirty="0"/>
                        <a:t>-</a:t>
                      </a:r>
                      <a:r>
                        <a:rPr lang="zh-CN" altLang="en-US" sz="2400" b="1" dirty="0"/>
                        <a:t>第</a:t>
                      </a:r>
                      <a:r>
                        <a:rPr lang="en-US" altLang="zh-CN" sz="2400" b="1" dirty="0"/>
                        <a:t>12</a:t>
                      </a:r>
                      <a:r>
                        <a:rPr lang="zh-CN" altLang="en-US" sz="2400" b="1" dirty="0"/>
                        <a:t>组</a:t>
                      </a:r>
                    </a:p>
                  </a:txBody>
                  <a:tcPr anchor="ctr"/>
                </a:tc>
                <a:tc>
                  <a:txBody>
                    <a:bodyPr/>
                    <a:lstStyle/>
                    <a:p>
                      <a:pPr algn="l"/>
                      <a:r>
                        <a:rPr lang="en-US" altLang="zh-CN" sz="2400" b="1" dirty="0"/>
                        <a:t>2.</a:t>
                      </a:r>
                      <a:r>
                        <a:rPr lang="zh-CN" altLang="en-US" sz="2400" b="1" dirty="0"/>
                        <a:t>无人驾驶赋能水域环保，欧卡智舶精益创业的“航海时代”</a:t>
                      </a:r>
                    </a:p>
                  </a:txBody>
                  <a:tcPr anchor="ctr"/>
                </a:tc>
                <a:extLst>
                  <a:ext uri="{0D108BD9-81ED-4DB2-BD59-A6C34878D82A}">
                    <a16:rowId xmlns:a16="http://schemas.microsoft.com/office/drawing/2014/main" val="2192369592"/>
                  </a:ext>
                </a:extLst>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A.2</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案例分析报告撰写</a:t>
            </a:r>
          </a:p>
        </p:txBody>
      </p:sp>
      <p:sp>
        <p:nvSpPr>
          <p:cNvPr id="10" name="Rectangle 4">
            <a:extLst>
              <a:ext uri="{FF2B5EF4-FFF2-40B4-BE49-F238E27FC236}">
                <a16:creationId xmlns:a16="http://schemas.microsoft.com/office/drawing/2014/main" id="{D53C53DF-9267-4223-82AA-2621283F4A4D}"/>
              </a:ext>
            </a:extLst>
          </p:cNvPr>
          <p:cNvSpPr txBox="1">
            <a:spLocks noChangeArrowheads="1"/>
          </p:cNvSpPr>
          <p:nvPr/>
        </p:nvSpPr>
        <p:spPr bwMode="auto">
          <a:xfrm>
            <a:off x="587829" y="1590783"/>
            <a:ext cx="11255828" cy="361621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阅读案例材料。各组在接受到案例分析任务后，应认真阅读案例材料，以案例材料为基础进行案例分析。</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marL="0" lvl="2" algn="just">
              <a:lnSpc>
                <a:spcPct val="130000"/>
              </a:lnSpc>
              <a:spcBef>
                <a:spcPts val="200"/>
              </a:spcBef>
              <a:spcAft>
                <a:spcPts val="200"/>
              </a:spcAft>
              <a:buClr>
                <a:srgbClr val="000066"/>
              </a:buClr>
              <a:buSzPct val="85000"/>
              <a:buFont typeface="Wingdings" pitchFamily="2" charset="2"/>
              <a:buChar char="µ"/>
              <a:defRPr/>
            </a:pP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案例分析视角。包括但不限于：创意的形成、创业机会的把握、产品或服务的价值与风险、资源的整合、团队的组建、商业模式、项目的启动与运行等。具体从哪几个视角分析，各组应根据案例材料研究决定，但</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至少包括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2</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个视角</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endParaRPr lang="en-US" altLang="zh-CN" sz="3000" dirty="0">
              <a:latin typeface="方正粗黑宋简体" pitchFamily="2" charset="-122"/>
              <a:ea typeface="方正粗黑宋简体" pitchFamily="2" charset="-122"/>
            </a:endParaRPr>
          </a:p>
        </p:txBody>
      </p:sp>
      <p:sp>
        <p:nvSpPr>
          <p:cNvPr id="11" name="Rectangle 4">
            <a:extLst>
              <a:ext uri="{FF2B5EF4-FFF2-40B4-BE49-F238E27FC236}">
                <a16:creationId xmlns:a16="http://schemas.microsoft.com/office/drawing/2014/main" id="{34F0EEF4-BA07-48B9-ABB6-B1CA6E5F47E6}"/>
              </a:ext>
            </a:extLst>
          </p:cNvPr>
          <p:cNvSpPr txBox="1">
            <a:spLocks noChangeArrowheads="1"/>
          </p:cNvSpPr>
          <p:nvPr/>
        </p:nvSpPr>
        <p:spPr bwMode="auto">
          <a:xfrm>
            <a:off x="501056" y="888628"/>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案例分析</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29217282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A.2</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案例分析报告撰写</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报告撰写</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617123"/>
            <a:ext cx="10884504" cy="497645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报告主要内容</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solidFill>
                  <a:srgbClr val="0000CC"/>
                </a:solidFill>
                <a:latin typeface="微软雅黑" panose="020B0503020204020204" pitchFamily="34" charset="-122"/>
                <a:ea typeface="微软雅黑" panose="020B0503020204020204" pitchFamily="34" charset="-122"/>
              </a:rPr>
              <a:t>案例概述。</a:t>
            </a:r>
            <a:r>
              <a:rPr lang="zh-CN" altLang="en-US" sz="2400" kern="0" dirty="0">
                <a:latin typeface="华文楷体" pitchFamily="2" charset="-122"/>
                <a:ea typeface="华文楷体" pitchFamily="2" charset="-122"/>
              </a:rPr>
              <a:t>简要阐述案例的要点，</a:t>
            </a:r>
            <a:r>
              <a:rPr lang="en-US" altLang="zh-CN" sz="2400" kern="0" dirty="0">
                <a:latin typeface="华文楷体" pitchFamily="2" charset="-122"/>
                <a:ea typeface="华文楷体" pitchFamily="2" charset="-122"/>
              </a:rPr>
              <a:t>200</a:t>
            </a:r>
            <a:r>
              <a:rPr lang="zh-CN" altLang="en-US" sz="2400" kern="0" dirty="0">
                <a:latin typeface="华文楷体" pitchFamily="2" charset="-122"/>
                <a:ea typeface="华文楷体" pitchFamily="2" charset="-122"/>
              </a:rPr>
              <a:t>字左右。</a:t>
            </a:r>
            <a:endParaRPr lang="en-US" altLang="zh-CN" sz="2400" kern="0" dirty="0">
              <a:latin typeface="华文楷体" pitchFamily="2" charset="-122"/>
              <a:ea typeface="华文楷体" pitchFamily="2" charset="-122"/>
            </a:endParaRPr>
          </a:p>
          <a:p>
            <a:pPr lvl="1" indent="-457200" algn="just">
              <a:lnSpc>
                <a:spcPct val="130000"/>
              </a:lnSpc>
              <a:buClr>
                <a:srgbClr val="006600"/>
              </a:buClr>
              <a:buSzPct val="90000"/>
              <a:buFont typeface="Wingdings" pitchFamily="2" charset="2"/>
              <a:buChar char="Ü"/>
              <a:defRPr/>
            </a:pPr>
            <a:r>
              <a:rPr lang="zh-CN" altLang="en-US" sz="2400" kern="0" dirty="0">
                <a:solidFill>
                  <a:srgbClr val="0000CC"/>
                </a:solidFill>
                <a:latin typeface="微软雅黑" panose="020B0503020204020204" pitchFamily="34" charset="-122"/>
                <a:ea typeface="微软雅黑" panose="020B0503020204020204" pitchFamily="34" charset="-122"/>
              </a:rPr>
              <a:t>分析视角</a:t>
            </a:r>
            <a:r>
              <a:rPr lang="en-US" altLang="zh-CN" sz="2400" kern="0" dirty="0">
                <a:solidFill>
                  <a:srgbClr val="0000CC"/>
                </a:solidFill>
                <a:latin typeface="微软雅黑" panose="020B0503020204020204" pitchFamily="34" charset="-122"/>
                <a:ea typeface="微软雅黑" panose="020B0503020204020204" pitchFamily="34" charset="-122"/>
              </a:rPr>
              <a:t>1</a:t>
            </a:r>
            <a:r>
              <a:rPr lang="zh-CN" altLang="en-US" sz="2400" kern="0" dirty="0">
                <a:solidFill>
                  <a:srgbClr val="0000CC"/>
                </a:solidFill>
                <a:latin typeface="微软雅黑" panose="020B0503020204020204" pitchFamily="34" charset="-122"/>
                <a:ea typeface="微软雅黑" panose="020B0503020204020204" pitchFamily="34" charset="-122"/>
              </a:rPr>
              <a:t>到分析视角</a:t>
            </a:r>
            <a:r>
              <a:rPr lang="en-US" altLang="zh-CN" sz="2400" kern="0" dirty="0">
                <a:solidFill>
                  <a:srgbClr val="0000CC"/>
                </a:solidFill>
                <a:latin typeface="微软雅黑" panose="020B0503020204020204" pitchFamily="34" charset="-122"/>
                <a:ea typeface="微软雅黑" panose="020B0503020204020204" pitchFamily="34" charset="-122"/>
              </a:rPr>
              <a:t>n</a:t>
            </a:r>
            <a:r>
              <a:rPr lang="zh-CN" altLang="en-US" sz="2400" kern="0" dirty="0">
                <a:solidFill>
                  <a:srgbClr val="0000CC"/>
                </a:solidFill>
                <a:latin typeface="微软雅黑" panose="020B0503020204020204" pitchFamily="34" charset="-122"/>
                <a:ea typeface="微软雅黑" panose="020B0503020204020204" pitchFamily="34" charset="-122"/>
              </a:rPr>
              <a:t>。</a:t>
            </a:r>
            <a:r>
              <a:rPr lang="zh-CN" altLang="en-US" sz="2400" kern="0" dirty="0">
                <a:latin typeface="楷体" panose="02010609060101010101" pitchFamily="49" charset="-122"/>
                <a:ea typeface="楷体" panose="02010609060101010101" pitchFamily="49" charset="-122"/>
              </a:rPr>
              <a:t>阐明与视角相关的理论依据、分析过程、主要观点</a:t>
            </a:r>
            <a:r>
              <a:rPr lang="en-US" altLang="zh-CN" sz="2400" kern="0" dirty="0">
                <a:latin typeface="楷体" panose="02010609060101010101" pitchFamily="49" charset="-122"/>
                <a:ea typeface="楷体" panose="02010609060101010101" pitchFamily="49" charset="-122"/>
              </a:rPr>
              <a:t>/</a:t>
            </a:r>
            <a:r>
              <a:rPr lang="zh-CN" altLang="en-US" sz="2400" kern="0" dirty="0">
                <a:latin typeface="楷体" panose="02010609060101010101" pitchFamily="49" charset="-122"/>
                <a:ea typeface="楷体" panose="02010609060101010101" pitchFamily="49" charset="-122"/>
              </a:rPr>
              <a:t>结论（鼓励从正反两方面阐述）等。（每个视角</a:t>
            </a:r>
            <a:r>
              <a:rPr lang="en-US" altLang="zh-CN" sz="2400" kern="0" dirty="0">
                <a:latin typeface="楷体" panose="02010609060101010101" pitchFamily="49" charset="-122"/>
                <a:ea typeface="楷体" panose="02010609060101010101" pitchFamily="49" charset="-122"/>
              </a:rPr>
              <a:t>400</a:t>
            </a:r>
            <a:r>
              <a:rPr lang="zh-CN" altLang="en-US" sz="2400" kern="0" dirty="0">
                <a:latin typeface="楷体" panose="02010609060101010101" pitchFamily="49" charset="-122"/>
                <a:ea typeface="楷体" panose="02010609060101010101" pitchFamily="49" charset="-122"/>
              </a:rPr>
              <a:t>字左右）</a:t>
            </a:r>
            <a:endParaRPr lang="en-US" altLang="zh-CN" sz="2400" kern="0" dirty="0">
              <a:latin typeface="楷体" panose="02010609060101010101" pitchFamily="49" charset="-122"/>
              <a:ea typeface="楷体" panose="02010609060101010101" pitchFamily="49" charset="-122"/>
            </a:endParaRPr>
          </a:p>
          <a:p>
            <a:pPr lvl="1" indent="-457200" algn="just">
              <a:lnSpc>
                <a:spcPct val="130000"/>
              </a:lnSpc>
              <a:buClr>
                <a:srgbClr val="006600"/>
              </a:buClr>
              <a:buSzPct val="90000"/>
              <a:buFont typeface="Wingdings" pitchFamily="2" charset="2"/>
              <a:buChar char="Ü"/>
              <a:defRPr/>
            </a:pPr>
            <a:r>
              <a:rPr lang="zh-CN" altLang="en-US" sz="2400" kern="0" dirty="0">
                <a:solidFill>
                  <a:srgbClr val="0000CC"/>
                </a:solidFill>
                <a:latin typeface="微软雅黑" panose="020B0503020204020204" pitchFamily="34" charset="-122"/>
                <a:ea typeface="微软雅黑" panose="020B0503020204020204" pitchFamily="34" charset="-122"/>
              </a:rPr>
              <a:t>反思与启发。</a:t>
            </a:r>
            <a:r>
              <a:rPr lang="zh-CN" altLang="en-US" sz="2400" kern="0" dirty="0">
                <a:latin typeface="楷体" panose="02010609060101010101" pitchFamily="49" charset="-122"/>
                <a:ea typeface="楷体" panose="02010609060101010101" pitchFamily="49" charset="-122"/>
              </a:rPr>
              <a:t>阐述通过对该案例分析，对自己的创新创业活动会有什么启发。（</a:t>
            </a:r>
            <a:r>
              <a:rPr lang="en-US" altLang="zh-CN" sz="2400" kern="0" dirty="0">
                <a:latin typeface="楷体" panose="02010609060101010101" pitchFamily="49" charset="-122"/>
                <a:ea typeface="楷体" panose="02010609060101010101" pitchFamily="49" charset="-122"/>
              </a:rPr>
              <a:t>300</a:t>
            </a:r>
            <a:r>
              <a:rPr lang="zh-CN" altLang="en-US" sz="2400" kern="0" dirty="0">
                <a:latin typeface="楷体" panose="02010609060101010101" pitchFamily="49" charset="-122"/>
                <a:ea typeface="楷体" panose="02010609060101010101" pitchFamily="49" charset="-122"/>
              </a:rPr>
              <a:t>字左右）</a:t>
            </a:r>
            <a:endParaRPr lang="en-US" altLang="zh-CN" sz="2400" kern="0" dirty="0">
              <a:latin typeface="楷体" panose="02010609060101010101" pitchFamily="49" charset="-122"/>
              <a:ea typeface="楷体" panose="02010609060101010101" pitchFamily="49" charset="-122"/>
            </a:endParaRPr>
          </a:p>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报告质量要求</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理论依据充分，分析、判断完整合理，分析视角多样、有创新性；文字简练，逻辑清晰，观点明确，</a:t>
            </a:r>
            <a:r>
              <a:rPr lang="en-US" altLang="zh-CN" sz="2400" kern="0" dirty="0">
                <a:solidFill>
                  <a:srgbClr val="FF0000"/>
                </a:solidFill>
                <a:latin typeface="楷体" panose="02010609060101010101" pitchFamily="49" charset="-122"/>
                <a:ea typeface="楷体" panose="02010609060101010101" pitchFamily="49" charset="-122"/>
              </a:rPr>
              <a:t>1500</a:t>
            </a:r>
            <a:r>
              <a:rPr lang="zh-CN" altLang="en-US" sz="2400" kern="0" dirty="0">
                <a:solidFill>
                  <a:srgbClr val="FF0000"/>
                </a:solidFill>
                <a:latin typeface="楷体" panose="02010609060101010101" pitchFamily="49" charset="-122"/>
                <a:ea typeface="楷体" panose="02010609060101010101" pitchFamily="49" charset="-122"/>
              </a:rPr>
              <a:t>字以内</a:t>
            </a:r>
            <a:r>
              <a:rPr lang="zh-CN" altLang="en-US" sz="2400" kern="0" dirty="0">
                <a:latin typeface="楷体" panose="02010609060101010101" pitchFamily="49" charset="-122"/>
                <a:ea typeface="楷体" panose="02010609060101010101" pitchFamily="49" charset="-122"/>
              </a:rPr>
              <a:t>。</a:t>
            </a:r>
            <a:endParaRPr lang="en-US" altLang="zh-CN" sz="3000" dirty="0">
              <a:latin typeface="方正粗黑宋简体" pitchFamily="2" charset="-122"/>
              <a:ea typeface="方正粗黑宋简体" pitchFamily="2" charset="-122"/>
            </a:endParaRPr>
          </a:p>
        </p:txBody>
      </p:sp>
    </p:spTree>
    <p:extLst>
      <p:ext uri="{BB962C8B-B14F-4D97-AF65-F5344CB8AC3E}">
        <p14:creationId xmlns:p14="http://schemas.microsoft.com/office/powerpoint/2010/main" val="243919615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翻转课堂的组织</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课外</a:t>
            </a:r>
            <a:r>
              <a:rPr lang="en-US" altLang="zh-CN" sz="3200" b="1" dirty="0">
                <a:solidFill>
                  <a:srgbClr val="C00000"/>
                </a:solidFill>
                <a:latin typeface="微软雅黑" pitchFamily="34" charset="-122"/>
                <a:ea typeface="微软雅黑" pitchFamily="34" charset="-122"/>
              </a:rPr>
              <a:t>PPT</a:t>
            </a:r>
            <a:r>
              <a:rPr lang="zh-CN" altLang="en-US" sz="3200" b="1" dirty="0">
                <a:solidFill>
                  <a:srgbClr val="C00000"/>
                </a:solidFill>
                <a:latin typeface="微软雅黑" pitchFamily="34" charset="-122"/>
                <a:ea typeface="微软雅黑" pitchFamily="34" charset="-122"/>
              </a:rPr>
              <a:t>路演</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617123"/>
            <a:ext cx="10884504" cy="497645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PPT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制作</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华文楷体" pitchFamily="2" charset="-122"/>
                <a:ea typeface="华文楷体" pitchFamily="2" charset="-122"/>
              </a:rPr>
              <a:t>各小组制作案例分析</a:t>
            </a:r>
            <a:r>
              <a:rPr lang="en-US" altLang="zh-CN" sz="2400" kern="0" dirty="0">
                <a:latin typeface="华文楷体" pitchFamily="2" charset="-122"/>
                <a:ea typeface="华文楷体" pitchFamily="2" charset="-122"/>
              </a:rPr>
              <a:t>PPT</a:t>
            </a:r>
            <a:r>
              <a:rPr lang="zh-CN" altLang="en-US" sz="2400" kern="0" dirty="0">
                <a:latin typeface="华文楷体" pitchFamily="2" charset="-122"/>
                <a:ea typeface="华文楷体" pitchFamily="2" charset="-122"/>
              </a:rPr>
              <a:t>，要求逻辑清晰，观点明确，</a:t>
            </a:r>
            <a:r>
              <a:rPr lang="en-US" altLang="zh-CN" sz="2400" kern="0" dirty="0">
                <a:latin typeface="华文楷体" pitchFamily="2" charset="-122"/>
                <a:ea typeface="华文楷体" pitchFamily="2" charset="-122"/>
              </a:rPr>
              <a:t>PPT</a:t>
            </a:r>
            <a:r>
              <a:rPr lang="zh-CN" altLang="en-US" sz="2400" kern="0" dirty="0">
                <a:latin typeface="华文楷体" pitchFamily="2" charset="-122"/>
                <a:ea typeface="华文楷体" pitchFamily="2" charset="-122"/>
              </a:rPr>
              <a:t>内容应与分析报告主体内容一致；文字简练，图文并茂，美观大方。</a:t>
            </a:r>
            <a:endParaRPr lang="en-US" altLang="zh-CN" sz="2400" kern="0" dirty="0">
              <a:latin typeface="楷体" panose="02010609060101010101" pitchFamily="49" charset="-122"/>
              <a:ea typeface="楷体" panose="02010609060101010101" pitchFamily="49" charset="-122"/>
            </a:endParaRPr>
          </a:p>
          <a:p>
            <a:pPr marL="0" lvl="2" algn="just">
              <a:lnSpc>
                <a:spcPct val="130000"/>
              </a:lnSpc>
              <a:spcBef>
                <a:spcPts val="200"/>
              </a:spcBef>
              <a:spcAft>
                <a:spcPts val="200"/>
              </a:spcAft>
              <a:buClr>
                <a:srgbClr val="000066"/>
              </a:buClr>
              <a:buSzPct val="85000"/>
              <a:buFont typeface="Wingdings" pitchFamily="2" charset="2"/>
              <a:buChar char="µ"/>
              <a:defRPr/>
            </a:pP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PPT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路演</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按行政班，同学们自行组织</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路演，各班班长为本班路演活动的组织者；每组各推选</a:t>
            </a:r>
            <a:r>
              <a:rPr lang="en-US" altLang="zh-CN" sz="2400" kern="0" dirty="0">
                <a:latin typeface="楷体" panose="02010609060101010101" pitchFamily="49" charset="-122"/>
                <a:ea typeface="楷体" panose="02010609060101010101" pitchFamily="49" charset="-122"/>
              </a:rPr>
              <a:t>1</a:t>
            </a:r>
            <a:r>
              <a:rPr lang="zh-CN" altLang="en-US" sz="2400" kern="0" dirty="0">
                <a:latin typeface="楷体" panose="02010609060101010101" pitchFamily="49" charset="-122"/>
                <a:ea typeface="楷体" panose="02010609060101010101" pitchFamily="49" charset="-122"/>
              </a:rPr>
              <a:t>名同学组成路演评审组。</a:t>
            </a: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各组同学依次汇报</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并接受评审组同学提问，每组至少有</a:t>
            </a:r>
            <a:r>
              <a:rPr lang="en-US" altLang="zh-CN" sz="2400" kern="0" dirty="0">
                <a:latin typeface="楷体" panose="02010609060101010101" pitchFamily="49" charset="-122"/>
                <a:ea typeface="楷体" panose="02010609060101010101" pitchFamily="49" charset="-122"/>
              </a:rPr>
              <a:t>3</a:t>
            </a:r>
            <a:r>
              <a:rPr lang="zh-CN" altLang="en-US" sz="2400" kern="0" dirty="0">
                <a:latin typeface="楷体" panose="02010609060101010101" pitchFamily="49" charset="-122"/>
                <a:ea typeface="楷体" panose="02010609060101010101" pitchFamily="49" charset="-122"/>
              </a:rPr>
              <a:t>名同学上台汇报，汇报时间</a:t>
            </a:r>
            <a:r>
              <a:rPr lang="en-US" altLang="zh-CN" sz="2400" kern="0" dirty="0">
                <a:latin typeface="楷体" panose="02010609060101010101" pitchFamily="49" charset="-122"/>
                <a:ea typeface="楷体" panose="02010609060101010101" pitchFamily="49" charset="-122"/>
              </a:rPr>
              <a:t>6</a:t>
            </a:r>
            <a:r>
              <a:rPr lang="zh-CN" altLang="en-US" sz="2400" kern="0" dirty="0">
                <a:latin typeface="楷体" panose="02010609060101010101" pitchFamily="49" charset="-122"/>
                <a:ea typeface="楷体" panose="02010609060101010101" pitchFamily="49" charset="-122"/>
              </a:rPr>
              <a:t>分钟，提问时间</a:t>
            </a:r>
            <a:r>
              <a:rPr lang="en-US" altLang="zh-CN" sz="2400" kern="0" dirty="0">
                <a:latin typeface="楷体" panose="02010609060101010101" pitchFamily="49" charset="-122"/>
                <a:ea typeface="楷体" panose="02010609060101010101" pitchFamily="49" charset="-122"/>
              </a:rPr>
              <a:t>6</a:t>
            </a:r>
            <a:r>
              <a:rPr lang="zh-CN" altLang="en-US" sz="2400" kern="0" dirty="0">
                <a:latin typeface="楷体" panose="02010609060101010101" pitchFamily="49" charset="-122"/>
                <a:ea typeface="楷体" panose="02010609060101010101" pitchFamily="49" charset="-122"/>
              </a:rPr>
              <a:t>分钟。</a:t>
            </a:r>
            <a:endParaRPr lang="en-US" altLang="zh-CN" sz="3000" dirty="0">
              <a:latin typeface="方正粗黑宋简体" pitchFamily="2" charset="-122"/>
              <a:ea typeface="方正粗黑宋简体" pitchFamily="2" charset="-122"/>
            </a:endParaRPr>
          </a:p>
        </p:txBody>
      </p:sp>
    </p:spTree>
    <p:extLst>
      <p:ext uri="{BB962C8B-B14F-4D97-AF65-F5344CB8AC3E}">
        <p14:creationId xmlns:p14="http://schemas.microsoft.com/office/powerpoint/2010/main" val="71579442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翻转课堂的组织</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课外</a:t>
            </a:r>
            <a:r>
              <a:rPr lang="en-US" altLang="zh-CN" sz="3200" b="1" dirty="0">
                <a:solidFill>
                  <a:srgbClr val="C00000"/>
                </a:solidFill>
                <a:latin typeface="微软雅黑" pitchFamily="34" charset="-122"/>
                <a:ea typeface="微软雅黑" pitchFamily="34" charset="-122"/>
              </a:rPr>
              <a:t>PPT</a:t>
            </a:r>
            <a:r>
              <a:rPr lang="zh-CN" altLang="en-US" sz="3200" b="1" dirty="0">
                <a:solidFill>
                  <a:srgbClr val="C00000"/>
                </a:solidFill>
                <a:latin typeface="微软雅黑" pitchFamily="34" charset="-122"/>
                <a:ea typeface="微软雅黑" pitchFamily="34" charset="-122"/>
              </a:rPr>
              <a:t>路演</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507056"/>
            <a:ext cx="10884504" cy="247227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PPT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路演成绩评定</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所有小组路演结束后，评审组同学</a:t>
            </a:r>
            <a:r>
              <a:rPr lang="zh-CN" altLang="en-US" sz="2400" b="1" kern="0" dirty="0">
                <a:latin typeface="楷体" panose="02010609060101010101" pitchFamily="49" charset="-122"/>
                <a:ea typeface="楷体" panose="02010609060101010101" pitchFamily="49" charset="-122"/>
              </a:rPr>
              <a:t>综合考虑</a:t>
            </a:r>
            <a:r>
              <a:rPr lang="en-US" altLang="zh-CN" sz="2400" b="1" kern="0" dirty="0">
                <a:solidFill>
                  <a:srgbClr val="FF0000"/>
                </a:solidFill>
                <a:latin typeface="楷体" panose="02010609060101010101" pitchFamily="49" charset="-122"/>
                <a:ea typeface="楷体" panose="02010609060101010101" pitchFamily="49" charset="-122"/>
              </a:rPr>
              <a:t>PPT</a:t>
            </a:r>
            <a:r>
              <a:rPr lang="zh-CN" altLang="en-US" sz="2400" b="1" kern="0" dirty="0">
                <a:solidFill>
                  <a:srgbClr val="FF0000"/>
                </a:solidFill>
                <a:latin typeface="楷体" panose="02010609060101010101" pitchFamily="49" charset="-122"/>
                <a:ea typeface="楷体" panose="02010609060101010101" pitchFamily="49" charset="-122"/>
              </a:rPr>
              <a:t>质量、汇报质量、回答提问质量</a:t>
            </a:r>
            <a:r>
              <a:rPr lang="zh-CN" altLang="en-US" sz="2400" b="1" kern="0" dirty="0">
                <a:latin typeface="楷体" panose="02010609060101010101" pitchFamily="49" charset="-122"/>
                <a:ea typeface="楷体" panose="02010609060101010101" pitchFamily="49" charset="-122"/>
              </a:rPr>
              <a:t>，给出独立评价等级</a:t>
            </a:r>
            <a:r>
              <a:rPr lang="zh-CN" altLang="en-US" sz="2400" kern="0" dirty="0">
                <a:latin typeface="楷体" panose="02010609060101010101" pitchFamily="49" charset="-122"/>
                <a:ea typeface="楷体" panose="02010609060101010101" pitchFamily="49" charset="-122"/>
              </a:rPr>
              <a:t>，等级分为</a:t>
            </a:r>
            <a:r>
              <a:rPr lang="en-US" altLang="zh-CN" sz="2400" kern="0" dirty="0">
                <a:latin typeface="楷体" panose="02010609060101010101" pitchFamily="49" charset="-122"/>
                <a:ea typeface="楷体" panose="02010609060101010101" pitchFamily="49" charset="-122"/>
              </a:rPr>
              <a:t>A</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B</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C</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D</a:t>
            </a:r>
            <a:r>
              <a:rPr lang="zh-CN" altLang="en-US" sz="2400" kern="0" dirty="0">
                <a:latin typeface="楷体" panose="02010609060101010101" pitchFamily="49" charset="-122"/>
                <a:ea typeface="楷体" panose="02010609060101010101" pitchFamily="49" charset="-122"/>
              </a:rPr>
              <a:t>，评价完毕后将结果交给班长。</a:t>
            </a:r>
            <a:r>
              <a:rPr lang="zh-CN" altLang="en-US" sz="2400" b="1" kern="0" dirty="0">
                <a:latin typeface="楷体" panose="02010609060101010101" pitchFamily="49" charset="-122"/>
                <a:ea typeface="楷体" panose="02010609060101010101" pitchFamily="49" charset="-122"/>
              </a:rPr>
              <a:t>其中</a:t>
            </a:r>
            <a:r>
              <a:rPr lang="en-US" altLang="zh-CN" sz="2400" b="1" kern="0" dirty="0">
                <a:highlight>
                  <a:srgbClr val="FFFF00"/>
                </a:highlight>
                <a:latin typeface="楷体" panose="02010609060101010101" pitchFamily="49" charset="-122"/>
                <a:ea typeface="楷体" panose="02010609060101010101" pitchFamily="49" charset="-122"/>
              </a:rPr>
              <a:t>A</a:t>
            </a:r>
            <a:r>
              <a:rPr lang="zh-CN" altLang="en-US" sz="2400" b="1" kern="0" dirty="0">
                <a:highlight>
                  <a:srgbClr val="FFFF00"/>
                </a:highlight>
                <a:latin typeface="楷体" panose="02010609060101010101" pitchFamily="49" charset="-122"/>
                <a:ea typeface="楷体" panose="02010609060101010101" pitchFamily="49" charset="-122"/>
              </a:rPr>
              <a:t>等级不超过</a:t>
            </a:r>
            <a:r>
              <a:rPr lang="en-US" altLang="zh-CN" sz="2400" b="1" kern="0" dirty="0">
                <a:highlight>
                  <a:srgbClr val="FFFF00"/>
                </a:highlight>
                <a:latin typeface="楷体" panose="02010609060101010101" pitchFamily="49" charset="-122"/>
                <a:ea typeface="楷体" panose="02010609060101010101" pitchFamily="49" charset="-122"/>
              </a:rPr>
              <a:t>3</a:t>
            </a:r>
            <a:r>
              <a:rPr lang="zh-CN" altLang="en-US" sz="2400" b="1" kern="0" dirty="0">
                <a:highlight>
                  <a:srgbClr val="FFFF00"/>
                </a:highlight>
                <a:latin typeface="楷体" panose="02010609060101010101" pitchFamily="49" charset="-122"/>
                <a:ea typeface="楷体" panose="02010609060101010101" pitchFamily="49" charset="-122"/>
              </a:rPr>
              <a:t>组，</a:t>
            </a:r>
            <a:r>
              <a:rPr lang="en-US" altLang="zh-CN" sz="2400" b="1" kern="0" dirty="0">
                <a:highlight>
                  <a:srgbClr val="FFFF00"/>
                </a:highlight>
                <a:latin typeface="楷体" panose="02010609060101010101" pitchFamily="49" charset="-122"/>
                <a:ea typeface="楷体" panose="02010609060101010101" pitchFamily="49" charset="-122"/>
              </a:rPr>
              <a:t>C</a:t>
            </a:r>
            <a:r>
              <a:rPr lang="zh-CN" altLang="en-US" sz="2400" b="1" kern="0" dirty="0">
                <a:highlight>
                  <a:srgbClr val="FFFF00"/>
                </a:highlight>
                <a:latin typeface="楷体" panose="02010609060101010101" pitchFamily="49" charset="-122"/>
                <a:ea typeface="楷体" panose="02010609060101010101" pitchFamily="49" charset="-122"/>
              </a:rPr>
              <a:t>等级、</a:t>
            </a:r>
            <a:r>
              <a:rPr lang="en-US" altLang="zh-CN" sz="2400" b="1" kern="0" dirty="0">
                <a:highlight>
                  <a:srgbClr val="FFFF00"/>
                </a:highlight>
                <a:latin typeface="楷体" panose="02010609060101010101" pitchFamily="49" charset="-122"/>
                <a:ea typeface="楷体" panose="02010609060101010101" pitchFamily="49" charset="-122"/>
              </a:rPr>
              <a:t>D</a:t>
            </a:r>
            <a:r>
              <a:rPr lang="zh-CN" altLang="en-US" sz="2400" b="1" kern="0" dirty="0">
                <a:highlight>
                  <a:srgbClr val="FFFF00"/>
                </a:highlight>
                <a:latin typeface="楷体" panose="02010609060101010101" pitchFamily="49" charset="-122"/>
                <a:ea typeface="楷体" panose="02010609060101010101" pitchFamily="49" charset="-122"/>
              </a:rPr>
              <a:t>等级不少于</a:t>
            </a:r>
            <a:r>
              <a:rPr lang="en-US" altLang="zh-CN" sz="2400" b="1" kern="0" dirty="0">
                <a:highlight>
                  <a:srgbClr val="FFFF00"/>
                </a:highlight>
                <a:latin typeface="楷体" panose="02010609060101010101" pitchFamily="49" charset="-122"/>
                <a:ea typeface="楷体" panose="02010609060101010101" pitchFamily="49" charset="-122"/>
              </a:rPr>
              <a:t>1</a:t>
            </a:r>
            <a:r>
              <a:rPr lang="zh-CN" altLang="en-US" sz="2400" b="1" kern="0" dirty="0">
                <a:highlight>
                  <a:srgbClr val="FFFF00"/>
                </a:highlight>
                <a:latin typeface="楷体" panose="02010609060101010101" pitchFamily="49" charset="-122"/>
                <a:ea typeface="楷体" panose="02010609060101010101" pitchFamily="49" charset="-122"/>
              </a:rPr>
              <a:t>组</a:t>
            </a:r>
            <a:r>
              <a:rPr lang="zh-CN" altLang="en-US" sz="2400" kern="0" dirty="0">
                <a:latin typeface="楷体" panose="02010609060101010101" pitchFamily="49" charset="-122"/>
                <a:ea typeface="楷体" panose="02010609060101010101" pitchFamily="49" charset="-122"/>
              </a:rPr>
              <a:t>。</a:t>
            </a:r>
            <a:r>
              <a:rPr lang="zh-CN" altLang="en-US" sz="2400" kern="0" dirty="0">
                <a:solidFill>
                  <a:srgbClr val="FF0000"/>
                </a:solidFill>
                <a:latin typeface="楷体" panose="02010609060101010101" pitchFamily="49" charset="-122"/>
                <a:ea typeface="楷体" panose="02010609060101010101" pitchFamily="49" charset="-122"/>
              </a:rPr>
              <a:t>评审组同学给本组路演的成绩固定为</a:t>
            </a:r>
            <a:r>
              <a:rPr lang="en-US" altLang="zh-CN" sz="2400" kern="0" dirty="0">
                <a:solidFill>
                  <a:srgbClr val="FF0000"/>
                </a:solidFill>
                <a:latin typeface="楷体" panose="02010609060101010101" pitchFamily="49" charset="-122"/>
                <a:ea typeface="楷体" panose="02010609060101010101" pitchFamily="49" charset="-122"/>
              </a:rPr>
              <a:t>A</a:t>
            </a:r>
            <a:r>
              <a:rPr lang="zh-CN" altLang="en-US" sz="2400" kern="0" dirty="0">
                <a:solidFill>
                  <a:srgbClr val="FF0000"/>
                </a:solidFill>
                <a:latin typeface="楷体" panose="02010609060101010101" pitchFamily="49" charset="-122"/>
                <a:ea typeface="楷体" panose="02010609060101010101" pitchFamily="49" charset="-122"/>
              </a:rPr>
              <a:t>等级</a:t>
            </a:r>
            <a:r>
              <a:rPr lang="zh-CN" altLang="en-US" sz="2400" kern="0" dirty="0">
                <a:latin typeface="楷体" panose="02010609060101010101" pitchFamily="49" charset="-122"/>
                <a:ea typeface="楷体" panose="02010609060101010101" pitchFamily="49" charset="-122"/>
              </a:rPr>
              <a:t>，包含在</a:t>
            </a:r>
            <a:r>
              <a:rPr lang="en-US" altLang="zh-CN" sz="2400" kern="0" dirty="0">
                <a:latin typeface="楷体" panose="02010609060101010101" pitchFamily="49" charset="-122"/>
                <a:ea typeface="楷体" panose="02010609060101010101" pitchFamily="49" charset="-122"/>
              </a:rPr>
              <a:t>A</a:t>
            </a:r>
            <a:r>
              <a:rPr lang="zh-CN" altLang="en-US" sz="2400" kern="0" dirty="0">
                <a:latin typeface="楷体" panose="02010609060101010101" pitchFamily="49" charset="-122"/>
                <a:ea typeface="楷体" panose="02010609060101010101" pitchFamily="49" charset="-122"/>
              </a:rPr>
              <a:t>等级指标内。</a:t>
            </a:r>
            <a:endParaRPr lang="en-US" altLang="zh-CN" sz="3000" dirty="0">
              <a:latin typeface="方正粗黑宋简体" pitchFamily="2" charset="-122"/>
              <a:ea typeface="方正粗黑宋简体" pitchFamily="2" charset="-122"/>
            </a:endParaRPr>
          </a:p>
        </p:txBody>
      </p:sp>
      <p:graphicFrame>
        <p:nvGraphicFramePr>
          <p:cNvPr id="2" name="表格 1">
            <a:extLst>
              <a:ext uri="{FF2B5EF4-FFF2-40B4-BE49-F238E27FC236}">
                <a16:creationId xmlns:a16="http://schemas.microsoft.com/office/drawing/2014/main" id="{9C86066B-C53B-49CD-A51A-31D1949222ED}"/>
              </a:ext>
            </a:extLst>
          </p:cNvPr>
          <p:cNvGraphicFramePr>
            <a:graphicFrameLocks noGrp="1"/>
          </p:cNvGraphicFramePr>
          <p:nvPr>
            <p:extLst>
              <p:ext uri="{D42A27DB-BD31-4B8C-83A1-F6EECF244321}">
                <p14:modId xmlns:p14="http://schemas.microsoft.com/office/powerpoint/2010/main" val="3842416499"/>
              </p:ext>
            </p:extLst>
          </p:nvPr>
        </p:nvGraphicFramePr>
        <p:xfrm>
          <a:off x="1105989" y="4055532"/>
          <a:ext cx="10366342" cy="2624664"/>
        </p:xfrm>
        <a:graphic>
          <a:graphicData uri="http://schemas.openxmlformats.org/drawingml/2006/table">
            <a:tbl>
              <a:tblPr firstRow="1" firstCol="1" bandRow="1"/>
              <a:tblGrid>
                <a:gridCol w="1622055">
                  <a:extLst>
                    <a:ext uri="{9D8B030D-6E8A-4147-A177-3AD203B41FA5}">
                      <a16:colId xmlns:a16="http://schemas.microsoft.com/office/drawing/2014/main" val="1737733017"/>
                    </a:ext>
                  </a:extLst>
                </a:gridCol>
                <a:gridCol w="1339757">
                  <a:extLst>
                    <a:ext uri="{9D8B030D-6E8A-4147-A177-3AD203B41FA5}">
                      <a16:colId xmlns:a16="http://schemas.microsoft.com/office/drawing/2014/main" val="3926227475"/>
                    </a:ext>
                  </a:extLst>
                </a:gridCol>
                <a:gridCol w="1480906">
                  <a:extLst>
                    <a:ext uri="{9D8B030D-6E8A-4147-A177-3AD203B41FA5}">
                      <a16:colId xmlns:a16="http://schemas.microsoft.com/office/drawing/2014/main" val="2501665542"/>
                    </a:ext>
                  </a:extLst>
                </a:gridCol>
                <a:gridCol w="1480906">
                  <a:extLst>
                    <a:ext uri="{9D8B030D-6E8A-4147-A177-3AD203B41FA5}">
                      <a16:colId xmlns:a16="http://schemas.microsoft.com/office/drawing/2014/main" val="3315916200"/>
                    </a:ext>
                  </a:extLst>
                </a:gridCol>
                <a:gridCol w="1480906">
                  <a:extLst>
                    <a:ext uri="{9D8B030D-6E8A-4147-A177-3AD203B41FA5}">
                      <a16:colId xmlns:a16="http://schemas.microsoft.com/office/drawing/2014/main" val="2505154878"/>
                    </a:ext>
                  </a:extLst>
                </a:gridCol>
                <a:gridCol w="1480906">
                  <a:extLst>
                    <a:ext uri="{9D8B030D-6E8A-4147-A177-3AD203B41FA5}">
                      <a16:colId xmlns:a16="http://schemas.microsoft.com/office/drawing/2014/main" val="989864110"/>
                    </a:ext>
                  </a:extLst>
                </a:gridCol>
                <a:gridCol w="1480906">
                  <a:extLst>
                    <a:ext uri="{9D8B030D-6E8A-4147-A177-3AD203B41FA5}">
                      <a16:colId xmlns:a16="http://schemas.microsoft.com/office/drawing/2014/main" val="3765098002"/>
                    </a:ext>
                  </a:extLst>
                </a:gridCol>
              </a:tblGrid>
              <a:tr h="328083">
                <a:tc>
                  <a:txBody>
                    <a:bodyPr/>
                    <a:lstStyle/>
                    <a:p>
                      <a:pPr algn="ctr">
                        <a:lnSpc>
                          <a:spcPct val="100000"/>
                        </a:lnSpc>
                        <a:spcAft>
                          <a:spcPts val="0"/>
                        </a:spcAft>
                      </a:pP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组别</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tc>
                  <a:txBody>
                    <a:bodyPr/>
                    <a:lstStyle/>
                    <a:p>
                      <a:pPr algn="ctr">
                        <a:lnSpc>
                          <a:spcPct val="100000"/>
                        </a:lnSpc>
                        <a:spcAft>
                          <a:spcPts val="0"/>
                        </a:spcAft>
                      </a:pP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第</a:t>
                      </a:r>
                      <a:r>
                        <a:rPr lang="en-US"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1</a:t>
                      </a: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组等级</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tc>
                  <a:txBody>
                    <a:bodyPr/>
                    <a:lstStyle/>
                    <a:p>
                      <a:pPr algn="ctr">
                        <a:lnSpc>
                          <a:spcPct val="100000"/>
                        </a:lnSpc>
                        <a:spcAft>
                          <a:spcPts val="0"/>
                        </a:spcAft>
                      </a:pP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第</a:t>
                      </a:r>
                      <a:r>
                        <a:rPr lang="en-US"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2</a:t>
                      </a: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组等级</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tc>
                  <a:txBody>
                    <a:bodyPr/>
                    <a:lstStyle/>
                    <a:p>
                      <a:pPr algn="ctr">
                        <a:lnSpc>
                          <a:spcPct val="100000"/>
                        </a:lnSpc>
                        <a:spcAft>
                          <a:spcPts val="0"/>
                        </a:spcAft>
                      </a:pP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第</a:t>
                      </a:r>
                      <a:r>
                        <a:rPr lang="en-US"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3</a:t>
                      </a: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组等级</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tc>
                  <a:txBody>
                    <a:bodyPr/>
                    <a:lstStyle/>
                    <a:p>
                      <a:pPr algn="ctr">
                        <a:lnSpc>
                          <a:spcPct val="100000"/>
                        </a:lnSpc>
                        <a:spcAft>
                          <a:spcPts val="0"/>
                        </a:spcAft>
                      </a:pP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第</a:t>
                      </a:r>
                      <a:r>
                        <a:rPr lang="en-US"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4</a:t>
                      </a: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组等级</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tc>
                  <a:txBody>
                    <a:bodyPr/>
                    <a:lstStyle/>
                    <a:p>
                      <a:pPr algn="ctr">
                        <a:lnSpc>
                          <a:spcPct val="100000"/>
                        </a:lnSpc>
                        <a:spcAft>
                          <a:spcPts val="0"/>
                        </a:spcAft>
                      </a:pP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第</a:t>
                      </a:r>
                      <a:r>
                        <a:rPr lang="en-US"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5</a:t>
                      </a: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组等级</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tc>
                  <a:txBody>
                    <a:bodyPr/>
                    <a:lstStyle/>
                    <a:p>
                      <a:pPr algn="ctr">
                        <a:lnSpc>
                          <a:spcPct val="100000"/>
                        </a:lnSpc>
                        <a:spcAft>
                          <a:spcPts val="0"/>
                        </a:spcAft>
                      </a:pP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第</a:t>
                      </a:r>
                      <a:r>
                        <a:rPr lang="en-US"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6</a:t>
                      </a:r>
                      <a:r>
                        <a:rPr lang="zh-CN" sz="2000" kern="0" dirty="0">
                          <a:solidFill>
                            <a:srgbClr val="000000"/>
                          </a:solidFill>
                          <a:effectLst/>
                          <a:latin typeface="Times New Roman" panose="02020603050405020304" pitchFamily="18" charset="0"/>
                          <a:ea typeface="黑体" panose="02010609060101010101" pitchFamily="49" charset="-122"/>
                          <a:cs typeface="宋体" panose="02010600030101010101" pitchFamily="2" charset="-122"/>
                        </a:rPr>
                        <a:t>组等级</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extLst>
                  <a:ext uri="{0D108BD9-81ED-4DB2-BD59-A6C34878D82A}">
                    <a16:rowId xmlns:a16="http://schemas.microsoft.com/office/drawing/2014/main" val="3524682497"/>
                  </a:ext>
                </a:extLst>
              </a:tr>
              <a:tr h="328083">
                <a:tc>
                  <a:txBody>
                    <a:bodyPr/>
                    <a:lstStyle/>
                    <a:p>
                      <a:pPr algn="ctr">
                        <a:lnSpc>
                          <a:spcPct val="100000"/>
                        </a:lnSpc>
                        <a:spcAft>
                          <a:spcPts val="0"/>
                        </a:spcAft>
                      </a:pP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第</a:t>
                      </a: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1</a:t>
                      </a: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组评审人</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A</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8044747"/>
                  </a:ext>
                </a:extLst>
              </a:tr>
              <a:tr h="328083">
                <a:tc>
                  <a:txBody>
                    <a:bodyPr/>
                    <a:lstStyle/>
                    <a:p>
                      <a:pPr algn="ctr">
                        <a:lnSpc>
                          <a:spcPct val="100000"/>
                        </a:lnSpc>
                        <a:spcAft>
                          <a:spcPts val="0"/>
                        </a:spcAft>
                      </a:pP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第</a:t>
                      </a: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2</a:t>
                      </a: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组评审人</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A</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9283642"/>
                  </a:ext>
                </a:extLst>
              </a:tr>
              <a:tr h="328083">
                <a:tc>
                  <a:txBody>
                    <a:bodyPr/>
                    <a:lstStyle/>
                    <a:p>
                      <a:pPr algn="ctr">
                        <a:lnSpc>
                          <a:spcPct val="100000"/>
                        </a:lnSpc>
                        <a:spcAft>
                          <a:spcPts val="0"/>
                        </a:spcAft>
                      </a:pP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第</a:t>
                      </a: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3</a:t>
                      </a: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组评审人</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A</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5091492"/>
                  </a:ext>
                </a:extLst>
              </a:tr>
              <a:tr h="328083">
                <a:tc>
                  <a:txBody>
                    <a:bodyPr/>
                    <a:lstStyle/>
                    <a:p>
                      <a:pPr algn="ctr">
                        <a:lnSpc>
                          <a:spcPct val="100000"/>
                        </a:lnSpc>
                        <a:spcAft>
                          <a:spcPts val="0"/>
                        </a:spcAft>
                      </a:pP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第</a:t>
                      </a: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4</a:t>
                      </a: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组评审人</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A</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1627988"/>
                  </a:ext>
                </a:extLst>
              </a:tr>
              <a:tr h="328083">
                <a:tc>
                  <a:txBody>
                    <a:bodyPr/>
                    <a:lstStyle/>
                    <a:p>
                      <a:pPr algn="ctr">
                        <a:lnSpc>
                          <a:spcPct val="100000"/>
                        </a:lnSpc>
                        <a:spcAft>
                          <a:spcPts val="0"/>
                        </a:spcAft>
                      </a:pP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第</a:t>
                      </a: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5</a:t>
                      </a:r>
                      <a:r>
                        <a:rPr lang="zh-CN" sz="2000" kern="0">
                          <a:solidFill>
                            <a:srgbClr val="000000"/>
                          </a:solidFill>
                          <a:effectLst/>
                          <a:latin typeface="Arial" panose="020B0604020202020204" pitchFamily="34" charset="0"/>
                          <a:ea typeface="等线" panose="02010600030101010101" pitchFamily="2" charset="-122"/>
                          <a:cs typeface="Arial" panose="020B0604020202020204" pitchFamily="34" charset="0"/>
                        </a:rPr>
                        <a:t>组评审人</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kern="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A</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4667301"/>
                  </a:ext>
                </a:extLst>
              </a:tr>
              <a:tr h="328083">
                <a:tc>
                  <a:txBody>
                    <a:bodyPr/>
                    <a:lstStyle/>
                    <a:p>
                      <a:pPr algn="ctr">
                        <a:lnSpc>
                          <a:spcPct val="100000"/>
                        </a:lnSpc>
                        <a:spcAft>
                          <a:spcPts val="0"/>
                        </a:spcAft>
                      </a:pPr>
                      <a:r>
                        <a:rPr lang="zh-CN" sz="2000" kern="0" dirty="0">
                          <a:solidFill>
                            <a:srgbClr val="000000"/>
                          </a:solidFill>
                          <a:effectLst/>
                          <a:latin typeface="Arial" panose="020B0604020202020204" pitchFamily="34" charset="0"/>
                          <a:ea typeface="等线" panose="02010600030101010101" pitchFamily="2" charset="-122"/>
                          <a:cs typeface="Arial" panose="020B0604020202020204" pitchFamily="34" charset="0"/>
                        </a:rPr>
                        <a:t>第</a:t>
                      </a:r>
                      <a:r>
                        <a:rPr lang="en-US" sz="2000" kern="0" dirty="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6</a:t>
                      </a:r>
                      <a:r>
                        <a:rPr lang="zh-CN" sz="2000" kern="0" dirty="0">
                          <a:solidFill>
                            <a:srgbClr val="000000"/>
                          </a:solidFill>
                          <a:effectLst/>
                          <a:latin typeface="Arial" panose="020B0604020202020204" pitchFamily="34" charset="0"/>
                          <a:ea typeface="等线" panose="02010600030101010101" pitchFamily="2" charset="-122"/>
                          <a:cs typeface="Arial" panose="020B0604020202020204" pitchFamily="34" charset="0"/>
                        </a:rPr>
                        <a:t>组评审人</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dirty="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dirty="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dirty="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dirty="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pPr>
                      <a:endParaRPr lang="zh-CN" sz="2000" dirty="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2000" kern="0" dirty="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A</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833627205"/>
                  </a:ext>
                </a:extLst>
              </a:tr>
              <a:tr h="328083">
                <a:tc>
                  <a:txBody>
                    <a:bodyPr/>
                    <a:lstStyle/>
                    <a:p>
                      <a:pPr algn="ctr">
                        <a:lnSpc>
                          <a:spcPct val="100000"/>
                        </a:lnSpc>
                        <a:spcAft>
                          <a:spcPts val="0"/>
                        </a:spcAft>
                      </a:pPr>
                      <a:r>
                        <a:rPr lang="en-US" sz="2000" kern="0" dirty="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 </a:t>
                      </a:r>
                      <a:r>
                        <a:rPr lang="zh-CN" altLang="en-US" sz="2000" kern="0" dirty="0">
                          <a:solidFill>
                            <a:srgbClr val="000000"/>
                          </a:solidFill>
                          <a:effectLst/>
                          <a:latin typeface="Arial" panose="020B0604020202020204" pitchFamily="34" charset="0"/>
                          <a:ea typeface="等线" panose="02010600030101010101" pitchFamily="2" charset="-122"/>
                          <a:cs typeface="Times New Roman" panose="02020603050405020304" pitchFamily="18" charset="0"/>
                        </a:rPr>
                        <a:t>小计</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lnSpc>
                          <a:spcPct val="100000"/>
                        </a:lnSpc>
                      </a:pPr>
                      <a:endParaRPr lang="zh-CN" sz="200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a:lnSpc>
                          <a:spcPct val="100000"/>
                        </a:lnSpc>
                      </a:pPr>
                      <a:endParaRPr lang="zh-CN" sz="2000" dirty="0">
                        <a:effectLst/>
                        <a:latin typeface="Calibri" panose="020F0502020204030204" pitchFamily="34" charset="0"/>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extLst>
                  <a:ext uri="{0D108BD9-81ED-4DB2-BD59-A6C34878D82A}">
                    <a16:rowId xmlns:a16="http://schemas.microsoft.com/office/drawing/2014/main" val="1400537077"/>
                  </a:ext>
                </a:extLst>
              </a:tr>
            </a:tbl>
          </a:graphicData>
        </a:graphic>
      </p:graphicFrame>
    </p:spTree>
    <p:extLst>
      <p:ext uri="{BB962C8B-B14F-4D97-AF65-F5344CB8AC3E}">
        <p14:creationId xmlns:p14="http://schemas.microsoft.com/office/powerpoint/2010/main" val="357497481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翻转课堂的组织</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课外</a:t>
            </a:r>
            <a:r>
              <a:rPr lang="en-US" altLang="zh-CN" sz="3200" b="1" dirty="0">
                <a:solidFill>
                  <a:srgbClr val="C00000"/>
                </a:solidFill>
                <a:latin typeface="微软雅黑" pitchFamily="34" charset="-122"/>
                <a:ea typeface="微软雅黑" pitchFamily="34" charset="-122"/>
              </a:rPr>
              <a:t>PPT</a:t>
            </a:r>
            <a:r>
              <a:rPr lang="zh-CN" altLang="en-US" sz="3200" b="1" dirty="0">
                <a:solidFill>
                  <a:srgbClr val="C00000"/>
                </a:solidFill>
                <a:latin typeface="微软雅黑" pitchFamily="34" charset="-122"/>
                <a:ea typeface="微软雅黑" pitchFamily="34" charset="-122"/>
              </a:rPr>
              <a:t>路演</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507056"/>
            <a:ext cx="10884504" cy="1727211"/>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PPT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路演成绩评定</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班长对评价结果进行综合平均，其中</a:t>
            </a:r>
            <a:r>
              <a:rPr lang="en-US" altLang="zh-CN" sz="2400" kern="0" dirty="0">
                <a:latin typeface="楷体" panose="02010609060101010101" pitchFamily="49" charset="-122"/>
                <a:ea typeface="楷体" panose="02010609060101010101" pitchFamily="49" charset="-122"/>
              </a:rPr>
              <a:t>A</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B</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C</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D</a:t>
            </a:r>
            <a:r>
              <a:rPr lang="zh-CN" altLang="en-US" sz="2400" kern="0" dirty="0">
                <a:latin typeface="楷体" panose="02010609060101010101" pitchFamily="49" charset="-122"/>
                <a:ea typeface="楷体" panose="02010609060101010101" pitchFamily="49" charset="-122"/>
              </a:rPr>
              <a:t>分别按照</a:t>
            </a:r>
            <a:r>
              <a:rPr lang="en-US" altLang="zh-CN" sz="2400" kern="0" dirty="0">
                <a:latin typeface="楷体" panose="02010609060101010101" pitchFamily="49" charset="-122"/>
                <a:ea typeface="楷体" panose="02010609060101010101" pitchFamily="49" charset="-122"/>
              </a:rPr>
              <a:t>95</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90</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85</a:t>
            </a:r>
            <a:r>
              <a:rPr lang="zh-CN" altLang="en-US" sz="2400" kern="0" dirty="0">
                <a:latin typeface="楷体" panose="02010609060101010101" pitchFamily="49" charset="-122"/>
                <a:ea typeface="楷体" panose="02010609060101010101" pitchFamily="49" charset="-122"/>
              </a:rPr>
              <a:t>、</a:t>
            </a:r>
            <a:r>
              <a:rPr lang="en-US" altLang="zh-CN" sz="2400" kern="0" dirty="0">
                <a:latin typeface="楷体" panose="02010609060101010101" pitchFamily="49" charset="-122"/>
                <a:ea typeface="楷体" panose="02010609060101010101" pitchFamily="49" charset="-122"/>
              </a:rPr>
              <a:t>80</a:t>
            </a:r>
            <a:r>
              <a:rPr lang="zh-CN" altLang="en-US" sz="2400" kern="0" dirty="0">
                <a:latin typeface="楷体" panose="02010609060101010101" pitchFamily="49" charset="-122"/>
                <a:ea typeface="楷体" panose="02010609060101010101" pitchFamily="49" charset="-122"/>
              </a:rPr>
              <a:t>分计算，得出各组平均成绩，即为班级评定的小组课外</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路演成绩。</a:t>
            </a:r>
            <a:endParaRPr lang="en-US" altLang="zh-CN" sz="3000" dirty="0">
              <a:latin typeface="方正粗黑宋简体" pitchFamily="2" charset="-122"/>
              <a:ea typeface="方正粗黑宋简体" pitchFamily="2" charset="-122"/>
            </a:endParaRPr>
          </a:p>
        </p:txBody>
      </p:sp>
      <p:sp>
        <p:nvSpPr>
          <p:cNvPr id="8" name="Rectangle 4">
            <a:extLst>
              <a:ext uri="{FF2B5EF4-FFF2-40B4-BE49-F238E27FC236}">
                <a16:creationId xmlns:a16="http://schemas.microsoft.com/office/drawing/2014/main" id="{A4867A1D-2460-4BF1-9790-590F95474502}"/>
              </a:ext>
            </a:extLst>
          </p:cNvPr>
          <p:cNvSpPr txBox="1">
            <a:spLocks noChangeArrowheads="1"/>
          </p:cNvSpPr>
          <p:nvPr/>
        </p:nvSpPr>
        <p:spPr bwMode="auto">
          <a:xfrm>
            <a:off x="587829" y="3200390"/>
            <a:ext cx="10884504" cy="1727211"/>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遴选进入课内</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PPT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汇报的小组</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考虑到课内时间有限，所有小组无法进入课内</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汇报。本教学班共计包含</a:t>
            </a:r>
            <a:r>
              <a:rPr lang="en-US" altLang="zh-CN" sz="2400" kern="0" dirty="0">
                <a:latin typeface="楷体" panose="02010609060101010101" pitchFamily="49" charset="-122"/>
                <a:ea typeface="楷体" panose="02010609060101010101" pitchFamily="49" charset="-122"/>
              </a:rPr>
              <a:t>2</a:t>
            </a:r>
            <a:r>
              <a:rPr lang="zh-CN" altLang="en-US" sz="2400" kern="0" dirty="0">
                <a:latin typeface="楷体" panose="02010609060101010101" pitchFamily="49" charset="-122"/>
                <a:ea typeface="楷体" panose="02010609060101010101" pitchFamily="49" charset="-122"/>
              </a:rPr>
              <a:t>个行政班，</a:t>
            </a:r>
            <a:r>
              <a:rPr lang="zh-CN" altLang="en-US" sz="2400" kern="0" dirty="0">
                <a:solidFill>
                  <a:srgbClr val="FF0000"/>
                </a:solidFill>
                <a:latin typeface="楷体" panose="02010609060101010101" pitchFamily="49" charset="-122"/>
                <a:ea typeface="楷体" panose="02010609060101010101" pitchFamily="49" charset="-122"/>
              </a:rPr>
              <a:t>每个行政班中得分最高的</a:t>
            </a:r>
            <a:r>
              <a:rPr lang="en-US" altLang="zh-CN" sz="2400" kern="0" dirty="0">
                <a:solidFill>
                  <a:srgbClr val="FF0000"/>
                </a:solidFill>
                <a:latin typeface="楷体" panose="02010609060101010101" pitchFamily="49" charset="-122"/>
                <a:ea typeface="楷体" panose="02010609060101010101" pitchFamily="49" charset="-122"/>
              </a:rPr>
              <a:t>3</a:t>
            </a:r>
            <a:r>
              <a:rPr lang="zh-CN" altLang="en-US" sz="2400" kern="0" dirty="0">
                <a:solidFill>
                  <a:srgbClr val="FF0000"/>
                </a:solidFill>
                <a:latin typeface="楷体" panose="02010609060101010101" pitchFamily="49" charset="-122"/>
                <a:ea typeface="楷体" panose="02010609060101010101" pitchFamily="49" charset="-122"/>
              </a:rPr>
              <a:t>个小组</a:t>
            </a:r>
            <a:r>
              <a:rPr lang="zh-CN" altLang="en-US" sz="2400" kern="0" dirty="0">
                <a:latin typeface="楷体" panose="02010609060101010101" pitchFamily="49" charset="-122"/>
                <a:ea typeface="楷体" panose="02010609060101010101" pitchFamily="49" charset="-122"/>
              </a:rPr>
              <a:t>参加课内</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汇报。</a:t>
            </a:r>
            <a:endParaRPr lang="en-US" altLang="zh-CN" sz="3000" dirty="0">
              <a:latin typeface="方正粗黑宋简体" pitchFamily="2" charset="-122"/>
              <a:ea typeface="方正粗黑宋简体" pitchFamily="2" charset="-122"/>
            </a:endParaRPr>
          </a:p>
        </p:txBody>
      </p:sp>
    </p:spTree>
    <p:extLst>
      <p:ext uri="{BB962C8B-B14F-4D97-AF65-F5344CB8AC3E}">
        <p14:creationId xmlns:p14="http://schemas.microsoft.com/office/powerpoint/2010/main" val="363930959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翻转课堂的组织</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课内</a:t>
            </a:r>
            <a:r>
              <a:rPr lang="en-US" altLang="zh-CN" sz="3200" b="1" dirty="0">
                <a:solidFill>
                  <a:srgbClr val="C00000"/>
                </a:solidFill>
                <a:latin typeface="微软雅黑" pitchFamily="34" charset="-122"/>
                <a:ea typeface="微软雅黑" pitchFamily="34" charset="-122"/>
              </a:rPr>
              <a:t>PPT</a:t>
            </a:r>
            <a:r>
              <a:rPr lang="zh-CN" altLang="en-US" sz="3200" b="1" dirty="0">
                <a:solidFill>
                  <a:srgbClr val="C00000"/>
                </a:solidFill>
                <a:latin typeface="微软雅黑" pitchFamily="34" charset="-122"/>
                <a:ea typeface="微软雅黑" pitchFamily="34" charset="-122"/>
              </a:rPr>
              <a:t>汇报</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507056"/>
            <a:ext cx="10884504" cy="130387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buClr>
                <a:srgbClr val="000066"/>
              </a:buClr>
              <a:buSzPct val="85000"/>
              <a:buFont typeface="Wingdings" pitchFamily="2" charset="2"/>
              <a:buChar char="µ"/>
              <a:defRPr/>
            </a:pP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课内</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PPT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汇报时间</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课内</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汇报将安排在</a:t>
            </a:r>
            <a:r>
              <a:rPr lang="zh-CN" altLang="en-US" sz="2400" kern="0" dirty="0">
                <a:highlight>
                  <a:srgbClr val="FFFF00"/>
                </a:highlight>
                <a:latin typeface="楷体" panose="02010609060101010101" pitchFamily="49" charset="-122"/>
                <a:ea typeface="楷体" panose="02010609060101010101" pitchFamily="49" charset="-122"/>
              </a:rPr>
              <a:t>最后</a:t>
            </a:r>
            <a:r>
              <a:rPr lang="en-US" altLang="zh-CN" sz="2400" kern="0" dirty="0">
                <a:highlight>
                  <a:srgbClr val="FFFF00"/>
                </a:highlight>
                <a:latin typeface="楷体" panose="02010609060101010101" pitchFamily="49" charset="-122"/>
                <a:ea typeface="楷体" panose="02010609060101010101" pitchFamily="49" charset="-122"/>
              </a:rPr>
              <a:t>2</a:t>
            </a:r>
            <a:r>
              <a:rPr lang="zh-CN" altLang="en-US" sz="2400" kern="0" dirty="0">
                <a:highlight>
                  <a:srgbClr val="FFFF00"/>
                </a:highlight>
                <a:latin typeface="楷体" panose="02010609060101010101" pitchFamily="49" charset="-122"/>
                <a:ea typeface="楷体" panose="02010609060101010101" pitchFamily="49" charset="-122"/>
              </a:rPr>
              <a:t>节课</a:t>
            </a:r>
            <a:r>
              <a:rPr lang="zh-CN" altLang="en-US" sz="2400" kern="0" dirty="0">
                <a:latin typeface="楷体" panose="02010609060101010101" pitchFamily="49" charset="-122"/>
                <a:ea typeface="楷体" panose="02010609060101010101" pitchFamily="49" charset="-122"/>
              </a:rPr>
              <a:t>进行，请各组务必提前做好准备。</a:t>
            </a:r>
            <a:endParaRPr lang="en-US" altLang="zh-CN" sz="3000" dirty="0">
              <a:latin typeface="方正粗黑宋简体" pitchFamily="2" charset="-122"/>
              <a:ea typeface="方正粗黑宋简体" pitchFamily="2" charset="-122"/>
            </a:endParaRPr>
          </a:p>
        </p:txBody>
      </p:sp>
      <p:sp>
        <p:nvSpPr>
          <p:cNvPr id="8" name="Rectangle 4">
            <a:extLst>
              <a:ext uri="{FF2B5EF4-FFF2-40B4-BE49-F238E27FC236}">
                <a16:creationId xmlns:a16="http://schemas.microsoft.com/office/drawing/2014/main" id="{A4867A1D-2460-4BF1-9790-590F95474502}"/>
              </a:ext>
            </a:extLst>
          </p:cNvPr>
          <p:cNvSpPr txBox="1">
            <a:spLocks noChangeArrowheads="1"/>
          </p:cNvSpPr>
          <p:nvPr/>
        </p:nvSpPr>
        <p:spPr bwMode="auto">
          <a:xfrm>
            <a:off x="587829" y="2531523"/>
            <a:ext cx="10884504" cy="2099746"/>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课内</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PPT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汇报组织</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评审组。各班级评审组成员组成课内</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汇报评审组，共</a:t>
            </a:r>
            <a:r>
              <a:rPr lang="en-US" altLang="zh-CN" sz="2400" kern="0" dirty="0">
                <a:latin typeface="楷体" panose="02010609060101010101" pitchFamily="49" charset="-122"/>
                <a:ea typeface="楷体" panose="02010609060101010101" pitchFamily="49" charset="-122"/>
              </a:rPr>
              <a:t>12</a:t>
            </a:r>
            <a:r>
              <a:rPr lang="zh-CN" altLang="en-US" sz="2400" kern="0" dirty="0">
                <a:latin typeface="楷体" panose="02010609060101010101" pitchFamily="49" charset="-122"/>
                <a:ea typeface="楷体" panose="02010609060101010101" pitchFamily="49" charset="-122"/>
              </a:rPr>
              <a:t>人。</a:t>
            </a:r>
            <a:endParaRPr lang="en-US" altLang="zh-CN" sz="2400" kern="0" dirty="0">
              <a:latin typeface="楷体" panose="02010609060101010101" pitchFamily="49" charset="-122"/>
              <a:ea typeface="楷体" panose="02010609060101010101" pitchFamily="49" charset="-122"/>
            </a:endParaRPr>
          </a:p>
          <a:p>
            <a:pPr lvl="1" indent="-457200" algn="just">
              <a:lnSpc>
                <a:spcPct val="130000"/>
              </a:lnSpc>
              <a:buClr>
                <a:srgbClr val="006600"/>
              </a:buClr>
              <a:buSzPct val="90000"/>
              <a:buFont typeface="Wingdings" pitchFamily="2" charset="2"/>
              <a:buChar char="Ü"/>
              <a:defRPr/>
            </a:pP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汇报与辩论。同一个班级的</a:t>
            </a:r>
            <a:r>
              <a:rPr lang="en-US" altLang="zh-CN" sz="2400" kern="0" dirty="0">
                <a:latin typeface="楷体" panose="02010609060101010101" pitchFamily="49" charset="-122"/>
                <a:ea typeface="楷体" panose="02010609060101010101" pitchFamily="49" charset="-122"/>
              </a:rPr>
              <a:t>3</a:t>
            </a:r>
            <a:r>
              <a:rPr lang="zh-CN" altLang="en-US" sz="2400" kern="0" dirty="0">
                <a:latin typeface="楷体" panose="02010609060101010101" pitchFamily="49" charset="-122"/>
                <a:ea typeface="楷体" panose="02010609060101010101" pitchFamily="49" charset="-122"/>
              </a:rPr>
              <a:t>个组</a:t>
            </a:r>
            <a:r>
              <a:rPr lang="zh-CN" altLang="en-US" sz="2400" kern="0" dirty="0">
                <a:highlight>
                  <a:srgbClr val="FFFF00"/>
                </a:highlight>
                <a:latin typeface="楷体" panose="02010609060101010101" pitchFamily="49" charset="-122"/>
                <a:ea typeface="楷体" panose="02010609060101010101" pitchFamily="49" charset="-122"/>
              </a:rPr>
              <a:t>轮流汇报，每组</a:t>
            </a:r>
            <a:r>
              <a:rPr lang="en-US" altLang="zh-CN" sz="2400" kern="0" dirty="0">
                <a:highlight>
                  <a:srgbClr val="FFFF00"/>
                </a:highlight>
                <a:latin typeface="楷体" panose="02010609060101010101" pitchFamily="49" charset="-122"/>
                <a:ea typeface="楷体" panose="02010609060101010101" pitchFamily="49" charset="-122"/>
              </a:rPr>
              <a:t>6</a:t>
            </a:r>
            <a:r>
              <a:rPr lang="zh-CN" altLang="en-US" sz="2400" kern="0" dirty="0">
                <a:highlight>
                  <a:srgbClr val="FFFF00"/>
                </a:highlight>
                <a:latin typeface="楷体" panose="02010609060101010101" pitchFamily="49" charset="-122"/>
                <a:ea typeface="楷体" panose="02010609060101010101" pitchFamily="49" charset="-122"/>
              </a:rPr>
              <a:t>分钟</a:t>
            </a:r>
            <a:r>
              <a:rPr lang="zh-CN" altLang="en-US" sz="2400" kern="0" dirty="0">
                <a:latin typeface="楷体" panose="02010609060101010101" pitchFamily="49" charset="-122"/>
                <a:ea typeface="楷体" panose="02010609060101010101" pitchFamily="49" charset="-122"/>
              </a:rPr>
              <a:t>；汇报完毕后，</a:t>
            </a:r>
            <a:r>
              <a:rPr lang="zh-CN" altLang="en-US" sz="2400" kern="0" dirty="0">
                <a:highlight>
                  <a:srgbClr val="FFFF00"/>
                </a:highlight>
                <a:latin typeface="楷体" panose="02010609060101010101" pitchFamily="49" charset="-122"/>
                <a:ea typeface="楷体" panose="02010609060101010101" pitchFamily="49" charset="-122"/>
              </a:rPr>
              <a:t>两两逐对进行</a:t>
            </a:r>
            <a:r>
              <a:rPr lang="en-US" altLang="zh-CN" sz="2400" kern="0" dirty="0">
                <a:highlight>
                  <a:srgbClr val="FFFF00"/>
                </a:highlight>
                <a:latin typeface="楷体" panose="02010609060101010101" pitchFamily="49" charset="-122"/>
                <a:ea typeface="楷体" panose="02010609060101010101" pitchFamily="49" charset="-122"/>
              </a:rPr>
              <a:t>PK</a:t>
            </a:r>
            <a:r>
              <a:rPr lang="zh-CN" altLang="en-US" sz="2400" kern="0" dirty="0">
                <a:latin typeface="楷体" panose="02010609060101010101" pitchFamily="49" charset="-122"/>
                <a:ea typeface="楷体" panose="02010609060101010101" pitchFamily="49" charset="-122"/>
              </a:rPr>
              <a:t>（</a:t>
            </a:r>
            <a:r>
              <a:rPr lang="zh-CN" altLang="en-US" sz="2400" kern="0" dirty="0">
                <a:solidFill>
                  <a:srgbClr val="FF0000"/>
                </a:solidFill>
                <a:latin typeface="楷体" panose="02010609060101010101" pitchFamily="49" charset="-122"/>
                <a:ea typeface="楷体" panose="02010609060101010101" pitchFamily="49" charset="-122"/>
              </a:rPr>
              <a:t>互相提问</a:t>
            </a:r>
            <a:r>
              <a:rPr lang="en-US" altLang="zh-CN" sz="2400" kern="0" dirty="0">
                <a:solidFill>
                  <a:srgbClr val="FF0000"/>
                </a:solidFill>
                <a:latin typeface="楷体" panose="02010609060101010101" pitchFamily="49" charset="-122"/>
                <a:ea typeface="楷体" panose="02010609060101010101" pitchFamily="49" charset="-122"/>
              </a:rPr>
              <a:t>6</a:t>
            </a:r>
            <a:r>
              <a:rPr lang="zh-CN" altLang="en-US" sz="2400" kern="0" dirty="0">
                <a:solidFill>
                  <a:srgbClr val="FF0000"/>
                </a:solidFill>
                <a:latin typeface="楷体" panose="02010609060101010101" pitchFamily="49" charset="-122"/>
                <a:ea typeface="楷体" panose="02010609060101010101" pitchFamily="49" charset="-122"/>
              </a:rPr>
              <a:t>分钟</a:t>
            </a:r>
            <a:r>
              <a:rPr lang="zh-CN" altLang="en-US" sz="2400" kern="0" dirty="0">
                <a:latin typeface="楷体" panose="02010609060101010101" pitchFamily="49" charset="-122"/>
                <a:ea typeface="楷体" panose="02010609060101010101" pitchFamily="49" charset="-122"/>
              </a:rPr>
              <a:t>）。</a:t>
            </a:r>
            <a:endParaRPr lang="en-US" altLang="zh-CN" sz="2400" kern="0" dirty="0">
              <a:latin typeface="楷体" panose="02010609060101010101" pitchFamily="49" charset="-122"/>
              <a:ea typeface="楷体" panose="02010609060101010101" pitchFamily="49" charset="-122"/>
            </a:endParaRPr>
          </a:p>
        </p:txBody>
      </p:sp>
      <p:sp>
        <p:nvSpPr>
          <p:cNvPr id="9" name="Rectangle 4">
            <a:extLst>
              <a:ext uri="{FF2B5EF4-FFF2-40B4-BE49-F238E27FC236}">
                <a16:creationId xmlns:a16="http://schemas.microsoft.com/office/drawing/2014/main" id="{402508CA-9C23-4ABB-ACA3-C972B42736F7}"/>
              </a:ext>
            </a:extLst>
          </p:cNvPr>
          <p:cNvSpPr txBox="1">
            <a:spLocks noChangeArrowheads="1"/>
          </p:cNvSpPr>
          <p:nvPr/>
        </p:nvSpPr>
        <p:spPr bwMode="auto">
          <a:xfrm>
            <a:off x="587829" y="4487318"/>
            <a:ext cx="10884504" cy="148206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buClr>
                <a:srgbClr val="000066"/>
              </a:buClr>
              <a:buSzPct val="85000"/>
              <a:buFont typeface="Wingdings" pitchFamily="2" charset="2"/>
              <a:buChar char="µ"/>
              <a:defRPr/>
            </a:pP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课内</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PPT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汇报成绩评定</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评审组同学综合考虑</a:t>
            </a:r>
            <a:r>
              <a:rPr lang="en-US" altLang="zh-CN" sz="2400" b="1" kern="0" dirty="0">
                <a:latin typeface="楷体" panose="02010609060101010101" pitchFamily="49" charset="-122"/>
                <a:ea typeface="楷体" panose="02010609060101010101" pitchFamily="49" charset="-122"/>
              </a:rPr>
              <a:t>PPT</a:t>
            </a:r>
            <a:r>
              <a:rPr lang="zh-CN" altLang="en-US" sz="2400" b="1" kern="0" dirty="0">
                <a:latin typeface="楷体" panose="02010609060101010101" pitchFamily="49" charset="-122"/>
                <a:ea typeface="楷体" panose="02010609060101010101" pitchFamily="49" charset="-122"/>
              </a:rPr>
              <a:t>质量、汇报质量、</a:t>
            </a:r>
            <a:r>
              <a:rPr lang="en-US" altLang="zh-CN" sz="2400" b="1" kern="0" dirty="0">
                <a:latin typeface="楷体" panose="02010609060101010101" pitchFamily="49" charset="-122"/>
                <a:ea typeface="楷体" panose="02010609060101010101" pitchFamily="49" charset="-122"/>
              </a:rPr>
              <a:t>PK</a:t>
            </a:r>
            <a:r>
              <a:rPr lang="zh-CN" altLang="en-US" sz="2400" b="1" kern="0" dirty="0">
                <a:latin typeface="楷体" panose="02010609060101010101" pitchFamily="49" charset="-122"/>
                <a:ea typeface="楷体" panose="02010609060101010101" pitchFamily="49" charset="-122"/>
              </a:rPr>
              <a:t>质量</a:t>
            </a:r>
            <a:r>
              <a:rPr lang="zh-CN" altLang="en-US" sz="2400" kern="0" dirty="0">
                <a:latin typeface="楷体" panose="02010609060101010101" pitchFamily="49" charset="-122"/>
                <a:ea typeface="楷体" panose="02010609060101010101" pitchFamily="49" charset="-122"/>
              </a:rPr>
              <a:t>，独立评出每次</a:t>
            </a:r>
            <a:r>
              <a:rPr lang="en-US" altLang="zh-CN" sz="2400" kern="0" dirty="0">
                <a:latin typeface="楷体" panose="02010609060101010101" pitchFamily="49" charset="-122"/>
                <a:ea typeface="楷体" panose="02010609060101010101" pitchFamily="49" charset="-122"/>
              </a:rPr>
              <a:t>PK</a:t>
            </a:r>
            <a:r>
              <a:rPr lang="zh-CN" altLang="en-US" sz="2400" kern="0" dirty="0">
                <a:latin typeface="楷体" panose="02010609060101010101" pitchFamily="49" charset="-122"/>
                <a:ea typeface="楷体" panose="02010609060101010101" pitchFamily="49" charset="-122"/>
              </a:rPr>
              <a:t>的两组中的获胜队（注意：</a:t>
            </a:r>
            <a:r>
              <a:rPr lang="zh-CN" altLang="zh-CN" sz="2400" kern="0" dirty="0">
                <a:highlight>
                  <a:srgbClr val="FFFF00"/>
                </a:highlight>
                <a:latin typeface="楷体" panose="02010609060101010101" pitchFamily="49" charset="-122"/>
                <a:ea typeface="楷体" panose="02010609060101010101" pitchFamily="49" charset="-122"/>
              </a:rPr>
              <a:t>仅打</a:t>
            </a:r>
            <a:r>
              <a:rPr lang="en-US" altLang="zh-CN" sz="2400" kern="0" dirty="0">
                <a:highlight>
                  <a:srgbClr val="FFFF00"/>
                </a:highlight>
                <a:latin typeface="楷体" panose="02010609060101010101" pitchFamily="49" charset="-122"/>
                <a:ea typeface="楷体" panose="02010609060101010101" pitchFamily="49" charset="-122"/>
              </a:rPr>
              <a:t>A</a:t>
            </a:r>
            <a:r>
              <a:rPr lang="zh-CN" altLang="zh-CN" sz="2400" kern="0" dirty="0">
                <a:highlight>
                  <a:srgbClr val="FFFF00"/>
                </a:highlight>
                <a:latin typeface="楷体" panose="02010609060101010101" pitchFamily="49" charset="-122"/>
                <a:ea typeface="楷体" panose="02010609060101010101" pitchFamily="49" charset="-122"/>
              </a:rPr>
              <a:t>、</a:t>
            </a:r>
            <a:r>
              <a:rPr lang="en-US" altLang="zh-CN" sz="2400" kern="0" dirty="0">
                <a:highlight>
                  <a:srgbClr val="FFFF00"/>
                </a:highlight>
                <a:latin typeface="楷体" panose="02010609060101010101" pitchFamily="49" charset="-122"/>
                <a:ea typeface="楷体" panose="02010609060101010101" pitchFamily="49" charset="-122"/>
              </a:rPr>
              <a:t>B</a:t>
            </a:r>
            <a:r>
              <a:rPr lang="zh-CN" altLang="zh-CN" sz="2400" kern="0" dirty="0">
                <a:highlight>
                  <a:srgbClr val="FFFF00"/>
                </a:highlight>
                <a:latin typeface="楷体" panose="02010609060101010101" pitchFamily="49" charset="-122"/>
                <a:ea typeface="楷体" panose="02010609060101010101" pitchFamily="49" charset="-122"/>
              </a:rPr>
              <a:t>两档</a:t>
            </a:r>
            <a:r>
              <a:rPr lang="zh-CN" altLang="en-US" sz="2400" kern="0" dirty="0">
                <a:highlight>
                  <a:srgbClr val="FFFF00"/>
                </a:highlight>
                <a:latin typeface="楷体" panose="02010609060101010101" pitchFamily="49" charset="-122"/>
                <a:ea typeface="楷体" panose="02010609060101010101" pitchFamily="49" charset="-122"/>
              </a:rPr>
              <a:t>，获胜组为</a:t>
            </a:r>
            <a:r>
              <a:rPr lang="en-US" altLang="zh-CN" sz="2400" kern="0" dirty="0">
                <a:highlight>
                  <a:srgbClr val="FFFF00"/>
                </a:highlight>
                <a:latin typeface="楷体" panose="02010609060101010101" pitchFamily="49" charset="-122"/>
                <a:ea typeface="楷体" panose="02010609060101010101" pitchFamily="49" charset="-122"/>
              </a:rPr>
              <a:t>A</a:t>
            </a:r>
            <a:r>
              <a:rPr lang="zh-CN" altLang="en-US" sz="2400" kern="0" dirty="0">
                <a:highlight>
                  <a:srgbClr val="FFFF00"/>
                </a:highlight>
                <a:latin typeface="楷体" panose="02010609060101010101" pitchFamily="49" charset="-122"/>
                <a:ea typeface="楷体" panose="02010609060101010101" pitchFamily="49" charset="-122"/>
              </a:rPr>
              <a:t>档，另一组则为</a:t>
            </a:r>
            <a:r>
              <a:rPr lang="en-US" altLang="zh-CN" sz="2400" kern="0" dirty="0">
                <a:highlight>
                  <a:srgbClr val="FFFF00"/>
                </a:highlight>
                <a:latin typeface="楷体" panose="02010609060101010101" pitchFamily="49" charset="-122"/>
                <a:ea typeface="楷体" panose="02010609060101010101" pitchFamily="49" charset="-122"/>
              </a:rPr>
              <a:t>B</a:t>
            </a:r>
            <a:r>
              <a:rPr lang="zh-CN" altLang="en-US" sz="2400" kern="0" dirty="0">
                <a:highlight>
                  <a:srgbClr val="FFFF00"/>
                </a:highlight>
                <a:latin typeface="楷体" panose="02010609060101010101" pitchFamily="49" charset="-122"/>
                <a:ea typeface="楷体" panose="02010609060101010101" pitchFamily="49" charset="-122"/>
              </a:rPr>
              <a:t>档</a:t>
            </a:r>
            <a:r>
              <a:rPr lang="zh-CN" altLang="en-US" sz="2400" kern="0" dirty="0">
                <a:latin typeface="楷体" panose="02010609060101010101" pitchFamily="49" charset="-122"/>
                <a:ea typeface="楷体" panose="02010609060101010101" pitchFamily="49" charset="-122"/>
              </a:rPr>
              <a:t>）。</a:t>
            </a:r>
            <a:endParaRPr lang="en-US" altLang="zh-CN" sz="3000" dirty="0">
              <a:latin typeface="方正粗黑宋简体" pitchFamily="2" charset="-122"/>
              <a:ea typeface="方正粗黑宋简体" pitchFamily="2" charset="-122"/>
            </a:endParaRPr>
          </a:p>
        </p:txBody>
      </p:sp>
    </p:spTree>
    <p:extLst>
      <p:ext uri="{BB962C8B-B14F-4D97-AF65-F5344CB8AC3E}">
        <p14:creationId xmlns:p14="http://schemas.microsoft.com/office/powerpoint/2010/main" val="254436349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A.3</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翻转课堂的组织</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课内教师点评</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507056"/>
            <a:ext cx="10884504" cy="1143011"/>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buClr>
                <a:srgbClr val="000066"/>
              </a:buClr>
              <a:buSzPct val="85000"/>
              <a:buFont typeface="Wingdings" pitchFamily="2" charset="2"/>
              <a:buChar char="µ"/>
              <a:defRPr/>
            </a:pPr>
            <a:r>
              <a:rPr lang="zh-CN" altLang="en-US" sz="2400" kern="0" dirty="0">
                <a:latin typeface="楷体" panose="02010609060101010101" pitchFamily="49" charset="-122"/>
                <a:ea typeface="楷体" panose="02010609060101010101" pitchFamily="49" charset="-122"/>
              </a:rPr>
              <a:t> 在课内</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汇报结束后，教师将对各小组的汇报进行点评，包括</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的制作、案例分析的视角与重点、演讲技巧、提问及问题回答等。</a:t>
            </a:r>
            <a:endParaRPr lang="en-US" altLang="zh-CN" sz="3000" dirty="0">
              <a:latin typeface="方正粗黑宋简体" pitchFamily="2" charset="-122"/>
              <a:ea typeface="方正粗黑宋简体" pitchFamily="2" charset="-122"/>
            </a:endParaRPr>
          </a:p>
        </p:txBody>
      </p:sp>
      <p:grpSp>
        <p:nvGrpSpPr>
          <p:cNvPr id="4" name="组合 3">
            <a:extLst>
              <a:ext uri="{FF2B5EF4-FFF2-40B4-BE49-F238E27FC236}">
                <a16:creationId xmlns:a16="http://schemas.microsoft.com/office/drawing/2014/main" id="{01BB636D-01D5-4173-9B20-ECA22B8B3602}"/>
              </a:ext>
            </a:extLst>
          </p:cNvPr>
          <p:cNvGrpSpPr/>
          <p:nvPr/>
        </p:nvGrpSpPr>
        <p:grpSpPr>
          <a:xfrm>
            <a:off x="3238500" y="2861735"/>
            <a:ext cx="4974167" cy="3581400"/>
            <a:chOff x="1779557" y="2590800"/>
            <a:chExt cx="5715000" cy="4267200"/>
          </a:xfrm>
        </p:grpSpPr>
        <p:pic>
          <p:nvPicPr>
            <p:cNvPr id="2" name="图片 1">
              <a:extLst>
                <a:ext uri="{FF2B5EF4-FFF2-40B4-BE49-F238E27FC236}">
                  <a16:creationId xmlns:a16="http://schemas.microsoft.com/office/drawing/2014/main" id="{FA6D09BC-4506-4DA5-A606-FC69CBD790F0}"/>
                </a:ext>
              </a:extLst>
            </p:cNvPr>
            <p:cNvPicPr>
              <a:picLocks noChangeAspect="1"/>
            </p:cNvPicPr>
            <p:nvPr/>
          </p:nvPicPr>
          <p:blipFill>
            <a:blip r:embed="rId3"/>
            <a:stretch>
              <a:fillRect/>
            </a:stretch>
          </p:blipFill>
          <p:spPr>
            <a:xfrm>
              <a:off x="1779557" y="2590800"/>
              <a:ext cx="5715000" cy="4267200"/>
            </a:xfrm>
            <a:prstGeom prst="rect">
              <a:avLst/>
            </a:prstGeom>
          </p:spPr>
        </p:pic>
        <p:pic>
          <p:nvPicPr>
            <p:cNvPr id="3" name="图片 2">
              <a:extLst>
                <a:ext uri="{FF2B5EF4-FFF2-40B4-BE49-F238E27FC236}">
                  <a16:creationId xmlns:a16="http://schemas.microsoft.com/office/drawing/2014/main" id="{8457EC54-E8F4-4D7F-9560-15969138F3F6}"/>
                </a:ext>
              </a:extLst>
            </p:cNvPr>
            <p:cNvPicPr>
              <a:picLocks noChangeAspect="1"/>
            </p:cNvPicPr>
            <p:nvPr/>
          </p:nvPicPr>
          <p:blipFill rotWithShape="1">
            <a:blip r:embed="rId4"/>
            <a:srcRect l="12546" t="25008" r="11805" b="20437"/>
            <a:stretch/>
          </p:blipFill>
          <p:spPr>
            <a:xfrm>
              <a:off x="4800601" y="3900783"/>
              <a:ext cx="1714578" cy="772818"/>
            </a:xfrm>
            <a:prstGeom prst="rect">
              <a:avLst/>
            </a:prstGeom>
          </p:spPr>
        </p:pic>
      </p:grpSp>
    </p:spTree>
    <p:extLst>
      <p:ext uri="{BB962C8B-B14F-4D97-AF65-F5344CB8AC3E}">
        <p14:creationId xmlns:p14="http://schemas.microsoft.com/office/powerpoint/2010/main" val="209580942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A.4</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最终成绩评定</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案例分析成绩</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9" y="1617123"/>
            <a:ext cx="10884504" cy="497645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小组成绩评定</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solidFill>
                  <a:srgbClr val="FF0000"/>
                </a:solidFill>
                <a:latin typeface="楷体" panose="02010609060101010101" pitchFamily="49" charset="-122"/>
                <a:ea typeface="楷体" panose="02010609060101010101" pitchFamily="49" charset="-122"/>
              </a:rPr>
              <a:t>对于既参加课外</a:t>
            </a:r>
            <a:r>
              <a:rPr lang="en-US" altLang="zh-CN" sz="2400" kern="0" dirty="0">
                <a:solidFill>
                  <a:srgbClr val="FF0000"/>
                </a:solidFill>
                <a:latin typeface="楷体" panose="02010609060101010101" pitchFamily="49" charset="-122"/>
                <a:ea typeface="楷体" panose="02010609060101010101" pitchFamily="49" charset="-122"/>
              </a:rPr>
              <a:t>PPT</a:t>
            </a:r>
            <a:r>
              <a:rPr lang="zh-CN" altLang="en-US" sz="2400" kern="0" dirty="0">
                <a:solidFill>
                  <a:srgbClr val="FF0000"/>
                </a:solidFill>
                <a:latin typeface="楷体" panose="02010609060101010101" pitchFamily="49" charset="-122"/>
                <a:ea typeface="楷体" panose="02010609060101010101" pitchFamily="49" charset="-122"/>
              </a:rPr>
              <a:t>路演，又参加课内</a:t>
            </a:r>
            <a:r>
              <a:rPr lang="en-US" altLang="zh-CN" sz="2400" kern="0" dirty="0">
                <a:solidFill>
                  <a:srgbClr val="FF0000"/>
                </a:solidFill>
                <a:latin typeface="楷体" panose="02010609060101010101" pitchFamily="49" charset="-122"/>
                <a:ea typeface="楷体" panose="02010609060101010101" pitchFamily="49" charset="-122"/>
              </a:rPr>
              <a:t>PPT</a:t>
            </a:r>
            <a:r>
              <a:rPr lang="zh-CN" altLang="en-US" sz="2400" kern="0" dirty="0">
                <a:solidFill>
                  <a:srgbClr val="FF0000"/>
                </a:solidFill>
                <a:latin typeface="楷体" panose="02010609060101010101" pitchFamily="49" charset="-122"/>
                <a:ea typeface="楷体" panose="02010609060101010101" pitchFamily="49" charset="-122"/>
              </a:rPr>
              <a:t>汇报的小组，取两次平均成绩作为小组最终成绩</a:t>
            </a:r>
            <a:r>
              <a:rPr lang="zh-CN" altLang="en-US" sz="2400" kern="0" dirty="0">
                <a:latin typeface="楷体" panose="02010609060101010101" pitchFamily="49" charset="-122"/>
                <a:ea typeface="楷体" panose="02010609060101010101" pitchFamily="49" charset="-122"/>
              </a:rPr>
              <a:t>；对于仅参加课外</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路演的小组（未被选为课内</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汇报），以课外</a:t>
            </a:r>
            <a:r>
              <a:rPr lang="en-US" altLang="zh-CN" sz="2400" kern="0" dirty="0">
                <a:latin typeface="楷体" panose="02010609060101010101" pitchFamily="49" charset="-122"/>
                <a:ea typeface="楷体" panose="02010609060101010101" pitchFamily="49" charset="-122"/>
              </a:rPr>
              <a:t>PPT</a:t>
            </a:r>
            <a:r>
              <a:rPr lang="zh-CN" altLang="en-US" sz="2400" kern="0" dirty="0">
                <a:latin typeface="楷体" panose="02010609060101010101" pitchFamily="49" charset="-122"/>
                <a:ea typeface="楷体" panose="02010609060101010101" pitchFamily="49" charset="-122"/>
              </a:rPr>
              <a:t>路演成绩为小组成绩。</a:t>
            </a:r>
            <a:endParaRPr lang="en-US" altLang="zh-CN" sz="2400" kern="0" dirty="0">
              <a:latin typeface="楷体" panose="02010609060101010101" pitchFamily="49" charset="-122"/>
              <a:ea typeface="楷体" panose="02010609060101010101" pitchFamily="49" charset="-122"/>
            </a:endParaRPr>
          </a:p>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个人成绩评定</a:t>
            </a:r>
            <a:endPar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endParaRPr>
          </a:p>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个人成绩</a:t>
            </a:r>
            <a:r>
              <a:rPr lang="en-US" altLang="zh-CN" sz="2400" kern="0" dirty="0">
                <a:latin typeface="楷体" panose="02010609060101010101" pitchFamily="49" charset="-122"/>
                <a:ea typeface="楷体" panose="02010609060101010101" pitchFamily="49" charset="-122"/>
              </a:rPr>
              <a:t>=</a:t>
            </a:r>
            <a:r>
              <a:rPr lang="zh-CN" altLang="en-US" sz="2400" kern="0" dirty="0">
                <a:latin typeface="楷体" panose="02010609060101010101" pitchFamily="49" charset="-122"/>
                <a:ea typeface="楷体" panose="02010609060101010101" pitchFamily="49" charset="-122"/>
              </a:rPr>
              <a:t>小组成绩*</a:t>
            </a:r>
            <a:r>
              <a:rPr lang="zh-CN" altLang="en-US" sz="2400" kern="0" dirty="0">
                <a:solidFill>
                  <a:srgbClr val="FF0000"/>
                </a:solidFill>
                <a:latin typeface="楷体" panose="02010609060101010101" pitchFamily="49" charset="-122"/>
                <a:ea typeface="楷体" panose="02010609060101010101" pitchFamily="49" charset="-122"/>
              </a:rPr>
              <a:t>个人贡献度</a:t>
            </a:r>
            <a:r>
              <a:rPr lang="zh-CN" altLang="en-US" sz="2400" kern="0" dirty="0">
                <a:latin typeface="楷体" panose="02010609060101010101" pitchFamily="49" charset="-122"/>
                <a:ea typeface="楷体" panose="02010609060101010101" pitchFamily="49" charset="-122"/>
              </a:rPr>
              <a:t>。</a:t>
            </a:r>
            <a:endParaRPr lang="en-US" altLang="zh-CN" sz="2400" kern="0" dirty="0">
              <a:latin typeface="楷体" panose="02010609060101010101" pitchFamily="49" charset="-122"/>
              <a:ea typeface="楷体" panose="02010609060101010101" pitchFamily="49" charset="-122"/>
            </a:endParaRPr>
          </a:p>
          <a:p>
            <a:pPr lvl="1" indent="-457200" algn="just">
              <a:lnSpc>
                <a:spcPct val="130000"/>
              </a:lnSpc>
              <a:buClr>
                <a:srgbClr val="006600"/>
              </a:buClr>
              <a:buSzPct val="90000"/>
              <a:buFont typeface="Wingdings" pitchFamily="2" charset="2"/>
              <a:buChar char="Ü"/>
              <a:defRPr/>
            </a:pPr>
            <a:r>
              <a:rPr lang="zh-CN" altLang="en-US" sz="2400" b="1" kern="0" dirty="0">
                <a:latin typeface="楷体" panose="02010609060101010101" pitchFamily="49" charset="-122"/>
                <a:ea typeface="楷体" panose="02010609060101010101" pitchFamily="49" charset="-122"/>
              </a:rPr>
              <a:t>个人贡献度</a:t>
            </a:r>
            <a:r>
              <a:rPr lang="zh-CN" altLang="en-US" sz="2400" kern="0" dirty="0">
                <a:latin typeface="楷体" panose="02010609060101010101" pitchFamily="49" charset="-122"/>
                <a:ea typeface="楷体" panose="02010609060101010101" pitchFamily="49" charset="-122"/>
              </a:rPr>
              <a:t>体现了各位同学在案例分析活动中的贡献程度</a:t>
            </a:r>
            <a:r>
              <a:rPr lang="zh-CN" altLang="zh-CN" sz="2400" kern="0" dirty="0">
                <a:latin typeface="楷体" panose="02010609060101010101" pitchFamily="49" charset="-122"/>
                <a:ea typeface="楷体" panose="02010609060101010101" pitchFamily="49" charset="-122"/>
              </a:rPr>
              <a:t>，</a:t>
            </a:r>
            <a:r>
              <a:rPr lang="zh-CN" altLang="zh-CN" sz="2400" kern="0" dirty="0">
                <a:solidFill>
                  <a:srgbClr val="FF0000"/>
                </a:solidFill>
                <a:latin typeface="楷体" panose="02010609060101010101" pitchFamily="49" charset="-122"/>
                <a:ea typeface="楷体" panose="02010609060101010101" pitchFamily="49" charset="-122"/>
              </a:rPr>
              <a:t>通过组内同学互评得到</a:t>
            </a:r>
            <a:r>
              <a:rPr lang="zh-CN" altLang="zh-CN" sz="2400" kern="0" dirty="0">
                <a:latin typeface="楷体" panose="02010609060101010101" pitchFamily="49" charset="-122"/>
                <a:ea typeface="楷体" panose="02010609060101010101" pitchFamily="49" charset="-122"/>
              </a:rPr>
              <a:t>。</a:t>
            </a:r>
            <a:endParaRPr lang="en-US" altLang="zh-CN" sz="2400" kern="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8719175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A.4</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最终成绩评定</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案例分析成绩</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01056" y="1458054"/>
            <a:ext cx="11189888" cy="1970946"/>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lvl="1" indent="-457200" algn="just">
              <a:lnSpc>
                <a:spcPct val="130000"/>
              </a:lnSpc>
              <a:buClr>
                <a:srgbClr val="006600"/>
              </a:buClr>
              <a:buSzPct val="90000"/>
              <a:buFont typeface="Wingdings" pitchFamily="2" charset="2"/>
              <a:buChar char="Ü"/>
              <a:defRPr/>
            </a:pPr>
            <a:r>
              <a:rPr lang="zh-CN" altLang="en-US" sz="2400" kern="0" dirty="0">
                <a:latin typeface="楷体" panose="02010609060101010101" pitchFamily="49" charset="-122"/>
                <a:ea typeface="楷体" panose="02010609060101010101" pitchFamily="49" charset="-122"/>
              </a:rPr>
              <a:t>个人贡献度</a:t>
            </a:r>
            <a:endParaRPr lang="en-US" altLang="zh-CN" sz="2400" kern="0" dirty="0">
              <a:latin typeface="楷体" panose="02010609060101010101" pitchFamily="49" charset="-122"/>
              <a:ea typeface="楷体" panose="02010609060101010101" pitchFamily="49" charset="-122"/>
            </a:endParaRPr>
          </a:p>
          <a:p>
            <a:pPr lvl="1" indent="-457200" algn="just">
              <a:lnSpc>
                <a:spcPct val="130000"/>
              </a:lnSpc>
              <a:buClr>
                <a:srgbClr val="006600"/>
              </a:buClr>
              <a:buSzPct val="90000"/>
              <a:buFont typeface="Wingdings" pitchFamily="2" charset="2"/>
              <a:buChar char="Ü"/>
              <a:defRPr/>
            </a:pPr>
            <a:r>
              <a:rPr lang="zh-CN" altLang="zh-CN" sz="1800" b="1" kern="100" dirty="0">
                <a:solidFill>
                  <a:srgbClr val="FF0000"/>
                </a:solidFill>
                <a:effectLst/>
                <a:ea typeface="宋体" panose="02010600030101010101" pitchFamily="2" charset="-122"/>
                <a:cs typeface="宋体" panose="02010600030101010101" pitchFamily="2" charset="-122"/>
              </a:rPr>
              <a:t>组内互评提示语为：</a:t>
            </a:r>
            <a:r>
              <a:rPr lang="zh-CN" altLang="zh-CN" sz="1800" kern="100" dirty="0">
                <a:effectLst/>
                <a:ea typeface="宋体" panose="02010600030101010101" pitchFamily="2" charset="-122"/>
                <a:cs typeface="宋体" panose="02010600030101010101" pitchFamily="2" charset="-122"/>
              </a:rPr>
              <a:t>基于你自己的认知，请列出你们小组各位同学在</a:t>
            </a:r>
            <a:r>
              <a:rPr lang="zh-CN" altLang="zh-CN" sz="1800" kern="100" dirty="0">
                <a:effectLst/>
                <a:highlight>
                  <a:srgbClr val="FFFF00"/>
                </a:highlight>
                <a:ea typeface="宋体" panose="02010600030101010101" pitchFamily="2" charset="-122"/>
                <a:cs typeface="宋体" panose="02010600030101010101" pitchFamily="2" charset="-122"/>
              </a:rPr>
              <a:t>案例分析</a:t>
            </a:r>
            <a:r>
              <a:rPr lang="zh-CN" altLang="en-US" sz="1800" kern="100" dirty="0">
                <a:effectLst/>
                <a:highlight>
                  <a:srgbClr val="FFFF00"/>
                </a:highlight>
                <a:ea typeface="宋体" panose="02010600030101010101" pitchFamily="2" charset="-122"/>
                <a:cs typeface="宋体" panose="02010600030101010101" pitchFamily="2" charset="-122"/>
              </a:rPr>
              <a:t>任务</a:t>
            </a:r>
            <a:r>
              <a:rPr lang="zh-CN" altLang="zh-CN" sz="1800" kern="100" dirty="0">
                <a:effectLst/>
                <a:ea typeface="宋体" panose="02010600030101010101" pitchFamily="2" charset="-122"/>
                <a:cs typeface="宋体" panose="02010600030101010101" pitchFamily="2" charset="-122"/>
              </a:rPr>
              <a:t>中的贡献大小。</a:t>
            </a:r>
            <a:r>
              <a:rPr lang="zh-CN" altLang="zh-CN" sz="1800" kern="100" dirty="0">
                <a:solidFill>
                  <a:srgbClr val="FF0000"/>
                </a:solidFill>
                <a:effectLst/>
                <a:ea typeface="宋体" panose="02010600030101010101" pitchFamily="2" charset="-122"/>
                <a:cs typeface="宋体" panose="02010600030101010101" pitchFamily="2" charset="-122"/>
              </a:rPr>
              <a:t>你自己排第一，小组其他同学贡献从大到小排序。</a:t>
            </a:r>
            <a:r>
              <a:rPr lang="zh-CN" altLang="en-US" sz="1800" b="1" kern="100" dirty="0">
                <a:effectLst/>
                <a:ea typeface="宋体" panose="02010600030101010101" pitchFamily="2" charset="-122"/>
                <a:cs typeface="宋体" panose="02010600030101010101" pitchFamily="2" charset="-122"/>
              </a:rPr>
              <a:t>建议小组每位同学各自独立评价，然后由组长汇总评价结果于下表中，并请各位同学对自己的评价签名确认。</a:t>
            </a:r>
            <a:r>
              <a:rPr lang="zh-CN" altLang="en-US" sz="1800" b="1" kern="100" dirty="0">
                <a:solidFill>
                  <a:srgbClr val="FF0000"/>
                </a:solidFill>
                <a:effectLst/>
                <a:ea typeface="宋体" panose="02010600030101010101" pitchFamily="2" charset="-122"/>
                <a:cs typeface="宋体" panose="02010600030101010101" pitchFamily="2" charset="-122"/>
              </a:rPr>
              <a:t>组长对签名后的打分表拍照形成电子版，与本组案例分析报告和演讲</a:t>
            </a:r>
            <a:r>
              <a:rPr lang="en-US" altLang="zh-CN" sz="1800" b="1" kern="100" dirty="0">
                <a:solidFill>
                  <a:srgbClr val="FF0000"/>
                </a:solidFill>
                <a:effectLst/>
                <a:ea typeface="宋体" panose="02010600030101010101" pitchFamily="2" charset="-122"/>
                <a:cs typeface="宋体" panose="02010600030101010101" pitchFamily="2" charset="-122"/>
              </a:rPr>
              <a:t>PPT</a:t>
            </a:r>
            <a:r>
              <a:rPr lang="zh-CN" altLang="en-US" sz="1800" b="1" kern="100" dirty="0">
                <a:solidFill>
                  <a:srgbClr val="FF0000"/>
                </a:solidFill>
                <a:effectLst/>
                <a:ea typeface="宋体" panose="02010600030101010101" pitchFamily="2" charset="-122"/>
                <a:cs typeface="宋体" panose="02010600030101010101" pitchFamily="2" charset="-122"/>
              </a:rPr>
              <a:t>一起打包发送给老师。</a:t>
            </a:r>
            <a:endParaRPr lang="en-US" altLang="zh-CN" sz="3000" b="1" dirty="0">
              <a:solidFill>
                <a:srgbClr val="FF0000"/>
              </a:solidFill>
              <a:latin typeface="方正粗黑宋简体" pitchFamily="2" charset="-122"/>
              <a:ea typeface="方正粗黑宋简体" pitchFamily="2" charset="-122"/>
            </a:endParaRPr>
          </a:p>
        </p:txBody>
      </p:sp>
      <p:graphicFrame>
        <p:nvGraphicFramePr>
          <p:cNvPr id="2" name="表格 1">
            <a:extLst>
              <a:ext uri="{FF2B5EF4-FFF2-40B4-BE49-F238E27FC236}">
                <a16:creationId xmlns:a16="http://schemas.microsoft.com/office/drawing/2014/main" id="{580E5F19-C5A9-CDAA-0F2B-97485595F461}"/>
              </a:ext>
            </a:extLst>
          </p:cNvPr>
          <p:cNvGraphicFramePr>
            <a:graphicFrameLocks noGrp="1"/>
          </p:cNvGraphicFramePr>
          <p:nvPr>
            <p:extLst>
              <p:ext uri="{D42A27DB-BD31-4B8C-83A1-F6EECF244321}">
                <p14:modId xmlns:p14="http://schemas.microsoft.com/office/powerpoint/2010/main" val="1753806331"/>
              </p:ext>
            </p:extLst>
          </p:nvPr>
        </p:nvGraphicFramePr>
        <p:xfrm>
          <a:off x="1335178" y="3854883"/>
          <a:ext cx="9576663" cy="2738693"/>
        </p:xfrm>
        <a:graphic>
          <a:graphicData uri="http://schemas.openxmlformats.org/drawingml/2006/table">
            <a:tbl>
              <a:tblPr firstRow="1" firstCol="1" bandRow="1">
                <a:tableStyleId>{5C22544A-7EE6-4342-B048-85BDC9FD1C3A}</a:tableStyleId>
              </a:tblPr>
              <a:tblGrid>
                <a:gridCol w="1025201">
                  <a:extLst>
                    <a:ext uri="{9D8B030D-6E8A-4147-A177-3AD203B41FA5}">
                      <a16:colId xmlns:a16="http://schemas.microsoft.com/office/drawing/2014/main" val="3367597544"/>
                    </a:ext>
                  </a:extLst>
                </a:gridCol>
                <a:gridCol w="1535231">
                  <a:extLst>
                    <a:ext uri="{9D8B030D-6E8A-4147-A177-3AD203B41FA5}">
                      <a16:colId xmlns:a16="http://schemas.microsoft.com/office/drawing/2014/main" val="1016644197"/>
                    </a:ext>
                  </a:extLst>
                </a:gridCol>
                <a:gridCol w="1309249">
                  <a:extLst>
                    <a:ext uri="{9D8B030D-6E8A-4147-A177-3AD203B41FA5}">
                      <a16:colId xmlns:a16="http://schemas.microsoft.com/office/drawing/2014/main" val="1772248049"/>
                    </a:ext>
                  </a:extLst>
                </a:gridCol>
                <a:gridCol w="1275489">
                  <a:extLst>
                    <a:ext uri="{9D8B030D-6E8A-4147-A177-3AD203B41FA5}">
                      <a16:colId xmlns:a16="http://schemas.microsoft.com/office/drawing/2014/main" val="1545366621"/>
                    </a:ext>
                  </a:extLst>
                </a:gridCol>
                <a:gridCol w="1223987">
                  <a:extLst>
                    <a:ext uri="{9D8B030D-6E8A-4147-A177-3AD203B41FA5}">
                      <a16:colId xmlns:a16="http://schemas.microsoft.com/office/drawing/2014/main" val="3048738762"/>
                    </a:ext>
                  </a:extLst>
                </a:gridCol>
                <a:gridCol w="1166422">
                  <a:extLst>
                    <a:ext uri="{9D8B030D-6E8A-4147-A177-3AD203B41FA5}">
                      <a16:colId xmlns:a16="http://schemas.microsoft.com/office/drawing/2014/main" val="4100572516"/>
                    </a:ext>
                  </a:extLst>
                </a:gridCol>
                <a:gridCol w="1020542">
                  <a:extLst>
                    <a:ext uri="{9D8B030D-6E8A-4147-A177-3AD203B41FA5}">
                      <a16:colId xmlns:a16="http://schemas.microsoft.com/office/drawing/2014/main" val="321473623"/>
                    </a:ext>
                  </a:extLst>
                </a:gridCol>
                <a:gridCol w="1020542">
                  <a:extLst>
                    <a:ext uri="{9D8B030D-6E8A-4147-A177-3AD203B41FA5}">
                      <a16:colId xmlns:a16="http://schemas.microsoft.com/office/drawing/2014/main" val="2642672542"/>
                    </a:ext>
                  </a:extLst>
                </a:gridCol>
              </a:tblGrid>
              <a:tr h="383063">
                <a:tc>
                  <a:txBody>
                    <a:bodyPr/>
                    <a:lstStyle/>
                    <a:p>
                      <a:pPr algn="ct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endParaRPr 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1</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2</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3</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4</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5</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6</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10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签名</a:t>
                      </a:r>
                      <a:endParaRPr lang="zh-CN" altLang="zh-CN" sz="110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14997414"/>
                  </a:ext>
                </a:extLst>
              </a:tr>
              <a:tr h="392605">
                <a:tc>
                  <a:txBody>
                    <a:bodyPr/>
                    <a:lstStyle/>
                    <a:p>
                      <a:pPr algn="ctr"/>
                      <a:r>
                        <a:rPr lang="zh-CN" altLang="en-US"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成员</a:t>
                      </a:r>
                      <a:r>
                        <a:rPr lang="en-US"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rPr>
                        <a:t>1</a:t>
                      </a:r>
                      <a:endParaRPr lang="zh-CN" altLang="zh-CN" sz="1050" kern="100" dirty="0">
                        <a:solidFill>
                          <a:srgbClr val="FF0000"/>
                        </a:solidFill>
                        <a:effectLst/>
                        <a:highlight>
                          <a:srgbClr val="D3F4F1"/>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885834"/>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2</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55277426"/>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3</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714208497"/>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4</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52402805"/>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5</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0526420"/>
                  </a:ext>
                </a:extLst>
              </a:tr>
              <a:tr h="3926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成员</a:t>
                      </a:r>
                      <a:r>
                        <a:rPr kumimoji="0" lang="en-US"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rPr>
                        <a:t>6</a:t>
                      </a:r>
                      <a:endParaRPr kumimoji="0" lang="zh-CN" altLang="zh-CN" sz="1050" b="1" i="0" u="none" strike="noStrike" kern="100" cap="none" spc="0" normalizeH="0" baseline="0" noProof="0" dirty="0">
                        <a:ln>
                          <a:noFill/>
                        </a:ln>
                        <a:solidFill>
                          <a:srgbClr val="FF0000"/>
                        </a:solidFill>
                        <a:effectLst/>
                        <a:highlight>
                          <a:srgbClr val="D3F4F1"/>
                        </a:highlight>
                        <a:uLnTx/>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endParaRPr lang="zh-CN" sz="18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endParaRPr lang="zh-CN" sz="180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r>
                        <a:rPr lang="en-US" sz="1200" kern="0" dirty="0">
                          <a:effectLst/>
                          <a:highlight>
                            <a:srgbClr val="FFFF00"/>
                          </a:highlight>
                        </a:rPr>
                        <a:t>1</a:t>
                      </a: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lgn="ctr"/>
                      <a:endParaRPr lang="zh-CN" sz="2000" kern="100" dirty="0">
                        <a:effectLst/>
                        <a:highlight>
                          <a:srgbClr val="FFFF00"/>
                        </a:highligh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385566020"/>
                  </a:ext>
                </a:extLst>
              </a:tr>
            </a:tbl>
          </a:graphicData>
        </a:graphic>
      </p:graphicFrame>
      <p:sp>
        <p:nvSpPr>
          <p:cNvPr id="4" name="Rectangle 1">
            <a:extLst>
              <a:ext uri="{FF2B5EF4-FFF2-40B4-BE49-F238E27FC236}">
                <a16:creationId xmlns:a16="http://schemas.microsoft.com/office/drawing/2014/main" id="{526AEEB4-137D-BC5B-E2D7-E639D93680AE}"/>
              </a:ext>
            </a:extLst>
          </p:cNvPr>
          <p:cNvSpPr>
            <a:spLocks noChangeArrowheads="1"/>
          </p:cNvSpPr>
          <p:nvPr/>
        </p:nvSpPr>
        <p:spPr bwMode="auto">
          <a:xfrm>
            <a:off x="3335383" y="3516329"/>
            <a:ext cx="63311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8288"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266700"/>
            <a:r>
              <a:rPr lang="zh-CN" altLang="en-US" sz="1600" dirty="0">
                <a:latin typeface="Calibri" panose="020F0502020204030204" pitchFamily="34" charset="0"/>
                <a:ea typeface="方正粗黑宋简体"/>
                <a:cs typeface="Arial" panose="020B0604020202020204" pitchFamily="34" charset="0"/>
              </a:rPr>
              <a:t>（    ）班第（   ）组        </a:t>
            </a:r>
            <a:r>
              <a:rPr lang="zh-CN" altLang="en-US" sz="1600" dirty="0">
                <a:solidFill>
                  <a:srgbClr val="FF0000"/>
                </a:solidFill>
                <a:latin typeface="Calibri" panose="020F0502020204030204" pitchFamily="34" charset="0"/>
                <a:ea typeface="方正粗黑宋简体"/>
                <a:cs typeface="Arial" panose="020B0604020202020204" pitchFamily="34" charset="0"/>
              </a:rPr>
              <a:t>案例分析任务</a:t>
            </a:r>
            <a:r>
              <a:rPr kumimoji="0" lang="zh-CN" altLang="en-US" sz="1600" b="0" i="0" u="none" strike="noStrike" cap="none" normalizeH="0" baseline="0" dirty="0">
                <a:ln>
                  <a:noFill/>
                </a:ln>
                <a:solidFill>
                  <a:schemeClr val="tx1"/>
                </a:solidFill>
                <a:effectLst/>
                <a:latin typeface="Calibri" panose="020F0502020204030204" pitchFamily="34" charset="0"/>
                <a:ea typeface="方正粗黑宋简体"/>
                <a:cs typeface="Arial" panose="020B0604020202020204" pitchFamily="34" charset="0"/>
              </a:rPr>
              <a:t>个人贡献</a:t>
            </a:r>
            <a:r>
              <a:rPr kumimoji="0" lang="zh-CN" altLang="zh-CN" sz="1600" b="0" i="0" u="none" strike="noStrike" cap="none" normalizeH="0" baseline="0" dirty="0">
                <a:ln>
                  <a:noFill/>
                </a:ln>
                <a:solidFill>
                  <a:schemeClr val="tx1"/>
                </a:solidFill>
                <a:effectLst/>
                <a:latin typeface="Calibri" panose="020F0502020204030204" pitchFamily="34" charset="0"/>
                <a:ea typeface="方正粗黑宋简体"/>
                <a:cs typeface="Arial" panose="020B0604020202020204" pitchFamily="34" charset="0"/>
              </a:rPr>
              <a:t>组内打分表</a:t>
            </a:r>
            <a:r>
              <a:rPr kumimoji="0" lang="zh-CN" altLang="en-US" sz="1600" b="0" i="0" u="none" strike="noStrike" cap="none" normalizeH="0" baseline="0" dirty="0">
                <a:ln>
                  <a:noFill/>
                </a:ln>
                <a:solidFill>
                  <a:schemeClr val="tx1"/>
                </a:solidFill>
                <a:effectLst/>
                <a:latin typeface="Calibri" panose="020F0502020204030204" pitchFamily="34" charset="0"/>
                <a:ea typeface="方正粗黑宋简体"/>
                <a:cs typeface="Arial" panose="020B0604020202020204" pitchFamily="34"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885569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
          <p:cNvSpPr>
            <a:spLocks noChangeArrowheads="1"/>
          </p:cNvSpPr>
          <p:nvPr/>
        </p:nvSpPr>
        <p:spPr bwMode="auto">
          <a:xfrm>
            <a:off x="391371" y="264424"/>
            <a:ext cx="8491372" cy="492443"/>
          </a:xfrm>
          <a:prstGeom prst="rect">
            <a:avLst/>
          </a:prstGeom>
          <a:noFill/>
          <a:ln w="9525">
            <a:noFill/>
            <a:miter lim="800000"/>
            <a:headEnd/>
            <a:tailEnd/>
          </a:ln>
        </p:spPr>
        <p:txBody>
          <a:bodyPr wrap="square" lIns="0" tIns="0" rIns="0" bIns="0" anchor="ctr">
            <a:spAutoFit/>
          </a:bodyPr>
          <a:lstStyle/>
          <a:p>
            <a:pPr>
              <a:defRPr/>
            </a:pPr>
            <a:r>
              <a:rPr lang="en-US" altLang="zh-CN" sz="3200" b="1" dirty="0" err="1">
                <a:solidFill>
                  <a:srgbClr val="FF0000"/>
                </a:solidFill>
                <a:latin typeface="Arial" panose="020B0604020202020204" pitchFamily="34" charset="0"/>
                <a:ea typeface="微软雅黑" panose="020B0503020204020204" pitchFamily="34" charset="-122"/>
                <a:cs typeface="Arial" panose="020B0604020202020204" pitchFamily="34" charset="0"/>
              </a:rPr>
              <a:t>A.5</a:t>
            </a:r>
            <a:r>
              <a:rPr lang="en-US" altLang="zh-CN"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dirty="0">
                <a:solidFill>
                  <a:srgbClr val="FF0000"/>
                </a:solidFill>
                <a:latin typeface="Arial" panose="020B0604020202020204" pitchFamily="34" charset="0"/>
                <a:ea typeface="微软雅黑" panose="020B0503020204020204" pitchFamily="34" charset="-122"/>
                <a:cs typeface="Arial" panose="020B0604020202020204" pitchFamily="34" charset="0"/>
              </a:rPr>
              <a:t>资料归档</a:t>
            </a:r>
          </a:p>
        </p:txBody>
      </p:sp>
      <p:sp>
        <p:nvSpPr>
          <p:cNvPr id="6" name="Rectangle 4">
            <a:extLst>
              <a:ext uri="{FF2B5EF4-FFF2-40B4-BE49-F238E27FC236}">
                <a16:creationId xmlns:a16="http://schemas.microsoft.com/office/drawing/2014/main" id="{855FCE7A-5006-4AB4-980B-0F38FB49B882}"/>
              </a:ext>
            </a:extLst>
          </p:cNvPr>
          <p:cNvSpPr txBox="1">
            <a:spLocks noChangeArrowheads="1"/>
          </p:cNvSpPr>
          <p:nvPr/>
        </p:nvSpPr>
        <p:spPr bwMode="auto">
          <a:xfrm>
            <a:off x="501056" y="888622"/>
            <a:ext cx="5287676" cy="73086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1">
              <a:lnSpc>
                <a:spcPct val="130000"/>
              </a:lnSpc>
              <a:spcBef>
                <a:spcPts val="200"/>
              </a:spcBef>
              <a:spcAft>
                <a:spcPts val="200"/>
              </a:spcAft>
              <a:buClr>
                <a:srgbClr val="C00000"/>
              </a:buClr>
              <a:buSzPct val="85000"/>
              <a:buFont typeface="Wingdings" pitchFamily="2" charset="2"/>
              <a:buChar char="o"/>
              <a:defRPr/>
            </a:pPr>
            <a:r>
              <a:rPr lang="zh-CN" altLang="en-US" sz="3200" b="1" dirty="0">
                <a:solidFill>
                  <a:srgbClr val="C00000"/>
                </a:solidFill>
                <a:latin typeface="微软雅黑" pitchFamily="34" charset="-122"/>
                <a:ea typeface="微软雅黑" pitchFamily="34" charset="-122"/>
              </a:rPr>
              <a:t> 资料归档</a:t>
            </a:r>
            <a:endParaRPr kumimoji="0" lang="en-US" altLang="zh-CN" sz="3200" b="1" i="0" u="none" strike="noStrike" kern="1200" cap="none" spc="0" normalizeH="0" baseline="0" noProof="0" dirty="0">
              <a:ln>
                <a:noFill/>
              </a:ln>
              <a:solidFill>
                <a:srgbClr val="C00000"/>
              </a:solidFill>
              <a:effectLst/>
              <a:uLnTx/>
              <a:uFillTx/>
              <a:latin typeface="微软雅黑" pitchFamily="34" charset="-122"/>
              <a:ea typeface="微软雅黑" pitchFamily="34" charset="-122"/>
              <a:cs typeface="+mn-cs"/>
            </a:endParaRPr>
          </a:p>
        </p:txBody>
      </p:sp>
      <p:sp>
        <p:nvSpPr>
          <p:cNvPr id="7" name="Rectangle 4">
            <a:extLst>
              <a:ext uri="{FF2B5EF4-FFF2-40B4-BE49-F238E27FC236}">
                <a16:creationId xmlns:a16="http://schemas.microsoft.com/office/drawing/2014/main" id="{281C2810-887C-4A4D-8C91-2CD52BD4972E}"/>
              </a:ext>
            </a:extLst>
          </p:cNvPr>
          <p:cNvSpPr txBox="1">
            <a:spLocks noChangeArrowheads="1"/>
          </p:cNvSpPr>
          <p:nvPr/>
        </p:nvSpPr>
        <p:spPr bwMode="auto">
          <a:xfrm>
            <a:off x="587828" y="1617123"/>
            <a:ext cx="11103115" cy="4976453"/>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lvl="2" algn="just">
              <a:lnSpc>
                <a:spcPct val="130000"/>
              </a:lnSpc>
              <a:spcBef>
                <a:spcPts val="200"/>
              </a:spcBef>
              <a:spcAft>
                <a:spcPts val="200"/>
              </a:spcAft>
              <a:buClr>
                <a:srgbClr val="000066"/>
              </a:buClr>
              <a:buSzPct val="85000"/>
              <a:buFont typeface="Wingdings" pitchFamily="2" charset="2"/>
              <a:buChar char="µ"/>
              <a:defRPr/>
            </a:pP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 最后一次课程结束后一周内，由组长将</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本组的案例分析报告、演讲</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PPT</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和本组同学签名确认的个人贡献组内打分表电子版</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打包通过邮件发送至</a:t>
            </a:r>
            <a:r>
              <a:rPr lang="en-US" altLang="zh-CN" sz="3200" u="sng" kern="0" dirty="0">
                <a:latin typeface="楷体" panose="02010609060101010101" pitchFamily="49" charset="-122"/>
                <a:ea typeface="楷体" panose="02010609060101010101" pitchFamily="49" charset="-122"/>
              </a:rPr>
              <a:t>daibaohfut@126.com</a:t>
            </a:r>
            <a:r>
              <a:rPr lang="zh-CN" altLang="en-US" sz="32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zh-CN" altLang="en-US"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邮件命名格式为</a:t>
            </a:r>
            <a:r>
              <a:rPr lang="en-US" altLang="zh-CN" sz="28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Arial" pitchFamily="34" charset="0"/>
              </a:rPr>
              <a:t>:</a:t>
            </a:r>
            <a:r>
              <a:rPr lang="en-US" altLang="zh-CN"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rPr>
              <a:t>X</a:t>
            </a:r>
            <a:r>
              <a:rPr lang="zh-CN" altLang="en-US"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rPr>
              <a:t>班第</a:t>
            </a:r>
            <a:r>
              <a:rPr lang="en-US" altLang="zh-CN"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rPr>
              <a:t>X</a:t>
            </a:r>
            <a:r>
              <a:rPr lang="zh-CN" altLang="en-US" sz="2800" b="1" dirty="0">
                <a:solidFill>
                  <a:srgbClr val="000000"/>
                </a:solidFill>
                <a:effectLst>
                  <a:outerShdw blurRad="38100" dist="38100" dir="2700000" algn="tl">
                    <a:srgbClr val="000000">
                      <a:alpha val="43137"/>
                    </a:srgbClr>
                  </a:outerShdw>
                </a:effectLst>
                <a:highlight>
                  <a:srgbClr val="FFFF00"/>
                </a:highlight>
                <a:latin typeface="黑体" panose="02010609060101010101" pitchFamily="49" charset="-122"/>
                <a:ea typeface="黑体" panose="02010609060101010101" pitchFamily="49" charset="-122"/>
                <a:cs typeface="Arial" pitchFamily="34" charset="0"/>
              </a:rPr>
              <a:t>组案例分析任务资料</a:t>
            </a:r>
            <a:endParaRPr lang="en-US" altLang="zh-CN" sz="3000" u="sng" dirty="0">
              <a:latin typeface="方正粗黑宋简体" pitchFamily="2" charset="-122"/>
              <a:ea typeface="方正粗黑宋简体" pitchFamily="2" charset="-122"/>
            </a:endParaRPr>
          </a:p>
        </p:txBody>
      </p:sp>
    </p:spTree>
    <p:extLst>
      <p:ext uri="{BB962C8B-B14F-4D97-AF65-F5344CB8AC3E}">
        <p14:creationId xmlns:p14="http://schemas.microsoft.com/office/powerpoint/2010/main" val="42899195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0774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4733</TotalTime>
  <Words>8711</Words>
  <Application>Microsoft Office PowerPoint</Application>
  <PresentationFormat>宽屏</PresentationFormat>
  <Paragraphs>323</Paragraphs>
  <Slides>15</Slides>
  <Notes>11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15</vt:i4>
      </vt:variant>
    </vt:vector>
  </HeadingPairs>
  <TitlesOfParts>
    <vt:vector size="31" baseType="lpstr">
      <vt:lpstr>FZCuHeiSongS-B-GB</vt:lpstr>
      <vt:lpstr>方正粗黑宋简体</vt:lpstr>
      <vt:lpstr>黑体</vt:lpstr>
      <vt:lpstr>宋体</vt:lpstr>
      <vt:lpstr>Arial</vt:lpstr>
      <vt:lpstr>Calibri</vt:lpstr>
      <vt:lpstr>Times New Roman</vt:lpstr>
      <vt:lpstr>Wingdings</vt:lpstr>
      <vt:lpstr>等线</vt:lpstr>
      <vt:lpstr>华文仿宋</vt:lpstr>
      <vt:lpstr>华文楷体</vt:lpstr>
      <vt:lpstr>华文行楷</vt:lpstr>
      <vt:lpstr>楷体</vt:lpstr>
      <vt:lpstr>思源黑体 CN Light</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niu Lao</dc:creator>
  <cp:lastModifiedBy>bao dai</cp:lastModifiedBy>
  <cp:revision>353</cp:revision>
  <dcterms:created xsi:type="dcterms:W3CDTF">2024-04-01T12:33:40Z</dcterms:created>
  <dcterms:modified xsi:type="dcterms:W3CDTF">2024-05-08T12:28:06Z</dcterms:modified>
</cp:coreProperties>
</file>