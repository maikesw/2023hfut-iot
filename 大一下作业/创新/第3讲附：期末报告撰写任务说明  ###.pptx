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385" r:id="rId3"/>
    <p:sldId id="424" r:id="rId4"/>
    <p:sldId id="467" r:id="rId5"/>
    <p:sldId id="469" r:id="rId6"/>
    <p:sldId id="457" r:id="rId7"/>
    <p:sldId id="460" r:id="rId8"/>
    <p:sldId id="470" r:id="rId9"/>
    <p:sldId id="461" r:id="rId10"/>
    <p:sldId id="45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23" autoAdjust="0"/>
  </p:normalViewPr>
  <p:slideViewPr>
    <p:cSldViewPr snapToGrid="0">
      <p:cViewPr varScale="1">
        <p:scale>
          <a:sx n="110" d="100"/>
          <a:sy n="110"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5A1AB-42F4-43E0-83E4-DCAB59017F3C}" type="datetimeFigureOut">
              <a:rPr lang="zh-CN" altLang="en-US" smtClean="0"/>
              <a:t>2024/5/7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E7AE9-B6E4-4F0D-A868-D3DB946749D1}" type="slidenum">
              <a:rPr lang="zh-CN" altLang="en-US" smtClean="0"/>
              <a:t>‹#›</a:t>
            </a:fld>
            <a:endParaRPr lang="zh-CN" altLang="en-US"/>
          </a:p>
        </p:txBody>
      </p:sp>
    </p:spTree>
    <p:extLst>
      <p:ext uri="{BB962C8B-B14F-4D97-AF65-F5344CB8AC3E}">
        <p14:creationId xmlns:p14="http://schemas.microsoft.com/office/powerpoint/2010/main" val="365521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3</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4</a:t>
            </a:fld>
            <a:endParaRPr kumimoji="1" lang="zh-CN" altLang="en-US"/>
          </a:p>
        </p:txBody>
      </p:sp>
    </p:spTree>
    <p:extLst>
      <p:ext uri="{BB962C8B-B14F-4D97-AF65-F5344CB8AC3E}">
        <p14:creationId xmlns:p14="http://schemas.microsoft.com/office/powerpoint/2010/main" val="1597435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5</a:t>
            </a:fld>
            <a:endParaRPr kumimoji="1" lang="zh-CN" altLang="en-US"/>
          </a:p>
        </p:txBody>
      </p:sp>
    </p:spTree>
    <p:extLst>
      <p:ext uri="{BB962C8B-B14F-4D97-AF65-F5344CB8AC3E}">
        <p14:creationId xmlns:p14="http://schemas.microsoft.com/office/powerpoint/2010/main" val="1769967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6</a:t>
            </a:fld>
            <a:endParaRPr kumimoji="1" lang="zh-CN" altLang="en-US"/>
          </a:p>
        </p:txBody>
      </p:sp>
    </p:spTree>
    <p:extLst>
      <p:ext uri="{BB962C8B-B14F-4D97-AF65-F5344CB8AC3E}">
        <p14:creationId xmlns:p14="http://schemas.microsoft.com/office/powerpoint/2010/main" val="1426494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7</a:t>
            </a:fld>
            <a:endParaRPr kumimoji="1" lang="zh-CN" altLang="en-US"/>
          </a:p>
        </p:txBody>
      </p:sp>
    </p:spTree>
    <p:extLst>
      <p:ext uri="{BB962C8B-B14F-4D97-AF65-F5344CB8AC3E}">
        <p14:creationId xmlns:p14="http://schemas.microsoft.com/office/powerpoint/2010/main" val="255289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8</a:t>
            </a:fld>
            <a:endParaRPr kumimoji="1" lang="zh-CN" altLang="en-US"/>
          </a:p>
        </p:txBody>
      </p:sp>
    </p:spTree>
    <p:extLst>
      <p:ext uri="{BB962C8B-B14F-4D97-AF65-F5344CB8AC3E}">
        <p14:creationId xmlns:p14="http://schemas.microsoft.com/office/powerpoint/2010/main" val="2641340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9</a:t>
            </a:fld>
            <a:endParaRPr kumimoji="1" lang="zh-CN" altLang="en-US"/>
          </a:p>
        </p:txBody>
      </p:sp>
    </p:spTree>
    <p:extLst>
      <p:ext uri="{BB962C8B-B14F-4D97-AF65-F5344CB8AC3E}">
        <p14:creationId xmlns:p14="http://schemas.microsoft.com/office/powerpoint/2010/main" val="3593754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E6A9A2-A06E-4BA2-A022-26BC92E5D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15772" r="-2005" b="18057"/>
          <a:stretch>
            <a:fillRect/>
          </a:stretch>
        </p:blipFill>
        <p:spPr>
          <a:xfrm>
            <a:off x="5052553" y="-1"/>
            <a:ext cx="7111054" cy="6858001"/>
          </a:xfrm>
          <a:prstGeom prst="rect">
            <a:avLst/>
          </a:prstGeom>
        </p:spPr>
      </p:pic>
      <p:sp>
        <p:nvSpPr>
          <p:cNvPr id="8" name="矩形 7">
            <a:extLst>
              <a:ext uri="{FF2B5EF4-FFF2-40B4-BE49-F238E27FC236}">
                <a16:creationId xmlns:a16="http://schemas.microsoft.com/office/drawing/2014/main" id="{5E846B5D-6E26-4392-A99D-4A89CA1744E6}"/>
              </a:ext>
            </a:extLst>
          </p:cNvPr>
          <p:cNvSpPr/>
          <p:nvPr userDrawn="1"/>
        </p:nvSpPr>
        <p:spPr>
          <a:xfrm>
            <a:off x="-9046" y="-19991"/>
            <a:ext cx="5222378" cy="6877991"/>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50021"/>
              </a:solidFill>
              <a:latin typeface="思源黑体 CN Light" panose="020F05020202040A0204" pitchFamily="34" charset="-122"/>
              <a:ea typeface="思源黑体 CN Light" panose="020F05020202040A0204" pitchFamily="34" charset="-122"/>
            </a:endParaRPr>
          </a:p>
        </p:txBody>
      </p:sp>
      <p:sp>
        <p:nvSpPr>
          <p:cNvPr id="9" name="矩形 8">
            <a:extLst>
              <a:ext uri="{FF2B5EF4-FFF2-40B4-BE49-F238E27FC236}">
                <a16:creationId xmlns:a16="http://schemas.microsoft.com/office/drawing/2014/main" id="{53C316FA-F6B9-4AB2-A007-EB6995F3A691}"/>
              </a:ext>
            </a:extLst>
          </p:cNvPr>
          <p:cNvSpPr/>
          <p:nvPr userDrawn="1"/>
        </p:nvSpPr>
        <p:spPr>
          <a:xfrm>
            <a:off x="11194118" y="-19877"/>
            <a:ext cx="997882" cy="6877877"/>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grpSp>
        <p:nvGrpSpPr>
          <p:cNvPr id="10" name="组合 9">
            <a:extLst>
              <a:ext uri="{FF2B5EF4-FFF2-40B4-BE49-F238E27FC236}">
                <a16:creationId xmlns:a16="http://schemas.microsoft.com/office/drawing/2014/main" id="{3275A265-9417-48A4-AA1E-2AF8C6268012}"/>
              </a:ext>
            </a:extLst>
          </p:cNvPr>
          <p:cNvGrpSpPr/>
          <p:nvPr userDrawn="1"/>
        </p:nvGrpSpPr>
        <p:grpSpPr>
          <a:xfrm>
            <a:off x="11439143" y="2223847"/>
            <a:ext cx="507831" cy="3864238"/>
            <a:chOff x="366787" y="1433771"/>
            <a:chExt cx="507831" cy="3864238"/>
          </a:xfrm>
        </p:grpSpPr>
        <p:sp>
          <p:nvSpPr>
            <p:cNvPr id="11" name="文本框 33">
              <a:extLst>
                <a:ext uri="{FF2B5EF4-FFF2-40B4-BE49-F238E27FC236}">
                  <a16:creationId xmlns:a16="http://schemas.microsoft.com/office/drawing/2014/main" id="{B8C3C120-18E4-4DC6-AAAA-9EA88FB97888}"/>
                </a:ext>
              </a:extLst>
            </p:cNvPr>
            <p:cNvSpPr txBox="1"/>
            <p:nvPr/>
          </p:nvSpPr>
          <p:spPr>
            <a:xfrm>
              <a:off x="366787" y="2397866"/>
              <a:ext cx="507831" cy="2900143"/>
            </a:xfrm>
            <a:prstGeom prst="rect">
              <a:avLst/>
            </a:prstGeom>
            <a:noFill/>
          </p:spPr>
          <p:txBody>
            <a:bodyPr vert="eaVert" wrap="square">
              <a:spAutoFit/>
            </a:bodyPr>
            <a:lstStyle/>
            <a:p>
              <a:r>
                <a:rPr lang="en-US" altLang="zh-CN" sz="2100" b="1" dirty="0">
                  <a:solidFill>
                    <a:schemeClr val="bg1"/>
                  </a:solidFill>
                  <a:effectLst>
                    <a:outerShdw blurRad="38100" dist="38100" dir="2700000" algn="tl">
                      <a:srgbClr val="000000">
                        <a:alpha val="43137"/>
                      </a:srgbClr>
                    </a:outerShdw>
                  </a:effectLst>
                  <a:latin typeface="Times New Roman" panose="02020603050405020304" pitchFamily="18" charset="0"/>
                  <a:ea typeface="FZCuHeiSongS-B-GB" panose="02000000000000000000" pitchFamily="2" charset="-122"/>
                  <a:cs typeface="Times New Roman" panose="02020603050405020304" pitchFamily="18" charset="0"/>
                </a:rPr>
                <a:t>H F U T</a:t>
              </a:r>
              <a:endParaRPr lang="zh-CN" altLang="en-US" sz="2100" b="1" dirty="0">
                <a:solidFill>
                  <a:schemeClr val="bg1"/>
                </a:solidFill>
                <a:effectLst>
                  <a:outerShdw blurRad="38100" dist="38100" dir="2700000" algn="tl">
                    <a:srgbClr val="000000">
                      <a:alpha val="43137"/>
                    </a:srgbClr>
                  </a:outerShdw>
                </a:effectLst>
                <a:latin typeface="Times New Roman" panose="02020603050405020304" pitchFamily="18" charset="0"/>
                <a:ea typeface="FZCuHeiSongS-B-GB" panose="02000000000000000000" pitchFamily="2" charset="-122"/>
                <a:cs typeface="Times New Roman" panose="02020603050405020304" pitchFamily="18" charset="0"/>
              </a:endParaRPr>
            </a:p>
          </p:txBody>
        </p:sp>
        <p:cxnSp>
          <p:nvCxnSpPr>
            <p:cNvPr id="12" name="直接连接符 33">
              <a:extLst>
                <a:ext uri="{FF2B5EF4-FFF2-40B4-BE49-F238E27FC236}">
                  <a16:creationId xmlns:a16="http://schemas.microsoft.com/office/drawing/2014/main" id="{B8AA480D-038D-4D3D-92A8-AA6DCBC859A7}"/>
                </a:ext>
              </a:extLst>
            </p:cNvPr>
            <p:cNvCxnSpPr/>
            <p:nvPr/>
          </p:nvCxnSpPr>
          <p:spPr>
            <a:xfrm>
              <a:off x="620533" y="1433771"/>
              <a:ext cx="0" cy="7967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3" name="图片 12">
            <a:extLst>
              <a:ext uri="{FF2B5EF4-FFF2-40B4-BE49-F238E27FC236}">
                <a16:creationId xmlns:a16="http://schemas.microsoft.com/office/drawing/2014/main" id="{1E0F1BEF-78EB-4736-A087-414791CE6F44}"/>
              </a:ext>
            </a:extLst>
          </p:cNvPr>
          <p:cNvPicPr>
            <a:picLocks noChangeAspect="1"/>
          </p:cNvPicPr>
          <p:nvPr userDrawn="1"/>
        </p:nvPicPr>
        <p:blipFill>
          <a:blip r:embed="rId3" cstate="print">
            <a:grayscl/>
            <a:extLst>
              <a:ext uri="{28A0092B-C50C-407E-A947-70E740481C1C}">
                <a14:useLocalDpi xmlns:a14="http://schemas.microsoft.com/office/drawing/2010/main" val="0"/>
              </a:ext>
            </a:extLst>
          </a:blip>
          <a:stretch>
            <a:fillRect/>
          </a:stretch>
        </p:blipFill>
        <p:spPr>
          <a:xfrm>
            <a:off x="389809" y="5151067"/>
            <a:ext cx="4569185" cy="1504680"/>
          </a:xfrm>
          <a:prstGeom prst="rect">
            <a:avLst/>
          </a:prstGeom>
        </p:spPr>
      </p:pic>
      <p:pic>
        <p:nvPicPr>
          <p:cNvPr id="14" name="图片 13">
            <a:extLst>
              <a:ext uri="{FF2B5EF4-FFF2-40B4-BE49-F238E27FC236}">
                <a16:creationId xmlns:a16="http://schemas.microsoft.com/office/drawing/2014/main" id="{FB6BC779-D27A-40AC-BA8E-49F1A88AA5C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389809" y="331746"/>
            <a:ext cx="2743275" cy="514663"/>
          </a:xfrm>
          <a:prstGeom prst="rect">
            <a:avLst/>
          </a:prstGeom>
        </p:spPr>
      </p:pic>
      <p:sp>
        <p:nvSpPr>
          <p:cNvPr id="15" name="矩形 14">
            <a:extLst>
              <a:ext uri="{FF2B5EF4-FFF2-40B4-BE49-F238E27FC236}">
                <a16:creationId xmlns:a16="http://schemas.microsoft.com/office/drawing/2014/main" id="{BE4C38EC-8D42-4234-BBD0-72391FAFA243}"/>
              </a:ext>
            </a:extLst>
          </p:cNvPr>
          <p:cNvSpPr/>
          <p:nvPr userDrawn="1"/>
        </p:nvSpPr>
        <p:spPr>
          <a:xfrm>
            <a:off x="922947" y="1444241"/>
            <a:ext cx="5597496" cy="1107996"/>
          </a:xfrm>
          <a:prstGeom prst="rect">
            <a:avLst/>
          </a:prstGeom>
          <a:noFill/>
          <a:ln>
            <a:noFill/>
          </a:ln>
        </p:spPr>
        <p:txBody>
          <a:bodyPr wrap="square" lIns="0" tIns="0" rIns="0" bIns="0">
            <a:spAutoFit/>
          </a:bodyPr>
          <a:lstStyle/>
          <a:p>
            <a:pPr algn="ctr"/>
            <a:r>
              <a:rPr lang="zh-CN" altLang="en-US" sz="7200" b="1" cap="none" spc="0" dirty="0">
                <a:ln w="18415" cmpd="sng">
                  <a:solidFill>
                    <a:srgbClr val="FFFFFF"/>
                  </a:solidFill>
                  <a:prstDash val="solid"/>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字魂105号-简雅黑" panose="00000500000000000000" pitchFamily="2" charset="-122"/>
              </a:rPr>
              <a:t>创新创业基础</a:t>
            </a:r>
            <a:endParaRPr lang="zh-CN" altLang="en-US" sz="7200" b="1" cap="none" spc="0" dirty="0">
              <a:ln w="18415" cmpd="sng">
                <a:solidFill>
                  <a:srgbClr val="FFFFFF"/>
                </a:solidFill>
                <a:prstDash val="solid"/>
              </a:ln>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2431E4C8-42A6-4065-9372-3510D21E202B}"/>
              </a:ext>
            </a:extLst>
          </p:cNvPr>
          <p:cNvSpPr/>
          <p:nvPr userDrawn="1"/>
        </p:nvSpPr>
        <p:spPr>
          <a:xfrm>
            <a:off x="2170630" y="3954545"/>
            <a:ext cx="2694969" cy="584775"/>
          </a:xfrm>
          <a:prstGeom prst="rect">
            <a:avLst/>
          </a:prstGeom>
          <a:noFill/>
          <a:ln>
            <a:noFill/>
          </a:ln>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200" b="1" spc="50" dirty="0">
                <a:ln w="11430"/>
                <a:solidFill>
                  <a:srgbClr val="FF0000"/>
                </a:solidFill>
                <a:latin typeface="黑体" panose="02010609060101010101" pitchFamily="49" charset="-122"/>
                <a:ea typeface="黑体" panose="02010609060101010101" pitchFamily="49" charset="-122"/>
                <a:cs typeface="思源黑体 CN Medium" panose="020B0600000000000000" charset="-122"/>
              </a:rPr>
              <a:t>主讲人：</a:t>
            </a:r>
            <a:r>
              <a:rPr lang="zh-CN" altLang="en-US" sz="3200" b="1" spc="50" dirty="0">
                <a:ln w="11430"/>
                <a:solidFill>
                  <a:srgbClr val="0000CC"/>
                </a:solidFill>
                <a:latin typeface="黑体" panose="02010609060101010101" pitchFamily="49" charset="-122"/>
                <a:ea typeface="黑体" panose="02010609060101010101" pitchFamily="49" charset="-122"/>
                <a:cs typeface="思源黑体 CN Medium" panose="020B0600000000000000" charset="-122"/>
              </a:rPr>
              <a:t>代宝</a:t>
            </a:r>
          </a:p>
        </p:txBody>
      </p:sp>
      <p:sp>
        <p:nvSpPr>
          <p:cNvPr id="17" name="文本框 28">
            <a:extLst>
              <a:ext uri="{FF2B5EF4-FFF2-40B4-BE49-F238E27FC236}">
                <a16:creationId xmlns:a16="http://schemas.microsoft.com/office/drawing/2014/main" id="{C706A2A9-D257-429B-AE70-490A22A657A6}"/>
              </a:ext>
            </a:extLst>
          </p:cNvPr>
          <p:cNvSpPr txBox="1"/>
          <p:nvPr userDrawn="1"/>
        </p:nvSpPr>
        <p:spPr>
          <a:xfrm>
            <a:off x="2885715" y="5005069"/>
            <a:ext cx="1671960" cy="246221"/>
          </a:xfrm>
          <a:prstGeom prst="rect">
            <a:avLst/>
          </a:prstGeom>
          <a:noFill/>
        </p:spPr>
        <p:txBody>
          <a:bodyPr wrap="square" lIns="0" tIns="0" rIns="0" bIns="0" rtlCol="0">
            <a:spAutoFit/>
          </a:bodyPr>
          <a:lstStyle/>
          <a:p>
            <a:pPr algn="ctr"/>
            <a:fld id="{D06CBC9D-0031-4AB9-99F8-1E14D50E9075}" type="datetime2">
              <a:rPr lang="zh-CN" altLang="en-US" sz="1600" b="1" smtClean="0">
                <a:solidFill>
                  <a:schemeClr val="bg1">
                    <a:lumMod val="95000"/>
                  </a:schemeClr>
                </a:solidFill>
                <a:latin typeface="黑体" panose="02010609060101010101" pitchFamily="49" charset="-122"/>
                <a:ea typeface="黑体" panose="02010609060101010101" pitchFamily="49" charset="-122"/>
                <a:cs typeface="Arial" pitchFamily="34" charset="0"/>
              </a:rPr>
              <a:t>2024年5月7日</a:t>
            </a:fld>
            <a:endParaRPr lang="zh-CN" altLang="en-US" sz="1600" b="1" dirty="0">
              <a:solidFill>
                <a:schemeClr val="bg1">
                  <a:lumMod val="95000"/>
                </a:schemeClr>
              </a:solidFill>
              <a:latin typeface="黑体" panose="02010609060101010101" pitchFamily="49" charset="-122"/>
              <a:ea typeface="黑体" panose="02010609060101010101" pitchFamily="49" charset="-122"/>
              <a:cs typeface="Arial" pitchFamily="34" charset="0"/>
            </a:endParaRPr>
          </a:p>
        </p:txBody>
      </p:sp>
    </p:spTree>
    <p:extLst>
      <p:ext uri="{BB962C8B-B14F-4D97-AF65-F5344CB8AC3E}">
        <p14:creationId xmlns:p14="http://schemas.microsoft.com/office/powerpoint/2010/main" val="2529833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4B8BE6-AB0B-4B05-8071-E597C07A67BC}"/>
              </a:ext>
            </a:extLst>
          </p:cNvPr>
          <p:cNvSpPr/>
          <p:nvPr userDrawn="1"/>
        </p:nvSpPr>
        <p:spPr>
          <a:xfrm flipV="1">
            <a:off x="7514329" y="6663349"/>
            <a:ext cx="4682001" cy="208223"/>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11FD1FEC-32C3-4A69-BFBB-AB208EC7C0E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9560410" y="200080"/>
            <a:ext cx="2458817" cy="461296"/>
          </a:xfrm>
          <a:prstGeom prst="rect">
            <a:avLst/>
          </a:prstGeom>
        </p:spPr>
      </p:pic>
      <p:grpSp>
        <p:nvGrpSpPr>
          <p:cNvPr id="4" name="组合 3">
            <a:extLst>
              <a:ext uri="{FF2B5EF4-FFF2-40B4-BE49-F238E27FC236}">
                <a16:creationId xmlns:a16="http://schemas.microsoft.com/office/drawing/2014/main" id="{BCE0EE50-33AD-4752-874B-632B00B6BA7B}"/>
              </a:ext>
            </a:extLst>
          </p:cNvPr>
          <p:cNvGrpSpPr/>
          <p:nvPr userDrawn="1"/>
        </p:nvGrpSpPr>
        <p:grpSpPr>
          <a:xfrm>
            <a:off x="371198" y="790480"/>
            <a:ext cx="9243578" cy="86778"/>
            <a:chOff x="371198" y="681844"/>
            <a:chExt cx="9243578" cy="86778"/>
          </a:xfrm>
        </p:grpSpPr>
        <p:sp>
          <p:nvSpPr>
            <p:cNvPr id="5" name="Rectangle 22">
              <a:extLst>
                <a:ext uri="{FF2B5EF4-FFF2-40B4-BE49-F238E27FC236}">
                  <a16:creationId xmlns:a16="http://schemas.microsoft.com/office/drawing/2014/main" id="{542003DF-EB25-433C-BB07-981A6DDA7AC3}"/>
                </a:ext>
              </a:extLst>
            </p:cNvPr>
            <p:cNvSpPr/>
            <p:nvPr userDrawn="1"/>
          </p:nvSpPr>
          <p:spPr>
            <a:xfrm>
              <a:off x="371198" y="681844"/>
              <a:ext cx="9243578" cy="36000"/>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kumimoji="1" lang="en-US" altLang="en-US" sz="1800" kern="1200">
                <a:solidFill>
                  <a:schemeClr val="lt1"/>
                </a:solidFill>
                <a:latin typeface="+mn-lt"/>
                <a:ea typeface="+mn-ea"/>
                <a:cs typeface="+mn-cs"/>
              </a:endParaRPr>
            </a:p>
          </p:txBody>
        </p:sp>
        <p:sp>
          <p:nvSpPr>
            <p:cNvPr id="6" name="矩形 5">
              <a:extLst>
                <a:ext uri="{FF2B5EF4-FFF2-40B4-BE49-F238E27FC236}">
                  <a16:creationId xmlns:a16="http://schemas.microsoft.com/office/drawing/2014/main" id="{32733669-9299-4DED-976F-C326198AA3EC}"/>
                </a:ext>
              </a:extLst>
            </p:cNvPr>
            <p:cNvSpPr/>
            <p:nvPr userDrawn="1"/>
          </p:nvSpPr>
          <p:spPr>
            <a:xfrm flipV="1">
              <a:off x="375714" y="714622"/>
              <a:ext cx="4682001" cy="54000"/>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7" name="Rectangle 15">
            <a:extLst>
              <a:ext uri="{FF2B5EF4-FFF2-40B4-BE49-F238E27FC236}">
                <a16:creationId xmlns:a16="http://schemas.microsoft.com/office/drawing/2014/main" id="{25CCAA4C-39E2-4318-AEE7-517F2F7E8E67}"/>
              </a:ext>
            </a:extLst>
          </p:cNvPr>
          <p:cNvSpPr>
            <a:spLocks noChangeArrowheads="1"/>
          </p:cNvSpPr>
          <p:nvPr userDrawn="1"/>
        </p:nvSpPr>
        <p:spPr bwMode="auto">
          <a:xfrm>
            <a:off x="11664833" y="6674266"/>
            <a:ext cx="470197" cy="184666"/>
          </a:xfrm>
          <a:prstGeom prst="rect">
            <a:avLst/>
          </a:prstGeom>
          <a:noFill/>
          <a:ln w="9525">
            <a:noFill/>
            <a:miter lim="800000"/>
            <a:headEnd/>
            <a:tailEnd/>
          </a:ln>
          <a:effectLst/>
        </p:spPr>
        <p:txBody>
          <a:bodyPr wrap="square" lIns="0" tIns="0" rIns="0" bIns="0">
            <a:spAutoFit/>
          </a:bodyPr>
          <a:lstStyle/>
          <a:p>
            <a:pPr>
              <a:defRPr/>
            </a:pPr>
            <a:fld id="{D7EC9B45-E750-4B39-9702-90A7DDEB9C68}" type="slidenum">
              <a:rPr kumimoji="0" lang="en-US" altLang="zh-CN" sz="1200" b="0" smtClean="0">
                <a:solidFill>
                  <a:schemeClr val="accent6">
                    <a:lumMod val="40000"/>
                    <a:lumOff val="60000"/>
                  </a:schemeClr>
                </a:solidFill>
                <a:latin typeface="Arial" charset="0"/>
              </a:rPr>
              <a:pPr>
                <a:defRPr/>
              </a:pPr>
              <a:t>‹#›</a:t>
            </a:fld>
            <a:r>
              <a:rPr kumimoji="0" lang="en-US" altLang="zh-CN" sz="1200" b="0" dirty="0">
                <a:solidFill>
                  <a:schemeClr val="accent6">
                    <a:lumMod val="40000"/>
                    <a:lumOff val="60000"/>
                  </a:schemeClr>
                </a:solidFill>
                <a:latin typeface="Arial" charset="0"/>
              </a:rPr>
              <a:t>/27</a:t>
            </a:r>
          </a:p>
        </p:txBody>
      </p:sp>
      <p:pic>
        <p:nvPicPr>
          <p:cNvPr id="8" name="图片 7" descr="合肥工业大学校徽(浮雕).jpg">
            <a:extLst>
              <a:ext uri="{FF2B5EF4-FFF2-40B4-BE49-F238E27FC236}">
                <a16:creationId xmlns:a16="http://schemas.microsoft.com/office/drawing/2014/main" id="{0A1CF316-75C4-4990-BC0D-37EB62A92403}"/>
              </a:ext>
            </a:extLst>
          </p:cNvPr>
          <p:cNvPicPr>
            <a:picLocks noChangeAspect="1"/>
          </p:cNvPicPr>
          <p:nvPr userDrawn="1"/>
        </p:nvPicPr>
        <p:blipFill>
          <a:blip r:embed="rId3" cstate="print"/>
          <a:stretch>
            <a:fillRect/>
          </a:stretch>
        </p:blipFill>
        <p:spPr>
          <a:xfrm>
            <a:off x="3244440" y="898205"/>
            <a:ext cx="5720098" cy="5707330"/>
          </a:xfrm>
          <a:prstGeom prst="rect">
            <a:avLst/>
          </a:prstGeom>
        </p:spPr>
      </p:pic>
    </p:spTree>
    <p:extLst>
      <p:ext uri="{BB962C8B-B14F-4D97-AF65-F5344CB8AC3E}">
        <p14:creationId xmlns:p14="http://schemas.microsoft.com/office/powerpoint/2010/main" val="93445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F8B41F8-5E2D-444B-8EC6-FBEB8D0C70F7}"/>
              </a:ext>
            </a:extLst>
          </p:cNvPr>
          <p:cNvPicPr>
            <a:picLocks noChangeAspect="1"/>
          </p:cNvPicPr>
          <p:nvPr userDrawn="1"/>
        </p:nvPicPr>
        <p:blipFill>
          <a:blip r:embed="rId2" cstate="print">
            <a:duotone>
              <a:prstClr val="black"/>
              <a:srgbClr val="410C07">
                <a:tint val="45000"/>
                <a:satMod val="400000"/>
              </a:srgb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2014" y="5557263"/>
            <a:ext cx="5587549" cy="1435971"/>
          </a:xfrm>
          <a:prstGeom prst="rect">
            <a:avLst/>
          </a:prstGeom>
          <a:ln>
            <a:noFill/>
          </a:ln>
          <a:effectLst/>
        </p:spPr>
      </p:pic>
      <p:pic>
        <p:nvPicPr>
          <p:cNvPr id="9" name="图片 8">
            <a:extLst>
              <a:ext uri="{FF2B5EF4-FFF2-40B4-BE49-F238E27FC236}">
                <a16:creationId xmlns:a16="http://schemas.microsoft.com/office/drawing/2014/main" id="{C4959080-D583-459B-B3F1-56EA575E4274}"/>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42534" r="214" b="7706"/>
          <a:stretch>
            <a:fillRect/>
          </a:stretch>
        </p:blipFill>
        <p:spPr>
          <a:xfrm>
            <a:off x="-14371" y="0"/>
            <a:ext cx="12206371" cy="4057924"/>
          </a:xfrm>
          <a:prstGeom prst="rect">
            <a:avLst/>
          </a:prstGeom>
        </p:spPr>
      </p:pic>
      <p:sp>
        <p:nvSpPr>
          <p:cNvPr id="10" name="文本框 9">
            <a:extLst>
              <a:ext uri="{FF2B5EF4-FFF2-40B4-BE49-F238E27FC236}">
                <a16:creationId xmlns:a16="http://schemas.microsoft.com/office/drawing/2014/main" id="{47B64E18-C1ED-4197-97AF-2E7245FAB5DA}"/>
              </a:ext>
            </a:extLst>
          </p:cNvPr>
          <p:cNvSpPr txBox="1"/>
          <p:nvPr userDrawn="1"/>
        </p:nvSpPr>
        <p:spPr>
          <a:xfrm>
            <a:off x="802532" y="4486890"/>
            <a:ext cx="7196332" cy="830997"/>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字魂105号-简雅黑" panose="00000500000000000000" pitchFamily="2" charset="-122"/>
              </a:rPr>
              <a:t>三创：创新、创意及创业</a:t>
            </a:r>
          </a:p>
        </p:txBody>
      </p:sp>
      <p:grpSp>
        <p:nvGrpSpPr>
          <p:cNvPr id="11" name="组合 10">
            <a:extLst>
              <a:ext uri="{FF2B5EF4-FFF2-40B4-BE49-F238E27FC236}">
                <a16:creationId xmlns:a16="http://schemas.microsoft.com/office/drawing/2014/main" id="{A762B784-F9BA-49F9-9C53-EC4C772DC567}"/>
              </a:ext>
            </a:extLst>
          </p:cNvPr>
          <p:cNvGrpSpPr/>
          <p:nvPr userDrawn="1"/>
        </p:nvGrpSpPr>
        <p:grpSpPr>
          <a:xfrm>
            <a:off x="200377" y="888498"/>
            <a:ext cx="507831" cy="3353324"/>
            <a:chOff x="381322" y="1224343"/>
            <a:chExt cx="507831" cy="3353324"/>
          </a:xfrm>
        </p:grpSpPr>
        <p:sp>
          <p:nvSpPr>
            <p:cNvPr id="12" name="文本框 33">
              <a:extLst>
                <a:ext uri="{FF2B5EF4-FFF2-40B4-BE49-F238E27FC236}">
                  <a16:creationId xmlns:a16="http://schemas.microsoft.com/office/drawing/2014/main" id="{9FB88569-0492-45F9-B753-DEF62939E3E2}"/>
                </a:ext>
              </a:extLst>
            </p:cNvPr>
            <p:cNvSpPr txBox="1"/>
            <p:nvPr/>
          </p:nvSpPr>
          <p:spPr>
            <a:xfrm>
              <a:off x="381322" y="1677524"/>
              <a:ext cx="507831" cy="2900143"/>
            </a:xfrm>
            <a:prstGeom prst="rect">
              <a:avLst/>
            </a:prstGeom>
            <a:noFill/>
          </p:spPr>
          <p:txBody>
            <a:bodyPr vert="eaVert" wrap="square">
              <a:spAutoFit/>
            </a:bodyPr>
            <a:lstStyle/>
            <a:p>
              <a:r>
                <a:rPr lang="en-US" altLang="zh-CN" sz="2100" dirty="0">
                  <a:solidFill>
                    <a:schemeClr val="bg1"/>
                  </a:solidFill>
                  <a:latin typeface="FZCuHeiSongS-B-GB" panose="02000000000000000000" pitchFamily="2" charset="-122"/>
                  <a:ea typeface="FZCuHeiSongS-B-GB" panose="02000000000000000000" pitchFamily="2" charset="-122"/>
                  <a:cs typeface="字魂105号-简雅黑" panose="00000500000000000000" pitchFamily="2" charset="-122"/>
                </a:rPr>
                <a:t>H F U T</a:t>
              </a:r>
              <a:endParaRPr lang="zh-CN" altLang="en-US" sz="2100" dirty="0">
                <a:solidFill>
                  <a:schemeClr val="bg1"/>
                </a:solidFill>
                <a:latin typeface="FZCuHeiSongS-B-GB" panose="02000000000000000000" pitchFamily="2" charset="-122"/>
                <a:ea typeface="FZCuHeiSongS-B-GB" panose="02000000000000000000" pitchFamily="2" charset="-122"/>
                <a:cs typeface="字魂105号-简雅黑" panose="00000500000000000000" pitchFamily="2" charset="-122"/>
              </a:endParaRPr>
            </a:p>
          </p:txBody>
        </p:sp>
        <p:cxnSp>
          <p:nvCxnSpPr>
            <p:cNvPr id="13" name="直接连接符 26">
              <a:extLst>
                <a:ext uri="{FF2B5EF4-FFF2-40B4-BE49-F238E27FC236}">
                  <a16:creationId xmlns:a16="http://schemas.microsoft.com/office/drawing/2014/main" id="{18ED9718-17BE-41A4-AABE-04689CFA164B}"/>
                </a:ext>
              </a:extLst>
            </p:cNvPr>
            <p:cNvCxnSpPr/>
            <p:nvPr/>
          </p:nvCxnSpPr>
          <p:spPr>
            <a:xfrm>
              <a:off x="621617" y="1224343"/>
              <a:ext cx="0" cy="314885"/>
            </a:xfrm>
            <a:prstGeom prst="line">
              <a:avLst/>
            </a:prstGeom>
            <a:ln w="76200">
              <a:solidFill>
                <a:srgbClr val="9A0000"/>
              </a:solidFill>
            </a:ln>
          </p:spPr>
          <p:style>
            <a:lnRef idx="1">
              <a:schemeClr val="accent1"/>
            </a:lnRef>
            <a:fillRef idx="0">
              <a:schemeClr val="accent1"/>
            </a:fillRef>
            <a:effectRef idx="0">
              <a:schemeClr val="accent1"/>
            </a:effectRef>
            <a:fontRef idx="minor">
              <a:schemeClr val="tx1"/>
            </a:fontRef>
          </p:style>
        </p:cxnSp>
        <p:cxnSp>
          <p:nvCxnSpPr>
            <p:cNvPr id="14" name="直接连接符 33">
              <a:extLst>
                <a:ext uri="{FF2B5EF4-FFF2-40B4-BE49-F238E27FC236}">
                  <a16:creationId xmlns:a16="http://schemas.microsoft.com/office/drawing/2014/main" id="{DC813AF3-6E63-447E-B526-44D290CE368A}"/>
                </a:ext>
              </a:extLst>
            </p:cNvPr>
            <p:cNvCxnSpPr/>
            <p:nvPr/>
          </p:nvCxnSpPr>
          <p:spPr>
            <a:xfrm>
              <a:off x="621617" y="2861406"/>
              <a:ext cx="0" cy="7967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5" name="矩形 14">
            <a:extLst>
              <a:ext uri="{FF2B5EF4-FFF2-40B4-BE49-F238E27FC236}">
                <a16:creationId xmlns:a16="http://schemas.microsoft.com/office/drawing/2014/main" id="{02BBA0DE-6DF0-46E2-9DA7-ADB81FAAA46C}"/>
              </a:ext>
            </a:extLst>
          </p:cNvPr>
          <p:cNvSpPr/>
          <p:nvPr userDrawn="1"/>
        </p:nvSpPr>
        <p:spPr>
          <a:xfrm>
            <a:off x="8474537" y="-19456"/>
            <a:ext cx="2476006" cy="5446166"/>
          </a:xfrm>
          <a:prstGeom prst="rect">
            <a:avLst/>
          </a:prstGeom>
          <a:solidFill>
            <a:srgbClr val="9A00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sp>
        <p:nvSpPr>
          <p:cNvPr id="16" name="矩形 15">
            <a:extLst>
              <a:ext uri="{FF2B5EF4-FFF2-40B4-BE49-F238E27FC236}">
                <a16:creationId xmlns:a16="http://schemas.microsoft.com/office/drawing/2014/main" id="{D2A783AB-868D-4C40-9A34-2242785AB76F}"/>
              </a:ext>
            </a:extLst>
          </p:cNvPr>
          <p:cNvSpPr/>
          <p:nvPr userDrawn="1"/>
        </p:nvSpPr>
        <p:spPr>
          <a:xfrm>
            <a:off x="2910457" y="6831223"/>
            <a:ext cx="8606804" cy="45719"/>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sp>
        <p:nvSpPr>
          <p:cNvPr id="18" name="椭圆 17">
            <a:extLst>
              <a:ext uri="{FF2B5EF4-FFF2-40B4-BE49-F238E27FC236}">
                <a16:creationId xmlns:a16="http://schemas.microsoft.com/office/drawing/2014/main" id="{BCCEA69A-E349-436F-878B-3F127B166459}"/>
              </a:ext>
            </a:extLst>
          </p:cNvPr>
          <p:cNvSpPr/>
          <p:nvPr userDrawn="1"/>
        </p:nvSpPr>
        <p:spPr>
          <a:xfrm>
            <a:off x="9238189" y="4857986"/>
            <a:ext cx="1085850" cy="1085850"/>
          </a:xfrm>
          <a:prstGeom prst="ellipse">
            <a:avLst/>
          </a:prstGeom>
          <a:solidFill>
            <a:schemeClr val="bg1"/>
          </a:solidFill>
          <a:ln>
            <a:noFill/>
          </a:ln>
          <a:effectLst>
            <a:outerShdw blurRad="203200" dist="139700" dir="5820000" sx="104000" sy="104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B792BEFE-B49E-4BDD-A42B-E91D6A838F7F}"/>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l="321" r="321"/>
          <a:stretch>
            <a:fillRect/>
          </a:stretch>
        </p:blipFill>
        <p:spPr>
          <a:xfrm>
            <a:off x="9235808" y="4864604"/>
            <a:ext cx="1085850" cy="1085850"/>
          </a:xfrm>
          <a:prstGeom prst="ellipse">
            <a:avLst/>
          </a:prstGeom>
        </p:spPr>
      </p:pic>
      <p:pic>
        <p:nvPicPr>
          <p:cNvPr id="20" name="图片 19">
            <a:extLst>
              <a:ext uri="{FF2B5EF4-FFF2-40B4-BE49-F238E27FC236}">
                <a16:creationId xmlns:a16="http://schemas.microsoft.com/office/drawing/2014/main" id="{30347E13-95B0-4580-B026-4510D9EAAE15}"/>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8806025" y="6019182"/>
            <a:ext cx="1950177" cy="537838"/>
          </a:xfrm>
          <a:prstGeom prst="rect">
            <a:avLst/>
          </a:prstGeom>
        </p:spPr>
      </p:pic>
      <p:sp>
        <p:nvSpPr>
          <p:cNvPr id="21" name="WordArt 6">
            <a:extLst>
              <a:ext uri="{FF2B5EF4-FFF2-40B4-BE49-F238E27FC236}">
                <a16:creationId xmlns:a16="http://schemas.microsoft.com/office/drawing/2014/main" id="{EF7AC735-1C9D-4F54-86A6-51F365CC873D}"/>
              </a:ext>
            </a:extLst>
          </p:cNvPr>
          <p:cNvSpPr>
            <a:spLocks noChangeArrowheads="1" noChangeShapeType="1" noTextEdit="1"/>
          </p:cNvSpPr>
          <p:nvPr userDrawn="1"/>
        </p:nvSpPr>
        <p:spPr bwMode="auto">
          <a:xfrm>
            <a:off x="8607252" y="1651914"/>
            <a:ext cx="2215297" cy="2041864"/>
          </a:xfrm>
          <a:prstGeom prst="rect">
            <a:avLst/>
          </a:prstGeom>
        </p:spPr>
        <p:txBody>
          <a:bodyPr wrap="none" fromWordArt="1">
            <a:prstTxWarp prst="textPlain">
              <a:avLst>
                <a:gd name="adj" fmla="val 49824"/>
              </a:avLst>
            </a:prstTxWarp>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50000"/>
              </a:lnSpc>
            </a:pPr>
            <a:r>
              <a:rPr lang="zh-CN" altLang="en-US"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rPr>
              <a:t>新知识</a:t>
            </a:r>
            <a:endParaRPr lang="en-US" altLang="zh-CN"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endParaRPr>
          </a:p>
          <a:p>
            <a:pPr>
              <a:lnSpc>
                <a:spcPct val="150000"/>
              </a:lnSpc>
            </a:pPr>
            <a:r>
              <a:rPr lang="zh-CN" altLang="en-US"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rPr>
              <a:t>新能力</a:t>
            </a:r>
          </a:p>
        </p:txBody>
      </p:sp>
      <p:sp>
        <p:nvSpPr>
          <p:cNvPr id="22" name="矩形 21">
            <a:extLst>
              <a:ext uri="{FF2B5EF4-FFF2-40B4-BE49-F238E27FC236}">
                <a16:creationId xmlns:a16="http://schemas.microsoft.com/office/drawing/2014/main" id="{9277A787-9216-4F22-B343-BA015E5E35CD}"/>
              </a:ext>
            </a:extLst>
          </p:cNvPr>
          <p:cNvSpPr/>
          <p:nvPr userDrawn="1"/>
        </p:nvSpPr>
        <p:spPr>
          <a:xfrm>
            <a:off x="5668781" y="5488049"/>
            <a:ext cx="2031325" cy="461665"/>
          </a:xfrm>
          <a:prstGeom prst="rect">
            <a:avLst/>
          </a:prstGeom>
          <a:noFill/>
          <a:ln>
            <a:noFill/>
          </a:ln>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2400" b="1" kern="1200" dirty="0">
                <a:solidFill>
                  <a:srgbClr val="C00000"/>
                </a:solidFill>
                <a:latin typeface="华文仿宋" pitchFamily="2" charset="-122"/>
                <a:ea typeface="华文仿宋" pitchFamily="2" charset="-122"/>
                <a:cs typeface="思源黑体 CN Medium" panose="020B0600000000000000" charset="-122"/>
              </a:rPr>
              <a:t>主讲人：代宝</a:t>
            </a:r>
          </a:p>
        </p:txBody>
      </p:sp>
      <p:sp>
        <p:nvSpPr>
          <p:cNvPr id="23" name="文本框 28">
            <a:extLst>
              <a:ext uri="{FF2B5EF4-FFF2-40B4-BE49-F238E27FC236}">
                <a16:creationId xmlns:a16="http://schemas.microsoft.com/office/drawing/2014/main" id="{9C8608A6-569F-4993-AC5D-EF93A989EFCB}"/>
              </a:ext>
            </a:extLst>
          </p:cNvPr>
          <p:cNvSpPr txBox="1"/>
          <p:nvPr userDrawn="1"/>
        </p:nvSpPr>
        <p:spPr>
          <a:xfrm>
            <a:off x="5848464" y="6041880"/>
            <a:ext cx="1671960" cy="307777"/>
          </a:xfrm>
          <a:prstGeom prst="rect">
            <a:avLst/>
          </a:prstGeom>
          <a:noFill/>
        </p:spPr>
        <p:txBody>
          <a:bodyPr wrap="square" lIns="0" tIns="0" rIns="0" bIns="0" rtlCol="0">
            <a:spAutoFit/>
          </a:bodyPr>
          <a:lstStyle/>
          <a:p>
            <a:pPr algn="ctr"/>
            <a:fld id="{D06CBC9D-0031-4AB9-99F8-1E14D50E9075}" type="datetime2">
              <a:rPr lang="zh-CN" altLang="en-US" sz="2000" b="1" kern="1200" smtClean="0">
                <a:solidFill>
                  <a:srgbClr val="C00000"/>
                </a:solidFill>
                <a:latin typeface="华文仿宋" pitchFamily="2" charset="-122"/>
                <a:ea typeface="华文仿宋" pitchFamily="2" charset="-122"/>
                <a:cs typeface="Arial" pitchFamily="34" charset="0"/>
              </a:rPr>
              <a:pPr algn="ctr"/>
              <a:t>2024年5月7日</a:t>
            </a:fld>
            <a:endParaRPr lang="zh-CN" altLang="en-US" sz="2400" b="1" kern="1200" dirty="0">
              <a:solidFill>
                <a:srgbClr val="C00000"/>
              </a:solidFill>
              <a:latin typeface="华文仿宋" pitchFamily="2" charset="-122"/>
              <a:ea typeface="华文仿宋" pitchFamily="2" charset="-122"/>
              <a:cs typeface="Arial" pitchFamily="34" charset="0"/>
            </a:endParaRPr>
          </a:p>
        </p:txBody>
      </p:sp>
    </p:spTree>
    <p:extLst>
      <p:ext uri="{BB962C8B-B14F-4D97-AF65-F5344CB8AC3E}">
        <p14:creationId xmlns:p14="http://schemas.microsoft.com/office/powerpoint/2010/main" val="24180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5057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82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272442-5350-4C3F-AF72-0CA68C0ED18D}"/>
              </a:ext>
            </a:extLst>
          </p:cNvPr>
          <p:cNvSpPr/>
          <p:nvPr/>
        </p:nvSpPr>
        <p:spPr>
          <a:xfrm>
            <a:off x="2528550" y="2780910"/>
            <a:ext cx="2242922" cy="707886"/>
          </a:xfrm>
          <a:prstGeom prst="rect">
            <a:avLst/>
          </a:prstGeom>
          <a:noFill/>
        </p:spPr>
        <p:txBody>
          <a:bodyPr wrap="none" lIns="91440" tIns="45720" rIns="91440" bIns="45720">
            <a:spAutoFit/>
          </a:bodyPr>
          <a:lstStyle/>
          <a:p>
            <a:pPr algn="ctr"/>
            <a:r>
              <a:rPr lang="zh-CN" altLang="en-US" sz="4000" b="1" dirty="0">
                <a:ln w="18415" cmpd="sng">
                  <a:solidFill>
                    <a:srgbClr val="FFFFFF"/>
                  </a:solidFill>
                  <a:prstDash val="solid"/>
                </a:ln>
                <a:solidFill>
                  <a:srgbClr val="000066"/>
                </a:solidFill>
                <a:effectLst>
                  <a:outerShdw blurRad="63500" dir="3600000" algn="tl" rotWithShape="0">
                    <a:srgbClr val="000000">
                      <a:alpha val="70000"/>
                    </a:srgbClr>
                  </a:outerShdw>
                </a:effectLst>
                <a:latin typeface="黑体" panose="02010609060101010101" pitchFamily="49" charset="-122"/>
                <a:ea typeface="黑体" panose="02010609060101010101" pitchFamily="49" charset="-122"/>
                <a:cs typeface="思源黑体 CN Medium" panose="020B0600000000000000" charset="-122"/>
              </a:rPr>
              <a:t>期末报告</a:t>
            </a:r>
          </a:p>
        </p:txBody>
      </p:sp>
    </p:spTree>
    <p:extLst>
      <p:ext uri="{BB962C8B-B14F-4D97-AF65-F5344CB8AC3E}">
        <p14:creationId xmlns:p14="http://schemas.microsoft.com/office/powerpoint/2010/main" val="2579246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ChangeArrowheads="1"/>
          </p:cNvSpPr>
          <p:nvPr/>
        </p:nvSpPr>
        <p:spPr bwMode="auto">
          <a:xfrm>
            <a:off x="3748369" y="2217662"/>
            <a:ext cx="4695263" cy="4318603"/>
          </a:xfrm>
          <a:prstGeom prst="rect">
            <a:avLst/>
          </a:prstGeom>
          <a:noFill/>
          <a:ln w="9525">
            <a:noFill/>
            <a:miter lim="800000"/>
          </a:ln>
          <a:effectLst/>
        </p:spPr>
        <p:txBody>
          <a:bodyPr/>
          <a:lstStyle/>
          <a:p>
            <a:pPr marL="609600" indent="-609600" algn="ctr">
              <a:lnSpc>
                <a:spcPct val="130000"/>
              </a:lnSpc>
              <a:buClr>
                <a:schemeClr val="hlink"/>
              </a:buClr>
              <a:buSzPct val="75000"/>
              <a:defRPr/>
            </a:pPr>
            <a:r>
              <a:rPr lang="zh-CN" altLang="en-US" sz="2800" b="1" dirty="0">
                <a:solidFill>
                  <a:srgbClr val="000099"/>
                </a:solidFill>
                <a:latin typeface="华文楷体" pitchFamily="2" charset="-122"/>
                <a:ea typeface="华文楷体" pitchFamily="2" charset="-122"/>
                <a:cs typeface="Arial" pitchFamily="34" charset="0"/>
              </a:rPr>
              <a:t>主要内容</a:t>
            </a:r>
          </a:p>
          <a:p>
            <a:pPr indent="457200">
              <a:lnSpc>
                <a:spcPct val="130000"/>
              </a:lnSpc>
              <a:spcBef>
                <a:spcPct val="20000"/>
              </a:spcBef>
              <a:buClr>
                <a:schemeClr val="hlink"/>
              </a:buClr>
              <a:buSzPct val="75000"/>
              <a:buFont typeface="Wingdings" panose="05000000000000000000" pitchFamily="2" charset="2"/>
              <a:buNone/>
              <a:defRPr/>
            </a:pPr>
            <a:r>
              <a:rPr lang="en-US" altLang="en-US"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A.1</a:t>
            </a:r>
            <a:r>
              <a:rPr lang="en-US"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任务布置</a:t>
            </a:r>
          </a:p>
          <a:p>
            <a:pPr indent="457200">
              <a:lnSpc>
                <a:spcPct val="130000"/>
              </a:lnSpc>
              <a:spcBef>
                <a:spcPct val="20000"/>
              </a:spcBef>
              <a:buClr>
                <a:schemeClr val="hlink"/>
              </a:buClr>
              <a:buSzPct val="75000"/>
              <a:buFont typeface="Wingdings" panose="05000000000000000000" pitchFamily="2" charset="2"/>
              <a:buNone/>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A.2</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期末报告撰写</a:t>
            </a:r>
          </a:p>
          <a:p>
            <a:pPr indent="457200">
              <a:lnSpc>
                <a:spcPct val="130000"/>
              </a:lnSpc>
              <a:spcBef>
                <a:spcPct val="20000"/>
              </a:spcBef>
              <a:buClr>
                <a:schemeClr val="hlink"/>
              </a:buClr>
              <a:buSzPct val="75000"/>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成绩评定</a:t>
            </a:r>
            <a:endPar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indent="457200">
              <a:lnSpc>
                <a:spcPct val="130000"/>
              </a:lnSpc>
              <a:spcBef>
                <a:spcPct val="20000"/>
              </a:spcBef>
              <a:buClr>
                <a:schemeClr val="hlink"/>
              </a:buClr>
              <a:buSzPct val="75000"/>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A.4</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资料归档</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Rectangle 4"/>
          <p:cNvSpPr txBox="1">
            <a:spLocks noChangeArrowheads="1"/>
          </p:cNvSpPr>
          <p:nvPr/>
        </p:nvSpPr>
        <p:spPr bwMode="auto">
          <a:xfrm>
            <a:off x="1259440" y="269738"/>
            <a:ext cx="2816763" cy="501444"/>
          </a:xfrm>
          <a:prstGeom prst="rect">
            <a:avLst/>
          </a:prstGeom>
          <a:noFill/>
          <a:ln>
            <a:miter lim="800000"/>
            <a:headEnd/>
            <a:tailEnd/>
          </a:ln>
        </p:spPr>
        <p:txBody>
          <a:bodyPr vert="horz" wrap="square" lIns="0" tIns="0" rIns="0" bIns="0" numCol="1" anchor="t" anchorCtr="0" compatLnSpc="1">
            <a:prstTxWarp prst="textNoShape">
              <a:avLst/>
            </a:prstTxWarp>
          </a:bodyPr>
          <a:lstStyle/>
          <a:p>
            <a:pPr marL="0" lvl="1">
              <a:buClr>
                <a:srgbClr val="C00000"/>
              </a:buClr>
              <a:buSzPct val="85000"/>
              <a:defRPr/>
            </a:pPr>
            <a:r>
              <a:rPr kumimoji="0" lang="zh-CN" altLang="en-US" sz="3600" b="1" i="0" u="none" strike="noStrike" kern="1200" cap="none" spc="0" normalizeH="0" baseline="0" noProof="0" dirty="0">
                <a:ln>
                  <a:noFill/>
                </a:ln>
                <a:solidFill>
                  <a:srgbClr val="CC0000"/>
                </a:solidFill>
                <a:uLnTx/>
                <a:uFillTx/>
                <a:latin typeface="微软雅黑" pitchFamily="34" charset="-122"/>
                <a:ea typeface="微软雅黑" pitchFamily="34" charset="-122"/>
                <a:cs typeface="+mn-cs"/>
              </a:rPr>
              <a:t>创新创业基础</a:t>
            </a:r>
            <a:endParaRPr kumimoji="0" lang="zh-CN" altLang="en-US" sz="3600" b="1" i="0" u="none" strike="noStrike" kern="1200" cap="none" spc="0" normalizeH="0" baseline="0" noProof="0" dirty="0">
              <a:ln>
                <a:noFill/>
              </a:ln>
              <a:solidFill>
                <a:srgbClr val="CC0000"/>
              </a:solidFill>
              <a:uLnTx/>
              <a:uFillTx/>
              <a:latin typeface="方正粗黑宋简体" pitchFamily="2" charset="-122"/>
              <a:ea typeface="方正粗黑宋简体" pitchFamily="2" charset="-122"/>
              <a:cs typeface="Arial" pitchFamily="34" charset="0"/>
            </a:endParaRPr>
          </a:p>
        </p:txBody>
      </p:sp>
      <p:sp>
        <p:nvSpPr>
          <p:cNvPr id="5" name="Rectangle 8">
            <a:extLst>
              <a:ext uri="{FF2B5EF4-FFF2-40B4-BE49-F238E27FC236}">
                <a16:creationId xmlns:a16="http://schemas.microsoft.com/office/drawing/2014/main" id="{D23A30B1-2653-4AEB-BB81-D46E9F295680}"/>
              </a:ext>
            </a:extLst>
          </p:cNvPr>
          <p:cNvSpPr>
            <a:spLocks noChangeArrowheads="1"/>
          </p:cNvSpPr>
          <p:nvPr/>
        </p:nvSpPr>
        <p:spPr bwMode="auto">
          <a:xfrm>
            <a:off x="751876" y="1251153"/>
            <a:ext cx="10688248" cy="830997"/>
          </a:xfrm>
          <a:prstGeom prst="rect">
            <a:avLst/>
          </a:prstGeom>
          <a:noFill/>
          <a:ln w="9525">
            <a:noFill/>
            <a:miter lim="800000"/>
            <a:headEnd/>
            <a:tailEnd/>
          </a:ln>
        </p:spPr>
        <p:txBody>
          <a:bodyPr wrap="square" lIns="0" tIns="0" rIns="0" bIns="0" anchor="ctr">
            <a:spAutoFit/>
          </a:bodyPr>
          <a:lstStyle/>
          <a:p>
            <a:pPr algn="ctr">
              <a:defRPr/>
            </a:pPr>
            <a:r>
              <a:rPr lang="zh-CN" altLang="en-US" sz="5400" b="1" kern="0" dirty="0">
                <a:ln w="3175">
                  <a:noFill/>
                  <a:round/>
                  <a:headEnd/>
                  <a:tailEnd/>
                </a:ln>
                <a:solidFill>
                  <a:srgbClr val="C00000"/>
                </a:solidFill>
                <a:latin typeface="微软雅黑" pitchFamily="34" charset="-122"/>
                <a:ea typeface="微软雅黑" pitchFamily="34" charset="-122"/>
              </a:rPr>
              <a:t>期末报告</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A.1</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任务布置</a:t>
            </a:r>
            <a:endParaRPr lang="zh-CN" altLang="en-US" sz="3200" b="1" kern="0" dirty="0">
              <a:ln w="3175">
                <a:noFill/>
                <a:round/>
                <a:headEnd/>
                <a:tailEnd/>
              </a:ln>
              <a:solidFill>
                <a:srgbClr val="C00000"/>
              </a:solidFill>
              <a:latin typeface="Arial" pitchFamily="34" charset="0"/>
              <a:ea typeface="微软雅黑" pitchFamily="34" charset="-122"/>
              <a:cs typeface="Arial" pitchFamily="34" charset="0"/>
            </a:endParaRP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587829" y="1619491"/>
            <a:ext cx="10884504" cy="2930416"/>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期末报告代替期末卷面考试，是对学生有关创新创业基础知识及其综合应用能力的全面检查。</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每个小组合作完成一份创业商业计划书或者大创项目申请书（任选</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项即可）</a:t>
            </a:r>
            <a:r>
              <a:rPr lang="zh-CN" altLang="en-US" sz="2800" b="1" dirty="0">
                <a:solidFill>
                  <a:srgbClr val="FF0000"/>
                </a:solidFill>
                <a:latin typeface="黑体" panose="02010609060101010101" pitchFamily="49" charset="-122"/>
                <a:ea typeface="黑体" panose="02010609060101010101" pitchFamily="49" charset="-122"/>
                <a:cs typeface="Arial" pitchFamily="34" charset="0"/>
              </a:rPr>
              <a: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商业计划书或大创项目申请书必须是小组同学原创，不得使用非小组同学人员的成果。小组分组与案例分析报告相同。</a:t>
            </a:r>
            <a:endParaRPr lang="en-US" altLang="zh-CN" sz="3000"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6" y="888628"/>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期末报告性质</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A.1</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任务布置</a:t>
            </a:r>
            <a:endParaRPr lang="zh-CN" altLang="en-US" sz="3200" b="1" kern="0" dirty="0">
              <a:ln w="3175">
                <a:noFill/>
                <a:round/>
                <a:headEnd/>
                <a:tailEnd/>
              </a:ln>
              <a:solidFill>
                <a:srgbClr val="C00000"/>
              </a:solidFill>
              <a:latin typeface="Arial" pitchFamily="34" charset="0"/>
              <a:ea typeface="微软雅黑" pitchFamily="34" charset="-122"/>
              <a:cs typeface="Arial" pitchFamily="34" charset="0"/>
            </a:endParaRP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587829" y="1624651"/>
            <a:ext cx="5200903" cy="4666082"/>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buClr>
                <a:srgbClr val="000066"/>
              </a:buClr>
              <a:buSzPct val="85000"/>
              <a:buFont typeface="Wingdings" pitchFamily="2" charset="2"/>
              <a:buChar char="µ"/>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一、项目简介</a:t>
            </a:r>
          </a:p>
          <a:p>
            <a:pPr marL="0" lvl="2" algn="just">
              <a:buClr>
                <a:srgbClr val="000066"/>
              </a:buClr>
              <a:buSzPct val="85000"/>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300</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a:t>
            </a: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商业模式画布）简要概述创业产品、市场定位及前景、运营与营销策略、财务与风险、创新性等。</a:t>
            </a:r>
          </a:p>
          <a:p>
            <a:pPr marL="0" lvl="2" algn="just">
              <a:buClr>
                <a:srgbClr val="000066"/>
              </a:buClr>
              <a:buSzPct val="85000"/>
              <a:buFont typeface="Wingdings" pitchFamily="2" charset="2"/>
              <a:buChar char="µ"/>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二、产品与市场</a:t>
            </a:r>
          </a:p>
          <a:p>
            <a:pPr marL="0" lvl="2" algn="just">
              <a:buClr>
                <a:srgbClr val="000066"/>
              </a:buClr>
              <a:buSzPct val="85000"/>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2000-2500</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2.1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产品及其功能。论述提供的产品或者服务，以及能够解决市场什么样的痛点。</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2.2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产品创新性分析。论述所提供的产品或者服务的独特性、创新性。</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2.3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市场定位。论述你的客户是哪个人群。</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2.4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竞争分析。论述目前市场的竞争者，以及未来的潜在竞争者。</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2.5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市场前景。基于上述分析，论述所提产品的市场前景，市场是否足够大，持续时间是否足够长，以及所采取的竞争策略，高质量还是低价格？</a:t>
            </a:r>
            <a:endParaRPr lang="en-US" altLang="zh-CN" sz="1600"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6" y="888628"/>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商业计划书撰写模板</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6" name="Rectangle 4">
            <a:extLst>
              <a:ext uri="{FF2B5EF4-FFF2-40B4-BE49-F238E27FC236}">
                <a16:creationId xmlns:a16="http://schemas.microsoft.com/office/drawing/2014/main" id="{63CC8828-853B-4168-8656-FF3BF825FF07}"/>
              </a:ext>
            </a:extLst>
          </p:cNvPr>
          <p:cNvSpPr txBox="1">
            <a:spLocks noChangeArrowheads="1"/>
          </p:cNvSpPr>
          <p:nvPr/>
        </p:nvSpPr>
        <p:spPr bwMode="auto">
          <a:xfrm>
            <a:off x="6341535" y="1624650"/>
            <a:ext cx="5200903" cy="4968925"/>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buClr>
                <a:srgbClr val="000066"/>
              </a:buClr>
              <a:buSzPct val="85000"/>
              <a:buFont typeface="Wingdings" pitchFamily="2" charset="2"/>
              <a:buChar char="µ"/>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三、运营策略</a:t>
            </a:r>
          </a:p>
          <a:p>
            <a:pPr marL="0" lvl="2" algn="just">
              <a:buClr>
                <a:srgbClr val="000066"/>
              </a:buClr>
              <a:buSzPct val="85000"/>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2000</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3.1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产品组织。论述如何组织拟提供的产品或服务，例如，产品设计、产品生产、平台搭建等活动。</a:t>
            </a: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3.2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营销策略。论述如何将产品或服务推广给目标客户，例如，线下如何推广，线上如何推广，如何促销，如何进行客户关系管理等。</a:t>
            </a: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3.3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团队组成。主要论述在创业过程中需要的人力资源及外部合作伙伴，以及目前的团队组成情况、团队优劣势。</a:t>
            </a:r>
            <a:endParaRPr lang="en-US" altLang="zh-CN" sz="1600" dirty="0">
              <a:latin typeface="方正粗黑宋简体" pitchFamily="2" charset="-122"/>
              <a:ea typeface="方正粗黑宋简体" pitchFamily="2" charset="-122"/>
            </a:endParaRPr>
          </a:p>
          <a:p>
            <a:pPr marL="0" lvl="2" algn="just">
              <a:buClr>
                <a:srgbClr val="000066"/>
              </a:buClr>
              <a:buSzPct val="85000"/>
              <a:buFont typeface="Wingdings" pitchFamily="2" charset="2"/>
              <a:buChar char="µ"/>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四、财务与风险</a:t>
            </a:r>
          </a:p>
          <a:p>
            <a:pPr marL="0" lvl="2" algn="just">
              <a:buClr>
                <a:srgbClr val="000066"/>
              </a:buClr>
              <a:buSzPct val="85000"/>
              <a:defRPr/>
            </a:pP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1000</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a:t>
            </a:r>
            <a:endPar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4.1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成本分析及资金需求。主要论述在创业过程中的成本支出以及需要的财务资源、可能的资金来源。</a:t>
            </a: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4.2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盈利分析。论述主要的收入来源及增长趋势。</a:t>
            </a:r>
          </a:p>
          <a:p>
            <a:pPr marL="360000" lvl="1" indent="-360000" algn="just">
              <a:lnSpc>
                <a:spcPct val="130000"/>
              </a:lnSpc>
              <a:buClr>
                <a:srgbClr val="006600"/>
              </a:buClr>
              <a:buSzPct val="90000"/>
              <a:buFont typeface="Wingdings" pitchFamily="2" charset="2"/>
              <a:buChar char="Ü"/>
              <a:defRPr/>
            </a:pPr>
            <a:r>
              <a:rPr lang="en-US" altLang="zh-CN"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4.3 </a:t>
            </a:r>
            <a:r>
              <a:rPr lang="zh-CN" altLang="en-US" sz="16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主要风险及应对</a:t>
            </a:r>
          </a:p>
        </p:txBody>
      </p:sp>
    </p:spTree>
    <p:extLst>
      <p:ext uri="{BB962C8B-B14F-4D97-AF65-F5344CB8AC3E}">
        <p14:creationId xmlns:p14="http://schemas.microsoft.com/office/powerpoint/2010/main" val="41532831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A.1</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任务布置</a:t>
            </a:r>
            <a:endParaRPr lang="zh-CN" altLang="en-US" sz="3200" b="1" kern="0" dirty="0">
              <a:ln w="3175">
                <a:noFill/>
                <a:round/>
                <a:headEnd/>
                <a:tailEnd/>
              </a:ln>
              <a:solidFill>
                <a:srgbClr val="C00000"/>
              </a:solidFill>
              <a:latin typeface="Arial" pitchFamily="34" charset="0"/>
              <a:ea typeface="微软雅黑" pitchFamily="34" charset="-122"/>
              <a:cs typeface="Arial" pitchFamily="34" charset="0"/>
            </a:endParaRP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391371" y="1624651"/>
            <a:ext cx="6204162" cy="4666082"/>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一、项目简介</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（限</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500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字）主要阐述项目的研究意义、研究内容、解决方案及创新性。</a:t>
            </a:r>
          </a:p>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二、研究目的</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500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字左右）主要论述为什么要开展该选题的研究，其理论和现实意义是什么。</a:t>
            </a:r>
            <a:endPar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三、研究内容</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800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字左右）主要论述计划要解决哪些问题，一般聚焦于</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2-3</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个研究点。</a:t>
            </a:r>
            <a:endPar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四、国内外研究现状和发展动态</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1200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字左右）主要对与研究内容相关的国内外研究历史、最新进展进行阐述，分析存在的不足、未来发展趋势等。</a:t>
            </a:r>
            <a:endPar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五、创新点与项目特色</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500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字左右）总结所提项目的创新点和研究特色，一般从选题、理论和方法、解决方案等方面阐述。</a:t>
            </a:r>
            <a:endParaRPr lang="en-US" altLang="zh-CN" dirty="0">
              <a:latin typeface="方正粗黑宋简体" pitchFamily="2" charset="-122"/>
              <a:ea typeface="方正粗黑宋简体" pitchFamily="2" charset="-122"/>
            </a:endParaRPr>
          </a:p>
          <a:p>
            <a:pPr marL="0" lvl="2" algn="just">
              <a:lnSpc>
                <a:spcPct val="120000"/>
              </a:lnSpc>
              <a:buClr>
                <a:srgbClr val="000066"/>
              </a:buClr>
              <a:buSzPct val="85000"/>
              <a:defRPr/>
            </a:pPr>
            <a:endParaRPr lang="en-US" altLang="zh-CN"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5" y="888628"/>
            <a:ext cx="8381687"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大创项目申报书模板</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6" name="Rectangle 4">
            <a:extLst>
              <a:ext uri="{FF2B5EF4-FFF2-40B4-BE49-F238E27FC236}">
                <a16:creationId xmlns:a16="http://schemas.microsoft.com/office/drawing/2014/main" id="{63CC8828-853B-4168-8656-FF3BF825FF07}"/>
              </a:ext>
            </a:extLst>
          </p:cNvPr>
          <p:cNvSpPr txBox="1">
            <a:spLocks noChangeArrowheads="1"/>
          </p:cNvSpPr>
          <p:nvPr/>
        </p:nvSpPr>
        <p:spPr bwMode="auto">
          <a:xfrm>
            <a:off x="6747940" y="1624650"/>
            <a:ext cx="5200903" cy="4968925"/>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六、技术路线、拟解决的问题及预期成果</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1000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字左右）论述团队计划如何完成项目研究，包括研究方法、技术路线；论述拟解决的问题；预期成果可以包括调研报告、研究论文、申请专利、研制产品、开发软件、竞赛获奖等，大创项目一般有</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2-3</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项预期成果就很好了。</a:t>
            </a:r>
            <a:endPar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20000"/>
              </a:lnSpc>
              <a:buClr>
                <a:srgbClr val="000066"/>
              </a:buClr>
              <a:buSzPct val="85000"/>
              <a:buFont typeface="Wingdings" pitchFamily="2" charset="2"/>
              <a:buChar char="µ"/>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七、项目研究进度安排</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500</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）绘制时间轴，并标明不同起止的任务内容，包括查阅资料、开题报告、实验研究、研制开发、中期检查、撰写研究论文和总结报告、填写结题表、参加结题答辩和成果推广等。</a:t>
            </a:r>
          </a:p>
          <a:p>
            <a:pPr marL="0" lvl="2" algn="just">
              <a:lnSpc>
                <a:spcPct val="120000"/>
              </a:lnSpc>
              <a:buClr>
                <a:srgbClr val="000066"/>
              </a:buClr>
              <a:buSzPct val="85000"/>
              <a:defRPr/>
            </a:pP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）说明清楚项目团队组成及未来研究的分工</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不是指期末报告撰写的分工</a:t>
            </a:r>
            <a:r>
              <a:rPr lang="en-US" altLang="zh-CN"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zh-CN" altLang="en-US"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p>
        </p:txBody>
      </p:sp>
    </p:spTree>
    <p:extLst>
      <p:ext uri="{BB962C8B-B14F-4D97-AF65-F5344CB8AC3E}">
        <p14:creationId xmlns:p14="http://schemas.microsoft.com/office/powerpoint/2010/main" val="44509129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A.2</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期末报告撰写</a:t>
            </a: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587829" y="1590783"/>
            <a:ext cx="10884504" cy="265101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报告撰写。各组在接受到任务后，应按照模板格式要求，积极查阅资料，撰写期末报告。</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质量要求。论证充分，创新或创业内容明确，方案可行，有创新性；文字简练，逻辑清晰，观点明确，</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5000</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字左右</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endParaRPr lang="en-US" altLang="zh-CN" sz="3000"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6" y="888628"/>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报告撰写及要求</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29217282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最终成绩评定</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期末报告成绩</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617123"/>
            <a:ext cx="10884504" cy="497645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小组成绩评定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教师会对各小组提交的课程期末报告认真评阅，结合过程跟踪、监督、抽查等收集的信息，评定小组等级，各等级比例为</a:t>
            </a:r>
            <a:r>
              <a:rPr lang="en-US" altLang="zh-CN" sz="2400" kern="0" dirty="0">
                <a:latin typeface="楷体" panose="02010609060101010101" pitchFamily="49" charset="-122"/>
                <a:ea typeface="楷体" panose="02010609060101010101" pitchFamily="49" charset="-122"/>
              </a:rPr>
              <a:t>A</a:t>
            </a:r>
            <a:r>
              <a:rPr lang="zh-CN" altLang="en-US" sz="2400" kern="0" dirty="0">
                <a:latin typeface="楷体" panose="02010609060101010101" pitchFamily="49" charset="-122"/>
                <a:ea typeface="楷体" panose="02010609060101010101" pitchFamily="49" charset="-122"/>
              </a:rPr>
              <a:t>等（</a:t>
            </a:r>
            <a:r>
              <a:rPr lang="en-US" altLang="zh-CN" sz="2400" kern="0" dirty="0">
                <a:latin typeface="楷体" panose="02010609060101010101" pitchFamily="49" charset="-122"/>
                <a:ea typeface="楷体" panose="02010609060101010101" pitchFamily="49" charset="-122"/>
              </a:rPr>
              <a:t>95</a:t>
            </a:r>
            <a:r>
              <a:rPr lang="zh-CN" altLang="en-US" sz="2400" kern="0" dirty="0">
                <a:latin typeface="楷体" panose="02010609060101010101" pitchFamily="49" charset="-122"/>
                <a:ea typeface="楷体" panose="02010609060101010101" pitchFamily="49" charset="-122"/>
              </a:rPr>
              <a:t>分）约</a:t>
            </a:r>
            <a:r>
              <a:rPr lang="en-US" altLang="zh-CN" sz="2400" kern="0" dirty="0">
                <a:latin typeface="楷体" panose="02010609060101010101" pitchFamily="49" charset="-122"/>
                <a:ea typeface="楷体" panose="02010609060101010101" pitchFamily="49" charset="-122"/>
              </a:rPr>
              <a:t>30%</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B</a:t>
            </a:r>
            <a:r>
              <a:rPr lang="zh-CN" altLang="en-US" sz="2400" kern="0" dirty="0">
                <a:latin typeface="楷体" panose="02010609060101010101" pitchFamily="49" charset="-122"/>
                <a:ea typeface="楷体" panose="02010609060101010101" pitchFamily="49" charset="-122"/>
              </a:rPr>
              <a:t>等（</a:t>
            </a:r>
            <a:r>
              <a:rPr lang="en-US" altLang="zh-CN" sz="2400" kern="0" dirty="0">
                <a:latin typeface="楷体" panose="02010609060101010101" pitchFamily="49" charset="-122"/>
                <a:ea typeface="楷体" panose="02010609060101010101" pitchFamily="49" charset="-122"/>
              </a:rPr>
              <a:t>90</a:t>
            </a:r>
            <a:r>
              <a:rPr lang="zh-CN" altLang="en-US" sz="2400" kern="0" dirty="0">
                <a:latin typeface="楷体" panose="02010609060101010101" pitchFamily="49" charset="-122"/>
                <a:ea typeface="楷体" panose="02010609060101010101" pitchFamily="49" charset="-122"/>
              </a:rPr>
              <a:t>分）约</a:t>
            </a:r>
            <a:r>
              <a:rPr lang="en-US" altLang="zh-CN" sz="2400" kern="0" dirty="0">
                <a:latin typeface="楷体" panose="02010609060101010101" pitchFamily="49" charset="-122"/>
                <a:ea typeface="楷体" panose="02010609060101010101" pitchFamily="49" charset="-122"/>
              </a:rPr>
              <a:t>30%</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C</a:t>
            </a:r>
            <a:r>
              <a:rPr lang="zh-CN" altLang="en-US" sz="2400" kern="0" dirty="0">
                <a:latin typeface="楷体" panose="02010609060101010101" pitchFamily="49" charset="-122"/>
                <a:ea typeface="楷体" panose="02010609060101010101" pitchFamily="49" charset="-122"/>
              </a:rPr>
              <a:t>等（</a:t>
            </a:r>
            <a:r>
              <a:rPr lang="en-US" altLang="zh-CN" sz="2400" kern="0" dirty="0">
                <a:latin typeface="楷体" panose="02010609060101010101" pitchFamily="49" charset="-122"/>
                <a:ea typeface="楷体" panose="02010609060101010101" pitchFamily="49" charset="-122"/>
              </a:rPr>
              <a:t>85</a:t>
            </a:r>
            <a:r>
              <a:rPr lang="zh-CN" altLang="en-US" sz="2400" kern="0" dirty="0">
                <a:latin typeface="楷体" panose="02010609060101010101" pitchFamily="49" charset="-122"/>
                <a:ea typeface="楷体" panose="02010609060101010101" pitchFamily="49" charset="-122"/>
              </a:rPr>
              <a:t>分）约</a:t>
            </a:r>
            <a:r>
              <a:rPr lang="en-US" altLang="zh-CN" sz="2400" kern="0" dirty="0">
                <a:latin typeface="楷体" panose="02010609060101010101" pitchFamily="49" charset="-122"/>
                <a:ea typeface="楷体" panose="02010609060101010101" pitchFamily="49" charset="-122"/>
              </a:rPr>
              <a:t>20%</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D</a:t>
            </a:r>
            <a:r>
              <a:rPr lang="zh-CN" altLang="en-US" sz="2400" kern="0" dirty="0">
                <a:latin typeface="楷体" panose="02010609060101010101" pitchFamily="49" charset="-122"/>
                <a:ea typeface="楷体" panose="02010609060101010101" pitchFamily="49" charset="-122"/>
              </a:rPr>
              <a:t>等（</a:t>
            </a:r>
            <a:r>
              <a:rPr lang="en-US" altLang="zh-CN" sz="2400" kern="0" dirty="0">
                <a:latin typeface="楷体" panose="02010609060101010101" pitchFamily="49" charset="-122"/>
                <a:ea typeface="楷体" panose="02010609060101010101" pitchFamily="49" charset="-122"/>
              </a:rPr>
              <a:t>80</a:t>
            </a:r>
            <a:r>
              <a:rPr lang="zh-CN" altLang="en-US" sz="2400" kern="0" dirty="0">
                <a:latin typeface="楷体" panose="02010609060101010101" pitchFamily="49" charset="-122"/>
                <a:ea typeface="楷体" panose="02010609060101010101" pitchFamily="49" charset="-122"/>
              </a:rPr>
              <a:t>分）约</a:t>
            </a:r>
            <a:r>
              <a:rPr lang="en-US" altLang="zh-CN" sz="2400" kern="0" dirty="0">
                <a:latin typeface="楷体" panose="02010609060101010101" pitchFamily="49" charset="-122"/>
                <a:ea typeface="楷体" panose="02010609060101010101" pitchFamily="49" charset="-122"/>
              </a:rPr>
              <a:t>20%</a:t>
            </a:r>
            <a:r>
              <a:rPr lang="zh-CN" altLang="en-US" sz="2400" kern="0" dirty="0">
                <a:latin typeface="楷体" panose="02010609060101010101" pitchFamily="49" charset="-122"/>
                <a:ea typeface="楷体" panose="02010609060101010101" pitchFamily="49" charset="-122"/>
              </a:rPr>
              <a:t>。</a:t>
            </a:r>
            <a:endParaRPr lang="en-US" altLang="zh-CN" sz="2400" kern="0" dirty="0">
              <a:latin typeface="楷体" panose="02010609060101010101" pitchFamily="49" charset="-122"/>
              <a:ea typeface="楷体" panose="02010609060101010101" pitchFamily="49" charset="-122"/>
            </a:endParaRPr>
          </a:p>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个人成绩评定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个人成绩</a:t>
            </a:r>
            <a:r>
              <a:rPr lang="en-US" altLang="zh-CN" sz="2400" kern="0" dirty="0">
                <a:latin typeface="楷体" panose="02010609060101010101" pitchFamily="49" charset="-122"/>
                <a:ea typeface="楷体" panose="02010609060101010101" pitchFamily="49" charset="-122"/>
              </a:rPr>
              <a:t>=</a:t>
            </a:r>
            <a:r>
              <a:rPr lang="zh-CN" altLang="en-US" sz="2400" kern="0" dirty="0">
                <a:latin typeface="楷体" panose="02010609060101010101" pitchFamily="49" charset="-122"/>
                <a:ea typeface="楷体" panose="02010609060101010101" pitchFamily="49" charset="-122"/>
              </a:rPr>
              <a:t>小组成绩*个人贡献度。</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个人贡献度体现了各位同学在期末报告活动中的贡献程度，</a:t>
            </a:r>
            <a:r>
              <a:rPr lang="zh-CN" altLang="zh-CN" sz="2400" kern="0" dirty="0">
                <a:solidFill>
                  <a:srgbClr val="FF0000"/>
                </a:solidFill>
                <a:latin typeface="楷体" panose="02010609060101010101" pitchFamily="49" charset="-122"/>
                <a:ea typeface="楷体" panose="02010609060101010101" pitchFamily="49" charset="-122"/>
              </a:rPr>
              <a:t>通过组内同学互评得到。</a:t>
            </a:r>
            <a:endParaRPr lang="en-US" altLang="zh-CN" sz="2400" kern="0"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7885569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最终成绩评定</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期末报告成绩</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2" name="Rectangle 4">
            <a:extLst>
              <a:ext uri="{FF2B5EF4-FFF2-40B4-BE49-F238E27FC236}">
                <a16:creationId xmlns:a16="http://schemas.microsoft.com/office/drawing/2014/main" id="{82F3AFB4-0977-8273-41A9-8156EBDAE7FA}"/>
              </a:ext>
            </a:extLst>
          </p:cNvPr>
          <p:cNvSpPr txBox="1">
            <a:spLocks noChangeArrowheads="1"/>
          </p:cNvSpPr>
          <p:nvPr/>
        </p:nvSpPr>
        <p:spPr bwMode="auto">
          <a:xfrm>
            <a:off x="501056" y="1461512"/>
            <a:ext cx="11189888" cy="1967488"/>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个人贡献度</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zh-CN" altLang="zh-CN" sz="1800" b="1" kern="100" dirty="0">
                <a:solidFill>
                  <a:srgbClr val="FF0000"/>
                </a:solidFill>
                <a:effectLst/>
                <a:ea typeface="宋体" panose="02010600030101010101" pitchFamily="2" charset="-122"/>
                <a:cs typeface="宋体" panose="02010600030101010101" pitchFamily="2" charset="-122"/>
              </a:rPr>
              <a:t>组内互评提示语为：</a:t>
            </a:r>
            <a:r>
              <a:rPr lang="zh-CN" altLang="zh-CN" sz="1800" kern="100" dirty="0">
                <a:effectLst/>
                <a:ea typeface="宋体" panose="02010600030101010101" pitchFamily="2" charset="-122"/>
                <a:cs typeface="宋体" panose="02010600030101010101" pitchFamily="2" charset="-122"/>
              </a:rPr>
              <a:t>基于你自己的认知，请列出你们小组各位同学在</a:t>
            </a:r>
            <a:r>
              <a:rPr lang="zh-CN" altLang="en-US" kern="100" dirty="0">
                <a:ea typeface="宋体" panose="02010600030101010101" pitchFamily="2" charset="-122"/>
                <a:cs typeface="宋体" panose="02010600030101010101" pitchFamily="2" charset="-122"/>
              </a:rPr>
              <a:t>完成</a:t>
            </a:r>
            <a:r>
              <a:rPr lang="zh-CN" altLang="en-US" sz="1800" kern="100" dirty="0">
                <a:effectLst/>
                <a:highlight>
                  <a:srgbClr val="FFFF00"/>
                </a:highlight>
                <a:ea typeface="宋体" panose="02010600030101010101" pitchFamily="2" charset="-122"/>
                <a:cs typeface="宋体" panose="02010600030101010101" pitchFamily="2" charset="-122"/>
              </a:rPr>
              <a:t>期末报告任务</a:t>
            </a:r>
            <a:r>
              <a:rPr lang="zh-CN" altLang="zh-CN" sz="1800" kern="100" dirty="0">
                <a:effectLst/>
                <a:ea typeface="宋体" panose="02010600030101010101" pitchFamily="2" charset="-122"/>
                <a:cs typeface="宋体" panose="02010600030101010101" pitchFamily="2" charset="-122"/>
              </a:rPr>
              <a:t>中的贡献大小。</a:t>
            </a:r>
            <a:r>
              <a:rPr lang="zh-CN" altLang="zh-CN" sz="1800" kern="100" dirty="0">
                <a:solidFill>
                  <a:srgbClr val="FF0000"/>
                </a:solidFill>
                <a:effectLst/>
                <a:ea typeface="宋体" panose="02010600030101010101" pitchFamily="2" charset="-122"/>
                <a:cs typeface="宋体" panose="02010600030101010101" pitchFamily="2" charset="-122"/>
              </a:rPr>
              <a:t>你自己排第一，小组其他同学贡献从大到小排序。</a:t>
            </a:r>
            <a:r>
              <a:rPr lang="zh-CN" altLang="en-US" sz="1800" b="1" kern="100" dirty="0">
                <a:effectLst/>
                <a:ea typeface="宋体" panose="02010600030101010101" pitchFamily="2" charset="-122"/>
                <a:cs typeface="宋体" panose="02010600030101010101" pitchFamily="2" charset="-122"/>
              </a:rPr>
              <a:t>建议小组每位同学各自独立评价，然后由组长汇总评价结果于下表中，并请各位同学对自己的评价签名确认。</a:t>
            </a:r>
            <a:r>
              <a:rPr lang="zh-CN" altLang="en-US" sz="1800" b="1" kern="100" dirty="0">
                <a:solidFill>
                  <a:srgbClr val="FF0000"/>
                </a:solidFill>
                <a:effectLst/>
                <a:ea typeface="宋体" panose="02010600030101010101" pitchFamily="2" charset="-122"/>
                <a:cs typeface="宋体" panose="02010600030101010101" pitchFamily="2" charset="-122"/>
              </a:rPr>
              <a:t>组长对签名后的打分表拍照形成电子版，与本组期末报告一起打包发送给老师。</a:t>
            </a:r>
            <a:endParaRPr lang="en-US" altLang="zh-CN" sz="3000" b="1" dirty="0">
              <a:solidFill>
                <a:srgbClr val="FF0000"/>
              </a:solidFill>
              <a:latin typeface="方正粗黑宋简体" pitchFamily="2" charset="-122"/>
              <a:ea typeface="方正粗黑宋简体" pitchFamily="2" charset="-122"/>
            </a:endParaRPr>
          </a:p>
        </p:txBody>
      </p:sp>
      <p:graphicFrame>
        <p:nvGraphicFramePr>
          <p:cNvPr id="3" name="表格 2">
            <a:extLst>
              <a:ext uri="{FF2B5EF4-FFF2-40B4-BE49-F238E27FC236}">
                <a16:creationId xmlns:a16="http://schemas.microsoft.com/office/drawing/2014/main" id="{69E5E754-6276-FAE1-F707-62E9F7E10F97}"/>
              </a:ext>
            </a:extLst>
          </p:cNvPr>
          <p:cNvGraphicFramePr>
            <a:graphicFrameLocks noGrp="1"/>
          </p:cNvGraphicFramePr>
          <p:nvPr>
            <p:extLst>
              <p:ext uri="{D42A27DB-BD31-4B8C-83A1-F6EECF244321}">
                <p14:modId xmlns:p14="http://schemas.microsoft.com/office/powerpoint/2010/main" val="4051153445"/>
              </p:ext>
            </p:extLst>
          </p:nvPr>
        </p:nvGraphicFramePr>
        <p:xfrm>
          <a:off x="1307668" y="3907669"/>
          <a:ext cx="9576663" cy="2738693"/>
        </p:xfrm>
        <a:graphic>
          <a:graphicData uri="http://schemas.openxmlformats.org/drawingml/2006/table">
            <a:tbl>
              <a:tblPr firstRow="1" firstCol="1" bandRow="1">
                <a:tableStyleId>{5C22544A-7EE6-4342-B048-85BDC9FD1C3A}</a:tableStyleId>
              </a:tblPr>
              <a:tblGrid>
                <a:gridCol w="1025201">
                  <a:extLst>
                    <a:ext uri="{9D8B030D-6E8A-4147-A177-3AD203B41FA5}">
                      <a16:colId xmlns:a16="http://schemas.microsoft.com/office/drawing/2014/main" val="3367597544"/>
                    </a:ext>
                  </a:extLst>
                </a:gridCol>
                <a:gridCol w="1535231">
                  <a:extLst>
                    <a:ext uri="{9D8B030D-6E8A-4147-A177-3AD203B41FA5}">
                      <a16:colId xmlns:a16="http://schemas.microsoft.com/office/drawing/2014/main" val="1016644197"/>
                    </a:ext>
                  </a:extLst>
                </a:gridCol>
                <a:gridCol w="1309249">
                  <a:extLst>
                    <a:ext uri="{9D8B030D-6E8A-4147-A177-3AD203B41FA5}">
                      <a16:colId xmlns:a16="http://schemas.microsoft.com/office/drawing/2014/main" val="1772248049"/>
                    </a:ext>
                  </a:extLst>
                </a:gridCol>
                <a:gridCol w="1275489">
                  <a:extLst>
                    <a:ext uri="{9D8B030D-6E8A-4147-A177-3AD203B41FA5}">
                      <a16:colId xmlns:a16="http://schemas.microsoft.com/office/drawing/2014/main" val="1545366621"/>
                    </a:ext>
                  </a:extLst>
                </a:gridCol>
                <a:gridCol w="1223987">
                  <a:extLst>
                    <a:ext uri="{9D8B030D-6E8A-4147-A177-3AD203B41FA5}">
                      <a16:colId xmlns:a16="http://schemas.microsoft.com/office/drawing/2014/main" val="3048738762"/>
                    </a:ext>
                  </a:extLst>
                </a:gridCol>
                <a:gridCol w="1166422">
                  <a:extLst>
                    <a:ext uri="{9D8B030D-6E8A-4147-A177-3AD203B41FA5}">
                      <a16:colId xmlns:a16="http://schemas.microsoft.com/office/drawing/2014/main" val="4100572516"/>
                    </a:ext>
                  </a:extLst>
                </a:gridCol>
                <a:gridCol w="1020542">
                  <a:extLst>
                    <a:ext uri="{9D8B030D-6E8A-4147-A177-3AD203B41FA5}">
                      <a16:colId xmlns:a16="http://schemas.microsoft.com/office/drawing/2014/main" val="321473623"/>
                    </a:ext>
                  </a:extLst>
                </a:gridCol>
                <a:gridCol w="1020542">
                  <a:extLst>
                    <a:ext uri="{9D8B030D-6E8A-4147-A177-3AD203B41FA5}">
                      <a16:colId xmlns:a16="http://schemas.microsoft.com/office/drawing/2014/main" val="2642672542"/>
                    </a:ext>
                  </a:extLst>
                </a:gridCol>
              </a:tblGrid>
              <a:tr h="383063">
                <a:tc>
                  <a:txBody>
                    <a:bodyPr/>
                    <a:lstStyle/>
                    <a:p>
                      <a:pPr algn="ct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endParaRPr 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1</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2</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3</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4</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5</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6</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签名</a:t>
                      </a:r>
                      <a:endParaRPr lang="zh-CN" altLang="zh-CN" sz="110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14997414"/>
                  </a:ext>
                </a:extLst>
              </a:tr>
              <a:tr h="392605">
                <a:tc>
                  <a:txBody>
                    <a:bodyPr/>
                    <a:lstStyle/>
                    <a:p>
                      <a:pPr algn="ct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1</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885834"/>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2</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55277426"/>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3</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14208497"/>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4</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52402805"/>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5</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0526420"/>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6</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385566020"/>
                  </a:ext>
                </a:extLst>
              </a:tr>
            </a:tbl>
          </a:graphicData>
        </a:graphic>
      </p:graphicFrame>
      <p:sp>
        <p:nvSpPr>
          <p:cNvPr id="4" name="Rectangle 1">
            <a:extLst>
              <a:ext uri="{FF2B5EF4-FFF2-40B4-BE49-F238E27FC236}">
                <a16:creationId xmlns:a16="http://schemas.microsoft.com/office/drawing/2014/main" id="{43FE29ED-283B-D20E-5B08-4C9BC0BB3F7E}"/>
              </a:ext>
            </a:extLst>
          </p:cNvPr>
          <p:cNvSpPr>
            <a:spLocks noChangeArrowheads="1"/>
          </p:cNvSpPr>
          <p:nvPr/>
        </p:nvSpPr>
        <p:spPr bwMode="auto">
          <a:xfrm>
            <a:off x="3335383" y="3557180"/>
            <a:ext cx="63311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82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266700"/>
            <a:r>
              <a:rPr lang="zh-CN" altLang="en-US" sz="1600" dirty="0">
                <a:latin typeface="Calibri" panose="020F0502020204030204" pitchFamily="34" charset="0"/>
                <a:ea typeface="方正粗黑宋简体"/>
                <a:cs typeface="Arial" panose="020B0604020202020204" pitchFamily="34" charset="0"/>
              </a:rPr>
              <a:t>（    ）班第（   ）组        </a:t>
            </a:r>
            <a:r>
              <a:rPr lang="zh-CN" altLang="en-US" sz="1600" dirty="0">
                <a:solidFill>
                  <a:srgbClr val="FF0000"/>
                </a:solidFill>
                <a:latin typeface="Calibri" panose="020F0502020204030204" pitchFamily="34" charset="0"/>
                <a:ea typeface="方正粗黑宋简体"/>
                <a:cs typeface="Arial" panose="020B0604020202020204" pitchFamily="34" charset="0"/>
              </a:rPr>
              <a:t>期末报告任务</a:t>
            </a:r>
            <a:r>
              <a:rPr kumimoji="0" lang="zh-CN" altLang="en-US"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个人贡献</a:t>
            </a:r>
            <a:r>
              <a:rPr kumimoji="0" lang="zh-CN" altLang="zh-CN"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组内打分表</a:t>
            </a:r>
            <a:r>
              <a:rPr kumimoji="0" lang="zh-CN" altLang="en-US"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422719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A.4</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资料归档</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资料归档</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619485"/>
            <a:ext cx="10884504" cy="181187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最后一次课程结束后一周内，由组长将</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期末报告和本组同学签名确认的个人贡献组内打分表电子版</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打包通过邮件发送至</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daibaohfut@126.com</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。邮件命名格式为</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X</a:t>
            </a:r>
            <a:r>
              <a:rPr lang="zh-CN" altLang="en-US"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班第</a:t>
            </a:r>
            <a:r>
              <a:rPr lang="en-US" altLang="zh-CN"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X</a:t>
            </a:r>
            <a:r>
              <a:rPr lang="zh-CN" altLang="en-US"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组期末报告任务资料</a:t>
            </a:r>
            <a:endParaRPr lang="en-US" altLang="zh-CN"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endParaRPr>
          </a:p>
        </p:txBody>
      </p:sp>
    </p:spTree>
    <p:extLst>
      <p:ext uri="{BB962C8B-B14F-4D97-AF65-F5344CB8AC3E}">
        <p14:creationId xmlns:p14="http://schemas.microsoft.com/office/powerpoint/2010/main" val="428991954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0774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4699</TotalTime>
  <Words>5815</Words>
  <Application>Microsoft Office PowerPoint</Application>
  <PresentationFormat>宽屏</PresentationFormat>
  <Paragraphs>215</Paragraphs>
  <Slides>10</Slides>
  <Notes>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FZCuHeiSongS-B-GB</vt:lpstr>
      <vt:lpstr>等线</vt:lpstr>
      <vt:lpstr>方正粗黑宋简体</vt:lpstr>
      <vt:lpstr>黑体</vt:lpstr>
      <vt:lpstr>华文仿宋</vt:lpstr>
      <vt:lpstr>华文楷体</vt:lpstr>
      <vt:lpstr>华文行楷</vt:lpstr>
      <vt:lpstr>楷体</vt:lpstr>
      <vt:lpstr>思源黑体 CN Light</vt:lpstr>
      <vt:lpstr>宋体</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niu Lao</dc:creator>
  <cp:lastModifiedBy>bao dai</cp:lastModifiedBy>
  <cp:revision>354</cp:revision>
  <dcterms:created xsi:type="dcterms:W3CDTF">2024-04-01T12:33:40Z</dcterms:created>
  <dcterms:modified xsi:type="dcterms:W3CDTF">2024-05-07T14:36:54Z</dcterms:modified>
</cp:coreProperties>
</file>