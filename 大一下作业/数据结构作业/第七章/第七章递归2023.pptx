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9" showSpecialPlsOnTitleSld="0">
  <p:sldMasterIdLst>
    <p:sldMasterId id="2147483648" r:id="rId1"/>
  </p:sldMasterIdLst>
  <p:notesMasterIdLst>
    <p:notesMasterId r:id="rId4"/>
  </p:notesMasterIdLst>
  <p:handoutMasterIdLst>
    <p:handoutMasterId r:id="rId80"/>
  </p:handoutMasterIdLst>
  <p:sldIdLst>
    <p:sldId id="256" r:id="rId3"/>
    <p:sldId id="481" r:id="rId5"/>
    <p:sldId id="610" r:id="rId6"/>
    <p:sldId id="746" r:id="rId7"/>
    <p:sldId id="745" r:id="rId8"/>
    <p:sldId id="733" r:id="rId9"/>
    <p:sldId id="732" r:id="rId10"/>
    <p:sldId id="747" r:id="rId11"/>
    <p:sldId id="728" r:id="rId12"/>
    <p:sldId id="734" r:id="rId13"/>
    <p:sldId id="735" r:id="rId14"/>
    <p:sldId id="736" r:id="rId15"/>
    <p:sldId id="737" r:id="rId16"/>
    <p:sldId id="738" r:id="rId17"/>
    <p:sldId id="681" r:id="rId18"/>
    <p:sldId id="682" r:id="rId19"/>
    <p:sldId id="683" r:id="rId20"/>
    <p:sldId id="684" r:id="rId21"/>
    <p:sldId id="685" r:id="rId22"/>
    <p:sldId id="686" r:id="rId23"/>
    <p:sldId id="687" r:id="rId24"/>
    <p:sldId id="688" r:id="rId25"/>
    <p:sldId id="689" r:id="rId26"/>
    <p:sldId id="690" r:id="rId27"/>
    <p:sldId id="691" r:id="rId28"/>
    <p:sldId id="692" r:id="rId29"/>
    <p:sldId id="693" r:id="rId30"/>
    <p:sldId id="694" r:id="rId31"/>
    <p:sldId id="695" r:id="rId32"/>
    <p:sldId id="696" r:id="rId33"/>
    <p:sldId id="697" r:id="rId34"/>
    <p:sldId id="698" r:id="rId35"/>
    <p:sldId id="699" r:id="rId36"/>
    <p:sldId id="700" r:id="rId37"/>
    <p:sldId id="701" r:id="rId38"/>
    <p:sldId id="702" r:id="rId39"/>
    <p:sldId id="703" r:id="rId40"/>
    <p:sldId id="704" r:id="rId41"/>
    <p:sldId id="705" r:id="rId42"/>
    <p:sldId id="706" r:id="rId43"/>
    <p:sldId id="707" r:id="rId44"/>
    <p:sldId id="814" r:id="rId45"/>
    <p:sldId id="815" r:id="rId46"/>
    <p:sldId id="748" r:id="rId47"/>
    <p:sldId id="749" r:id="rId48"/>
    <p:sldId id="816" r:id="rId49"/>
    <p:sldId id="819" r:id="rId50"/>
    <p:sldId id="820" r:id="rId51"/>
    <p:sldId id="750" r:id="rId52"/>
    <p:sldId id="751" r:id="rId53"/>
    <p:sldId id="756" r:id="rId54"/>
    <p:sldId id="752" r:id="rId55"/>
    <p:sldId id="753" r:id="rId56"/>
    <p:sldId id="754" r:id="rId57"/>
    <p:sldId id="755" r:id="rId58"/>
    <p:sldId id="708" r:id="rId59"/>
    <p:sldId id="709" r:id="rId60"/>
    <p:sldId id="710" r:id="rId61"/>
    <p:sldId id="711" r:id="rId62"/>
    <p:sldId id="712" r:id="rId63"/>
    <p:sldId id="713" r:id="rId64"/>
    <p:sldId id="714" r:id="rId65"/>
    <p:sldId id="715" r:id="rId66"/>
    <p:sldId id="716" r:id="rId67"/>
    <p:sldId id="717" r:id="rId68"/>
    <p:sldId id="664" r:id="rId69"/>
    <p:sldId id="739" r:id="rId70"/>
    <p:sldId id="740" r:id="rId71"/>
    <p:sldId id="741" r:id="rId72"/>
    <p:sldId id="742" r:id="rId73"/>
    <p:sldId id="743" r:id="rId74"/>
    <p:sldId id="744" r:id="rId75"/>
    <p:sldId id="758" r:id="rId76"/>
    <p:sldId id="759" r:id="rId77"/>
    <p:sldId id="760" r:id="rId78"/>
    <p:sldId id="666" r:id="rId79"/>
  </p:sldIdLst>
  <p:sldSz cx="9144000" cy="6858000" type="screen4x3"/>
  <p:notesSz cx="6797675" cy="9928225"/>
  <p:custDataLst>
    <p:tags r:id="rId84"/>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99"/>
    <a:srgbClr val="E133D9"/>
    <a:srgbClr val="FF6600"/>
    <a:srgbClr val="2BE978"/>
    <a:srgbClr val="808000"/>
    <a:srgbClr val="EB3B29"/>
    <a:srgbClr val="5E8892"/>
    <a:srgbClr val="8A3CC4"/>
    <a:srgbClr val="FCD5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812" autoAdjust="0"/>
    <p:restoredTop sz="96404" autoAdjust="0"/>
  </p:normalViewPr>
  <p:slideViewPr>
    <p:cSldViewPr showGuides="1">
      <p:cViewPr varScale="1">
        <p:scale>
          <a:sx n="114" d="100"/>
          <a:sy n="114" d="100"/>
        </p:scale>
        <p:origin x="-106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1" d="100"/>
          <a:sy n="61" d="100"/>
        </p:scale>
        <p:origin x="-3307" y="-77"/>
      </p:cViewPr>
      <p:guideLst>
        <p:guide orient="horz" pos="3127"/>
        <p:guide pos="214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4" Type="http://schemas.openxmlformats.org/officeDocument/2006/relationships/tags" Target="tags/tag1.xml"/><Relationship Id="rId83" Type="http://schemas.openxmlformats.org/officeDocument/2006/relationships/tableStyles" Target="tableStyles.xml"/><Relationship Id="rId82" Type="http://schemas.openxmlformats.org/officeDocument/2006/relationships/viewProps" Target="viewProps.xml"/><Relationship Id="rId81" Type="http://schemas.openxmlformats.org/officeDocument/2006/relationships/presProps" Target="presProps.xml"/><Relationship Id="rId80" Type="http://schemas.openxmlformats.org/officeDocument/2006/relationships/handoutMaster" Target="handoutMasters/handoutMaster1.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sz="quarter"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785CBAE4-F8D9-4129-B51F-0DB4BEA986F1}" type="datetimeFigureOut">
              <a:rPr lang="en-US"/>
            </a:fld>
            <a:endParaRPr lang="en-US"/>
          </a:p>
        </p:txBody>
      </p:sp>
      <p:sp>
        <p:nvSpPr>
          <p:cNvPr id="4" name="Footer Placeholder 3"/>
          <p:cNvSpPr>
            <a:spLocks noGrp="1"/>
          </p:cNvSpPr>
          <p:nvPr>
            <p:ph type="ftr" sz="quarter" idx="2"/>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en-US"/>
          </a:p>
        </p:txBody>
      </p:sp>
      <p:sp>
        <p:nvSpPr>
          <p:cNvPr id="5" name="Slide Number Placeholder 4"/>
          <p:cNvSpPr>
            <a:spLocks noGrp="1"/>
          </p:cNvSpPr>
          <p:nvPr>
            <p:ph type="sldNum" sz="quarter" idx="3"/>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49392E7D-0E06-464C-8541-AA44AE9E79C6}" type="slidenum">
              <a:rPr lang="en-US"/>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077E5B7F-BBE2-45B0-AC4C-D9CC9AA6B88A}" type="datetimeFigureOut">
              <a:rPr lang="zh-CN" altLang="en-US"/>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680383" y="4716585"/>
            <a:ext cx="5436909" cy="4467363"/>
          </a:xfrm>
          <a:prstGeom prst="rect">
            <a:avLst/>
          </a:prstGeom>
        </p:spPr>
        <p:txBody>
          <a:bodyPr vert="horz" lIns="93177" tIns="46589" rIns="93177" bIns="46589"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73790652-C02E-4B6F-A52E-6A0D29B3CC7A}"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7"/>
          <p:cNvSpPr/>
          <p:nvPr userDrawn="1"/>
        </p:nvSpPr>
        <p:spPr>
          <a:xfrm>
            <a:off x="0" y="0"/>
            <a:ext cx="9144000" cy="11255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5" name="Picture 3"/>
          <p:cNvPicPr>
            <a:picLocks noChangeAspect="1" noChangeArrowheads="1"/>
          </p:cNvPicPr>
          <p:nvPr userDrawn="1"/>
        </p:nvPicPr>
        <p:blipFill>
          <a:blip r:embed="rId2" cstate="print"/>
          <a:srcRect/>
          <a:stretch>
            <a:fillRect/>
          </a:stretch>
        </p:blipFill>
        <p:spPr bwMode="auto">
          <a:xfrm>
            <a:off x="0" y="-12700"/>
            <a:ext cx="9144000" cy="685800"/>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12"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
        <p:nvSpPr>
          <p:cNvPr id="13"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endParaRPr lang="zh-CN" altLang="en-US" dirty="0"/>
          </a:p>
        </p:txBody>
      </p:sp>
      <p:sp>
        <p:nvSpPr>
          <p:cNvPr id="14"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24E0C86B-4C23-4298-BDB1-EED1D0622335}" type="datetime1">
              <a:rPr lang="zh-CN" altLang="en-US" smtClean="0"/>
            </a:fld>
            <a:endParaRPr lang="zh-CN" altLang="en-US" dirty="0"/>
          </a:p>
        </p:txBody>
      </p:sp>
    </p:spTree>
  </p:cSld>
  <p:clrMapOvr>
    <a:masterClrMapping/>
  </p:clrMapOvr>
  <p:transition spd="slow" advClick="0">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4266"/>
            <a:ext cx="8229600" cy="660930"/>
          </a:xfrm>
        </p:spPr>
        <p:txBody>
          <a:bodyPr bIns="46800" anchor="b">
            <a:normAutofit/>
          </a:bodyPr>
          <a:lstStyle>
            <a:lvl1pPr algn="l">
              <a:defRPr sz="3600" b="1" baseline="0">
                <a:solidFill>
                  <a:schemeClr val="tx1"/>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457200" y="1414845"/>
            <a:ext cx="8229600" cy="467845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1BB09312-9A2C-4BC8-AE72-B9EF43AE6230}" type="datetime1">
              <a:rPr lang="zh-CN" altLang="en-US" smtClean="0"/>
            </a:fld>
            <a:endParaRPr lang="zh-CN" altLang="en-US" dirty="0"/>
          </a:p>
        </p:txBody>
      </p:sp>
      <p:sp>
        <p:nvSpPr>
          <p:cNvPr id="8"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endParaRPr lang="zh-CN" altLang="en-US" dirty="0"/>
          </a:p>
        </p:txBody>
      </p:sp>
      <p:sp>
        <p:nvSpPr>
          <p:cNvPr id="9"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9" name="灯片编号占位符 5"/>
          <p:cNvSpPr>
            <a:spLocks noGrp="1"/>
          </p:cNvSpPr>
          <p:nvPr>
            <p:ph type="sldNum" sz="quarter" idx="4"/>
          </p:nvPr>
        </p:nvSpPr>
        <p:spPr>
          <a:xfrm>
            <a:off x="6588224" y="6561732"/>
            <a:ext cx="2133600" cy="296268"/>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
        <p:nvSpPr>
          <p:cNvPr id="10"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EA03C6F7-3E40-49D7-8E49-B9572696868D}" type="datetime1">
              <a:rPr lang="zh-CN" altLang="en-US" smtClean="0"/>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endParaRPr lang="zh-CN" altLang="en-US" dirty="0"/>
          </a:p>
        </p:txBody>
      </p:sp>
    </p:spTree>
  </p:cSld>
  <p:clrMapOvr>
    <a:masterClrMapping/>
  </p:clrMapOvr>
  <p:transition spd="slow" advClick="0">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C73F8ACE-1AC2-4159-BCE3-B7874279DD8D}" type="datetime1">
              <a:rPr lang="zh-CN" altLang="en-US" smtClean="0"/>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endParaRPr lang="zh-CN" altLang="en-US" dirty="0"/>
          </a:p>
        </p:txBody>
      </p:sp>
      <p:sp>
        <p:nvSpPr>
          <p:cNvPr id="10" name="灯片编号占位符 5"/>
          <p:cNvSpPr>
            <a:spLocks noGrp="1"/>
          </p:cNvSpPr>
          <p:nvPr>
            <p:ph type="sldNum" sz="quarter" idx="4"/>
          </p:nvPr>
        </p:nvSpPr>
        <p:spPr>
          <a:xfrm>
            <a:off x="6588224" y="6525344"/>
            <a:ext cx="2133600" cy="357854"/>
          </a:xfrm>
          <a:prstGeom prst="rect">
            <a:avLst/>
          </a:prstGeom>
        </p:spPr>
        <p:txBody>
          <a:bodyPr vert="horz" lIns="91440" tIns="45720" rIns="91440" bIns="45720" rtlCol="0" anchor="ctr"/>
          <a:lstStyle>
            <a:lvl1pPr algn="r" fontAlgn="auto">
              <a:spcBef>
                <a:spcPts val="0"/>
              </a:spcBef>
              <a:spcAft>
                <a:spcPts val="0"/>
              </a:spcAft>
              <a:defRPr sz="1200" baseline="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1CDB56BA-CD72-4EC0-A6A7-5A777726E5A1}" type="datetime1">
              <a:rPr lang="zh-CN" altLang="en-US" smtClean="0"/>
            </a:fld>
            <a:endParaRPr lang="zh-CN" altLang="en-US" dirty="0"/>
          </a:p>
        </p:txBody>
      </p:sp>
      <p:sp>
        <p:nvSpPr>
          <p:cNvPr id="11" name="页脚占位符 4"/>
          <p:cNvSpPr>
            <a:spLocks noGrp="1"/>
          </p:cNvSpPr>
          <p:nvPr>
            <p:ph type="ftr" sz="quarter" idx="11"/>
          </p:nvPr>
        </p:nvSpPr>
        <p:spPr>
          <a:xfrm>
            <a:off x="2915816" y="6525344"/>
            <a:ext cx="3456384" cy="328825"/>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endParaRPr lang="zh-CN" altLang="en-US" dirty="0"/>
          </a:p>
        </p:txBody>
      </p:sp>
      <p:sp>
        <p:nvSpPr>
          <p:cNvPr id="12" name="灯片编号占位符 5"/>
          <p:cNvSpPr>
            <a:spLocks noGrp="1"/>
          </p:cNvSpPr>
          <p:nvPr>
            <p:ph type="sldNum" sz="quarter" idx="12"/>
          </p:nvPr>
        </p:nvSpPr>
        <p:spPr>
          <a:xfrm>
            <a:off x="6660232" y="6525344"/>
            <a:ext cx="2133600" cy="299797"/>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11" name="日期占位符 3"/>
          <p:cNvSpPr>
            <a:spLocks noGrp="1"/>
          </p:cNvSpPr>
          <p:nvPr>
            <p:ph type="dt" sz="half" idx="10"/>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42801CF8-5F99-4815-A8FE-BC671FBC4925}" type="datetime1">
              <a:rPr lang="zh-CN" altLang="en-US" smtClean="0"/>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endParaRPr lang="zh-CN" altLang="en-US" dirty="0"/>
          </a:p>
        </p:txBody>
      </p:sp>
      <p:sp>
        <p:nvSpPr>
          <p:cNvPr id="13"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5BA7513B-B40B-45EC-AE56-E1E1B8E713D7}" type="datetime1">
              <a:rPr lang="zh-CN" altLang="en-US" smtClean="0"/>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endParaRPr lang="zh-CN" altLang="en-US" dirty="0"/>
          </a:p>
        </p:txBody>
      </p:sp>
      <p:sp>
        <p:nvSpPr>
          <p:cNvPr id="10" name="灯片编号占位符 5"/>
          <p:cNvSpPr>
            <a:spLocks noGrp="1"/>
          </p:cNvSpPr>
          <p:nvPr>
            <p:ph type="sldNum" sz="quarter" idx="4"/>
          </p:nvPr>
        </p:nvSpPr>
        <p:spPr>
          <a:xfrm>
            <a:off x="6588224" y="6525344"/>
            <a:ext cx="2133600" cy="314311"/>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2"/>
          </p:nvPr>
        </p:nvSpPr>
        <p:spPr>
          <a:xfrm>
            <a:off x="395536" y="6525344"/>
            <a:ext cx="2133600" cy="314311"/>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3CC4B704-B4A3-4A89-9A82-71A7999B78AE}" type="datetime1">
              <a:rPr lang="zh-CN" altLang="en-US" smtClean="0"/>
            </a:fld>
            <a:endParaRPr lang="zh-CN" altLang="en-US" dirty="0"/>
          </a:p>
        </p:txBody>
      </p:sp>
      <p:sp>
        <p:nvSpPr>
          <p:cNvPr id="8" name="页脚占位符 4"/>
          <p:cNvSpPr>
            <a:spLocks noGrp="1"/>
          </p:cNvSpPr>
          <p:nvPr>
            <p:ph type="ftr" sz="quarter" idx="3"/>
          </p:nvPr>
        </p:nvSpPr>
        <p:spPr>
          <a:xfrm>
            <a:off x="2843808" y="6525344"/>
            <a:ext cx="3456384" cy="300360"/>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endParaRPr lang="zh-CN" altLang="en-US" dirty="0"/>
          </a:p>
        </p:txBody>
      </p:sp>
      <p:sp>
        <p:nvSpPr>
          <p:cNvPr id="9" name="灯片编号占位符 5"/>
          <p:cNvSpPr>
            <a:spLocks noGrp="1"/>
          </p:cNvSpPr>
          <p:nvPr>
            <p:ph type="sldNum" sz="quarter" idx="4"/>
          </p:nvPr>
        </p:nvSpPr>
        <p:spPr>
          <a:xfrm>
            <a:off x="6660232" y="6525344"/>
            <a:ext cx="2133600" cy="332656"/>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表格占位符 2"/>
          <p:cNvSpPr>
            <a:spLocks noGrp="1"/>
          </p:cNvSpPr>
          <p:nvPr>
            <p:ph type="tbl" idx="1"/>
          </p:nvPr>
        </p:nvSpPr>
        <p:spPr/>
        <p:txBody>
          <a:bodyPr/>
          <a:lstStyle/>
          <a:p>
            <a:endParaRPr lang="zh-CN" altLang="en-US" noProof="1"/>
          </a:p>
        </p:txBody>
      </p:sp>
      <p:sp>
        <p:nvSpPr>
          <p:cNvPr id="4" name="日期占位符 1029"/>
          <p:cNvSpPr>
            <a:spLocks noGrp="1"/>
          </p:cNvSpPr>
          <p:nvPr>
            <p:ph type="dt" sz="half" idx="10"/>
          </p:nvPr>
        </p:nvSpPr>
        <p:spPr/>
        <p:txBody>
          <a:bodyPr/>
          <a:lstStyle>
            <a:lvl1pPr>
              <a:defRPr/>
            </a:lvl1pPr>
          </a:lstStyle>
          <a:p>
            <a:fld id="{97DE84F9-5F49-489C-934B-331B37302CB1}" type="datetime1">
              <a:rPr lang="zh-CN" altLang="en-US" smtClean="0"/>
            </a:fld>
            <a:endParaRPr lang="zh-CN" altLang="en-US"/>
          </a:p>
        </p:txBody>
      </p:sp>
      <p:sp>
        <p:nvSpPr>
          <p:cNvPr id="5" name="页脚占位符 1030"/>
          <p:cNvSpPr>
            <a:spLocks noGrp="1"/>
          </p:cNvSpPr>
          <p:nvPr>
            <p:ph type="ftr" sz="quarter" idx="11"/>
          </p:nvPr>
        </p:nvSpPr>
        <p:spPr/>
        <p:txBody>
          <a:bodyPr/>
          <a:lstStyle>
            <a:lvl1pPr>
              <a:defRPr/>
            </a:lvl1pPr>
          </a:lstStyle>
          <a:p>
            <a:endParaRPr lang="zh-CN" altLang="en-US"/>
          </a:p>
        </p:txBody>
      </p:sp>
      <p:sp>
        <p:nvSpPr>
          <p:cNvPr id="6" name="灯片编号占位符 1031"/>
          <p:cNvSpPr>
            <a:spLocks noGrp="1"/>
          </p:cNvSpPr>
          <p:nvPr>
            <p:ph type="sldNum" sz="quarter" idx="12"/>
          </p:nvPr>
        </p:nvSpPr>
        <p:spPr/>
        <p:txBody>
          <a:bodyPr/>
          <a:lstStyle>
            <a:lvl1pPr>
              <a:defRPr/>
            </a:lvl1pPr>
          </a:lstStyle>
          <a:p>
            <a:fld id="{EC3D1DCE-69CE-43FA-94DD-00EF83D4A86A}" type="slidenum">
              <a:rPr lang="zh-CN" altLang="en-US"/>
            </a:fld>
            <a:endParaRPr lang="zh-CN" altLang="en-US"/>
          </a:p>
        </p:txBody>
      </p:sp>
    </p:spTree>
  </p:cSld>
  <p:clrMapOvr>
    <a:masterClrMapping/>
  </p:clrMapOvr>
  <p:transition spd="med">
    <p:zo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image" Target="../media/image3.jpeg"/><Relationship Id="rId10" Type="http://schemas.openxmlformats.org/officeDocument/2006/relationships/image" Target="../media/image2.jpe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nvSpPr>
        <p:spPr>
          <a:xfrm>
            <a:off x="0" y="6350"/>
            <a:ext cx="9144000" cy="935038"/>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7" name="文本占位符 2"/>
          <p:cNvSpPr>
            <a:spLocks noGrp="1"/>
          </p:cNvSpPr>
          <p:nvPr>
            <p:ph type="body" idx="1"/>
          </p:nvPr>
        </p:nvSpPr>
        <p:spPr bwMode="auto">
          <a:xfrm>
            <a:off x="468313" y="1125538"/>
            <a:ext cx="822960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pic>
        <p:nvPicPr>
          <p:cNvPr id="1031" name="图片 2"/>
          <p:cNvPicPr>
            <a:picLocks noChangeAspect="1"/>
          </p:cNvPicPr>
          <p:nvPr userDrawn="1"/>
        </p:nvPicPr>
        <p:blipFill>
          <a:blip r:embed="rId10" cstate="print"/>
          <a:srcRect/>
          <a:stretch>
            <a:fillRect/>
          </a:stretch>
        </p:blipFill>
        <p:spPr bwMode="auto">
          <a:xfrm>
            <a:off x="0" y="6580188"/>
            <a:ext cx="9144000" cy="300037"/>
          </a:xfrm>
          <a:prstGeom prst="rect">
            <a:avLst/>
          </a:prstGeom>
          <a:noFill/>
          <a:ln w="9525">
            <a:noFill/>
            <a:miter lim="800000"/>
            <a:headEnd/>
            <a:tailEnd/>
          </a:ln>
        </p:spPr>
      </p:pic>
      <p:sp>
        <p:nvSpPr>
          <p:cNvPr id="11" name="矩形 10"/>
          <p:cNvSpPr/>
          <p:nvPr userDrawn="1"/>
        </p:nvSpPr>
        <p:spPr>
          <a:xfrm>
            <a:off x="468313" y="0"/>
            <a:ext cx="8675687" cy="828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ndParaRPr>
          </a:p>
        </p:txBody>
      </p:sp>
      <p:sp>
        <p:nvSpPr>
          <p:cNvPr id="1034" name="标题占位符 1"/>
          <p:cNvSpPr>
            <a:spLocks noGrp="1"/>
          </p:cNvSpPr>
          <p:nvPr>
            <p:ph type="title"/>
          </p:nvPr>
        </p:nvSpPr>
        <p:spPr bwMode="auto">
          <a:xfrm>
            <a:off x="457200" y="146050"/>
            <a:ext cx="8229600" cy="777875"/>
          </a:xfrm>
          <a:prstGeom prst="rect">
            <a:avLst/>
          </a:prstGeom>
          <a:noFill/>
          <a:ln w="9525">
            <a:noFill/>
            <a:miter lim="800000"/>
          </a:ln>
        </p:spPr>
        <p:txBody>
          <a:bodyPr vert="horz" wrap="square" lIns="91440" tIns="45720" rIns="91440" bIns="45720" numCol="1" anchor="ctr" anchorCtr="0" compatLnSpc="1"/>
          <a:lstStyle/>
          <a:p>
            <a:pPr lvl="0"/>
            <a:r>
              <a:rPr lang="zh-CN" altLang="en-US" dirty="0"/>
              <a:t>单击此处编辑母版标题样式</a:t>
            </a:r>
            <a:endParaRPr lang="zh-CN" altLang="en-US" dirty="0"/>
          </a:p>
        </p:txBody>
      </p:sp>
      <p:pic>
        <p:nvPicPr>
          <p:cNvPr id="2" name="图片 1"/>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7380312" y="131146"/>
            <a:ext cx="1590708" cy="684000"/>
          </a:xfrm>
          <a:prstGeom prst="rect">
            <a:avLst/>
          </a:prstGeom>
        </p:spPr>
      </p:pic>
      <p:sp>
        <p:nvSpPr>
          <p:cNvPr id="12" name="矩形 11"/>
          <p:cNvSpPr/>
          <p:nvPr userDrawn="1"/>
        </p:nvSpPr>
        <p:spPr>
          <a:xfrm>
            <a:off x="6730774" y="15114"/>
            <a:ext cx="2398712" cy="789055"/>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A3DD9331-1E4D-4AEC-91B2-B3141FD75E76}" type="datetime1">
              <a:rPr lang="zh-CN" altLang="en-US" smtClean="0"/>
            </a:fld>
            <a:endParaRPr lang="zh-CN" altLang="en-US" dirty="0"/>
          </a:p>
        </p:txBody>
      </p:sp>
      <p:sp>
        <p:nvSpPr>
          <p:cNvPr id="14"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endParaRPr lang="zh-CN" altLang="en-US" dirty="0"/>
          </a:p>
        </p:txBody>
      </p:sp>
      <p:sp>
        <p:nvSpPr>
          <p:cNvPr id="15"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slow" advClick="0">
    <p:pull dir="d"/>
  </p:transition>
  <p:hf sldNum="0" hdr="0" dt="0"/>
  <p:txStyles>
    <p:titleStyle>
      <a:lvl1pPr algn="l" rtl="0" fontAlgn="base">
        <a:spcBef>
          <a:spcPct val="0"/>
        </a:spcBef>
        <a:spcAft>
          <a:spcPct val="0"/>
        </a:spcAft>
        <a:defRPr sz="3600" b="1" kern="1200" baseline="0">
          <a:solidFill>
            <a:schemeClr val="tx1"/>
          </a:solidFill>
          <a:latin typeface="Times New Roman" panose="02020603050405020304" pitchFamily="18" charset="0"/>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5.wmf"/><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2.png"/><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image" Target="../media/image13.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jpeg"/><Relationship Id="rId1" Type="http://schemas.openxmlformats.org/officeDocument/2006/relationships/image" Target="../media/image16.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jpeg"/><Relationship Id="rId1" Type="http://schemas.openxmlformats.org/officeDocument/2006/relationships/image" Target="../media/image19.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7.jpeg"/><Relationship Id="rId2" Type="http://schemas.openxmlformats.org/officeDocument/2006/relationships/image" Target="../media/image21.png"/><Relationship Id="rId1" Type="http://schemas.openxmlformats.org/officeDocument/2006/relationships/image" Target="../media/image20.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jpeg"/><Relationship Id="rId1"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7.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jpe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emf"/><Relationship Id="rId1" Type="http://schemas.openxmlformats.org/officeDocument/2006/relationships/image" Target="../media/image12.png"/></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12.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4.emf"/><Relationship Id="rId1" Type="http://schemas.openxmlformats.org/officeDocument/2006/relationships/image" Target="../media/image12.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76.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image" Target="../media/image3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685279" y="43542"/>
            <a:ext cx="1423266" cy="612000"/>
          </a:xfrm>
          <a:prstGeom prst="rect">
            <a:avLst/>
          </a:prstGeom>
        </p:spPr>
      </p:pic>
      <p:sp>
        <p:nvSpPr>
          <p:cNvPr id="7" name="矩形 6"/>
          <p:cNvSpPr/>
          <p:nvPr/>
        </p:nvSpPr>
        <p:spPr>
          <a:xfrm>
            <a:off x="611560" y="836712"/>
            <a:ext cx="7560840" cy="5226050"/>
          </a:xfrm>
          <a:prstGeom prst="rect">
            <a:avLst/>
          </a:prstGeom>
        </p:spPr>
        <p:txBody>
          <a:bodyPr wrap="square">
            <a:spAutoFit/>
          </a:bodyPr>
          <a:lstStyle/>
          <a:p>
            <a:pPr algn="ctr" eaLnBrk="1" hangingPunct="1">
              <a:buFont typeface="Wingdings" panose="05000000000000000000" pitchFamily="2" charset="2"/>
              <a:buNone/>
            </a:pPr>
            <a:r>
              <a:rPr lang="zh-CN" altLang="en-US" sz="3600" b="1" dirty="0">
                <a:latin typeface="Comic Sans MS" panose="030F0702030302020204" pitchFamily="66" charset="0"/>
              </a:rPr>
              <a:t>数 据 结 构</a:t>
            </a:r>
            <a:endParaRPr lang="zh-CN" altLang="en-US" sz="3600" b="1" dirty="0">
              <a:latin typeface="Comic Sans MS" panose="030F0702030302020204" pitchFamily="66" charset="0"/>
            </a:endParaRPr>
          </a:p>
          <a:p>
            <a:pPr algn="ctr" eaLnBrk="1" hangingPunct="1">
              <a:buFont typeface="Wingdings" panose="05000000000000000000" pitchFamily="2" charset="2"/>
              <a:buNone/>
            </a:pPr>
            <a:endParaRPr lang="zh-CN" altLang="en-US" sz="1400" b="1" dirty="0">
              <a:latin typeface="Comic Sans MS" panose="030F0702030302020204" pitchFamily="66" charset="0"/>
            </a:endParaRPr>
          </a:p>
          <a:p>
            <a:pPr algn="ctr" eaLnBrk="1" hangingPunct="1">
              <a:buFont typeface="Wingdings" panose="05000000000000000000" pitchFamily="2" charset="2"/>
              <a:buNone/>
            </a:pPr>
            <a:r>
              <a:rPr lang="en-US" altLang="zh-CN" sz="4000" dirty="0">
                <a:latin typeface="Comic Sans MS" panose="030F0702030302020204" pitchFamily="66" charset="0"/>
                <a:ea typeface="MS PMincho" panose="02020600040205080304" pitchFamily="18" charset="-128"/>
              </a:rPr>
              <a:t> </a:t>
            </a:r>
            <a:r>
              <a:rPr lang="en-US" altLang="zh-CN" sz="4000" b="1" dirty="0">
                <a:solidFill>
                  <a:schemeClr val="tx2"/>
                </a:solidFill>
                <a:latin typeface="Garamond" panose="02020404030301010803" pitchFamily="18" charset="0"/>
                <a:ea typeface="方正舒体" panose="02010601030101010101" pitchFamily="2" charset="-122"/>
              </a:rPr>
              <a:t>Data Structures</a:t>
            </a: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spcBef>
                <a:spcPts val="300"/>
              </a:spcBef>
              <a:buFont typeface="Wingdings" panose="05000000000000000000" pitchFamily="2" charset="2"/>
              <a:buNone/>
            </a:pPr>
            <a:r>
              <a:rPr lang="zh-CN" altLang="en-US" sz="3200" b="1" dirty="0">
                <a:solidFill>
                  <a:srgbClr val="FF0000"/>
                </a:solidFill>
                <a:latin typeface="Comic Sans MS" panose="030F0702030302020204" pitchFamily="66" charset="0"/>
              </a:rPr>
              <a:t>第</a:t>
            </a:r>
            <a:r>
              <a:rPr lang="en-US" altLang="zh-CN" sz="3200" b="1" dirty="0">
                <a:solidFill>
                  <a:srgbClr val="FF0000"/>
                </a:solidFill>
                <a:latin typeface="Comic Sans MS" panose="030F0702030302020204" pitchFamily="66" charset="0"/>
              </a:rPr>
              <a:t>7</a:t>
            </a:r>
            <a:r>
              <a:rPr lang="zh-CN" altLang="en-US" sz="3200" b="1" dirty="0">
                <a:solidFill>
                  <a:srgbClr val="FF0000"/>
                </a:solidFill>
                <a:latin typeface="Comic Sans MS" panose="030F0702030302020204" pitchFamily="66" charset="0"/>
              </a:rPr>
              <a:t>章 递归</a:t>
            </a:r>
            <a:endParaRPr lang="en-US" altLang="zh-CN" sz="3200" b="1" dirty="0">
              <a:solidFill>
                <a:srgbClr val="FF0000"/>
              </a:solidFill>
              <a:latin typeface="Comic Sans MS" panose="030F0702030302020204" pitchFamily="66" charset="0"/>
            </a:endParaRPr>
          </a:p>
          <a:p>
            <a:pPr algn="ctr" eaLnBrk="1" hangingPunct="1">
              <a:spcBef>
                <a:spcPts val="300"/>
              </a:spcBef>
              <a:buFont typeface="Wingdings" panose="05000000000000000000" pitchFamily="2" charset="2"/>
              <a:buNone/>
            </a:pPr>
            <a:r>
              <a:rPr lang="en-US" altLang="zh-CN" sz="3200" b="1" dirty="0">
                <a:solidFill>
                  <a:srgbClr val="FF0000"/>
                </a:solidFill>
                <a:latin typeface="Comic Sans MS" panose="030F0702030302020204" pitchFamily="66" charset="0"/>
              </a:rPr>
              <a:t>(Recursion)</a:t>
            </a: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zh-CN" altLang="en-US"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数据结构课程组</a:t>
            </a: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胡学钢  张 晶  张玉红 </a:t>
            </a:r>
            <a:r>
              <a:rPr lang="zh-CN" altLang="en-US" sz="2600" b="1" dirty="0">
                <a:solidFill>
                  <a:srgbClr val="0000FF"/>
                </a:solidFill>
                <a:latin typeface="宋体" panose="02010600030101010101" pitchFamily="2" charset="-122"/>
              </a:rPr>
              <a:t>李培培</a:t>
            </a:r>
            <a:endParaRPr lang="en-US" altLang="zh-CN" sz="2600" b="1" dirty="0">
              <a:solidFill>
                <a:srgbClr val="0000FF"/>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 </a:t>
            </a:r>
            <a:endParaRPr lang="zh-CN" altLang="en-US" sz="2600" b="1" dirty="0">
              <a:solidFill>
                <a:schemeClr val="tx2"/>
              </a:solidFill>
              <a:latin typeface="宋体" panose="02010600030101010101" pitchFamily="2" charset="-122"/>
            </a:endParaRPr>
          </a:p>
          <a:p>
            <a:pPr algn="ctr">
              <a:lnSpc>
                <a:spcPts val="2000"/>
              </a:lnSpc>
            </a:pPr>
            <a:r>
              <a:rPr lang="zh-CN" altLang="en-US" sz="2600" b="1" dirty="0">
                <a:solidFill>
                  <a:schemeClr val="tx2"/>
                </a:solidFill>
                <a:latin typeface="宋体" panose="02010600030101010101" pitchFamily="2" charset="-122"/>
              </a:rPr>
              <a:t>合肥工业大学 计算机与信息学院  </a:t>
            </a:r>
            <a:endParaRPr lang="zh-CN" altLang="en-US"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en-US" altLang="zh-CN" sz="2600" b="1" dirty="0">
                <a:solidFill>
                  <a:schemeClr val="tx2"/>
                </a:solidFill>
                <a:latin typeface="宋体" panose="02010600030101010101" pitchFamily="2" charset="-122"/>
              </a:rPr>
              <a:t>2024</a:t>
            </a:r>
            <a:r>
              <a:rPr lang="zh-CN" altLang="en-US" sz="2600" b="1" dirty="0">
                <a:solidFill>
                  <a:schemeClr val="tx2"/>
                </a:solidFill>
                <a:latin typeface="宋体" panose="02010600030101010101" pitchFamily="2" charset="-122"/>
              </a:rPr>
              <a:t>年</a:t>
            </a:r>
            <a:r>
              <a:rPr lang="en-US" altLang="zh-CN" sz="2600" b="1" dirty="0">
                <a:solidFill>
                  <a:schemeClr val="tx2"/>
                </a:solidFill>
                <a:latin typeface="宋体" panose="02010600030101010101" pitchFamily="2" charset="-122"/>
              </a:rPr>
              <a:t>3</a:t>
            </a:r>
            <a:r>
              <a:rPr lang="zh-CN" altLang="en-US" sz="2600" b="1" dirty="0">
                <a:solidFill>
                  <a:schemeClr val="tx2"/>
                </a:solidFill>
                <a:latin typeface="宋体" panose="02010600030101010101" pitchFamily="2" charset="-122"/>
              </a:rPr>
              <a:t>月</a:t>
            </a:r>
            <a:r>
              <a:rPr lang="en-US" altLang="zh-CN" sz="2600" b="1" dirty="0">
                <a:solidFill>
                  <a:schemeClr val="tx2"/>
                </a:solidFill>
                <a:latin typeface="宋体" panose="02010600030101010101" pitchFamily="2" charset="-122"/>
              </a:rPr>
              <a:t> </a:t>
            </a:r>
            <a:endParaRPr lang="zh-CN" altLang="en-US" sz="2600" b="1" dirty="0">
              <a:solidFill>
                <a:schemeClr val="tx2"/>
              </a:solidFill>
              <a:latin typeface="宋体" panose="02010600030101010101" pitchFamily="2" charset="-122"/>
            </a:endParaRPr>
          </a:p>
        </p:txBody>
      </p:sp>
      <p:pic>
        <p:nvPicPr>
          <p:cNvPr id="10" name="图片 307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248" y="3789040"/>
            <a:ext cx="2049462"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Click="0" advTm="515">
    <p:pull dir="d"/>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标题 4097"/>
          <p:cNvSpPr>
            <a:spLocks noGrp="1" noChangeArrowheads="1"/>
          </p:cNvSpPr>
          <p:nvPr>
            <p:ph type="title"/>
          </p:nvPr>
        </p:nvSpPr>
        <p:spPr>
          <a:xfrm>
            <a:off x="395536" y="124266"/>
            <a:ext cx="8928992" cy="660930"/>
          </a:xfrm>
        </p:spPr>
        <p:txBody>
          <a:bodyPr>
            <a:normAutofit/>
          </a:bodyPr>
          <a:lstStyle/>
          <a:p>
            <a:pPr eaLnBrk="1" hangingPunct="1"/>
            <a:r>
              <a:rPr lang="zh-CN" altLang="en-US" b="1" dirty="0"/>
              <a:t>第</a:t>
            </a:r>
            <a:r>
              <a:rPr lang="en-US" altLang="zh-CN" b="1" dirty="0"/>
              <a:t>7</a:t>
            </a:r>
            <a:r>
              <a:rPr lang="zh-CN" altLang="en-US" dirty="0"/>
              <a:t>章 递归</a:t>
            </a:r>
            <a:r>
              <a:rPr lang="en-US" altLang="zh-CN" dirty="0"/>
              <a:t>(</a:t>
            </a:r>
            <a:r>
              <a:rPr lang="en-US" altLang="zh-CN" dirty="0">
                <a:solidFill>
                  <a:srgbClr val="FF0000"/>
                </a:solidFill>
                <a:latin typeface="Comic Sans MS" panose="030F0702030302020204" pitchFamily="66" charset="0"/>
              </a:rPr>
              <a:t>Recursion</a:t>
            </a:r>
            <a:r>
              <a:rPr lang="en-US" altLang="zh-CN" dirty="0"/>
              <a:t>)</a:t>
            </a:r>
            <a:endParaRPr lang="zh-CN" altLang="en-US" sz="3100" b="1" dirty="0"/>
          </a:p>
        </p:txBody>
      </p:sp>
      <p:grpSp>
        <p:nvGrpSpPr>
          <p:cNvPr id="14" name="组合 114"/>
          <p:cNvGrpSpPr/>
          <p:nvPr/>
        </p:nvGrpSpPr>
        <p:grpSpPr>
          <a:xfrm>
            <a:off x="975623" y="2412201"/>
            <a:ext cx="5927212" cy="584751"/>
            <a:chOff x="933887" y="3363717"/>
            <a:chExt cx="6455953" cy="765718"/>
          </a:xfrm>
        </p:grpSpPr>
        <p:grpSp>
          <p:nvGrpSpPr>
            <p:cNvPr id="15" name="组合 105"/>
            <p:cNvGrpSpPr/>
            <p:nvPr/>
          </p:nvGrpSpPr>
          <p:grpSpPr>
            <a:xfrm>
              <a:off x="933887" y="3363717"/>
              <a:ext cx="6455953" cy="765718"/>
              <a:chOff x="933887" y="3363717"/>
              <a:chExt cx="6455953" cy="765718"/>
            </a:xfrm>
          </p:grpSpPr>
          <p:sp>
            <p:nvSpPr>
              <p:cNvPr id="1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8" name="TextBox 6"/>
              <p:cNvSpPr txBox="1">
                <a:spLocks noChangeArrowheads="1"/>
              </p:cNvSpPr>
              <p:nvPr/>
            </p:nvSpPr>
            <p:spPr bwMode="auto">
              <a:xfrm>
                <a:off x="1164800" y="3363717"/>
                <a:ext cx="6225040"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7.3 </a:t>
                </a:r>
                <a:r>
                  <a:rPr lang="zh-CN" altLang="en-US" sz="3200" b="1" dirty="0">
                    <a:latin typeface="Times New Roman" panose="02020603050405020304" pitchFamily="18" charset="0"/>
                    <a:ea typeface="黑体" panose="02010609060101010101" pitchFamily="49" charset="-122"/>
                  </a:rPr>
                  <a:t>递归的内部实现原理</a:t>
                </a:r>
                <a:endParaRPr lang="zh-CN" altLang="en-US" sz="3200" b="1" dirty="0">
                  <a:latin typeface="Times New Roman" panose="02020603050405020304" pitchFamily="18" charset="0"/>
                  <a:ea typeface="黑体" panose="02010609060101010101" pitchFamily="49" charset="-122"/>
                </a:endParaRPr>
              </a:p>
            </p:txBody>
          </p:sp>
        </p:grpSp>
        <p:pic>
          <p:nvPicPr>
            <p:cNvPr id="16" name="图片 15" descr="12.jpg"/>
            <p:cNvPicPr>
              <a:picLocks noChangeAspect="1"/>
            </p:cNvPicPr>
            <p:nvPr/>
          </p:nvPicPr>
          <p:blipFill>
            <a:blip r:embed="rId1" cstate="print"/>
            <a:stretch>
              <a:fillRect/>
            </a:stretch>
          </p:blipFill>
          <p:spPr>
            <a:xfrm>
              <a:off x="1115929" y="3530600"/>
              <a:ext cx="446172" cy="431048"/>
            </a:xfrm>
            <a:prstGeom prst="rect">
              <a:avLst/>
            </a:prstGeom>
          </p:spPr>
        </p:pic>
      </p:grpSp>
      <p:grpSp>
        <p:nvGrpSpPr>
          <p:cNvPr id="19" name="组合 67"/>
          <p:cNvGrpSpPr/>
          <p:nvPr/>
        </p:nvGrpSpPr>
        <p:grpSpPr>
          <a:xfrm>
            <a:off x="276186" y="3068960"/>
            <a:ext cx="6717959" cy="584751"/>
            <a:chOff x="194285" y="4179148"/>
            <a:chExt cx="7317240" cy="765717"/>
          </a:xfrm>
        </p:grpSpPr>
        <p:grpSp>
          <p:nvGrpSpPr>
            <p:cNvPr id="20" name="组合 106"/>
            <p:cNvGrpSpPr/>
            <p:nvPr/>
          </p:nvGrpSpPr>
          <p:grpSpPr>
            <a:xfrm>
              <a:off x="194285" y="4179148"/>
              <a:ext cx="7317240" cy="765717"/>
              <a:chOff x="184760" y="4179148"/>
              <a:chExt cx="7317240" cy="765717"/>
            </a:xfrm>
          </p:grpSpPr>
          <p:sp>
            <p:nvSpPr>
              <p:cNvPr id="22"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3" name="TextBox 6"/>
              <p:cNvSpPr txBox="1">
                <a:spLocks noChangeArrowheads="1"/>
              </p:cNvSpPr>
              <p:nvPr/>
            </p:nvSpPr>
            <p:spPr bwMode="auto">
              <a:xfrm>
                <a:off x="184760" y="4179148"/>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7.4 </a:t>
                </a:r>
                <a:r>
                  <a:rPr lang="zh-CN" altLang="en-US" sz="3200" b="1" dirty="0">
                    <a:latin typeface="Times New Roman" panose="02020603050405020304" pitchFamily="18" charset="0"/>
                    <a:ea typeface="黑体" panose="02010609060101010101" pitchFamily="49" charset="-122"/>
                  </a:rPr>
                  <a:t>递归程序的阅读</a:t>
                </a:r>
                <a:endParaRPr lang="zh-CN" altLang="en-US" sz="3200" b="1" dirty="0">
                  <a:latin typeface="黑体" panose="02010609060101010101" pitchFamily="49" charset="-122"/>
                  <a:ea typeface="黑体" panose="02010609060101010101" pitchFamily="49" charset="-122"/>
                </a:endParaRPr>
              </a:p>
            </p:txBody>
          </p:sp>
        </p:grpSp>
        <p:pic>
          <p:nvPicPr>
            <p:cNvPr id="21" name="图片 20" descr="无标题.png"/>
            <p:cNvPicPr>
              <a:picLocks noChangeAspect="1"/>
            </p:cNvPicPr>
            <p:nvPr/>
          </p:nvPicPr>
          <p:blipFill>
            <a:blip r:embed="rId2" cstate="print"/>
            <a:stretch>
              <a:fillRect/>
            </a:stretch>
          </p:blipFill>
          <p:spPr>
            <a:xfrm>
              <a:off x="1137949" y="4364064"/>
              <a:ext cx="433676" cy="330989"/>
            </a:xfrm>
            <a:prstGeom prst="rect">
              <a:avLst/>
            </a:prstGeom>
          </p:spPr>
        </p:pic>
      </p:grpSp>
      <p:grpSp>
        <p:nvGrpSpPr>
          <p:cNvPr id="24" name="组合 109"/>
          <p:cNvGrpSpPr/>
          <p:nvPr/>
        </p:nvGrpSpPr>
        <p:grpSpPr>
          <a:xfrm>
            <a:off x="965481" y="3802419"/>
            <a:ext cx="6307261" cy="1138749"/>
            <a:chOff x="956926" y="4599564"/>
            <a:chExt cx="6869904" cy="1491165"/>
          </a:xfrm>
        </p:grpSpPr>
        <p:sp>
          <p:nvSpPr>
            <p:cNvPr id="25"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26" name="图片 25"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27" name="TextBox 6"/>
            <p:cNvSpPr txBox="1">
              <a:spLocks noChangeArrowheads="1"/>
            </p:cNvSpPr>
            <p:nvPr/>
          </p:nvSpPr>
          <p:spPr bwMode="auto">
            <a:xfrm>
              <a:off x="1284144" y="4599564"/>
              <a:ext cx="6542686" cy="1491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7.5 </a:t>
              </a:r>
              <a:r>
                <a:rPr lang="zh-CN" altLang="en-US" sz="3200" b="1" dirty="0">
                  <a:latin typeface="Times New Roman" panose="02020603050405020304" pitchFamily="18" charset="0"/>
                  <a:ea typeface="黑体" panose="02010609060101010101" pitchFamily="49" charset="-122"/>
                </a:rPr>
                <a:t>递归程序的正确性证明</a:t>
              </a:r>
              <a:endParaRPr lang="zh-CN" altLang="en-US" sz="3200" b="1" dirty="0">
                <a:latin typeface="Times New Roman" panose="02020603050405020304" pitchFamily="18" charset="0"/>
                <a:ea typeface="黑体" panose="02010609060101010101" pitchFamily="49" charset="-122"/>
              </a:endParaRPr>
            </a:p>
            <a:p>
              <a:pPr marL="0" lvl="1" algn="ctr"/>
              <a:endParaRPr lang="zh-CN" altLang="en-US" sz="3600" b="1" dirty="0">
                <a:latin typeface="黑体" panose="02010609060101010101" pitchFamily="49" charset="-122"/>
                <a:ea typeface="黑体" panose="02010609060101010101" pitchFamily="49" charset="-122"/>
              </a:endParaRPr>
            </a:p>
          </p:txBody>
        </p:sp>
      </p:grpSp>
      <p:grpSp>
        <p:nvGrpSpPr>
          <p:cNvPr id="51" name="组合 50"/>
          <p:cNvGrpSpPr/>
          <p:nvPr/>
        </p:nvGrpSpPr>
        <p:grpSpPr>
          <a:xfrm>
            <a:off x="937752" y="5855008"/>
            <a:ext cx="3732383" cy="584751"/>
            <a:chOff x="989571" y="5778644"/>
            <a:chExt cx="4065333" cy="765717"/>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7" name="TextBox 6"/>
            <p:cNvSpPr txBox="1">
              <a:spLocks noChangeArrowheads="1"/>
            </p:cNvSpPr>
            <p:nvPr/>
          </p:nvSpPr>
          <p:spPr bwMode="auto">
            <a:xfrm>
              <a:off x="1547664" y="5778644"/>
              <a:ext cx="350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7.8 </a:t>
              </a:r>
              <a:r>
                <a:rPr lang="zh-CN" altLang="en-US" sz="3200" b="1" dirty="0">
                  <a:latin typeface="Times New Roman" panose="02020603050405020304" pitchFamily="18" charset="0"/>
                  <a:ea typeface="黑体" panose="02010609060101010101" pitchFamily="49" charset="-122"/>
                </a:rPr>
                <a:t>本章小结</a:t>
              </a:r>
              <a:endParaRPr lang="zh-CN" altLang="en-US" sz="3200" b="1" dirty="0">
                <a:latin typeface="Times New Roman" panose="02020603050405020304" pitchFamily="18" charset="0"/>
                <a:ea typeface="黑体" panose="02010609060101010101" pitchFamily="49" charset="-122"/>
              </a:endParaRPr>
            </a:p>
          </p:txBody>
        </p:sp>
        <p:sp>
          <p:nvSpPr>
            <p:cNvPr id="34" name="KSO_Shape"/>
            <p:cNvSpPr/>
            <p:nvPr/>
          </p:nvSpPr>
          <p:spPr bwMode="auto">
            <a:xfrm>
              <a:off x="1187624" y="5942836"/>
              <a:ext cx="458076" cy="366692"/>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b="1" dirty="0">
                <a:solidFill>
                  <a:srgbClr val="FFFFFF"/>
                </a:solidFill>
                <a:ea typeface="微软雅黑" panose="020B0503020204020204" pitchFamily="34" charset="-122"/>
              </a:endParaRPr>
            </a:p>
          </p:txBody>
        </p:sp>
      </p:grpSp>
      <p:grpSp>
        <p:nvGrpSpPr>
          <p:cNvPr id="49" name="组合 48"/>
          <p:cNvGrpSpPr/>
          <p:nvPr/>
        </p:nvGrpSpPr>
        <p:grpSpPr>
          <a:xfrm>
            <a:off x="-155053" y="1692121"/>
            <a:ext cx="6743277" cy="584751"/>
            <a:chOff x="-211511" y="1866348"/>
            <a:chExt cx="7344816" cy="765718"/>
          </a:xfrm>
        </p:grpSpPr>
        <p:grpSp>
          <p:nvGrpSpPr>
            <p:cNvPr id="37" name="组合 36"/>
            <p:cNvGrpSpPr/>
            <p:nvPr/>
          </p:nvGrpSpPr>
          <p:grpSpPr>
            <a:xfrm>
              <a:off x="-211511" y="1866348"/>
              <a:ext cx="7344816" cy="765718"/>
              <a:chOff x="-252536" y="1326432"/>
              <a:chExt cx="7344816" cy="765718"/>
            </a:xfrm>
          </p:grpSpPr>
          <p:sp>
            <p:nvSpPr>
              <p:cNvPr id="38" name="TextBox 6"/>
              <p:cNvSpPr txBox="1">
                <a:spLocks noChangeArrowheads="1"/>
              </p:cNvSpPr>
              <p:nvPr/>
            </p:nvSpPr>
            <p:spPr bwMode="auto">
              <a:xfrm>
                <a:off x="-252536" y="1326432"/>
                <a:ext cx="7344816"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7.2 </a:t>
                </a:r>
                <a:r>
                  <a:rPr lang="zh-CN" altLang="en-US" sz="3200" b="1" dirty="0">
                    <a:latin typeface="Times New Roman" panose="02020603050405020304" pitchFamily="18" charset="0"/>
                    <a:ea typeface="黑体" panose="02010609060101010101" pitchFamily="49" charset="-122"/>
                  </a:rPr>
                  <a:t>递归的定义</a:t>
                </a:r>
                <a:endParaRPr lang="zh-CN" altLang="en-US" sz="3200" b="1" dirty="0">
                  <a:latin typeface="黑体" panose="02010609060101010101" pitchFamily="49" charset="-122"/>
                  <a:ea typeface="黑体" panose="02010609060101010101" pitchFamily="49" charset="-122"/>
                </a:endParaRPr>
              </a:p>
            </p:txBody>
          </p:sp>
          <p:sp>
            <p:nvSpPr>
              <p:cNvPr id="4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43" name="图片 42"/>
            <p:cNvPicPr>
              <a:picLocks noChangeAspect="1"/>
            </p:cNvPicPr>
            <p:nvPr/>
          </p:nvPicPr>
          <p:blipFill>
            <a:blip r:embed="rId4" cstate="print"/>
            <a:stretch>
              <a:fillRect/>
            </a:stretch>
          </p:blipFill>
          <p:spPr>
            <a:xfrm>
              <a:off x="1189825" y="2023053"/>
              <a:ext cx="495511" cy="423803"/>
            </a:xfrm>
            <a:prstGeom prst="rect">
              <a:avLst/>
            </a:prstGeom>
          </p:spPr>
        </p:pic>
      </p:grpSp>
      <p:grpSp>
        <p:nvGrpSpPr>
          <p:cNvPr id="50" name="组合 49"/>
          <p:cNvGrpSpPr/>
          <p:nvPr/>
        </p:nvGrpSpPr>
        <p:grpSpPr>
          <a:xfrm>
            <a:off x="957216" y="4500433"/>
            <a:ext cx="7503215" cy="584751"/>
            <a:chOff x="999690" y="5026748"/>
            <a:chExt cx="8172544" cy="765717"/>
          </a:xfrm>
        </p:grpSpPr>
        <p:sp>
          <p:nvSpPr>
            <p:cNvPr id="31"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0" name="TextBox 6"/>
            <p:cNvSpPr txBox="1">
              <a:spLocks noChangeArrowheads="1"/>
            </p:cNvSpPr>
            <p:nvPr/>
          </p:nvSpPr>
          <p:spPr bwMode="auto">
            <a:xfrm>
              <a:off x="1834468" y="5026748"/>
              <a:ext cx="7337766"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7.6 </a:t>
              </a:r>
              <a:r>
                <a:rPr lang="zh-CN" altLang="en-US" sz="3200" b="1" dirty="0">
                  <a:latin typeface="Times New Roman" panose="02020603050405020304" pitchFamily="18" charset="0"/>
                  <a:ea typeface="黑体" panose="02010609060101010101" pitchFamily="49" charset="-122"/>
                </a:rPr>
                <a:t>递归程序的模拟</a:t>
              </a:r>
              <a:r>
                <a:rPr lang="en-US" altLang="zh-CN" sz="3200" b="1" dirty="0">
                  <a:latin typeface="Times New Roman" panose="02020603050405020304" pitchFamily="18" charset="0"/>
                  <a:ea typeface="黑体" panose="02010609060101010101" pitchFamily="49" charset="-122"/>
                </a:rPr>
                <a:t>—</a:t>
              </a:r>
              <a:r>
                <a:rPr lang="zh-CN" altLang="en-US" sz="3200" b="1" dirty="0">
                  <a:latin typeface="Times New Roman" panose="02020603050405020304" pitchFamily="18" charset="0"/>
                  <a:ea typeface="黑体" panose="02010609060101010101" pitchFamily="49" charset="-122"/>
                </a:rPr>
                <a:t>转换为非递归</a:t>
              </a:r>
              <a:endParaRPr lang="zh-CN" altLang="en-US" sz="3200" b="1" dirty="0">
                <a:latin typeface="Times New Roman" panose="02020603050405020304" pitchFamily="18" charset="0"/>
                <a:ea typeface="黑体" panose="02010609060101010101" pitchFamily="49" charset="-122"/>
              </a:endParaRPr>
            </a:p>
          </p:txBody>
        </p:sp>
        <p:pic>
          <p:nvPicPr>
            <p:cNvPr id="48" name="图片 47"/>
            <p:cNvPicPr>
              <a:picLocks noChangeAspect="1"/>
            </p:cNvPicPr>
            <p:nvPr/>
          </p:nvPicPr>
          <p:blipFill>
            <a:blip r:embed="rId5" cstate="print"/>
            <a:stretch>
              <a:fillRect/>
            </a:stretch>
          </p:blipFill>
          <p:spPr>
            <a:xfrm>
              <a:off x="1199659" y="5205012"/>
              <a:ext cx="420013" cy="322083"/>
            </a:xfrm>
            <a:prstGeom prst="rect">
              <a:avLst/>
            </a:prstGeom>
          </p:spPr>
        </p:pic>
      </p:grpSp>
      <p:grpSp>
        <p:nvGrpSpPr>
          <p:cNvPr id="41" name="组合 40"/>
          <p:cNvGrpSpPr/>
          <p:nvPr/>
        </p:nvGrpSpPr>
        <p:grpSpPr>
          <a:xfrm>
            <a:off x="628884" y="1003421"/>
            <a:ext cx="3884618" cy="584751"/>
            <a:chOff x="611560" y="1326432"/>
            <a:chExt cx="4231148" cy="765718"/>
          </a:xfrm>
        </p:grpSpPr>
        <p:sp>
          <p:nvSpPr>
            <p:cNvPr id="42" name="TextBox 6"/>
            <p:cNvSpPr txBox="1">
              <a:spLocks noChangeArrowheads="1"/>
            </p:cNvSpPr>
            <p:nvPr/>
          </p:nvSpPr>
          <p:spPr bwMode="auto">
            <a:xfrm>
              <a:off x="611560" y="1326432"/>
              <a:ext cx="4231148"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7.1 </a:t>
              </a:r>
              <a:r>
                <a:rPr lang="zh-CN" altLang="en-US" sz="3200" b="1" dirty="0">
                  <a:latin typeface="黑体" panose="02010609060101010101" pitchFamily="49" charset="-122"/>
                  <a:ea typeface="黑体" panose="02010609060101010101" pitchFamily="49" charset="-122"/>
                </a:rPr>
                <a:t>引言</a:t>
              </a:r>
              <a:endParaRPr lang="zh-CN" altLang="en-US" sz="3200" b="1" dirty="0">
                <a:latin typeface="黑体" panose="02010609060101010101" pitchFamily="49" charset="-122"/>
                <a:ea typeface="黑体" panose="02010609060101010101" pitchFamily="49" charset="-122"/>
              </a:endParaRPr>
            </a:p>
          </p:txBody>
        </p:sp>
        <p:grpSp>
          <p:nvGrpSpPr>
            <p:cNvPr id="44" name="组合 43"/>
            <p:cNvGrpSpPr/>
            <p:nvPr/>
          </p:nvGrpSpPr>
          <p:grpSpPr>
            <a:xfrm>
              <a:off x="958665" y="1327471"/>
              <a:ext cx="842977" cy="683003"/>
              <a:chOff x="958665" y="1327471"/>
              <a:chExt cx="842977" cy="683003"/>
            </a:xfrm>
          </p:grpSpPr>
          <p:sp>
            <p:nvSpPr>
              <p:cNvPr id="45"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46" name="图片 45" descr="1.jpg"/>
              <p:cNvPicPr>
                <a:picLocks noChangeAspect="1"/>
              </p:cNvPicPr>
              <p:nvPr/>
            </p:nvPicPr>
            <p:blipFill>
              <a:blip r:embed="rId6" cstate="print"/>
              <a:stretch>
                <a:fillRect/>
              </a:stretch>
            </p:blipFill>
            <p:spPr>
              <a:xfrm>
                <a:off x="1189071" y="1467621"/>
                <a:ext cx="377680" cy="419801"/>
              </a:xfrm>
              <a:prstGeom prst="rect">
                <a:avLst/>
              </a:prstGeom>
            </p:spPr>
          </p:pic>
        </p:grpSp>
      </p:grpSp>
      <p:grpSp>
        <p:nvGrpSpPr>
          <p:cNvPr id="6" name="组合 5"/>
          <p:cNvGrpSpPr/>
          <p:nvPr/>
        </p:nvGrpSpPr>
        <p:grpSpPr>
          <a:xfrm>
            <a:off x="-180528" y="5152871"/>
            <a:ext cx="7243325" cy="584751"/>
            <a:chOff x="-180528" y="5152871"/>
            <a:chExt cx="7243325" cy="584751"/>
          </a:xfrm>
        </p:grpSpPr>
        <p:grpSp>
          <p:nvGrpSpPr>
            <p:cNvPr id="36" name="组合 35"/>
            <p:cNvGrpSpPr/>
            <p:nvPr/>
          </p:nvGrpSpPr>
          <p:grpSpPr>
            <a:xfrm>
              <a:off x="-180528" y="5152871"/>
              <a:ext cx="7243325" cy="584751"/>
              <a:chOff x="-240188" y="5778644"/>
              <a:chExt cx="7889473" cy="765717"/>
            </a:xfrm>
          </p:grpSpPr>
          <p:sp>
            <p:nvSpPr>
              <p:cNvPr id="3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7" name="TextBox 6"/>
              <p:cNvSpPr txBox="1">
                <a:spLocks noChangeArrowheads="1"/>
              </p:cNvSpPr>
              <p:nvPr/>
            </p:nvSpPr>
            <p:spPr bwMode="auto">
              <a:xfrm>
                <a:off x="-240188" y="5778644"/>
                <a:ext cx="7889473"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7.7 </a:t>
                </a:r>
                <a:r>
                  <a:rPr lang="zh-CN" altLang="en-US" sz="3200" b="1" dirty="0">
                    <a:latin typeface="Times New Roman" panose="02020603050405020304" pitchFamily="18" charset="0"/>
                    <a:ea typeface="黑体" panose="02010609060101010101" pitchFamily="49" charset="-122"/>
                  </a:rPr>
                  <a:t>递归技术应用</a:t>
                </a:r>
                <a:endParaRPr lang="zh-CN" altLang="en-US" sz="3200" b="1" dirty="0">
                  <a:latin typeface="Times New Roman" panose="02020603050405020304" pitchFamily="18" charset="0"/>
                  <a:ea typeface="黑体" panose="02010609060101010101" pitchFamily="49" charset="-122"/>
                </a:endParaRPr>
              </a:p>
            </p:txBody>
          </p:sp>
        </p:grpSp>
        <p:pic>
          <p:nvPicPr>
            <p:cNvPr id="5" name="图片 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3" name="页脚占位符 2"/>
          <p:cNvSpPr>
            <a:spLocks noGrp="1"/>
          </p:cNvSpPr>
          <p:nvPr>
            <p:ph type="ftr" sz="quarter" idx="3"/>
          </p:nvPr>
        </p:nvSpPr>
        <p:spPr/>
        <p:txBody>
          <a:bodyPr/>
          <a:lstStyle/>
          <a:p>
            <a:pPr>
              <a:defRPr/>
            </a:pP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box(in)">
                                      <p:cBhvr>
                                        <p:cTn id="19" dur="500"/>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5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上文回顾</a:t>
            </a:r>
            <a:endParaRPr lang="zh-CN" altLang="en-US" dirty="0"/>
          </a:p>
        </p:txBody>
      </p:sp>
      <p:pic>
        <p:nvPicPr>
          <p:cNvPr id="33" name="图片 3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9512" y="1023045"/>
            <a:ext cx="1224136" cy="1047837"/>
          </a:xfrm>
          <a:prstGeom prst="rect">
            <a:avLst/>
          </a:prstGeom>
        </p:spPr>
      </p:pic>
      <p:sp>
        <p:nvSpPr>
          <p:cNvPr id="6" name="页脚占位符 5"/>
          <p:cNvSpPr>
            <a:spLocks noGrp="1"/>
          </p:cNvSpPr>
          <p:nvPr>
            <p:ph type="ftr" sz="quarter" idx="3"/>
          </p:nvPr>
        </p:nvSpPr>
        <p:spPr/>
        <p:txBody>
          <a:bodyPr/>
          <a:lstStyle/>
          <a:p>
            <a:endParaRPr lang="zh-CN" altLang="en-US" dirty="0"/>
          </a:p>
        </p:txBody>
      </p:sp>
      <p:sp>
        <p:nvSpPr>
          <p:cNvPr id="4" name="文本框 3"/>
          <p:cNvSpPr txBox="1"/>
          <p:nvPr/>
        </p:nvSpPr>
        <p:spPr>
          <a:xfrm>
            <a:off x="172482" y="5085260"/>
            <a:ext cx="3003864" cy="830997"/>
          </a:xfrm>
          <a:prstGeom prst="rect">
            <a:avLst/>
          </a:prstGeom>
          <a:noFill/>
        </p:spPr>
        <p:txBody>
          <a:bodyPr wrap="square" rtlCol="0">
            <a:spAutoFit/>
          </a:bodyPr>
          <a:lstStyle/>
          <a:p>
            <a:r>
              <a:rPr lang="zh-CN" altLang="en-US" sz="2400" b="1" dirty="0">
                <a:solidFill>
                  <a:srgbClr val="0000FF"/>
                </a:solidFill>
                <a:effectLst>
                  <a:outerShdw blurRad="38100" dist="38100" dir="2700000" algn="tl">
                    <a:srgbClr val="000000">
                      <a:alpha val="43137"/>
                    </a:srgbClr>
                  </a:outerShdw>
                </a:effectLst>
              </a:rPr>
              <a:t>学习</a:t>
            </a:r>
            <a:r>
              <a:rPr lang="en-US" altLang="zh-CN" sz="2400" b="1" dirty="0">
                <a:solidFill>
                  <a:srgbClr val="0000FF"/>
                </a:solidFill>
                <a:effectLst>
                  <a:outerShdw blurRad="38100" dist="38100" dir="2700000" algn="tl">
                    <a:srgbClr val="000000">
                      <a:alpha val="43137"/>
                    </a:srgbClr>
                  </a:outerShdw>
                </a:effectLst>
              </a:rPr>
              <a:t>1</a:t>
            </a:r>
            <a:r>
              <a:rPr lang="zh-CN" altLang="en-US" sz="2400" b="1" dirty="0">
                <a:solidFill>
                  <a:srgbClr val="0000FF"/>
                </a:solidFill>
                <a:effectLst>
                  <a:outerShdw blurRad="38100" dist="38100" dir="2700000" algn="tl">
                    <a:srgbClr val="000000">
                      <a:alpha val="43137"/>
                    </a:srgbClr>
                  </a:outerShdw>
                </a:effectLst>
              </a:rPr>
              <a:t>种算法</a:t>
            </a:r>
            <a:r>
              <a:rPr lang="en-US" altLang="zh-CN" sz="2400" b="1" dirty="0">
                <a:solidFill>
                  <a:srgbClr val="0000FF"/>
                </a:solidFill>
                <a:effectLst>
                  <a:outerShdw blurRad="38100" dist="38100" dir="2700000" algn="tl">
                    <a:srgbClr val="000000">
                      <a:alpha val="43137"/>
                    </a:srgbClr>
                  </a:outerShdw>
                </a:effectLst>
              </a:rPr>
              <a:t>/</a:t>
            </a:r>
            <a:r>
              <a:rPr lang="zh-CN" altLang="en-US" sz="2400" b="1" dirty="0">
                <a:solidFill>
                  <a:srgbClr val="0000FF"/>
                </a:solidFill>
                <a:effectLst>
                  <a:outerShdw blurRad="38100" dist="38100" dir="2700000" algn="tl">
                    <a:srgbClr val="000000">
                      <a:alpha val="43137"/>
                    </a:srgbClr>
                  </a:outerShdw>
                </a:effectLst>
              </a:rPr>
              <a:t>技术：</a:t>
            </a:r>
            <a:endParaRPr lang="en-US" altLang="zh-CN" sz="2400" b="1" dirty="0">
              <a:solidFill>
                <a:srgbClr val="0000FF"/>
              </a:solidFill>
              <a:effectLst>
                <a:outerShdw blurRad="38100" dist="38100" dir="2700000" algn="tl">
                  <a:srgbClr val="000000">
                    <a:alpha val="43137"/>
                  </a:srgbClr>
                </a:outerShdw>
              </a:effectLst>
            </a:endParaRPr>
          </a:p>
          <a:p>
            <a:r>
              <a:rPr lang="en-US" altLang="zh-CN" sz="2400" b="1" dirty="0">
                <a:solidFill>
                  <a:srgbClr val="0000FF"/>
                </a:solidFill>
                <a:effectLst>
                  <a:outerShdw blurRad="38100" dist="38100" dir="2700000" algn="tl">
                    <a:srgbClr val="000000">
                      <a:alpha val="43137"/>
                    </a:srgbClr>
                  </a:outerShdw>
                </a:effectLst>
              </a:rPr>
              <a:t>      </a:t>
            </a:r>
            <a:r>
              <a:rPr lang="zh-CN" altLang="en-US" sz="2400" b="1" dirty="0">
                <a:solidFill>
                  <a:srgbClr val="FF0000"/>
                </a:solidFill>
                <a:effectLst>
                  <a:outerShdw blurRad="38100" dist="38100" dir="2700000" algn="tl">
                    <a:srgbClr val="000000">
                      <a:alpha val="43137"/>
                    </a:srgbClr>
                  </a:outerShdw>
                </a:effectLst>
              </a:rPr>
              <a:t>递归</a:t>
            </a:r>
            <a:endParaRPr lang="zh-CN" altLang="en-US" sz="2400" b="1" dirty="0">
              <a:solidFill>
                <a:srgbClr val="FF0000"/>
              </a:solidFill>
              <a:effectLst>
                <a:outerShdw blurRad="38100" dist="38100" dir="2700000" algn="tl">
                  <a:srgbClr val="000000">
                    <a:alpha val="43137"/>
                  </a:srgbClr>
                </a:outerShdw>
              </a:effectLst>
            </a:endParaRPr>
          </a:p>
        </p:txBody>
      </p:sp>
      <p:sp>
        <p:nvSpPr>
          <p:cNvPr id="8" name="文本框 7"/>
          <p:cNvSpPr txBox="1"/>
          <p:nvPr/>
        </p:nvSpPr>
        <p:spPr>
          <a:xfrm>
            <a:off x="520048" y="4215073"/>
            <a:ext cx="2358828" cy="369332"/>
          </a:xfrm>
          <a:prstGeom prst="rect">
            <a:avLst/>
          </a:prstGeom>
          <a:noFill/>
        </p:spPr>
        <p:txBody>
          <a:bodyPr wrap="square" rtlCol="0">
            <a:spAutoFit/>
          </a:bodyPr>
          <a:lstStyle/>
          <a:p>
            <a:r>
              <a:rPr lang="en-US" altLang="zh-CN" b="1" dirty="0">
                <a:solidFill>
                  <a:srgbClr val="0000FF"/>
                </a:solidFill>
              </a:rPr>
              <a:t> </a:t>
            </a:r>
            <a:endParaRPr lang="zh-CN" altLang="en-US" b="1" dirty="0">
              <a:solidFill>
                <a:srgbClr val="0000FF"/>
              </a:solidFill>
            </a:endParaRPr>
          </a:p>
        </p:txBody>
      </p:sp>
      <p:sp>
        <p:nvSpPr>
          <p:cNvPr id="10" name="矩形 9"/>
          <p:cNvSpPr/>
          <p:nvPr/>
        </p:nvSpPr>
        <p:spPr>
          <a:xfrm>
            <a:off x="405985" y="4470941"/>
            <a:ext cx="2040943" cy="461665"/>
          </a:xfrm>
          <a:prstGeom prst="rect">
            <a:avLst/>
          </a:prstGeom>
          <a:noFill/>
        </p:spPr>
        <p:txBody>
          <a:bodyPr wrap="none" lIns="91440" tIns="45720" rIns="91440" bIns="45720">
            <a:spAutoFit/>
          </a:bodyPr>
          <a:lstStyle/>
          <a:p>
            <a:pPr algn="ctr"/>
            <a:r>
              <a:rPr lang="zh-CN" altLang="en-US" sz="2400" b="1" cap="none" spc="0" dirty="0">
                <a:ln w="6600">
                  <a:solidFill>
                    <a:schemeClr val="accent2"/>
                  </a:solidFill>
                  <a:prstDash val="solid"/>
                </a:ln>
                <a:solidFill>
                  <a:srgbClr val="FFFF00"/>
                </a:solidFill>
                <a:effectLst>
                  <a:outerShdw dist="38100" dir="2700000" algn="tl" rotWithShape="0">
                    <a:schemeClr val="accent2"/>
                  </a:outerShdw>
                </a:effectLst>
              </a:rPr>
              <a:t>今天的任务！</a:t>
            </a:r>
            <a:endParaRPr lang="zh-CN" altLang="en-US" sz="2400" b="1" cap="none" spc="0" dirty="0">
              <a:ln w="6600">
                <a:solidFill>
                  <a:schemeClr val="accent2"/>
                </a:solidFill>
                <a:prstDash val="solid"/>
              </a:ln>
              <a:solidFill>
                <a:srgbClr val="FFFF00"/>
              </a:solidFill>
              <a:effectLst>
                <a:outerShdw dist="38100" dir="2700000" algn="tl" rotWithShape="0">
                  <a:schemeClr val="accent2"/>
                </a:outerShdw>
              </a:effectLst>
            </a:endParaRPr>
          </a:p>
        </p:txBody>
      </p:sp>
      <p:pic>
        <p:nvPicPr>
          <p:cNvPr id="3" name="图片 2"/>
          <p:cNvPicPr>
            <a:picLocks noChangeAspect="1"/>
          </p:cNvPicPr>
          <p:nvPr/>
        </p:nvPicPr>
        <p:blipFill>
          <a:blip r:embed="rId2"/>
          <a:stretch>
            <a:fillRect/>
          </a:stretch>
        </p:blipFill>
        <p:spPr>
          <a:xfrm>
            <a:off x="2627784" y="937850"/>
            <a:ext cx="4943475" cy="4686300"/>
          </a:xfrm>
          <a:prstGeom prst="rect">
            <a:avLst/>
          </a:prstGeom>
        </p:spPr>
      </p:pic>
      <p:pic>
        <p:nvPicPr>
          <p:cNvPr id="7" name="图片 6"/>
          <p:cNvPicPr>
            <a:picLocks noChangeAspect="1"/>
          </p:cNvPicPr>
          <p:nvPr/>
        </p:nvPicPr>
        <p:blipFill>
          <a:blip r:embed="rId3"/>
          <a:stretch>
            <a:fillRect/>
          </a:stretch>
        </p:blipFill>
        <p:spPr>
          <a:xfrm>
            <a:off x="3491880" y="5667879"/>
            <a:ext cx="3381375" cy="914400"/>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457200" y="1052736"/>
            <a:ext cx="8229600" cy="4678451"/>
          </a:xfrm>
        </p:spPr>
        <p:txBody>
          <a:bodyPr/>
          <a:lstStyle/>
          <a:p>
            <a:pPr>
              <a:buClr>
                <a:srgbClr val="FF0000"/>
              </a:buClr>
              <a:buFont typeface="Wingdings" panose="05000000000000000000" pitchFamily="2" charset="2"/>
              <a:buChar char="Ø"/>
            </a:pPr>
            <a:r>
              <a:rPr lang="en-US" altLang="zh-CN" sz="2400" dirty="0">
                <a:solidFill>
                  <a:srgbClr val="00B050"/>
                </a:solidFill>
                <a:latin typeface="Snap ITC" panose="04040A07060A02020202" pitchFamily="82" charset="0"/>
              </a:rPr>
              <a:t>An Old story </a:t>
            </a:r>
            <a:endParaRPr lang="en-US" altLang="zh-CN" sz="2400" dirty="0">
              <a:solidFill>
                <a:srgbClr val="00B050"/>
              </a:solidFill>
              <a:latin typeface="Snap ITC" panose="04040A07060A02020202" pitchFamily="82" charset="0"/>
            </a:endParaRPr>
          </a:p>
          <a:p>
            <a:pPr>
              <a:buClr>
                <a:srgbClr val="FF0000"/>
              </a:buClr>
              <a:buFont typeface="Arial" panose="020B0604020202020204" pitchFamily="34" charset="0"/>
              <a:buChar char="•"/>
            </a:pPr>
            <a:r>
              <a:rPr lang="en-US" altLang="zh-CN" sz="2800" dirty="0">
                <a:solidFill>
                  <a:srgbClr val="0000FF"/>
                </a:solidFill>
                <a:latin typeface="Edwardian Script ITC" panose="030303020407070D0804" pitchFamily="66" charset="0"/>
              </a:rPr>
              <a:t>Long </a:t>
            </a:r>
            <a:r>
              <a:rPr lang="en-US" altLang="zh-CN" sz="2800" dirty="0" err="1">
                <a:solidFill>
                  <a:srgbClr val="0000FF"/>
                </a:solidFill>
                <a:latin typeface="Edwardian Script ITC" panose="030303020407070D0804" pitchFamily="66" charset="0"/>
              </a:rPr>
              <a:t>long</a:t>
            </a:r>
            <a:r>
              <a:rPr lang="en-US" altLang="zh-CN" sz="2800" dirty="0">
                <a:solidFill>
                  <a:srgbClr val="0000FF"/>
                </a:solidFill>
                <a:latin typeface="Edwardian Script ITC" panose="030303020407070D0804" pitchFamily="66" charset="0"/>
              </a:rPr>
              <a:t> ago, there was a mountain. </a:t>
            </a:r>
            <a:endParaRPr lang="en-US" altLang="zh-CN" sz="2800" dirty="0">
              <a:solidFill>
                <a:srgbClr val="0000FF"/>
              </a:solidFill>
              <a:latin typeface="Edwardian Script ITC" panose="030303020407070D0804" pitchFamily="66" charset="0"/>
            </a:endParaRPr>
          </a:p>
          <a:p>
            <a:pPr>
              <a:buClr>
                <a:srgbClr val="FF0000"/>
              </a:buClr>
              <a:buFont typeface="Arial" panose="020B0604020202020204" pitchFamily="34" charset="0"/>
              <a:buChar char="•"/>
            </a:pPr>
            <a:r>
              <a:rPr lang="en-US" altLang="zh-CN" sz="2800" dirty="0">
                <a:solidFill>
                  <a:srgbClr val="0000FF"/>
                </a:solidFill>
                <a:latin typeface="Edwardian Script ITC" panose="030303020407070D0804" pitchFamily="66" charset="0"/>
              </a:rPr>
              <a:t>Inside the mountain there was a temple. </a:t>
            </a:r>
            <a:endParaRPr lang="en-US" altLang="zh-CN" sz="2800" dirty="0">
              <a:solidFill>
                <a:srgbClr val="0000FF"/>
              </a:solidFill>
              <a:latin typeface="Edwardian Script ITC" panose="030303020407070D0804" pitchFamily="66" charset="0"/>
            </a:endParaRPr>
          </a:p>
          <a:p>
            <a:pPr>
              <a:buClr>
                <a:srgbClr val="FF0000"/>
              </a:buClr>
              <a:buFont typeface="Arial" panose="020B0604020202020204" pitchFamily="34" charset="0"/>
              <a:buChar char="•"/>
            </a:pPr>
            <a:r>
              <a:rPr lang="en-US" altLang="zh-CN" sz="2800" dirty="0">
                <a:solidFill>
                  <a:srgbClr val="0000FF"/>
                </a:solidFill>
                <a:latin typeface="Edwardian Script ITC" panose="030303020407070D0804" pitchFamily="66" charset="0"/>
              </a:rPr>
              <a:t>Inside the temple, there was an old </a:t>
            </a:r>
            <a:endParaRPr lang="en-US" altLang="zh-CN" sz="2800" dirty="0">
              <a:solidFill>
                <a:srgbClr val="0000FF"/>
              </a:solidFill>
              <a:latin typeface="Edwardian Script ITC" panose="030303020407070D0804" pitchFamily="66" charset="0"/>
            </a:endParaRPr>
          </a:p>
          <a:p>
            <a:pPr marL="0" indent="0">
              <a:buClr>
                <a:srgbClr val="FF0000"/>
              </a:buClr>
              <a:buNone/>
            </a:pPr>
            <a:r>
              <a:rPr lang="en-US" altLang="zh-CN" sz="2800" dirty="0">
                <a:solidFill>
                  <a:srgbClr val="0000FF"/>
                </a:solidFill>
                <a:latin typeface="Edwardian Script ITC" panose="030303020407070D0804" pitchFamily="66" charset="0"/>
              </a:rPr>
              <a:t>       monk and a young monk. </a:t>
            </a:r>
            <a:endParaRPr lang="en-US" altLang="zh-CN" sz="2800" dirty="0">
              <a:solidFill>
                <a:srgbClr val="0000FF"/>
              </a:solidFill>
              <a:latin typeface="Edwardian Script ITC" panose="030303020407070D0804" pitchFamily="66" charset="0"/>
            </a:endParaRPr>
          </a:p>
          <a:p>
            <a:pPr>
              <a:buClr>
                <a:srgbClr val="FF0000"/>
              </a:buClr>
              <a:buFont typeface="Arial" panose="020B0604020202020204" pitchFamily="34" charset="0"/>
              <a:buChar char="•"/>
            </a:pPr>
            <a:r>
              <a:rPr lang="en-US" altLang="zh-CN" sz="2800" dirty="0">
                <a:solidFill>
                  <a:srgbClr val="0000FF"/>
                </a:solidFill>
                <a:latin typeface="Edwardian Script ITC" panose="030303020407070D0804" pitchFamily="66" charset="0"/>
              </a:rPr>
              <a:t>One day, the old </a:t>
            </a:r>
            <a:r>
              <a:rPr lang="en-US" altLang="zh-CN" sz="2800">
                <a:solidFill>
                  <a:srgbClr val="0000FF"/>
                </a:solidFill>
                <a:latin typeface="Edwardian Script ITC" panose="030303020407070D0804" pitchFamily="66" charset="0"/>
              </a:rPr>
              <a:t>monk told a </a:t>
            </a:r>
            <a:r>
              <a:rPr lang="en-US" altLang="zh-CN" sz="2800" dirty="0">
                <a:solidFill>
                  <a:srgbClr val="0000FF"/>
                </a:solidFill>
                <a:latin typeface="Edwardian Script ITC" panose="030303020407070D0804" pitchFamily="66" charset="0"/>
              </a:rPr>
              <a:t>story to </a:t>
            </a:r>
            <a:endParaRPr lang="en-US" altLang="zh-CN" sz="2800" dirty="0">
              <a:solidFill>
                <a:srgbClr val="0000FF"/>
              </a:solidFill>
              <a:latin typeface="Edwardian Script ITC" panose="030303020407070D0804" pitchFamily="66" charset="0"/>
            </a:endParaRPr>
          </a:p>
          <a:p>
            <a:pPr marL="0" indent="0">
              <a:buClr>
                <a:srgbClr val="FF0000"/>
              </a:buClr>
              <a:buNone/>
            </a:pPr>
            <a:r>
              <a:rPr lang="en-US" altLang="zh-CN" sz="2800" dirty="0">
                <a:solidFill>
                  <a:srgbClr val="0000FF"/>
                </a:solidFill>
                <a:latin typeface="Edwardian Script ITC" panose="030303020407070D0804" pitchFamily="66" charset="0"/>
              </a:rPr>
              <a:t>      the young monk</a:t>
            </a:r>
            <a:r>
              <a:rPr lang="en-US" altLang="zh-CN" sz="2800" dirty="0">
                <a:solidFill>
                  <a:srgbClr val="FF0000"/>
                </a:solidFill>
                <a:latin typeface="Edwardian Script ITC" panose="030303020407070D0804" pitchFamily="66" charset="0"/>
              </a:rPr>
              <a:t>……</a:t>
            </a:r>
            <a:endParaRPr lang="zh-CN" altLang="en-US" sz="2800" dirty="0">
              <a:solidFill>
                <a:srgbClr val="FF0000"/>
              </a:solidFill>
              <a:latin typeface="Edwardian Script ITC" panose="030303020407070D0804" pitchFamily="66" charset="0"/>
            </a:endParaRPr>
          </a:p>
        </p:txBody>
      </p:sp>
      <p:pic>
        <p:nvPicPr>
          <p:cNvPr id="7" name="内容占位符 4"/>
          <p:cNvPicPr>
            <a:picLocks noChangeAspect="1"/>
          </p:cNvPicPr>
          <p:nvPr/>
        </p:nvPicPr>
        <p:blipFill>
          <a:blip r:embed="rId1">
            <a:extLst>
              <a:ext uri="{28A0092B-C50C-407E-A947-70E740481C1C}">
                <a14:useLocalDpi xmlns:a14="http://schemas.microsoft.com/office/drawing/2010/main" val="0"/>
              </a:ext>
            </a:extLst>
          </a:blip>
          <a:stretch>
            <a:fillRect/>
          </a:stretch>
        </p:blipFill>
        <p:spPr bwMode="auto">
          <a:xfrm>
            <a:off x="4856044" y="1412776"/>
            <a:ext cx="3838534" cy="2592288"/>
          </a:xfrm>
          <a:prstGeom prst="rect">
            <a:avLst/>
          </a:prstGeom>
          <a:noFill/>
          <a:ln w="9525">
            <a:noFill/>
            <a:miter lim="800000"/>
            <a:headEnd/>
            <a:tailEnd/>
          </a:ln>
        </p:spPr>
      </p:pic>
      <p:grpSp>
        <p:nvGrpSpPr>
          <p:cNvPr id="8" name="组合 7"/>
          <p:cNvGrpSpPr/>
          <p:nvPr/>
        </p:nvGrpSpPr>
        <p:grpSpPr>
          <a:xfrm>
            <a:off x="196836" y="95357"/>
            <a:ext cx="4231148" cy="684042"/>
            <a:chOff x="611560" y="1326432"/>
            <a:chExt cx="4231148" cy="684042"/>
          </a:xfrm>
        </p:grpSpPr>
        <p:sp>
          <p:nvSpPr>
            <p:cNvPr id="9"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7.1 </a:t>
              </a:r>
              <a:r>
                <a:rPr lang="zh-CN" altLang="en-US" sz="3600" b="1" dirty="0">
                  <a:latin typeface="黑体" panose="02010609060101010101" pitchFamily="49" charset="-122"/>
                  <a:ea typeface="黑体" panose="02010609060101010101" pitchFamily="49" charset="-122"/>
                </a:rPr>
                <a:t>引言</a:t>
              </a:r>
              <a:endParaRPr lang="zh-CN" altLang="en-US" sz="3600" b="1" dirty="0">
                <a:latin typeface="黑体" panose="02010609060101010101" pitchFamily="49" charset="-122"/>
                <a:ea typeface="黑体" panose="02010609060101010101" pitchFamily="49" charset="-122"/>
              </a:endParaRPr>
            </a:p>
          </p:txBody>
        </p:sp>
        <p:grpSp>
          <p:nvGrpSpPr>
            <p:cNvPr id="10" name="组合 9"/>
            <p:cNvGrpSpPr/>
            <p:nvPr/>
          </p:nvGrpSpPr>
          <p:grpSpPr>
            <a:xfrm>
              <a:off x="958665" y="1327471"/>
              <a:ext cx="842977" cy="683003"/>
              <a:chOff x="958665" y="1327471"/>
              <a:chExt cx="842977" cy="683003"/>
            </a:xfrm>
          </p:grpSpPr>
          <p:sp>
            <p:nvSpPr>
              <p:cNvPr id="11"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2" name="图片 11" descr="1.jpg"/>
              <p:cNvPicPr>
                <a:picLocks noChangeAspect="1"/>
              </p:cNvPicPr>
              <p:nvPr/>
            </p:nvPicPr>
            <p:blipFill>
              <a:blip r:embed="rId2" cstate="print"/>
              <a:stretch>
                <a:fillRect/>
              </a:stretch>
            </p:blipFill>
            <p:spPr>
              <a:xfrm>
                <a:off x="1189071" y="1467621"/>
                <a:ext cx="377680" cy="419801"/>
              </a:xfrm>
              <a:prstGeom prst="rect">
                <a:avLst/>
              </a:prstGeom>
            </p:spPr>
          </p:pic>
        </p:grp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advClick="0">
    <p:pull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3"/>
          <p:cNvSpPr txBox="1">
            <a:spLocks noChangeAspect="1" noChangeArrowheads="1"/>
          </p:cNvSpPr>
          <p:nvPr/>
        </p:nvSpPr>
        <p:spPr bwMode="auto">
          <a:xfrm>
            <a:off x="457200" y="980729"/>
            <a:ext cx="8229600" cy="5112568"/>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Clr>
                <a:srgbClr val="FF0000"/>
              </a:buClr>
              <a:buFont typeface="Wingdings" panose="05000000000000000000" pitchFamily="2" charset="2"/>
              <a:buChar char="n"/>
            </a:pPr>
            <a:r>
              <a:rPr lang="zh-CN" altLang="en-US" b="1" dirty="0"/>
              <a:t>走楼梯问题</a:t>
            </a:r>
            <a:endParaRPr lang="en-US" altLang="zh-CN" b="1" dirty="0"/>
          </a:p>
          <a:p>
            <a:pPr marL="0" lvl="1" indent="0" eaLnBrk="1" hangingPunct="1">
              <a:buClr>
                <a:srgbClr val="FF0000"/>
              </a:buClr>
              <a:buNone/>
            </a:pPr>
            <a:r>
              <a:rPr lang="zh-CN" altLang="en-US" sz="2400" b="1" noProof="1"/>
              <a:t>                  已知一楼梯共有</a:t>
            </a:r>
            <a:r>
              <a:rPr lang="en-US" altLang="zh-CN" sz="2400" b="1" i="1" noProof="1"/>
              <a:t>n</a:t>
            </a:r>
            <a:r>
              <a:rPr lang="zh-CN" altLang="en-US" sz="2400" b="1" noProof="1"/>
              <a:t>级台阶，某人走上该楼梯时，</a:t>
            </a:r>
            <a:r>
              <a:rPr lang="zh-CN" altLang="en-US" sz="2400" b="1" noProof="1">
                <a:solidFill>
                  <a:srgbClr val="0000FF"/>
                </a:solidFill>
              </a:rPr>
              <a:t>一   </a:t>
            </a:r>
            <a:endParaRPr lang="en-US" altLang="zh-CN" sz="2400" b="1" noProof="1">
              <a:solidFill>
                <a:srgbClr val="0000FF"/>
              </a:solidFill>
            </a:endParaRPr>
          </a:p>
          <a:p>
            <a:pPr marL="0" lvl="1" indent="0" eaLnBrk="1" hangingPunct="1">
              <a:buFont typeface="Wingdings" panose="05000000000000000000" pitchFamily="2" charset="2"/>
              <a:buNone/>
            </a:pPr>
            <a:r>
              <a:rPr lang="en-US" altLang="zh-CN" sz="2400" b="1" noProof="1">
                <a:solidFill>
                  <a:srgbClr val="0000FF"/>
                </a:solidFill>
              </a:rPr>
              <a:t>                  </a:t>
            </a:r>
            <a:r>
              <a:rPr lang="zh-CN" altLang="en-US" sz="2400" b="1" noProof="1">
                <a:solidFill>
                  <a:srgbClr val="0000FF"/>
                </a:solidFill>
              </a:rPr>
              <a:t>步可能跨一级台阶，也可能跨</a:t>
            </a:r>
            <a:r>
              <a:rPr lang="zh-CN" altLang="en-US" sz="2400" b="1" noProof="1"/>
              <a:t>两级台阶。问：</a:t>
            </a:r>
            <a:r>
              <a:rPr lang="zh-CN" altLang="en-US" sz="2400" b="1" noProof="1">
                <a:solidFill>
                  <a:srgbClr val="FF0000"/>
                </a:solidFill>
              </a:rPr>
              <a:t>共</a:t>
            </a:r>
            <a:endParaRPr lang="en-US" altLang="zh-CN" sz="2400" b="1" noProof="1">
              <a:solidFill>
                <a:srgbClr val="FF0000"/>
              </a:solidFill>
            </a:endParaRPr>
          </a:p>
          <a:p>
            <a:pPr marL="0" lvl="1" indent="0" eaLnBrk="1" hangingPunct="1">
              <a:buFont typeface="Wingdings" panose="05000000000000000000" pitchFamily="2" charset="2"/>
              <a:buNone/>
            </a:pPr>
            <a:r>
              <a:rPr lang="en-US" altLang="zh-CN" sz="2400" b="1" noProof="1">
                <a:solidFill>
                  <a:srgbClr val="FF0000"/>
                </a:solidFill>
              </a:rPr>
              <a:t>                  </a:t>
            </a:r>
            <a:r>
              <a:rPr lang="zh-CN" altLang="en-US" sz="2400" b="1" noProof="1">
                <a:solidFill>
                  <a:srgbClr val="FF0000"/>
                </a:solidFill>
              </a:rPr>
              <a:t>有多少种</a:t>
            </a:r>
            <a:r>
              <a:rPr lang="zh-CN" altLang="en-US" sz="2400" b="1" noProof="1"/>
              <a:t>可能的行走序列？</a:t>
            </a:r>
            <a:endParaRPr lang="en-US" altLang="zh-CN" sz="2400" b="1" noProof="1"/>
          </a:p>
          <a:p>
            <a:pPr marL="0" lvl="1" indent="0" eaLnBrk="1" hangingPunct="1">
              <a:buFont typeface="Wingdings" panose="05000000000000000000" pitchFamily="2" charset="2"/>
              <a:buNone/>
            </a:pPr>
            <a:endParaRPr lang="en-US" altLang="zh-CN" sz="2400" b="1" noProof="1"/>
          </a:p>
          <a:p>
            <a:pPr marL="0" lvl="1" indent="0" eaLnBrk="1" hangingPunct="1">
              <a:buFont typeface="Wingdings" panose="05000000000000000000" pitchFamily="2" charset="2"/>
              <a:buNone/>
            </a:pPr>
            <a:r>
              <a:rPr lang="en-US" altLang="zh-CN" sz="2400" b="1" noProof="1">
                <a:solidFill>
                  <a:srgbClr val="FF0000"/>
                </a:solidFill>
              </a:rPr>
              <a:t> </a:t>
            </a:r>
            <a:r>
              <a:rPr lang="en-US" altLang="zh-CN" sz="2400" b="1" i="1" noProof="1">
                <a:solidFill>
                  <a:srgbClr val="FF0000"/>
                </a:solidFill>
              </a:rPr>
              <a:t>n</a:t>
            </a:r>
            <a:r>
              <a:rPr lang="en-US" altLang="zh-CN" sz="2400" b="1" noProof="1">
                <a:solidFill>
                  <a:srgbClr val="FF0000"/>
                </a:solidFill>
              </a:rPr>
              <a:t> = 1,  1</a:t>
            </a:r>
            <a:r>
              <a:rPr lang="zh-CN" altLang="en-US" sz="2400" b="1" noProof="1">
                <a:solidFill>
                  <a:srgbClr val="FF0000"/>
                </a:solidFill>
              </a:rPr>
              <a:t>步跨</a:t>
            </a:r>
            <a:r>
              <a:rPr lang="en-US" altLang="zh-CN" sz="2400" b="1" noProof="1">
                <a:solidFill>
                  <a:srgbClr val="FF0000"/>
                </a:solidFill>
              </a:rPr>
              <a:t>1</a:t>
            </a:r>
            <a:r>
              <a:rPr lang="zh-CN" altLang="en-US" sz="2400" b="1" noProof="1">
                <a:solidFill>
                  <a:srgbClr val="FF0000"/>
                </a:solidFill>
              </a:rPr>
              <a:t>级台阶，</a:t>
            </a:r>
            <a:r>
              <a:rPr lang="en-US" altLang="zh-CN" sz="2400" b="1" noProof="1">
                <a:solidFill>
                  <a:srgbClr val="FF0000"/>
                </a:solidFill>
              </a:rPr>
              <a:t>1</a:t>
            </a:r>
            <a:r>
              <a:rPr lang="zh-CN" altLang="en-US" sz="2400" b="1" noProof="1">
                <a:solidFill>
                  <a:srgbClr val="FF0000"/>
                </a:solidFill>
              </a:rPr>
              <a:t>种解；</a:t>
            </a:r>
            <a:endParaRPr lang="en-US" altLang="zh-CN" sz="2400" b="1" noProof="1">
              <a:solidFill>
                <a:srgbClr val="FF0000"/>
              </a:solidFill>
            </a:endParaRPr>
          </a:p>
          <a:p>
            <a:pPr marL="0" lvl="1" indent="0">
              <a:buNone/>
            </a:pPr>
            <a:r>
              <a:rPr lang="en-US" altLang="zh-CN" sz="2400" b="1" noProof="1">
                <a:solidFill>
                  <a:srgbClr val="FF0000"/>
                </a:solidFill>
              </a:rPr>
              <a:t> </a:t>
            </a:r>
            <a:r>
              <a:rPr lang="en-US" altLang="zh-CN" sz="2400" b="1" i="1" noProof="1">
                <a:solidFill>
                  <a:srgbClr val="FF0000"/>
                </a:solidFill>
              </a:rPr>
              <a:t>n</a:t>
            </a:r>
            <a:r>
              <a:rPr lang="en-US" altLang="zh-CN" sz="2400" b="1" noProof="1">
                <a:solidFill>
                  <a:srgbClr val="FF0000"/>
                </a:solidFill>
              </a:rPr>
              <a:t> = 2,  1</a:t>
            </a:r>
            <a:r>
              <a:rPr lang="zh-CN" altLang="en-US" sz="2400" b="1" noProof="1">
                <a:solidFill>
                  <a:srgbClr val="FF0000"/>
                </a:solidFill>
              </a:rPr>
              <a:t>步跨</a:t>
            </a:r>
            <a:r>
              <a:rPr lang="en-US" altLang="zh-CN" sz="2400" b="1" noProof="1">
                <a:solidFill>
                  <a:srgbClr val="FF0000"/>
                </a:solidFill>
              </a:rPr>
              <a:t>1</a:t>
            </a:r>
            <a:r>
              <a:rPr lang="zh-CN" altLang="en-US" sz="2400" b="1" noProof="1">
                <a:solidFill>
                  <a:srgbClr val="FF0000"/>
                </a:solidFill>
              </a:rPr>
              <a:t>级台阶或</a:t>
            </a:r>
            <a:r>
              <a:rPr lang="en-US" altLang="zh-CN" sz="2400" b="1" noProof="1">
                <a:solidFill>
                  <a:srgbClr val="FF0000"/>
                </a:solidFill>
              </a:rPr>
              <a:t>1</a:t>
            </a:r>
            <a:r>
              <a:rPr lang="zh-CN" altLang="en-US" sz="2400" b="1" noProof="1">
                <a:solidFill>
                  <a:srgbClr val="FF0000"/>
                </a:solidFill>
              </a:rPr>
              <a:t>步跨</a:t>
            </a:r>
            <a:r>
              <a:rPr lang="en-US" altLang="zh-CN" sz="2400" b="1" noProof="1">
                <a:solidFill>
                  <a:srgbClr val="FF0000"/>
                </a:solidFill>
              </a:rPr>
              <a:t>2</a:t>
            </a:r>
            <a:r>
              <a:rPr lang="zh-CN" altLang="en-US" sz="2400" b="1" noProof="1">
                <a:solidFill>
                  <a:srgbClr val="FF0000"/>
                </a:solidFill>
              </a:rPr>
              <a:t>级台阶，</a:t>
            </a:r>
            <a:r>
              <a:rPr lang="en-US" altLang="zh-CN" sz="2400" b="1" noProof="1">
                <a:solidFill>
                  <a:srgbClr val="FF0000"/>
                </a:solidFill>
              </a:rPr>
              <a:t>2</a:t>
            </a:r>
            <a:r>
              <a:rPr lang="zh-CN" altLang="en-US" sz="2400" b="1" noProof="1">
                <a:solidFill>
                  <a:srgbClr val="FF0000"/>
                </a:solidFill>
              </a:rPr>
              <a:t>种解；</a:t>
            </a:r>
            <a:endParaRPr lang="en-US" altLang="zh-CN" sz="2400" b="1" noProof="1">
              <a:solidFill>
                <a:srgbClr val="FF0000"/>
              </a:solidFill>
            </a:endParaRPr>
          </a:p>
          <a:p>
            <a:pPr marL="0" lvl="1" indent="0">
              <a:buNone/>
            </a:pPr>
            <a:r>
              <a:rPr lang="en-US" altLang="zh-CN" sz="2400" b="1" i="1" noProof="1">
                <a:solidFill>
                  <a:srgbClr val="FF0000"/>
                </a:solidFill>
              </a:rPr>
              <a:t> n</a:t>
            </a:r>
            <a:r>
              <a:rPr lang="en-US" altLang="zh-CN" sz="2400" b="1" noProof="1">
                <a:solidFill>
                  <a:srgbClr val="FF0000"/>
                </a:solidFill>
              </a:rPr>
              <a:t> = 3,  </a:t>
            </a:r>
            <a:r>
              <a:rPr lang="zh-CN" altLang="en-US" sz="2400" b="1" noProof="1">
                <a:solidFill>
                  <a:srgbClr val="FF0000"/>
                </a:solidFill>
              </a:rPr>
              <a:t>每步跨</a:t>
            </a:r>
            <a:r>
              <a:rPr lang="en-US" altLang="zh-CN" sz="2400" b="1" noProof="1">
                <a:solidFill>
                  <a:srgbClr val="FF0000"/>
                </a:solidFill>
              </a:rPr>
              <a:t>1</a:t>
            </a:r>
            <a:r>
              <a:rPr lang="zh-CN" altLang="en-US" sz="2400" b="1" noProof="1">
                <a:solidFill>
                  <a:srgbClr val="FF0000"/>
                </a:solidFill>
              </a:rPr>
              <a:t>级台阶，</a:t>
            </a:r>
            <a:r>
              <a:rPr lang="en-US" altLang="zh-CN" sz="2400" b="1" noProof="1">
                <a:solidFill>
                  <a:srgbClr val="FF0000"/>
                </a:solidFill>
              </a:rPr>
              <a:t>1</a:t>
            </a:r>
            <a:r>
              <a:rPr lang="zh-CN" altLang="en-US" sz="2400" b="1" noProof="1">
                <a:solidFill>
                  <a:srgbClr val="FF0000"/>
                </a:solidFill>
              </a:rPr>
              <a:t>步跨</a:t>
            </a:r>
            <a:r>
              <a:rPr lang="en-US" altLang="zh-CN" sz="2400" b="1" noProof="1">
                <a:solidFill>
                  <a:srgbClr val="FF0000"/>
                </a:solidFill>
              </a:rPr>
              <a:t>1</a:t>
            </a:r>
            <a:r>
              <a:rPr lang="zh-CN" altLang="en-US" sz="2400" b="1" noProof="1">
                <a:solidFill>
                  <a:srgbClr val="FF0000"/>
                </a:solidFill>
              </a:rPr>
              <a:t>级台阶</a:t>
            </a:r>
            <a:r>
              <a:rPr lang="en-US" altLang="zh-CN" sz="2400" b="1" noProof="1">
                <a:solidFill>
                  <a:srgbClr val="FF0000"/>
                </a:solidFill>
              </a:rPr>
              <a:t>+ 1</a:t>
            </a:r>
            <a:r>
              <a:rPr lang="zh-CN" altLang="en-US" sz="2400" b="1" noProof="1">
                <a:solidFill>
                  <a:srgbClr val="FF0000"/>
                </a:solidFill>
              </a:rPr>
              <a:t>步跨</a:t>
            </a:r>
            <a:r>
              <a:rPr lang="en-US" altLang="zh-CN" sz="2400" b="1" noProof="1">
                <a:solidFill>
                  <a:srgbClr val="FF0000"/>
                </a:solidFill>
              </a:rPr>
              <a:t>2</a:t>
            </a:r>
            <a:r>
              <a:rPr lang="zh-CN" altLang="en-US" sz="2400" b="1" noProof="1">
                <a:solidFill>
                  <a:srgbClr val="FF0000"/>
                </a:solidFill>
              </a:rPr>
              <a:t>级台阶，</a:t>
            </a:r>
            <a:r>
              <a:rPr lang="en-US" altLang="zh-CN" sz="2400" b="1" noProof="1">
                <a:solidFill>
                  <a:srgbClr val="FF0000"/>
                </a:solidFill>
              </a:rPr>
              <a:t>1</a:t>
            </a:r>
            <a:r>
              <a:rPr lang="zh-CN" altLang="en-US" sz="2400" b="1" noProof="1">
                <a:solidFill>
                  <a:srgbClr val="FF0000"/>
                </a:solidFill>
              </a:rPr>
              <a:t>步</a:t>
            </a:r>
            <a:endParaRPr lang="en-US" altLang="zh-CN" sz="2400" b="1" noProof="1">
              <a:solidFill>
                <a:srgbClr val="FF0000"/>
              </a:solidFill>
            </a:endParaRPr>
          </a:p>
          <a:p>
            <a:pPr marL="0" lvl="1" indent="0">
              <a:buNone/>
            </a:pPr>
            <a:r>
              <a:rPr lang="en-US" altLang="zh-CN" sz="2400" b="1" noProof="1">
                <a:solidFill>
                  <a:srgbClr val="FF0000"/>
                </a:solidFill>
              </a:rPr>
              <a:t>             </a:t>
            </a:r>
            <a:r>
              <a:rPr lang="zh-CN" altLang="en-US" sz="2400" b="1" noProof="1">
                <a:solidFill>
                  <a:srgbClr val="FF0000"/>
                </a:solidFill>
              </a:rPr>
              <a:t>跨</a:t>
            </a:r>
            <a:r>
              <a:rPr lang="en-US" altLang="zh-CN" sz="2400" b="1" noProof="1">
                <a:solidFill>
                  <a:srgbClr val="FF0000"/>
                </a:solidFill>
              </a:rPr>
              <a:t>2</a:t>
            </a:r>
            <a:r>
              <a:rPr lang="zh-CN" altLang="en-US" sz="2400" b="1" noProof="1">
                <a:solidFill>
                  <a:srgbClr val="FF0000"/>
                </a:solidFill>
              </a:rPr>
              <a:t>级台阶</a:t>
            </a:r>
            <a:r>
              <a:rPr lang="en-US" altLang="zh-CN" sz="2400" b="1" noProof="1">
                <a:solidFill>
                  <a:srgbClr val="FF0000"/>
                </a:solidFill>
              </a:rPr>
              <a:t>+ 1</a:t>
            </a:r>
            <a:r>
              <a:rPr lang="zh-CN" altLang="en-US" sz="2400" b="1" noProof="1">
                <a:solidFill>
                  <a:srgbClr val="FF0000"/>
                </a:solidFill>
              </a:rPr>
              <a:t>步跨</a:t>
            </a:r>
            <a:r>
              <a:rPr lang="en-US" altLang="zh-CN" sz="2400" b="1" noProof="1">
                <a:solidFill>
                  <a:srgbClr val="FF0000"/>
                </a:solidFill>
              </a:rPr>
              <a:t>1</a:t>
            </a:r>
            <a:r>
              <a:rPr lang="zh-CN" altLang="en-US" sz="2400" b="1" noProof="1">
                <a:solidFill>
                  <a:srgbClr val="FF0000"/>
                </a:solidFill>
              </a:rPr>
              <a:t>级台阶，</a:t>
            </a:r>
            <a:r>
              <a:rPr lang="en-US" altLang="zh-CN" sz="2400" b="1" noProof="1">
                <a:solidFill>
                  <a:srgbClr val="FF0000"/>
                </a:solidFill>
              </a:rPr>
              <a:t>3</a:t>
            </a:r>
            <a:r>
              <a:rPr lang="zh-CN" altLang="en-US" sz="2400" b="1" noProof="1">
                <a:solidFill>
                  <a:srgbClr val="FF0000"/>
                </a:solidFill>
              </a:rPr>
              <a:t>种解；</a:t>
            </a:r>
            <a:endParaRPr lang="en-US" altLang="zh-CN" sz="2400" b="1" noProof="1">
              <a:solidFill>
                <a:srgbClr val="FF0000"/>
              </a:solidFill>
            </a:endParaRPr>
          </a:p>
          <a:p>
            <a:pPr marL="0" lvl="1" indent="0">
              <a:buNone/>
            </a:pPr>
            <a:r>
              <a:rPr lang="en-US" altLang="zh-CN" sz="2400" b="1" noProof="1">
                <a:solidFill>
                  <a:srgbClr val="FF0000"/>
                </a:solidFill>
              </a:rPr>
              <a:t>……</a:t>
            </a:r>
            <a:endParaRPr lang="en-US" altLang="zh-CN" sz="2400" b="1" noProof="1">
              <a:solidFill>
                <a:srgbClr val="FF0000"/>
              </a:solidFill>
            </a:endParaRPr>
          </a:p>
          <a:p>
            <a:pPr marL="0" lvl="1" indent="0">
              <a:buNone/>
            </a:pPr>
            <a:endParaRPr lang="en-US" altLang="zh-CN" sz="2400" b="1" noProof="1"/>
          </a:p>
          <a:p>
            <a:pPr marL="0" lvl="1" indent="0" eaLnBrk="1" hangingPunct="1">
              <a:buFont typeface="Wingdings" panose="05000000000000000000" pitchFamily="2" charset="2"/>
              <a:buNone/>
            </a:pPr>
            <a:endParaRPr lang="en-US" altLang="zh-CN" sz="2400" b="1" noProof="1"/>
          </a:p>
          <a:p>
            <a:pPr marL="0" lvl="1" indent="0" eaLnBrk="1" hangingPunct="1">
              <a:buFont typeface="Wingdings" panose="05000000000000000000" pitchFamily="2" charset="2"/>
              <a:buNone/>
            </a:pPr>
            <a:endParaRPr lang="zh-CN" altLang="en-US" sz="2400" b="1" noProof="1"/>
          </a:p>
          <a:p>
            <a:pPr>
              <a:buFont typeface="Wingdings" panose="05000000000000000000" pitchFamily="2" charset="2"/>
              <a:buNone/>
            </a:pPr>
            <a:endParaRPr lang="en-US" altLang="zh-CN" b="1" dirty="0"/>
          </a:p>
        </p:txBody>
      </p:sp>
      <p:grpSp>
        <p:nvGrpSpPr>
          <p:cNvPr id="7" name="组合 6"/>
          <p:cNvGrpSpPr/>
          <p:nvPr/>
        </p:nvGrpSpPr>
        <p:grpSpPr>
          <a:xfrm>
            <a:off x="196836" y="95357"/>
            <a:ext cx="4231148" cy="684042"/>
            <a:chOff x="611560" y="1326432"/>
            <a:chExt cx="4231148" cy="684042"/>
          </a:xfrm>
        </p:grpSpPr>
        <p:sp>
          <p:nvSpPr>
            <p:cNvPr id="8"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7.1 </a:t>
              </a:r>
              <a:r>
                <a:rPr lang="zh-CN" altLang="en-US" sz="3600" b="1" dirty="0">
                  <a:latin typeface="黑体" panose="02010609060101010101" pitchFamily="49" charset="-122"/>
                  <a:ea typeface="黑体" panose="02010609060101010101" pitchFamily="49" charset="-122"/>
                </a:rPr>
                <a:t>引言</a:t>
              </a:r>
              <a:endParaRPr lang="zh-CN" altLang="en-US" sz="3600" b="1" dirty="0">
                <a:latin typeface="黑体" panose="02010609060101010101" pitchFamily="49" charset="-122"/>
                <a:ea typeface="黑体" panose="02010609060101010101" pitchFamily="49" charset="-122"/>
              </a:endParaRPr>
            </a:p>
          </p:txBody>
        </p:sp>
        <p:grpSp>
          <p:nvGrpSpPr>
            <p:cNvPr id="9" name="组合 8"/>
            <p:cNvGrpSpPr/>
            <p:nvPr/>
          </p:nvGrpSpPr>
          <p:grpSpPr>
            <a:xfrm>
              <a:off x="958665" y="1327471"/>
              <a:ext cx="842977" cy="683003"/>
              <a:chOff x="958665" y="1327471"/>
              <a:chExt cx="842977" cy="683003"/>
            </a:xfrm>
          </p:grpSpPr>
          <p:sp>
            <p:nvSpPr>
              <p:cNvPr id="1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1" name="图片 10" descr="1.jpg"/>
              <p:cNvPicPr>
                <a:picLocks noChangeAspect="1"/>
              </p:cNvPicPr>
              <p:nvPr/>
            </p:nvPicPr>
            <p:blipFill>
              <a:blip r:embed="rId1" cstate="print"/>
              <a:stretch>
                <a:fillRect/>
              </a:stretch>
            </p:blipFill>
            <p:spPr>
              <a:xfrm>
                <a:off x="1189071" y="1467621"/>
                <a:ext cx="377680" cy="419801"/>
              </a:xfrm>
              <a:prstGeom prst="rect">
                <a:avLst/>
              </a:prstGeom>
            </p:spPr>
          </p:pic>
        </p:grpSp>
      </p:grpSp>
      <p:pic>
        <p:nvPicPr>
          <p:cNvPr id="12" name="图片 11"/>
          <p:cNvPicPr>
            <a:picLocks noChangeAspect="1"/>
          </p:cNvPicPr>
          <p:nvPr/>
        </p:nvPicPr>
        <p:blipFill>
          <a:blip r:embed="rId2" cstate="print"/>
          <a:stretch>
            <a:fillRect/>
          </a:stretch>
        </p:blipFill>
        <p:spPr>
          <a:xfrm>
            <a:off x="543941" y="1628800"/>
            <a:ext cx="1297442" cy="1338084"/>
          </a:xfrm>
          <a:prstGeom prst="rect">
            <a:avLst/>
          </a:prstGeom>
        </p:spPr>
      </p:pic>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3"/>
          <p:cNvSpPr txBox="1">
            <a:spLocks noChangeAspect="1" noChangeArrowheads="1"/>
          </p:cNvSpPr>
          <p:nvPr/>
        </p:nvSpPr>
        <p:spPr bwMode="auto">
          <a:xfrm>
            <a:off x="457200" y="980729"/>
            <a:ext cx="8229600" cy="5112568"/>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Clr>
                <a:srgbClr val="FF0000"/>
              </a:buClr>
              <a:buFont typeface="Wingdings" panose="05000000000000000000" pitchFamily="2" charset="2"/>
              <a:buChar char="n"/>
            </a:pPr>
            <a:r>
              <a:rPr lang="zh-CN" altLang="en-US" b="1" dirty="0"/>
              <a:t>汉诺塔问题</a:t>
            </a:r>
            <a:endParaRPr lang="en-US" altLang="zh-CN" b="1" dirty="0"/>
          </a:p>
          <a:p>
            <a:pPr marL="457200" indent="-457200" algn="just">
              <a:spcBef>
                <a:spcPts val="1200"/>
              </a:spcBef>
              <a:buFont typeface="Wingdings" panose="05000000000000000000" pitchFamily="2" charset="2"/>
              <a:buAutoNum type="arabicPeriod" startAt="2"/>
            </a:pPr>
            <a:r>
              <a:rPr lang="en-US" altLang="zh-CN" sz="2400" b="1" dirty="0"/>
              <a:t> </a:t>
            </a:r>
            <a:r>
              <a:rPr lang="en-US" altLang="zh-CN" sz="2400" b="1" i="1" dirty="0"/>
              <a:t>n</a:t>
            </a:r>
            <a:r>
              <a:rPr lang="zh-CN" altLang="en-US" sz="2400" b="1" dirty="0"/>
              <a:t>个盘子和</a:t>
            </a:r>
            <a:r>
              <a:rPr lang="en-US" altLang="zh-CN" sz="2400" b="1" dirty="0"/>
              <a:t>3</a:t>
            </a:r>
            <a:r>
              <a:rPr lang="zh-CN" altLang="en-US" sz="2400" b="1" dirty="0"/>
              <a:t>根柱子：</a:t>
            </a:r>
            <a:r>
              <a:rPr lang="en-US" altLang="zh-CN" sz="2400" b="1" dirty="0"/>
              <a:t>A</a:t>
            </a:r>
            <a:r>
              <a:rPr lang="zh-CN" altLang="en-US" sz="2400" b="1" dirty="0"/>
              <a:t>、</a:t>
            </a:r>
            <a:r>
              <a:rPr lang="en-US" altLang="zh-CN" sz="2400" b="1" dirty="0"/>
              <a:t>B</a:t>
            </a:r>
            <a:r>
              <a:rPr lang="zh-CN" altLang="en-US" sz="2400" b="1" dirty="0"/>
              <a:t>、</a:t>
            </a:r>
            <a:r>
              <a:rPr lang="en-US" altLang="zh-CN" sz="2400" b="1" dirty="0"/>
              <a:t>C</a:t>
            </a:r>
            <a:r>
              <a:rPr lang="zh-CN" altLang="en-US" sz="2400" b="1" dirty="0"/>
              <a:t>。起初，所有盘子在</a:t>
            </a:r>
            <a:r>
              <a:rPr lang="en-US" altLang="zh-CN" sz="2400" b="1" dirty="0"/>
              <a:t>A</a:t>
            </a:r>
            <a:r>
              <a:rPr lang="zh-CN" altLang="en-US" sz="2400" b="1" dirty="0"/>
              <a:t>柱上，问</a:t>
            </a:r>
            <a:r>
              <a:rPr lang="en-US" altLang="zh-CN" sz="2400" b="1" dirty="0"/>
              <a:t>: </a:t>
            </a:r>
            <a:r>
              <a:rPr lang="zh-CN" altLang="en-US" sz="2400" b="1" dirty="0"/>
              <a:t>如何将盘子一个一个地从</a:t>
            </a:r>
            <a:r>
              <a:rPr lang="en-US" altLang="zh-CN" sz="2400" b="1" dirty="0"/>
              <a:t>A</a:t>
            </a:r>
            <a:r>
              <a:rPr lang="zh-CN" altLang="en-US" sz="2400" b="1" dirty="0"/>
              <a:t>柱子移动到</a:t>
            </a:r>
            <a:r>
              <a:rPr lang="en-US" altLang="zh-CN" sz="2400" b="1" dirty="0"/>
              <a:t>B</a:t>
            </a:r>
            <a:r>
              <a:rPr lang="zh-CN" altLang="en-US" sz="2400" b="1" dirty="0"/>
              <a:t>柱子？ </a:t>
            </a:r>
            <a:r>
              <a:rPr lang="zh-CN" altLang="en-US" sz="2400" b="1" dirty="0">
                <a:solidFill>
                  <a:srgbClr val="FF0000"/>
                </a:solidFill>
              </a:rPr>
              <a:t>提示：</a:t>
            </a:r>
            <a:r>
              <a:rPr lang="zh-CN" altLang="en-US" sz="2400" b="1" dirty="0"/>
              <a:t>移动过程中可以使用</a:t>
            </a:r>
            <a:r>
              <a:rPr lang="en-US" altLang="zh-CN" sz="2400" b="1" dirty="0"/>
              <a:t>C</a:t>
            </a:r>
            <a:r>
              <a:rPr lang="zh-CN" altLang="en-US" sz="2400" b="1" dirty="0"/>
              <a:t>柱，但盘子只能放在比它大的盘子上面。</a:t>
            </a:r>
            <a:endParaRPr lang="zh-CN" altLang="en-US" sz="2400" b="1" dirty="0"/>
          </a:p>
          <a:p>
            <a:pPr>
              <a:buFont typeface="Wingdings" panose="05000000000000000000" pitchFamily="2" charset="2"/>
              <a:buNone/>
            </a:pPr>
            <a:endParaRPr lang="en-US" altLang="zh-CN" b="1" dirty="0"/>
          </a:p>
        </p:txBody>
      </p:sp>
      <p:pic>
        <p:nvPicPr>
          <p:cNvPr id="6" name="Picture 5" descr="u=835663323,3763396319&amp;fm=21&amp;gp=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83768" y="3503725"/>
            <a:ext cx="5400675" cy="3032125"/>
          </a:xfrm>
          <a:prstGeom prst="rect">
            <a:avLst/>
          </a:prstGeom>
          <a:noFill/>
          <a:extLst>
            <a:ext uri="{909E8E84-426E-40DD-AFC4-6F175D3DCCD1}">
              <a14:hiddenFill xmlns:a14="http://schemas.microsoft.com/office/drawing/2010/main">
                <a:solidFill>
                  <a:srgbClr val="FFFFFF"/>
                </a:solidFill>
              </a14:hiddenFill>
            </a:ext>
          </a:extLst>
        </p:spPr>
      </p:pic>
      <p:grpSp>
        <p:nvGrpSpPr>
          <p:cNvPr id="7" name="组合 6"/>
          <p:cNvGrpSpPr/>
          <p:nvPr/>
        </p:nvGrpSpPr>
        <p:grpSpPr>
          <a:xfrm>
            <a:off x="196836" y="95357"/>
            <a:ext cx="4231148" cy="684042"/>
            <a:chOff x="611560" y="1326432"/>
            <a:chExt cx="4231148" cy="684042"/>
          </a:xfrm>
        </p:grpSpPr>
        <p:sp>
          <p:nvSpPr>
            <p:cNvPr id="8"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7.1 </a:t>
              </a:r>
              <a:r>
                <a:rPr lang="zh-CN" altLang="en-US" sz="3600" b="1" dirty="0">
                  <a:latin typeface="黑体" panose="02010609060101010101" pitchFamily="49" charset="-122"/>
                  <a:ea typeface="黑体" panose="02010609060101010101" pitchFamily="49" charset="-122"/>
                </a:rPr>
                <a:t>引言</a:t>
              </a:r>
              <a:endParaRPr lang="zh-CN" altLang="en-US" sz="3600" b="1" dirty="0">
                <a:latin typeface="黑体" panose="02010609060101010101" pitchFamily="49" charset="-122"/>
                <a:ea typeface="黑体" panose="02010609060101010101" pitchFamily="49" charset="-122"/>
              </a:endParaRPr>
            </a:p>
          </p:txBody>
        </p:sp>
        <p:grpSp>
          <p:nvGrpSpPr>
            <p:cNvPr id="9" name="组合 8"/>
            <p:cNvGrpSpPr/>
            <p:nvPr/>
          </p:nvGrpSpPr>
          <p:grpSpPr>
            <a:xfrm>
              <a:off x="958665" y="1327471"/>
              <a:ext cx="842977" cy="683003"/>
              <a:chOff x="958665" y="1327471"/>
              <a:chExt cx="842977" cy="683003"/>
            </a:xfrm>
          </p:grpSpPr>
          <p:sp>
            <p:nvSpPr>
              <p:cNvPr id="1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1" name="图片 10" descr="1.jpg"/>
              <p:cNvPicPr>
                <a:picLocks noChangeAspect="1"/>
              </p:cNvPicPr>
              <p:nvPr/>
            </p:nvPicPr>
            <p:blipFill>
              <a:blip r:embed="rId2" cstate="print"/>
              <a:stretch>
                <a:fillRect/>
              </a:stretch>
            </p:blipFill>
            <p:spPr>
              <a:xfrm>
                <a:off x="1189071" y="1467621"/>
                <a:ext cx="377680" cy="419801"/>
              </a:xfrm>
              <a:prstGeom prst="rect">
                <a:avLst/>
              </a:prstGeom>
            </p:spPr>
          </p:pic>
        </p:grp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251520" y="980728"/>
            <a:ext cx="2192291" cy="2160240"/>
          </a:xfrm>
          <a:prstGeom prst="rect">
            <a:avLst/>
          </a:prstGeom>
        </p:spPr>
      </p:pic>
      <p:pic>
        <p:nvPicPr>
          <p:cNvPr id="7" name="图片 6"/>
          <p:cNvPicPr>
            <a:picLocks noChangeAspect="1"/>
          </p:cNvPicPr>
          <p:nvPr/>
        </p:nvPicPr>
        <p:blipFill>
          <a:blip r:embed="rId2"/>
          <a:stretch>
            <a:fillRect/>
          </a:stretch>
        </p:blipFill>
        <p:spPr>
          <a:xfrm>
            <a:off x="2442282" y="980728"/>
            <a:ext cx="6701718" cy="3744416"/>
          </a:xfrm>
          <a:prstGeom prst="rect">
            <a:avLst/>
          </a:prstGeom>
        </p:spPr>
      </p:pic>
      <p:sp>
        <p:nvSpPr>
          <p:cNvPr id="8" name="矩形 7"/>
          <p:cNvSpPr/>
          <p:nvPr/>
        </p:nvSpPr>
        <p:spPr>
          <a:xfrm>
            <a:off x="2339752" y="4689843"/>
            <a:ext cx="7776864" cy="461665"/>
          </a:xfrm>
          <a:prstGeom prst="rect">
            <a:avLst/>
          </a:prstGeom>
        </p:spPr>
        <p:txBody>
          <a:bodyPr wrap="square">
            <a:spAutoFit/>
          </a:bodyPr>
          <a:lstStyle/>
          <a:p>
            <a:r>
              <a:rPr lang="en-US" altLang="zh-CN" sz="2400" b="1" dirty="0">
                <a:latin typeface="Times New Roman" panose="02020603050405020304" pitchFamily="18" charset="0"/>
                <a:cs typeface="Times New Roman" panose="02020603050405020304" pitchFamily="18" charset="0"/>
              </a:rPr>
              <a:t>Before July 2002, I was a software developer. </a:t>
            </a:r>
            <a:endParaRPr lang="zh-CN" altLang="en-US" sz="2400" b="1" dirty="0">
              <a:latin typeface="Times New Roman" panose="02020603050405020304" pitchFamily="18" charset="0"/>
              <a:cs typeface="Times New Roman" panose="02020603050405020304" pitchFamily="18" charset="0"/>
            </a:endParaRPr>
          </a:p>
        </p:txBody>
      </p:sp>
      <p:sp>
        <p:nvSpPr>
          <p:cNvPr id="10" name="矩形 9"/>
          <p:cNvSpPr/>
          <p:nvPr/>
        </p:nvSpPr>
        <p:spPr>
          <a:xfrm>
            <a:off x="899592" y="5243000"/>
            <a:ext cx="8415132" cy="523220"/>
          </a:xfrm>
          <a:prstGeom prst="rect">
            <a:avLst/>
          </a:prstGeom>
        </p:spPr>
        <p:txBody>
          <a:bodyPr wrap="square">
            <a:spAutoFit/>
          </a:bodyPr>
          <a:lstStyle/>
          <a:p>
            <a:r>
              <a:rPr lang="en-US" altLang="zh-CN" sz="2800" dirty="0">
                <a:solidFill>
                  <a:srgbClr val="FF0000"/>
                </a:solidFill>
              </a:rPr>
              <a:t>To Iterate is Human, to </a:t>
            </a:r>
            <a:r>
              <a:rPr lang="en-US" altLang="zh-CN" sz="2800" dirty="0" err="1">
                <a:solidFill>
                  <a:srgbClr val="FF0000"/>
                </a:solidFill>
              </a:rPr>
              <a:t>Recurse</a:t>
            </a:r>
            <a:r>
              <a:rPr lang="en-US" altLang="zh-CN" sz="2800" dirty="0">
                <a:solidFill>
                  <a:srgbClr val="FF0000"/>
                </a:solidFill>
              </a:rPr>
              <a:t>, Divine.</a:t>
            </a:r>
            <a:endParaRPr lang="en-US" altLang="zh-CN" sz="2800" dirty="0">
              <a:solidFill>
                <a:srgbClr val="FF0000"/>
              </a:solidFill>
            </a:endParaRPr>
          </a:p>
        </p:txBody>
      </p:sp>
      <p:sp>
        <p:nvSpPr>
          <p:cNvPr id="11" name="矩形 10"/>
          <p:cNvSpPr/>
          <p:nvPr/>
        </p:nvSpPr>
        <p:spPr>
          <a:xfrm>
            <a:off x="2442282" y="5857712"/>
            <a:ext cx="3897221" cy="461665"/>
          </a:xfrm>
          <a:prstGeom prst="rect">
            <a:avLst/>
          </a:prstGeom>
        </p:spPr>
        <p:txBody>
          <a:bodyPr wrap="none">
            <a:spAutoFit/>
          </a:bodyPr>
          <a:lstStyle/>
          <a:p>
            <a:r>
              <a:rPr lang="zh-CN" altLang="en-US" sz="2400" b="1" dirty="0">
                <a:solidFill>
                  <a:srgbClr val="0000FF"/>
                </a:solidFill>
              </a:rPr>
              <a:t>迭代者为人，递归者为神。</a:t>
            </a:r>
            <a:endParaRPr lang="zh-CN" altLang="en-US" sz="2400" b="1" dirty="0">
              <a:solidFill>
                <a:srgbClr val="0000FF"/>
              </a:solidFill>
            </a:endParaRPr>
          </a:p>
        </p:txBody>
      </p:sp>
      <p:grpSp>
        <p:nvGrpSpPr>
          <p:cNvPr id="13" name="组合 12"/>
          <p:cNvGrpSpPr/>
          <p:nvPr/>
        </p:nvGrpSpPr>
        <p:grpSpPr>
          <a:xfrm>
            <a:off x="196836" y="95357"/>
            <a:ext cx="4231148" cy="684042"/>
            <a:chOff x="611560" y="1326432"/>
            <a:chExt cx="4231148" cy="684042"/>
          </a:xfrm>
        </p:grpSpPr>
        <p:sp>
          <p:nvSpPr>
            <p:cNvPr id="14"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7.1 </a:t>
              </a:r>
              <a:r>
                <a:rPr lang="zh-CN" altLang="en-US" sz="3600" b="1" dirty="0">
                  <a:latin typeface="黑体" panose="02010609060101010101" pitchFamily="49" charset="-122"/>
                  <a:ea typeface="黑体" panose="02010609060101010101" pitchFamily="49" charset="-122"/>
                </a:rPr>
                <a:t>引言</a:t>
              </a:r>
              <a:endParaRPr lang="zh-CN" altLang="en-US" sz="3600" b="1" dirty="0">
                <a:latin typeface="黑体" panose="02010609060101010101" pitchFamily="49" charset="-122"/>
                <a:ea typeface="黑体" panose="02010609060101010101" pitchFamily="49" charset="-122"/>
              </a:endParaRPr>
            </a:p>
          </p:txBody>
        </p:sp>
        <p:grpSp>
          <p:nvGrpSpPr>
            <p:cNvPr id="15" name="组合 14"/>
            <p:cNvGrpSpPr/>
            <p:nvPr/>
          </p:nvGrpSpPr>
          <p:grpSpPr>
            <a:xfrm>
              <a:off x="958665" y="1327471"/>
              <a:ext cx="842977" cy="683003"/>
              <a:chOff x="958665" y="1327471"/>
              <a:chExt cx="842977" cy="683003"/>
            </a:xfrm>
          </p:grpSpPr>
          <p:sp>
            <p:nvSpPr>
              <p:cNvPr id="16"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7" name="图片 16" descr="1.jpg"/>
              <p:cNvPicPr>
                <a:picLocks noChangeAspect="1"/>
              </p:cNvPicPr>
              <p:nvPr/>
            </p:nvPicPr>
            <p:blipFill>
              <a:blip r:embed="rId3" cstate="print"/>
              <a:stretch>
                <a:fillRect/>
              </a:stretch>
            </p:blipFill>
            <p:spPr>
              <a:xfrm>
                <a:off x="1189071" y="1467621"/>
                <a:ext cx="377680" cy="419801"/>
              </a:xfrm>
              <a:prstGeom prst="rect">
                <a:avLst/>
              </a:prstGeom>
            </p:spPr>
          </p:pic>
        </p:grp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122"/>
          <p:cNvSpPr>
            <a:spLocks noGrp="1" noChangeArrowheads="1"/>
          </p:cNvSpPr>
          <p:nvPr>
            <p:ph idx="1"/>
          </p:nvPr>
        </p:nvSpPr>
        <p:spPr>
          <a:xfrm>
            <a:off x="460714" y="983601"/>
            <a:ext cx="8575781" cy="5325719"/>
          </a:xfrm>
        </p:spPr>
        <p:txBody>
          <a:bodyPr/>
          <a:lstStyle/>
          <a:p>
            <a:pPr>
              <a:lnSpc>
                <a:spcPct val="90000"/>
              </a:lnSpc>
              <a:buClr>
                <a:srgbClr val="FF0000"/>
              </a:buClr>
              <a:buFont typeface="Wingdings" panose="05000000000000000000" pitchFamily="2" charset="2"/>
              <a:buChar char="Ø"/>
            </a:pPr>
            <a:r>
              <a:rPr lang="zh-CN" altLang="en-US" sz="2800" b="1" dirty="0">
                <a:solidFill>
                  <a:srgbClr val="FF0000"/>
                </a:solidFill>
              </a:rPr>
              <a:t>递归算法用于解决的三类问题</a:t>
            </a:r>
            <a:endParaRPr lang="zh-CN" altLang="en-US" sz="2800" b="1" dirty="0"/>
          </a:p>
          <a:p>
            <a:pPr>
              <a:lnSpc>
                <a:spcPct val="150000"/>
              </a:lnSpc>
              <a:buFont typeface="Wingdings" panose="05000000000000000000" pitchFamily="2" charset="2"/>
              <a:buNone/>
            </a:pPr>
            <a:r>
              <a:rPr lang="zh-CN" altLang="en-US" sz="2400" b="1" dirty="0">
                <a:solidFill>
                  <a:srgbClr val="0000FF"/>
                </a:solidFill>
              </a:rPr>
              <a:t>    </a:t>
            </a:r>
            <a:r>
              <a:rPr lang="en-US" altLang="zh-CN" sz="2400" b="1" dirty="0">
                <a:solidFill>
                  <a:srgbClr val="0000FF"/>
                </a:solidFill>
              </a:rPr>
              <a:t>(1) </a:t>
            </a:r>
            <a:r>
              <a:rPr lang="zh-CN" altLang="en-US" sz="2400" b="1" dirty="0">
                <a:solidFill>
                  <a:srgbClr val="0000FF"/>
                </a:solidFill>
              </a:rPr>
              <a:t>数据的定义是按递归定义的</a:t>
            </a:r>
            <a:r>
              <a:rPr lang="en-US" altLang="zh-CN" sz="2400" b="1" dirty="0">
                <a:solidFill>
                  <a:srgbClr val="0000FF"/>
                </a:solidFill>
              </a:rPr>
              <a:t>;</a:t>
            </a:r>
            <a:endParaRPr lang="en-US" altLang="zh-CN" sz="2400" b="1" dirty="0">
              <a:solidFill>
                <a:srgbClr val="0000FF"/>
              </a:solidFill>
            </a:endParaRPr>
          </a:p>
          <a:p>
            <a:pPr lvl="1">
              <a:lnSpc>
                <a:spcPct val="150000"/>
              </a:lnSpc>
              <a:buClr>
                <a:srgbClr val="FF0000"/>
              </a:buClr>
              <a:buFont typeface="Wingdings" panose="05000000000000000000" pitchFamily="2" charset="2"/>
              <a:buChar char="ü"/>
            </a:pPr>
            <a:r>
              <a:rPr lang="en-US" altLang="zh-CN" sz="2400" dirty="0"/>
              <a:t>  Fibonacci</a:t>
            </a:r>
            <a:r>
              <a:rPr lang="zh-CN" altLang="en-US" sz="2400" dirty="0"/>
              <a:t>函数</a:t>
            </a:r>
            <a:r>
              <a:rPr lang="en-US" altLang="zh-CN" sz="2400" dirty="0"/>
              <a:t> </a:t>
            </a:r>
            <a:endParaRPr lang="en-US" altLang="zh-CN" sz="2400" dirty="0"/>
          </a:p>
          <a:p>
            <a:pPr>
              <a:lnSpc>
                <a:spcPct val="150000"/>
              </a:lnSpc>
              <a:buNone/>
            </a:pPr>
            <a:r>
              <a:rPr lang="en-US" altLang="zh-CN" sz="2400" b="1" dirty="0">
                <a:solidFill>
                  <a:srgbClr val="0000FF"/>
                </a:solidFill>
              </a:rPr>
              <a:t>    (2) </a:t>
            </a:r>
            <a:r>
              <a:rPr lang="zh-CN" altLang="en-US" sz="2400" b="1" dirty="0">
                <a:solidFill>
                  <a:srgbClr val="0000FF"/>
                </a:solidFill>
              </a:rPr>
              <a:t>问题解法按递归算法实现</a:t>
            </a:r>
            <a:r>
              <a:rPr lang="en-US" altLang="zh-CN" sz="2400" b="1" dirty="0">
                <a:solidFill>
                  <a:srgbClr val="0000FF"/>
                </a:solidFill>
              </a:rPr>
              <a:t>;</a:t>
            </a:r>
            <a:endParaRPr lang="en-US" altLang="zh-CN" sz="2400" b="1" dirty="0">
              <a:solidFill>
                <a:srgbClr val="0000FF"/>
              </a:solidFill>
            </a:endParaRPr>
          </a:p>
          <a:p>
            <a:pPr lvl="1">
              <a:lnSpc>
                <a:spcPct val="150000"/>
              </a:lnSpc>
              <a:buClr>
                <a:srgbClr val="FF0000"/>
              </a:buClr>
              <a:buFont typeface="Wingdings" panose="05000000000000000000" pitchFamily="2" charset="2"/>
              <a:buChar char="ü"/>
            </a:pPr>
            <a:r>
              <a:rPr lang="zh-CN" altLang="en-US" sz="2400" dirty="0"/>
              <a:t> </a:t>
            </a:r>
            <a:r>
              <a:rPr lang="en-US" altLang="zh-CN" sz="2400" dirty="0"/>
              <a:t>Hanoi</a:t>
            </a:r>
            <a:r>
              <a:rPr lang="zh-CN" altLang="en-US" sz="2400" dirty="0"/>
              <a:t>问题</a:t>
            </a:r>
            <a:endParaRPr lang="en-US" altLang="zh-CN" sz="2400" dirty="0"/>
          </a:p>
          <a:p>
            <a:pPr>
              <a:lnSpc>
                <a:spcPct val="150000"/>
              </a:lnSpc>
              <a:buFont typeface="Wingdings" panose="05000000000000000000" pitchFamily="2" charset="2"/>
              <a:buNone/>
            </a:pPr>
            <a:r>
              <a:rPr lang="zh-CN" altLang="en-US" sz="2400" b="1" dirty="0">
                <a:solidFill>
                  <a:srgbClr val="0000FF"/>
                </a:solidFill>
              </a:rPr>
              <a:t>   </a:t>
            </a:r>
            <a:r>
              <a:rPr lang="en-US" altLang="zh-CN" sz="2400" b="1" dirty="0">
                <a:solidFill>
                  <a:srgbClr val="0000FF"/>
                </a:solidFill>
              </a:rPr>
              <a:t>(3)</a:t>
            </a:r>
            <a:r>
              <a:rPr lang="zh-CN" altLang="en-US" sz="2400" b="1" dirty="0">
                <a:solidFill>
                  <a:srgbClr val="0000FF"/>
                </a:solidFill>
              </a:rPr>
              <a:t>数据的结构形式是按递归定义的</a:t>
            </a:r>
            <a:endParaRPr lang="en-US" altLang="zh-CN" sz="2400" b="1" dirty="0">
              <a:solidFill>
                <a:srgbClr val="0000FF"/>
              </a:solidFill>
            </a:endParaRPr>
          </a:p>
          <a:p>
            <a:pPr lvl="1">
              <a:lnSpc>
                <a:spcPct val="150000"/>
              </a:lnSpc>
              <a:buClr>
                <a:srgbClr val="FF0000"/>
              </a:buClr>
              <a:buFont typeface="Wingdings" panose="05000000000000000000" pitchFamily="2" charset="2"/>
              <a:buChar char="ü"/>
            </a:pPr>
            <a:r>
              <a:rPr lang="zh-CN" altLang="en-US" sz="2400" dirty="0"/>
              <a:t>二叉树、</a:t>
            </a:r>
            <a:r>
              <a:rPr lang="zh-CN" altLang="en-US" sz="2400" b="1" dirty="0">
                <a:solidFill>
                  <a:srgbClr val="FF0000"/>
                </a:solidFill>
              </a:rPr>
              <a:t>广义表</a:t>
            </a:r>
            <a:r>
              <a:rPr lang="zh-CN" altLang="en-US" sz="2400" dirty="0"/>
              <a:t>等</a:t>
            </a:r>
            <a:endParaRPr lang="en-US" altLang="zh-CN" sz="2400" dirty="0"/>
          </a:p>
          <a:p>
            <a:pPr>
              <a:lnSpc>
                <a:spcPct val="90000"/>
              </a:lnSpc>
              <a:buFont typeface="Wingdings" panose="05000000000000000000" pitchFamily="2" charset="2"/>
              <a:buNone/>
            </a:pPr>
            <a:r>
              <a:rPr lang="zh-CN" altLang="en-US" sz="2400" b="1" dirty="0"/>
              <a:t>    </a:t>
            </a:r>
            <a:endParaRPr lang="zh-CN" altLang="zh-CN" sz="2000" b="1" dirty="0"/>
          </a:p>
        </p:txBody>
      </p:sp>
      <p:grpSp>
        <p:nvGrpSpPr>
          <p:cNvPr id="9" name="组合 8"/>
          <p:cNvGrpSpPr/>
          <p:nvPr/>
        </p:nvGrpSpPr>
        <p:grpSpPr>
          <a:xfrm>
            <a:off x="-684584" y="80662"/>
            <a:ext cx="7344816" cy="684042"/>
            <a:chOff x="-211511" y="1866348"/>
            <a:chExt cx="7344816" cy="684042"/>
          </a:xfrm>
        </p:grpSpPr>
        <p:grpSp>
          <p:nvGrpSpPr>
            <p:cNvPr id="10" name="组合 9"/>
            <p:cNvGrpSpPr/>
            <p:nvPr/>
          </p:nvGrpSpPr>
          <p:grpSpPr>
            <a:xfrm>
              <a:off x="-211511" y="1866348"/>
              <a:ext cx="7344816" cy="684042"/>
              <a:chOff x="-252536" y="1326432"/>
              <a:chExt cx="7344816" cy="684042"/>
            </a:xfrm>
          </p:grpSpPr>
          <p:sp>
            <p:nvSpPr>
              <p:cNvPr id="12" name="TextBox 6"/>
              <p:cNvSpPr txBox="1">
                <a:spLocks noChangeArrowheads="1"/>
              </p:cNvSpPr>
              <p:nvPr/>
            </p:nvSpPr>
            <p:spPr bwMode="auto">
              <a:xfrm>
                <a:off x="-252536"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7.2 </a:t>
                </a:r>
                <a:r>
                  <a:rPr lang="zh-CN" altLang="en-US" sz="3600" b="1" dirty="0">
                    <a:latin typeface="Times New Roman" panose="02020603050405020304" pitchFamily="18" charset="0"/>
                    <a:ea typeface="黑体" panose="02010609060101010101" pitchFamily="49" charset="-122"/>
                  </a:rPr>
                  <a:t>递归的定义</a:t>
                </a:r>
                <a:endParaRPr lang="zh-CN" altLang="en-US" sz="3600" b="1" dirty="0">
                  <a:latin typeface="黑体" panose="02010609060101010101" pitchFamily="49" charset="-122"/>
                  <a:ea typeface="黑体" panose="02010609060101010101" pitchFamily="49" charset="-122"/>
                </a:endParaRPr>
              </a:p>
            </p:txBody>
          </p:sp>
          <p:sp>
            <p:nvSpPr>
              <p:cNvPr id="13"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11" name="图片 10"/>
            <p:cNvPicPr>
              <a:picLocks noChangeAspect="1"/>
            </p:cNvPicPr>
            <p:nvPr/>
          </p:nvPicPr>
          <p:blipFill>
            <a:blip r:embed="rId1" cstate="print"/>
            <a:stretch>
              <a:fillRect/>
            </a:stretch>
          </p:blipFill>
          <p:spPr>
            <a:xfrm>
              <a:off x="1202862" y="2008104"/>
              <a:ext cx="450465" cy="385275"/>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blinds(horizontal)">
                                      <p:cBhvr>
                                        <p:cTn id="15" dur="500"/>
                                        <p:tgtEl>
                                          <p:spTgt spid="6">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Effect transition="in" filter="blinds(horizontal)">
                                      <p:cBhvr>
                                        <p:cTn id="20" dur="500"/>
                                        <p:tgtEl>
                                          <p:spTgt spid="6">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blinds(horizontal)">
                                      <p:cBhvr>
                                        <p:cTn id="23" dur="500"/>
                                        <p:tgtEl>
                                          <p:spTgt spid="6">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6">
                                            <p:txEl>
                                              <p:pRg st="5" end="5"/>
                                            </p:txEl>
                                          </p:spTgt>
                                        </p:tgtEl>
                                        <p:attrNameLst>
                                          <p:attrName>style.visibility</p:attrName>
                                        </p:attrNameLst>
                                      </p:cBhvr>
                                      <p:to>
                                        <p:strVal val="visible"/>
                                      </p:to>
                                    </p:set>
                                    <p:animEffect transition="in" filter="blinds(horizontal)">
                                      <p:cBhvr>
                                        <p:cTn id="28" dur="500"/>
                                        <p:tgtEl>
                                          <p:spTgt spid="6">
                                            <p:txEl>
                                              <p:pRg st="5" end="5"/>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animEffect transition="in" filter="blinds(horizontal)">
                                      <p:cBhvr>
                                        <p:cTn id="31" dur="500"/>
                                        <p:tgtEl>
                                          <p:spTgt spid="6">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6">
                                            <p:txEl>
                                              <p:pRg st="7" end="7"/>
                                            </p:txEl>
                                          </p:spTgt>
                                        </p:tgtEl>
                                        <p:attrNameLst>
                                          <p:attrName>style.visibility</p:attrName>
                                        </p:attrNameLst>
                                      </p:cBhvr>
                                      <p:to>
                                        <p:strVal val="visible"/>
                                      </p:to>
                                    </p:set>
                                    <p:animEffect transition="in" filter="blinds(horizontal)">
                                      <p:cBhvr>
                                        <p:cTn id="36"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122"/>
          <p:cNvSpPr>
            <a:spLocks noGrp="1" noChangeArrowheads="1"/>
          </p:cNvSpPr>
          <p:nvPr>
            <p:ph idx="1"/>
          </p:nvPr>
        </p:nvSpPr>
        <p:spPr>
          <a:xfrm>
            <a:off x="460714" y="983601"/>
            <a:ext cx="8575781" cy="5325719"/>
          </a:xfrm>
        </p:spPr>
        <p:txBody>
          <a:bodyPr/>
          <a:lstStyle/>
          <a:p>
            <a:pPr>
              <a:lnSpc>
                <a:spcPct val="90000"/>
              </a:lnSpc>
              <a:buClr>
                <a:srgbClr val="FF0000"/>
              </a:buClr>
              <a:buFont typeface="Wingdings" panose="05000000000000000000" pitchFamily="2" charset="2"/>
              <a:buChar char="Ø"/>
            </a:pPr>
            <a:r>
              <a:rPr lang="en-US" altLang="zh-CN" sz="2800" b="1" dirty="0">
                <a:solidFill>
                  <a:srgbClr val="FF0000"/>
                </a:solidFill>
              </a:rPr>
              <a:t>7.2.1 </a:t>
            </a:r>
            <a:r>
              <a:rPr lang="zh-CN" altLang="en-US" sz="2800" b="1" dirty="0">
                <a:solidFill>
                  <a:srgbClr val="FF0000"/>
                </a:solidFill>
              </a:rPr>
              <a:t>递归的定义</a:t>
            </a:r>
            <a:endParaRPr lang="zh-CN" altLang="en-US" sz="2800" b="1" dirty="0"/>
          </a:p>
          <a:p>
            <a:pPr>
              <a:lnSpc>
                <a:spcPct val="150000"/>
              </a:lnSpc>
              <a:buFont typeface="Wingdings" panose="05000000000000000000" pitchFamily="2" charset="2"/>
              <a:buNone/>
            </a:pPr>
            <a:r>
              <a:rPr lang="zh-CN" altLang="en-US" sz="2400" b="1" dirty="0"/>
              <a:t>    </a:t>
            </a:r>
            <a:r>
              <a:rPr lang="en-US" altLang="zh-CN" sz="2400" b="1" dirty="0"/>
              <a:t>(1) </a:t>
            </a:r>
            <a:r>
              <a:rPr lang="zh-CN" altLang="en-US" sz="2400" b="1" dirty="0"/>
              <a:t>作为一种</a:t>
            </a:r>
            <a:r>
              <a:rPr lang="zh-CN" altLang="en-US" sz="2400" b="1" dirty="0">
                <a:solidFill>
                  <a:srgbClr val="FF0000"/>
                </a:solidFill>
              </a:rPr>
              <a:t>程序形式</a:t>
            </a:r>
            <a:r>
              <a:rPr lang="zh-CN" altLang="en-US" sz="2400" b="1" dirty="0"/>
              <a:t>的</a:t>
            </a:r>
            <a:r>
              <a:rPr lang="zh-CN" altLang="en-US" sz="2400" b="1" dirty="0">
                <a:solidFill>
                  <a:srgbClr val="0000FF"/>
                </a:solidFill>
              </a:rPr>
              <a:t>递归</a:t>
            </a:r>
            <a:r>
              <a:rPr lang="zh-CN" altLang="en-US" sz="2400" b="1" dirty="0"/>
              <a:t>：</a:t>
            </a:r>
            <a:endParaRPr lang="zh-CN" altLang="en-US" sz="2400" b="1" dirty="0"/>
          </a:p>
          <a:p>
            <a:pPr>
              <a:lnSpc>
                <a:spcPct val="150000"/>
              </a:lnSpc>
              <a:buFont typeface="Wingdings" panose="05000000000000000000" pitchFamily="2" charset="2"/>
              <a:buNone/>
            </a:pPr>
            <a:r>
              <a:rPr lang="zh-CN" altLang="en-US" sz="2400" b="1" dirty="0"/>
              <a:t>          在函数（子程序）的执行过程中调用自身。</a:t>
            </a:r>
            <a:endParaRPr lang="en-US" altLang="zh-CN" sz="2400" b="1" dirty="0"/>
          </a:p>
          <a:p>
            <a:pPr lvl="2">
              <a:lnSpc>
                <a:spcPct val="150000"/>
              </a:lnSpc>
              <a:buClr>
                <a:srgbClr val="FF0000"/>
              </a:buClr>
              <a:buFont typeface="Wingdings" panose="05000000000000000000" pitchFamily="2" charset="2"/>
              <a:buChar char="n"/>
            </a:pPr>
            <a:r>
              <a:rPr lang="zh-CN" altLang="en-US" b="1" dirty="0"/>
              <a:t> 有两种调用形式：</a:t>
            </a:r>
            <a:endParaRPr lang="zh-CN" altLang="en-US" b="1" dirty="0"/>
          </a:p>
          <a:p>
            <a:pPr>
              <a:lnSpc>
                <a:spcPct val="150000"/>
              </a:lnSpc>
              <a:buFont typeface="Wingdings" panose="05000000000000000000" pitchFamily="2" charset="2"/>
              <a:buNone/>
            </a:pPr>
            <a:r>
              <a:rPr lang="zh-CN" altLang="en-US" sz="2400" b="1" dirty="0">
                <a:solidFill>
                  <a:schemeClr val="accent2"/>
                </a:solidFill>
              </a:rPr>
              <a:t>                 </a:t>
            </a:r>
            <a:r>
              <a:rPr lang="zh-CN" altLang="en-US" sz="2400" b="1" dirty="0">
                <a:solidFill>
                  <a:srgbClr val="FF0000"/>
                </a:solidFill>
              </a:rPr>
              <a:t>直接递归</a:t>
            </a:r>
            <a:r>
              <a:rPr lang="en-US" altLang="zh-CN" sz="2400" b="1" dirty="0"/>
              <a:t>----</a:t>
            </a:r>
            <a:r>
              <a:rPr lang="zh-CN" altLang="en-US" sz="2400" b="1" dirty="0"/>
              <a:t>在函数体内调用自身</a:t>
            </a:r>
            <a:r>
              <a:rPr lang="en-US" altLang="zh-CN" sz="2400" b="1" dirty="0"/>
              <a:t>;</a:t>
            </a:r>
            <a:endParaRPr lang="zh-CN" altLang="en-US" sz="2400" b="1" dirty="0"/>
          </a:p>
          <a:p>
            <a:pPr>
              <a:lnSpc>
                <a:spcPct val="150000"/>
              </a:lnSpc>
              <a:buFont typeface="Wingdings" panose="05000000000000000000" pitchFamily="2" charset="2"/>
              <a:buNone/>
            </a:pPr>
            <a:r>
              <a:rPr lang="zh-CN" altLang="en-US" sz="2400" b="1" dirty="0">
                <a:solidFill>
                  <a:schemeClr val="accent2"/>
                </a:solidFill>
              </a:rPr>
              <a:t>                 </a:t>
            </a:r>
            <a:r>
              <a:rPr lang="zh-CN" altLang="en-US" sz="2400" b="1" dirty="0">
                <a:solidFill>
                  <a:srgbClr val="FF0000"/>
                </a:solidFill>
              </a:rPr>
              <a:t>间接递归</a:t>
            </a:r>
            <a:r>
              <a:rPr lang="en-US" altLang="zh-CN" sz="2400" b="1" dirty="0"/>
              <a:t>----</a:t>
            </a:r>
            <a:r>
              <a:rPr lang="zh-CN" altLang="en-US" sz="2400" b="1" dirty="0"/>
              <a:t>函数中调用其他函数，并由其他函数调</a:t>
            </a:r>
            <a:endParaRPr lang="en-US" altLang="zh-CN" sz="2400" b="1" dirty="0"/>
          </a:p>
          <a:p>
            <a:pPr>
              <a:lnSpc>
                <a:spcPct val="150000"/>
              </a:lnSpc>
              <a:buFont typeface="Wingdings" panose="05000000000000000000" pitchFamily="2" charset="2"/>
              <a:buNone/>
            </a:pPr>
            <a:r>
              <a:rPr lang="en-US" altLang="zh-CN" sz="2400" b="1" dirty="0"/>
              <a:t>                                      </a:t>
            </a:r>
            <a:r>
              <a:rPr lang="zh-CN" altLang="en-US" sz="2400" b="1" dirty="0"/>
              <a:t>用自身</a:t>
            </a:r>
            <a:r>
              <a:rPr lang="en-US" altLang="zh-CN" sz="2400" b="1" dirty="0"/>
              <a:t>;</a:t>
            </a:r>
            <a:endParaRPr lang="zh-CN" altLang="en-US" sz="2400" b="1" dirty="0">
              <a:solidFill>
                <a:schemeClr val="accent2"/>
              </a:solidFill>
            </a:endParaRPr>
          </a:p>
          <a:p>
            <a:pPr>
              <a:lnSpc>
                <a:spcPct val="90000"/>
              </a:lnSpc>
              <a:buFont typeface="Wingdings" panose="05000000000000000000" pitchFamily="2" charset="2"/>
              <a:buNone/>
            </a:pPr>
            <a:endParaRPr lang="zh-CN" altLang="en-US" sz="2400" b="1" dirty="0"/>
          </a:p>
          <a:p>
            <a:pPr>
              <a:lnSpc>
                <a:spcPct val="90000"/>
              </a:lnSpc>
              <a:buFont typeface="Wingdings" panose="05000000000000000000" pitchFamily="2" charset="2"/>
              <a:buNone/>
            </a:pPr>
            <a:r>
              <a:rPr lang="zh-CN" altLang="en-US" sz="2400" b="1" dirty="0"/>
              <a:t>    </a:t>
            </a:r>
            <a:endParaRPr lang="zh-CN" altLang="zh-CN" sz="2000" b="1" dirty="0"/>
          </a:p>
        </p:txBody>
      </p:sp>
      <p:grpSp>
        <p:nvGrpSpPr>
          <p:cNvPr id="9" name="组合 8"/>
          <p:cNvGrpSpPr/>
          <p:nvPr/>
        </p:nvGrpSpPr>
        <p:grpSpPr>
          <a:xfrm>
            <a:off x="-684584" y="80662"/>
            <a:ext cx="7344816" cy="684042"/>
            <a:chOff x="-211511" y="1866348"/>
            <a:chExt cx="7344816" cy="684042"/>
          </a:xfrm>
        </p:grpSpPr>
        <p:grpSp>
          <p:nvGrpSpPr>
            <p:cNvPr id="10" name="组合 9"/>
            <p:cNvGrpSpPr/>
            <p:nvPr/>
          </p:nvGrpSpPr>
          <p:grpSpPr>
            <a:xfrm>
              <a:off x="-211511" y="1866348"/>
              <a:ext cx="7344816" cy="684042"/>
              <a:chOff x="-252536" y="1326432"/>
              <a:chExt cx="7344816" cy="684042"/>
            </a:xfrm>
          </p:grpSpPr>
          <p:sp>
            <p:nvSpPr>
              <p:cNvPr id="12" name="TextBox 6"/>
              <p:cNvSpPr txBox="1">
                <a:spLocks noChangeArrowheads="1"/>
              </p:cNvSpPr>
              <p:nvPr/>
            </p:nvSpPr>
            <p:spPr bwMode="auto">
              <a:xfrm>
                <a:off x="-252536"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7.2 </a:t>
                </a:r>
                <a:r>
                  <a:rPr lang="zh-CN" altLang="en-US" sz="3600" b="1" dirty="0">
                    <a:latin typeface="Times New Roman" panose="02020603050405020304" pitchFamily="18" charset="0"/>
                    <a:ea typeface="黑体" panose="02010609060101010101" pitchFamily="49" charset="-122"/>
                  </a:rPr>
                  <a:t>递归的定义</a:t>
                </a:r>
                <a:endParaRPr lang="zh-CN" altLang="en-US" sz="3600" b="1" dirty="0">
                  <a:latin typeface="黑体" panose="02010609060101010101" pitchFamily="49" charset="-122"/>
                  <a:ea typeface="黑体" panose="02010609060101010101" pitchFamily="49" charset="-122"/>
                </a:endParaRPr>
              </a:p>
            </p:txBody>
          </p:sp>
          <p:sp>
            <p:nvSpPr>
              <p:cNvPr id="13"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11" name="图片 10"/>
            <p:cNvPicPr>
              <a:picLocks noChangeAspect="1"/>
            </p:cNvPicPr>
            <p:nvPr/>
          </p:nvPicPr>
          <p:blipFill>
            <a:blip r:embed="rId1" cstate="print"/>
            <a:stretch>
              <a:fillRect/>
            </a:stretch>
          </p:blipFill>
          <p:spPr>
            <a:xfrm>
              <a:off x="1202862" y="2008104"/>
              <a:ext cx="450465" cy="385275"/>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linds(horizontal)">
                                      <p:cBhvr>
                                        <p:cTn id="17" dur="500"/>
                                        <p:tgtEl>
                                          <p:spTgt spid="6">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Effect transition="in" filter="blinds(horizontal)">
                                      <p:cBhvr>
                                        <p:cTn id="20" dur="500"/>
                                        <p:tgtEl>
                                          <p:spTgt spid="6">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Effect transition="in" filter="blinds(horizontal)">
                                      <p:cBhvr>
                                        <p:cTn id="25" dur="500"/>
                                        <p:tgtEl>
                                          <p:spTgt spid="6">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6">
                                            <p:txEl>
                                              <p:pRg st="5" end="5"/>
                                            </p:txEl>
                                          </p:spTgt>
                                        </p:tgtEl>
                                        <p:attrNameLst>
                                          <p:attrName>style.visibility</p:attrName>
                                        </p:attrNameLst>
                                      </p:cBhvr>
                                      <p:to>
                                        <p:strVal val="visible"/>
                                      </p:to>
                                    </p:set>
                                    <p:animEffect transition="in" filter="blinds(horizontal)">
                                      <p:cBhvr>
                                        <p:cTn id="30" dur="500"/>
                                        <p:tgtEl>
                                          <p:spTgt spid="6">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animEffect transition="in" filter="blinds(horizontal)">
                                      <p:cBhvr>
                                        <p:cTn id="35" dur="500"/>
                                        <p:tgtEl>
                                          <p:spTgt spid="6">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6">
                                            <p:txEl>
                                              <p:pRg st="8" end="8"/>
                                            </p:txEl>
                                          </p:spTgt>
                                        </p:tgtEl>
                                        <p:attrNameLst>
                                          <p:attrName>style.visibility</p:attrName>
                                        </p:attrNameLst>
                                      </p:cBhvr>
                                      <p:to>
                                        <p:strVal val="visible"/>
                                      </p:to>
                                    </p:set>
                                    <p:animEffect transition="in" filter="blinds(horizontal)">
                                      <p:cBhvr>
                                        <p:cTn id="40"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122"/>
          <p:cNvSpPr>
            <a:spLocks noGrp="1" noChangeArrowheads="1"/>
          </p:cNvSpPr>
          <p:nvPr>
            <p:ph idx="1"/>
          </p:nvPr>
        </p:nvSpPr>
        <p:spPr>
          <a:xfrm>
            <a:off x="460714" y="983601"/>
            <a:ext cx="8575781" cy="5325719"/>
          </a:xfrm>
        </p:spPr>
        <p:txBody>
          <a:bodyPr/>
          <a:lstStyle/>
          <a:p>
            <a:pPr>
              <a:lnSpc>
                <a:spcPct val="90000"/>
              </a:lnSpc>
              <a:buClr>
                <a:srgbClr val="FF0000"/>
              </a:buClr>
              <a:buFont typeface="Wingdings" panose="05000000000000000000" pitchFamily="2" charset="2"/>
              <a:buChar char="Ø"/>
            </a:pPr>
            <a:r>
              <a:rPr lang="en-US" altLang="zh-CN" sz="2800" b="1" dirty="0">
                <a:solidFill>
                  <a:srgbClr val="FF0000"/>
                </a:solidFill>
              </a:rPr>
              <a:t>7.2.1 </a:t>
            </a:r>
            <a:r>
              <a:rPr lang="zh-CN" altLang="en-US" sz="2800" b="1" dirty="0">
                <a:solidFill>
                  <a:srgbClr val="FF0000"/>
                </a:solidFill>
              </a:rPr>
              <a:t>递归的定义</a:t>
            </a:r>
            <a:endParaRPr lang="zh-CN" altLang="en-US" sz="2800" b="1" dirty="0"/>
          </a:p>
          <a:p>
            <a:pPr>
              <a:lnSpc>
                <a:spcPct val="150000"/>
              </a:lnSpc>
              <a:buFont typeface="Wingdings" panose="05000000000000000000" pitchFamily="2" charset="2"/>
              <a:buNone/>
            </a:pPr>
            <a:r>
              <a:rPr lang="zh-CN" altLang="en-US" sz="2400" b="1" dirty="0"/>
              <a:t>    </a:t>
            </a:r>
            <a:r>
              <a:rPr lang="en-US" altLang="zh-CN" sz="2400" b="1" dirty="0"/>
              <a:t>(2)  </a:t>
            </a:r>
            <a:r>
              <a:rPr lang="zh-CN" altLang="en-US" sz="2400" b="1" dirty="0"/>
              <a:t>更是作为一种</a:t>
            </a:r>
            <a:r>
              <a:rPr lang="zh-CN" altLang="en-US" sz="2400" b="1" dirty="0">
                <a:solidFill>
                  <a:srgbClr val="FF0000"/>
                </a:solidFill>
              </a:rPr>
              <a:t>程序设计</a:t>
            </a:r>
            <a:r>
              <a:rPr lang="en-US" altLang="zh-CN" sz="2400" b="1" dirty="0">
                <a:solidFill>
                  <a:srgbClr val="FF0000"/>
                </a:solidFill>
              </a:rPr>
              <a:t>(</a:t>
            </a:r>
            <a:r>
              <a:rPr lang="zh-CN" altLang="en-US" sz="2400" b="1" dirty="0">
                <a:solidFill>
                  <a:srgbClr val="FF0000"/>
                </a:solidFill>
              </a:rPr>
              <a:t>算法设计</a:t>
            </a:r>
            <a:r>
              <a:rPr lang="en-US" altLang="zh-CN" sz="2400" b="1" dirty="0">
                <a:solidFill>
                  <a:srgbClr val="FF0000"/>
                </a:solidFill>
              </a:rPr>
              <a:t>)</a:t>
            </a:r>
            <a:r>
              <a:rPr lang="zh-CN" altLang="en-US" sz="2400" b="1" dirty="0">
                <a:solidFill>
                  <a:srgbClr val="FF0000"/>
                </a:solidFill>
              </a:rPr>
              <a:t>的技术</a:t>
            </a:r>
            <a:r>
              <a:rPr lang="zh-CN" altLang="en-US" sz="2400" b="1" dirty="0"/>
              <a:t>的递归。</a:t>
            </a:r>
            <a:endParaRPr lang="zh-CN" altLang="en-US" sz="2400" b="1" dirty="0"/>
          </a:p>
          <a:p>
            <a:pPr lvl="1">
              <a:lnSpc>
                <a:spcPct val="150000"/>
              </a:lnSpc>
              <a:buClr>
                <a:srgbClr val="FF0000"/>
              </a:buClr>
              <a:buFont typeface="Wingdings" panose="05000000000000000000" pitchFamily="2" charset="2"/>
              <a:buChar char="n"/>
            </a:pPr>
            <a:r>
              <a:rPr lang="zh-CN" altLang="en-US" sz="2200" b="1" dirty="0"/>
              <a:t>因为一些问题的求解具有这样的</a:t>
            </a:r>
            <a:r>
              <a:rPr lang="zh-CN" altLang="en-US" sz="2200" b="1" dirty="0">
                <a:solidFill>
                  <a:srgbClr val="FF0000"/>
                </a:solidFill>
              </a:rPr>
              <a:t>特点</a:t>
            </a:r>
            <a:r>
              <a:rPr lang="zh-CN" altLang="en-US" sz="2200" b="1" dirty="0"/>
              <a:t>： </a:t>
            </a:r>
            <a:endParaRPr lang="zh-CN" altLang="en-US" sz="2200" b="1" dirty="0"/>
          </a:p>
          <a:p>
            <a:pPr lvl="2">
              <a:lnSpc>
                <a:spcPct val="150000"/>
              </a:lnSpc>
              <a:buClr>
                <a:srgbClr val="FF0000"/>
              </a:buClr>
              <a:buFont typeface="Arial" panose="020B0604020202020204" pitchFamily="34" charset="0"/>
              <a:buChar char="•"/>
            </a:pPr>
            <a:r>
              <a:rPr lang="zh-CN" altLang="en-US" sz="2200" b="1" dirty="0"/>
              <a:t>原问题可以</a:t>
            </a:r>
            <a:r>
              <a:rPr lang="zh-CN" altLang="en-US" sz="2200" b="1" dirty="0">
                <a:solidFill>
                  <a:srgbClr val="FF0000"/>
                </a:solidFill>
              </a:rPr>
              <a:t>分解</a:t>
            </a:r>
            <a:r>
              <a:rPr lang="zh-CN" altLang="en-US" sz="2200" b="1" dirty="0"/>
              <a:t>为若干子问题分别进行求解</a:t>
            </a:r>
            <a:r>
              <a:rPr lang="en-US" altLang="zh-CN" sz="2200" b="1" dirty="0"/>
              <a:t>;</a:t>
            </a:r>
            <a:endParaRPr lang="zh-CN" altLang="en-US" sz="2200" b="1" dirty="0"/>
          </a:p>
          <a:p>
            <a:pPr lvl="2">
              <a:lnSpc>
                <a:spcPct val="150000"/>
              </a:lnSpc>
              <a:buClr>
                <a:srgbClr val="FF0000"/>
              </a:buClr>
              <a:buFont typeface="Arial" panose="020B0604020202020204" pitchFamily="34" charset="0"/>
              <a:buChar char="•"/>
            </a:pPr>
            <a:r>
              <a:rPr lang="zh-CN" altLang="en-US" sz="2200" b="1" dirty="0"/>
              <a:t>适当地</a:t>
            </a:r>
            <a:r>
              <a:rPr lang="zh-CN" altLang="en-US" sz="2200" b="1" dirty="0">
                <a:solidFill>
                  <a:srgbClr val="FF0000"/>
                </a:solidFill>
              </a:rPr>
              <a:t>合并</a:t>
            </a:r>
            <a:r>
              <a:rPr lang="zh-CN" altLang="en-US" sz="2200" b="1" dirty="0"/>
              <a:t>子问题的解可以得到原问题的解</a:t>
            </a:r>
            <a:r>
              <a:rPr lang="en-US" altLang="zh-CN" sz="2200" b="1" dirty="0"/>
              <a:t>;</a:t>
            </a:r>
            <a:endParaRPr lang="zh-CN" altLang="en-US" sz="2200" b="1" dirty="0"/>
          </a:p>
          <a:p>
            <a:pPr lvl="2">
              <a:lnSpc>
                <a:spcPct val="150000"/>
              </a:lnSpc>
              <a:buClr>
                <a:srgbClr val="FF0000"/>
              </a:buClr>
              <a:buFont typeface="Arial" panose="020B0604020202020204" pitchFamily="34" charset="0"/>
              <a:buChar char="•"/>
            </a:pPr>
            <a:r>
              <a:rPr lang="zh-CN" altLang="en-US" sz="2200" b="1" dirty="0"/>
              <a:t>而子问题的求解方式与原问题的求解相同</a:t>
            </a:r>
            <a:r>
              <a:rPr lang="en-US" altLang="zh-CN" sz="2200" b="1" dirty="0"/>
              <a:t>;</a:t>
            </a:r>
            <a:endParaRPr lang="zh-CN" altLang="en-US" sz="2200" b="1" dirty="0"/>
          </a:p>
          <a:p>
            <a:pPr lvl="2">
              <a:lnSpc>
                <a:spcPct val="150000"/>
              </a:lnSpc>
              <a:buClr>
                <a:srgbClr val="FF0000"/>
              </a:buClr>
              <a:buFont typeface="Arial" panose="020B0604020202020204" pitchFamily="34" charset="0"/>
              <a:buChar char="•"/>
            </a:pPr>
            <a:r>
              <a:rPr lang="zh-CN" altLang="en-US" sz="2200" b="1" dirty="0"/>
              <a:t>因而需要调用</a:t>
            </a:r>
            <a:r>
              <a:rPr lang="zh-CN" altLang="en-US" sz="2200" b="1" dirty="0">
                <a:solidFill>
                  <a:srgbClr val="FF0000"/>
                </a:solidFill>
              </a:rPr>
              <a:t>相同的函数</a:t>
            </a:r>
            <a:r>
              <a:rPr lang="zh-CN" altLang="en-US" sz="2200" b="1" dirty="0"/>
              <a:t>来实现</a:t>
            </a:r>
            <a:r>
              <a:rPr lang="en-US" altLang="zh-CN" sz="2200" b="1" dirty="0"/>
              <a:t>;</a:t>
            </a:r>
            <a:endParaRPr lang="zh-CN" altLang="en-US" sz="2200" b="1" dirty="0"/>
          </a:p>
          <a:p>
            <a:pPr lvl="2">
              <a:lnSpc>
                <a:spcPct val="150000"/>
              </a:lnSpc>
              <a:buClr>
                <a:srgbClr val="FF0000"/>
              </a:buClr>
              <a:buFont typeface="Arial" panose="020B0604020202020204" pitchFamily="34" charset="0"/>
              <a:buChar char="•"/>
            </a:pPr>
            <a:r>
              <a:rPr lang="zh-CN" altLang="en-US" sz="2200" b="1" dirty="0"/>
              <a:t>由此而涉及到递归技术。</a:t>
            </a:r>
            <a:endParaRPr lang="zh-CN" altLang="en-US" sz="2200" b="1" dirty="0"/>
          </a:p>
          <a:p>
            <a:pPr>
              <a:lnSpc>
                <a:spcPct val="90000"/>
              </a:lnSpc>
              <a:buFont typeface="Wingdings" panose="05000000000000000000" pitchFamily="2" charset="2"/>
              <a:buNone/>
            </a:pPr>
            <a:endParaRPr lang="zh-CN" altLang="zh-CN" sz="2000" b="1" dirty="0"/>
          </a:p>
        </p:txBody>
      </p:sp>
      <p:grpSp>
        <p:nvGrpSpPr>
          <p:cNvPr id="9" name="组合 8"/>
          <p:cNvGrpSpPr/>
          <p:nvPr/>
        </p:nvGrpSpPr>
        <p:grpSpPr>
          <a:xfrm>
            <a:off x="-684584" y="80662"/>
            <a:ext cx="7344816" cy="684042"/>
            <a:chOff x="-211511" y="1866348"/>
            <a:chExt cx="7344816" cy="684042"/>
          </a:xfrm>
        </p:grpSpPr>
        <p:grpSp>
          <p:nvGrpSpPr>
            <p:cNvPr id="10" name="组合 9"/>
            <p:cNvGrpSpPr/>
            <p:nvPr/>
          </p:nvGrpSpPr>
          <p:grpSpPr>
            <a:xfrm>
              <a:off x="-211511" y="1866348"/>
              <a:ext cx="7344816" cy="684042"/>
              <a:chOff x="-252536" y="1326432"/>
              <a:chExt cx="7344816" cy="684042"/>
            </a:xfrm>
          </p:grpSpPr>
          <p:sp>
            <p:nvSpPr>
              <p:cNvPr id="12" name="TextBox 6"/>
              <p:cNvSpPr txBox="1">
                <a:spLocks noChangeArrowheads="1"/>
              </p:cNvSpPr>
              <p:nvPr/>
            </p:nvSpPr>
            <p:spPr bwMode="auto">
              <a:xfrm>
                <a:off x="-252536"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7.2 </a:t>
                </a:r>
                <a:r>
                  <a:rPr lang="zh-CN" altLang="en-US" sz="3600" b="1" dirty="0">
                    <a:latin typeface="Times New Roman" panose="02020603050405020304" pitchFamily="18" charset="0"/>
                    <a:ea typeface="黑体" panose="02010609060101010101" pitchFamily="49" charset="-122"/>
                  </a:rPr>
                  <a:t>递归的定义</a:t>
                </a:r>
                <a:endParaRPr lang="zh-CN" altLang="en-US" sz="3600" b="1" dirty="0">
                  <a:latin typeface="黑体" panose="02010609060101010101" pitchFamily="49" charset="-122"/>
                  <a:ea typeface="黑体" panose="02010609060101010101" pitchFamily="49" charset="-122"/>
                </a:endParaRPr>
              </a:p>
            </p:txBody>
          </p:sp>
          <p:sp>
            <p:nvSpPr>
              <p:cNvPr id="13"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11" name="图片 10"/>
            <p:cNvPicPr>
              <a:picLocks noChangeAspect="1"/>
            </p:cNvPicPr>
            <p:nvPr/>
          </p:nvPicPr>
          <p:blipFill>
            <a:blip r:embed="rId1" cstate="print"/>
            <a:stretch>
              <a:fillRect/>
            </a:stretch>
          </p:blipFill>
          <p:spPr>
            <a:xfrm>
              <a:off x="1202862" y="2008104"/>
              <a:ext cx="450465" cy="385275"/>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blinds(horizontal)">
                                      <p:cBhvr>
                                        <p:cTn id="15" dur="500"/>
                                        <p:tgtEl>
                                          <p:spTgt spid="6">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blinds(horizontal)">
                                      <p:cBhvr>
                                        <p:cTn id="18" dur="500"/>
                                        <p:tgtEl>
                                          <p:spTgt spid="6">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Effect transition="in" filter="blinds(horizontal)">
                                      <p:cBhvr>
                                        <p:cTn id="21" dur="500"/>
                                        <p:tgtEl>
                                          <p:spTgt spid="6">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6">
                                            <p:txEl>
                                              <p:pRg st="5" end="5"/>
                                            </p:txEl>
                                          </p:spTgt>
                                        </p:tgtEl>
                                        <p:attrNameLst>
                                          <p:attrName>style.visibility</p:attrName>
                                        </p:attrNameLst>
                                      </p:cBhvr>
                                      <p:to>
                                        <p:strVal val="visible"/>
                                      </p:to>
                                    </p:set>
                                    <p:animEffect transition="in" filter="blinds(horizontal)">
                                      <p:cBhvr>
                                        <p:cTn id="24" dur="500"/>
                                        <p:tgtEl>
                                          <p:spTgt spid="6">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animEffect transition="in" filter="blinds(horizontal)">
                                      <p:cBhvr>
                                        <p:cTn id="27" dur="500"/>
                                        <p:tgtEl>
                                          <p:spTgt spid="6">
                                            <p:txEl>
                                              <p:pRg st="6" end="6"/>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6">
                                            <p:txEl>
                                              <p:pRg st="7" end="7"/>
                                            </p:txEl>
                                          </p:spTgt>
                                        </p:tgtEl>
                                        <p:attrNameLst>
                                          <p:attrName>style.visibility</p:attrName>
                                        </p:attrNameLst>
                                      </p:cBhvr>
                                      <p:to>
                                        <p:strVal val="visible"/>
                                      </p:to>
                                    </p:set>
                                    <p:animEffect transition="in" filter="blinds(horizontal)">
                                      <p:cBhvr>
                                        <p:cTn id="30"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84584" y="80662"/>
            <a:ext cx="7344816" cy="684042"/>
            <a:chOff x="-211511" y="1866348"/>
            <a:chExt cx="7344816" cy="684042"/>
          </a:xfrm>
        </p:grpSpPr>
        <p:grpSp>
          <p:nvGrpSpPr>
            <p:cNvPr id="6" name="组合 5"/>
            <p:cNvGrpSpPr/>
            <p:nvPr/>
          </p:nvGrpSpPr>
          <p:grpSpPr>
            <a:xfrm>
              <a:off x="-211511" y="1866348"/>
              <a:ext cx="7344816" cy="684042"/>
              <a:chOff x="-252536" y="1326432"/>
              <a:chExt cx="7344816" cy="684042"/>
            </a:xfrm>
          </p:grpSpPr>
          <p:sp>
            <p:nvSpPr>
              <p:cNvPr id="8" name="TextBox 6"/>
              <p:cNvSpPr txBox="1">
                <a:spLocks noChangeArrowheads="1"/>
              </p:cNvSpPr>
              <p:nvPr/>
            </p:nvSpPr>
            <p:spPr bwMode="auto">
              <a:xfrm>
                <a:off x="-252536"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7.2 </a:t>
                </a:r>
                <a:r>
                  <a:rPr lang="zh-CN" altLang="en-US" sz="3600" b="1" dirty="0">
                    <a:latin typeface="Times New Roman" panose="02020603050405020304" pitchFamily="18" charset="0"/>
                    <a:ea typeface="黑体" panose="02010609060101010101" pitchFamily="49" charset="-122"/>
                  </a:rPr>
                  <a:t>递归的定义</a:t>
                </a:r>
                <a:endParaRPr lang="zh-CN" altLang="en-US" sz="3600" b="1" dirty="0">
                  <a:latin typeface="黑体" panose="02010609060101010101" pitchFamily="49" charset="-122"/>
                  <a:ea typeface="黑体" panose="02010609060101010101" pitchFamily="49" charset="-122"/>
                </a:endParaRPr>
              </a:p>
            </p:txBody>
          </p:sp>
          <p:sp>
            <p:nvSpPr>
              <p:cNvPr id="9"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7" name="图片 6"/>
            <p:cNvPicPr>
              <a:picLocks noChangeAspect="1"/>
            </p:cNvPicPr>
            <p:nvPr/>
          </p:nvPicPr>
          <p:blipFill>
            <a:blip r:embed="rId1" cstate="print"/>
            <a:stretch>
              <a:fillRect/>
            </a:stretch>
          </p:blipFill>
          <p:spPr>
            <a:xfrm>
              <a:off x="1202862" y="2008104"/>
              <a:ext cx="450465" cy="385275"/>
            </a:xfrm>
            <a:prstGeom prst="rect">
              <a:avLst/>
            </a:prstGeom>
          </p:spPr>
        </p:pic>
      </p:grpSp>
      <p:sp>
        <p:nvSpPr>
          <p:cNvPr id="10" name="内容占位符 6146"/>
          <p:cNvSpPr>
            <a:spLocks noGrp="1" noChangeArrowheads="1"/>
          </p:cNvSpPr>
          <p:nvPr>
            <p:ph idx="1"/>
          </p:nvPr>
        </p:nvSpPr>
        <p:spPr>
          <a:xfrm>
            <a:off x="457200" y="980729"/>
            <a:ext cx="8229600" cy="5112568"/>
          </a:xfrm>
        </p:spPr>
        <p:txBody>
          <a:bodyPr/>
          <a:lstStyle/>
          <a:p>
            <a:pPr>
              <a:buFont typeface="Wingdings" panose="05000000000000000000" pitchFamily="2" charset="2"/>
              <a:buNone/>
            </a:pPr>
            <a:r>
              <a:rPr lang="zh-CN" altLang="en-US" sz="2800" b="1" dirty="0">
                <a:solidFill>
                  <a:srgbClr val="FF0000"/>
                </a:solidFill>
              </a:rPr>
              <a:t>例</a:t>
            </a:r>
            <a:r>
              <a:rPr lang="de-DE" altLang="en-US" sz="2800" b="1" dirty="0">
                <a:solidFill>
                  <a:srgbClr val="FF0000"/>
                </a:solidFill>
              </a:rPr>
              <a:t>7.1</a:t>
            </a:r>
            <a:r>
              <a:rPr lang="de-DE" altLang="en-US" sz="2200" b="1" dirty="0">
                <a:solidFill>
                  <a:srgbClr val="FF0000"/>
                </a:solidFill>
              </a:rPr>
              <a:t>  </a:t>
            </a:r>
            <a:r>
              <a:rPr lang="zh-CN" altLang="en-US" sz="2800" b="1" dirty="0"/>
              <a:t>阶乘</a:t>
            </a:r>
            <a:r>
              <a:rPr lang="de-DE" altLang="en-US" sz="2800" b="1" i="1" dirty="0"/>
              <a:t>n</a:t>
            </a:r>
            <a:r>
              <a:rPr lang="de-DE" altLang="en-US" sz="2800" b="1" dirty="0"/>
              <a:t>!</a:t>
            </a:r>
            <a:r>
              <a:rPr lang="zh-CN" altLang="en-US" sz="2800" b="1" dirty="0"/>
              <a:t>的定义如下：</a:t>
            </a:r>
            <a:endParaRPr lang="zh-CN" altLang="en-US" sz="2800" b="1" dirty="0"/>
          </a:p>
          <a:p>
            <a:pPr lvl="1">
              <a:buFont typeface="Wingdings" panose="05000000000000000000" pitchFamily="2" charset="2"/>
              <a:buNone/>
            </a:pPr>
            <a:endParaRPr lang="en-US" altLang="zh-CN" sz="2800" b="1" dirty="0"/>
          </a:p>
          <a:p>
            <a:pPr lvl="1">
              <a:buFont typeface="Wingdings" panose="05000000000000000000" pitchFamily="2" charset="2"/>
              <a:buNone/>
            </a:pPr>
            <a:endParaRPr lang="en-US" altLang="zh-CN" b="1" dirty="0"/>
          </a:p>
          <a:p>
            <a:pPr lvl="1">
              <a:buFont typeface="Wingdings" panose="05000000000000000000" pitchFamily="2" charset="2"/>
              <a:buNone/>
            </a:pPr>
            <a:endParaRPr lang="en-US" altLang="zh-CN" sz="2800" b="1" dirty="0"/>
          </a:p>
          <a:p>
            <a:pPr lvl="1">
              <a:spcAft>
                <a:spcPts val="600"/>
              </a:spcAft>
              <a:buFont typeface="Wingdings" panose="05000000000000000000" pitchFamily="2" charset="2"/>
              <a:buNone/>
            </a:pPr>
            <a:r>
              <a:rPr lang="zh-CN" altLang="en-US" sz="2500" b="1" dirty="0"/>
              <a:t>对应的求阶乘的</a:t>
            </a:r>
            <a:r>
              <a:rPr lang="zh-CN" altLang="en-US" sz="2500" b="1" dirty="0">
                <a:solidFill>
                  <a:srgbClr val="FF0000"/>
                </a:solidFill>
              </a:rPr>
              <a:t>递归函数</a:t>
            </a:r>
            <a:r>
              <a:rPr lang="zh-CN" altLang="en-US" sz="2500" b="1" dirty="0"/>
              <a:t>如下：</a:t>
            </a:r>
            <a:endParaRPr lang="zh-CN" altLang="en-US" sz="2500" b="1" dirty="0"/>
          </a:p>
          <a:p>
            <a:pPr lvl="2">
              <a:spcBef>
                <a:spcPts val="0"/>
              </a:spcBef>
              <a:buFont typeface="Wingdings" panose="05000000000000000000" pitchFamily="2" charset="2"/>
              <a:buNone/>
            </a:pPr>
            <a:r>
              <a:rPr lang="de-DE" altLang="en-US" sz="2400" b="1" dirty="0"/>
              <a:t> </a:t>
            </a:r>
            <a:r>
              <a:rPr lang="de-DE" altLang="en-US" sz="2400" b="1" dirty="0">
                <a:solidFill>
                  <a:srgbClr val="0000FF"/>
                </a:solidFill>
              </a:rPr>
              <a:t>int</a:t>
            </a:r>
            <a:r>
              <a:rPr lang="de-DE" altLang="en-US" sz="2400" b="1" dirty="0"/>
              <a:t> Fact ( </a:t>
            </a:r>
            <a:r>
              <a:rPr lang="de-DE" altLang="en-US" sz="2400" b="1" dirty="0">
                <a:solidFill>
                  <a:srgbClr val="0000FF"/>
                </a:solidFill>
              </a:rPr>
              <a:t>int</a:t>
            </a:r>
            <a:r>
              <a:rPr lang="de-DE" altLang="en-US" sz="2400" b="1" dirty="0"/>
              <a:t> </a:t>
            </a:r>
            <a:r>
              <a:rPr lang="de-DE" altLang="en-US" sz="2400" b="1" i="1" dirty="0"/>
              <a:t>n </a:t>
            </a:r>
            <a:r>
              <a:rPr lang="de-DE" altLang="en-US" sz="2400" b="1" dirty="0"/>
              <a:t>)</a:t>
            </a:r>
            <a:endParaRPr lang="en-US" altLang="zh-CN" sz="2400" b="1" dirty="0"/>
          </a:p>
          <a:p>
            <a:pPr lvl="2">
              <a:spcBef>
                <a:spcPts val="0"/>
              </a:spcBef>
              <a:buFont typeface="Wingdings" panose="05000000000000000000" pitchFamily="2" charset="2"/>
              <a:buNone/>
            </a:pPr>
            <a:r>
              <a:rPr lang="en-US" altLang="en-US" b="1" dirty="0"/>
              <a:t> </a:t>
            </a:r>
            <a:r>
              <a:rPr lang="de-DE" altLang="en-US" sz="2400" b="1" dirty="0"/>
              <a:t>{                              </a:t>
            </a:r>
            <a:endParaRPr lang="de-DE" altLang="en-US" sz="2400" b="1" dirty="0"/>
          </a:p>
          <a:p>
            <a:pPr lvl="2">
              <a:spcBef>
                <a:spcPts val="0"/>
              </a:spcBef>
              <a:buFont typeface="Wingdings" panose="05000000000000000000" pitchFamily="2" charset="2"/>
              <a:buNone/>
            </a:pPr>
            <a:r>
              <a:rPr lang="de-DE" altLang="en-US" sz="2400" b="1" dirty="0"/>
              <a:t>         </a:t>
            </a:r>
            <a:r>
              <a:rPr lang="de-DE" altLang="en-US" sz="2400" b="1" dirty="0">
                <a:solidFill>
                  <a:srgbClr val="0000FF"/>
                </a:solidFill>
              </a:rPr>
              <a:t>if</a:t>
            </a:r>
            <a:r>
              <a:rPr lang="de-DE" altLang="en-US" sz="2400" b="1" dirty="0"/>
              <a:t> ( </a:t>
            </a:r>
            <a:r>
              <a:rPr lang="de-DE" altLang="en-US" sz="2400" b="1" i="1" dirty="0"/>
              <a:t>n</a:t>
            </a:r>
            <a:r>
              <a:rPr lang="de-DE" altLang="en-US" sz="2400" b="1" dirty="0"/>
              <a:t> == 0 ) </a:t>
            </a:r>
            <a:endParaRPr lang="de-DE" altLang="en-US" sz="2400" b="1" dirty="0"/>
          </a:p>
          <a:p>
            <a:pPr lvl="2">
              <a:spcBef>
                <a:spcPts val="0"/>
              </a:spcBef>
              <a:buFont typeface="Wingdings" panose="05000000000000000000" pitchFamily="2" charset="2"/>
              <a:buNone/>
            </a:pPr>
            <a:r>
              <a:rPr lang="de-DE" altLang="en-US" b="1" dirty="0"/>
              <a:t>                </a:t>
            </a:r>
            <a:r>
              <a:rPr lang="de-DE" altLang="en-US" sz="2400" b="1" dirty="0">
                <a:solidFill>
                  <a:srgbClr val="0000FF"/>
                </a:solidFill>
              </a:rPr>
              <a:t>return</a:t>
            </a:r>
            <a:r>
              <a:rPr lang="de-DE" altLang="en-US" sz="2400" b="1" dirty="0"/>
              <a:t> 1;                        </a:t>
            </a:r>
            <a:endParaRPr lang="de-DE" altLang="en-US" sz="2400" b="1" dirty="0"/>
          </a:p>
          <a:p>
            <a:pPr lvl="2">
              <a:spcBef>
                <a:spcPts val="0"/>
              </a:spcBef>
              <a:buFont typeface="Wingdings" panose="05000000000000000000" pitchFamily="2" charset="2"/>
              <a:buNone/>
            </a:pPr>
            <a:r>
              <a:rPr lang="de-DE" altLang="en-US" sz="2400" b="1" dirty="0"/>
              <a:t>        </a:t>
            </a:r>
            <a:r>
              <a:rPr lang="en-US" altLang="zh-CN" sz="2400" b="1" dirty="0">
                <a:solidFill>
                  <a:srgbClr val="0000FF"/>
                </a:solidFill>
              </a:rPr>
              <a:t>else</a:t>
            </a:r>
            <a:r>
              <a:rPr lang="en-US" altLang="zh-CN" sz="2400" b="1" dirty="0"/>
              <a:t> </a:t>
            </a:r>
            <a:endParaRPr lang="en-US" altLang="zh-CN" sz="2400" b="1" dirty="0"/>
          </a:p>
          <a:p>
            <a:pPr lvl="2">
              <a:spcBef>
                <a:spcPts val="0"/>
              </a:spcBef>
              <a:buFont typeface="Wingdings" panose="05000000000000000000" pitchFamily="2" charset="2"/>
              <a:buNone/>
            </a:pPr>
            <a:r>
              <a:rPr lang="en-US" altLang="zh-CN" b="1" dirty="0">
                <a:solidFill>
                  <a:srgbClr val="0000FF"/>
                </a:solidFill>
              </a:rPr>
              <a:t>               </a:t>
            </a:r>
            <a:r>
              <a:rPr lang="en-US" altLang="zh-CN" sz="2400" b="1" dirty="0">
                <a:solidFill>
                  <a:srgbClr val="0000FF"/>
                </a:solidFill>
              </a:rPr>
              <a:t>return</a:t>
            </a:r>
            <a:r>
              <a:rPr lang="en-US" altLang="zh-CN" sz="2400" b="1" dirty="0"/>
              <a:t> </a:t>
            </a:r>
            <a:r>
              <a:rPr lang="en-US" altLang="zh-CN" sz="2400" b="1" i="1" dirty="0"/>
              <a:t>n</a:t>
            </a:r>
            <a:r>
              <a:rPr lang="en-US" altLang="zh-CN" sz="2400" b="1" dirty="0"/>
              <a:t> * </a:t>
            </a:r>
            <a:r>
              <a:rPr lang="en-US" altLang="zh-CN" b="1" dirty="0"/>
              <a:t>F</a:t>
            </a:r>
            <a:r>
              <a:rPr lang="en-US" altLang="zh-CN" sz="2400" b="1" dirty="0"/>
              <a:t>act( </a:t>
            </a:r>
            <a:r>
              <a:rPr lang="en-US" altLang="zh-CN" sz="2400" b="1" i="1" dirty="0"/>
              <a:t>n</a:t>
            </a:r>
            <a:r>
              <a:rPr lang="en-US" altLang="zh-CN" sz="2400" b="1" dirty="0"/>
              <a:t> – 1 );                 </a:t>
            </a:r>
            <a:endParaRPr lang="en-US" altLang="zh-CN" sz="2400" b="1" dirty="0"/>
          </a:p>
          <a:p>
            <a:pPr lvl="2">
              <a:spcBef>
                <a:spcPts val="0"/>
              </a:spcBef>
              <a:buFont typeface="Wingdings" panose="05000000000000000000" pitchFamily="2" charset="2"/>
              <a:buNone/>
            </a:pPr>
            <a:r>
              <a:rPr lang="en-US" altLang="zh-CN" sz="2400" b="1" dirty="0"/>
              <a:t>   }</a:t>
            </a:r>
            <a:r>
              <a:rPr lang="en-US" altLang="zh-CN" sz="2400" dirty="0"/>
              <a:t> </a:t>
            </a:r>
            <a:endParaRPr lang="zh-CN" altLang="en-US" sz="2400" b="1" dirty="0"/>
          </a:p>
        </p:txBody>
      </p:sp>
      <mc:AlternateContent xmlns:mc="http://schemas.openxmlformats.org/markup-compatibility/2006">
        <mc:Choice xmlns:a14="http://schemas.microsoft.com/office/drawing/2010/main" Requires="a14">
          <p:sp>
            <p:nvSpPr>
              <p:cNvPr id="11" name="矩形 10"/>
              <p:cNvSpPr/>
              <p:nvPr/>
            </p:nvSpPr>
            <p:spPr>
              <a:xfrm>
                <a:off x="1342256" y="1700808"/>
                <a:ext cx="5029943" cy="1053494"/>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2800" i="1">
                          <a:latin typeface="Cambria Math" panose="02040503050406030204" pitchFamily="18" charset="0"/>
                        </a:rPr>
                        <m:t>𝑛</m:t>
                      </m:r>
                      <m:r>
                        <a:rPr lang="zh-CN" altLang="en-US" sz="2800" i="0">
                          <a:latin typeface="Cambria Math" panose="02040503050406030204" pitchFamily="18" charset="0"/>
                        </a:rPr>
                        <m:t>!=</m:t>
                      </m:r>
                      <m:d>
                        <m:dPr>
                          <m:begChr m:val="{"/>
                          <m:endChr m:val=""/>
                          <m:ctrlPr>
                            <a:rPr lang="zh-CN" altLang="en-US" sz="2800" i="1">
                              <a:latin typeface="Cambria Math" panose="02040503050406030204" pitchFamily="18" charset="0"/>
                            </a:rPr>
                          </m:ctrlPr>
                        </m:dPr>
                        <m:e>
                          <m:m>
                            <m:mPr>
                              <m:mcs>
                                <m:mc>
                                  <m:mcPr>
                                    <m:count m:val="2"/>
                                    <m:mcJc m:val="center"/>
                                  </m:mcPr>
                                </m:mc>
                              </m:mcs>
                              <m:ctrlPr>
                                <a:rPr lang="zh-CN" altLang="en-US" sz="2800" i="1">
                                  <a:latin typeface="Cambria Math" panose="02040503050406030204" pitchFamily="18" charset="0"/>
                                </a:rPr>
                              </m:ctrlPr>
                            </m:mPr>
                            <m:mr>
                              <m:e>
                                <m:r>
                                  <a:rPr lang="zh-CN" altLang="en-US" sz="2800" i="0">
                                    <a:latin typeface="Cambria Math" panose="02040503050406030204" pitchFamily="18" charset="0"/>
                                  </a:rPr>
                                  <m:t>1</m:t>
                                </m:r>
                              </m:e>
                              <m:e>
                                <m:r>
                                  <a:rPr lang="zh-CN" altLang="en-US" sz="2800" i="1">
                                    <a:latin typeface="Cambria Math" panose="02040503050406030204" pitchFamily="18" charset="0"/>
                                  </a:rPr>
                                  <m:t>𝑛</m:t>
                                </m:r>
                                <m:r>
                                  <a:rPr lang="zh-CN" altLang="en-US" sz="2800" i="0">
                                    <a:latin typeface="Cambria Math" panose="02040503050406030204" pitchFamily="18" charset="0"/>
                                  </a:rPr>
                                  <m:t>=</m:t>
                                </m:r>
                                <m:r>
                                  <a:rPr lang="zh-CN" altLang="en-US" sz="2800" i="0">
                                    <a:latin typeface="Cambria Math" panose="02040503050406030204" pitchFamily="18" charset="0"/>
                                  </a:rPr>
                                  <m:t>0</m:t>
                                </m:r>
                              </m:e>
                            </m:mr>
                            <m:mr>
                              <m:e>
                                <m:r>
                                  <a:rPr lang="zh-CN" altLang="en-US" sz="2800" i="1">
                                    <a:latin typeface="Cambria Math" panose="02040503050406030204" pitchFamily="18" charset="0"/>
                                  </a:rPr>
                                  <m:t>𝑛</m:t>
                                </m:r>
                                <m:r>
                                  <a:rPr lang="zh-CN" altLang="en-US" sz="2800" i="0">
                                    <a:latin typeface="Cambria Math" panose="02040503050406030204" pitchFamily="18" charset="0"/>
                                  </a:rPr>
                                  <m:t>(</m:t>
                                </m:r>
                                <m:r>
                                  <a:rPr lang="zh-CN" altLang="en-US" sz="2800" i="1">
                                    <a:latin typeface="Cambria Math" panose="02040503050406030204" pitchFamily="18" charset="0"/>
                                  </a:rPr>
                                  <m:t>𝑛</m:t>
                                </m:r>
                                <m:r>
                                  <a:rPr lang="zh-CN" altLang="en-US" sz="2800" i="0">
                                    <a:latin typeface="Cambria Math" panose="02040503050406030204" pitchFamily="18" charset="0"/>
                                  </a:rPr>
                                  <m:t>−</m:t>
                                </m:r>
                                <m:r>
                                  <a:rPr lang="zh-CN" altLang="en-US" sz="2800" i="0">
                                    <a:latin typeface="Cambria Math" panose="02040503050406030204" pitchFamily="18" charset="0"/>
                                  </a:rPr>
                                  <m:t>1</m:t>
                                </m:r>
                                <m:r>
                                  <a:rPr lang="zh-CN" altLang="en-US" sz="2800" i="0">
                                    <a:latin typeface="Cambria Math" panose="02040503050406030204" pitchFamily="18" charset="0"/>
                                  </a:rPr>
                                  <m:t>)!</m:t>
                                </m:r>
                              </m:e>
                              <m:e>
                                <m:r>
                                  <a:rPr lang="zh-CN" altLang="en-US" sz="2800" i="1">
                                    <a:latin typeface="Cambria Math" panose="02040503050406030204" pitchFamily="18" charset="0"/>
                                  </a:rPr>
                                  <m:t>𝑛</m:t>
                                </m:r>
                                <m:r>
                                  <a:rPr lang="zh-CN" altLang="en-US" sz="2800" i="0">
                                    <a:latin typeface="Cambria Math" panose="02040503050406030204" pitchFamily="18" charset="0"/>
                                  </a:rPr>
                                  <m:t>&gt;</m:t>
                                </m:r>
                                <m:r>
                                  <a:rPr lang="zh-CN" altLang="en-US" sz="2800" i="0">
                                    <a:latin typeface="Cambria Math" panose="02040503050406030204" pitchFamily="18" charset="0"/>
                                  </a:rPr>
                                  <m:t>0</m:t>
                                </m:r>
                              </m:e>
                            </m:mr>
                          </m:m>
                        </m:e>
                      </m:d>
                    </m:oMath>
                  </m:oMathPara>
                </a14:m>
                <a:endParaRPr lang="zh-CN" altLang="en-US" sz="2800" dirty="0"/>
              </a:p>
            </p:txBody>
          </p:sp>
        </mc:Choice>
        <mc:Fallback>
          <p:sp>
            <p:nvSpPr>
              <p:cNvPr id="11" name="矩形 10"/>
              <p:cNvSpPr>
                <a:spLocks noRot="1" noChangeAspect="1" noMove="1" noResize="1" noEditPoints="1" noAdjustHandles="1" noChangeArrowheads="1" noChangeShapeType="1" noTextEdit="1"/>
              </p:cNvSpPr>
              <p:nvPr/>
            </p:nvSpPr>
            <p:spPr>
              <a:xfrm>
                <a:off x="1342256" y="1700808"/>
                <a:ext cx="5029943" cy="1053494"/>
              </a:xfrm>
              <a:prstGeom prst="rect">
                <a:avLst/>
              </a:prstGeom>
              <a:blipFill rotWithShape="1">
                <a:blip r:embed="rId2"/>
                <a:stretch>
                  <a:fillRect l="-10" t="-26" r="12" b="29"/>
                </a:stretch>
              </a:blipFill>
            </p:spPr>
            <p:txBody>
              <a:bodyPr/>
              <a:lstStyle/>
              <a:p>
                <a:r>
                  <a:rPr lang="zh-CN" altLang="en-US">
                    <a:noFill/>
                  </a:rPr>
                  <a:t> </a:t>
                </a:r>
              </a:p>
            </p:txBody>
          </p:sp>
        </mc:Fallback>
      </mc:AlternateContent>
      <p:sp>
        <p:nvSpPr>
          <p:cNvPr id="12" name="Text Box 9"/>
          <p:cNvSpPr txBox="1">
            <a:spLocks noChangeArrowheads="1"/>
          </p:cNvSpPr>
          <p:nvPr/>
        </p:nvSpPr>
        <p:spPr bwMode="auto">
          <a:xfrm>
            <a:off x="5580112" y="2749614"/>
            <a:ext cx="3106688" cy="830997"/>
          </a:xfrm>
          <a:prstGeom prst="rect">
            <a:avLst/>
          </a:prstGeom>
          <a:noFill/>
          <a:ln w="2857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dirty="0">
                <a:solidFill>
                  <a:srgbClr val="0000FF"/>
                </a:solidFill>
                <a:latin typeface="Times New Roman" panose="02020603050405020304" pitchFamily="18" charset="0"/>
                <a:ea typeface="宋体" panose="02010600030101010101" pitchFamily="2" charset="-122"/>
              </a:rPr>
              <a:t>函数</a:t>
            </a:r>
            <a:r>
              <a:rPr lang="en-US" altLang="zh-CN" sz="2400" b="1" i="1" dirty="0">
                <a:solidFill>
                  <a:srgbClr val="0000FF"/>
                </a:solidFill>
                <a:latin typeface="Times New Roman" panose="02020603050405020304" pitchFamily="18" charset="0"/>
                <a:ea typeface="宋体" panose="02010600030101010101" pitchFamily="2" charset="-122"/>
              </a:rPr>
              <a:t>n</a:t>
            </a:r>
            <a:r>
              <a:rPr lang="en-US" altLang="zh-CN" sz="2400" dirty="0">
                <a:solidFill>
                  <a:srgbClr val="0000FF"/>
                </a:solidFill>
                <a:latin typeface="Times New Roman" panose="02020603050405020304" pitchFamily="18" charset="0"/>
                <a:ea typeface="宋体" panose="02010600030101010101" pitchFamily="2" charset="-122"/>
              </a:rPr>
              <a:t>!</a:t>
            </a:r>
            <a:r>
              <a:rPr lang="zh-CN" altLang="en-US" sz="2400" dirty="0">
                <a:solidFill>
                  <a:srgbClr val="0000FF"/>
                </a:solidFill>
                <a:latin typeface="Times New Roman" panose="02020603050405020304" pitchFamily="18" charset="0"/>
                <a:ea typeface="宋体" panose="02010600030101010101" pitchFamily="2" charset="-122"/>
              </a:rPr>
              <a:t>的定义中引用自身， 即</a:t>
            </a:r>
            <a:r>
              <a:rPr lang="en-US" altLang="zh-CN" sz="2400" b="1" dirty="0">
                <a:solidFill>
                  <a:srgbClr val="0000FF"/>
                </a:solidFill>
                <a:latin typeface="Times New Roman" panose="02020603050405020304" pitchFamily="18" charset="0"/>
                <a:ea typeface="宋体" panose="02010600030101010101" pitchFamily="2" charset="-122"/>
              </a:rPr>
              <a:t>( </a:t>
            </a:r>
            <a:r>
              <a:rPr lang="en-US" altLang="zh-CN" sz="2400" b="1" i="1" dirty="0">
                <a:solidFill>
                  <a:srgbClr val="0000FF"/>
                </a:solidFill>
                <a:latin typeface="Times New Roman" panose="02020603050405020304" pitchFamily="18" charset="0"/>
                <a:ea typeface="宋体" panose="02010600030101010101" pitchFamily="2" charset="-122"/>
              </a:rPr>
              <a:t>n</a:t>
            </a:r>
            <a:r>
              <a:rPr lang="en-US" altLang="zh-CN" sz="2400" b="1" dirty="0">
                <a:solidFill>
                  <a:srgbClr val="0000FF"/>
                </a:solidFill>
                <a:latin typeface="Times New Roman" panose="02020603050405020304" pitchFamily="18" charset="0"/>
                <a:ea typeface="宋体" panose="02010600030101010101" pitchFamily="2" charset="-122"/>
              </a:rPr>
              <a:t> – 1 )</a:t>
            </a:r>
            <a:r>
              <a:rPr lang="zh-CN" altLang="en-US" sz="2400" b="1" dirty="0">
                <a:solidFill>
                  <a:srgbClr val="0000FF"/>
                </a:solidFill>
                <a:latin typeface="Times New Roman" panose="02020603050405020304" pitchFamily="18" charset="0"/>
                <a:ea typeface="宋体" panose="02010600030101010101" pitchFamily="2" charset="-122"/>
              </a:rPr>
              <a:t>！</a:t>
            </a:r>
            <a:r>
              <a:rPr lang="zh-CN" altLang="en-US" sz="2400" dirty="0">
                <a:solidFill>
                  <a:srgbClr val="0000FF"/>
                </a:solidFill>
                <a:latin typeface="Times New Roman" panose="02020603050405020304" pitchFamily="18" charset="0"/>
                <a:ea typeface="宋体" panose="02010600030101010101" pitchFamily="2" charset="-122"/>
              </a:rPr>
              <a:t> </a:t>
            </a:r>
            <a:endParaRPr lang="zh-CN" altLang="en-US" sz="2400" dirty="0">
              <a:solidFill>
                <a:srgbClr val="0000FF"/>
              </a:solidFill>
              <a:latin typeface="Times New Roman" panose="02020603050405020304" pitchFamily="18" charset="0"/>
              <a:ea typeface="宋体" panose="02010600030101010101" pitchFamily="2" charset="-122"/>
            </a:endParaRPr>
          </a:p>
        </p:txBody>
      </p:sp>
      <p:sp>
        <p:nvSpPr>
          <p:cNvPr id="13" name="Line 10"/>
          <p:cNvSpPr>
            <a:spLocks noChangeShapeType="1"/>
          </p:cNvSpPr>
          <p:nvPr/>
        </p:nvSpPr>
        <p:spPr bwMode="auto">
          <a:xfrm flipH="1" flipV="1">
            <a:off x="4355975" y="2636911"/>
            <a:ext cx="1224134" cy="401626"/>
          </a:xfrm>
          <a:prstGeom prst="line">
            <a:avLst/>
          </a:prstGeom>
          <a:noFill/>
          <a:ln w="2857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FF0000"/>
              </a:solidFill>
            </a:endParaRPr>
          </a:p>
        </p:txBody>
      </p:sp>
      <p:sp>
        <p:nvSpPr>
          <p:cNvPr id="14" name="文本框 13"/>
          <p:cNvSpPr txBox="1">
            <a:spLocks noChangeArrowheads="1"/>
          </p:cNvSpPr>
          <p:nvPr/>
        </p:nvSpPr>
        <p:spPr bwMode="auto">
          <a:xfrm>
            <a:off x="5724125" y="5118283"/>
            <a:ext cx="3240363" cy="830997"/>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p>
            <a:pPr algn="ctr" eaLnBrk="0" hangingPunct="0">
              <a:spcBef>
                <a:spcPct val="50000"/>
              </a:spcBef>
            </a:pPr>
            <a:r>
              <a:rPr lang="zh-CN" altLang="en-US" sz="2400" dirty="0">
                <a:latin typeface="Times New Roman" panose="02020603050405020304" pitchFamily="18" charset="0"/>
                <a:ea typeface="宋体" panose="02010600030101010101" pitchFamily="2" charset="-122"/>
              </a:rPr>
              <a:t>函数</a:t>
            </a:r>
            <a:r>
              <a:rPr lang="en-US" altLang="zh-CN" sz="2400" dirty="0">
                <a:latin typeface="Times New Roman" panose="02020603050405020304" pitchFamily="18" charset="0"/>
                <a:ea typeface="宋体" panose="02010600030101010101" pitchFamily="2" charset="-122"/>
              </a:rPr>
              <a:t>Fact</a:t>
            </a:r>
            <a:r>
              <a:rPr lang="zh-CN" altLang="en-US" sz="2400" dirty="0">
                <a:latin typeface="Times New Roman" panose="02020603050405020304" pitchFamily="18" charset="0"/>
                <a:ea typeface="宋体" panose="02010600030101010101" pitchFamily="2" charset="-122"/>
              </a:rPr>
              <a:t>的函数体内调用自身，即</a:t>
            </a:r>
            <a:r>
              <a:rPr lang="en-US" altLang="zh-CN" sz="2400" b="1" dirty="0">
                <a:solidFill>
                  <a:srgbClr val="FF0000"/>
                </a:solidFill>
                <a:latin typeface="Times New Roman" panose="02020603050405020304" pitchFamily="18" charset="0"/>
                <a:ea typeface="宋体" panose="02010600030101010101" pitchFamily="2" charset="-122"/>
              </a:rPr>
              <a:t>Fact(</a:t>
            </a:r>
            <a:r>
              <a:rPr lang="en-US" altLang="zh-CN" sz="2400" b="1" i="1" dirty="0">
                <a:solidFill>
                  <a:srgbClr val="FF0000"/>
                </a:solidFill>
                <a:latin typeface="Times New Roman" panose="02020603050405020304" pitchFamily="18" charset="0"/>
                <a:ea typeface="宋体" panose="02010600030101010101" pitchFamily="2" charset="-122"/>
              </a:rPr>
              <a:t>n</a:t>
            </a:r>
            <a:r>
              <a:rPr lang="en-US" altLang="zh-CN" sz="2400" b="1" dirty="0">
                <a:solidFill>
                  <a:srgbClr val="FF0000"/>
                </a:solidFill>
                <a:latin typeface="Times New Roman" panose="02020603050405020304" pitchFamily="18" charset="0"/>
                <a:ea typeface="宋体" panose="02010600030101010101" pitchFamily="2" charset="-122"/>
              </a:rPr>
              <a:t>–1)</a:t>
            </a:r>
            <a:r>
              <a:rPr lang="en-US" altLang="zh-CN" sz="2400" b="1"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sp>
        <p:nvSpPr>
          <p:cNvPr id="15" name="椭圆 14"/>
          <p:cNvSpPr>
            <a:spLocks noChangeArrowheads="1"/>
          </p:cNvSpPr>
          <p:nvPr/>
        </p:nvSpPr>
        <p:spPr bwMode="auto">
          <a:xfrm>
            <a:off x="3995936" y="5192716"/>
            <a:ext cx="1584173" cy="682129"/>
          </a:xfrm>
          <a:prstGeom prst="ellipse">
            <a:avLst/>
          </a:prstGeom>
          <a:noFill/>
          <a:ln w="28575">
            <a:solidFill>
              <a:srgbClr val="FF0000"/>
            </a:solidFill>
            <a:prstDash val="sysDot"/>
            <a:rou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blinds(horizontal)">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0">
                                            <p:txEl>
                                              <p:pRg st="11" end="1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blinds(horizontal)">
                                      <p:cBhvr>
                                        <p:cTn id="57" dur="500"/>
                                        <p:tgtEl>
                                          <p:spTgt spid="15"/>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blinds(horizontal)">
                                      <p:cBhvr>
                                        <p:cTn id="6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11" grpId="0" animBg="1"/>
      <p:bldP spid="12" grpId="0" animBg="1" autoUpdateAnimBg="0"/>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684584" y="80662"/>
            <a:ext cx="7344816" cy="684042"/>
            <a:chOff x="-211511" y="1866348"/>
            <a:chExt cx="7344816" cy="684042"/>
          </a:xfrm>
        </p:grpSpPr>
        <p:grpSp>
          <p:nvGrpSpPr>
            <p:cNvPr id="10" name="组合 9"/>
            <p:cNvGrpSpPr/>
            <p:nvPr/>
          </p:nvGrpSpPr>
          <p:grpSpPr>
            <a:xfrm>
              <a:off x="-211511" y="1866348"/>
              <a:ext cx="7344816" cy="684042"/>
              <a:chOff x="-252536" y="1326432"/>
              <a:chExt cx="7344816" cy="684042"/>
            </a:xfrm>
          </p:grpSpPr>
          <p:sp>
            <p:nvSpPr>
              <p:cNvPr id="12" name="TextBox 6"/>
              <p:cNvSpPr txBox="1">
                <a:spLocks noChangeArrowheads="1"/>
              </p:cNvSpPr>
              <p:nvPr/>
            </p:nvSpPr>
            <p:spPr bwMode="auto">
              <a:xfrm>
                <a:off x="-252536"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7.2 </a:t>
                </a:r>
                <a:r>
                  <a:rPr lang="zh-CN" altLang="en-US" sz="3600" b="1" dirty="0">
                    <a:latin typeface="Times New Roman" panose="02020603050405020304" pitchFamily="18" charset="0"/>
                    <a:ea typeface="黑体" panose="02010609060101010101" pitchFamily="49" charset="-122"/>
                  </a:rPr>
                  <a:t>递归的定义</a:t>
                </a:r>
                <a:endParaRPr lang="zh-CN" altLang="en-US" sz="3600" b="1" dirty="0">
                  <a:latin typeface="黑体" panose="02010609060101010101" pitchFamily="49" charset="-122"/>
                  <a:ea typeface="黑体" panose="02010609060101010101" pitchFamily="49" charset="-122"/>
                </a:endParaRPr>
              </a:p>
            </p:txBody>
          </p:sp>
          <p:sp>
            <p:nvSpPr>
              <p:cNvPr id="13"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11" name="图片 10"/>
            <p:cNvPicPr>
              <a:picLocks noChangeAspect="1"/>
            </p:cNvPicPr>
            <p:nvPr/>
          </p:nvPicPr>
          <p:blipFill>
            <a:blip r:embed="rId1" cstate="print"/>
            <a:stretch>
              <a:fillRect/>
            </a:stretch>
          </p:blipFill>
          <p:spPr>
            <a:xfrm>
              <a:off x="1202862" y="2008104"/>
              <a:ext cx="450465" cy="385275"/>
            </a:xfrm>
            <a:prstGeom prst="rect">
              <a:avLst/>
            </a:prstGeom>
          </p:spPr>
        </p:pic>
      </p:grpSp>
      <p:sp>
        <p:nvSpPr>
          <p:cNvPr id="14" name="内容占位符 7170"/>
          <p:cNvSpPr>
            <a:spLocks noGrp="1" noChangeArrowheads="1"/>
          </p:cNvSpPr>
          <p:nvPr>
            <p:ph idx="1"/>
          </p:nvPr>
        </p:nvSpPr>
        <p:spPr>
          <a:xfrm>
            <a:off x="611188" y="1125538"/>
            <a:ext cx="8137525" cy="4967287"/>
          </a:xfrm>
        </p:spPr>
        <p:txBody>
          <a:bodyPr/>
          <a:lstStyle/>
          <a:p>
            <a:pPr>
              <a:lnSpc>
                <a:spcPct val="90000"/>
              </a:lnSpc>
              <a:buFont typeface="Wingdings" panose="05000000000000000000" pitchFamily="2" charset="2"/>
              <a:buNone/>
            </a:pPr>
            <a:r>
              <a:rPr lang="zh-CN" altLang="en-US" sz="2400" b="1" dirty="0">
                <a:solidFill>
                  <a:srgbClr val="FF0000"/>
                </a:solidFill>
              </a:rPr>
              <a:t>例 </a:t>
            </a:r>
            <a:r>
              <a:rPr lang="en-US" altLang="zh-CN" sz="2400" b="1" dirty="0">
                <a:solidFill>
                  <a:srgbClr val="FF0000"/>
                </a:solidFill>
              </a:rPr>
              <a:t>7.2  </a:t>
            </a:r>
            <a:r>
              <a:rPr lang="zh-CN" altLang="en-US" sz="2400" b="1" dirty="0"/>
              <a:t>一个递归函数</a:t>
            </a:r>
            <a:r>
              <a:rPr lang="de-DE" altLang="en-US" sz="2400" b="1" i="1" dirty="0"/>
              <a:t>f</a:t>
            </a:r>
            <a:r>
              <a:rPr lang="de-DE" altLang="en-US" sz="2400" b="1" i="1" baseline="-25000" dirty="0"/>
              <a:t>n</a:t>
            </a:r>
            <a:r>
              <a:rPr lang="zh-CN" altLang="en-US" sz="2400" b="1" dirty="0"/>
              <a:t>的定义</a:t>
            </a:r>
            <a:r>
              <a:rPr lang="en-US" altLang="zh-CN" sz="2400" b="1" dirty="0"/>
              <a:t>----</a:t>
            </a:r>
            <a:r>
              <a:rPr lang="zh-CN" altLang="en-US" sz="2400" b="1" dirty="0">
                <a:solidFill>
                  <a:srgbClr val="FF0000"/>
                </a:solidFill>
              </a:rPr>
              <a:t>斐波诺契函数</a:t>
            </a:r>
            <a:r>
              <a:rPr lang="zh-CN" altLang="en-US" sz="2400" b="1" dirty="0"/>
              <a:t>：</a:t>
            </a:r>
            <a:endParaRPr lang="zh-CN" altLang="en-US" sz="2400" b="1" dirty="0"/>
          </a:p>
          <a:p>
            <a:pPr lvl="2">
              <a:lnSpc>
                <a:spcPct val="90000"/>
              </a:lnSpc>
              <a:buFont typeface="Wingdings" panose="05000000000000000000" pitchFamily="2" charset="2"/>
              <a:buNone/>
            </a:pPr>
            <a:r>
              <a:rPr lang="de-DE" altLang="en-US" sz="2400" b="1" dirty="0"/>
              <a:t>           </a:t>
            </a:r>
            <a:endParaRPr lang="de-DE" altLang="en-US" sz="2400" b="1" dirty="0"/>
          </a:p>
          <a:p>
            <a:pPr lvl="2">
              <a:lnSpc>
                <a:spcPct val="90000"/>
              </a:lnSpc>
              <a:buFont typeface="Wingdings" panose="05000000000000000000" pitchFamily="2" charset="2"/>
              <a:buNone/>
            </a:pPr>
            <a:endParaRPr lang="de-DE" altLang="zh-CN" b="1" dirty="0"/>
          </a:p>
          <a:p>
            <a:pPr lvl="2">
              <a:lnSpc>
                <a:spcPct val="90000"/>
              </a:lnSpc>
              <a:buFont typeface="Wingdings" panose="05000000000000000000" pitchFamily="2" charset="2"/>
              <a:buNone/>
            </a:pPr>
            <a:endParaRPr lang="de-DE" altLang="zh-CN" sz="1800" b="1" dirty="0"/>
          </a:p>
          <a:p>
            <a:pPr lvl="2">
              <a:lnSpc>
                <a:spcPct val="90000"/>
              </a:lnSpc>
              <a:buFont typeface="Wingdings" panose="05000000000000000000" pitchFamily="2" charset="2"/>
              <a:buNone/>
            </a:pPr>
            <a:endParaRPr lang="de-DE" altLang="zh-CN" sz="1800" b="1" dirty="0"/>
          </a:p>
          <a:p>
            <a:pPr lvl="2">
              <a:lnSpc>
                <a:spcPct val="90000"/>
              </a:lnSpc>
              <a:buFont typeface="Wingdings" panose="05000000000000000000" pitchFamily="2" charset="2"/>
              <a:buNone/>
            </a:pPr>
            <a:endParaRPr lang="zh-CN" altLang="en-US" sz="1800" b="1" dirty="0"/>
          </a:p>
          <a:p>
            <a:pPr>
              <a:lnSpc>
                <a:spcPct val="90000"/>
              </a:lnSpc>
              <a:spcBef>
                <a:spcPts val="1200"/>
              </a:spcBef>
              <a:buFont typeface="Wingdings" panose="05000000000000000000" pitchFamily="2" charset="2"/>
              <a:buNone/>
            </a:pPr>
            <a:r>
              <a:rPr lang="zh-CN" altLang="en-US" sz="2400" b="1" dirty="0">
                <a:solidFill>
                  <a:srgbClr val="FF0000"/>
                </a:solidFill>
              </a:rPr>
              <a:t>例</a:t>
            </a:r>
            <a:r>
              <a:rPr lang="de-DE" altLang="en-US" sz="2400" b="1" dirty="0">
                <a:solidFill>
                  <a:srgbClr val="FF0000"/>
                </a:solidFill>
              </a:rPr>
              <a:t>7.3 </a:t>
            </a:r>
            <a:r>
              <a:rPr lang="zh-CN" altLang="en-US" sz="2400" b="1" dirty="0"/>
              <a:t>一个对链表执行操作的函数，请判断其功能。 </a:t>
            </a:r>
            <a:endParaRPr lang="zh-CN" altLang="en-US" sz="2400" b="1" dirty="0"/>
          </a:p>
          <a:p>
            <a:pPr lvl="1">
              <a:lnSpc>
                <a:spcPct val="90000"/>
              </a:lnSpc>
              <a:buFont typeface="Wingdings" panose="05000000000000000000" pitchFamily="2" charset="2"/>
              <a:buNone/>
            </a:pPr>
            <a:r>
              <a:rPr lang="en-US" altLang="zh-CN" sz="2400" b="1" dirty="0">
                <a:solidFill>
                  <a:srgbClr val="0000FF"/>
                </a:solidFill>
              </a:rPr>
              <a:t>void</a:t>
            </a:r>
            <a:r>
              <a:rPr lang="en-US" altLang="zh-CN" sz="2400" b="1" dirty="0"/>
              <a:t> Print( </a:t>
            </a:r>
            <a:r>
              <a:rPr lang="en-US" altLang="zh-CN" sz="2400" b="1" dirty="0">
                <a:solidFill>
                  <a:srgbClr val="0000FF"/>
                </a:solidFill>
              </a:rPr>
              <a:t>node </a:t>
            </a:r>
            <a:r>
              <a:rPr lang="en-US" altLang="zh-CN" sz="2400" b="1" dirty="0"/>
              <a:t>* </a:t>
            </a:r>
            <a:r>
              <a:rPr lang="en-US" altLang="zh-CN" sz="2400" b="1" i="1" dirty="0"/>
              <a:t>L</a:t>
            </a:r>
            <a:r>
              <a:rPr lang="en-US" altLang="zh-CN" sz="2400" b="1" dirty="0"/>
              <a:t> ){</a:t>
            </a:r>
            <a:endParaRPr lang="en-US" altLang="zh-CN" sz="2400" b="1" dirty="0"/>
          </a:p>
          <a:p>
            <a:pPr lvl="1">
              <a:lnSpc>
                <a:spcPct val="90000"/>
              </a:lnSpc>
              <a:buFont typeface="Wingdings" panose="05000000000000000000" pitchFamily="2" charset="2"/>
              <a:buNone/>
            </a:pPr>
            <a:r>
              <a:rPr lang="en-US" altLang="zh-CN" sz="2400" b="1" dirty="0"/>
              <a:t>        </a:t>
            </a:r>
            <a:r>
              <a:rPr lang="en-US" altLang="zh-CN" sz="2400" b="1" dirty="0">
                <a:solidFill>
                  <a:srgbClr val="0000FF"/>
                </a:solidFill>
              </a:rPr>
              <a:t>if </a:t>
            </a:r>
            <a:r>
              <a:rPr lang="en-US" altLang="zh-CN" sz="2400" b="1" dirty="0"/>
              <a:t>( </a:t>
            </a:r>
            <a:r>
              <a:rPr lang="en-US" altLang="zh-CN" sz="2400" b="1" i="1" dirty="0"/>
              <a:t>L</a:t>
            </a:r>
            <a:r>
              <a:rPr lang="en-US" altLang="zh-CN" sz="2400" b="1" dirty="0"/>
              <a:t> != NULL ){  </a:t>
            </a:r>
            <a:endParaRPr lang="en-US" altLang="zh-CN" sz="2400" b="1" dirty="0"/>
          </a:p>
          <a:p>
            <a:pPr lvl="1">
              <a:lnSpc>
                <a:spcPct val="90000"/>
              </a:lnSpc>
              <a:buFont typeface="Wingdings" panose="05000000000000000000" pitchFamily="2" charset="2"/>
              <a:buNone/>
            </a:pPr>
            <a:r>
              <a:rPr lang="en-US" altLang="zh-CN" sz="2400" b="1" dirty="0">
                <a:solidFill>
                  <a:srgbClr val="0000FF"/>
                </a:solidFill>
              </a:rPr>
              <a:t>             </a:t>
            </a:r>
            <a:r>
              <a:rPr lang="en-US" altLang="zh-CN" sz="2400" b="1" dirty="0" err="1">
                <a:solidFill>
                  <a:srgbClr val="0000FF"/>
                </a:solidFill>
              </a:rPr>
              <a:t>cout</a:t>
            </a:r>
            <a:r>
              <a:rPr lang="en-US" altLang="zh-CN" sz="2400" b="1" dirty="0"/>
              <a:t> &lt;&lt; </a:t>
            </a:r>
            <a:r>
              <a:rPr lang="en-US" altLang="zh-CN" sz="2400" b="1" i="1" dirty="0"/>
              <a:t>L</a:t>
            </a:r>
            <a:r>
              <a:rPr lang="en-US" altLang="zh-CN" sz="2400" b="1" dirty="0"/>
              <a:t> </a:t>
            </a:r>
            <a:r>
              <a:rPr lang="en-US" altLang="zh-CN" sz="2400" dirty="0">
                <a:solidFill>
                  <a:srgbClr val="0000FF"/>
                </a:solidFill>
                <a:cs typeface="Times New Roman" panose="02020603050405020304" pitchFamily="18" charset="0"/>
                <a:sym typeface="Wingdings" panose="05000000000000000000" pitchFamily="2" charset="2"/>
              </a:rPr>
              <a:t></a:t>
            </a:r>
            <a:r>
              <a:rPr lang="en-US" altLang="zh-CN" sz="2400" b="1" dirty="0"/>
              <a:t> data; </a:t>
            </a:r>
            <a:endParaRPr lang="en-US" altLang="zh-CN" sz="2400" b="1" dirty="0"/>
          </a:p>
          <a:p>
            <a:pPr lvl="1">
              <a:lnSpc>
                <a:spcPct val="90000"/>
              </a:lnSpc>
              <a:buFont typeface="Wingdings" panose="05000000000000000000" pitchFamily="2" charset="2"/>
              <a:buNone/>
            </a:pPr>
            <a:r>
              <a:rPr lang="en-US" altLang="zh-CN" sz="2400" b="1" dirty="0"/>
              <a:t>             Print( </a:t>
            </a:r>
            <a:r>
              <a:rPr lang="en-US" altLang="zh-CN" sz="2400" b="1" i="1" dirty="0"/>
              <a:t>L</a:t>
            </a:r>
            <a:r>
              <a:rPr lang="en-US" altLang="zh-CN" sz="2400" b="1" dirty="0"/>
              <a:t> </a:t>
            </a:r>
            <a:r>
              <a:rPr lang="en-US" altLang="zh-CN" sz="2400" dirty="0">
                <a:solidFill>
                  <a:srgbClr val="0000FF"/>
                </a:solidFill>
                <a:cs typeface="Times New Roman" panose="02020603050405020304" pitchFamily="18" charset="0"/>
                <a:sym typeface="Wingdings" panose="05000000000000000000" pitchFamily="2" charset="2"/>
              </a:rPr>
              <a:t></a:t>
            </a:r>
            <a:r>
              <a:rPr lang="en-US" altLang="zh-CN" sz="2400" b="1" dirty="0"/>
              <a:t> next ); </a:t>
            </a:r>
            <a:endParaRPr lang="en-US" altLang="zh-CN" sz="2400" b="1" dirty="0"/>
          </a:p>
          <a:p>
            <a:pPr lvl="1">
              <a:lnSpc>
                <a:spcPct val="90000"/>
              </a:lnSpc>
              <a:buFont typeface="Wingdings" panose="05000000000000000000" pitchFamily="2" charset="2"/>
              <a:buNone/>
            </a:pPr>
            <a:r>
              <a:rPr lang="en-US" altLang="zh-CN" sz="2400" b="1" dirty="0"/>
              <a:t>        } </a:t>
            </a:r>
            <a:endParaRPr lang="en-US" altLang="zh-CN" sz="2400" b="1" dirty="0"/>
          </a:p>
          <a:p>
            <a:pPr lvl="1">
              <a:lnSpc>
                <a:spcPct val="90000"/>
              </a:lnSpc>
              <a:buFont typeface="Wingdings" panose="05000000000000000000" pitchFamily="2" charset="2"/>
              <a:buNone/>
            </a:pPr>
            <a:r>
              <a:rPr lang="en-US" altLang="zh-CN" sz="2400" b="1" dirty="0"/>
              <a:t> }</a:t>
            </a:r>
            <a:endParaRPr lang="zh-CN" altLang="en-US" sz="2400" b="1" dirty="0"/>
          </a:p>
        </p:txBody>
      </p:sp>
      <mc:AlternateContent xmlns:mc="http://schemas.openxmlformats.org/markup-compatibility/2006">
        <mc:Choice xmlns:a14="http://schemas.microsoft.com/office/drawing/2010/main" Requires="a14">
          <p:sp>
            <p:nvSpPr>
              <p:cNvPr id="3" name="矩形 2"/>
              <p:cNvSpPr/>
              <p:nvPr/>
            </p:nvSpPr>
            <p:spPr>
              <a:xfrm>
                <a:off x="2483768" y="1700808"/>
                <a:ext cx="4069432" cy="1459887"/>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d>
                        <m:dPr>
                          <m:begChr m:val="{"/>
                          <m:endChr m:val=""/>
                          <m:ctrlPr>
                            <a:rPr lang="zh-CN" altLang="en-US" sz="2400" b="1" i="1">
                              <a:latin typeface="Cambria Math" panose="02040503050406030204" pitchFamily="18" charset="0"/>
                            </a:rPr>
                          </m:ctrlPr>
                        </m:dPr>
                        <m:e>
                          <m:m>
                            <m:mPr>
                              <m:mcs>
                                <m:mc>
                                  <m:mcPr>
                                    <m:count m:val="1"/>
                                    <m:mcJc m:val="center"/>
                                  </m:mcPr>
                                </m:mc>
                              </m:mcs>
                              <m:ctrlPr>
                                <a:rPr lang="zh-CN" altLang="en-US" sz="2400" b="1" i="1">
                                  <a:latin typeface="Cambria Math" panose="02040503050406030204" pitchFamily="18" charset="0"/>
                                </a:rPr>
                              </m:ctrlPr>
                            </m:mPr>
                            <m:mr>
                              <m:e>
                                <m:m>
                                  <m:mPr>
                                    <m:mcs>
                                      <m:mc>
                                        <m:mcPr>
                                          <m:count m:val="2"/>
                                          <m:mcJc m:val="center"/>
                                        </m:mcPr>
                                      </m:mc>
                                    </m:mcs>
                                    <m:ctrlPr>
                                      <a:rPr lang="zh-CN" altLang="en-US" sz="2400" b="1" i="1">
                                        <a:latin typeface="Cambria Math" panose="02040503050406030204" pitchFamily="18" charset="0"/>
                                      </a:rPr>
                                    </m:ctrlPr>
                                  </m:mPr>
                                  <m:mr>
                                    <m:e>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𝒇</m:t>
                                          </m:r>
                                        </m:e>
                                        <m:sub>
                                          <m:r>
                                            <a:rPr lang="zh-CN" altLang="en-US" sz="2400" b="1" i="0">
                                              <a:latin typeface="Cambria Math" panose="02040503050406030204" pitchFamily="18" charset="0"/>
                                            </a:rPr>
                                            <m:t>𝟏</m:t>
                                          </m:r>
                                        </m:sub>
                                      </m:sSub>
                                      <m:r>
                                        <a:rPr lang="zh-CN" altLang="en-US" sz="2400" b="1" i="0">
                                          <a:latin typeface="Cambria Math" panose="02040503050406030204" pitchFamily="18" charset="0"/>
                                        </a:rPr>
                                        <m:t>=</m:t>
                                      </m:r>
                                      <m:r>
                                        <a:rPr lang="zh-CN" altLang="en-US" sz="2400" b="1" i="0">
                                          <a:latin typeface="Cambria Math" panose="02040503050406030204" pitchFamily="18" charset="0"/>
                                        </a:rPr>
                                        <m:t>𝟏</m:t>
                                      </m:r>
                                    </m:e>
                                    <m:e>
                                      <m:r>
                                        <a:rPr lang="zh-CN" altLang="en-US" sz="2400" b="1" i="1">
                                          <a:latin typeface="Cambria Math" panose="02040503050406030204" pitchFamily="18" charset="0"/>
                                        </a:rPr>
                                        <m:t>𝒏</m:t>
                                      </m:r>
                                      <m:r>
                                        <a:rPr lang="zh-CN" altLang="en-US" sz="2400" b="1" i="0">
                                          <a:latin typeface="Cambria Math" panose="02040503050406030204" pitchFamily="18" charset="0"/>
                                        </a:rPr>
                                        <m:t>=</m:t>
                                      </m:r>
                                      <m:r>
                                        <a:rPr lang="zh-CN" altLang="en-US" sz="2400" b="1" i="0">
                                          <a:latin typeface="Cambria Math" panose="02040503050406030204" pitchFamily="18" charset="0"/>
                                        </a:rPr>
                                        <m:t>𝟏</m:t>
                                      </m:r>
                                    </m:e>
                                  </m:mr>
                                </m:m>
                              </m:e>
                            </m:mr>
                            <m:mr>
                              <m:e>
                                <m:m>
                                  <m:mPr>
                                    <m:mcs>
                                      <m:mc>
                                        <m:mcPr>
                                          <m:count m:val="2"/>
                                          <m:mcJc m:val="center"/>
                                        </m:mcPr>
                                      </m:mc>
                                    </m:mcs>
                                    <m:ctrlPr>
                                      <a:rPr lang="zh-CN" altLang="en-US" sz="2400" b="1" i="1">
                                        <a:latin typeface="Cambria Math" panose="02040503050406030204" pitchFamily="18" charset="0"/>
                                      </a:rPr>
                                    </m:ctrlPr>
                                  </m:mPr>
                                  <m:mr>
                                    <m:e>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𝒇</m:t>
                                          </m:r>
                                        </m:e>
                                        <m:sub>
                                          <m:r>
                                            <a:rPr lang="zh-CN" altLang="en-US" sz="2400" b="1" i="0">
                                              <a:latin typeface="Cambria Math" panose="02040503050406030204" pitchFamily="18" charset="0"/>
                                            </a:rPr>
                                            <m:t>𝟐</m:t>
                                          </m:r>
                                        </m:sub>
                                      </m:sSub>
                                      <m:r>
                                        <a:rPr lang="zh-CN" altLang="en-US" sz="2400" b="1" i="0">
                                          <a:latin typeface="Cambria Math" panose="02040503050406030204" pitchFamily="18" charset="0"/>
                                        </a:rPr>
                                        <m:t>=</m:t>
                                      </m:r>
                                      <m:r>
                                        <a:rPr lang="zh-CN" altLang="en-US" sz="2400" b="1" i="0">
                                          <a:latin typeface="Cambria Math" panose="02040503050406030204" pitchFamily="18" charset="0"/>
                                        </a:rPr>
                                        <m:t>𝟐</m:t>
                                      </m:r>
                                    </m:e>
                                    <m:e>
                                      <m:r>
                                        <a:rPr lang="zh-CN" altLang="en-US" sz="2400" b="1" i="1">
                                          <a:latin typeface="Cambria Math" panose="02040503050406030204" pitchFamily="18" charset="0"/>
                                        </a:rPr>
                                        <m:t>𝒏</m:t>
                                      </m:r>
                                      <m:r>
                                        <a:rPr lang="zh-CN" altLang="en-US" sz="2400" b="1" i="0">
                                          <a:latin typeface="Cambria Math" panose="02040503050406030204" pitchFamily="18" charset="0"/>
                                        </a:rPr>
                                        <m:t>=</m:t>
                                      </m:r>
                                      <m:r>
                                        <a:rPr lang="zh-CN" altLang="en-US" sz="2400" b="1" i="0">
                                          <a:latin typeface="Cambria Math" panose="02040503050406030204" pitchFamily="18" charset="0"/>
                                        </a:rPr>
                                        <m:t>𝟐</m:t>
                                      </m:r>
                                    </m:e>
                                  </m:mr>
                                </m:m>
                              </m:e>
                            </m:mr>
                            <m:mr>
                              <m:e>
                                <m:m>
                                  <m:mPr>
                                    <m:mcs>
                                      <m:mc>
                                        <m:mcPr>
                                          <m:count m:val="2"/>
                                          <m:mcJc m:val="center"/>
                                        </m:mcPr>
                                      </m:mc>
                                    </m:mcs>
                                    <m:ctrlPr>
                                      <a:rPr lang="zh-CN" altLang="en-US" sz="2400" b="1" i="1">
                                        <a:latin typeface="Cambria Math" panose="02040503050406030204" pitchFamily="18" charset="0"/>
                                      </a:rPr>
                                    </m:ctrlPr>
                                  </m:mPr>
                                  <m:mr>
                                    <m:e>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𝒇</m:t>
                                          </m:r>
                                        </m:e>
                                        <m:sub>
                                          <m:r>
                                            <a:rPr lang="zh-CN" altLang="en-US" sz="2400" b="1" i="1">
                                              <a:latin typeface="Cambria Math" panose="02040503050406030204" pitchFamily="18" charset="0"/>
                                            </a:rPr>
                                            <m:t>𝒏</m:t>
                                          </m:r>
                                        </m:sub>
                                      </m:sSub>
                                      <m:r>
                                        <a:rPr lang="zh-CN" altLang="en-US" sz="2400" b="1" i="0">
                                          <a:latin typeface="Cambria Math" panose="02040503050406030204" pitchFamily="18" charset="0"/>
                                        </a:rPr>
                                        <m:t>=</m:t>
                                      </m:r>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𝒇</m:t>
                                          </m:r>
                                        </m:e>
                                        <m:sub>
                                          <m:r>
                                            <a:rPr lang="zh-CN" altLang="en-US" sz="2400" b="1" i="1">
                                              <a:latin typeface="Cambria Math" panose="02040503050406030204" pitchFamily="18" charset="0"/>
                                            </a:rPr>
                                            <m:t>𝒏</m:t>
                                          </m:r>
                                          <m:r>
                                            <a:rPr lang="zh-CN" altLang="en-US" sz="2400" b="1" i="0">
                                              <a:latin typeface="Cambria Math" panose="02040503050406030204" pitchFamily="18" charset="0"/>
                                            </a:rPr>
                                            <m:t>−</m:t>
                                          </m:r>
                                          <m:r>
                                            <a:rPr lang="zh-CN" altLang="en-US" sz="2400" b="1" i="0">
                                              <a:latin typeface="Cambria Math" panose="02040503050406030204" pitchFamily="18" charset="0"/>
                                            </a:rPr>
                                            <m:t>𝟏</m:t>
                                          </m:r>
                                        </m:sub>
                                      </m:sSub>
                                      <m:r>
                                        <a:rPr lang="zh-CN" altLang="en-US" sz="2400" b="1" i="0">
                                          <a:latin typeface="Cambria Math" panose="02040503050406030204" pitchFamily="18" charset="0"/>
                                        </a:rPr>
                                        <m:t>+</m:t>
                                      </m:r>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𝒇</m:t>
                                          </m:r>
                                        </m:e>
                                        <m:sub>
                                          <m:r>
                                            <a:rPr lang="zh-CN" altLang="en-US" sz="2400" b="1" i="1">
                                              <a:latin typeface="Cambria Math" panose="02040503050406030204" pitchFamily="18" charset="0"/>
                                            </a:rPr>
                                            <m:t>𝒏</m:t>
                                          </m:r>
                                          <m:r>
                                            <a:rPr lang="zh-CN" altLang="en-US" sz="2400" b="1" i="0">
                                              <a:latin typeface="Cambria Math" panose="02040503050406030204" pitchFamily="18" charset="0"/>
                                            </a:rPr>
                                            <m:t>−</m:t>
                                          </m:r>
                                          <m:r>
                                            <a:rPr lang="zh-CN" altLang="en-US" sz="2400" b="1" i="0">
                                              <a:latin typeface="Cambria Math" panose="02040503050406030204" pitchFamily="18" charset="0"/>
                                            </a:rPr>
                                            <m:t>𝟐</m:t>
                                          </m:r>
                                        </m:sub>
                                      </m:sSub>
                                    </m:e>
                                    <m:e>
                                      <m:r>
                                        <a:rPr lang="zh-CN" altLang="en-US" sz="2400" b="1" i="1">
                                          <a:latin typeface="Cambria Math" panose="02040503050406030204" pitchFamily="18" charset="0"/>
                                        </a:rPr>
                                        <m:t>𝒏</m:t>
                                      </m:r>
                                      <m:r>
                                        <a:rPr lang="zh-CN" altLang="en-US" sz="2400" b="1" i="0">
                                          <a:latin typeface="Cambria Math" panose="02040503050406030204" pitchFamily="18" charset="0"/>
                                        </a:rPr>
                                        <m:t>&gt;</m:t>
                                      </m:r>
                                      <m:r>
                                        <a:rPr lang="zh-CN" altLang="en-US" sz="2400" b="1" i="0">
                                          <a:latin typeface="Cambria Math" panose="02040503050406030204" pitchFamily="18" charset="0"/>
                                        </a:rPr>
                                        <m:t>𝟐</m:t>
                                      </m:r>
                                    </m:e>
                                  </m:mr>
                                </m:m>
                              </m:e>
                            </m:mr>
                          </m:m>
                        </m:e>
                      </m:d>
                    </m:oMath>
                  </m:oMathPara>
                </a14:m>
                <a:endParaRPr lang="zh-CN" altLang="en-US" sz="2400" b="1" dirty="0"/>
              </a:p>
            </p:txBody>
          </p:sp>
        </mc:Choice>
        <mc:Fallback>
          <p:sp>
            <p:nvSpPr>
              <p:cNvPr id="3" name="矩形 2"/>
              <p:cNvSpPr>
                <a:spLocks noRot="1" noChangeAspect="1" noMove="1" noResize="1" noEditPoints="1" noAdjustHandles="1" noChangeArrowheads="1" noChangeShapeType="1" noTextEdit="1"/>
              </p:cNvSpPr>
              <p:nvPr/>
            </p:nvSpPr>
            <p:spPr>
              <a:xfrm>
                <a:off x="2483768" y="1700808"/>
                <a:ext cx="4069432" cy="1459887"/>
              </a:xfrm>
              <a:prstGeom prst="rect">
                <a:avLst/>
              </a:prstGeom>
              <a:blipFill rotWithShape="1">
                <a:blip r:embed="rId2"/>
                <a:stretch>
                  <a:fillRect l="-7" t="-19" b="21"/>
                </a:stretch>
              </a:blipFill>
            </p:spPr>
            <p:txBody>
              <a:bodyPr/>
              <a:lstStyle/>
              <a:p>
                <a:r>
                  <a:rPr lang="zh-CN" altLang="en-US">
                    <a:noFill/>
                  </a:rPr>
                  <a:t> </a:t>
                </a:r>
              </a:p>
            </p:txBody>
          </p:sp>
        </mc:Fallback>
      </mc:AlternateContent>
      <p:grpSp>
        <p:nvGrpSpPr>
          <p:cNvPr id="15" name="组合 14"/>
          <p:cNvGrpSpPr/>
          <p:nvPr/>
        </p:nvGrpSpPr>
        <p:grpSpPr>
          <a:xfrm>
            <a:off x="2267744" y="5445224"/>
            <a:ext cx="5886078" cy="473076"/>
            <a:chOff x="1619055" y="941769"/>
            <a:chExt cx="5886078" cy="473076"/>
          </a:xfrm>
        </p:grpSpPr>
        <p:grpSp>
          <p:nvGrpSpPr>
            <p:cNvPr id="16" name="组合 15"/>
            <p:cNvGrpSpPr/>
            <p:nvPr/>
          </p:nvGrpSpPr>
          <p:grpSpPr>
            <a:xfrm>
              <a:off x="1619055" y="941769"/>
              <a:ext cx="5701144" cy="473076"/>
              <a:chOff x="1514944" y="2496293"/>
              <a:chExt cx="5701144" cy="473076"/>
            </a:xfrm>
          </p:grpSpPr>
          <p:grpSp>
            <p:nvGrpSpPr>
              <p:cNvPr id="19" name="组合 18"/>
              <p:cNvGrpSpPr/>
              <p:nvPr/>
            </p:nvGrpSpPr>
            <p:grpSpPr bwMode="auto">
              <a:xfrm>
                <a:off x="1514944" y="2496293"/>
                <a:ext cx="5701144" cy="473076"/>
                <a:chOff x="75" y="111"/>
                <a:chExt cx="3471" cy="298"/>
              </a:xfrm>
            </p:grpSpPr>
            <p:sp>
              <p:nvSpPr>
                <p:cNvPr id="21" name="矩形 10253"/>
                <p:cNvSpPr>
                  <a:spLocks noChangeArrowheads="1"/>
                </p:cNvSpPr>
                <p:nvPr/>
              </p:nvSpPr>
              <p:spPr bwMode="auto">
                <a:xfrm>
                  <a:off x="512"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22" name="组合 10254"/>
                <p:cNvGrpSpPr/>
                <p:nvPr/>
              </p:nvGrpSpPr>
              <p:grpSpPr bwMode="auto">
                <a:xfrm>
                  <a:off x="75" y="111"/>
                  <a:ext cx="3471" cy="297"/>
                  <a:chOff x="75" y="111"/>
                  <a:chExt cx="3471" cy="297"/>
                </a:xfrm>
              </p:grpSpPr>
              <p:sp>
                <p:nvSpPr>
                  <p:cNvPr id="23" name="矩形 22"/>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24"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25" name="矩形 24"/>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26" name="矩形 25"/>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27" name="矩形 26"/>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28" name="矩形 27"/>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29" name="矩形 28"/>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30" name="矩形 29"/>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31" name="矩形 30"/>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32"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33" name="矩形 10266"/>
                  <p:cNvSpPr>
                    <a:spLocks noChangeArrowheads="1"/>
                  </p:cNvSpPr>
                  <p:nvPr/>
                </p:nvSpPr>
                <p:spPr bwMode="auto">
                  <a:xfrm>
                    <a:off x="75" y="178"/>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400" b="1" i="1" dirty="0">
                        <a:solidFill>
                          <a:srgbClr val="FF0000"/>
                        </a:solidFill>
                        <a:ea typeface="楷体_GB2312" pitchFamily="49" charset="-122"/>
                      </a:rPr>
                      <a:t>L</a:t>
                    </a:r>
                    <a:endParaRPr lang="en-US" altLang="zh-CN" sz="2400" b="1" i="1" dirty="0">
                      <a:solidFill>
                        <a:srgbClr val="FF0000"/>
                      </a:solidFill>
                      <a:ea typeface="楷体_GB2312" pitchFamily="49" charset="-122"/>
                    </a:endParaRPr>
                  </a:p>
                </p:txBody>
              </p:sp>
              <p:sp>
                <p:nvSpPr>
                  <p:cNvPr id="34"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20" name="直接连接符 10267"/>
              <p:cNvSpPr>
                <a:spLocks noChangeShapeType="1"/>
              </p:cNvSpPr>
              <p:nvPr/>
            </p:nvSpPr>
            <p:spPr bwMode="auto">
              <a:xfrm>
                <a:off x="2465712" y="2751880"/>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7" name="矩形 16"/>
            <p:cNvSpPr/>
            <p:nvPr/>
          </p:nvSpPr>
          <p:spPr bwMode="auto">
            <a:xfrm>
              <a:off x="7319530" y="1051479"/>
              <a:ext cx="185603"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49" charset="-122"/>
                </a:rPr>
                <a:t> ∧</a:t>
              </a:r>
              <a:r>
                <a:rPr lang="en-US" altLang="x-none" sz="2000" noProof="1">
                  <a:latin typeface="Times New Roman" panose="02020603050405020304" pitchFamily="18" charset="0"/>
                  <a:ea typeface="楷体_GB2312" pitchFamily="49" charset="-122"/>
                </a:rPr>
                <a:t> </a:t>
              </a:r>
              <a:endParaRPr lang="en-US" altLang="x-none" sz="2000" noProof="1">
                <a:latin typeface="Times New Roman" panose="02020603050405020304" pitchFamily="18" charset="0"/>
                <a:ea typeface="楷体_GB2312" pitchFamily="49" charset="-122"/>
              </a:endParaRPr>
            </a:p>
          </p:txBody>
        </p:sp>
      </p:grpSp>
      <p:sp>
        <p:nvSpPr>
          <p:cNvPr id="41" name="椭圆 40"/>
          <p:cNvSpPr>
            <a:spLocks noChangeArrowheads="1"/>
          </p:cNvSpPr>
          <p:nvPr/>
        </p:nvSpPr>
        <p:spPr bwMode="auto">
          <a:xfrm>
            <a:off x="3586422" y="2617797"/>
            <a:ext cx="673672" cy="504826"/>
          </a:xfrm>
          <a:prstGeom prst="ellipse">
            <a:avLst/>
          </a:prstGeom>
          <a:noFill/>
          <a:ln w="28575">
            <a:solidFill>
              <a:srgbClr val="FF0000"/>
            </a:solidFill>
            <a:prstDash val="sysDot"/>
            <a:rou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42" name="椭圆 41"/>
          <p:cNvSpPr>
            <a:spLocks noChangeArrowheads="1"/>
          </p:cNvSpPr>
          <p:nvPr/>
        </p:nvSpPr>
        <p:spPr bwMode="auto">
          <a:xfrm>
            <a:off x="4571109" y="2617798"/>
            <a:ext cx="702424" cy="504825"/>
          </a:xfrm>
          <a:prstGeom prst="ellipse">
            <a:avLst/>
          </a:prstGeom>
          <a:noFill/>
          <a:ln w="28575">
            <a:solidFill>
              <a:srgbClr val="FF0000"/>
            </a:solidFill>
            <a:prstDash val="sysDot"/>
            <a:rou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43" name="椭圆 42"/>
          <p:cNvSpPr>
            <a:spLocks noChangeArrowheads="1"/>
          </p:cNvSpPr>
          <p:nvPr/>
        </p:nvSpPr>
        <p:spPr bwMode="auto">
          <a:xfrm>
            <a:off x="1946722" y="4829168"/>
            <a:ext cx="2592388" cy="647700"/>
          </a:xfrm>
          <a:prstGeom prst="ellipse">
            <a:avLst/>
          </a:prstGeom>
          <a:noFill/>
          <a:ln w="28575">
            <a:solidFill>
              <a:srgbClr val="FF0000"/>
            </a:solidFill>
            <a:prstDash val="sysDot"/>
            <a:rou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blinds(horizontal)">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blinds(horizontal)">
                                      <p:cBhvr>
                                        <p:cTn id="22" dur="500"/>
                                        <p:tgtEl>
                                          <p:spTgt spid="42"/>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blinds(horizontal)">
                                      <p:cBhvr>
                                        <p:cTn id="59"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684584" y="80662"/>
            <a:ext cx="7344816" cy="684042"/>
            <a:chOff x="-211511" y="1866348"/>
            <a:chExt cx="7344816" cy="684042"/>
          </a:xfrm>
        </p:grpSpPr>
        <p:grpSp>
          <p:nvGrpSpPr>
            <p:cNvPr id="10" name="组合 9"/>
            <p:cNvGrpSpPr/>
            <p:nvPr/>
          </p:nvGrpSpPr>
          <p:grpSpPr>
            <a:xfrm>
              <a:off x="-211511" y="1866348"/>
              <a:ext cx="7344816" cy="684042"/>
              <a:chOff x="-252536" y="1326432"/>
              <a:chExt cx="7344816" cy="684042"/>
            </a:xfrm>
          </p:grpSpPr>
          <p:sp>
            <p:nvSpPr>
              <p:cNvPr id="12" name="TextBox 6"/>
              <p:cNvSpPr txBox="1">
                <a:spLocks noChangeArrowheads="1"/>
              </p:cNvSpPr>
              <p:nvPr/>
            </p:nvSpPr>
            <p:spPr bwMode="auto">
              <a:xfrm>
                <a:off x="-252536"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7.2 </a:t>
                </a:r>
                <a:r>
                  <a:rPr lang="zh-CN" altLang="en-US" sz="3600" b="1" dirty="0">
                    <a:latin typeface="Times New Roman" panose="02020603050405020304" pitchFamily="18" charset="0"/>
                    <a:ea typeface="黑体" panose="02010609060101010101" pitchFamily="49" charset="-122"/>
                  </a:rPr>
                  <a:t>递归的定义</a:t>
                </a:r>
                <a:endParaRPr lang="zh-CN" altLang="en-US" sz="3600" b="1" dirty="0">
                  <a:latin typeface="黑体" panose="02010609060101010101" pitchFamily="49" charset="-122"/>
                  <a:ea typeface="黑体" panose="02010609060101010101" pitchFamily="49" charset="-122"/>
                </a:endParaRPr>
              </a:p>
            </p:txBody>
          </p:sp>
          <p:sp>
            <p:nvSpPr>
              <p:cNvPr id="13"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11" name="图片 10"/>
            <p:cNvPicPr>
              <a:picLocks noChangeAspect="1"/>
            </p:cNvPicPr>
            <p:nvPr/>
          </p:nvPicPr>
          <p:blipFill>
            <a:blip r:embed="rId1" cstate="print"/>
            <a:stretch>
              <a:fillRect/>
            </a:stretch>
          </p:blipFill>
          <p:spPr>
            <a:xfrm>
              <a:off x="1202862" y="2008104"/>
              <a:ext cx="450465" cy="385275"/>
            </a:xfrm>
            <a:prstGeom prst="rect">
              <a:avLst/>
            </a:prstGeom>
          </p:spPr>
        </p:pic>
      </p:grpSp>
      <p:sp>
        <p:nvSpPr>
          <p:cNvPr id="14" name="内容占位符 2"/>
          <p:cNvSpPr>
            <a:spLocks noGrp="1" noChangeArrowheads="1"/>
          </p:cNvSpPr>
          <p:nvPr>
            <p:ph idx="1"/>
          </p:nvPr>
        </p:nvSpPr>
        <p:spPr>
          <a:xfrm>
            <a:off x="457200" y="980728"/>
            <a:ext cx="8229600" cy="5112569"/>
          </a:xfrm>
        </p:spPr>
        <p:txBody>
          <a:bodyPr/>
          <a:lstStyle/>
          <a:p>
            <a:pPr>
              <a:lnSpc>
                <a:spcPct val="90000"/>
              </a:lnSpc>
              <a:buClr>
                <a:srgbClr val="FF0000"/>
              </a:buClr>
              <a:buFont typeface="Wingdings" panose="05000000000000000000" pitchFamily="2" charset="2"/>
              <a:buChar char="Ø"/>
            </a:pPr>
            <a:r>
              <a:rPr lang="zh-CN" altLang="zh-CN" sz="2800" b="1" dirty="0"/>
              <a:t>递归技术举例</a:t>
            </a:r>
            <a:endParaRPr lang="zh-CN" altLang="zh-CN" sz="2800" b="1" dirty="0"/>
          </a:p>
          <a:p>
            <a:pPr lvl="1">
              <a:lnSpc>
                <a:spcPct val="90000"/>
              </a:lnSpc>
              <a:buClr>
                <a:srgbClr val="FF0000"/>
              </a:buClr>
              <a:buFont typeface="Wingdings" panose="05000000000000000000" pitchFamily="2" charset="2"/>
              <a:buChar char="n"/>
            </a:pPr>
            <a:r>
              <a:rPr lang="zh-CN" altLang="zh-CN" sz="2400" b="1" dirty="0"/>
              <a:t>前面所讨论过的问题及回顾：</a:t>
            </a:r>
            <a:endParaRPr lang="zh-CN" altLang="zh-CN" sz="2400" b="1" dirty="0"/>
          </a:p>
          <a:p>
            <a:pPr>
              <a:lnSpc>
                <a:spcPct val="30000"/>
              </a:lnSpc>
              <a:buFont typeface="Wingdings" panose="05000000000000000000" pitchFamily="2" charset="2"/>
              <a:buNone/>
            </a:pPr>
            <a:r>
              <a:rPr lang="en-US" altLang="zh-CN" sz="2000" b="1" dirty="0"/>
              <a:t>               </a:t>
            </a:r>
            <a:endParaRPr lang="en-US" altLang="zh-CN" sz="2000" b="1" dirty="0"/>
          </a:p>
          <a:p>
            <a:pPr>
              <a:lnSpc>
                <a:spcPct val="90000"/>
              </a:lnSpc>
              <a:buNone/>
            </a:pPr>
            <a:r>
              <a:rPr lang="en-US" altLang="zh-CN" sz="2400" b="1" dirty="0">
                <a:solidFill>
                  <a:srgbClr val="0000FF"/>
                </a:solidFill>
              </a:rPr>
              <a:t>            (1) </a:t>
            </a:r>
            <a:r>
              <a:rPr lang="zh-CN" altLang="zh-CN" sz="2400" b="1" dirty="0">
                <a:solidFill>
                  <a:srgbClr val="0000FF"/>
                </a:solidFill>
              </a:rPr>
              <a:t>走台阶的问题</a:t>
            </a:r>
            <a:endParaRPr lang="zh-CN" altLang="zh-CN" sz="2400" b="1" dirty="0">
              <a:solidFill>
                <a:srgbClr val="0000FF"/>
              </a:solidFill>
            </a:endParaRPr>
          </a:p>
          <a:p>
            <a:pPr>
              <a:lnSpc>
                <a:spcPct val="90000"/>
              </a:lnSpc>
              <a:buFont typeface="Wingdings" panose="05000000000000000000" pitchFamily="2" charset="2"/>
              <a:buNone/>
            </a:pPr>
            <a:r>
              <a:rPr lang="zh-CN" altLang="zh-CN" sz="2000" b="1" dirty="0"/>
              <a:t>    </a:t>
            </a:r>
            <a:r>
              <a:rPr lang="en-US" altLang="zh-CN" sz="2000" b="1" dirty="0"/>
              <a:t>            </a:t>
            </a:r>
            <a:r>
              <a:rPr lang="zh-CN" altLang="zh-CN" sz="2000" b="1" dirty="0">
                <a:solidFill>
                  <a:srgbClr val="FF0000"/>
                </a:solidFill>
              </a:rPr>
              <a:t>分解</a:t>
            </a:r>
            <a:r>
              <a:rPr lang="zh-CN" altLang="zh-CN" sz="2000" b="1" dirty="0"/>
              <a:t>：先走一步（一级台阶或两级台阶）</a:t>
            </a:r>
            <a:endParaRPr lang="zh-CN" altLang="zh-CN" sz="2000" b="1" dirty="0"/>
          </a:p>
          <a:p>
            <a:pPr>
              <a:lnSpc>
                <a:spcPct val="90000"/>
              </a:lnSpc>
              <a:buFont typeface="Wingdings" panose="05000000000000000000" pitchFamily="2" charset="2"/>
              <a:buNone/>
            </a:pPr>
            <a:r>
              <a:rPr lang="en-US" altLang="zh-CN" sz="2000" b="1" dirty="0"/>
              <a:t>         </a:t>
            </a:r>
            <a:r>
              <a:rPr lang="zh-CN" altLang="zh-CN" sz="2000" b="1" dirty="0"/>
              <a:t>        </a:t>
            </a:r>
            <a:r>
              <a:rPr lang="en-US" altLang="zh-CN" sz="2000" b="1" dirty="0"/>
              <a:t>----</a:t>
            </a:r>
            <a:r>
              <a:rPr lang="zh-CN" altLang="zh-CN" sz="2000" b="1" dirty="0"/>
              <a:t>将</a:t>
            </a:r>
            <a:r>
              <a:rPr lang="en-US" altLang="zh-CN" sz="2000" b="1" i="1" dirty="0"/>
              <a:t>f</a:t>
            </a:r>
            <a:r>
              <a:rPr lang="en-US" altLang="zh-CN" sz="2000" b="1" dirty="0"/>
              <a:t>(</a:t>
            </a:r>
            <a:r>
              <a:rPr lang="en-US" altLang="zh-CN" sz="2000" b="1" i="1" dirty="0"/>
              <a:t>n</a:t>
            </a:r>
            <a:r>
              <a:rPr lang="en-US" altLang="zh-CN" sz="2000" b="1" dirty="0"/>
              <a:t>)</a:t>
            </a:r>
            <a:r>
              <a:rPr lang="zh-CN" altLang="en-US" sz="2000" b="1" dirty="0"/>
              <a:t>的求解变成了两个子问题的求解</a:t>
            </a:r>
            <a:endParaRPr lang="zh-CN" altLang="en-US" sz="2000" b="1" dirty="0"/>
          </a:p>
          <a:p>
            <a:pPr>
              <a:lnSpc>
                <a:spcPct val="90000"/>
              </a:lnSpc>
              <a:buFont typeface="Wingdings" panose="05000000000000000000" pitchFamily="2" charset="2"/>
              <a:buNone/>
            </a:pPr>
            <a:r>
              <a:rPr lang="zh-CN" altLang="zh-CN" sz="2000" b="1" dirty="0"/>
              <a:t>    </a:t>
            </a:r>
            <a:r>
              <a:rPr lang="en-US" altLang="zh-CN" sz="2000" b="1" dirty="0"/>
              <a:t>           </a:t>
            </a:r>
            <a:r>
              <a:rPr lang="zh-CN" altLang="zh-CN" sz="2000" b="1" dirty="0">
                <a:solidFill>
                  <a:srgbClr val="FF0000"/>
                </a:solidFill>
              </a:rPr>
              <a:t>子问题求解</a:t>
            </a:r>
            <a:r>
              <a:rPr lang="zh-CN" altLang="zh-CN" sz="2000" b="1" dirty="0"/>
              <a:t>：</a:t>
            </a:r>
            <a:endParaRPr lang="zh-CN" altLang="zh-CN" sz="2000" b="1" dirty="0"/>
          </a:p>
          <a:p>
            <a:pPr>
              <a:lnSpc>
                <a:spcPct val="90000"/>
              </a:lnSpc>
              <a:buFont typeface="Wingdings" panose="05000000000000000000" pitchFamily="2" charset="2"/>
              <a:buNone/>
            </a:pPr>
            <a:r>
              <a:rPr lang="zh-CN" altLang="zh-CN" sz="2000" b="1" dirty="0"/>
              <a:t>        </a:t>
            </a:r>
            <a:r>
              <a:rPr lang="en-US" altLang="zh-CN" sz="2000" b="1" dirty="0"/>
              <a:t>              </a:t>
            </a:r>
            <a:r>
              <a:rPr lang="zh-CN" altLang="zh-CN" sz="2000" b="1" dirty="0"/>
              <a:t>两个子问题的求解分别为</a:t>
            </a:r>
            <a:r>
              <a:rPr lang="en-US" altLang="zh-CN" sz="2000" b="1" i="1" dirty="0">
                <a:sym typeface="楷体_GB2312" pitchFamily="49" charset="-122"/>
              </a:rPr>
              <a:t>f</a:t>
            </a:r>
            <a:r>
              <a:rPr lang="en-US" altLang="zh-CN" sz="2000" b="1" dirty="0">
                <a:sym typeface="楷体_GB2312" pitchFamily="49" charset="-122"/>
              </a:rPr>
              <a:t>(</a:t>
            </a:r>
            <a:r>
              <a:rPr lang="en-US" altLang="zh-CN" sz="2000" b="1" i="1" dirty="0">
                <a:sym typeface="楷体_GB2312" pitchFamily="49" charset="-122"/>
              </a:rPr>
              <a:t>n</a:t>
            </a:r>
            <a:r>
              <a:rPr lang="en-US" altLang="zh-CN" sz="2000" b="1" dirty="0">
                <a:sym typeface="楷体_GB2312" pitchFamily="49" charset="-122"/>
              </a:rPr>
              <a:t>-1)</a:t>
            </a:r>
            <a:r>
              <a:rPr lang="zh-CN" altLang="en-US" sz="2000" b="1" dirty="0">
                <a:sym typeface="楷体_GB2312" pitchFamily="49" charset="-122"/>
              </a:rPr>
              <a:t>和</a:t>
            </a:r>
            <a:r>
              <a:rPr lang="en-US" altLang="zh-CN" sz="2000" b="1" i="1" dirty="0">
                <a:sym typeface="楷体_GB2312" pitchFamily="49" charset="-122"/>
              </a:rPr>
              <a:t>f</a:t>
            </a:r>
            <a:r>
              <a:rPr lang="en-US" altLang="zh-CN" sz="2000" b="1" dirty="0">
                <a:sym typeface="楷体_GB2312" pitchFamily="49" charset="-122"/>
              </a:rPr>
              <a:t>(</a:t>
            </a:r>
            <a:r>
              <a:rPr lang="en-US" altLang="zh-CN" sz="2000" b="1" i="1" dirty="0">
                <a:sym typeface="楷体_GB2312" pitchFamily="49" charset="-122"/>
              </a:rPr>
              <a:t>n</a:t>
            </a:r>
            <a:r>
              <a:rPr lang="en-US" altLang="zh-CN" sz="2000" b="1" dirty="0">
                <a:sym typeface="楷体_GB2312" pitchFamily="49" charset="-122"/>
              </a:rPr>
              <a:t>-2)</a:t>
            </a:r>
            <a:endParaRPr lang="en-US" altLang="zh-CN" sz="2000" b="1" dirty="0">
              <a:sym typeface="楷体_GB2312" pitchFamily="49" charset="-122"/>
            </a:endParaRPr>
          </a:p>
          <a:p>
            <a:pPr>
              <a:lnSpc>
                <a:spcPct val="90000"/>
              </a:lnSpc>
              <a:buFont typeface="Wingdings" panose="05000000000000000000" pitchFamily="2" charset="2"/>
              <a:buNone/>
            </a:pPr>
            <a:r>
              <a:rPr lang="en-US" altLang="zh-CN" sz="2000" b="1" dirty="0">
                <a:sym typeface="楷体_GB2312" pitchFamily="49" charset="-122"/>
              </a:rPr>
              <a:t>               </a:t>
            </a:r>
            <a:r>
              <a:rPr lang="zh-CN" altLang="en-US" sz="2000" b="1" dirty="0">
                <a:solidFill>
                  <a:srgbClr val="FF0000"/>
                </a:solidFill>
                <a:sym typeface="楷体_GB2312" pitchFamily="49" charset="-122"/>
              </a:rPr>
              <a:t>合并子问题的解</a:t>
            </a:r>
            <a:r>
              <a:rPr lang="zh-CN" altLang="en-US" sz="2000" b="1" dirty="0">
                <a:sym typeface="楷体_GB2312" pitchFamily="49" charset="-122"/>
              </a:rPr>
              <a:t>：</a:t>
            </a:r>
            <a:endParaRPr lang="zh-CN" altLang="en-US" sz="2000" b="1" dirty="0">
              <a:sym typeface="楷体_GB2312" pitchFamily="49" charset="-122"/>
            </a:endParaRPr>
          </a:p>
          <a:p>
            <a:pPr>
              <a:lnSpc>
                <a:spcPct val="90000"/>
              </a:lnSpc>
              <a:buFont typeface="Wingdings" panose="05000000000000000000" pitchFamily="2" charset="2"/>
              <a:buNone/>
            </a:pPr>
            <a:r>
              <a:rPr lang="zh-CN" altLang="en-US" sz="2000" b="1" dirty="0">
                <a:sym typeface="楷体_GB2312" pitchFamily="49" charset="-122"/>
              </a:rPr>
              <a:t>                       </a:t>
            </a:r>
            <a:r>
              <a:rPr lang="en-US" altLang="zh-CN" sz="2000" b="1" i="1" dirty="0">
                <a:sym typeface="楷体_GB2312" pitchFamily="49" charset="-122"/>
              </a:rPr>
              <a:t>f</a:t>
            </a:r>
            <a:r>
              <a:rPr lang="en-US" altLang="zh-CN" sz="2000" b="1" dirty="0">
                <a:sym typeface="楷体_GB2312" pitchFamily="49" charset="-122"/>
              </a:rPr>
              <a:t>(</a:t>
            </a:r>
            <a:r>
              <a:rPr lang="en-US" altLang="zh-CN" sz="2000" b="1" i="1" dirty="0">
                <a:sym typeface="楷体_GB2312" pitchFamily="49" charset="-122"/>
              </a:rPr>
              <a:t>n</a:t>
            </a:r>
            <a:r>
              <a:rPr lang="en-US" altLang="zh-CN" sz="2000" b="1" dirty="0">
                <a:sym typeface="楷体_GB2312" pitchFamily="49" charset="-122"/>
              </a:rPr>
              <a:t>)=</a:t>
            </a:r>
            <a:r>
              <a:rPr lang="en-US" altLang="zh-CN" sz="2000" b="1" i="1" dirty="0">
                <a:sym typeface="楷体_GB2312" pitchFamily="49" charset="-122"/>
              </a:rPr>
              <a:t>f</a:t>
            </a:r>
            <a:r>
              <a:rPr lang="en-US" altLang="zh-CN" sz="2000" b="1" dirty="0">
                <a:sym typeface="楷体_GB2312" pitchFamily="49" charset="-122"/>
              </a:rPr>
              <a:t>(</a:t>
            </a:r>
            <a:r>
              <a:rPr lang="en-US" altLang="zh-CN" sz="2000" b="1" i="1" dirty="0">
                <a:sym typeface="楷体_GB2312" pitchFamily="49" charset="-122"/>
              </a:rPr>
              <a:t>n</a:t>
            </a:r>
            <a:r>
              <a:rPr lang="en-US" altLang="zh-CN" sz="2000" b="1" dirty="0">
                <a:sym typeface="楷体_GB2312" pitchFamily="49" charset="-122"/>
              </a:rPr>
              <a:t>-1)+</a:t>
            </a:r>
            <a:r>
              <a:rPr lang="en-US" altLang="zh-CN" sz="2000" b="1" i="1" dirty="0">
                <a:sym typeface="楷体_GB2312" pitchFamily="49" charset="-122"/>
              </a:rPr>
              <a:t>f</a:t>
            </a:r>
            <a:r>
              <a:rPr lang="en-US" altLang="zh-CN" sz="2000" b="1" dirty="0">
                <a:sym typeface="楷体_GB2312" pitchFamily="49" charset="-122"/>
              </a:rPr>
              <a:t>(</a:t>
            </a:r>
            <a:r>
              <a:rPr lang="en-US" altLang="zh-CN" sz="2000" b="1" i="1" dirty="0">
                <a:sym typeface="楷体_GB2312" pitchFamily="49" charset="-122"/>
              </a:rPr>
              <a:t>n</a:t>
            </a:r>
            <a:r>
              <a:rPr lang="en-US" altLang="zh-CN" sz="2000" b="1" dirty="0">
                <a:sym typeface="楷体_GB2312" pitchFamily="49" charset="-122"/>
              </a:rPr>
              <a:t>-2)</a:t>
            </a:r>
            <a:endParaRPr lang="en-US" altLang="zh-CN" sz="2000" b="1" dirty="0">
              <a:sym typeface="楷体_GB2312" pitchFamily="49" charset="-122"/>
            </a:endParaRPr>
          </a:p>
          <a:p>
            <a:pPr>
              <a:lnSpc>
                <a:spcPct val="90000"/>
              </a:lnSpc>
              <a:buFont typeface="Wingdings" panose="05000000000000000000" pitchFamily="2" charset="2"/>
              <a:buNone/>
            </a:pPr>
            <a:endParaRPr lang="zh-CN" altLang="en-US" sz="2000" b="1" dirty="0">
              <a:sym typeface="楷体_GB2312" pitchFamily="49" charset="-122"/>
            </a:endParaRPr>
          </a:p>
          <a:p>
            <a:pPr>
              <a:lnSpc>
                <a:spcPct val="90000"/>
              </a:lnSpc>
              <a:buNone/>
            </a:pPr>
            <a:r>
              <a:rPr lang="en-US" altLang="zh-CN" sz="2400" b="1" dirty="0">
                <a:solidFill>
                  <a:srgbClr val="0000FF"/>
                </a:solidFill>
              </a:rPr>
              <a:t>               (2) </a:t>
            </a:r>
            <a:r>
              <a:rPr lang="zh-CN" altLang="zh-CN" sz="2400" b="1" dirty="0">
                <a:solidFill>
                  <a:srgbClr val="0000FF"/>
                </a:solidFill>
              </a:rPr>
              <a:t>求最大公因子</a:t>
            </a:r>
            <a:r>
              <a:rPr lang="en-US" altLang="zh-CN" sz="2400" b="1" dirty="0">
                <a:solidFill>
                  <a:srgbClr val="0000FF"/>
                </a:solidFill>
              </a:rPr>
              <a:t> </a:t>
            </a:r>
            <a:r>
              <a:rPr lang="en-US" altLang="zh-CN" sz="2400" b="1" dirty="0">
                <a:solidFill>
                  <a:srgbClr val="FF0000"/>
                </a:solidFill>
              </a:rPr>
              <a:t>(</a:t>
            </a:r>
            <a:r>
              <a:rPr lang="zh-CN" altLang="en-US" sz="2400" b="1" dirty="0">
                <a:solidFill>
                  <a:srgbClr val="FF0000"/>
                </a:solidFill>
              </a:rPr>
              <a:t>辗转相除法</a:t>
            </a:r>
            <a:r>
              <a:rPr lang="en-US" altLang="zh-CN" sz="2400" b="1" dirty="0">
                <a:solidFill>
                  <a:srgbClr val="FF0000"/>
                </a:solidFill>
              </a:rPr>
              <a:t>)</a:t>
            </a:r>
            <a:endParaRPr lang="zh-CN" altLang="zh-CN" sz="2400" b="1" dirty="0">
              <a:solidFill>
                <a:srgbClr val="FF0000"/>
              </a:solidFill>
            </a:endParaRPr>
          </a:p>
          <a:p>
            <a:pPr>
              <a:lnSpc>
                <a:spcPct val="90000"/>
              </a:lnSpc>
              <a:buFont typeface="Wingdings" panose="05000000000000000000" pitchFamily="2" charset="2"/>
              <a:buNone/>
            </a:pPr>
            <a:r>
              <a:rPr lang="zh-CN" altLang="zh-CN" sz="2000" b="1" dirty="0"/>
              <a:t>   </a:t>
            </a:r>
            <a:r>
              <a:rPr lang="en-US" altLang="zh-CN" sz="2000" b="1" dirty="0"/>
              <a:t>                 </a:t>
            </a:r>
            <a:r>
              <a:rPr lang="zh-CN" altLang="zh-CN" sz="2000" b="1" dirty="0"/>
              <a:t>   </a:t>
            </a:r>
            <a:r>
              <a:rPr lang="en-US" altLang="zh-CN" sz="2000" b="1" dirty="0"/>
              <a:t>  </a:t>
            </a:r>
            <a:r>
              <a:rPr lang="zh-CN" altLang="zh-CN" sz="2000" b="1" dirty="0"/>
              <a:t>如何分解？</a:t>
            </a:r>
            <a:endParaRPr lang="zh-CN" altLang="zh-CN" sz="2000" b="1" dirty="0"/>
          </a:p>
          <a:p>
            <a:pPr>
              <a:lnSpc>
                <a:spcPct val="90000"/>
              </a:lnSpc>
              <a:buFont typeface="Wingdings" panose="05000000000000000000" pitchFamily="2" charset="2"/>
              <a:buNone/>
            </a:pPr>
            <a:r>
              <a:rPr lang="zh-CN" altLang="zh-CN" sz="2000" b="1" dirty="0"/>
              <a:t>      </a:t>
            </a:r>
            <a:r>
              <a:rPr lang="en-US" altLang="zh-CN" sz="2000" b="1" dirty="0"/>
              <a:t>                   </a:t>
            </a:r>
            <a:r>
              <a:rPr lang="zh-CN" altLang="zh-CN" sz="2000" b="1" dirty="0"/>
              <a:t>如何往下求解？</a:t>
            </a:r>
            <a:endParaRPr lang="en-US" altLang="zh-CN" sz="2000" b="1" dirty="0"/>
          </a:p>
          <a:p>
            <a:pPr>
              <a:lnSpc>
                <a:spcPct val="90000"/>
              </a:lnSpc>
              <a:buFont typeface="Wingdings" panose="05000000000000000000" pitchFamily="2" charset="2"/>
              <a:buNone/>
            </a:pPr>
            <a:r>
              <a:rPr lang="zh-CN" altLang="zh-CN" sz="2000" b="1" dirty="0"/>
              <a:t>      </a:t>
            </a:r>
            <a:r>
              <a:rPr lang="en-US" altLang="zh-CN" sz="2000" b="1" dirty="0"/>
              <a:t>                   </a:t>
            </a:r>
            <a:r>
              <a:rPr lang="zh-CN" altLang="zh-CN" sz="2000" b="1" dirty="0"/>
              <a:t>如何由子问题得到原问题的解？</a:t>
            </a:r>
            <a:endParaRPr lang="zh-CN" altLang="zh-CN" sz="2000" b="1" dirty="0"/>
          </a:p>
          <a:p>
            <a:endParaRPr lang="zh-CN" altLang="en-US" dirty="0"/>
          </a:p>
        </p:txBody>
      </p:sp>
      <p:pic>
        <p:nvPicPr>
          <p:cNvPr id="15" name="图片 14"/>
          <p:cNvPicPr>
            <a:picLocks noChangeAspect="1"/>
          </p:cNvPicPr>
          <p:nvPr/>
        </p:nvPicPr>
        <p:blipFill>
          <a:blip r:embed="rId2" cstate="print"/>
          <a:stretch>
            <a:fillRect/>
          </a:stretch>
        </p:blipFill>
        <p:spPr>
          <a:xfrm>
            <a:off x="457200" y="2060848"/>
            <a:ext cx="896476" cy="924558"/>
          </a:xfrm>
          <a:prstGeom prst="rect">
            <a:avLst/>
          </a:prstGeom>
        </p:spPr>
      </p:pic>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blinds(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blinds(horizontal)">
                                      <p:cBhvr>
                                        <p:cTn id="12" dur="5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blinds(horizontal)">
                                      <p:cBhvr>
                                        <p:cTn id="17" dur="500"/>
                                        <p:tgtEl>
                                          <p:spTgt spid="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4">
                                            <p:txEl>
                                              <p:pRg st="3" end="3"/>
                                            </p:txEl>
                                          </p:spTgt>
                                        </p:tgtEl>
                                        <p:attrNameLst>
                                          <p:attrName>style.visibility</p:attrName>
                                        </p:attrNameLst>
                                      </p:cBhvr>
                                      <p:to>
                                        <p:strVal val="visible"/>
                                      </p:to>
                                    </p:set>
                                    <p:animEffect transition="in" filter="blinds(horizontal)">
                                      <p:cBhvr>
                                        <p:cTn id="22" dur="500"/>
                                        <p:tgtEl>
                                          <p:spTgt spid="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500" fill="hold"/>
                                        <p:tgtEl>
                                          <p:spTgt spid="15"/>
                                        </p:tgtEl>
                                        <p:attrNameLst>
                                          <p:attrName>ppt_x</p:attrName>
                                        </p:attrNameLst>
                                      </p:cBhvr>
                                      <p:tavLst>
                                        <p:tav tm="0">
                                          <p:val>
                                            <p:strVal val="#ppt_x"/>
                                          </p:val>
                                        </p:tav>
                                        <p:tav tm="100000">
                                          <p:val>
                                            <p:strVal val="#ppt_x"/>
                                          </p:val>
                                        </p:tav>
                                      </p:tavLst>
                                    </p:anim>
                                    <p:anim calcmode="lin" valueType="num">
                                      <p:cBhvr additive="base">
                                        <p:cTn id="2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4">
                                            <p:txEl>
                                              <p:pRg st="4" end="4"/>
                                            </p:txEl>
                                          </p:spTgt>
                                        </p:tgtEl>
                                        <p:attrNameLst>
                                          <p:attrName>style.visibility</p:attrName>
                                        </p:attrNameLst>
                                      </p:cBhvr>
                                      <p:to>
                                        <p:strVal val="visible"/>
                                      </p:to>
                                    </p:set>
                                    <p:animEffect transition="in" filter="blinds(horizontal)">
                                      <p:cBhvr>
                                        <p:cTn id="33" dur="500"/>
                                        <p:tgtEl>
                                          <p:spTgt spid="14">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14">
                                            <p:txEl>
                                              <p:pRg st="5" end="5"/>
                                            </p:txEl>
                                          </p:spTgt>
                                        </p:tgtEl>
                                        <p:attrNameLst>
                                          <p:attrName>style.visibility</p:attrName>
                                        </p:attrNameLst>
                                      </p:cBhvr>
                                      <p:to>
                                        <p:strVal val="visible"/>
                                      </p:to>
                                    </p:set>
                                    <p:animEffect transition="in" filter="blinds(horizontal)">
                                      <p:cBhvr>
                                        <p:cTn id="38" dur="500"/>
                                        <p:tgtEl>
                                          <p:spTgt spid="14">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4">
                                            <p:txEl>
                                              <p:pRg st="6" end="6"/>
                                            </p:txEl>
                                          </p:spTgt>
                                        </p:tgtEl>
                                        <p:attrNameLst>
                                          <p:attrName>style.visibility</p:attrName>
                                        </p:attrNameLst>
                                      </p:cBhvr>
                                      <p:to>
                                        <p:strVal val="visible"/>
                                      </p:to>
                                    </p:set>
                                    <p:animEffect transition="in" filter="blinds(horizontal)">
                                      <p:cBhvr>
                                        <p:cTn id="43" dur="500"/>
                                        <p:tgtEl>
                                          <p:spTgt spid="14">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14">
                                            <p:txEl>
                                              <p:pRg st="7" end="7"/>
                                            </p:txEl>
                                          </p:spTgt>
                                        </p:tgtEl>
                                        <p:attrNameLst>
                                          <p:attrName>style.visibility</p:attrName>
                                        </p:attrNameLst>
                                      </p:cBhvr>
                                      <p:to>
                                        <p:strVal val="visible"/>
                                      </p:to>
                                    </p:set>
                                    <p:animEffect transition="in" filter="blinds(horizontal)">
                                      <p:cBhvr>
                                        <p:cTn id="48" dur="500"/>
                                        <p:tgtEl>
                                          <p:spTgt spid="14">
                                            <p:txEl>
                                              <p:pRg st="7" end="7"/>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14">
                                            <p:txEl>
                                              <p:pRg st="8" end="8"/>
                                            </p:txEl>
                                          </p:spTgt>
                                        </p:tgtEl>
                                        <p:attrNameLst>
                                          <p:attrName>style.visibility</p:attrName>
                                        </p:attrNameLst>
                                      </p:cBhvr>
                                      <p:to>
                                        <p:strVal val="visible"/>
                                      </p:to>
                                    </p:set>
                                    <p:animEffect transition="in" filter="blinds(horizontal)">
                                      <p:cBhvr>
                                        <p:cTn id="53" dur="500"/>
                                        <p:tgtEl>
                                          <p:spTgt spid="14">
                                            <p:txEl>
                                              <p:pRg st="8" end="8"/>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14">
                                            <p:txEl>
                                              <p:pRg st="9" end="9"/>
                                            </p:txEl>
                                          </p:spTgt>
                                        </p:tgtEl>
                                        <p:attrNameLst>
                                          <p:attrName>style.visibility</p:attrName>
                                        </p:attrNameLst>
                                      </p:cBhvr>
                                      <p:to>
                                        <p:strVal val="visible"/>
                                      </p:to>
                                    </p:set>
                                    <p:animEffect transition="in" filter="blinds(horizontal)">
                                      <p:cBhvr>
                                        <p:cTn id="58" dur="500"/>
                                        <p:tgtEl>
                                          <p:spTgt spid="14">
                                            <p:txEl>
                                              <p:pRg st="9" end="9"/>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14">
                                            <p:txEl>
                                              <p:pRg st="11" end="11"/>
                                            </p:txEl>
                                          </p:spTgt>
                                        </p:tgtEl>
                                        <p:attrNameLst>
                                          <p:attrName>style.visibility</p:attrName>
                                        </p:attrNameLst>
                                      </p:cBhvr>
                                      <p:to>
                                        <p:strVal val="visible"/>
                                      </p:to>
                                    </p:set>
                                    <p:animEffect transition="in" filter="blinds(horizontal)">
                                      <p:cBhvr>
                                        <p:cTn id="63" dur="500"/>
                                        <p:tgtEl>
                                          <p:spTgt spid="14">
                                            <p:txEl>
                                              <p:pRg st="11" end="11"/>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14">
                                            <p:txEl>
                                              <p:pRg st="12" end="12"/>
                                            </p:txEl>
                                          </p:spTgt>
                                        </p:tgtEl>
                                        <p:attrNameLst>
                                          <p:attrName>style.visibility</p:attrName>
                                        </p:attrNameLst>
                                      </p:cBhvr>
                                      <p:to>
                                        <p:strVal val="visible"/>
                                      </p:to>
                                    </p:set>
                                    <p:animEffect transition="in" filter="blinds(horizontal)">
                                      <p:cBhvr>
                                        <p:cTn id="68" dur="500"/>
                                        <p:tgtEl>
                                          <p:spTgt spid="14">
                                            <p:txEl>
                                              <p:pRg st="12" end="12"/>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nodeType="clickEffect">
                                  <p:stCondLst>
                                    <p:cond delay="0"/>
                                  </p:stCondLst>
                                  <p:childTnLst>
                                    <p:set>
                                      <p:cBhvr>
                                        <p:cTn id="72" dur="1" fill="hold">
                                          <p:stCondLst>
                                            <p:cond delay="0"/>
                                          </p:stCondLst>
                                        </p:cTn>
                                        <p:tgtEl>
                                          <p:spTgt spid="14">
                                            <p:txEl>
                                              <p:pRg st="13" end="13"/>
                                            </p:txEl>
                                          </p:spTgt>
                                        </p:tgtEl>
                                        <p:attrNameLst>
                                          <p:attrName>style.visibility</p:attrName>
                                        </p:attrNameLst>
                                      </p:cBhvr>
                                      <p:to>
                                        <p:strVal val="visible"/>
                                      </p:to>
                                    </p:set>
                                    <p:animEffect transition="in" filter="blinds(horizontal)">
                                      <p:cBhvr>
                                        <p:cTn id="73" dur="500"/>
                                        <p:tgtEl>
                                          <p:spTgt spid="14">
                                            <p:txEl>
                                              <p:pRg st="13" end="13"/>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nodeType="clickEffect">
                                  <p:stCondLst>
                                    <p:cond delay="0"/>
                                  </p:stCondLst>
                                  <p:childTnLst>
                                    <p:set>
                                      <p:cBhvr>
                                        <p:cTn id="77" dur="1" fill="hold">
                                          <p:stCondLst>
                                            <p:cond delay="0"/>
                                          </p:stCondLst>
                                        </p:cTn>
                                        <p:tgtEl>
                                          <p:spTgt spid="14">
                                            <p:txEl>
                                              <p:pRg st="14" end="14"/>
                                            </p:txEl>
                                          </p:spTgt>
                                        </p:tgtEl>
                                        <p:attrNameLst>
                                          <p:attrName>style.visibility</p:attrName>
                                        </p:attrNameLst>
                                      </p:cBhvr>
                                      <p:to>
                                        <p:strVal val="visible"/>
                                      </p:to>
                                    </p:set>
                                    <p:animEffect transition="in" filter="blinds(horizontal)">
                                      <p:cBhvr>
                                        <p:cTn id="78" dur="500"/>
                                        <p:tgtEl>
                                          <p:spTgt spid="14">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684584" y="80662"/>
            <a:ext cx="7344816" cy="684042"/>
            <a:chOff x="-211511" y="1866348"/>
            <a:chExt cx="7344816" cy="684042"/>
          </a:xfrm>
        </p:grpSpPr>
        <p:grpSp>
          <p:nvGrpSpPr>
            <p:cNvPr id="10" name="组合 9"/>
            <p:cNvGrpSpPr/>
            <p:nvPr/>
          </p:nvGrpSpPr>
          <p:grpSpPr>
            <a:xfrm>
              <a:off x="-211511" y="1866348"/>
              <a:ext cx="7344816" cy="684042"/>
              <a:chOff x="-252536" y="1326432"/>
              <a:chExt cx="7344816" cy="684042"/>
            </a:xfrm>
          </p:grpSpPr>
          <p:sp>
            <p:nvSpPr>
              <p:cNvPr id="12" name="TextBox 6"/>
              <p:cNvSpPr txBox="1">
                <a:spLocks noChangeArrowheads="1"/>
              </p:cNvSpPr>
              <p:nvPr/>
            </p:nvSpPr>
            <p:spPr bwMode="auto">
              <a:xfrm>
                <a:off x="-252536"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7.2 </a:t>
                </a:r>
                <a:r>
                  <a:rPr lang="zh-CN" altLang="en-US" sz="3600" b="1" dirty="0">
                    <a:latin typeface="Times New Roman" panose="02020603050405020304" pitchFamily="18" charset="0"/>
                    <a:ea typeface="黑体" panose="02010609060101010101" pitchFamily="49" charset="-122"/>
                  </a:rPr>
                  <a:t>递归的定义</a:t>
                </a:r>
                <a:endParaRPr lang="zh-CN" altLang="en-US" sz="3600" b="1" dirty="0">
                  <a:latin typeface="黑体" panose="02010609060101010101" pitchFamily="49" charset="-122"/>
                  <a:ea typeface="黑体" panose="02010609060101010101" pitchFamily="49" charset="-122"/>
                </a:endParaRPr>
              </a:p>
            </p:txBody>
          </p:sp>
          <p:sp>
            <p:nvSpPr>
              <p:cNvPr id="13"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11" name="图片 10"/>
            <p:cNvPicPr>
              <a:picLocks noChangeAspect="1"/>
            </p:cNvPicPr>
            <p:nvPr/>
          </p:nvPicPr>
          <p:blipFill>
            <a:blip r:embed="rId1" cstate="print"/>
            <a:stretch>
              <a:fillRect/>
            </a:stretch>
          </p:blipFill>
          <p:spPr>
            <a:xfrm>
              <a:off x="1202862" y="2008104"/>
              <a:ext cx="450465" cy="385275"/>
            </a:xfrm>
            <a:prstGeom prst="rect">
              <a:avLst/>
            </a:prstGeom>
          </p:spPr>
        </p:pic>
      </p:grpSp>
      <p:sp>
        <p:nvSpPr>
          <p:cNvPr id="14" name="内容占位符 8194"/>
          <p:cNvSpPr>
            <a:spLocks noGrp="1" noChangeArrowheads="1"/>
          </p:cNvSpPr>
          <p:nvPr>
            <p:ph idx="1"/>
          </p:nvPr>
        </p:nvSpPr>
        <p:spPr>
          <a:xfrm>
            <a:off x="477900" y="982453"/>
            <a:ext cx="8229600" cy="4852668"/>
          </a:xfrm>
        </p:spPr>
        <p:txBody>
          <a:bodyPr/>
          <a:lstStyle/>
          <a:p>
            <a:pPr>
              <a:buClr>
                <a:srgbClr val="FF0000"/>
              </a:buClr>
              <a:buFont typeface="Wingdings" panose="05000000000000000000" pitchFamily="2" charset="2"/>
              <a:buChar char="n"/>
            </a:pPr>
            <a:r>
              <a:rPr lang="zh-CN" altLang="en-US" sz="2600" b="1" dirty="0"/>
              <a:t>递归函数的一般形式</a:t>
            </a:r>
            <a:endParaRPr lang="zh-CN" altLang="en-US" sz="2800" b="1" dirty="0"/>
          </a:p>
          <a:p>
            <a:pPr lvl="4">
              <a:buFont typeface="Wingdings" panose="05000000000000000000" pitchFamily="2" charset="2"/>
              <a:buNone/>
            </a:pPr>
            <a:r>
              <a:rPr lang="zh-CN" altLang="en-US" sz="1700" dirty="0"/>
              <a:t>  </a:t>
            </a:r>
            <a:r>
              <a:rPr lang="en-US" altLang="zh-CN" b="1" dirty="0">
                <a:solidFill>
                  <a:srgbClr val="0000FF"/>
                </a:solidFill>
              </a:rPr>
              <a:t>void</a:t>
            </a:r>
            <a:r>
              <a:rPr lang="en-US" altLang="zh-CN" b="1" dirty="0"/>
              <a:t>  </a:t>
            </a:r>
            <a:r>
              <a:rPr lang="en-US" altLang="zh-CN" b="1" dirty="0" err="1"/>
              <a:t>Pname</a:t>
            </a:r>
            <a:r>
              <a:rPr lang="en-US" altLang="zh-CN" b="1" dirty="0"/>
              <a:t>( </a:t>
            </a:r>
            <a:r>
              <a:rPr lang="zh-CN" altLang="en-US" b="1" dirty="0"/>
              <a:t>参数表 </a:t>
            </a:r>
            <a:r>
              <a:rPr lang="en-US" altLang="zh-CN" b="1" dirty="0"/>
              <a:t>){ </a:t>
            </a:r>
            <a:endParaRPr lang="en-US" altLang="zh-CN" b="1" dirty="0"/>
          </a:p>
          <a:p>
            <a:pPr lvl="4">
              <a:buFont typeface="Wingdings" panose="05000000000000000000" pitchFamily="2" charset="2"/>
              <a:buNone/>
            </a:pPr>
            <a:r>
              <a:rPr lang="en-US" altLang="zh-CN" b="1" dirty="0"/>
              <a:t>    </a:t>
            </a:r>
            <a:r>
              <a:rPr lang="en-US" altLang="zh-CN" b="1" dirty="0">
                <a:solidFill>
                  <a:srgbClr val="0000FF"/>
                </a:solidFill>
              </a:rPr>
              <a:t>if</a:t>
            </a:r>
            <a:r>
              <a:rPr lang="en-US" altLang="zh-CN" b="1" dirty="0"/>
              <a:t> ( </a:t>
            </a:r>
            <a:r>
              <a:rPr lang="zh-CN" altLang="en-US" b="1" dirty="0"/>
              <a:t>条件 </a:t>
            </a:r>
            <a:r>
              <a:rPr lang="en-US" altLang="zh-CN" b="1" dirty="0"/>
              <a:t>)       </a:t>
            </a:r>
            <a:endParaRPr lang="zh-CN" altLang="en-US" b="1" dirty="0"/>
          </a:p>
          <a:p>
            <a:pPr lvl="4">
              <a:buFont typeface="Wingdings" panose="05000000000000000000" pitchFamily="2" charset="2"/>
              <a:buNone/>
            </a:pPr>
            <a:r>
              <a:rPr lang="zh-CN" altLang="en-US" b="1" dirty="0"/>
              <a:t>        简单操作</a:t>
            </a:r>
            <a:r>
              <a:rPr lang="en-US" altLang="zh-CN" b="1" dirty="0"/>
              <a:t>;</a:t>
            </a:r>
            <a:endParaRPr lang="en-US" altLang="zh-CN" b="1" dirty="0"/>
          </a:p>
          <a:p>
            <a:pPr lvl="4">
              <a:buFont typeface="Wingdings" panose="05000000000000000000" pitchFamily="2" charset="2"/>
              <a:buNone/>
            </a:pPr>
            <a:r>
              <a:rPr lang="en-US" altLang="zh-CN" b="1" dirty="0"/>
              <a:t>    </a:t>
            </a:r>
            <a:r>
              <a:rPr lang="en-US" altLang="zh-CN" b="1" dirty="0">
                <a:solidFill>
                  <a:srgbClr val="0000FF"/>
                </a:solidFill>
              </a:rPr>
              <a:t>else</a:t>
            </a:r>
            <a:r>
              <a:rPr lang="en-US" altLang="zh-CN" b="1" dirty="0"/>
              <a:t> {  </a:t>
            </a:r>
            <a:r>
              <a:rPr lang="zh-CN" altLang="en-US" b="1" dirty="0"/>
              <a:t>简单操作</a:t>
            </a:r>
            <a:r>
              <a:rPr lang="en-US" altLang="zh-CN" b="1" dirty="0"/>
              <a:t>; </a:t>
            </a:r>
            <a:endParaRPr lang="en-US" altLang="zh-CN" b="1" dirty="0"/>
          </a:p>
          <a:p>
            <a:pPr lvl="4">
              <a:buFont typeface="Wingdings" panose="05000000000000000000" pitchFamily="2" charset="2"/>
              <a:buNone/>
            </a:pPr>
            <a:r>
              <a:rPr lang="en-US" altLang="zh-CN" b="1" dirty="0"/>
              <a:t>               </a:t>
            </a:r>
            <a:r>
              <a:rPr lang="en-US" altLang="zh-CN" b="1" dirty="0" err="1"/>
              <a:t>Pname</a:t>
            </a:r>
            <a:r>
              <a:rPr lang="en-US" altLang="zh-CN" b="1" dirty="0"/>
              <a:t> (</a:t>
            </a:r>
            <a:r>
              <a:rPr lang="zh-CN" altLang="en-US" b="1" dirty="0"/>
              <a:t>实参表</a:t>
            </a:r>
            <a:r>
              <a:rPr lang="en-US" altLang="zh-CN" b="1" dirty="0"/>
              <a:t>); </a:t>
            </a:r>
            <a:endParaRPr lang="en-US" altLang="zh-CN" b="1" dirty="0"/>
          </a:p>
          <a:p>
            <a:pPr lvl="4">
              <a:buFont typeface="Wingdings" panose="05000000000000000000" pitchFamily="2" charset="2"/>
              <a:buNone/>
            </a:pPr>
            <a:r>
              <a:rPr lang="zh-CN" altLang="en-US" b="1" dirty="0"/>
              <a:t>               简单操作</a:t>
            </a:r>
            <a:r>
              <a:rPr lang="en-US" altLang="zh-CN" b="1" dirty="0"/>
              <a:t>; </a:t>
            </a:r>
            <a:endParaRPr lang="en-US" altLang="zh-CN" b="1" dirty="0"/>
          </a:p>
          <a:p>
            <a:pPr lvl="4">
              <a:buFont typeface="Wingdings" panose="05000000000000000000" pitchFamily="2" charset="2"/>
              <a:buNone/>
            </a:pPr>
            <a:r>
              <a:rPr lang="en-US" altLang="zh-CN" b="1" dirty="0"/>
              <a:t>              [</a:t>
            </a:r>
            <a:r>
              <a:rPr lang="en-US" altLang="zh-CN" b="1" dirty="0" err="1"/>
              <a:t>Pname</a:t>
            </a:r>
            <a:r>
              <a:rPr lang="en-US" altLang="zh-CN" b="1" dirty="0"/>
              <a:t> (</a:t>
            </a:r>
            <a:r>
              <a:rPr lang="zh-CN" altLang="en-US" b="1" dirty="0"/>
              <a:t>实参表</a:t>
            </a:r>
            <a:r>
              <a:rPr lang="en-US" altLang="zh-CN" b="1" dirty="0"/>
              <a:t>); </a:t>
            </a:r>
            <a:r>
              <a:rPr lang="zh-CN" altLang="en-US" b="1" dirty="0"/>
              <a:t>简单操作</a:t>
            </a:r>
            <a:r>
              <a:rPr lang="en-US" altLang="zh-CN" b="1" dirty="0"/>
              <a:t>;]</a:t>
            </a:r>
            <a:endParaRPr lang="en-US" altLang="zh-CN" b="1" dirty="0"/>
          </a:p>
          <a:p>
            <a:pPr lvl="4">
              <a:buFont typeface="Wingdings" panose="05000000000000000000" pitchFamily="2" charset="2"/>
              <a:buNone/>
            </a:pPr>
            <a:r>
              <a:rPr lang="en-US" altLang="zh-CN" b="1" dirty="0"/>
              <a:t>    }  </a:t>
            </a:r>
            <a:endParaRPr lang="en-US" altLang="zh-CN" b="1" dirty="0"/>
          </a:p>
          <a:p>
            <a:pPr lvl="4">
              <a:buFont typeface="Wingdings" panose="05000000000000000000" pitchFamily="2" charset="2"/>
              <a:buNone/>
            </a:pPr>
            <a:r>
              <a:rPr lang="en-US" altLang="zh-CN" b="1" dirty="0"/>
              <a:t>}</a:t>
            </a:r>
            <a:endParaRPr lang="zh-CN" altLang="en-US" b="1" dirty="0"/>
          </a:p>
        </p:txBody>
      </p:sp>
      <p:sp>
        <p:nvSpPr>
          <p:cNvPr id="15" name="矩形标注 14"/>
          <p:cNvSpPr>
            <a:spLocks noChangeArrowheads="1"/>
          </p:cNvSpPr>
          <p:nvPr/>
        </p:nvSpPr>
        <p:spPr bwMode="auto">
          <a:xfrm>
            <a:off x="825067" y="2237480"/>
            <a:ext cx="1511300" cy="431800"/>
          </a:xfrm>
          <a:prstGeom prst="wedgeRectCallout">
            <a:avLst>
              <a:gd name="adj1" fmla="val 94329"/>
              <a:gd name="adj2" fmla="val -93750"/>
            </a:avLst>
          </a:prstGeom>
          <a:solidFill>
            <a:schemeClr val="accent6">
              <a:lumMod val="60000"/>
              <a:lumOff val="40000"/>
            </a:schemeClr>
          </a:solidFill>
          <a:ln w="9525">
            <a:solidFill>
              <a:schemeClr val="tx1"/>
            </a:solidFill>
            <a:miter lim="800000"/>
          </a:ln>
        </p:spPr>
        <p:txBody>
          <a:bodyPr/>
          <a:lstStyle/>
          <a:p>
            <a:pPr algn="ctr" eaLnBrk="0" hangingPunct="0"/>
            <a:r>
              <a:rPr lang="zh-CN" altLang="en-US" b="1" dirty="0">
                <a:latin typeface="Arial" panose="020B0604020202020204" pitchFamily="34" charset="0"/>
                <a:ea typeface="宋体" panose="02010600030101010101" pitchFamily="2" charset="-122"/>
              </a:rPr>
              <a:t>递归出口</a:t>
            </a:r>
            <a:endParaRPr lang="zh-CN" altLang="en-US" b="1" dirty="0">
              <a:latin typeface="Arial" panose="020B0604020202020204" pitchFamily="34" charset="0"/>
              <a:ea typeface="宋体" panose="02010600030101010101" pitchFamily="2" charset="-122"/>
            </a:endParaRPr>
          </a:p>
        </p:txBody>
      </p:sp>
      <p:sp>
        <p:nvSpPr>
          <p:cNvPr id="16" name="矩形标注 15"/>
          <p:cNvSpPr>
            <a:spLocks noChangeArrowheads="1"/>
          </p:cNvSpPr>
          <p:nvPr/>
        </p:nvSpPr>
        <p:spPr bwMode="auto">
          <a:xfrm>
            <a:off x="526617" y="3708407"/>
            <a:ext cx="2303462" cy="356763"/>
          </a:xfrm>
          <a:prstGeom prst="wedgeRectCallout">
            <a:avLst>
              <a:gd name="adj1" fmla="val 70200"/>
              <a:gd name="adj2" fmla="val -18892"/>
            </a:avLst>
          </a:prstGeom>
          <a:solidFill>
            <a:schemeClr val="accent6">
              <a:lumMod val="60000"/>
              <a:lumOff val="40000"/>
            </a:schemeClr>
          </a:solidFill>
          <a:ln w="9525">
            <a:solidFill>
              <a:schemeClr val="tx1"/>
            </a:solidFill>
            <a:miter lim="800000"/>
          </a:ln>
        </p:spPr>
        <p:txBody>
          <a:bodyPr/>
          <a:lstStyle/>
          <a:p>
            <a:pPr algn="ctr" eaLnBrk="0" hangingPunct="0"/>
            <a:r>
              <a:rPr lang="zh-CN" altLang="en-US" b="1" dirty="0">
                <a:latin typeface="Arial" panose="020B0604020202020204" pitchFamily="34" charset="0"/>
                <a:ea typeface="宋体" panose="02010600030101010101" pitchFamily="2" charset="-122"/>
              </a:rPr>
              <a:t>可能有多次的调用</a:t>
            </a:r>
            <a:endParaRPr lang="zh-CN" altLang="en-US" b="1" dirty="0">
              <a:latin typeface="Arial" panose="020B0604020202020204" pitchFamily="34" charset="0"/>
              <a:ea typeface="宋体" panose="02010600030101010101" pitchFamily="2" charset="-122"/>
            </a:endParaRPr>
          </a:p>
        </p:txBody>
      </p:sp>
      <p:sp>
        <p:nvSpPr>
          <p:cNvPr id="17" name="文本框 16"/>
          <p:cNvSpPr txBox="1">
            <a:spLocks noChangeArrowheads="1"/>
          </p:cNvSpPr>
          <p:nvPr/>
        </p:nvSpPr>
        <p:spPr bwMode="auto">
          <a:xfrm>
            <a:off x="3186596" y="4469505"/>
            <a:ext cx="4337732" cy="2031325"/>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Times New Roman" panose="02020603050405020304" pitchFamily="18" charset="0"/>
                <a:ea typeface="楷体_GB2312" pitchFamily="49" charset="-122"/>
              </a:defRPr>
            </a:lvl1pPr>
            <a:lvl2pPr>
              <a:defRPr>
                <a:solidFill>
                  <a:schemeClr val="tx1"/>
                </a:solidFill>
                <a:latin typeface="Times New Roman" panose="02020603050405020304" pitchFamily="18" charset="0"/>
                <a:ea typeface="楷体_GB2312" pitchFamily="49" charset="-122"/>
              </a:defRPr>
            </a:lvl2pPr>
            <a:lvl3pPr>
              <a:defRPr>
                <a:solidFill>
                  <a:schemeClr val="tx1"/>
                </a:solidFill>
                <a:latin typeface="Times New Roman" panose="02020603050405020304" pitchFamily="18" charset="0"/>
                <a:ea typeface="楷体_GB2312" pitchFamily="49" charset="-122"/>
              </a:defRPr>
            </a:lvl3pPr>
            <a:lvl4pPr>
              <a:defRPr>
                <a:solidFill>
                  <a:schemeClr val="tx1"/>
                </a:solidFill>
                <a:latin typeface="Times New Roman" panose="02020603050405020304" pitchFamily="18" charset="0"/>
                <a:ea typeface="楷体_GB2312" pitchFamily="49" charset="-122"/>
              </a:defRPr>
            </a:lvl4pPr>
            <a:lvl5pPr>
              <a:defRPr>
                <a:solidFill>
                  <a:schemeClr val="tx1"/>
                </a:solidFill>
                <a:latin typeface="Times New Roman" panose="02020603050405020304" pitchFamily="18" charset="0"/>
                <a:ea typeface="楷体_GB2312" pitchFamily="49"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9pPr>
          </a:lstStyle>
          <a:p>
            <a:pPr lvl="2" eaLnBrk="0" hangingPunct="0"/>
            <a:r>
              <a:rPr lang="zh-CN" altLang="en-US" b="1" dirty="0">
                <a:latin typeface="Arial" panose="020B0604020202020204" pitchFamily="34" charset="0"/>
                <a:ea typeface="宋体" panose="02010600030101010101" pitchFamily="2" charset="-122"/>
              </a:rPr>
              <a:t>例如：在阶乘函数</a:t>
            </a:r>
            <a:endParaRPr lang="zh-CN" altLang="en-US" b="1" dirty="0">
              <a:latin typeface="Arial" panose="020B0604020202020204" pitchFamily="34" charset="0"/>
              <a:ea typeface="宋体" panose="02010600030101010101" pitchFamily="2" charset="-122"/>
            </a:endParaRPr>
          </a:p>
          <a:p>
            <a:pPr lvl="2">
              <a:spcBef>
                <a:spcPts val="0"/>
              </a:spcBef>
              <a:buFont typeface="Wingdings" panose="05000000000000000000" pitchFamily="2" charset="2"/>
              <a:buNone/>
            </a:pPr>
            <a:r>
              <a:rPr lang="de-DE" altLang="en-US" b="1" dirty="0"/>
              <a:t> </a:t>
            </a:r>
            <a:r>
              <a:rPr lang="de-DE" altLang="en-US" b="1" dirty="0">
                <a:solidFill>
                  <a:srgbClr val="0000FF"/>
                </a:solidFill>
              </a:rPr>
              <a:t>int</a:t>
            </a:r>
            <a:r>
              <a:rPr lang="de-DE" altLang="en-US" b="1" dirty="0"/>
              <a:t> Fact ( </a:t>
            </a:r>
            <a:r>
              <a:rPr lang="de-DE" altLang="en-US" b="1" dirty="0">
                <a:solidFill>
                  <a:srgbClr val="0000FF"/>
                </a:solidFill>
              </a:rPr>
              <a:t>int</a:t>
            </a:r>
            <a:r>
              <a:rPr lang="de-DE" altLang="en-US" b="1" dirty="0"/>
              <a:t> </a:t>
            </a:r>
            <a:r>
              <a:rPr lang="de-DE" altLang="en-US" b="1" i="1" dirty="0"/>
              <a:t>n </a:t>
            </a:r>
            <a:r>
              <a:rPr lang="de-DE" altLang="en-US" b="1" dirty="0"/>
              <a:t>)</a:t>
            </a:r>
            <a:r>
              <a:rPr lang="en-US" altLang="en-US" b="1" dirty="0"/>
              <a:t> </a:t>
            </a:r>
            <a:r>
              <a:rPr lang="de-DE" altLang="en-US" b="1" dirty="0"/>
              <a:t>{                              </a:t>
            </a:r>
            <a:endParaRPr lang="de-DE" altLang="en-US" b="1" dirty="0"/>
          </a:p>
          <a:p>
            <a:pPr lvl="2">
              <a:spcBef>
                <a:spcPts val="0"/>
              </a:spcBef>
              <a:buFont typeface="Wingdings" panose="05000000000000000000" pitchFamily="2" charset="2"/>
              <a:buNone/>
            </a:pPr>
            <a:r>
              <a:rPr lang="de-DE" altLang="en-US" b="1" dirty="0"/>
              <a:t>         </a:t>
            </a:r>
            <a:r>
              <a:rPr lang="de-DE" altLang="en-US" b="1" dirty="0">
                <a:solidFill>
                  <a:srgbClr val="0000FF"/>
                </a:solidFill>
              </a:rPr>
              <a:t>if</a:t>
            </a:r>
            <a:r>
              <a:rPr lang="de-DE" altLang="en-US" b="1" dirty="0"/>
              <a:t> ( </a:t>
            </a:r>
            <a:r>
              <a:rPr lang="de-DE" altLang="en-US" b="1" i="1" dirty="0"/>
              <a:t>n</a:t>
            </a:r>
            <a:r>
              <a:rPr lang="de-DE" altLang="en-US" b="1" dirty="0"/>
              <a:t> == 0 ) </a:t>
            </a:r>
            <a:endParaRPr lang="de-DE" altLang="en-US" b="1" dirty="0"/>
          </a:p>
          <a:p>
            <a:pPr lvl="2">
              <a:spcBef>
                <a:spcPts val="0"/>
              </a:spcBef>
              <a:buFont typeface="Wingdings" panose="05000000000000000000" pitchFamily="2" charset="2"/>
              <a:buNone/>
            </a:pPr>
            <a:r>
              <a:rPr lang="de-DE" altLang="en-US" b="1" dirty="0"/>
              <a:t>                </a:t>
            </a:r>
            <a:r>
              <a:rPr lang="de-DE" altLang="en-US" b="1" dirty="0">
                <a:solidFill>
                  <a:srgbClr val="0000FF"/>
                </a:solidFill>
              </a:rPr>
              <a:t>return</a:t>
            </a:r>
            <a:r>
              <a:rPr lang="de-DE" altLang="en-US" b="1" dirty="0"/>
              <a:t> 1;                        </a:t>
            </a:r>
            <a:endParaRPr lang="de-DE" altLang="en-US" b="1" dirty="0"/>
          </a:p>
          <a:p>
            <a:pPr lvl="2">
              <a:spcBef>
                <a:spcPts val="0"/>
              </a:spcBef>
              <a:buFont typeface="Wingdings" panose="05000000000000000000" pitchFamily="2" charset="2"/>
              <a:buNone/>
            </a:pPr>
            <a:r>
              <a:rPr lang="de-DE" altLang="en-US" b="1" dirty="0"/>
              <a:t>        </a:t>
            </a:r>
            <a:r>
              <a:rPr lang="en-US" altLang="zh-CN" b="1" dirty="0">
                <a:solidFill>
                  <a:srgbClr val="0000FF"/>
                </a:solidFill>
              </a:rPr>
              <a:t>else</a:t>
            </a:r>
            <a:r>
              <a:rPr lang="en-US" altLang="zh-CN" b="1" dirty="0"/>
              <a:t> </a:t>
            </a:r>
            <a:endParaRPr lang="en-US" altLang="zh-CN" b="1" dirty="0"/>
          </a:p>
          <a:p>
            <a:pPr lvl="2">
              <a:spcBef>
                <a:spcPts val="0"/>
              </a:spcBef>
              <a:buFont typeface="Wingdings" panose="05000000000000000000" pitchFamily="2" charset="2"/>
              <a:buNone/>
            </a:pPr>
            <a:r>
              <a:rPr lang="en-US" altLang="zh-CN" b="1" dirty="0">
                <a:solidFill>
                  <a:srgbClr val="0000FF"/>
                </a:solidFill>
              </a:rPr>
              <a:t>               return</a:t>
            </a:r>
            <a:r>
              <a:rPr lang="en-US" altLang="zh-CN" b="1" dirty="0"/>
              <a:t> </a:t>
            </a:r>
            <a:r>
              <a:rPr lang="en-US" altLang="zh-CN" b="1" i="1" dirty="0"/>
              <a:t>n</a:t>
            </a:r>
            <a:r>
              <a:rPr lang="en-US" altLang="zh-CN" b="1" dirty="0"/>
              <a:t> * Fact( </a:t>
            </a:r>
            <a:r>
              <a:rPr lang="en-US" altLang="zh-CN" b="1" i="1" dirty="0"/>
              <a:t>n</a:t>
            </a:r>
            <a:r>
              <a:rPr lang="en-US" altLang="zh-CN" b="1" dirty="0"/>
              <a:t> – 1 );                 </a:t>
            </a:r>
            <a:endParaRPr lang="en-US" altLang="zh-CN" b="1" dirty="0"/>
          </a:p>
          <a:p>
            <a:pPr lvl="2">
              <a:spcBef>
                <a:spcPts val="0"/>
              </a:spcBef>
              <a:buFont typeface="Wingdings" panose="05000000000000000000" pitchFamily="2" charset="2"/>
              <a:buNone/>
            </a:pPr>
            <a:r>
              <a:rPr lang="en-US" altLang="zh-CN" b="1" dirty="0"/>
              <a:t>   }</a:t>
            </a:r>
            <a:r>
              <a:rPr lang="en-US" altLang="zh-CN" dirty="0"/>
              <a:t> </a:t>
            </a:r>
            <a:endParaRPr lang="zh-CN" altLang="en-US" b="1" dirty="0"/>
          </a:p>
        </p:txBody>
      </p:sp>
      <p:sp>
        <p:nvSpPr>
          <p:cNvPr id="18" name="矩形标注 17"/>
          <p:cNvSpPr>
            <a:spLocks noChangeArrowheads="1"/>
          </p:cNvSpPr>
          <p:nvPr/>
        </p:nvSpPr>
        <p:spPr bwMode="auto">
          <a:xfrm>
            <a:off x="1401330" y="5117205"/>
            <a:ext cx="1511300" cy="576262"/>
          </a:xfrm>
          <a:prstGeom prst="wedgeRectCallout">
            <a:avLst>
              <a:gd name="adj1" fmla="val 164074"/>
              <a:gd name="adj2" fmla="val -21074"/>
            </a:avLst>
          </a:prstGeom>
          <a:solidFill>
            <a:schemeClr val="accent6">
              <a:lumMod val="60000"/>
              <a:lumOff val="40000"/>
            </a:schemeClr>
          </a:solidFill>
          <a:ln w="9525">
            <a:solidFill>
              <a:schemeClr val="tx1"/>
            </a:solidFill>
            <a:miter lim="800000"/>
          </a:ln>
        </p:spPr>
        <p:txBody>
          <a:bodyPr/>
          <a:lstStyle/>
          <a:p>
            <a:pPr algn="ctr" eaLnBrk="0" hangingPunct="0"/>
            <a:r>
              <a:rPr lang="zh-CN" altLang="en-US" b="1" dirty="0">
                <a:latin typeface="Arial" panose="020B0604020202020204" pitchFamily="34" charset="0"/>
                <a:ea typeface="宋体" panose="02010600030101010101" pitchFamily="2" charset="-122"/>
              </a:rPr>
              <a:t>递归出口是</a:t>
            </a:r>
            <a:r>
              <a:rPr lang="en-US" altLang="zh-CN" b="1"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b="1" dirty="0">
                <a:latin typeface="Arial" panose="020B0604020202020204" pitchFamily="34" charset="0"/>
                <a:ea typeface="宋体" panose="02010600030101010101" pitchFamily="2" charset="-122"/>
              </a:rPr>
              <a:t>==0</a:t>
            </a:r>
            <a:endParaRPr lang="en-US" altLang="zh-CN" b="1" dirty="0">
              <a:latin typeface="Arial" panose="020B0604020202020204" pitchFamily="34" charset="0"/>
              <a:ea typeface="宋体" panose="02010600030101010101" pitchFamily="2" charset="-122"/>
            </a:endParaRPr>
          </a:p>
        </p:txBody>
      </p:sp>
      <p:sp>
        <p:nvSpPr>
          <p:cNvPr id="19" name="矩形标注 18"/>
          <p:cNvSpPr>
            <a:spLocks noChangeArrowheads="1"/>
          </p:cNvSpPr>
          <p:nvPr/>
        </p:nvSpPr>
        <p:spPr bwMode="auto">
          <a:xfrm>
            <a:off x="5076056" y="969639"/>
            <a:ext cx="2736304" cy="664096"/>
          </a:xfrm>
          <a:prstGeom prst="wedgeRectCallout">
            <a:avLst>
              <a:gd name="adj1" fmla="val -127125"/>
              <a:gd name="adj2" fmla="val 34660"/>
            </a:avLst>
          </a:prstGeom>
          <a:solidFill>
            <a:schemeClr val="accent6">
              <a:lumMod val="60000"/>
              <a:lumOff val="40000"/>
            </a:schemeClr>
          </a:solidFill>
          <a:ln w="9525">
            <a:solidFill>
              <a:schemeClr val="tx1"/>
            </a:solidFill>
            <a:miter lim="800000"/>
          </a:ln>
        </p:spPr>
        <p:txBody>
          <a:bodyPr/>
          <a:lstStyle/>
          <a:p>
            <a:pPr algn="ctr" eaLnBrk="0" hangingPunct="0"/>
            <a:r>
              <a:rPr lang="zh-CN" altLang="en-US" b="1" dirty="0">
                <a:latin typeface="Arial" panose="020B0604020202020204" pitchFamily="34" charset="0"/>
                <a:ea typeface="宋体" panose="02010600030101010101" pitchFamily="2" charset="-122"/>
              </a:rPr>
              <a:t>函数也可以是其他类型；</a:t>
            </a:r>
            <a:endParaRPr lang="zh-CN" altLang="en-US" b="1" dirty="0">
              <a:latin typeface="Arial" panose="020B0604020202020204" pitchFamily="34" charset="0"/>
              <a:ea typeface="宋体" panose="02010600030101010101" pitchFamily="2" charset="-122"/>
            </a:endParaRPr>
          </a:p>
          <a:p>
            <a:pPr algn="ctr" eaLnBrk="0" hangingPunct="0"/>
            <a:r>
              <a:rPr lang="zh-CN" altLang="en-US" b="1" dirty="0">
                <a:latin typeface="Arial" panose="020B0604020202020204" pitchFamily="34" charset="0"/>
                <a:ea typeface="宋体" panose="02010600030101010101" pitchFamily="2" charset="-122"/>
              </a:rPr>
              <a:t>调用方式自然也不同</a:t>
            </a:r>
            <a:endParaRPr lang="zh-CN" altLang="en-US" b="1" dirty="0">
              <a:latin typeface="Arial" panose="020B0604020202020204" pitchFamily="34" charset="0"/>
              <a:ea typeface="宋体" panose="02010600030101010101" pitchFamily="2" charset="-122"/>
            </a:endParaRPr>
          </a:p>
        </p:txBody>
      </p:sp>
      <p:sp>
        <p:nvSpPr>
          <p:cNvPr id="20" name="椭圆 19"/>
          <p:cNvSpPr>
            <a:spLocks noChangeArrowheads="1"/>
          </p:cNvSpPr>
          <p:nvPr/>
        </p:nvSpPr>
        <p:spPr bwMode="auto">
          <a:xfrm>
            <a:off x="2834091" y="1877418"/>
            <a:ext cx="865187" cy="361950"/>
          </a:xfrm>
          <a:prstGeom prst="ellipse">
            <a:avLst/>
          </a:prstGeom>
          <a:noFill/>
          <a:ln w="28575">
            <a:solidFill>
              <a:srgbClr val="FF0000"/>
            </a:solidFill>
            <a:prstDash val="sysDot"/>
            <a:rou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1" name="椭圆 20"/>
          <p:cNvSpPr>
            <a:spLocks noChangeArrowheads="1"/>
          </p:cNvSpPr>
          <p:nvPr/>
        </p:nvSpPr>
        <p:spPr bwMode="auto">
          <a:xfrm>
            <a:off x="2411760" y="1484784"/>
            <a:ext cx="649163" cy="358198"/>
          </a:xfrm>
          <a:prstGeom prst="ellipse">
            <a:avLst/>
          </a:prstGeom>
          <a:noFill/>
          <a:ln w="28575">
            <a:solidFill>
              <a:srgbClr val="FF0000"/>
            </a:solidFill>
            <a:prstDash val="sysDot"/>
            <a:rou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2" name="椭圆 21"/>
          <p:cNvSpPr>
            <a:spLocks noChangeArrowheads="1"/>
          </p:cNvSpPr>
          <p:nvPr/>
        </p:nvSpPr>
        <p:spPr bwMode="auto">
          <a:xfrm>
            <a:off x="3186596" y="2970610"/>
            <a:ext cx="2160588" cy="361950"/>
          </a:xfrm>
          <a:prstGeom prst="ellipse">
            <a:avLst/>
          </a:prstGeom>
          <a:noFill/>
          <a:ln w="28575">
            <a:solidFill>
              <a:srgbClr val="FF0000"/>
            </a:solidFill>
            <a:prstDash val="sysDot"/>
            <a:rou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3" name="椭圆 22"/>
          <p:cNvSpPr>
            <a:spLocks noChangeArrowheads="1"/>
          </p:cNvSpPr>
          <p:nvPr/>
        </p:nvSpPr>
        <p:spPr bwMode="auto">
          <a:xfrm>
            <a:off x="3365699" y="3703220"/>
            <a:ext cx="3024187" cy="361950"/>
          </a:xfrm>
          <a:prstGeom prst="ellipse">
            <a:avLst/>
          </a:prstGeom>
          <a:noFill/>
          <a:ln w="28575">
            <a:solidFill>
              <a:srgbClr val="FF0000"/>
            </a:solidFill>
            <a:prstDash val="sysDot"/>
            <a:rou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4" name="椭圆 23"/>
          <p:cNvSpPr>
            <a:spLocks noChangeArrowheads="1"/>
          </p:cNvSpPr>
          <p:nvPr/>
        </p:nvSpPr>
        <p:spPr bwMode="auto">
          <a:xfrm>
            <a:off x="4856091" y="5028243"/>
            <a:ext cx="982185" cy="373802"/>
          </a:xfrm>
          <a:prstGeom prst="ellipse">
            <a:avLst/>
          </a:prstGeom>
          <a:noFill/>
          <a:ln w="28575">
            <a:solidFill>
              <a:srgbClr val="FF0000"/>
            </a:solidFill>
            <a:prstDash val="sysDot"/>
            <a:rou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5" name="灯片编号占位符 1"/>
          <p:cNvSpPr txBox="1">
            <a:spLocks noChangeArrowheads="1"/>
          </p:cNvSpPr>
          <p:nvPr/>
        </p:nvSpPr>
        <p:spPr bwMode="auto">
          <a:xfrm>
            <a:off x="69417" y="-183458"/>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lstStyle>
            <a:defPPr>
              <a:defRPr lang="zh-CN"/>
            </a:defPPr>
            <a:lvl1pPr algn="r" rtl="0" fontAlgn="auto">
              <a:spcBef>
                <a:spcPts val="0"/>
              </a:spcBef>
              <a:spcAft>
                <a:spcPts val="0"/>
              </a:spcAft>
              <a:defRPr sz="1200" kern="1200" smtClean="0">
                <a:solidFill>
                  <a:srgbClr val="FFFFFF"/>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dirty="0">
              <a:latin typeface="Verdana" panose="020B0604030504040204" pitchFamily="34" charset="0"/>
            </a:endParaRPr>
          </a:p>
        </p:txBody>
      </p:sp>
      <p:pic>
        <p:nvPicPr>
          <p:cNvPr id="26" name="内容占位符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740698" y="1780849"/>
            <a:ext cx="2788550" cy="1707276"/>
          </a:xfrm>
          <a:prstGeom prst="rect">
            <a:avLst/>
          </a:prstGeom>
          <a:noFill/>
          <a:ln w="9525">
            <a:noFill/>
            <a:miter lim="800000"/>
            <a:headEnd/>
            <a:tailEnd/>
          </a:ln>
        </p:spPr>
      </p:pic>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blinds(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 calcmode="lin" valueType="num">
                                      <p:cBhvr additive="base">
                                        <p:cTn id="12" dur="500" fill="hold"/>
                                        <p:tgtEl>
                                          <p:spTgt spid="26"/>
                                        </p:tgtEl>
                                        <p:attrNameLst>
                                          <p:attrName>ppt_x</p:attrName>
                                        </p:attrNameLst>
                                      </p:cBhvr>
                                      <p:tavLst>
                                        <p:tav tm="0">
                                          <p:val>
                                            <p:strVal val="#ppt_x"/>
                                          </p:val>
                                        </p:tav>
                                        <p:tav tm="100000">
                                          <p:val>
                                            <p:strVal val="#ppt_x"/>
                                          </p:val>
                                        </p:tav>
                                      </p:tavLst>
                                    </p:anim>
                                    <p:anim calcmode="lin" valueType="num">
                                      <p:cBhvr additive="base">
                                        <p:cTn id="13"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4">
                                            <p:txEl>
                                              <p:pRg st="1" end="1"/>
                                            </p:txEl>
                                          </p:spTgt>
                                        </p:tgtEl>
                                        <p:attrNameLst>
                                          <p:attrName>style.visibility</p:attrName>
                                        </p:attrNameLst>
                                      </p:cBhvr>
                                      <p:to>
                                        <p:strVal val="visible"/>
                                      </p:to>
                                    </p:set>
                                    <p:animEffect transition="in" filter="blinds(horizontal)">
                                      <p:cBhvr>
                                        <p:cTn id="18" dur="500"/>
                                        <p:tgtEl>
                                          <p:spTgt spid="14">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4">
                                            <p:txEl>
                                              <p:pRg st="2" end="2"/>
                                            </p:txEl>
                                          </p:spTgt>
                                        </p:tgtEl>
                                        <p:attrNameLst>
                                          <p:attrName>style.visibility</p:attrName>
                                        </p:attrNameLst>
                                      </p:cBhvr>
                                      <p:to>
                                        <p:strVal val="visible"/>
                                      </p:to>
                                    </p:set>
                                    <p:animEffect transition="in" filter="blinds(horizontal)">
                                      <p:cBhvr>
                                        <p:cTn id="23" dur="500"/>
                                        <p:tgtEl>
                                          <p:spTgt spid="14">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blinds(horizontal)">
                                      <p:cBhvr>
                                        <p:cTn id="28" dur="500"/>
                                        <p:tgtEl>
                                          <p:spTgt spid="14">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4">
                                            <p:txEl>
                                              <p:pRg st="4" end="4"/>
                                            </p:txEl>
                                          </p:spTgt>
                                        </p:tgtEl>
                                        <p:attrNameLst>
                                          <p:attrName>style.visibility</p:attrName>
                                        </p:attrNameLst>
                                      </p:cBhvr>
                                      <p:to>
                                        <p:strVal val="visible"/>
                                      </p:to>
                                    </p:set>
                                    <p:animEffect transition="in" filter="blinds(horizontal)">
                                      <p:cBhvr>
                                        <p:cTn id="33" dur="500"/>
                                        <p:tgtEl>
                                          <p:spTgt spid="14">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4">
                                            <p:txEl>
                                              <p:pRg st="5" end="5"/>
                                            </p:txEl>
                                          </p:spTgt>
                                        </p:tgtEl>
                                        <p:attrNameLst>
                                          <p:attrName>style.visibility</p:attrName>
                                        </p:attrNameLst>
                                      </p:cBhvr>
                                      <p:to>
                                        <p:strVal val="visible"/>
                                      </p:to>
                                    </p:set>
                                    <p:animEffect transition="in" filter="blinds(horizontal)">
                                      <p:cBhvr>
                                        <p:cTn id="38" dur="500"/>
                                        <p:tgtEl>
                                          <p:spTgt spid="14">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4">
                                            <p:txEl>
                                              <p:pRg st="6" end="6"/>
                                            </p:txEl>
                                          </p:spTgt>
                                        </p:tgtEl>
                                        <p:attrNameLst>
                                          <p:attrName>style.visibility</p:attrName>
                                        </p:attrNameLst>
                                      </p:cBhvr>
                                      <p:to>
                                        <p:strVal val="visible"/>
                                      </p:to>
                                    </p:set>
                                    <p:animEffect transition="in" filter="blinds(horizontal)">
                                      <p:cBhvr>
                                        <p:cTn id="43" dur="500"/>
                                        <p:tgtEl>
                                          <p:spTgt spid="14">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4">
                                            <p:txEl>
                                              <p:pRg st="7" end="7"/>
                                            </p:txEl>
                                          </p:spTgt>
                                        </p:tgtEl>
                                        <p:attrNameLst>
                                          <p:attrName>style.visibility</p:attrName>
                                        </p:attrNameLst>
                                      </p:cBhvr>
                                      <p:to>
                                        <p:strVal val="visible"/>
                                      </p:to>
                                    </p:set>
                                    <p:animEffect transition="in" filter="blinds(horizontal)">
                                      <p:cBhvr>
                                        <p:cTn id="48" dur="500"/>
                                        <p:tgtEl>
                                          <p:spTgt spid="14">
                                            <p:txEl>
                                              <p:pRg st="7" end="7"/>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14">
                                            <p:txEl>
                                              <p:pRg st="8" end="8"/>
                                            </p:txEl>
                                          </p:spTgt>
                                        </p:tgtEl>
                                        <p:attrNameLst>
                                          <p:attrName>style.visibility</p:attrName>
                                        </p:attrNameLst>
                                      </p:cBhvr>
                                      <p:to>
                                        <p:strVal val="visible"/>
                                      </p:to>
                                    </p:set>
                                    <p:animEffect transition="in" filter="blinds(horizontal)">
                                      <p:cBhvr>
                                        <p:cTn id="53" dur="500"/>
                                        <p:tgtEl>
                                          <p:spTgt spid="14">
                                            <p:txEl>
                                              <p:pRg st="8" end="8"/>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14">
                                            <p:txEl>
                                              <p:pRg st="9" end="9"/>
                                            </p:txEl>
                                          </p:spTgt>
                                        </p:tgtEl>
                                        <p:attrNameLst>
                                          <p:attrName>style.visibility</p:attrName>
                                        </p:attrNameLst>
                                      </p:cBhvr>
                                      <p:to>
                                        <p:strVal val="visible"/>
                                      </p:to>
                                    </p:set>
                                    <p:animEffect transition="in" filter="blinds(horizontal)">
                                      <p:cBhvr>
                                        <p:cTn id="58" dur="500"/>
                                        <p:tgtEl>
                                          <p:spTgt spid="14">
                                            <p:txEl>
                                              <p:pRg st="9" end="9"/>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blinds(horizontal)">
                                      <p:cBhvr>
                                        <p:cTn id="63" dur="500"/>
                                        <p:tgtEl>
                                          <p:spTgt spid="20"/>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blinds(horizontal)">
                                      <p:cBhvr>
                                        <p:cTn id="68" dur="500"/>
                                        <p:tgtEl>
                                          <p:spTgt spid="15"/>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nodeType="clickEffect">
                                  <p:stCondLst>
                                    <p:cond delay="0"/>
                                  </p:stCondLst>
                                  <p:childTnLst>
                                    <p:set>
                                      <p:cBhvr>
                                        <p:cTn id="72" dur="1" fill="hold">
                                          <p:stCondLst>
                                            <p:cond delay="0"/>
                                          </p:stCondLst>
                                        </p:cTn>
                                        <p:tgtEl>
                                          <p:spTgt spid="22"/>
                                        </p:tgtEl>
                                        <p:attrNameLst>
                                          <p:attrName>style.visibility</p:attrName>
                                        </p:attrNameLst>
                                      </p:cBhvr>
                                      <p:to>
                                        <p:strVal val="visible"/>
                                      </p:to>
                                    </p:set>
                                    <p:animEffect transition="in" filter="blinds(horizontal)">
                                      <p:cBhvr>
                                        <p:cTn id="73" dur="500"/>
                                        <p:tgtEl>
                                          <p:spTgt spid="22"/>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nodeType="clickEffect">
                                  <p:stCondLst>
                                    <p:cond delay="0"/>
                                  </p:stCondLst>
                                  <p:childTnLst>
                                    <p:set>
                                      <p:cBhvr>
                                        <p:cTn id="77" dur="1" fill="hold">
                                          <p:stCondLst>
                                            <p:cond delay="0"/>
                                          </p:stCondLst>
                                        </p:cTn>
                                        <p:tgtEl>
                                          <p:spTgt spid="23"/>
                                        </p:tgtEl>
                                        <p:attrNameLst>
                                          <p:attrName>style.visibility</p:attrName>
                                        </p:attrNameLst>
                                      </p:cBhvr>
                                      <p:to>
                                        <p:strVal val="visible"/>
                                      </p:to>
                                    </p:set>
                                    <p:animEffect transition="in" filter="blinds(horizontal)">
                                      <p:cBhvr>
                                        <p:cTn id="78" dur="500"/>
                                        <p:tgtEl>
                                          <p:spTgt spid="23"/>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16"/>
                                        </p:tgtEl>
                                        <p:attrNameLst>
                                          <p:attrName>style.visibility</p:attrName>
                                        </p:attrNameLst>
                                      </p:cBhvr>
                                      <p:to>
                                        <p:strVal val="visible"/>
                                      </p:to>
                                    </p:set>
                                    <p:animEffect transition="in" filter="blinds(horizontal)">
                                      <p:cBhvr>
                                        <p:cTn id="83" dur="500"/>
                                        <p:tgtEl>
                                          <p:spTgt spid="16"/>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nodeType="clickEffect">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blinds(horizontal)">
                                      <p:cBhvr>
                                        <p:cTn id="88" dur="500"/>
                                        <p:tgtEl>
                                          <p:spTgt spid="21"/>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19"/>
                                        </p:tgtEl>
                                        <p:attrNameLst>
                                          <p:attrName>style.visibility</p:attrName>
                                        </p:attrNameLst>
                                      </p:cBhvr>
                                      <p:to>
                                        <p:strVal val="visible"/>
                                      </p:to>
                                    </p:set>
                                    <p:animEffect transition="in" filter="blinds(horizontal)">
                                      <p:cBhvr>
                                        <p:cTn id="93" dur="500"/>
                                        <p:tgtEl>
                                          <p:spTgt spid="19"/>
                                        </p:tgtEl>
                                      </p:cBhvr>
                                    </p:animEffect>
                                  </p:childTnLst>
                                </p:cTn>
                              </p:par>
                            </p:childTnLst>
                          </p:cTn>
                        </p:par>
                      </p:childTnLst>
                    </p:cTn>
                  </p:par>
                  <p:par>
                    <p:cTn id="94" fill="hold">
                      <p:stCondLst>
                        <p:cond delay="indefinite"/>
                      </p:stCondLst>
                      <p:childTnLst>
                        <p:par>
                          <p:cTn id="95" fill="hold">
                            <p:stCondLst>
                              <p:cond delay="0"/>
                            </p:stCondLst>
                            <p:childTnLst>
                              <p:par>
                                <p:cTn id="96" presetID="3" presetClass="entr" presetSubtype="10" fill="hold" grpId="1" nodeType="clickEffect">
                                  <p:stCondLst>
                                    <p:cond delay="0"/>
                                  </p:stCondLst>
                                  <p:childTnLst>
                                    <p:set>
                                      <p:cBhvr>
                                        <p:cTn id="97" dur="1" fill="hold">
                                          <p:stCondLst>
                                            <p:cond delay="0"/>
                                          </p:stCondLst>
                                        </p:cTn>
                                        <p:tgtEl>
                                          <p:spTgt spid="19"/>
                                        </p:tgtEl>
                                        <p:attrNameLst>
                                          <p:attrName>style.visibility</p:attrName>
                                        </p:attrNameLst>
                                      </p:cBhvr>
                                      <p:to>
                                        <p:strVal val="visible"/>
                                      </p:to>
                                    </p:set>
                                    <p:animEffect transition="in" filter="blinds(horizontal)">
                                      <p:cBhvr>
                                        <p:cTn id="98" dur="500"/>
                                        <p:tgtEl>
                                          <p:spTgt spid="19"/>
                                        </p:tgtEl>
                                      </p:cBhvr>
                                    </p:animEffec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grpId="0" nodeType="clickEffect">
                                  <p:stCondLst>
                                    <p:cond delay="0"/>
                                  </p:stCondLst>
                                  <p:childTnLst>
                                    <p:set>
                                      <p:cBhvr>
                                        <p:cTn id="102" dur="1" fill="hold">
                                          <p:stCondLst>
                                            <p:cond delay="0"/>
                                          </p:stCondLst>
                                        </p:cTn>
                                        <p:tgtEl>
                                          <p:spTgt spid="17"/>
                                        </p:tgtEl>
                                        <p:attrNameLst>
                                          <p:attrName>style.visibility</p:attrName>
                                        </p:attrNameLst>
                                      </p:cBhvr>
                                      <p:to>
                                        <p:strVal val="visible"/>
                                      </p:to>
                                    </p:set>
                                    <p:animEffect transition="in" filter="blinds(horizontal)">
                                      <p:cBhvr>
                                        <p:cTn id="103" dur="500"/>
                                        <p:tgtEl>
                                          <p:spTgt spid="17"/>
                                        </p:tgtEl>
                                      </p:cBhvr>
                                    </p:animEffect>
                                  </p:childTnLst>
                                </p:cTn>
                              </p:par>
                            </p:childTnLst>
                          </p:cTn>
                        </p:par>
                      </p:childTnLst>
                    </p:cTn>
                  </p:par>
                  <p:par>
                    <p:cTn id="104" fill="hold">
                      <p:stCondLst>
                        <p:cond delay="indefinite"/>
                      </p:stCondLst>
                      <p:childTnLst>
                        <p:par>
                          <p:cTn id="105" fill="hold">
                            <p:stCondLst>
                              <p:cond delay="0"/>
                            </p:stCondLst>
                            <p:childTnLst>
                              <p:par>
                                <p:cTn id="106" presetID="3" presetClass="entr" presetSubtype="10" fill="hold" nodeType="clickEffect">
                                  <p:stCondLst>
                                    <p:cond delay="0"/>
                                  </p:stCondLst>
                                  <p:childTnLst>
                                    <p:set>
                                      <p:cBhvr>
                                        <p:cTn id="107" dur="1" fill="hold">
                                          <p:stCondLst>
                                            <p:cond delay="0"/>
                                          </p:stCondLst>
                                        </p:cTn>
                                        <p:tgtEl>
                                          <p:spTgt spid="24"/>
                                        </p:tgtEl>
                                        <p:attrNameLst>
                                          <p:attrName>style.visibility</p:attrName>
                                        </p:attrNameLst>
                                      </p:cBhvr>
                                      <p:to>
                                        <p:strVal val="visible"/>
                                      </p:to>
                                    </p:set>
                                    <p:animEffect transition="in" filter="blinds(horizontal)">
                                      <p:cBhvr>
                                        <p:cTn id="108" dur="500"/>
                                        <p:tgtEl>
                                          <p:spTgt spid="24"/>
                                        </p:tgtEl>
                                      </p:cBhvr>
                                    </p:animEffect>
                                  </p:childTnLst>
                                </p:cTn>
                              </p:par>
                            </p:childTnLst>
                          </p:cTn>
                        </p:par>
                      </p:childTnLst>
                    </p:cTn>
                  </p:par>
                  <p:par>
                    <p:cTn id="109" fill="hold">
                      <p:stCondLst>
                        <p:cond delay="indefinite"/>
                      </p:stCondLst>
                      <p:childTnLst>
                        <p:par>
                          <p:cTn id="110" fill="hold">
                            <p:stCondLst>
                              <p:cond delay="0"/>
                            </p:stCondLst>
                            <p:childTnLst>
                              <p:par>
                                <p:cTn id="111" presetID="3" presetClass="entr" presetSubtype="10" fill="hold" grpId="0" nodeType="clickEffect">
                                  <p:stCondLst>
                                    <p:cond delay="0"/>
                                  </p:stCondLst>
                                  <p:childTnLst>
                                    <p:set>
                                      <p:cBhvr>
                                        <p:cTn id="112" dur="1" fill="hold">
                                          <p:stCondLst>
                                            <p:cond delay="0"/>
                                          </p:stCondLst>
                                        </p:cTn>
                                        <p:tgtEl>
                                          <p:spTgt spid="18"/>
                                        </p:tgtEl>
                                        <p:attrNameLst>
                                          <p:attrName>style.visibility</p:attrName>
                                        </p:attrNameLst>
                                      </p:cBhvr>
                                      <p:to>
                                        <p:strVal val="visible"/>
                                      </p:to>
                                    </p:set>
                                    <p:animEffect transition="in" filter="blinds(horizontal)">
                                      <p:cBhvr>
                                        <p:cTn id="1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P spid="15" grpId="0" animBg="1"/>
      <p:bldP spid="16" grpId="0" animBg="1"/>
      <p:bldP spid="17" grpId="0" bldLvl="0" animBg="1"/>
      <p:bldP spid="18" grpId="0" animBg="1"/>
      <p:bldP spid="19" grpId="0" animBg="1"/>
      <p:bldP spid="19"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矩形 9220"/>
          <p:cNvSpPr>
            <a:spLocks noChangeArrowheads="1"/>
          </p:cNvSpPr>
          <p:nvPr/>
        </p:nvSpPr>
        <p:spPr bwMode="auto">
          <a:xfrm>
            <a:off x="1547813" y="2920206"/>
            <a:ext cx="863600" cy="360362"/>
          </a:xfrm>
          <a:prstGeom prst="rect">
            <a:avLst/>
          </a:prstGeom>
          <a:solidFill>
            <a:srgbClr val="00B050"/>
          </a:solidFill>
          <a:ln w="9525">
            <a:solidFill>
              <a:schemeClr val="tx1"/>
            </a:solidFill>
            <a:miter lim="800000"/>
          </a:ln>
        </p:spPr>
        <p:txBody>
          <a:bodyPr/>
          <a:lstStyle/>
          <a:p>
            <a:pPr algn="ctr" eaLnBrk="0" hangingPunct="0"/>
            <a:endParaRPr lang="zh-CN" altLang="en-US">
              <a:latin typeface="Times New Roman" panose="02020603050405020304" pitchFamily="18" charset="0"/>
            </a:endParaRPr>
          </a:p>
        </p:txBody>
      </p:sp>
      <p:sp>
        <p:nvSpPr>
          <p:cNvPr id="9222" name="矩形 9221"/>
          <p:cNvSpPr>
            <a:spLocks noChangeArrowheads="1"/>
          </p:cNvSpPr>
          <p:nvPr/>
        </p:nvSpPr>
        <p:spPr bwMode="auto">
          <a:xfrm>
            <a:off x="1547813" y="3815311"/>
            <a:ext cx="863600" cy="360363"/>
          </a:xfrm>
          <a:prstGeom prst="rect">
            <a:avLst/>
          </a:prstGeom>
          <a:solidFill>
            <a:srgbClr val="00B050"/>
          </a:solidFill>
          <a:ln w="9525">
            <a:solidFill>
              <a:schemeClr val="tx1"/>
            </a:solidFill>
            <a:miter lim="800000"/>
          </a:ln>
        </p:spPr>
        <p:txBody>
          <a:bodyPr/>
          <a:lstStyle/>
          <a:p>
            <a:pPr algn="ctr" eaLnBrk="0" hangingPunct="0"/>
            <a:endParaRPr lang="zh-CN" altLang="en-US">
              <a:latin typeface="Times New Roman" panose="02020603050405020304" pitchFamily="18" charset="0"/>
            </a:endParaRPr>
          </a:p>
        </p:txBody>
      </p:sp>
      <p:sp>
        <p:nvSpPr>
          <p:cNvPr id="9223" name="矩形 9222"/>
          <p:cNvSpPr>
            <a:spLocks noChangeArrowheads="1"/>
          </p:cNvSpPr>
          <p:nvPr/>
        </p:nvSpPr>
        <p:spPr bwMode="auto">
          <a:xfrm>
            <a:off x="1532837" y="4676946"/>
            <a:ext cx="863600" cy="360363"/>
          </a:xfrm>
          <a:prstGeom prst="rect">
            <a:avLst/>
          </a:prstGeom>
          <a:solidFill>
            <a:srgbClr val="00B050"/>
          </a:solidFill>
          <a:ln w="9525">
            <a:solidFill>
              <a:schemeClr val="tx1"/>
            </a:solidFill>
            <a:miter lim="800000"/>
          </a:ln>
        </p:spPr>
        <p:txBody>
          <a:bodyPr/>
          <a:lstStyle/>
          <a:p>
            <a:pPr algn="ctr" eaLnBrk="0" hangingPunct="0"/>
            <a:endParaRPr lang="zh-CN" altLang="en-US">
              <a:latin typeface="Times New Roman" panose="02020603050405020304" pitchFamily="18" charset="0"/>
            </a:endParaRPr>
          </a:p>
        </p:txBody>
      </p:sp>
      <p:sp>
        <p:nvSpPr>
          <p:cNvPr id="9220" name="文本框 9219"/>
          <p:cNvSpPr txBox="1">
            <a:spLocks noChangeArrowheads="1"/>
          </p:cNvSpPr>
          <p:nvPr/>
        </p:nvSpPr>
        <p:spPr bwMode="auto">
          <a:xfrm>
            <a:off x="1140873" y="1646490"/>
            <a:ext cx="1728788" cy="4355038"/>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p>
            <a:pPr eaLnBrk="0" hangingPunct="0">
              <a:spcBef>
                <a:spcPct val="50000"/>
              </a:spcBef>
            </a:pPr>
            <a:r>
              <a:rPr lang="zh-CN" altLang="en-US" b="1" dirty="0">
                <a:solidFill>
                  <a:srgbClr val="FF0000"/>
                </a:solidFill>
                <a:latin typeface="Times New Roman" panose="02020603050405020304" pitchFamily="18" charset="0"/>
              </a:rPr>
              <a:t>程序</a:t>
            </a:r>
            <a:r>
              <a:rPr lang="en-US" altLang="zh-CN" dirty="0">
                <a:solidFill>
                  <a:srgbClr val="FF0000"/>
                </a:solidFill>
                <a:latin typeface="Times New Roman" panose="02020603050405020304" pitchFamily="18" charset="0"/>
                <a:ea typeface="宋体" panose="02010600030101010101" pitchFamily="2" charset="-122"/>
              </a:rPr>
              <a:t>A:</a:t>
            </a:r>
            <a:endParaRPr lang="en-US" altLang="zh-CN" dirty="0">
              <a:solidFill>
                <a:srgbClr val="FF0000"/>
              </a:solidFill>
              <a:latin typeface="Times New Roman" panose="02020603050405020304" pitchFamily="18" charset="0"/>
              <a:ea typeface="宋体" panose="02010600030101010101" pitchFamily="2" charset="-122"/>
            </a:endParaRPr>
          </a:p>
          <a:p>
            <a:pPr algn="ctr" eaLnBrk="0" hangingPunct="0">
              <a:spcBef>
                <a:spcPts val="6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i="1" dirty="0">
                <a:latin typeface="Times New Roman" panose="02020603050405020304" pitchFamily="18" charset="0"/>
                <a:ea typeface="宋体" panose="02010600030101010101" pitchFamily="2" charset="-122"/>
              </a:rPr>
              <a:t>a</a:t>
            </a:r>
            <a:r>
              <a:rPr lang="en-US" altLang="zh-CN" sz="2400" baseline="-25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i="1" dirty="0">
                <a:latin typeface="Times New Roman" panose="02020603050405020304" pitchFamily="18" charset="0"/>
                <a:ea typeface="宋体" panose="02010600030101010101" pitchFamily="2" charset="-122"/>
              </a:rPr>
              <a:t>a</a:t>
            </a:r>
            <a:r>
              <a:rPr lang="en-US" altLang="zh-CN" sz="2400" baseline="-25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i="1" dirty="0">
                <a:latin typeface="Times New Roman" panose="02020603050405020304" pitchFamily="18" charset="0"/>
                <a:ea typeface="宋体" panose="02010600030101010101" pitchFamily="2" charset="-122"/>
              </a:rPr>
              <a:t>a</a:t>
            </a:r>
            <a:r>
              <a:rPr lang="en-US" altLang="zh-CN" sz="2400" baseline="-25000" dirty="0">
                <a:latin typeface="Times New Roman" panose="02020603050405020304" pitchFamily="18" charset="0"/>
                <a:ea typeface="宋体" panose="02010600030101010101" pitchFamily="2" charset="-122"/>
              </a:rPr>
              <a:t>3</a:t>
            </a: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i="1" dirty="0">
                <a:latin typeface="Times New Roman" panose="02020603050405020304" pitchFamily="18" charset="0"/>
                <a:ea typeface="宋体" panose="02010600030101010101" pitchFamily="2" charset="-122"/>
              </a:rPr>
              <a:t>a</a:t>
            </a:r>
            <a:r>
              <a:rPr lang="en-US" altLang="zh-CN" sz="2400" baseline="-25000" dirty="0">
                <a:latin typeface="Times New Roman" panose="02020603050405020304" pitchFamily="18" charset="0"/>
                <a:ea typeface="宋体" panose="02010600030101010101" pitchFamily="2" charset="-122"/>
              </a:rPr>
              <a:t>4</a:t>
            </a: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200" dirty="0">
                <a:latin typeface="Times New Roman" panose="02020603050405020304" pitchFamily="18" charset="0"/>
                <a:ea typeface="宋体" panose="02010600030101010101" pitchFamily="2" charset="-122"/>
              </a:rPr>
              <a:t>…</a:t>
            </a:r>
            <a:endParaRPr lang="en-US" altLang="zh-CN" sz="2200" dirty="0">
              <a:latin typeface="Times New Roman" panose="02020603050405020304" pitchFamily="18" charset="0"/>
              <a:ea typeface="宋体" panose="02010600030101010101" pitchFamily="2" charset="-122"/>
            </a:endParaRPr>
          </a:p>
        </p:txBody>
      </p:sp>
      <p:sp>
        <p:nvSpPr>
          <p:cNvPr id="9224" name="文本框 9223"/>
          <p:cNvSpPr txBox="1">
            <a:spLocks noChangeArrowheads="1"/>
          </p:cNvSpPr>
          <p:nvPr/>
        </p:nvSpPr>
        <p:spPr bwMode="auto">
          <a:xfrm>
            <a:off x="4932040" y="1582670"/>
            <a:ext cx="1728787" cy="4385816"/>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p>
            <a:pPr eaLnBrk="0" hangingPunct="0">
              <a:spcBef>
                <a:spcPct val="50000"/>
              </a:spcBef>
            </a:pPr>
            <a:r>
              <a:rPr lang="zh-CN" altLang="en-US" b="1" dirty="0">
                <a:solidFill>
                  <a:srgbClr val="FF0000"/>
                </a:solidFill>
                <a:latin typeface="Times New Roman" panose="02020603050405020304" pitchFamily="18" charset="0"/>
              </a:rPr>
              <a:t>程序</a:t>
            </a:r>
            <a:r>
              <a:rPr lang="en-US" altLang="zh-CN" dirty="0">
                <a:solidFill>
                  <a:srgbClr val="FF0000"/>
                </a:solidFill>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i="1" dirty="0">
                <a:latin typeface="Times New Roman" panose="02020603050405020304" pitchFamily="18" charset="0"/>
                <a:ea typeface="宋体" panose="02010600030101010101" pitchFamily="2" charset="-122"/>
              </a:rPr>
              <a:t>a</a:t>
            </a:r>
            <a:r>
              <a:rPr lang="en-US" altLang="zh-CN" sz="2400" baseline="-25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dirty="0">
                <a:solidFill>
                  <a:srgbClr val="FF0000"/>
                </a:solidFill>
                <a:latin typeface="Times New Roman" panose="02020603050405020304" pitchFamily="18" charset="0"/>
                <a:ea typeface="宋体" panose="02010600030101010101" pitchFamily="2" charset="-122"/>
              </a:rPr>
              <a:t>B;</a:t>
            </a:r>
            <a:endParaRPr lang="en-US" altLang="zh-CN" sz="2400" dirty="0">
              <a:solidFill>
                <a:srgbClr val="FF0000"/>
              </a:solidFill>
              <a:latin typeface="Times New Roman" panose="02020603050405020304" pitchFamily="18" charset="0"/>
              <a:ea typeface="宋体" panose="02010600030101010101" pitchFamily="2" charset="-122"/>
            </a:endParaRPr>
          </a:p>
          <a:p>
            <a:pPr algn="ctr" eaLnBrk="0" hangingPunct="0">
              <a:spcBef>
                <a:spcPts val="600"/>
              </a:spcBef>
            </a:pPr>
            <a:r>
              <a:rPr lang="en-US" altLang="zh-CN" sz="2400" i="1" dirty="0">
                <a:latin typeface="Times New Roman" panose="02020603050405020304" pitchFamily="18" charset="0"/>
                <a:ea typeface="宋体" panose="02010600030101010101" pitchFamily="2" charset="-122"/>
              </a:rPr>
              <a:t>a</a:t>
            </a:r>
            <a:r>
              <a:rPr lang="en-US" altLang="zh-CN" sz="2400" baseline="-25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dirty="0">
                <a:solidFill>
                  <a:srgbClr val="FF0000"/>
                </a:solidFill>
                <a:latin typeface="Times New Roman" panose="02020603050405020304" pitchFamily="18" charset="0"/>
                <a:ea typeface="宋体" panose="02010600030101010101" pitchFamily="2" charset="-122"/>
              </a:rPr>
              <a:t>B;</a:t>
            </a:r>
            <a:endParaRPr lang="en-US" altLang="zh-CN" sz="2400" dirty="0">
              <a:solidFill>
                <a:srgbClr val="FF0000"/>
              </a:solidFill>
              <a:latin typeface="Times New Roman" panose="02020603050405020304" pitchFamily="18" charset="0"/>
              <a:ea typeface="宋体" panose="02010600030101010101" pitchFamily="2" charset="-122"/>
            </a:endParaRPr>
          </a:p>
          <a:p>
            <a:pPr algn="ctr" eaLnBrk="0" hangingPunct="0">
              <a:spcBef>
                <a:spcPts val="600"/>
              </a:spcBef>
            </a:pPr>
            <a:r>
              <a:rPr lang="en-US" altLang="zh-CN" sz="2400" i="1" dirty="0">
                <a:latin typeface="Times New Roman" panose="02020603050405020304" pitchFamily="18" charset="0"/>
                <a:ea typeface="宋体" panose="02010600030101010101" pitchFamily="2" charset="-122"/>
              </a:rPr>
              <a:t>a</a:t>
            </a:r>
            <a:r>
              <a:rPr lang="en-US" altLang="zh-CN" sz="2400" baseline="-25000" dirty="0">
                <a:latin typeface="Times New Roman" panose="02020603050405020304" pitchFamily="18" charset="0"/>
                <a:ea typeface="宋体" panose="02010600030101010101" pitchFamily="2" charset="-122"/>
              </a:rPr>
              <a:t>3</a:t>
            </a: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dirty="0">
                <a:solidFill>
                  <a:srgbClr val="FF0000"/>
                </a:solidFill>
                <a:latin typeface="Times New Roman" panose="02020603050405020304" pitchFamily="18" charset="0"/>
                <a:ea typeface="宋体" panose="02010600030101010101" pitchFamily="2" charset="-122"/>
              </a:rPr>
              <a:t>B;</a:t>
            </a:r>
            <a:endParaRPr lang="en-US" altLang="zh-CN" sz="2400" dirty="0">
              <a:solidFill>
                <a:srgbClr val="FF0000"/>
              </a:solidFill>
              <a:latin typeface="Times New Roman" panose="02020603050405020304" pitchFamily="18" charset="0"/>
              <a:ea typeface="宋体" panose="02010600030101010101" pitchFamily="2" charset="-122"/>
            </a:endParaRPr>
          </a:p>
          <a:p>
            <a:pPr algn="ctr" eaLnBrk="0" hangingPunct="0">
              <a:spcBef>
                <a:spcPts val="600"/>
              </a:spcBef>
            </a:pPr>
            <a:r>
              <a:rPr lang="en-US" altLang="zh-CN" sz="2400" i="1" dirty="0">
                <a:latin typeface="Times New Roman" panose="02020603050405020304" pitchFamily="18" charset="0"/>
                <a:ea typeface="宋体" panose="02010600030101010101" pitchFamily="2" charset="-122"/>
              </a:rPr>
              <a:t>a</a:t>
            </a:r>
            <a:r>
              <a:rPr lang="en-US" altLang="zh-CN" sz="2400" baseline="-25000" dirty="0">
                <a:latin typeface="Times New Roman" panose="02020603050405020304" pitchFamily="18" charset="0"/>
                <a:ea typeface="宋体" panose="02010600030101010101" pitchFamily="2" charset="-122"/>
              </a:rPr>
              <a:t>4</a:t>
            </a: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9225" name="燕尾形箭头 9224"/>
          <p:cNvSpPr>
            <a:spLocks noChangeArrowheads="1"/>
          </p:cNvSpPr>
          <p:nvPr/>
        </p:nvSpPr>
        <p:spPr bwMode="auto">
          <a:xfrm>
            <a:off x="3164498" y="3361772"/>
            <a:ext cx="1512888" cy="360362"/>
          </a:xfrm>
          <a:prstGeom prst="notchedRightArrow">
            <a:avLst>
              <a:gd name="adj1" fmla="val 50000"/>
              <a:gd name="adj2" fmla="val 74838"/>
            </a:avLst>
          </a:prstGeom>
          <a:solidFill>
            <a:srgbClr val="FF0000"/>
          </a:solidFill>
          <a:ln w="9525">
            <a:solidFill>
              <a:schemeClr val="accent2"/>
            </a:solidFill>
            <a:miter lim="800000"/>
          </a:ln>
        </p:spPr>
        <p:txBody>
          <a:bodyPr wrap="none" anchor="ctr"/>
          <a:lstStyle/>
          <a:p>
            <a:pPr algn="ctr" eaLnBrk="0" hangingPunct="0"/>
            <a:endParaRPr lang="zh-CN" altLang="en-US">
              <a:solidFill>
                <a:schemeClr val="accent2"/>
              </a:solidFill>
              <a:latin typeface="Times New Roman" panose="02020603050405020304" pitchFamily="18" charset="0"/>
              <a:ea typeface="宋体" panose="02010600030101010101" pitchFamily="2" charset="-122"/>
            </a:endParaRPr>
          </a:p>
        </p:txBody>
      </p:sp>
      <p:sp>
        <p:nvSpPr>
          <p:cNvPr id="9226" name="文本框 9225"/>
          <p:cNvSpPr txBox="1">
            <a:spLocks noChangeArrowheads="1"/>
          </p:cNvSpPr>
          <p:nvPr/>
        </p:nvSpPr>
        <p:spPr bwMode="auto">
          <a:xfrm>
            <a:off x="7341357" y="3202075"/>
            <a:ext cx="1079500" cy="369332"/>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eaLnBrk="0" hangingPunct="0">
              <a:spcBef>
                <a:spcPct val="50000"/>
              </a:spcBef>
            </a:pPr>
            <a:r>
              <a:rPr lang="zh-CN" altLang="en-US">
                <a:latin typeface="Times New Roman" panose="02020603050405020304" pitchFamily="18" charset="0"/>
                <a:ea typeface="宋体" panose="02010600030101010101" pitchFamily="2" charset="-122"/>
              </a:rPr>
              <a:t>子程序</a:t>
            </a:r>
            <a:r>
              <a:rPr lang="en-US" altLang="zh-CN">
                <a:latin typeface="Times New Roman" panose="02020603050405020304" pitchFamily="18" charset="0"/>
                <a:ea typeface="宋体" panose="02010600030101010101" pitchFamily="2" charset="-122"/>
              </a:rPr>
              <a:t>B</a:t>
            </a:r>
            <a:endParaRPr lang="en-US" altLang="zh-CN">
              <a:latin typeface="Times New Roman" panose="02020603050405020304" pitchFamily="18" charset="0"/>
              <a:ea typeface="宋体" panose="02010600030101010101" pitchFamily="2" charset="-122"/>
            </a:endParaRPr>
          </a:p>
        </p:txBody>
      </p:sp>
      <p:sp>
        <p:nvSpPr>
          <p:cNvPr id="9229" name="文本框 9228"/>
          <p:cNvSpPr txBox="1">
            <a:spLocks noChangeArrowheads="1"/>
          </p:cNvSpPr>
          <p:nvPr/>
        </p:nvSpPr>
        <p:spPr bwMode="auto">
          <a:xfrm>
            <a:off x="5219700" y="2857396"/>
            <a:ext cx="1079500" cy="369332"/>
          </a:xfrm>
          <a:prstGeom prst="rect">
            <a:avLst/>
          </a:prstGeom>
          <a:solidFill>
            <a:srgbClr val="FFCC00"/>
          </a:solidFill>
          <a:ln w="28575">
            <a:solidFill>
              <a:srgbClr val="FFC000"/>
            </a:solidFill>
            <a:miter lim="800000"/>
          </a:ln>
        </p:spPr>
        <p:txBody>
          <a:bodyPr>
            <a:spAutoFit/>
          </a:bodyPr>
          <a:lstStyle/>
          <a:p>
            <a:pPr algn="ctr" eaLnBrk="0" hangingPunct="0">
              <a:spcBef>
                <a:spcPct val="50000"/>
              </a:spcBef>
            </a:pPr>
            <a:r>
              <a:rPr lang="en-US" altLang="zh-CN">
                <a:latin typeface="Times New Roman" panose="02020603050405020304" pitchFamily="18" charset="0"/>
                <a:ea typeface="宋体" panose="02010600030101010101" pitchFamily="2" charset="-122"/>
              </a:rPr>
              <a:t>Call B</a:t>
            </a:r>
            <a:endParaRPr lang="en-US" altLang="zh-CN">
              <a:latin typeface="Times New Roman" panose="02020603050405020304" pitchFamily="18" charset="0"/>
              <a:ea typeface="宋体" panose="02010600030101010101" pitchFamily="2" charset="-122"/>
            </a:endParaRPr>
          </a:p>
        </p:txBody>
      </p:sp>
      <p:sp>
        <p:nvSpPr>
          <p:cNvPr id="9230" name="文本框 9229"/>
          <p:cNvSpPr txBox="1">
            <a:spLocks noChangeArrowheads="1"/>
          </p:cNvSpPr>
          <p:nvPr/>
        </p:nvSpPr>
        <p:spPr bwMode="auto">
          <a:xfrm>
            <a:off x="5219700" y="3741078"/>
            <a:ext cx="1079500" cy="369332"/>
          </a:xfrm>
          <a:prstGeom prst="rect">
            <a:avLst/>
          </a:prstGeom>
          <a:solidFill>
            <a:srgbClr val="FFCC00"/>
          </a:solidFill>
          <a:ln w="28575">
            <a:solidFill>
              <a:srgbClr val="FFC000"/>
            </a:solidFill>
            <a:miter lim="800000"/>
          </a:ln>
        </p:spPr>
        <p:txBody>
          <a:bodyPr>
            <a:spAutoFit/>
          </a:bodyPr>
          <a:lstStyle/>
          <a:p>
            <a:pPr algn="ctr" eaLnBrk="0" hangingPunct="0">
              <a:spcBef>
                <a:spcPct val="50000"/>
              </a:spcBef>
            </a:pPr>
            <a:r>
              <a:rPr lang="en-US" altLang="zh-CN">
                <a:latin typeface="Times New Roman" panose="02020603050405020304" pitchFamily="18" charset="0"/>
                <a:ea typeface="宋体" panose="02010600030101010101" pitchFamily="2" charset="-122"/>
              </a:rPr>
              <a:t>Call B</a:t>
            </a:r>
            <a:endParaRPr lang="en-US" altLang="zh-CN">
              <a:latin typeface="Times New Roman" panose="02020603050405020304" pitchFamily="18" charset="0"/>
              <a:ea typeface="宋体" panose="02010600030101010101" pitchFamily="2" charset="-122"/>
            </a:endParaRPr>
          </a:p>
        </p:txBody>
      </p:sp>
      <p:sp>
        <p:nvSpPr>
          <p:cNvPr id="9231" name="文本框 9230"/>
          <p:cNvSpPr txBox="1">
            <a:spLocks noChangeArrowheads="1"/>
          </p:cNvSpPr>
          <p:nvPr/>
        </p:nvSpPr>
        <p:spPr bwMode="auto">
          <a:xfrm>
            <a:off x="5236952" y="4628922"/>
            <a:ext cx="1079500" cy="369332"/>
          </a:xfrm>
          <a:prstGeom prst="rect">
            <a:avLst/>
          </a:prstGeom>
          <a:solidFill>
            <a:srgbClr val="FFCC00"/>
          </a:solidFill>
          <a:ln w="28575">
            <a:solidFill>
              <a:srgbClr val="FFC000"/>
            </a:solidFill>
            <a:miter lim="800000"/>
          </a:ln>
        </p:spPr>
        <p:txBody>
          <a:bodyPr>
            <a:spAutoFit/>
          </a:bodyPr>
          <a:lstStyle/>
          <a:p>
            <a:pPr algn="ctr" eaLnBrk="0" hangingPunct="0">
              <a:spcBef>
                <a:spcPct val="50000"/>
              </a:spcBef>
            </a:pPr>
            <a:r>
              <a:rPr lang="en-US" altLang="zh-CN" dirty="0">
                <a:latin typeface="Times New Roman" panose="02020603050405020304" pitchFamily="18" charset="0"/>
                <a:ea typeface="宋体" panose="02010600030101010101" pitchFamily="2" charset="-122"/>
              </a:rPr>
              <a:t>Call B</a:t>
            </a:r>
            <a:endParaRPr lang="en-US" altLang="zh-CN" dirty="0">
              <a:latin typeface="Times New Roman" panose="02020603050405020304" pitchFamily="18" charset="0"/>
              <a:ea typeface="宋体" panose="02010600030101010101" pitchFamily="2" charset="-122"/>
            </a:endParaRPr>
          </a:p>
        </p:txBody>
      </p:sp>
      <p:sp>
        <p:nvSpPr>
          <p:cNvPr id="9232" name="线形标注 1 9231"/>
          <p:cNvSpPr/>
          <p:nvPr/>
        </p:nvSpPr>
        <p:spPr bwMode="auto">
          <a:xfrm>
            <a:off x="3059112" y="2075964"/>
            <a:ext cx="1368872" cy="428167"/>
          </a:xfrm>
          <a:prstGeom prst="borderCallout1">
            <a:avLst>
              <a:gd name="adj1" fmla="val 56380"/>
              <a:gd name="adj2" fmla="val 107"/>
              <a:gd name="adj3" fmla="val 207458"/>
              <a:gd name="adj4" fmla="val -48789"/>
            </a:avLst>
          </a:prstGeom>
          <a:solidFill>
            <a:srgbClr val="FFFF00"/>
          </a:solidFill>
          <a:ln w="22225">
            <a:solidFill>
              <a:schemeClr val="tx1"/>
            </a:solidFill>
            <a:miter lim="800000"/>
            <a:headEnd type="triangle" w="med" len="med"/>
          </a:ln>
        </p:spPr>
        <p:txBody>
          <a:bodyPr/>
          <a:lstStyle/>
          <a:p>
            <a:pPr algn="ctr" eaLnBrk="0" hangingPunct="0"/>
            <a:r>
              <a:rPr lang="zh-CN" altLang="en-US" dirty="0">
                <a:solidFill>
                  <a:srgbClr val="FF0000"/>
                </a:solidFill>
                <a:latin typeface="Times New Roman" panose="02020603050405020304" pitchFamily="18" charset="0"/>
                <a:ea typeface="宋体" panose="02010600030101010101" pitchFamily="2" charset="-122"/>
              </a:rPr>
              <a:t>重复出现！</a:t>
            </a:r>
            <a:endParaRPr lang="zh-CN" altLang="en-US" dirty="0">
              <a:solidFill>
                <a:srgbClr val="FF0000"/>
              </a:solidFill>
              <a:latin typeface="Times New Roman" panose="02020603050405020304" pitchFamily="18" charset="0"/>
              <a:ea typeface="宋体" panose="02010600030101010101" pitchFamily="2" charset="-122"/>
            </a:endParaRPr>
          </a:p>
        </p:txBody>
      </p:sp>
      <p:sp>
        <p:nvSpPr>
          <p:cNvPr id="9233" name="直接连接符 9232"/>
          <p:cNvSpPr>
            <a:spLocks noChangeShapeType="1"/>
          </p:cNvSpPr>
          <p:nvPr/>
        </p:nvSpPr>
        <p:spPr bwMode="auto">
          <a:xfrm flipH="1">
            <a:off x="2411411" y="2504133"/>
            <a:ext cx="647701" cy="1311178"/>
          </a:xfrm>
          <a:prstGeom prst="line">
            <a:avLst/>
          </a:prstGeom>
          <a:noFill/>
          <a:ln w="22225">
            <a:solidFill>
              <a:schemeClr val="tx1"/>
            </a:solidFill>
            <a:round/>
            <a:headEnd type="triangle"/>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ndParaRPr>
          </a:p>
        </p:txBody>
      </p:sp>
      <p:sp>
        <p:nvSpPr>
          <p:cNvPr id="9234" name="直接连接符 9233"/>
          <p:cNvSpPr>
            <a:spLocks noChangeShapeType="1"/>
          </p:cNvSpPr>
          <p:nvPr/>
        </p:nvSpPr>
        <p:spPr bwMode="auto">
          <a:xfrm flipH="1">
            <a:off x="2396437" y="2504131"/>
            <a:ext cx="833586" cy="2172815"/>
          </a:xfrm>
          <a:prstGeom prst="line">
            <a:avLst/>
          </a:prstGeom>
          <a:noFill/>
          <a:ln w="22225">
            <a:solidFill>
              <a:schemeClr val="tx1"/>
            </a:solidFill>
            <a:round/>
            <a:headEnd type="triangle"/>
            <a:tailEnd type="none"/>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ndParaRPr>
          </a:p>
        </p:txBody>
      </p:sp>
      <p:grpSp>
        <p:nvGrpSpPr>
          <p:cNvPr id="22" name="组合 114"/>
          <p:cNvGrpSpPr/>
          <p:nvPr/>
        </p:nvGrpSpPr>
        <p:grpSpPr>
          <a:xfrm>
            <a:off x="493395" y="105077"/>
            <a:ext cx="6505435" cy="679778"/>
            <a:chOff x="933887" y="3363717"/>
            <a:chExt cx="6505435" cy="679778"/>
          </a:xfrm>
        </p:grpSpPr>
        <p:grpSp>
          <p:nvGrpSpPr>
            <p:cNvPr id="23" name="组合 105"/>
            <p:cNvGrpSpPr/>
            <p:nvPr/>
          </p:nvGrpSpPr>
          <p:grpSpPr>
            <a:xfrm>
              <a:off x="933887" y="3363717"/>
              <a:ext cx="6505435" cy="679778"/>
              <a:chOff x="933887" y="3363717"/>
              <a:chExt cx="6505435" cy="679778"/>
            </a:xfrm>
          </p:grpSpPr>
          <p:sp>
            <p:nvSpPr>
              <p:cNvPr id="25"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6" name="TextBox 6"/>
              <p:cNvSpPr txBox="1">
                <a:spLocks noChangeArrowheads="1"/>
              </p:cNvSpPr>
              <p:nvPr/>
            </p:nvSpPr>
            <p:spPr bwMode="auto">
              <a:xfrm>
                <a:off x="1214282"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7.3 </a:t>
                </a:r>
                <a:r>
                  <a:rPr lang="zh-CN" altLang="en-US" sz="3600" b="1" dirty="0">
                    <a:latin typeface="Times New Roman" panose="02020603050405020304" pitchFamily="18" charset="0"/>
                    <a:ea typeface="黑体" panose="02010609060101010101" pitchFamily="49" charset="-122"/>
                  </a:rPr>
                  <a:t>递归的内部实现原理</a:t>
                </a:r>
                <a:endParaRPr lang="zh-CN" altLang="en-US" sz="3600" b="1" dirty="0">
                  <a:latin typeface="Times New Roman" panose="02020603050405020304" pitchFamily="18" charset="0"/>
                  <a:ea typeface="黑体" panose="02010609060101010101" pitchFamily="49" charset="-122"/>
                </a:endParaRPr>
              </a:p>
            </p:txBody>
          </p:sp>
        </p:grpSp>
        <p:pic>
          <p:nvPicPr>
            <p:cNvPr id="24" name="图片 23" descr="12.jpg"/>
            <p:cNvPicPr>
              <a:picLocks noChangeAspect="1"/>
            </p:cNvPicPr>
            <p:nvPr/>
          </p:nvPicPr>
          <p:blipFill>
            <a:blip r:embed="rId1" cstate="print"/>
            <a:stretch>
              <a:fillRect/>
            </a:stretch>
          </p:blipFill>
          <p:spPr>
            <a:xfrm>
              <a:off x="1115929" y="3530600"/>
              <a:ext cx="446172" cy="431048"/>
            </a:xfrm>
            <a:prstGeom prst="rect">
              <a:avLst/>
            </a:prstGeom>
          </p:spPr>
        </p:pic>
      </p:grpSp>
      <p:sp>
        <p:nvSpPr>
          <p:cNvPr id="28" name="内容占位符 9218"/>
          <p:cNvSpPr>
            <a:spLocks noGrp="1" noChangeArrowheads="1"/>
          </p:cNvSpPr>
          <p:nvPr>
            <p:ph idx="1"/>
          </p:nvPr>
        </p:nvSpPr>
        <p:spPr>
          <a:xfrm>
            <a:off x="405125" y="934690"/>
            <a:ext cx="8229600" cy="4678451"/>
          </a:xfrm>
        </p:spPr>
        <p:txBody>
          <a:bodyPr/>
          <a:lstStyle/>
          <a:p>
            <a:pPr>
              <a:buClr>
                <a:srgbClr val="FF0000"/>
              </a:buClr>
              <a:buFont typeface="Wingdings" panose="05000000000000000000" pitchFamily="2" charset="2"/>
              <a:buChar char="Ø"/>
            </a:pPr>
            <a:r>
              <a:rPr lang="en-US" altLang="zh-CN" sz="2800" b="1" dirty="0"/>
              <a:t>7.3.1 </a:t>
            </a:r>
            <a:r>
              <a:rPr lang="zh-CN" altLang="en-US" sz="2800" b="1" dirty="0"/>
              <a:t>一般函数的内部实现 </a:t>
            </a:r>
            <a:endParaRPr lang="zh-CN" altLang="en-US" sz="2800" b="1" dirty="0"/>
          </a:p>
          <a:p>
            <a:pPr>
              <a:buFont typeface="Wingdings" panose="05000000000000000000" pitchFamily="2" charset="2"/>
              <a:buNone/>
            </a:pPr>
            <a:endParaRPr lang="zh-CN" altLang="en-US" sz="2200" b="1" dirty="0"/>
          </a:p>
          <a:p>
            <a:pPr>
              <a:buFont typeface="Wingdings" panose="05000000000000000000" pitchFamily="2" charset="2"/>
              <a:buNone/>
            </a:pPr>
            <a:endParaRPr lang="zh-CN" altLang="en-US" sz="2400" dirty="0"/>
          </a:p>
          <a:p>
            <a:pPr>
              <a:buFont typeface="Wingdings" panose="05000000000000000000" pitchFamily="2" charset="2"/>
              <a:buNone/>
            </a:pPr>
            <a:endParaRPr lang="zh-CN" altLang="en-US" sz="2400" dirty="0"/>
          </a:p>
          <a:p>
            <a:pPr>
              <a:buFont typeface="Wingdings" panose="05000000000000000000" pitchFamily="2" charset="2"/>
              <a:buNone/>
            </a:pPr>
            <a:endParaRPr lang="zh-CN" altLang="en-US" sz="2000" dirty="0"/>
          </a:p>
          <a:p>
            <a:pPr>
              <a:buFont typeface="Wingdings" panose="05000000000000000000" pitchFamily="2" charset="2"/>
              <a:buNone/>
            </a:pPr>
            <a:endParaRPr lang="zh-CN" altLang="en-US" sz="2000" dirty="0"/>
          </a:p>
          <a:p>
            <a:pPr>
              <a:buFont typeface="Wingdings" panose="05000000000000000000" pitchFamily="2" charset="2"/>
              <a:buNone/>
            </a:pPr>
            <a:endParaRPr lang="zh-CN" altLang="en-US" sz="2400" dirty="0"/>
          </a:p>
          <a:p>
            <a:pPr>
              <a:buFont typeface="Wingdings" panose="05000000000000000000" pitchFamily="2" charset="2"/>
              <a:buNone/>
            </a:pPr>
            <a:endParaRPr lang="zh-CN" altLang="en-US" sz="2400" dirty="0"/>
          </a:p>
          <a:p>
            <a:pPr>
              <a:buFont typeface="Wingdings" panose="05000000000000000000" pitchFamily="2" charset="2"/>
              <a:buNone/>
            </a:pPr>
            <a:endParaRPr lang="zh-CN" altLang="en-US" sz="2400" dirty="0"/>
          </a:p>
          <a:p>
            <a:pPr>
              <a:buFont typeface="Wingdings" panose="05000000000000000000" pitchFamily="2" charset="2"/>
              <a:buNone/>
            </a:pPr>
            <a:endParaRPr lang="zh-CN" altLang="en-US" sz="2400" dirty="0"/>
          </a:p>
        </p:txBody>
      </p:sp>
      <p:grpSp>
        <p:nvGrpSpPr>
          <p:cNvPr id="30" name="组合 29"/>
          <p:cNvGrpSpPr/>
          <p:nvPr/>
        </p:nvGrpSpPr>
        <p:grpSpPr>
          <a:xfrm>
            <a:off x="6316452" y="2684739"/>
            <a:ext cx="1628500" cy="517336"/>
            <a:chOff x="6316452" y="2625523"/>
            <a:chExt cx="1628500" cy="517336"/>
          </a:xfrm>
        </p:grpSpPr>
        <p:cxnSp>
          <p:nvCxnSpPr>
            <p:cNvPr id="4" name="直接连接符 3"/>
            <p:cNvCxnSpPr/>
            <p:nvPr/>
          </p:nvCxnSpPr>
          <p:spPr>
            <a:xfrm flipV="1">
              <a:off x="6316452" y="2625523"/>
              <a:ext cx="1628500" cy="29468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flipH="1">
              <a:off x="7740352" y="2625523"/>
              <a:ext cx="204600" cy="51733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nvGrpSpPr>
        <p:grpSpPr>
          <a:xfrm>
            <a:off x="6314536" y="3225110"/>
            <a:ext cx="1305464" cy="918343"/>
            <a:chOff x="6314536" y="3225110"/>
            <a:chExt cx="1305464" cy="918343"/>
          </a:xfrm>
        </p:grpSpPr>
        <p:cxnSp>
          <p:nvCxnSpPr>
            <p:cNvPr id="8" name="直接箭头连接符 7"/>
            <p:cNvCxnSpPr/>
            <p:nvPr/>
          </p:nvCxnSpPr>
          <p:spPr>
            <a:xfrm flipH="1">
              <a:off x="7338168" y="3571407"/>
              <a:ext cx="281832" cy="572046"/>
            </a:xfrm>
            <a:prstGeom prst="straightConnector1">
              <a:avLst/>
            </a:prstGeom>
            <a:ln w="2222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flipV="1">
              <a:off x="6314536" y="3225110"/>
              <a:ext cx="1023632" cy="918343"/>
            </a:xfrm>
            <a:prstGeom prst="line">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1" name="矩形 30"/>
          <p:cNvSpPr/>
          <p:nvPr/>
        </p:nvSpPr>
        <p:spPr>
          <a:xfrm>
            <a:off x="3092719" y="3841763"/>
            <a:ext cx="1629289" cy="566241"/>
          </a:xfrm>
          <a:prstGeom prst="rect">
            <a:avLst/>
          </a:prstGeom>
          <a:solidFill>
            <a:srgbClr val="FFFF00"/>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hangingPunct="0"/>
            <a:r>
              <a:rPr lang="zh-CN" altLang="en-US" dirty="0">
                <a:solidFill>
                  <a:schemeClr val="tx1"/>
                </a:solidFill>
                <a:latin typeface="Times New Roman" panose="02020603050405020304" pitchFamily="18" charset="0"/>
              </a:rPr>
              <a:t>将重复部分抽取为子程序</a:t>
            </a:r>
            <a:endParaRPr lang="zh-CN" altLang="en-US" dirty="0">
              <a:solidFill>
                <a:schemeClr val="tx1"/>
              </a:solidFill>
              <a:latin typeface="Times New Roman" panose="02020603050405020304" pitchFamily="18" charset="0"/>
            </a:endParaRPr>
          </a:p>
        </p:txBody>
      </p:sp>
      <p:sp>
        <p:nvSpPr>
          <p:cNvPr id="3" name="页脚占位符 2"/>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iterate type="wd">
                                    <p:tmPct val="10000"/>
                                  </p:iterate>
                                  <p:childTnLst>
                                    <p:set>
                                      <p:cBhvr>
                                        <p:cTn id="10" dur="1" fill="hold">
                                          <p:stCondLst>
                                            <p:cond delay="0"/>
                                          </p:stCondLst>
                                        </p:cTn>
                                        <p:tgtEl>
                                          <p:spTgt spid="9220"/>
                                        </p:tgtEl>
                                        <p:attrNameLst>
                                          <p:attrName>style.visibility</p:attrName>
                                        </p:attrNameLst>
                                      </p:cBhvr>
                                      <p:to>
                                        <p:strVal val="visible"/>
                                      </p:to>
                                    </p:set>
                                    <p:animEffect transition="in" filter="blinds(horizontal)">
                                      <p:cBhvr>
                                        <p:cTn id="11" dur="500"/>
                                        <p:tgtEl>
                                          <p:spTgt spid="9220"/>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9221"/>
                                        </p:tgtEl>
                                        <p:attrNameLst>
                                          <p:attrName>style.visibility</p:attrName>
                                        </p:attrNameLst>
                                      </p:cBhvr>
                                      <p:to>
                                        <p:strVal val="visible"/>
                                      </p:to>
                                    </p:set>
                                    <p:animEffect transition="in" filter="blinds(horizontal)">
                                      <p:cBhvr>
                                        <p:cTn id="16" dur="500"/>
                                        <p:tgtEl>
                                          <p:spTgt spid="9221"/>
                                        </p:tgtEl>
                                      </p:cBhvr>
                                    </p:animEffect>
                                  </p:childTnLst>
                                </p:cTn>
                              </p:par>
                              <p:par>
                                <p:cTn id="17" presetID="3" presetClass="entr" presetSubtype="10" fill="hold" nodeType="withEffect">
                                  <p:stCondLst>
                                    <p:cond delay="0"/>
                                  </p:stCondLst>
                                  <p:childTnLst>
                                    <p:set>
                                      <p:cBhvr>
                                        <p:cTn id="18" dur="1" fill="hold">
                                          <p:stCondLst>
                                            <p:cond delay="0"/>
                                          </p:stCondLst>
                                        </p:cTn>
                                        <p:tgtEl>
                                          <p:spTgt spid="9222"/>
                                        </p:tgtEl>
                                        <p:attrNameLst>
                                          <p:attrName>style.visibility</p:attrName>
                                        </p:attrNameLst>
                                      </p:cBhvr>
                                      <p:to>
                                        <p:strVal val="visible"/>
                                      </p:to>
                                    </p:set>
                                    <p:animEffect transition="in" filter="blinds(horizontal)">
                                      <p:cBhvr>
                                        <p:cTn id="19" dur="500"/>
                                        <p:tgtEl>
                                          <p:spTgt spid="9222"/>
                                        </p:tgtEl>
                                      </p:cBhvr>
                                    </p:animEffect>
                                  </p:childTnLst>
                                </p:cTn>
                              </p:par>
                              <p:par>
                                <p:cTn id="20" presetID="3" presetClass="entr" presetSubtype="10" fill="hold" nodeType="withEffect">
                                  <p:stCondLst>
                                    <p:cond delay="0"/>
                                  </p:stCondLst>
                                  <p:childTnLst>
                                    <p:set>
                                      <p:cBhvr>
                                        <p:cTn id="21" dur="1" fill="hold">
                                          <p:stCondLst>
                                            <p:cond delay="0"/>
                                          </p:stCondLst>
                                        </p:cTn>
                                        <p:tgtEl>
                                          <p:spTgt spid="9223"/>
                                        </p:tgtEl>
                                        <p:attrNameLst>
                                          <p:attrName>style.visibility</p:attrName>
                                        </p:attrNameLst>
                                      </p:cBhvr>
                                      <p:to>
                                        <p:strVal val="visible"/>
                                      </p:to>
                                    </p:set>
                                    <p:animEffect transition="in" filter="blinds(horizontal)">
                                      <p:cBhvr>
                                        <p:cTn id="22" dur="500"/>
                                        <p:tgtEl>
                                          <p:spTgt spid="922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232"/>
                                        </p:tgtEl>
                                        <p:attrNameLst>
                                          <p:attrName>style.visibility</p:attrName>
                                        </p:attrNameLst>
                                      </p:cBhvr>
                                      <p:to>
                                        <p:strVal val="visible"/>
                                      </p:to>
                                    </p:set>
                                    <p:animEffect transition="in" filter="blinds(horizontal)">
                                      <p:cBhvr>
                                        <p:cTn id="27" dur="500"/>
                                        <p:tgtEl>
                                          <p:spTgt spid="9232"/>
                                        </p:tgtEl>
                                      </p:cBhvr>
                                    </p:animEffect>
                                  </p:childTnLst>
                                </p:cTn>
                              </p:par>
                              <p:par>
                                <p:cTn id="28" presetID="3" presetClass="entr" presetSubtype="10" fill="hold" nodeType="withEffect">
                                  <p:stCondLst>
                                    <p:cond delay="0"/>
                                  </p:stCondLst>
                                  <p:childTnLst>
                                    <p:set>
                                      <p:cBhvr>
                                        <p:cTn id="29" dur="1" fill="hold">
                                          <p:stCondLst>
                                            <p:cond delay="0"/>
                                          </p:stCondLst>
                                        </p:cTn>
                                        <p:tgtEl>
                                          <p:spTgt spid="9233"/>
                                        </p:tgtEl>
                                        <p:attrNameLst>
                                          <p:attrName>style.visibility</p:attrName>
                                        </p:attrNameLst>
                                      </p:cBhvr>
                                      <p:to>
                                        <p:strVal val="visible"/>
                                      </p:to>
                                    </p:set>
                                    <p:animEffect transition="in" filter="blinds(horizontal)">
                                      <p:cBhvr>
                                        <p:cTn id="30" dur="500"/>
                                        <p:tgtEl>
                                          <p:spTgt spid="9233"/>
                                        </p:tgtEl>
                                      </p:cBhvr>
                                    </p:animEffect>
                                  </p:childTnLst>
                                </p:cTn>
                              </p:par>
                              <p:par>
                                <p:cTn id="31" presetID="3" presetClass="entr" presetSubtype="10" fill="hold" nodeType="withEffect">
                                  <p:stCondLst>
                                    <p:cond delay="0"/>
                                  </p:stCondLst>
                                  <p:childTnLst>
                                    <p:set>
                                      <p:cBhvr>
                                        <p:cTn id="32" dur="1" fill="hold">
                                          <p:stCondLst>
                                            <p:cond delay="0"/>
                                          </p:stCondLst>
                                        </p:cTn>
                                        <p:tgtEl>
                                          <p:spTgt spid="9234"/>
                                        </p:tgtEl>
                                        <p:attrNameLst>
                                          <p:attrName>style.visibility</p:attrName>
                                        </p:attrNameLst>
                                      </p:cBhvr>
                                      <p:to>
                                        <p:strVal val="visible"/>
                                      </p:to>
                                    </p:set>
                                    <p:animEffect transition="in" filter="blinds(horizontal)">
                                      <p:cBhvr>
                                        <p:cTn id="33" dur="500"/>
                                        <p:tgtEl>
                                          <p:spTgt spid="9234"/>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31"/>
                                        </p:tgtEl>
                                        <p:attrNameLst>
                                          <p:attrName>style.visibility</p:attrName>
                                        </p:attrNameLst>
                                      </p:cBhvr>
                                      <p:to>
                                        <p:strVal val="visible"/>
                                      </p:to>
                                    </p:set>
                                    <p:anim calcmode="lin" valueType="num">
                                      <p:cBhvr additive="base">
                                        <p:cTn id="38" dur="500" fill="hold"/>
                                        <p:tgtEl>
                                          <p:spTgt spid="31"/>
                                        </p:tgtEl>
                                        <p:attrNameLst>
                                          <p:attrName>ppt_x</p:attrName>
                                        </p:attrNameLst>
                                      </p:cBhvr>
                                      <p:tavLst>
                                        <p:tav tm="0">
                                          <p:val>
                                            <p:strVal val="#ppt_x"/>
                                          </p:val>
                                        </p:tav>
                                        <p:tav tm="100000">
                                          <p:val>
                                            <p:strVal val="#ppt_x"/>
                                          </p:val>
                                        </p:tav>
                                      </p:tavLst>
                                    </p:anim>
                                    <p:anim calcmode="lin" valueType="num">
                                      <p:cBhvr additive="base">
                                        <p:cTn id="39"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9225"/>
                                        </p:tgtEl>
                                        <p:attrNameLst>
                                          <p:attrName>style.visibility</p:attrName>
                                        </p:attrNameLst>
                                      </p:cBhvr>
                                      <p:to>
                                        <p:strVal val="visible"/>
                                      </p:to>
                                    </p:set>
                                    <p:animEffect transition="in" filter="blinds(horizontal)">
                                      <p:cBhvr>
                                        <p:cTn id="44" dur="500"/>
                                        <p:tgtEl>
                                          <p:spTgt spid="9225"/>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iterate type="wd">
                                    <p:tmPct val="10000"/>
                                  </p:iterate>
                                  <p:childTnLst>
                                    <p:set>
                                      <p:cBhvr>
                                        <p:cTn id="48" dur="1" fill="hold">
                                          <p:stCondLst>
                                            <p:cond delay="0"/>
                                          </p:stCondLst>
                                        </p:cTn>
                                        <p:tgtEl>
                                          <p:spTgt spid="9224">
                                            <p:bg/>
                                          </p:spTgt>
                                        </p:tgtEl>
                                        <p:attrNameLst>
                                          <p:attrName>style.visibility</p:attrName>
                                        </p:attrNameLst>
                                      </p:cBhvr>
                                      <p:to>
                                        <p:strVal val="visible"/>
                                      </p:to>
                                    </p:set>
                                    <p:animEffect transition="in" filter="blinds(horizontal)">
                                      <p:cBhvr>
                                        <p:cTn id="49" dur="500"/>
                                        <p:tgtEl>
                                          <p:spTgt spid="9224">
                                            <p:bg/>
                                          </p:spTgt>
                                        </p:tgtEl>
                                      </p:cBhvr>
                                    </p:animEffect>
                                  </p:childTnLst>
                                </p:cTn>
                              </p:par>
                              <p:par>
                                <p:cTn id="50" presetID="3" presetClass="entr" presetSubtype="10" fill="hold" grpId="0" nodeType="withEffect">
                                  <p:stCondLst>
                                    <p:cond delay="0"/>
                                  </p:stCondLst>
                                  <p:iterate type="wd">
                                    <p:tmPct val="10000"/>
                                  </p:iterate>
                                  <p:childTnLst>
                                    <p:set>
                                      <p:cBhvr>
                                        <p:cTn id="51" dur="1" fill="hold">
                                          <p:stCondLst>
                                            <p:cond delay="0"/>
                                          </p:stCondLst>
                                        </p:cTn>
                                        <p:tgtEl>
                                          <p:spTgt spid="9224">
                                            <p:txEl>
                                              <p:pRg st="0" end="0"/>
                                            </p:txEl>
                                          </p:spTgt>
                                        </p:tgtEl>
                                        <p:attrNameLst>
                                          <p:attrName>style.visibility</p:attrName>
                                        </p:attrNameLst>
                                      </p:cBhvr>
                                      <p:to>
                                        <p:strVal val="visible"/>
                                      </p:to>
                                    </p:set>
                                    <p:animEffect transition="in" filter="blinds(horizontal)">
                                      <p:cBhvr>
                                        <p:cTn id="52" dur="500"/>
                                        <p:tgtEl>
                                          <p:spTgt spid="9224">
                                            <p:txEl>
                                              <p:pRg st="0" end="0"/>
                                            </p:txEl>
                                          </p:spTgt>
                                        </p:tgtEl>
                                      </p:cBhvr>
                                    </p:animEffect>
                                  </p:childTnLst>
                                </p:cTn>
                              </p:par>
                              <p:par>
                                <p:cTn id="53" presetID="3" presetClass="entr" presetSubtype="10" fill="hold" grpId="0" nodeType="withEffect">
                                  <p:stCondLst>
                                    <p:cond delay="0"/>
                                  </p:stCondLst>
                                  <p:iterate type="wd">
                                    <p:tmPct val="10000"/>
                                  </p:iterate>
                                  <p:childTnLst>
                                    <p:set>
                                      <p:cBhvr>
                                        <p:cTn id="54" dur="1" fill="hold">
                                          <p:stCondLst>
                                            <p:cond delay="0"/>
                                          </p:stCondLst>
                                        </p:cTn>
                                        <p:tgtEl>
                                          <p:spTgt spid="9224">
                                            <p:txEl>
                                              <p:pRg st="1" end="1"/>
                                            </p:txEl>
                                          </p:spTgt>
                                        </p:tgtEl>
                                        <p:attrNameLst>
                                          <p:attrName>style.visibility</p:attrName>
                                        </p:attrNameLst>
                                      </p:cBhvr>
                                      <p:to>
                                        <p:strVal val="visible"/>
                                      </p:to>
                                    </p:set>
                                    <p:animEffect transition="in" filter="blinds(horizontal)">
                                      <p:cBhvr>
                                        <p:cTn id="55" dur="500"/>
                                        <p:tgtEl>
                                          <p:spTgt spid="9224">
                                            <p:txEl>
                                              <p:pRg st="1" end="1"/>
                                            </p:txEl>
                                          </p:spTgt>
                                        </p:tgtEl>
                                      </p:cBhvr>
                                    </p:animEffect>
                                  </p:childTnLst>
                                </p:cTn>
                              </p:par>
                              <p:par>
                                <p:cTn id="56" presetID="3" presetClass="entr" presetSubtype="10" fill="hold" grpId="0" nodeType="withEffect">
                                  <p:stCondLst>
                                    <p:cond delay="0"/>
                                  </p:stCondLst>
                                  <p:iterate type="wd">
                                    <p:tmPct val="10000"/>
                                  </p:iterate>
                                  <p:childTnLst>
                                    <p:set>
                                      <p:cBhvr>
                                        <p:cTn id="57" dur="1" fill="hold">
                                          <p:stCondLst>
                                            <p:cond delay="0"/>
                                          </p:stCondLst>
                                        </p:cTn>
                                        <p:tgtEl>
                                          <p:spTgt spid="9224">
                                            <p:txEl>
                                              <p:pRg st="2" end="2"/>
                                            </p:txEl>
                                          </p:spTgt>
                                        </p:tgtEl>
                                        <p:attrNameLst>
                                          <p:attrName>style.visibility</p:attrName>
                                        </p:attrNameLst>
                                      </p:cBhvr>
                                      <p:to>
                                        <p:strVal val="visible"/>
                                      </p:to>
                                    </p:set>
                                    <p:animEffect transition="in" filter="blinds(horizontal)">
                                      <p:cBhvr>
                                        <p:cTn id="58" dur="500"/>
                                        <p:tgtEl>
                                          <p:spTgt spid="9224">
                                            <p:txEl>
                                              <p:pRg st="2" end="2"/>
                                            </p:txEl>
                                          </p:spTgt>
                                        </p:tgtEl>
                                      </p:cBhvr>
                                    </p:animEffect>
                                  </p:childTnLst>
                                </p:cTn>
                              </p:par>
                              <p:par>
                                <p:cTn id="59" presetID="3" presetClass="entr" presetSubtype="10" fill="hold" grpId="0" nodeType="withEffect">
                                  <p:stCondLst>
                                    <p:cond delay="0"/>
                                  </p:stCondLst>
                                  <p:iterate type="wd">
                                    <p:tmPct val="10000"/>
                                  </p:iterate>
                                  <p:childTnLst>
                                    <p:set>
                                      <p:cBhvr>
                                        <p:cTn id="60" dur="1" fill="hold">
                                          <p:stCondLst>
                                            <p:cond delay="0"/>
                                          </p:stCondLst>
                                        </p:cTn>
                                        <p:tgtEl>
                                          <p:spTgt spid="9224">
                                            <p:txEl>
                                              <p:pRg st="3" end="3"/>
                                            </p:txEl>
                                          </p:spTgt>
                                        </p:tgtEl>
                                        <p:attrNameLst>
                                          <p:attrName>style.visibility</p:attrName>
                                        </p:attrNameLst>
                                      </p:cBhvr>
                                      <p:to>
                                        <p:strVal val="visible"/>
                                      </p:to>
                                    </p:set>
                                    <p:animEffect transition="in" filter="blinds(horizontal)">
                                      <p:cBhvr>
                                        <p:cTn id="61" dur="500"/>
                                        <p:tgtEl>
                                          <p:spTgt spid="9224">
                                            <p:txEl>
                                              <p:pRg st="3" end="3"/>
                                            </p:txEl>
                                          </p:spTgt>
                                        </p:tgtEl>
                                      </p:cBhvr>
                                    </p:animEffect>
                                  </p:childTnLst>
                                </p:cTn>
                              </p:par>
                              <p:par>
                                <p:cTn id="62" presetID="3" presetClass="entr" presetSubtype="10" fill="hold" grpId="0" nodeType="withEffect">
                                  <p:stCondLst>
                                    <p:cond delay="0"/>
                                  </p:stCondLst>
                                  <p:iterate type="wd">
                                    <p:tmPct val="10000"/>
                                  </p:iterate>
                                  <p:childTnLst>
                                    <p:set>
                                      <p:cBhvr>
                                        <p:cTn id="63" dur="1" fill="hold">
                                          <p:stCondLst>
                                            <p:cond delay="0"/>
                                          </p:stCondLst>
                                        </p:cTn>
                                        <p:tgtEl>
                                          <p:spTgt spid="9224">
                                            <p:txEl>
                                              <p:pRg st="4" end="4"/>
                                            </p:txEl>
                                          </p:spTgt>
                                        </p:tgtEl>
                                        <p:attrNameLst>
                                          <p:attrName>style.visibility</p:attrName>
                                        </p:attrNameLst>
                                      </p:cBhvr>
                                      <p:to>
                                        <p:strVal val="visible"/>
                                      </p:to>
                                    </p:set>
                                    <p:animEffect transition="in" filter="blinds(horizontal)">
                                      <p:cBhvr>
                                        <p:cTn id="64" dur="500"/>
                                        <p:tgtEl>
                                          <p:spTgt spid="9224">
                                            <p:txEl>
                                              <p:pRg st="4" end="4"/>
                                            </p:txEl>
                                          </p:spTgt>
                                        </p:tgtEl>
                                      </p:cBhvr>
                                    </p:animEffect>
                                  </p:childTnLst>
                                </p:cTn>
                              </p:par>
                              <p:par>
                                <p:cTn id="65" presetID="3" presetClass="entr" presetSubtype="10" fill="hold" grpId="0" nodeType="withEffect">
                                  <p:stCondLst>
                                    <p:cond delay="0"/>
                                  </p:stCondLst>
                                  <p:iterate type="wd">
                                    <p:tmPct val="10000"/>
                                  </p:iterate>
                                  <p:childTnLst>
                                    <p:set>
                                      <p:cBhvr>
                                        <p:cTn id="66" dur="1" fill="hold">
                                          <p:stCondLst>
                                            <p:cond delay="0"/>
                                          </p:stCondLst>
                                        </p:cTn>
                                        <p:tgtEl>
                                          <p:spTgt spid="9224">
                                            <p:txEl>
                                              <p:pRg st="5" end="5"/>
                                            </p:txEl>
                                          </p:spTgt>
                                        </p:tgtEl>
                                        <p:attrNameLst>
                                          <p:attrName>style.visibility</p:attrName>
                                        </p:attrNameLst>
                                      </p:cBhvr>
                                      <p:to>
                                        <p:strVal val="visible"/>
                                      </p:to>
                                    </p:set>
                                    <p:animEffect transition="in" filter="blinds(horizontal)">
                                      <p:cBhvr>
                                        <p:cTn id="67" dur="500"/>
                                        <p:tgtEl>
                                          <p:spTgt spid="9224">
                                            <p:txEl>
                                              <p:pRg st="5" end="5"/>
                                            </p:txEl>
                                          </p:spTgt>
                                        </p:tgtEl>
                                      </p:cBhvr>
                                    </p:animEffect>
                                  </p:childTnLst>
                                </p:cTn>
                              </p:par>
                              <p:par>
                                <p:cTn id="68" presetID="3" presetClass="entr" presetSubtype="10" fill="hold" grpId="0" nodeType="withEffect">
                                  <p:stCondLst>
                                    <p:cond delay="0"/>
                                  </p:stCondLst>
                                  <p:iterate type="wd">
                                    <p:tmPct val="10000"/>
                                  </p:iterate>
                                  <p:childTnLst>
                                    <p:set>
                                      <p:cBhvr>
                                        <p:cTn id="69" dur="1" fill="hold">
                                          <p:stCondLst>
                                            <p:cond delay="0"/>
                                          </p:stCondLst>
                                        </p:cTn>
                                        <p:tgtEl>
                                          <p:spTgt spid="9224">
                                            <p:txEl>
                                              <p:pRg st="6" end="6"/>
                                            </p:txEl>
                                          </p:spTgt>
                                        </p:tgtEl>
                                        <p:attrNameLst>
                                          <p:attrName>style.visibility</p:attrName>
                                        </p:attrNameLst>
                                      </p:cBhvr>
                                      <p:to>
                                        <p:strVal val="visible"/>
                                      </p:to>
                                    </p:set>
                                    <p:animEffect transition="in" filter="blinds(horizontal)">
                                      <p:cBhvr>
                                        <p:cTn id="70" dur="500"/>
                                        <p:tgtEl>
                                          <p:spTgt spid="9224">
                                            <p:txEl>
                                              <p:pRg st="6" end="6"/>
                                            </p:txEl>
                                          </p:spTgt>
                                        </p:tgtEl>
                                      </p:cBhvr>
                                    </p:animEffect>
                                  </p:childTnLst>
                                </p:cTn>
                              </p:par>
                              <p:par>
                                <p:cTn id="71" presetID="3" presetClass="entr" presetSubtype="10" fill="hold" grpId="0" nodeType="withEffect">
                                  <p:stCondLst>
                                    <p:cond delay="0"/>
                                  </p:stCondLst>
                                  <p:iterate type="wd">
                                    <p:tmPct val="10000"/>
                                  </p:iterate>
                                  <p:childTnLst>
                                    <p:set>
                                      <p:cBhvr>
                                        <p:cTn id="72" dur="1" fill="hold">
                                          <p:stCondLst>
                                            <p:cond delay="0"/>
                                          </p:stCondLst>
                                        </p:cTn>
                                        <p:tgtEl>
                                          <p:spTgt spid="9224">
                                            <p:txEl>
                                              <p:pRg st="7" end="7"/>
                                            </p:txEl>
                                          </p:spTgt>
                                        </p:tgtEl>
                                        <p:attrNameLst>
                                          <p:attrName>style.visibility</p:attrName>
                                        </p:attrNameLst>
                                      </p:cBhvr>
                                      <p:to>
                                        <p:strVal val="visible"/>
                                      </p:to>
                                    </p:set>
                                    <p:animEffect transition="in" filter="blinds(horizontal)">
                                      <p:cBhvr>
                                        <p:cTn id="73" dur="500"/>
                                        <p:tgtEl>
                                          <p:spTgt spid="9224">
                                            <p:txEl>
                                              <p:pRg st="7" end="7"/>
                                            </p:txEl>
                                          </p:spTgt>
                                        </p:tgtEl>
                                      </p:cBhvr>
                                    </p:animEffect>
                                  </p:childTnLst>
                                </p:cTn>
                              </p:par>
                              <p:par>
                                <p:cTn id="74" presetID="3" presetClass="entr" presetSubtype="10" fill="hold" grpId="0" nodeType="withEffect">
                                  <p:stCondLst>
                                    <p:cond delay="0"/>
                                  </p:stCondLst>
                                  <p:iterate type="wd">
                                    <p:tmPct val="10000"/>
                                  </p:iterate>
                                  <p:childTnLst>
                                    <p:set>
                                      <p:cBhvr>
                                        <p:cTn id="75" dur="1" fill="hold">
                                          <p:stCondLst>
                                            <p:cond delay="0"/>
                                          </p:stCondLst>
                                        </p:cTn>
                                        <p:tgtEl>
                                          <p:spTgt spid="9224">
                                            <p:txEl>
                                              <p:pRg st="8" end="8"/>
                                            </p:txEl>
                                          </p:spTgt>
                                        </p:tgtEl>
                                        <p:attrNameLst>
                                          <p:attrName>style.visibility</p:attrName>
                                        </p:attrNameLst>
                                      </p:cBhvr>
                                      <p:to>
                                        <p:strVal val="visible"/>
                                      </p:to>
                                    </p:set>
                                    <p:animEffect transition="in" filter="blinds(horizontal)">
                                      <p:cBhvr>
                                        <p:cTn id="76" dur="500"/>
                                        <p:tgtEl>
                                          <p:spTgt spid="9224">
                                            <p:txEl>
                                              <p:pRg st="8" end="8"/>
                                            </p:txEl>
                                          </p:spTgt>
                                        </p:tgtEl>
                                      </p:cBhvr>
                                    </p:animEffect>
                                  </p:childTnLst>
                                </p:cTn>
                              </p:par>
                              <p:par>
                                <p:cTn id="77" presetID="3" presetClass="entr" presetSubtype="10" fill="hold" grpId="0" nodeType="withEffect">
                                  <p:stCondLst>
                                    <p:cond delay="0"/>
                                  </p:stCondLst>
                                  <p:iterate type="wd">
                                    <p:tmPct val="10000"/>
                                  </p:iterate>
                                  <p:childTnLst>
                                    <p:set>
                                      <p:cBhvr>
                                        <p:cTn id="78" dur="1" fill="hold">
                                          <p:stCondLst>
                                            <p:cond delay="0"/>
                                          </p:stCondLst>
                                        </p:cTn>
                                        <p:tgtEl>
                                          <p:spTgt spid="9224">
                                            <p:txEl>
                                              <p:pRg st="9" end="9"/>
                                            </p:txEl>
                                          </p:spTgt>
                                        </p:tgtEl>
                                        <p:attrNameLst>
                                          <p:attrName>style.visibility</p:attrName>
                                        </p:attrNameLst>
                                      </p:cBhvr>
                                      <p:to>
                                        <p:strVal val="visible"/>
                                      </p:to>
                                    </p:set>
                                    <p:animEffect transition="in" filter="blinds(horizontal)">
                                      <p:cBhvr>
                                        <p:cTn id="79" dur="500"/>
                                        <p:tgtEl>
                                          <p:spTgt spid="9224">
                                            <p:txEl>
                                              <p:pRg st="9" end="9"/>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9229"/>
                                        </p:tgtEl>
                                        <p:attrNameLst>
                                          <p:attrName>style.visibility</p:attrName>
                                        </p:attrNameLst>
                                      </p:cBhvr>
                                      <p:to>
                                        <p:strVal val="visible"/>
                                      </p:to>
                                    </p:set>
                                    <p:animEffect transition="in" filter="blinds(horizontal)">
                                      <p:cBhvr>
                                        <p:cTn id="84" dur="500"/>
                                        <p:tgtEl>
                                          <p:spTgt spid="9229"/>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9230"/>
                                        </p:tgtEl>
                                        <p:attrNameLst>
                                          <p:attrName>style.visibility</p:attrName>
                                        </p:attrNameLst>
                                      </p:cBhvr>
                                      <p:to>
                                        <p:strVal val="visible"/>
                                      </p:to>
                                    </p:set>
                                    <p:animEffect transition="in" filter="blinds(horizontal)">
                                      <p:cBhvr>
                                        <p:cTn id="89" dur="500"/>
                                        <p:tgtEl>
                                          <p:spTgt spid="9230"/>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grpId="0" nodeType="clickEffect">
                                  <p:stCondLst>
                                    <p:cond delay="0"/>
                                  </p:stCondLst>
                                  <p:childTnLst>
                                    <p:set>
                                      <p:cBhvr>
                                        <p:cTn id="93" dur="1" fill="hold">
                                          <p:stCondLst>
                                            <p:cond delay="0"/>
                                          </p:stCondLst>
                                        </p:cTn>
                                        <p:tgtEl>
                                          <p:spTgt spid="9231"/>
                                        </p:tgtEl>
                                        <p:attrNameLst>
                                          <p:attrName>style.visibility</p:attrName>
                                        </p:attrNameLst>
                                      </p:cBhvr>
                                      <p:to>
                                        <p:strVal val="visible"/>
                                      </p:to>
                                    </p:set>
                                    <p:animEffect transition="in" filter="blinds(horizontal)">
                                      <p:cBhvr>
                                        <p:cTn id="94" dur="500"/>
                                        <p:tgtEl>
                                          <p:spTgt spid="9231"/>
                                        </p:tgtEl>
                                      </p:cBhvr>
                                    </p:animEffec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0"/>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grpId="0" nodeType="clickEffect">
                                  <p:stCondLst>
                                    <p:cond delay="0"/>
                                  </p:stCondLst>
                                  <p:childTnLst>
                                    <p:set>
                                      <p:cBhvr>
                                        <p:cTn id="102" dur="1" fill="hold">
                                          <p:stCondLst>
                                            <p:cond delay="0"/>
                                          </p:stCondLst>
                                        </p:cTn>
                                        <p:tgtEl>
                                          <p:spTgt spid="9226"/>
                                        </p:tgtEl>
                                        <p:attrNameLst>
                                          <p:attrName>style.visibility</p:attrName>
                                        </p:attrNameLst>
                                      </p:cBhvr>
                                      <p:to>
                                        <p:strVal val="visible"/>
                                      </p:to>
                                    </p:set>
                                    <p:animEffect transition="in" filter="blinds(horizontal)">
                                      <p:cBhvr>
                                        <p:cTn id="103" dur="500"/>
                                        <p:tgtEl>
                                          <p:spTgt spid="9226"/>
                                        </p:tgtEl>
                                      </p:cBhvr>
                                    </p:animEffec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nodeType="clickEffect">
                                  <p:stCondLst>
                                    <p:cond delay="0"/>
                                  </p:stCondLst>
                                  <p:childTnLst>
                                    <p:set>
                                      <p:cBhvr>
                                        <p:cTn id="107"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animBg="1"/>
      <p:bldP spid="9224" grpId="0" animBg="1" build="allAtOnce"/>
      <p:bldP spid="9225" grpId="0" animBg="1"/>
      <p:bldP spid="9226" grpId="0" animBg="1"/>
      <p:bldP spid="9229" grpId="0" animBg="1"/>
      <p:bldP spid="9230" grpId="0" animBg="1"/>
      <p:bldP spid="9231" grpId="0" animBg="1"/>
      <p:bldP spid="9232" grpId="0" animBg="1"/>
      <p:bldP spid="28" grpId="0" build="p"/>
      <p:bldP spid="3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内容占位符 10242"/>
          <p:cNvSpPr>
            <a:spLocks noGrp="1" noChangeArrowheads="1"/>
          </p:cNvSpPr>
          <p:nvPr>
            <p:ph idx="1"/>
          </p:nvPr>
        </p:nvSpPr>
        <p:spPr>
          <a:xfrm>
            <a:off x="101243" y="975068"/>
            <a:ext cx="8229600" cy="4678451"/>
          </a:xfrm>
        </p:spPr>
        <p:txBody>
          <a:bodyPr/>
          <a:lstStyle/>
          <a:p>
            <a:pPr>
              <a:buFont typeface="Wingdings" panose="05000000000000000000" pitchFamily="2" charset="2"/>
              <a:buNone/>
            </a:pPr>
            <a:r>
              <a:rPr lang="zh-CN" altLang="en-US" sz="2400" b="1" dirty="0"/>
              <a:t>（</a:t>
            </a:r>
            <a:r>
              <a:rPr lang="en-US" altLang="zh-CN" sz="2400" b="1" dirty="0"/>
              <a:t>1</a:t>
            </a:r>
            <a:r>
              <a:rPr lang="zh-CN" altLang="en-US" sz="2400" b="1" dirty="0"/>
              <a:t>）从程序的</a:t>
            </a:r>
            <a:r>
              <a:rPr lang="zh-CN" altLang="en-US" sz="2400" b="1" dirty="0">
                <a:solidFill>
                  <a:srgbClr val="FF0000"/>
                </a:solidFill>
              </a:rPr>
              <a:t>执行过程</a:t>
            </a:r>
            <a:r>
              <a:rPr lang="zh-CN" altLang="en-US" sz="2400" b="1" dirty="0"/>
              <a:t>来讨论</a:t>
            </a:r>
            <a:r>
              <a:rPr lang="en-US" altLang="zh-CN" sz="2400" b="1" dirty="0"/>
              <a:t>: </a:t>
            </a:r>
            <a:endParaRPr lang="en-US" altLang="zh-CN" sz="2400" b="1" dirty="0"/>
          </a:p>
          <a:p>
            <a:pPr>
              <a:buFont typeface="Wingdings" panose="05000000000000000000" pitchFamily="2" charset="2"/>
              <a:buNone/>
            </a:pPr>
            <a:r>
              <a:rPr lang="zh-CN" altLang="en-US" sz="2400" b="1" dirty="0"/>
              <a:t>         </a:t>
            </a:r>
            <a:r>
              <a:rPr lang="zh-CN" altLang="en-US" sz="2000" b="1" dirty="0"/>
              <a:t>在</a:t>
            </a:r>
            <a:r>
              <a:rPr lang="zh-CN" altLang="en-US" sz="2000" b="1" dirty="0">
                <a:solidFill>
                  <a:srgbClr val="FF0000"/>
                </a:solidFill>
              </a:rPr>
              <a:t>执行调用</a:t>
            </a:r>
            <a:r>
              <a:rPr lang="zh-CN" altLang="en-US" sz="2000" b="1" dirty="0"/>
              <a:t>时</a:t>
            </a:r>
            <a:r>
              <a:rPr lang="en-US" altLang="zh-CN" sz="2000" b="1" dirty="0"/>
              <a:t>, </a:t>
            </a:r>
            <a:r>
              <a:rPr lang="zh-CN" altLang="en-US" sz="2000" b="1" dirty="0"/>
              <a:t>计算机内部</a:t>
            </a:r>
            <a:r>
              <a:rPr lang="zh-CN" altLang="en-US" sz="2000" b="1" dirty="0">
                <a:solidFill>
                  <a:srgbClr val="FF0000"/>
                </a:solidFill>
              </a:rPr>
              <a:t>至少执行</a:t>
            </a:r>
            <a:r>
              <a:rPr lang="zh-CN" altLang="en-US" sz="2000" b="1" dirty="0"/>
              <a:t>如下操作</a:t>
            </a:r>
            <a:r>
              <a:rPr lang="en-US" altLang="zh-CN" sz="2000" b="1" dirty="0"/>
              <a:t>:</a:t>
            </a:r>
            <a:endParaRPr lang="en-US" altLang="zh-CN" sz="2000" b="1" dirty="0"/>
          </a:p>
          <a:p>
            <a:pPr>
              <a:buFont typeface="Wingdings" panose="05000000000000000000" pitchFamily="2" charset="2"/>
              <a:buNone/>
            </a:pPr>
            <a:r>
              <a:rPr lang="zh-CN" altLang="en-US" sz="2000" b="1" dirty="0"/>
              <a:t>       （</a:t>
            </a:r>
            <a:r>
              <a:rPr lang="en-US" altLang="zh-CN" sz="2000" b="1" dirty="0"/>
              <a:t>a</a:t>
            </a:r>
            <a:r>
              <a:rPr lang="zh-CN" altLang="en-US" sz="2000" b="1" dirty="0"/>
              <a:t>）  </a:t>
            </a:r>
            <a:r>
              <a:rPr lang="zh-CN" altLang="en-US" sz="2000" b="1" dirty="0">
                <a:solidFill>
                  <a:srgbClr val="FF0000"/>
                </a:solidFill>
              </a:rPr>
              <a:t>保存返回地址</a:t>
            </a:r>
            <a:r>
              <a:rPr lang="en-US" altLang="zh-CN" sz="2000" b="1" dirty="0"/>
              <a:t>, </a:t>
            </a:r>
            <a:r>
              <a:rPr lang="zh-CN" altLang="en-US" sz="2000" b="1" dirty="0"/>
              <a:t>也就是将返回地址入栈。</a:t>
            </a:r>
            <a:endParaRPr lang="zh-CN" altLang="en-US" sz="2000" b="1" dirty="0"/>
          </a:p>
          <a:p>
            <a:pPr>
              <a:buFont typeface="Wingdings" panose="05000000000000000000" pitchFamily="2" charset="2"/>
              <a:buNone/>
            </a:pPr>
            <a:r>
              <a:rPr lang="zh-CN" altLang="en-US" sz="2000" b="1" dirty="0"/>
              <a:t>       （</a:t>
            </a:r>
            <a:r>
              <a:rPr lang="en-US" altLang="zh-CN" sz="2000" b="1" dirty="0"/>
              <a:t>b</a:t>
            </a:r>
            <a:r>
              <a:rPr lang="zh-CN" altLang="en-US" sz="2000" b="1" dirty="0"/>
              <a:t>） 为被调子程序</a:t>
            </a:r>
            <a:r>
              <a:rPr lang="zh-CN" altLang="en-US" sz="2000" b="1" dirty="0">
                <a:solidFill>
                  <a:srgbClr val="FF0000"/>
                </a:solidFill>
              </a:rPr>
              <a:t>准备数据</a:t>
            </a:r>
            <a:r>
              <a:rPr lang="en-US" altLang="zh-CN" sz="2000" b="1" dirty="0"/>
              <a:t>:</a:t>
            </a:r>
            <a:endParaRPr lang="en-US" altLang="zh-CN" sz="2000" b="1" dirty="0"/>
          </a:p>
          <a:p>
            <a:pPr>
              <a:buFont typeface="Wingdings" panose="05000000000000000000" pitchFamily="2" charset="2"/>
              <a:buNone/>
            </a:pPr>
            <a:r>
              <a:rPr lang="zh-CN" altLang="en-US" sz="2000" b="1" dirty="0"/>
              <a:t>                   计算实在参数的值</a:t>
            </a:r>
            <a:r>
              <a:rPr lang="en-US" altLang="zh-CN" sz="2000" b="1" dirty="0"/>
              <a:t>, </a:t>
            </a:r>
            <a:r>
              <a:rPr lang="zh-CN" altLang="en-US" sz="2000" b="1" dirty="0"/>
              <a:t>并赋给对应的形参。</a:t>
            </a:r>
            <a:endParaRPr lang="zh-CN" altLang="en-US" sz="2000" b="1" dirty="0"/>
          </a:p>
          <a:p>
            <a:pPr>
              <a:buFont typeface="Wingdings" panose="05000000000000000000" pitchFamily="2" charset="2"/>
              <a:buNone/>
            </a:pPr>
            <a:r>
              <a:rPr lang="zh-CN" altLang="en-US" sz="2000" b="1" dirty="0"/>
              <a:t>       （</a:t>
            </a:r>
            <a:r>
              <a:rPr lang="en-US" altLang="zh-CN" sz="2000" b="1" dirty="0"/>
              <a:t>c</a:t>
            </a:r>
            <a:r>
              <a:rPr lang="zh-CN" altLang="en-US" sz="2000" b="1" dirty="0"/>
              <a:t>）  </a:t>
            </a:r>
            <a:r>
              <a:rPr lang="zh-CN" altLang="en-US" sz="2000" b="1" dirty="0">
                <a:solidFill>
                  <a:srgbClr val="FF0000"/>
                </a:solidFill>
              </a:rPr>
              <a:t>转入子程序</a:t>
            </a:r>
            <a:r>
              <a:rPr lang="zh-CN" altLang="en-US" sz="2000" b="1" dirty="0"/>
              <a:t>执行。</a:t>
            </a:r>
            <a:endParaRPr lang="zh-CN" altLang="en-US" sz="2000" b="1" dirty="0"/>
          </a:p>
          <a:p>
            <a:pPr>
              <a:spcBef>
                <a:spcPts val="0"/>
              </a:spcBef>
              <a:buFont typeface="Wingdings" panose="05000000000000000000" pitchFamily="2" charset="2"/>
              <a:buNone/>
            </a:pPr>
            <a:r>
              <a:rPr lang="zh-CN" altLang="en-US" sz="2000" b="1" dirty="0"/>
              <a:t>        </a:t>
            </a:r>
            <a:endParaRPr lang="zh-CN" altLang="en-US" sz="2000" b="1" dirty="0"/>
          </a:p>
          <a:p>
            <a:pPr>
              <a:buFont typeface="Wingdings" panose="05000000000000000000" pitchFamily="2" charset="2"/>
              <a:buNone/>
            </a:pPr>
            <a:r>
              <a:rPr lang="zh-CN" altLang="en-US" sz="2000" b="1" dirty="0"/>
              <a:t>          在</a:t>
            </a:r>
            <a:r>
              <a:rPr lang="zh-CN" altLang="en-US" sz="2000" b="1" dirty="0">
                <a:solidFill>
                  <a:srgbClr val="FF0000"/>
                </a:solidFill>
              </a:rPr>
              <a:t>执行返回</a:t>
            </a:r>
            <a:r>
              <a:rPr lang="zh-CN" altLang="en-US" sz="2000" b="1" dirty="0"/>
              <a:t>操作时</a:t>
            </a:r>
            <a:r>
              <a:rPr lang="en-US" altLang="zh-CN" sz="2000" b="1" dirty="0"/>
              <a:t>, </a:t>
            </a:r>
            <a:r>
              <a:rPr lang="zh-CN" altLang="en-US" sz="2000" b="1" dirty="0"/>
              <a:t>计算机内部至少执行如下操作</a:t>
            </a:r>
            <a:r>
              <a:rPr lang="en-US" altLang="zh-CN" sz="2000" b="1" dirty="0"/>
              <a:t>:</a:t>
            </a:r>
            <a:endParaRPr lang="en-US" altLang="zh-CN" sz="2000" b="1" dirty="0"/>
          </a:p>
          <a:p>
            <a:pPr>
              <a:buFont typeface="Wingdings" panose="05000000000000000000" pitchFamily="2" charset="2"/>
              <a:buNone/>
            </a:pPr>
            <a:r>
              <a:rPr lang="en-US" altLang="zh-CN" sz="2000" b="1" dirty="0"/>
              <a:t>        </a:t>
            </a:r>
            <a:r>
              <a:rPr lang="zh-CN" altLang="en-US" sz="2000" b="1" dirty="0"/>
              <a:t>（</a:t>
            </a:r>
            <a:r>
              <a:rPr lang="en-US" altLang="zh-CN" sz="2000" b="1" dirty="0"/>
              <a:t>a</a:t>
            </a:r>
            <a:r>
              <a:rPr lang="zh-CN" altLang="en-US" sz="2000" b="1" dirty="0"/>
              <a:t>）</a:t>
            </a:r>
            <a:r>
              <a:rPr lang="en-US" altLang="zh-CN" sz="2000" b="1" dirty="0"/>
              <a:t> </a:t>
            </a:r>
            <a:r>
              <a:rPr lang="zh-CN" altLang="en-US" sz="2000" b="1" dirty="0"/>
              <a:t>从栈顶</a:t>
            </a:r>
            <a:r>
              <a:rPr lang="zh-CN" altLang="en-US" sz="2000" b="1" dirty="0">
                <a:solidFill>
                  <a:srgbClr val="FF0000"/>
                </a:solidFill>
              </a:rPr>
              <a:t>取出返回地址</a:t>
            </a:r>
            <a:r>
              <a:rPr lang="zh-CN" altLang="en-US" sz="2000" b="1" dirty="0"/>
              <a:t>，并出栈。</a:t>
            </a:r>
            <a:endParaRPr lang="zh-CN" altLang="en-US" sz="2000" b="1" dirty="0"/>
          </a:p>
          <a:p>
            <a:pPr>
              <a:buFont typeface="Wingdings" panose="05000000000000000000" pitchFamily="2" charset="2"/>
              <a:buNone/>
            </a:pPr>
            <a:r>
              <a:rPr lang="zh-CN" altLang="en-US" sz="2000" b="1" dirty="0"/>
              <a:t>        （</a:t>
            </a:r>
            <a:r>
              <a:rPr lang="en-US" altLang="zh-CN" sz="2000" b="1" dirty="0"/>
              <a:t>b</a:t>
            </a:r>
            <a:r>
              <a:rPr lang="zh-CN" altLang="en-US" sz="2000" b="1" dirty="0"/>
              <a:t>） 按返回地址</a:t>
            </a:r>
            <a:r>
              <a:rPr lang="zh-CN" altLang="en-US" sz="2000" b="1" dirty="0">
                <a:solidFill>
                  <a:srgbClr val="FF0000"/>
                </a:solidFill>
              </a:rPr>
              <a:t>返回</a:t>
            </a:r>
            <a:r>
              <a:rPr lang="zh-CN" altLang="en-US" sz="2000" b="1" dirty="0"/>
              <a:t>。</a:t>
            </a:r>
            <a:endParaRPr lang="zh-CN" altLang="en-US" sz="2000" b="1" dirty="0"/>
          </a:p>
        </p:txBody>
      </p:sp>
      <p:sp>
        <p:nvSpPr>
          <p:cNvPr id="10249" name="文本框 10248"/>
          <p:cNvSpPr txBox="1">
            <a:spLocks noChangeArrowheads="1"/>
          </p:cNvSpPr>
          <p:nvPr/>
        </p:nvSpPr>
        <p:spPr bwMode="auto">
          <a:xfrm>
            <a:off x="5939632" y="1040420"/>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(a)</a:t>
            </a:r>
            <a:endParaRPr lang="en-US" altLang="zh-CN" dirty="0">
              <a:latin typeface="Arial" panose="020B0604020202020204" pitchFamily="34" charset="0"/>
              <a:ea typeface="宋体" panose="02010600030101010101" pitchFamily="2" charset="-122"/>
            </a:endParaRPr>
          </a:p>
        </p:txBody>
      </p:sp>
      <p:sp>
        <p:nvSpPr>
          <p:cNvPr id="10250" name="文本框 10249"/>
          <p:cNvSpPr txBox="1">
            <a:spLocks noChangeArrowheads="1"/>
          </p:cNvSpPr>
          <p:nvPr/>
        </p:nvSpPr>
        <p:spPr bwMode="auto">
          <a:xfrm>
            <a:off x="6326880" y="1022479"/>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(b)</a:t>
            </a:r>
            <a:endParaRPr lang="en-US" altLang="zh-CN" dirty="0">
              <a:latin typeface="Arial" panose="020B0604020202020204" pitchFamily="34" charset="0"/>
              <a:ea typeface="宋体" panose="02010600030101010101" pitchFamily="2" charset="-122"/>
            </a:endParaRPr>
          </a:p>
        </p:txBody>
      </p:sp>
      <p:sp>
        <p:nvSpPr>
          <p:cNvPr id="10251" name="文本框 10250"/>
          <p:cNvSpPr txBox="1">
            <a:spLocks noChangeArrowheads="1"/>
          </p:cNvSpPr>
          <p:nvPr/>
        </p:nvSpPr>
        <p:spPr bwMode="auto">
          <a:xfrm>
            <a:off x="7244935" y="974738"/>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(c)</a:t>
            </a:r>
            <a:endParaRPr lang="en-US" altLang="zh-CN" dirty="0">
              <a:latin typeface="Arial" panose="020B0604020202020204" pitchFamily="34" charset="0"/>
              <a:ea typeface="宋体" panose="02010600030101010101" pitchFamily="2" charset="-122"/>
            </a:endParaRPr>
          </a:p>
        </p:txBody>
      </p:sp>
      <p:sp>
        <p:nvSpPr>
          <p:cNvPr id="10253" name="文本框 10252"/>
          <p:cNvSpPr txBox="1">
            <a:spLocks noChangeArrowheads="1"/>
          </p:cNvSpPr>
          <p:nvPr/>
        </p:nvSpPr>
        <p:spPr bwMode="auto">
          <a:xfrm>
            <a:off x="8047215" y="2391398"/>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(a)</a:t>
            </a:r>
            <a:endParaRPr lang="en-US" altLang="zh-CN" dirty="0">
              <a:latin typeface="Arial" panose="020B0604020202020204" pitchFamily="34" charset="0"/>
              <a:ea typeface="宋体" panose="02010600030101010101" pitchFamily="2" charset="-122"/>
            </a:endParaRPr>
          </a:p>
        </p:txBody>
      </p:sp>
      <p:sp>
        <p:nvSpPr>
          <p:cNvPr id="10255" name="文本框 10254"/>
          <p:cNvSpPr txBox="1">
            <a:spLocks noChangeArrowheads="1"/>
          </p:cNvSpPr>
          <p:nvPr/>
        </p:nvSpPr>
        <p:spPr bwMode="auto">
          <a:xfrm>
            <a:off x="6763307" y="2292468"/>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(b)</a:t>
            </a:r>
            <a:endParaRPr lang="en-US" altLang="zh-CN" dirty="0">
              <a:latin typeface="Arial" panose="020B0604020202020204" pitchFamily="34" charset="0"/>
              <a:ea typeface="宋体" panose="02010600030101010101" pitchFamily="2" charset="-122"/>
            </a:endParaRPr>
          </a:p>
        </p:txBody>
      </p:sp>
      <p:grpSp>
        <p:nvGrpSpPr>
          <p:cNvPr id="18" name="组合 114"/>
          <p:cNvGrpSpPr/>
          <p:nvPr/>
        </p:nvGrpSpPr>
        <p:grpSpPr>
          <a:xfrm>
            <a:off x="493395" y="105077"/>
            <a:ext cx="6505435" cy="679778"/>
            <a:chOff x="933887" y="3363717"/>
            <a:chExt cx="6505435" cy="679778"/>
          </a:xfrm>
        </p:grpSpPr>
        <p:grpSp>
          <p:nvGrpSpPr>
            <p:cNvPr id="19" name="组合 105"/>
            <p:cNvGrpSpPr/>
            <p:nvPr/>
          </p:nvGrpSpPr>
          <p:grpSpPr>
            <a:xfrm>
              <a:off x="933887" y="3363717"/>
              <a:ext cx="6505435" cy="679778"/>
              <a:chOff x="933887" y="3363717"/>
              <a:chExt cx="6505435" cy="679778"/>
            </a:xfrm>
          </p:grpSpPr>
          <p:sp>
            <p:nvSpPr>
              <p:cNvPr id="21"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2" name="TextBox 6"/>
              <p:cNvSpPr txBox="1">
                <a:spLocks noChangeArrowheads="1"/>
              </p:cNvSpPr>
              <p:nvPr/>
            </p:nvSpPr>
            <p:spPr bwMode="auto">
              <a:xfrm>
                <a:off x="1214282"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7.3 </a:t>
                </a:r>
                <a:r>
                  <a:rPr lang="zh-CN" altLang="en-US" sz="3600" b="1" dirty="0">
                    <a:latin typeface="Times New Roman" panose="02020603050405020304" pitchFamily="18" charset="0"/>
                    <a:ea typeface="黑体" panose="02010609060101010101" pitchFamily="49" charset="-122"/>
                  </a:rPr>
                  <a:t>递归的内部实现原理</a:t>
                </a:r>
                <a:endParaRPr lang="zh-CN" altLang="en-US" sz="3600" b="1" dirty="0">
                  <a:latin typeface="Times New Roman" panose="02020603050405020304" pitchFamily="18" charset="0"/>
                  <a:ea typeface="黑体" panose="02010609060101010101" pitchFamily="49" charset="-122"/>
                </a:endParaRPr>
              </a:p>
            </p:txBody>
          </p:sp>
        </p:grpSp>
        <p:pic>
          <p:nvPicPr>
            <p:cNvPr id="20" name="图片 19" descr="12.jpg"/>
            <p:cNvPicPr>
              <a:picLocks noChangeAspect="1"/>
            </p:cNvPicPr>
            <p:nvPr/>
          </p:nvPicPr>
          <p:blipFill>
            <a:blip r:embed="rId1" cstate="print"/>
            <a:stretch>
              <a:fillRect/>
            </a:stretch>
          </p:blipFill>
          <p:spPr>
            <a:xfrm>
              <a:off x="1115929" y="3530600"/>
              <a:ext cx="446172" cy="431048"/>
            </a:xfrm>
            <a:prstGeom prst="rect">
              <a:avLst/>
            </a:prstGeom>
          </p:spPr>
        </p:pic>
      </p:grpSp>
      <p:grpSp>
        <p:nvGrpSpPr>
          <p:cNvPr id="3" name="组合 2"/>
          <p:cNvGrpSpPr/>
          <p:nvPr/>
        </p:nvGrpSpPr>
        <p:grpSpPr>
          <a:xfrm>
            <a:off x="6084167" y="1282078"/>
            <a:ext cx="2914161" cy="1458714"/>
            <a:chOff x="5506696" y="2684739"/>
            <a:chExt cx="2914161" cy="1458714"/>
          </a:xfrm>
        </p:grpSpPr>
        <p:sp>
          <p:nvSpPr>
            <p:cNvPr id="23" name="文本框 22"/>
            <p:cNvSpPr txBox="1">
              <a:spLocks noChangeArrowheads="1"/>
            </p:cNvSpPr>
            <p:nvPr/>
          </p:nvSpPr>
          <p:spPr bwMode="auto">
            <a:xfrm>
              <a:off x="7341357" y="3202075"/>
              <a:ext cx="1079500" cy="369332"/>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eaLnBrk="0" hangingPunct="0">
                <a:spcBef>
                  <a:spcPct val="50000"/>
                </a:spcBef>
              </a:pPr>
              <a:r>
                <a:rPr lang="zh-CN" altLang="en-US">
                  <a:latin typeface="Times New Roman" panose="02020603050405020304" pitchFamily="18" charset="0"/>
                  <a:ea typeface="宋体" panose="02010600030101010101" pitchFamily="2" charset="-122"/>
                </a:rPr>
                <a:t>子程序</a:t>
              </a:r>
              <a:r>
                <a:rPr lang="en-US" altLang="zh-CN">
                  <a:latin typeface="Times New Roman" panose="02020603050405020304" pitchFamily="18" charset="0"/>
                  <a:ea typeface="宋体" panose="02010600030101010101" pitchFamily="2" charset="-122"/>
                </a:rPr>
                <a:t>B</a:t>
              </a:r>
              <a:endParaRPr lang="en-US" altLang="zh-CN">
                <a:latin typeface="Times New Roman" panose="02020603050405020304" pitchFamily="18" charset="0"/>
                <a:ea typeface="宋体" panose="02010600030101010101" pitchFamily="2" charset="-122"/>
              </a:endParaRPr>
            </a:p>
          </p:txBody>
        </p:sp>
        <p:sp>
          <p:nvSpPr>
            <p:cNvPr id="24" name="文本框 23"/>
            <p:cNvSpPr txBox="1">
              <a:spLocks noChangeArrowheads="1"/>
            </p:cNvSpPr>
            <p:nvPr/>
          </p:nvSpPr>
          <p:spPr bwMode="auto">
            <a:xfrm>
              <a:off x="5506696" y="2857396"/>
              <a:ext cx="792503" cy="369332"/>
            </a:xfrm>
            <a:prstGeom prst="rect">
              <a:avLst/>
            </a:prstGeom>
            <a:solidFill>
              <a:srgbClr val="FFCC00"/>
            </a:solidFill>
            <a:ln w="28575">
              <a:solidFill>
                <a:srgbClr val="FFC000"/>
              </a:solidFill>
              <a:miter lim="800000"/>
            </a:ln>
          </p:spPr>
          <p:txBody>
            <a:bodyPr wrap="square">
              <a:spAutoFit/>
            </a:bodyPr>
            <a:lstStyle/>
            <a:p>
              <a:pPr algn="ctr" eaLnBrk="0" hangingPunct="0">
                <a:spcBef>
                  <a:spcPct val="50000"/>
                </a:spcBef>
              </a:pPr>
              <a:r>
                <a:rPr lang="en-US" altLang="zh-CN" dirty="0">
                  <a:latin typeface="Times New Roman" panose="02020603050405020304" pitchFamily="18" charset="0"/>
                  <a:ea typeface="宋体" panose="02010600030101010101" pitchFamily="2" charset="-122"/>
                </a:rPr>
                <a:t>Call B</a:t>
              </a:r>
              <a:endParaRPr lang="en-US" altLang="zh-CN" dirty="0">
                <a:latin typeface="Times New Roman" panose="02020603050405020304" pitchFamily="18" charset="0"/>
                <a:ea typeface="宋体" panose="02010600030101010101" pitchFamily="2" charset="-122"/>
              </a:endParaRPr>
            </a:p>
          </p:txBody>
        </p:sp>
        <p:grpSp>
          <p:nvGrpSpPr>
            <p:cNvPr id="25" name="组合 24"/>
            <p:cNvGrpSpPr/>
            <p:nvPr/>
          </p:nvGrpSpPr>
          <p:grpSpPr>
            <a:xfrm>
              <a:off x="6316452" y="2684739"/>
              <a:ext cx="1628500" cy="517336"/>
              <a:chOff x="6316452" y="2625523"/>
              <a:chExt cx="1628500" cy="517336"/>
            </a:xfrm>
          </p:grpSpPr>
          <p:cxnSp>
            <p:nvCxnSpPr>
              <p:cNvPr id="26" name="直接连接符 25"/>
              <p:cNvCxnSpPr/>
              <p:nvPr/>
            </p:nvCxnSpPr>
            <p:spPr>
              <a:xfrm flipV="1">
                <a:off x="6316452" y="2625523"/>
                <a:ext cx="1628500" cy="29468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flipH="1">
                <a:off x="7740352" y="2625523"/>
                <a:ext cx="204600" cy="51733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8" name="直接箭头连接符 27"/>
            <p:cNvCxnSpPr/>
            <p:nvPr/>
          </p:nvCxnSpPr>
          <p:spPr>
            <a:xfrm flipH="1">
              <a:off x="7338168" y="3571407"/>
              <a:ext cx="281832" cy="572046"/>
            </a:xfrm>
            <a:prstGeom prst="straightConnector1">
              <a:avLst/>
            </a:prstGeom>
            <a:ln w="2222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flipV="1">
              <a:off x="6314536" y="3225110"/>
              <a:ext cx="1023632" cy="918343"/>
            </a:xfrm>
            <a:prstGeom prst="line">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6892007" y="1109146"/>
            <a:ext cx="1859648" cy="690268"/>
            <a:chOff x="6892007" y="1109146"/>
            <a:chExt cx="1859648" cy="690268"/>
          </a:xfrm>
        </p:grpSpPr>
        <p:cxnSp>
          <p:nvCxnSpPr>
            <p:cNvPr id="5" name="直接连接符 4"/>
            <p:cNvCxnSpPr/>
            <p:nvPr/>
          </p:nvCxnSpPr>
          <p:spPr>
            <a:xfrm flipV="1">
              <a:off x="6892007" y="1110228"/>
              <a:ext cx="1859648" cy="368532"/>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a:endCxn id="23" idx="0"/>
            </p:cNvCxnSpPr>
            <p:nvPr/>
          </p:nvCxnSpPr>
          <p:spPr>
            <a:xfrm flipH="1">
              <a:off x="8458578" y="1109146"/>
              <a:ext cx="293077" cy="690268"/>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6650730" y="1828892"/>
            <a:ext cx="1706744" cy="1155008"/>
            <a:chOff x="6650730" y="1828892"/>
            <a:chExt cx="1706744" cy="1155008"/>
          </a:xfrm>
        </p:grpSpPr>
        <p:cxnSp>
          <p:nvCxnSpPr>
            <p:cNvPr id="11" name="直接连接符 10"/>
            <p:cNvCxnSpPr/>
            <p:nvPr/>
          </p:nvCxnSpPr>
          <p:spPr>
            <a:xfrm flipH="1">
              <a:off x="7952104" y="2178255"/>
              <a:ext cx="405370" cy="805645"/>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H="1" flipV="1">
              <a:off x="6650730" y="1828892"/>
              <a:ext cx="1301374" cy="1155008"/>
            </a:xfrm>
            <a:prstGeom prst="straightConnector1">
              <a:avLst/>
            </a:prstGeom>
            <a:ln w="19050">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grpSp>
      <p:sp>
        <p:nvSpPr>
          <p:cNvPr id="30" name="文本框 29"/>
          <p:cNvSpPr txBox="1">
            <a:spLocks noChangeArrowheads="1"/>
          </p:cNvSpPr>
          <p:nvPr/>
        </p:nvSpPr>
        <p:spPr bwMode="auto">
          <a:xfrm>
            <a:off x="4713531" y="4772336"/>
            <a:ext cx="4210304" cy="1554272"/>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Times New Roman" panose="02020603050405020304" pitchFamily="18" charset="0"/>
                <a:ea typeface="楷体_GB2312" pitchFamily="49" charset="-122"/>
              </a:defRPr>
            </a:lvl1pPr>
            <a:lvl2pPr>
              <a:defRPr>
                <a:solidFill>
                  <a:schemeClr val="tx1"/>
                </a:solidFill>
                <a:latin typeface="Times New Roman" panose="02020603050405020304" pitchFamily="18" charset="0"/>
                <a:ea typeface="楷体_GB2312" pitchFamily="49" charset="-122"/>
              </a:defRPr>
            </a:lvl2pPr>
            <a:lvl3pPr>
              <a:defRPr>
                <a:solidFill>
                  <a:schemeClr val="tx1"/>
                </a:solidFill>
                <a:latin typeface="Times New Roman" panose="02020603050405020304" pitchFamily="18" charset="0"/>
                <a:ea typeface="楷体_GB2312" pitchFamily="49" charset="-122"/>
              </a:defRPr>
            </a:lvl3pPr>
            <a:lvl4pPr>
              <a:defRPr>
                <a:solidFill>
                  <a:schemeClr val="tx1"/>
                </a:solidFill>
                <a:latin typeface="Times New Roman" panose="02020603050405020304" pitchFamily="18" charset="0"/>
                <a:ea typeface="楷体_GB2312" pitchFamily="49" charset="-122"/>
              </a:defRPr>
            </a:lvl4pPr>
            <a:lvl5pPr>
              <a:defRPr>
                <a:solidFill>
                  <a:schemeClr val="tx1"/>
                </a:solidFill>
                <a:latin typeface="Times New Roman" panose="02020603050405020304" pitchFamily="18" charset="0"/>
                <a:ea typeface="楷体_GB2312" pitchFamily="49"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9pPr>
          </a:lstStyle>
          <a:p>
            <a:pPr lvl="2" eaLnBrk="0" hangingPunct="0">
              <a:lnSpc>
                <a:spcPts val="1900"/>
              </a:lnSpc>
              <a:spcBef>
                <a:spcPts val="0"/>
              </a:spcBef>
            </a:pPr>
            <a:r>
              <a:rPr lang="de-DE" altLang="en-US" b="1" dirty="0">
                <a:solidFill>
                  <a:srgbClr val="0000FF"/>
                </a:solidFill>
              </a:rPr>
              <a:t>int</a:t>
            </a:r>
            <a:r>
              <a:rPr lang="de-DE" altLang="en-US" b="1" dirty="0"/>
              <a:t> Sum ( </a:t>
            </a:r>
            <a:r>
              <a:rPr lang="de-DE" altLang="en-US" b="1" dirty="0">
                <a:solidFill>
                  <a:srgbClr val="0000FF"/>
                </a:solidFill>
              </a:rPr>
              <a:t>int</a:t>
            </a:r>
            <a:r>
              <a:rPr lang="de-DE" altLang="en-US" b="1" dirty="0"/>
              <a:t> </a:t>
            </a:r>
            <a:r>
              <a:rPr lang="de-DE" altLang="en-US" b="1" i="1" dirty="0"/>
              <a:t>n </a:t>
            </a:r>
            <a:r>
              <a:rPr lang="de-DE" altLang="en-US" b="1" dirty="0"/>
              <a:t>)</a:t>
            </a:r>
            <a:r>
              <a:rPr lang="en-US" altLang="en-US" b="1" dirty="0"/>
              <a:t> </a:t>
            </a:r>
            <a:r>
              <a:rPr lang="de-DE" altLang="en-US" b="1" dirty="0"/>
              <a:t>{ </a:t>
            </a:r>
            <a:endParaRPr lang="de-DE" altLang="en-US" b="1" dirty="0"/>
          </a:p>
          <a:p>
            <a:pPr lvl="2" eaLnBrk="0" hangingPunct="0">
              <a:lnSpc>
                <a:spcPts val="1900"/>
              </a:lnSpc>
              <a:spcBef>
                <a:spcPts val="0"/>
              </a:spcBef>
            </a:pPr>
            <a:r>
              <a:rPr lang="de-DE" altLang="en-US" b="1" dirty="0"/>
              <a:t>        </a:t>
            </a:r>
            <a:r>
              <a:rPr lang="de-DE" altLang="en-US" b="1" dirty="0">
                <a:solidFill>
                  <a:srgbClr val="0000FF"/>
                </a:solidFill>
              </a:rPr>
              <a:t>int</a:t>
            </a:r>
            <a:r>
              <a:rPr lang="de-DE" altLang="en-US" b="1" dirty="0"/>
              <a:t> </a:t>
            </a:r>
            <a:r>
              <a:rPr lang="de-DE" altLang="en-US" b="1" i="1" dirty="0"/>
              <a:t>sum</a:t>
            </a:r>
            <a:r>
              <a:rPr lang="de-DE" altLang="en-US" b="1" dirty="0"/>
              <a:t> = 0;                             </a:t>
            </a:r>
            <a:endParaRPr lang="de-DE" altLang="en-US" b="1" dirty="0"/>
          </a:p>
          <a:p>
            <a:pPr lvl="2">
              <a:lnSpc>
                <a:spcPts val="1900"/>
              </a:lnSpc>
              <a:spcBef>
                <a:spcPts val="0"/>
              </a:spcBef>
              <a:buFont typeface="Wingdings" panose="05000000000000000000" pitchFamily="2" charset="2"/>
              <a:buNone/>
            </a:pPr>
            <a:r>
              <a:rPr lang="de-DE" altLang="en-US" b="1" dirty="0"/>
              <a:t>        </a:t>
            </a:r>
            <a:r>
              <a:rPr lang="de-DE" altLang="en-US" b="1" dirty="0">
                <a:solidFill>
                  <a:srgbClr val="0000FF"/>
                </a:solidFill>
              </a:rPr>
              <a:t>for</a:t>
            </a:r>
            <a:r>
              <a:rPr lang="de-DE" altLang="en-US" b="1" dirty="0"/>
              <a:t> (</a:t>
            </a:r>
            <a:r>
              <a:rPr lang="de-DE" altLang="en-US" b="1" dirty="0">
                <a:solidFill>
                  <a:srgbClr val="0000FF"/>
                </a:solidFill>
              </a:rPr>
              <a:t>int</a:t>
            </a:r>
            <a:r>
              <a:rPr lang="de-DE" altLang="en-US" b="1" dirty="0"/>
              <a:t> </a:t>
            </a:r>
            <a:r>
              <a:rPr lang="de-DE" altLang="en-US" b="1" i="1" dirty="0"/>
              <a:t>i </a:t>
            </a:r>
            <a:r>
              <a:rPr lang="de-DE" altLang="en-US" b="1" dirty="0"/>
              <a:t>= 1; </a:t>
            </a:r>
            <a:r>
              <a:rPr lang="de-DE" altLang="en-US" b="1" i="1" dirty="0"/>
              <a:t>i</a:t>
            </a:r>
            <a:r>
              <a:rPr lang="de-DE" altLang="en-US" b="1" dirty="0"/>
              <a:t>&lt;= </a:t>
            </a:r>
            <a:r>
              <a:rPr lang="de-DE" altLang="en-US" b="1" i="1" dirty="0"/>
              <a:t>n</a:t>
            </a:r>
            <a:r>
              <a:rPr lang="de-DE" altLang="en-US" b="1" dirty="0"/>
              <a:t>; </a:t>
            </a:r>
            <a:r>
              <a:rPr lang="de-DE" altLang="en-US" b="1" i="1" dirty="0"/>
              <a:t>i</a:t>
            </a:r>
            <a:r>
              <a:rPr lang="de-DE" altLang="en-US" b="1" dirty="0"/>
              <a:t>++)</a:t>
            </a:r>
            <a:r>
              <a:rPr lang="en-US" altLang="zh-CN" b="1" dirty="0"/>
              <a:t> </a:t>
            </a:r>
            <a:endParaRPr lang="en-US" altLang="zh-CN" b="1" dirty="0"/>
          </a:p>
          <a:p>
            <a:pPr lvl="2">
              <a:lnSpc>
                <a:spcPts val="1900"/>
              </a:lnSpc>
              <a:spcBef>
                <a:spcPts val="0"/>
              </a:spcBef>
              <a:buFont typeface="Wingdings" panose="05000000000000000000" pitchFamily="2" charset="2"/>
              <a:buNone/>
            </a:pPr>
            <a:r>
              <a:rPr lang="en-US" altLang="zh-CN" b="1" i="1" dirty="0"/>
              <a:t>              sum += n</a:t>
            </a:r>
            <a:r>
              <a:rPr lang="en-US" altLang="zh-CN" b="1" dirty="0"/>
              <a:t>;     </a:t>
            </a:r>
            <a:endParaRPr lang="en-US" altLang="zh-CN" b="1" dirty="0"/>
          </a:p>
          <a:p>
            <a:pPr lvl="2">
              <a:lnSpc>
                <a:spcPts val="1900"/>
              </a:lnSpc>
              <a:spcBef>
                <a:spcPts val="0"/>
              </a:spcBef>
              <a:buFont typeface="Wingdings" panose="05000000000000000000" pitchFamily="2" charset="2"/>
              <a:buNone/>
            </a:pPr>
            <a:r>
              <a:rPr lang="en-US" altLang="zh-CN" b="1" dirty="0"/>
              <a:t>        </a:t>
            </a:r>
            <a:r>
              <a:rPr lang="en-US" altLang="zh-CN" b="1" dirty="0">
                <a:solidFill>
                  <a:srgbClr val="0000FF"/>
                </a:solidFill>
              </a:rPr>
              <a:t>return</a:t>
            </a:r>
            <a:r>
              <a:rPr lang="en-US" altLang="zh-CN" b="1" dirty="0"/>
              <a:t> </a:t>
            </a:r>
            <a:r>
              <a:rPr lang="en-US" altLang="zh-CN" b="1" i="1" dirty="0"/>
              <a:t>sum</a:t>
            </a:r>
            <a:r>
              <a:rPr lang="en-US" altLang="zh-CN" b="1" dirty="0"/>
              <a:t>;           </a:t>
            </a:r>
            <a:endParaRPr lang="en-US" altLang="zh-CN" b="1" dirty="0"/>
          </a:p>
          <a:p>
            <a:pPr lvl="2">
              <a:lnSpc>
                <a:spcPts val="1900"/>
              </a:lnSpc>
              <a:spcBef>
                <a:spcPts val="0"/>
              </a:spcBef>
              <a:buFont typeface="Wingdings" panose="05000000000000000000" pitchFamily="2" charset="2"/>
              <a:buNone/>
            </a:pPr>
            <a:r>
              <a:rPr lang="en-US" altLang="zh-CN" b="1" dirty="0"/>
              <a:t>}</a:t>
            </a:r>
            <a:r>
              <a:rPr lang="en-US" altLang="zh-CN" dirty="0"/>
              <a:t> </a:t>
            </a:r>
            <a:endParaRPr lang="zh-CN" altLang="en-US" b="1" dirty="0"/>
          </a:p>
        </p:txBody>
      </p:sp>
      <p:sp>
        <p:nvSpPr>
          <p:cNvPr id="31" name="文本框 30"/>
          <p:cNvSpPr txBox="1">
            <a:spLocks noChangeArrowheads="1"/>
          </p:cNvSpPr>
          <p:nvPr/>
        </p:nvSpPr>
        <p:spPr bwMode="auto">
          <a:xfrm>
            <a:off x="250881" y="4774352"/>
            <a:ext cx="4337732" cy="1546577"/>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Times New Roman" panose="02020603050405020304" pitchFamily="18" charset="0"/>
                <a:ea typeface="楷体_GB2312" pitchFamily="49" charset="-122"/>
              </a:defRPr>
            </a:lvl1pPr>
            <a:lvl2pPr>
              <a:defRPr>
                <a:solidFill>
                  <a:schemeClr val="tx1"/>
                </a:solidFill>
                <a:latin typeface="Times New Roman" panose="02020603050405020304" pitchFamily="18" charset="0"/>
                <a:ea typeface="楷体_GB2312" pitchFamily="49" charset="-122"/>
              </a:defRPr>
            </a:lvl2pPr>
            <a:lvl3pPr>
              <a:defRPr>
                <a:solidFill>
                  <a:schemeClr val="tx1"/>
                </a:solidFill>
                <a:latin typeface="Times New Roman" panose="02020603050405020304" pitchFamily="18" charset="0"/>
                <a:ea typeface="楷体_GB2312" pitchFamily="49" charset="-122"/>
              </a:defRPr>
            </a:lvl3pPr>
            <a:lvl4pPr>
              <a:defRPr>
                <a:solidFill>
                  <a:schemeClr val="tx1"/>
                </a:solidFill>
                <a:latin typeface="Times New Roman" panose="02020603050405020304" pitchFamily="18" charset="0"/>
                <a:ea typeface="楷体_GB2312" pitchFamily="49" charset="-122"/>
              </a:defRPr>
            </a:lvl4pPr>
            <a:lvl5pPr>
              <a:defRPr>
                <a:solidFill>
                  <a:schemeClr val="tx1"/>
                </a:solidFill>
                <a:latin typeface="Times New Roman" panose="02020603050405020304" pitchFamily="18" charset="0"/>
                <a:ea typeface="楷体_GB2312" pitchFamily="49"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9pPr>
          </a:lstStyle>
          <a:p>
            <a:pPr lvl="2" eaLnBrk="0" hangingPunct="0">
              <a:spcBef>
                <a:spcPts val="900"/>
              </a:spcBef>
            </a:pPr>
            <a:r>
              <a:rPr lang="en-US" altLang="zh-CN" b="1" dirty="0">
                <a:solidFill>
                  <a:srgbClr val="0000FF"/>
                </a:solidFill>
                <a:ea typeface="宋体" panose="02010600030101010101" pitchFamily="2" charset="-122"/>
                <a:cs typeface="Times New Roman" panose="02020603050405020304" pitchFamily="18" charset="0"/>
              </a:rPr>
              <a:t>void</a:t>
            </a:r>
            <a:r>
              <a:rPr lang="en-US" altLang="zh-CN" b="1" dirty="0">
                <a:ea typeface="宋体" panose="02010600030101010101" pitchFamily="2" charset="-122"/>
                <a:cs typeface="Times New Roman" panose="02020603050405020304" pitchFamily="18" charset="0"/>
              </a:rPr>
              <a:t> main() {</a:t>
            </a:r>
            <a:endParaRPr lang="en-US" altLang="zh-CN" b="1" dirty="0">
              <a:ea typeface="宋体" panose="02010600030101010101" pitchFamily="2" charset="-122"/>
              <a:cs typeface="Times New Roman" panose="02020603050405020304" pitchFamily="18" charset="0"/>
            </a:endParaRPr>
          </a:p>
          <a:p>
            <a:pPr lvl="2" eaLnBrk="0" hangingPunct="0">
              <a:spcBef>
                <a:spcPts val="900"/>
              </a:spcBef>
            </a:pPr>
            <a:r>
              <a:rPr lang="en-US" altLang="zh-CN" b="1" dirty="0">
                <a:ea typeface="宋体" panose="02010600030101010101" pitchFamily="2" charset="-122"/>
                <a:cs typeface="Times New Roman" panose="02020603050405020304" pitchFamily="18" charset="0"/>
              </a:rPr>
              <a:t>   </a:t>
            </a:r>
            <a:r>
              <a:rPr lang="en-US" altLang="zh-CN" b="1" dirty="0" err="1">
                <a:solidFill>
                  <a:srgbClr val="0000FF"/>
                </a:solidFill>
                <a:ea typeface="宋体" panose="02010600030101010101" pitchFamily="2" charset="-122"/>
                <a:cs typeface="Times New Roman" panose="02020603050405020304" pitchFamily="18" charset="0"/>
              </a:rPr>
              <a:t>int</a:t>
            </a:r>
            <a:r>
              <a:rPr lang="en-US" altLang="zh-CN" b="1" dirty="0">
                <a:ea typeface="宋体" panose="02010600030101010101" pitchFamily="2" charset="-122"/>
                <a:cs typeface="Times New Roman" panose="02020603050405020304" pitchFamily="18" charset="0"/>
              </a:rPr>
              <a:t> </a:t>
            </a:r>
            <a:r>
              <a:rPr lang="en-US" altLang="zh-CN" b="1" i="1" dirty="0">
                <a:ea typeface="宋体" panose="02010600030101010101" pitchFamily="2" charset="-122"/>
                <a:cs typeface="Times New Roman" panose="02020603050405020304" pitchFamily="18" charset="0"/>
              </a:rPr>
              <a:t>n</a:t>
            </a:r>
            <a:r>
              <a:rPr lang="en-US" altLang="zh-CN" b="1" dirty="0">
                <a:ea typeface="宋体" panose="02010600030101010101" pitchFamily="2" charset="-122"/>
                <a:cs typeface="Times New Roman" panose="02020603050405020304" pitchFamily="18" charset="0"/>
              </a:rPr>
              <a:t> = 3;</a:t>
            </a:r>
            <a:endParaRPr lang="en-US" altLang="zh-CN" b="1" dirty="0">
              <a:ea typeface="宋体" panose="02010600030101010101" pitchFamily="2" charset="-122"/>
              <a:cs typeface="Times New Roman" panose="02020603050405020304" pitchFamily="18" charset="0"/>
            </a:endParaRPr>
          </a:p>
          <a:p>
            <a:pPr lvl="2" eaLnBrk="0" hangingPunct="0">
              <a:spcBef>
                <a:spcPts val="900"/>
              </a:spcBef>
            </a:pPr>
            <a:r>
              <a:rPr lang="en-US" altLang="zh-CN" b="1" dirty="0">
                <a:ea typeface="宋体" panose="02010600030101010101" pitchFamily="2" charset="-122"/>
                <a:cs typeface="Times New Roman" panose="02020603050405020304" pitchFamily="18" charset="0"/>
              </a:rPr>
              <a:t>   </a:t>
            </a:r>
            <a:r>
              <a:rPr lang="en-US" altLang="zh-CN" b="1" dirty="0" err="1" smtClean="0">
                <a:ea typeface="宋体" panose="02010600030101010101" pitchFamily="2" charset="-122"/>
                <a:cs typeface="Times New Roman" panose="02020603050405020304" pitchFamily="18" charset="0"/>
              </a:rPr>
              <a:t>cout</a:t>
            </a:r>
            <a:r>
              <a:rPr lang="en-US" altLang="zh-CN" b="1" dirty="0" smtClean="0">
                <a:ea typeface="宋体" panose="02010600030101010101" pitchFamily="2" charset="-122"/>
                <a:cs typeface="Times New Roman" panose="02020603050405020304" pitchFamily="18" charset="0"/>
              </a:rPr>
              <a:t>&lt;&lt;Sum(</a:t>
            </a:r>
            <a:r>
              <a:rPr lang="en-US" altLang="zh-CN" b="1" i="1" dirty="0" smtClean="0">
                <a:ea typeface="宋体" panose="02010600030101010101" pitchFamily="2" charset="-122"/>
                <a:cs typeface="Times New Roman" panose="02020603050405020304" pitchFamily="18" charset="0"/>
              </a:rPr>
              <a:t>n</a:t>
            </a:r>
            <a:r>
              <a:rPr lang="en-US" altLang="zh-CN" b="1" dirty="0">
                <a:ea typeface="宋体" panose="02010600030101010101" pitchFamily="2" charset="-122"/>
                <a:cs typeface="Times New Roman" panose="02020603050405020304" pitchFamily="18" charset="0"/>
              </a:rPr>
              <a:t>);</a:t>
            </a:r>
            <a:endParaRPr lang="en-US" altLang="zh-CN" b="1" dirty="0">
              <a:ea typeface="宋体" panose="02010600030101010101" pitchFamily="2" charset="-122"/>
              <a:cs typeface="Times New Roman" panose="02020603050405020304" pitchFamily="18" charset="0"/>
            </a:endParaRPr>
          </a:p>
          <a:p>
            <a:pPr lvl="2" eaLnBrk="0" hangingPunct="0">
              <a:spcBef>
                <a:spcPts val="900"/>
              </a:spcBef>
            </a:pPr>
            <a:r>
              <a:rPr lang="en-US" altLang="zh-CN" b="1" dirty="0">
                <a:ea typeface="宋体" panose="02010600030101010101" pitchFamily="2" charset="-122"/>
                <a:cs typeface="Times New Roman" panose="02020603050405020304" pitchFamily="18" charset="0"/>
              </a:rPr>
              <a:t>}</a:t>
            </a:r>
            <a:endParaRPr lang="zh-CN" altLang="en-US" b="1" dirty="0">
              <a:cs typeface="Times New Roman" panose="02020603050405020304" pitchFamily="18" charset="0"/>
            </a:endParaRPr>
          </a:p>
        </p:txBody>
      </p:sp>
      <p:grpSp>
        <p:nvGrpSpPr>
          <p:cNvPr id="6" name="组合 5"/>
          <p:cNvGrpSpPr/>
          <p:nvPr/>
        </p:nvGrpSpPr>
        <p:grpSpPr>
          <a:xfrm>
            <a:off x="2267744" y="5500702"/>
            <a:ext cx="1849283" cy="369332"/>
            <a:chOff x="2267744" y="5560446"/>
            <a:chExt cx="1849283" cy="369332"/>
          </a:xfrm>
        </p:grpSpPr>
        <p:sp>
          <p:nvSpPr>
            <p:cNvPr id="32" name="文本框 31"/>
            <p:cNvSpPr txBox="1">
              <a:spLocks noChangeArrowheads="1"/>
            </p:cNvSpPr>
            <p:nvPr/>
          </p:nvSpPr>
          <p:spPr bwMode="auto">
            <a:xfrm>
              <a:off x="3000364" y="5560446"/>
              <a:ext cx="1116663" cy="369332"/>
            </a:xfrm>
            <a:prstGeom prst="rect">
              <a:avLst/>
            </a:prstGeom>
            <a:solidFill>
              <a:srgbClr val="FFCC00"/>
            </a:solidFill>
            <a:ln w="28575">
              <a:solidFill>
                <a:srgbClr val="FFC000"/>
              </a:solidFill>
              <a:miter lim="800000"/>
            </a:ln>
          </p:spPr>
          <p:txBody>
            <a:bodyPr wrap="square">
              <a:spAutoFit/>
            </a:bodyPr>
            <a:lstStyle/>
            <a:p>
              <a:pPr algn="ctr" eaLnBrk="0" hangingPunct="0">
                <a:spcBef>
                  <a:spcPct val="50000"/>
                </a:spcBef>
              </a:pPr>
              <a:r>
                <a:rPr lang="en-US" altLang="zh-CN" dirty="0">
                  <a:latin typeface="Times New Roman" panose="02020603050405020304" pitchFamily="18" charset="0"/>
                  <a:ea typeface="宋体" panose="02010600030101010101" pitchFamily="2" charset="-122"/>
                </a:rPr>
                <a:t>Call B</a:t>
              </a:r>
              <a:endParaRPr lang="en-US" altLang="zh-CN" dirty="0">
                <a:latin typeface="Times New Roman" panose="02020603050405020304" pitchFamily="18" charset="0"/>
                <a:ea typeface="宋体" panose="02010600030101010101" pitchFamily="2" charset="-122"/>
              </a:endParaRPr>
            </a:p>
          </p:txBody>
        </p:sp>
        <p:cxnSp>
          <p:nvCxnSpPr>
            <p:cNvPr id="4" name="直接箭头连接符 3"/>
            <p:cNvCxnSpPr/>
            <p:nvPr/>
          </p:nvCxnSpPr>
          <p:spPr>
            <a:xfrm>
              <a:off x="2267744" y="5804304"/>
              <a:ext cx="216024"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linds(horizontal)">
                                      <p:cBhvr>
                                        <p:cTn id="7" dur="500"/>
                                        <p:tgtEl>
                                          <p:spTgt spid="102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blinds(horizontal)">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blinds(horizontal)">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0243">
                                            <p:txEl>
                                              <p:pRg st="1" end="1"/>
                                            </p:txEl>
                                          </p:spTgt>
                                        </p:tgtEl>
                                        <p:attrNameLst>
                                          <p:attrName>style.visibility</p:attrName>
                                        </p:attrNameLst>
                                      </p:cBhvr>
                                      <p:to>
                                        <p:strVal val="visible"/>
                                      </p:to>
                                    </p:set>
                                    <p:animEffect transition="in" filter="blinds(horizontal)">
                                      <p:cBhvr>
                                        <p:cTn id="26" dur="500"/>
                                        <p:tgtEl>
                                          <p:spTgt spid="10243">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ppt_x"/>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0243">
                                            <p:txEl>
                                              <p:pRg st="2" end="2"/>
                                            </p:txEl>
                                          </p:spTgt>
                                        </p:tgtEl>
                                        <p:attrNameLst>
                                          <p:attrName>style.visibility</p:attrName>
                                        </p:attrNameLst>
                                      </p:cBhvr>
                                      <p:to>
                                        <p:strVal val="visible"/>
                                      </p:to>
                                    </p:set>
                                    <p:animEffect transition="in" filter="blinds(horizontal)">
                                      <p:cBhvr>
                                        <p:cTn id="37" dur="500"/>
                                        <p:tgtEl>
                                          <p:spTgt spid="10243">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0249"/>
                                        </p:tgtEl>
                                        <p:attrNameLst>
                                          <p:attrName>style.visibility</p:attrName>
                                        </p:attrNameLst>
                                      </p:cBhvr>
                                      <p:to>
                                        <p:strVal val="visible"/>
                                      </p:to>
                                    </p:set>
                                    <p:animEffect transition="in" filter="blinds(horizontal)">
                                      <p:cBhvr>
                                        <p:cTn id="42" dur="500"/>
                                        <p:tgtEl>
                                          <p:spTgt spid="10249"/>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0243">
                                            <p:txEl>
                                              <p:pRg st="3" end="3"/>
                                            </p:txEl>
                                          </p:spTgt>
                                        </p:tgtEl>
                                        <p:attrNameLst>
                                          <p:attrName>style.visibility</p:attrName>
                                        </p:attrNameLst>
                                      </p:cBhvr>
                                      <p:to>
                                        <p:strVal val="visible"/>
                                      </p:to>
                                    </p:set>
                                    <p:animEffect transition="in" filter="blinds(horizontal)">
                                      <p:cBhvr>
                                        <p:cTn id="47" dur="500"/>
                                        <p:tgtEl>
                                          <p:spTgt spid="10243">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0250"/>
                                        </p:tgtEl>
                                        <p:attrNameLst>
                                          <p:attrName>style.visibility</p:attrName>
                                        </p:attrNameLst>
                                      </p:cBhvr>
                                      <p:to>
                                        <p:strVal val="visible"/>
                                      </p:to>
                                    </p:set>
                                    <p:animEffect transition="in" filter="blinds(horizontal)">
                                      <p:cBhvr>
                                        <p:cTn id="52" dur="500"/>
                                        <p:tgtEl>
                                          <p:spTgt spid="10250"/>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0243">
                                            <p:txEl>
                                              <p:pRg st="4" end="4"/>
                                            </p:txEl>
                                          </p:spTgt>
                                        </p:tgtEl>
                                        <p:attrNameLst>
                                          <p:attrName>style.visibility</p:attrName>
                                        </p:attrNameLst>
                                      </p:cBhvr>
                                      <p:to>
                                        <p:strVal val="visible"/>
                                      </p:to>
                                    </p:set>
                                    <p:animEffect transition="in" filter="blinds(horizontal)">
                                      <p:cBhvr>
                                        <p:cTn id="57" dur="500"/>
                                        <p:tgtEl>
                                          <p:spTgt spid="10243">
                                            <p:txEl>
                                              <p:pRg st="4" end="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0243">
                                            <p:txEl>
                                              <p:pRg st="5" end="5"/>
                                            </p:txEl>
                                          </p:spTgt>
                                        </p:tgtEl>
                                        <p:attrNameLst>
                                          <p:attrName>style.visibility</p:attrName>
                                        </p:attrNameLst>
                                      </p:cBhvr>
                                      <p:to>
                                        <p:strVal val="visible"/>
                                      </p:to>
                                    </p:set>
                                    <p:animEffect transition="in" filter="blinds(horizontal)">
                                      <p:cBhvr>
                                        <p:cTn id="62" dur="500"/>
                                        <p:tgtEl>
                                          <p:spTgt spid="10243">
                                            <p:txEl>
                                              <p:pRg st="5" end="5"/>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10251"/>
                                        </p:tgtEl>
                                        <p:attrNameLst>
                                          <p:attrName>style.visibility</p:attrName>
                                        </p:attrNameLst>
                                      </p:cBhvr>
                                      <p:to>
                                        <p:strVal val="visible"/>
                                      </p:to>
                                    </p:set>
                                    <p:animEffect transition="in" filter="blinds(horizontal)">
                                      <p:cBhvr>
                                        <p:cTn id="71" dur="500"/>
                                        <p:tgtEl>
                                          <p:spTgt spid="10251"/>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10243">
                                            <p:txEl>
                                              <p:pRg st="6" end="6"/>
                                            </p:txEl>
                                          </p:spTgt>
                                        </p:tgtEl>
                                        <p:attrNameLst>
                                          <p:attrName>style.visibility</p:attrName>
                                        </p:attrNameLst>
                                      </p:cBhvr>
                                      <p:to>
                                        <p:strVal val="visible"/>
                                      </p:to>
                                    </p:set>
                                    <p:animEffect transition="in" filter="blinds(horizontal)">
                                      <p:cBhvr>
                                        <p:cTn id="76" dur="500"/>
                                        <p:tgtEl>
                                          <p:spTgt spid="10243">
                                            <p:txEl>
                                              <p:pRg st="6" end="6"/>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10243">
                                            <p:txEl>
                                              <p:pRg st="7" end="7"/>
                                            </p:txEl>
                                          </p:spTgt>
                                        </p:tgtEl>
                                        <p:attrNameLst>
                                          <p:attrName>style.visibility</p:attrName>
                                        </p:attrNameLst>
                                      </p:cBhvr>
                                      <p:to>
                                        <p:strVal val="visible"/>
                                      </p:to>
                                    </p:set>
                                    <p:animEffect transition="in" filter="blinds(horizontal)">
                                      <p:cBhvr>
                                        <p:cTn id="81" dur="500"/>
                                        <p:tgtEl>
                                          <p:spTgt spid="10243">
                                            <p:txEl>
                                              <p:pRg st="7" end="7"/>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10243">
                                            <p:txEl>
                                              <p:pRg st="8" end="8"/>
                                            </p:txEl>
                                          </p:spTgt>
                                        </p:tgtEl>
                                        <p:attrNameLst>
                                          <p:attrName>style.visibility</p:attrName>
                                        </p:attrNameLst>
                                      </p:cBhvr>
                                      <p:to>
                                        <p:strVal val="visible"/>
                                      </p:to>
                                    </p:set>
                                    <p:animEffect transition="in" filter="blinds(horizontal)">
                                      <p:cBhvr>
                                        <p:cTn id="86" dur="500"/>
                                        <p:tgtEl>
                                          <p:spTgt spid="10243">
                                            <p:txEl>
                                              <p:pRg st="8" end="8"/>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10253"/>
                                        </p:tgtEl>
                                        <p:attrNameLst>
                                          <p:attrName>style.visibility</p:attrName>
                                        </p:attrNameLst>
                                      </p:cBhvr>
                                      <p:to>
                                        <p:strVal val="visible"/>
                                      </p:to>
                                    </p:set>
                                    <p:animEffect transition="in" filter="blinds(horizontal)">
                                      <p:cBhvr>
                                        <p:cTn id="91" dur="500"/>
                                        <p:tgtEl>
                                          <p:spTgt spid="10253"/>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10243">
                                            <p:txEl>
                                              <p:pRg st="9" end="9"/>
                                            </p:txEl>
                                          </p:spTgt>
                                        </p:tgtEl>
                                        <p:attrNameLst>
                                          <p:attrName>style.visibility</p:attrName>
                                        </p:attrNameLst>
                                      </p:cBhvr>
                                      <p:to>
                                        <p:strVal val="visible"/>
                                      </p:to>
                                    </p:set>
                                    <p:animEffect transition="in" filter="blinds(horizontal)">
                                      <p:cBhvr>
                                        <p:cTn id="96" dur="500"/>
                                        <p:tgtEl>
                                          <p:spTgt spid="10243">
                                            <p:txEl>
                                              <p:pRg st="9" end="9"/>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16"/>
                                        </p:tgtEl>
                                        <p:attrNameLst>
                                          <p:attrName>style.visibility</p:attrName>
                                        </p:attrNameLst>
                                      </p:cBhvr>
                                      <p:to>
                                        <p:strVal val="visible"/>
                                      </p:to>
                                    </p:set>
                                  </p:childTnLst>
                                </p:cTn>
                              </p:par>
                              <p:par>
                                <p:cTn id="101" presetID="3" presetClass="entr" presetSubtype="10" fill="hold" grpId="0" nodeType="withEffect">
                                  <p:stCondLst>
                                    <p:cond delay="0"/>
                                  </p:stCondLst>
                                  <p:childTnLst>
                                    <p:set>
                                      <p:cBhvr>
                                        <p:cTn id="102" dur="1" fill="hold">
                                          <p:stCondLst>
                                            <p:cond delay="0"/>
                                          </p:stCondLst>
                                        </p:cTn>
                                        <p:tgtEl>
                                          <p:spTgt spid="10255"/>
                                        </p:tgtEl>
                                        <p:attrNameLst>
                                          <p:attrName>style.visibility</p:attrName>
                                        </p:attrNameLst>
                                      </p:cBhvr>
                                      <p:to>
                                        <p:strVal val="visible"/>
                                      </p:to>
                                    </p:set>
                                    <p:animEffect transition="in" filter="blinds(horizontal)">
                                      <p:cBhvr>
                                        <p:cTn id="103" dur="500"/>
                                        <p:tgtEl>
                                          <p:spTgt spid="102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uiExpand="1" build="p"/>
      <p:bldP spid="10249" grpId="0"/>
      <p:bldP spid="10250" grpId="0"/>
      <p:bldP spid="10251" grpId="0"/>
      <p:bldP spid="10253" grpId="0"/>
      <p:bldP spid="10255" grpId="0"/>
      <p:bldP spid="30" grpId="0" bldLvl="0" animBg="1"/>
      <p:bldP spid="31"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内容占位符 11266"/>
          <p:cNvSpPr>
            <a:spLocks noGrp="1" noChangeArrowheads="1"/>
          </p:cNvSpPr>
          <p:nvPr>
            <p:ph idx="1"/>
          </p:nvPr>
        </p:nvSpPr>
        <p:spPr>
          <a:xfrm>
            <a:off x="126391" y="940777"/>
            <a:ext cx="8229600" cy="4678451"/>
          </a:xfrm>
        </p:spPr>
        <p:txBody>
          <a:bodyPr/>
          <a:lstStyle/>
          <a:p>
            <a:pPr>
              <a:buFont typeface="Wingdings" panose="05000000000000000000" pitchFamily="2" charset="2"/>
              <a:buNone/>
            </a:pPr>
            <a:r>
              <a:rPr lang="zh-CN" altLang="en-US" sz="2400" b="1" dirty="0"/>
              <a:t>（</a:t>
            </a:r>
            <a:r>
              <a:rPr lang="en-US" altLang="zh-CN" sz="2400" b="1" dirty="0"/>
              <a:t>2</a:t>
            </a:r>
            <a:r>
              <a:rPr lang="zh-CN" altLang="en-US" sz="2400" b="1" dirty="0"/>
              <a:t>）关于</a:t>
            </a:r>
            <a:r>
              <a:rPr lang="zh-CN" altLang="en-US" sz="2400" b="1" dirty="0">
                <a:solidFill>
                  <a:srgbClr val="FF0000"/>
                </a:solidFill>
              </a:rPr>
              <a:t>局部变量</a:t>
            </a:r>
            <a:r>
              <a:rPr lang="zh-CN" altLang="en-US" sz="2400" b="1" dirty="0"/>
              <a:t>的实现的讨论</a:t>
            </a:r>
            <a:endParaRPr lang="zh-CN" altLang="en-US" sz="2400" b="1" dirty="0"/>
          </a:p>
          <a:p>
            <a:pPr>
              <a:buFont typeface="Wingdings" panose="05000000000000000000" pitchFamily="2" charset="2"/>
              <a:buNone/>
            </a:pPr>
            <a:r>
              <a:rPr lang="zh-CN" altLang="en-US" sz="2000" b="1" dirty="0"/>
              <a:t>         在</a:t>
            </a:r>
            <a:r>
              <a:rPr lang="zh-CN" altLang="en-US" sz="2000" b="1" dirty="0">
                <a:solidFill>
                  <a:srgbClr val="FF0000"/>
                </a:solidFill>
              </a:rPr>
              <a:t>执行调用时</a:t>
            </a:r>
            <a:r>
              <a:rPr lang="en-US" altLang="zh-CN" sz="2000" b="1" dirty="0"/>
              <a:t>, </a:t>
            </a:r>
            <a:r>
              <a:rPr lang="zh-CN" altLang="en-US" sz="2000" b="1" dirty="0"/>
              <a:t>内部操作如下</a:t>
            </a:r>
            <a:r>
              <a:rPr lang="en-US" altLang="zh-CN" sz="2000" b="1" dirty="0"/>
              <a:t>:</a:t>
            </a:r>
            <a:endParaRPr lang="en-US" altLang="zh-CN" sz="2000" b="1" dirty="0"/>
          </a:p>
          <a:p>
            <a:pPr>
              <a:buFont typeface="Wingdings" panose="05000000000000000000" pitchFamily="2" charset="2"/>
              <a:buNone/>
            </a:pPr>
            <a:r>
              <a:rPr lang="zh-CN" altLang="en-US" sz="2000" b="1" dirty="0"/>
              <a:t>        （</a:t>
            </a:r>
            <a:r>
              <a:rPr lang="en-US" altLang="zh-CN" sz="2000" b="1" dirty="0"/>
              <a:t>a</a:t>
            </a:r>
            <a:r>
              <a:rPr lang="zh-CN" altLang="en-US" sz="2000" b="1" dirty="0"/>
              <a:t>）</a:t>
            </a:r>
            <a:r>
              <a:rPr lang="zh-CN" altLang="en-US" sz="2000" b="1" dirty="0">
                <a:solidFill>
                  <a:srgbClr val="FF0000"/>
                </a:solidFill>
              </a:rPr>
              <a:t>保存返回地址</a:t>
            </a:r>
            <a:r>
              <a:rPr lang="zh-CN" altLang="en-US" sz="2000" b="1" dirty="0"/>
              <a:t>入栈，同时</a:t>
            </a:r>
            <a:endParaRPr lang="zh-CN" altLang="en-US" sz="2000" b="1" dirty="0"/>
          </a:p>
          <a:p>
            <a:pPr>
              <a:buFont typeface="Wingdings" panose="05000000000000000000" pitchFamily="2" charset="2"/>
              <a:buNone/>
            </a:pPr>
            <a:r>
              <a:rPr lang="zh-CN" altLang="en-US" sz="2000" b="1" dirty="0">
                <a:solidFill>
                  <a:srgbClr val="FF0000"/>
                </a:solidFill>
              </a:rPr>
              <a:t>                  在栈顶为被调函数的局部变量和形参开辟存储空间</a:t>
            </a:r>
            <a:r>
              <a:rPr lang="zh-CN" altLang="en-US" sz="2000" b="1" dirty="0"/>
              <a:t>。</a:t>
            </a:r>
            <a:endParaRPr lang="zh-CN" altLang="en-US" sz="2000" b="1" dirty="0"/>
          </a:p>
          <a:p>
            <a:pPr>
              <a:buFont typeface="Wingdings" panose="05000000000000000000" pitchFamily="2" charset="2"/>
              <a:buNone/>
            </a:pPr>
            <a:r>
              <a:rPr lang="zh-CN" altLang="en-US" sz="2000" b="1" dirty="0">
                <a:solidFill>
                  <a:schemeClr val="accent2"/>
                </a:solidFill>
              </a:rPr>
              <a:t>       </a:t>
            </a:r>
            <a:r>
              <a:rPr lang="zh-CN" altLang="en-US" sz="2000" b="1" dirty="0"/>
              <a:t> （</a:t>
            </a:r>
            <a:r>
              <a:rPr lang="en-US" altLang="zh-CN" sz="2000" b="1" dirty="0"/>
              <a:t>b</a:t>
            </a:r>
            <a:r>
              <a:rPr lang="zh-CN" altLang="en-US" sz="2000" b="1" dirty="0"/>
              <a:t>）为被调子程序</a:t>
            </a:r>
            <a:r>
              <a:rPr lang="zh-CN" altLang="en-US" sz="2000" b="1" dirty="0">
                <a:solidFill>
                  <a:srgbClr val="FF0000"/>
                </a:solidFill>
              </a:rPr>
              <a:t>准备数据</a:t>
            </a:r>
            <a:r>
              <a:rPr lang="en-US" altLang="zh-CN" sz="2000" b="1" dirty="0"/>
              <a:t>: </a:t>
            </a:r>
            <a:endParaRPr lang="en-US" altLang="zh-CN" sz="2000" b="1" dirty="0"/>
          </a:p>
          <a:p>
            <a:pPr>
              <a:buFont typeface="Wingdings" panose="05000000000000000000" pitchFamily="2" charset="2"/>
              <a:buNone/>
            </a:pPr>
            <a:r>
              <a:rPr lang="zh-CN" altLang="en-US" sz="2000" b="1" dirty="0"/>
              <a:t>                  计算实在参数的值</a:t>
            </a:r>
            <a:r>
              <a:rPr lang="en-US" altLang="zh-CN" sz="2000" b="1" dirty="0"/>
              <a:t>, </a:t>
            </a:r>
            <a:r>
              <a:rPr lang="zh-CN" altLang="en-US" sz="2000" b="1" dirty="0"/>
              <a:t>并赋给对应的形参（</a:t>
            </a:r>
            <a:r>
              <a:rPr lang="zh-CN" altLang="en-US" sz="2000" b="1" dirty="0">
                <a:solidFill>
                  <a:srgbClr val="FF0000"/>
                </a:solidFill>
              </a:rPr>
              <a:t>在栈顶</a:t>
            </a:r>
            <a:r>
              <a:rPr lang="zh-CN" altLang="en-US" sz="2000" b="1" dirty="0"/>
              <a:t>）。</a:t>
            </a:r>
            <a:endParaRPr lang="zh-CN" altLang="en-US" sz="2000" b="1" dirty="0"/>
          </a:p>
          <a:p>
            <a:pPr>
              <a:buFont typeface="Wingdings" panose="05000000000000000000" pitchFamily="2" charset="2"/>
              <a:buNone/>
            </a:pPr>
            <a:r>
              <a:rPr lang="zh-CN" altLang="en-US" sz="2000" b="1" dirty="0"/>
              <a:t>        （</a:t>
            </a:r>
            <a:r>
              <a:rPr lang="en-US" altLang="zh-CN" sz="2000" b="1" dirty="0"/>
              <a:t>c</a:t>
            </a:r>
            <a:r>
              <a:rPr lang="zh-CN" altLang="en-US" sz="2000" b="1" dirty="0"/>
              <a:t>） </a:t>
            </a:r>
            <a:r>
              <a:rPr lang="zh-CN" altLang="en-US" sz="2000" b="1" dirty="0">
                <a:solidFill>
                  <a:srgbClr val="FF0000"/>
                </a:solidFill>
              </a:rPr>
              <a:t>转入子程序</a:t>
            </a:r>
            <a:r>
              <a:rPr lang="zh-CN" altLang="en-US" sz="2000" b="1" dirty="0"/>
              <a:t>执行。</a:t>
            </a:r>
            <a:endParaRPr lang="zh-CN" altLang="en-US" sz="1900" b="1" dirty="0"/>
          </a:p>
          <a:p>
            <a:pPr>
              <a:lnSpc>
                <a:spcPts val="1200"/>
              </a:lnSpc>
              <a:spcBef>
                <a:spcPts val="0"/>
              </a:spcBef>
              <a:buFont typeface="Wingdings" panose="05000000000000000000" pitchFamily="2" charset="2"/>
              <a:buNone/>
            </a:pPr>
            <a:r>
              <a:rPr lang="zh-CN" altLang="en-US" sz="2000" b="1" dirty="0"/>
              <a:t>         </a:t>
            </a:r>
            <a:endParaRPr lang="zh-CN" altLang="en-US" sz="2000" b="1" dirty="0"/>
          </a:p>
          <a:p>
            <a:pPr>
              <a:spcBef>
                <a:spcPts val="0"/>
              </a:spcBef>
              <a:buFont typeface="Wingdings" panose="05000000000000000000" pitchFamily="2" charset="2"/>
              <a:buNone/>
            </a:pPr>
            <a:r>
              <a:rPr lang="zh-CN" altLang="en-US" sz="2000" b="1" dirty="0"/>
              <a:t>         在</a:t>
            </a:r>
            <a:r>
              <a:rPr lang="zh-CN" altLang="en-US" sz="2000" b="1" dirty="0">
                <a:solidFill>
                  <a:srgbClr val="FF0000"/>
                </a:solidFill>
              </a:rPr>
              <a:t>执行返回</a:t>
            </a:r>
            <a:r>
              <a:rPr lang="zh-CN" altLang="en-US" sz="2000" b="1" dirty="0"/>
              <a:t>操作时</a:t>
            </a:r>
            <a:r>
              <a:rPr lang="en-US" altLang="zh-CN" sz="2000" b="1" dirty="0"/>
              <a:t>, </a:t>
            </a:r>
            <a:r>
              <a:rPr lang="zh-CN" altLang="en-US" sz="2000" b="1" dirty="0"/>
              <a:t>计算机内部至少执行如下操作</a:t>
            </a:r>
            <a:r>
              <a:rPr lang="en-US" altLang="zh-CN" sz="2000" b="1" dirty="0"/>
              <a:t>:</a:t>
            </a:r>
            <a:endParaRPr lang="en-US" altLang="zh-CN" sz="2000" b="1" dirty="0"/>
          </a:p>
          <a:p>
            <a:pPr>
              <a:buFont typeface="Wingdings" panose="05000000000000000000" pitchFamily="2" charset="2"/>
              <a:buNone/>
            </a:pPr>
            <a:r>
              <a:rPr lang="zh-CN" altLang="en-US" sz="2000" b="1" dirty="0"/>
              <a:t>        （</a:t>
            </a:r>
            <a:r>
              <a:rPr lang="en-US" altLang="zh-CN" sz="2000" b="1" dirty="0"/>
              <a:t>a</a:t>
            </a:r>
            <a:r>
              <a:rPr lang="zh-CN" altLang="en-US" sz="2000" b="1" dirty="0"/>
              <a:t>）从栈顶</a:t>
            </a:r>
            <a:r>
              <a:rPr lang="zh-CN" altLang="en-US" sz="2000" b="1" dirty="0">
                <a:solidFill>
                  <a:srgbClr val="FF0000"/>
                </a:solidFill>
              </a:rPr>
              <a:t>取出返回地址</a:t>
            </a:r>
            <a:r>
              <a:rPr lang="zh-CN" altLang="en-US" sz="2000" b="1" dirty="0"/>
              <a:t>，</a:t>
            </a:r>
            <a:endParaRPr lang="zh-CN" altLang="en-US" sz="2000" b="1" dirty="0"/>
          </a:p>
          <a:p>
            <a:pPr>
              <a:buFont typeface="Wingdings" panose="05000000000000000000" pitchFamily="2" charset="2"/>
              <a:buNone/>
            </a:pPr>
            <a:r>
              <a:rPr lang="zh-CN" altLang="en-US" sz="2000" b="1" dirty="0"/>
              <a:t>                  并出栈（同时撤消了被调函数的局部变量和形参）。</a:t>
            </a:r>
            <a:endParaRPr lang="zh-CN" altLang="en-US" sz="2000" b="1" dirty="0"/>
          </a:p>
          <a:p>
            <a:pPr>
              <a:buFont typeface="Wingdings" panose="05000000000000000000" pitchFamily="2" charset="2"/>
              <a:buNone/>
            </a:pPr>
            <a:r>
              <a:rPr lang="zh-CN" altLang="en-US" sz="2000" b="1" dirty="0"/>
              <a:t>        （</a:t>
            </a:r>
            <a:r>
              <a:rPr lang="en-US" altLang="zh-CN" sz="2000" b="1" dirty="0"/>
              <a:t>b</a:t>
            </a:r>
            <a:r>
              <a:rPr lang="zh-CN" altLang="en-US" sz="2000" b="1" dirty="0"/>
              <a:t>）按返回地址</a:t>
            </a:r>
            <a:r>
              <a:rPr lang="zh-CN" altLang="en-US" sz="2000" b="1" dirty="0">
                <a:solidFill>
                  <a:srgbClr val="FF0000"/>
                </a:solidFill>
              </a:rPr>
              <a:t>返回</a:t>
            </a:r>
            <a:r>
              <a:rPr lang="zh-CN" altLang="en-US" sz="2000" b="1" dirty="0"/>
              <a:t>。</a:t>
            </a:r>
            <a:endParaRPr lang="zh-CN" altLang="en-US" sz="2000" b="1" dirty="0"/>
          </a:p>
        </p:txBody>
      </p:sp>
      <p:sp>
        <p:nvSpPr>
          <p:cNvPr id="11273" name="文本框 11272"/>
          <p:cNvSpPr txBox="1">
            <a:spLocks noChangeArrowheads="1"/>
          </p:cNvSpPr>
          <p:nvPr/>
        </p:nvSpPr>
        <p:spPr bwMode="auto">
          <a:xfrm>
            <a:off x="5980411" y="922812"/>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(a)</a:t>
            </a:r>
            <a:endParaRPr lang="en-US" altLang="zh-CN" dirty="0">
              <a:latin typeface="Arial" panose="020B0604020202020204" pitchFamily="34" charset="0"/>
              <a:ea typeface="宋体" panose="02010600030101010101" pitchFamily="2" charset="-122"/>
            </a:endParaRPr>
          </a:p>
        </p:txBody>
      </p:sp>
      <p:sp>
        <p:nvSpPr>
          <p:cNvPr id="11274" name="文本框 11273"/>
          <p:cNvSpPr txBox="1">
            <a:spLocks noChangeArrowheads="1"/>
          </p:cNvSpPr>
          <p:nvPr/>
        </p:nvSpPr>
        <p:spPr bwMode="auto">
          <a:xfrm>
            <a:off x="6344556" y="921754"/>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a:latin typeface="Arial" panose="020B0604020202020204" pitchFamily="34" charset="0"/>
                <a:ea typeface="宋体" panose="02010600030101010101" pitchFamily="2" charset="-122"/>
              </a:rPr>
              <a:t>(b)</a:t>
            </a:r>
            <a:endParaRPr lang="en-US" altLang="zh-CN">
              <a:latin typeface="Arial" panose="020B0604020202020204" pitchFamily="34" charset="0"/>
              <a:ea typeface="宋体" panose="02010600030101010101" pitchFamily="2" charset="-122"/>
            </a:endParaRPr>
          </a:p>
        </p:txBody>
      </p:sp>
      <p:sp>
        <p:nvSpPr>
          <p:cNvPr id="11275" name="文本框 11274"/>
          <p:cNvSpPr txBox="1">
            <a:spLocks noChangeArrowheads="1"/>
          </p:cNvSpPr>
          <p:nvPr/>
        </p:nvSpPr>
        <p:spPr bwMode="auto">
          <a:xfrm>
            <a:off x="7184944" y="836712"/>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(c)</a:t>
            </a:r>
            <a:endParaRPr lang="en-US" altLang="zh-CN" dirty="0">
              <a:latin typeface="Arial" panose="020B0604020202020204" pitchFamily="34" charset="0"/>
              <a:ea typeface="宋体" panose="02010600030101010101" pitchFamily="2" charset="-122"/>
            </a:endParaRPr>
          </a:p>
        </p:txBody>
      </p:sp>
      <p:sp>
        <p:nvSpPr>
          <p:cNvPr id="11277" name="文本框 11276"/>
          <p:cNvSpPr txBox="1">
            <a:spLocks noChangeArrowheads="1"/>
          </p:cNvSpPr>
          <p:nvPr/>
        </p:nvSpPr>
        <p:spPr bwMode="auto">
          <a:xfrm>
            <a:off x="8103190" y="2238156"/>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(a)</a:t>
            </a:r>
            <a:endParaRPr lang="en-US" altLang="zh-CN" dirty="0">
              <a:latin typeface="Arial" panose="020B0604020202020204" pitchFamily="34" charset="0"/>
              <a:ea typeface="宋体" panose="02010600030101010101" pitchFamily="2" charset="-122"/>
            </a:endParaRPr>
          </a:p>
        </p:txBody>
      </p:sp>
      <p:sp>
        <p:nvSpPr>
          <p:cNvPr id="11279" name="文本框 11278"/>
          <p:cNvSpPr txBox="1">
            <a:spLocks noChangeArrowheads="1"/>
          </p:cNvSpPr>
          <p:nvPr/>
        </p:nvSpPr>
        <p:spPr bwMode="auto">
          <a:xfrm>
            <a:off x="6389170" y="1763456"/>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(b)</a:t>
            </a:r>
            <a:endParaRPr lang="en-US" altLang="zh-CN" dirty="0">
              <a:latin typeface="Arial" panose="020B0604020202020204" pitchFamily="34" charset="0"/>
              <a:ea typeface="宋体" panose="02010600030101010101" pitchFamily="2" charset="-122"/>
            </a:endParaRPr>
          </a:p>
        </p:txBody>
      </p:sp>
      <p:grpSp>
        <p:nvGrpSpPr>
          <p:cNvPr id="37" name="组合 36"/>
          <p:cNvGrpSpPr/>
          <p:nvPr/>
        </p:nvGrpSpPr>
        <p:grpSpPr>
          <a:xfrm>
            <a:off x="5835339" y="1139477"/>
            <a:ext cx="3201157" cy="1458714"/>
            <a:chOff x="5219700" y="2684739"/>
            <a:chExt cx="3201157" cy="1458714"/>
          </a:xfrm>
        </p:grpSpPr>
        <p:sp>
          <p:nvSpPr>
            <p:cNvPr id="38" name="文本框 37"/>
            <p:cNvSpPr txBox="1">
              <a:spLocks noChangeArrowheads="1"/>
            </p:cNvSpPr>
            <p:nvPr/>
          </p:nvSpPr>
          <p:spPr bwMode="auto">
            <a:xfrm>
              <a:off x="7341357" y="3202075"/>
              <a:ext cx="1079500" cy="369332"/>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eaLnBrk="0" hangingPunct="0">
                <a:spcBef>
                  <a:spcPct val="50000"/>
                </a:spcBef>
              </a:pPr>
              <a:r>
                <a:rPr lang="zh-CN" altLang="en-US">
                  <a:latin typeface="Times New Roman" panose="02020603050405020304" pitchFamily="18" charset="0"/>
                  <a:ea typeface="宋体" panose="02010600030101010101" pitchFamily="2" charset="-122"/>
                </a:rPr>
                <a:t>子程序</a:t>
              </a:r>
              <a:r>
                <a:rPr lang="en-US" altLang="zh-CN">
                  <a:latin typeface="Times New Roman" panose="02020603050405020304" pitchFamily="18" charset="0"/>
                  <a:ea typeface="宋体" panose="02010600030101010101" pitchFamily="2" charset="-122"/>
                </a:rPr>
                <a:t>B</a:t>
              </a:r>
              <a:endParaRPr lang="en-US" altLang="zh-CN">
                <a:latin typeface="Times New Roman" panose="02020603050405020304" pitchFamily="18" charset="0"/>
                <a:ea typeface="宋体" panose="02010600030101010101" pitchFamily="2" charset="-122"/>
              </a:endParaRPr>
            </a:p>
          </p:txBody>
        </p:sp>
        <p:sp>
          <p:nvSpPr>
            <p:cNvPr id="39" name="文本框 38"/>
            <p:cNvSpPr txBox="1">
              <a:spLocks noChangeArrowheads="1"/>
            </p:cNvSpPr>
            <p:nvPr/>
          </p:nvSpPr>
          <p:spPr bwMode="auto">
            <a:xfrm>
              <a:off x="5219700" y="2857396"/>
              <a:ext cx="1079500" cy="369332"/>
            </a:xfrm>
            <a:prstGeom prst="rect">
              <a:avLst/>
            </a:prstGeom>
            <a:solidFill>
              <a:srgbClr val="FFCC00"/>
            </a:solidFill>
            <a:ln w="28575">
              <a:solidFill>
                <a:srgbClr val="FFC000"/>
              </a:solidFill>
              <a:miter lim="800000"/>
            </a:ln>
          </p:spPr>
          <p:txBody>
            <a:bodyPr>
              <a:spAutoFit/>
            </a:bodyPr>
            <a:lstStyle/>
            <a:p>
              <a:pPr algn="ctr" eaLnBrk="0" hangingPunct="0">
                <a:spcBef>
                  <a:spcPct val="50000"/>
                </a:spcBef>
              </a:pPr>
              <a:r>
                <a:rPr lang="en-US" altLang="zh-CN" dirty="0">
                  <a:latin typeface="Times New Roman" panose="02020603050405020304" pitchFamily="18" charset="0"/>
                  <a:ea typeface="宋体" panose="02010600030101010101" pitchFamily="2" charset="-122"/>
                </a:rPr>
                <a:t>Call B</a:t>
              </a:r>
              <a:endParaRPr lang="en-US" altLang="zh-CN" dirty="0">
                <a:latin typeface="Times New Roman" panose="02020603050405020304" pitchFamily="18" charset="0"/>
                <a:ea typeface="宋体" panose="02010600030101010101" pitchFamily="2" charset="-122"/>
              </a:endParaRPr>
            </a:p>
          </p:txBody>
        </p:sp>
        <p:grpSp>
          <p:nvGrpSpPr>
            <p:cNvPr id="40" name="组合 39"/>
            <p:cNvGrpSpPr/>
            <p:nvPr/>
          </p:nvGrpSpPr>
          <p:grpSpPr>
            <a:xfrm>
              <a:off x="6316452" y="2684739"/>
              <a:ext cx="1628500" cy="517336"/>
              <a:chOff x="6316452" y="2625523"/>
              <a:chExt cx="1628500" cy="517336"/>
            </a:xfrm>
          </p:grpSpPr>
          <p:cxnSp>
            <p:nvCxnSpPr>
              <p:cNvPr id="43" name="直接连接符 42"/>
              <p:cNvCxnSpPr/>
              <p:nvPr/>
            </p:nvCxnSpPr>
            <p:spPr>
              <a:xfrm flipV="1">
                <a:off x="6316452" y="2625523"/>
                <a:ext cx="1628500" cy="29468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flipH="1">
                <a:off x="7740352" y="2625523"/>
                <a:ext cx="204600" cy="51733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1" name="直接箭头连接符 40"/>
            <p:cNvCxnSpPr/>
            <p:nvPr/>
          </p:nvCxnSpPr>
          <p:spPr>
            <a:xfrm flipH="1">
              <a:off x="7338168" y="3571407"/>
              <a:ext cx="281832" cy="572046"/>
            </a:xfrm>
            <a:prstGeom prst="straightConnector1">
              <a:avLst/>
            </a:prstGeom>
            <a:ln w="2222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flipV="1">
              <a:off x="6314536" y="3225110"/>
              <a:ext cx="1023632" cy="918343"/>
            </a:xfrm>
            <a:prstGeom prst="line">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5" name="组合 44"/>
          <p:cNvGrpSpPr/>
          <p:nvPr/>
        </p:nvGrpSpPr>
        <p:grpSpPr>
          <a:xfrm>
            <a:off x="6930175" y="967627"/>
            <a:ext cx="1897816" cy="703369"/>
            <a:chOff x="6892007" y="1110228"/>
            <a:chExt cx="1897816" cy="703369"/>
          </a:xfrm>
        </p:grpSpPr>
        <p:cxnSp>
          <p:nvCxnSpPr>
            <p:cNvPr id="46" name="直接连接符 45"/>
            <p:cNvCxnSpPr/>
            <p:nvPr/>
          </p:nvCxnSpPr>
          <p:spPr>
            <a:xfrm flipV="1">
              <a:off x="6892007" y="1110228"/>
              <a:ext cx="1859648" cy="368532"/>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flipH="1">
              <a:off x="8496746" y="1123329"/>
              <a:ext cx="293077" cy="690268"/>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48" name="组合 47"/>
          <p:cNvGrpSpPr/>
          <p:nvPr/>
        </p:nvGrpSpPr>
        <p:grpSpPr>
          <a:xfrm>
            <a:off x="6688898" y="1686291"/>
            <a:ext cx="1706744" cy="1155008"/>
            <a:chOff x="6650730" y="1828892"/>
            <a:chExt cx="1706744" cy="1155008"/>
          </a:xfrm>
        </p:grpSpPr>
        <p:cxnSp>
          <p:nvCxnSpPr>
            <p:cNvPr id="49" name="直接连接符 48"/>
            <p:cNvCxnSpPr/>
            <p:nvPr/>
          </p:nvCxnSpPr>
          <p:spPr>
            <a:xfrm flipH="1">
              <a:off x="7952104" y="2178255"/>
              <a:ext cx="405370" cy="805645"/>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flipH="1" flipV="1">
              <a:off x="6650730" y="1828892"/>
              <a:ext cx="1301374" cy="1155008"/>
            </a:xfrm>
            <a:prstGeom prst="straightConnector1">
              <a:avLst/>
            </a:prstGeom>
            <a:ln w="19050">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52" name="组合 114"/>
          <p:cNvGrpSpPr/>
          <p:nvPr/>
        </p:nvGrpSpPr>
        <p:grpSpPr>
          <a:xfrm>
            <a:off x="493395" y="105077"/>
            <a:ext cx="6505435" cy="679778"/>
            <a:chOff x="933887" y="3363717"/>
            <a:chExt cx="6505435" cy="679778"/>
          </a:xfrm>
        </p:grpSpPr>
        <p:grpSp>
          <p:nvGrpSpPr>
            <p:cNvPr id="53" name="组合 105"/>
            <p:cNvGrpSpPr/>
            <p:nvPr/>
          </p:nvGrpSpPr>
          <p:grpSpPr>
            <a:xfrm>
              <a:off x="933887" y="3363717"/>
              <a:ext cx="6505435" cy="679778"/>
              <a:chOff x="933887" y="3363717"/>
              <a:chExt cx="6505435" cy="679778"/>
            </a:xfrm>
          </p:grpSpPr>
          <p:sp>
            <p:nvSpPr>
              <p:cNvPr id="55"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56" name="TextBox 6"/>
              <p:cNvSpPr txBox="1">
                <a:spLocks noChangeArrowheads="1"/>
              </p:cNvSpPr>
              <p:nvPr/>
            </p:nvSpPr>
            <p:spPr bwMode="auto">
              <a:xfrm>
                <a:off x="1214282"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7.3 </a:t>
                </a:r>
                <a:r>
                  <a:rPr lang="zh-CN" altLang="en-US" sz="3600" b="1" dirty="0">
                    <a:latin typeface="Times New Roman" panose="02020603050405020304" pitchFamily="18" charset="0"/>
                    <a:ea typeface="黑体" panose="02010609060101010101" pitchFamily="49" charset="-122"/>
                  </a:rPr>
                  <a:t>递归的内部实现原理</a:t>
                </a:r>
                <a:endParaRPr lang="zh-CN" altLang="en-US" sz="3600" b="1" dirty="0">
                  <a:latin typeface="Times New Roman" panose="02020603050405020304" pitchFamily="18" charset="0"/>
                  <a:ea typeface="黑体" panose="02010609060101010101" pitchFamily="49" charset="-122"/>
                </a:endParaRPr>
              </a:p>
            </p:txBody>
          </p:sp>
        </p:grpSp>
        <p:pic>
          <p:nvPicPr>
            <p:cNvPr id="54" name="图片 53" descr="12.jpg"/>
            <p:cNvPicPr>
              <a:picLocks noChangeAspect="1"/>
            </p:cNvPicPr>
            <p:nvPr/>
          </p:nvPicPr>
          <p:blipFill>
            <a:blip r:embed="rId1" cstate="print"/>
            <a:stretch>
              <a:fillRect/>
            </a:stretch>
          </p:blipFill>
          <p:spPr>
            <a:xfrm>
              <a:off x="1115929" y="3530600"/>
              <a:ext cx="446172" cy="431048"/>
            </a:xfrm>
            <a:prstGeom prst="rect">
              <a:avLst/>
            </a:prstGeom>
          </p:spPr>
        </p:pic>
      </p:grpSp>
      <p:sp>
        <p:nvSpPr>
          <p:cNvPr id="28" name="文本框 27"/>
          <p:cNvSpPr txBox="1">
            <a:spLocks noChangeArrowheads="1"/>
          </p:cNvSpPr>
          <p:nvPr/>
        </p:nvSpPr>
        <p:spPr bwMode="auto">
          <a:xfrm>
            <a:off x="4654732" y="5138685"/>
            <a:ext cx="4096158" cy="1374735"/>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Times New Roman" panose="02020603050405020304" pitchFamily="18" charset="0"/>
                <a:ea typeface="楷体_GB2312" pitchFamily="49" charset="-122"/>
              </a:defRPr>
            </a:lvl1pPr>
            <a:lvl2pPr>
              <a:defRPr>
                <a:solidFill>
                  <a:schemeClr val="tx1"/>
                </a:solidFill>
                <a:latin typeface="Times New Roman" panose="02020603050405020304" pitchFamily="18" charset="0"/>
                <a:ea typeface="楷体_GB2312" pitchFamily="49" charset="-122"/>
              </a:defRPr>
            </a:lvl2pPr>
            <a:lvl3pPr>
              <a:defRPr>
                <a:solidFill>
                  <a:schemeClr val="tx1"/>
                </a:solidFill>
                <a:latin typeface="Times New Roman" panose="02020603050405020304" pitchFamily="18" charset="0"/>
                <a:ea typeface="楷体_GB2312" pitchFamily="49" charset="-122"/>
              </a:defRPr>
            </a:lvl3pPr>
            <a:lvl4pPr>
              <a:defRPr>
                <a:solidFill>
                  <a:schemeClr val="tx1"/>
                </a:solidFill>
                <a:latin typeface="Times New Roman" panose="02020603050405020304" pitchFamily="18" charset="0"/>
                <a:ea typeface="楷体_GB2312" pitchFamily="49" charset="-122"/>
              </a:defRPr>
            </a:lvl4pPr>
            <a:lvl5pPr>
              <a:defRPr>
                <a:solidFill>
                  <a:schemeClr val="tx1"/>
                </a:solidFill>
                <a:latin typeface="Times New Roman" panose="02020603050405020304" pitchFamily="18" charset="0"/>
                <a:ea typeface="楷体_GB2312" pitchFamily="49"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9pPr>
          </a:lstStyle>
          <a:p>
            <a:pPr lvl="2" eaLnBrk="0" hangingPunct="0">
              <a:lnSpc>
                <a:spcPts val="1700"/>
              </a:lnSpc>
              <a:spcBef>
                <a:spcPts val="0"/>
              </a:spcBef>
            </a:pPr>
            <a:r>
              <a:rPr lang="de-DE" altLang="en-US" b="1" dirty="0">
                <a:solidFill>
                  <a:srgbClr val="0000FF"/>
                </a:solidFill>
              </a:rPr>
              <a:t>int</a:t>
            </a:r>
            <a:r>
              <a:rPr lang="de-DE" altLang="en-US" b="1" dirty="0"/>
              <a:t> Sum ( </a:t>
            </a:r>
            <a:r>
              <a:rPr lang="de-DE" altLang="en-US" b="1" dirty="0">
                <a:solidFill>
                  <a:srgbClr val="0000FF"/>
                </a:solidFill>
              </a:rPr>
              <a:t>int</a:t>
            </a:r>
            <a:r>
              <a:rPr lang="de-DE" altLang="en-US" b="1" dirty="0"/>
              <a:t> </a:t>
            </a:r>
            <a:r>
              <a:rPr lang="de-DE" altLang="en-US" b="1" i="1" dirty="0"/>
              <a:t>n </a:t>
            </a:r>
            <a:r>
              <a:rPr lang="de-DE" altLang="en-US" b="1" dirty="0"/>
              <a:t>)</a:t>
            </a:r>
            <a:r>
              <a:rPr lang="en-US" altLang="en-US" b="1" dirty="0"/>
              <a:t> </a:t>
            </a:r>
            <a:r>
              <a:rPr lang="de-DE" altLang="en-US" b="1" dirty="0"/>
              <a:t>{ </a:t>
            </a:r>
            <a:endParaRPr lang="de-DE" altLang="en-US" b="1" dirty="0"/>
          </a:p>
          <a:p>
            <a:pPr lvl="2" eaLnBrk="0" hangingPunct="0">
              <a:lnSpc>
                <a:spcPts val="1700"/>
              </a:lnSpc>
              <a:spcBef>
                <a:spcPts val="0"/>
              </a:spcBef>
            </a:pPr>
            <a:r>
              <a:rPr lang="de-DE" altLang="en-US" b="1" dirty="0"/>
              <a:t>        </a:t>
            </a:r>
            <a:r>
              <a:rPr lang="de-DE" altLang="en-US" b="1" dirty="0">
                <a:solidFill>
                  <a:srgbClr val="0000FF"/>
                </a:solidFill>
              </a:rPr>
              <a:t>int</a:t>
            </a:r>
            <a:r>
              <a:rPr lang="de-DE" altLang="en-US" b="1" dirty="0"/>
              <a:t> </a:t>
            </a:r>
            <a:r>
              <a:rPr lang="de-DE" altLang="en-US" b="1" i="1" dirty="0"/>
              <a:t>sum</a:t>
            </a:r>
            <a:r>
              <a:rPr lang="de-DE" altLang="en-US" b="1" dirty="0"/>
              <a:t> = 0;                             </a:t>
            </a:r>
            <a:endParaRPr lang="de-DE" altLang="en-US" b="1" dirty="0"/>
          </a:p>
          <a:p>
            <a:pPr lvl="2">
              <a:lnSpc>
                <a:spcPts val="1700"/>
              </a:lnSpc>
              <a:spcBef>
                <a:spcPts val="0"/>
              </a:spcBef>
              <a:buFont typeface="Wingdings" panose="05000000000000000000" pitchFamily="2" charset="2"/>
              <a:buNone/>
            </a:pPr>
            <a:r>
              <a:rPr lang="de-DE" altLang="en-US" b="1" dirty="0"/>
              <a:t>        </a:t>
            </a:r>
            <a:r>
              <a:rPr lang="de-DE" altLang="en-US" b="1" dirty="0">
                <a:solidFill>
                  <a:srgbClr val="0000FF"/>
                </a:solidFill>
              </a:rPr>
              <a:t>for</a:t>
            </a:r>
            <a:r>
              <a:rPr lang="de-DE" altLang="en-US" b="1" dirty="0"/>
              <a:t> (</a:t>
            </a:r>
            <a:r>
              <a:rPr lang="de-DE" altLang="en-US" b="1" dirty="0">
                <a:solidFill>
                  <a:srgbClr val="0000FF"/>
                </a:solidFill>
              </a:rPr>
              <a:t>int</a:t>
            </a:r>
            <a:r>
              <a:rPr lang="de-DE" altLang="en-US" b="1" dirty="0"/>
              <a:t> </a:t>
            </a:r>
            <a:r>
              <a:rPr lang="de-DE" altLang="en-US" b="1" i="1" dirty="0"/>
              <a:t>i </a:t>
            </a:r>
            <a:r>
              <a:rPr lang="de-DE" altLang="en-US" b="1" dirty="0"/>
              <a:t>= 1; </a:t>
            </a:r>
            <a:r>
              <a:rPr lang="de-DE" altLang="en-US" b="1" i="1" dirty="0"/>
              <a:t>i</a:t>
            </a:r>
            <a:r>
              <a:rPr lang="de-DE" altLang="en-US" b="1" dirty="0"/>
              <a:t>&lt;= </a:t>
            </a:r>
            <a:r>
              <a:rPr lang="de-DE" altLang="en-US" b="1" i="1" dirty="0"/>
              <a:t>n</a:t>
            </a:r>
            <a:r>
              <a:rPr lang="de-DE" altLang="en-US" b="1" dirty="0"/>
              <a:t>; </a:t>
            </a:r>
            <a:r>
              <a:rPr lang="de-DE" altLang="en-US" b="1" i="1" dirty="0"/>
              <a:t>i</a:t>
            </a:r>
            <a:r>
              <a:rPr lang="de-DE" altLang="en-US" b="1" dirty="0"/>
              <a:t>++)</a:t>
            </a:r>
            <a:r>
              <a:rPr lang="en-US" altLang="zh-CN" b="1" dirty="0"/>
              <a:t> </a:t>
            </a:r>
            <a:endParaRPr lang="en-US" altLang="zh-CN" b="1" dirty="0"/>
          </a:p>
          <a:p>
            <a:pPr lvl="2">
              <a:lnSpc>
                <a:spcPts val="1700"/>
              </a:lnSpc>
              <a:spcBef>
                <a:spcPts val="0"/>
              </a:spcBef>
              <a:buFont typeface="Wingdings" panose="05000000000000000000" pitchFamily="2" charset="2"/>
              <a:buNone/>
            </a:pPr>
            <a:r>
              <a:rPr lang="en-US" altLang="zh-CN" b="1" i="1" dirty="0"/>
              <a:t>              sum += n</a:t>
            </a:r>
            <a:r>
              <a:rPr lang="en-US" altLang="zh-CN" b="1" dirty="0"/>
              <a:t>;     </a:t>
            </a:r>
            <a:endParaRPr lang="en-US" altLang="zh-CN" b="1" dirty="0"/>
          </a:p>
          <a:p>
            <a:pPr lvl="2">
              <a:lnSpc>
                <a:spcPts val="1600"/>
              </a:lnSpc>
              <a:spcBef>
                <a:spcPts val="0"/>
              </a:spcBef>
              <a:buFont typeface="Wingdings" panose="05000000000000000000" pitchFamily="2" charset="2"/>
              <a:buNone/>
            </a:pPr>
            <a:r>
              <a:rPr lang="en-US" altLang="zh-CN" b="1" dirty="0"/>
              <a:t>        </a:t>
            </a:r>
            <a:r>
              <a:rPr lang="en-US" altLang="zh-CN" b="1" dirty="0">
                <a:solidFill>
                  <a:srgbClr val="0000FF"/>
                </a:solidFill>
              </a:rPr>
              <a:t>return</a:t>
            </a:r>
            <a:r>
              <a:rPr lang="en-US" altLang="zh-CN" b="1" dirty="0"/>
              <a:t> </a:t>
            </a:r>
            <a:r>
              <a:rPr lang="en-US" altLang="zh-CN" b="1" i="1" dirty="0"/>
              <a:t>sum</a:t>
            </a:r>
            <a:r>
              <a:rPr lang="en-US" altLang="zh-CN" b="1" dirty="0"/>
              <a:t>;           </a:t>
            </a:r>
            <a:endParaRPr lang="en-US" altLang="zh-CN" b="1" dirty="0"/>
          </a:p>
          <a:p>
            <a:pPr lvl="2">
              <a:lnSpc>
                <a:spcPts val="1600"/>
              </a:lnSpc>
              <a:spcBef>
                <a:spcPts val="0"/>
              </a:spcBef>
              <a:buFont typeface="Wingdings" panose="05000000000000000000" pitchFamily="2" charset="2"/>
              <a:buNone/>
            </a:pPr>
            <a:r>
              <a:rPr lang="en-US" altLang="zh-CN" b="1" dirty="0"/>
              <a:t>}</a:t>
            </a:r>
            <a:r>
              <a:rPr lang="en-US" altLang="zh-CN" dirty="0"/>
              <a:t> </a:t>
            </a:r>
            <a:endParaRPr lang="zh-CN" altLang="en-US" b="1" dirty="0"/>
          </a:p>
        </p:txBody>
      </p:sp>
      <p:sp>
        <p:nvSpPr>
          <p:cNvPr id="29" name="文本框 28"/>
          <p:cNvSpPr txBox="1">
            <a:spLocks noChangeArrowheads="1"/>
          </p:cNvSpPr>
          <p:nvPr/>
        </p:nvSpPr>
        <p:spPr bwMode="auto">
          <a:xfrm>
            <a:off x="526187" y="5143888"/>
            <a:ext cx="4013125" cy="1374735"/>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Times New Roman" panose="02020603050405020304" pitchFamily="18" charset="0"/>
                <a:ea typeface="楷体_GB2312" pitchFamily="49" charset="-122"/>
              </a:defRPr>
            </a:lvl1pPr>
            <a:lvl2pPr>
              <a:defRPr>
                <a:solidFill>
                  <a:schemeClr val="tx1"/>
                </a:solidFill>
                <a:latin typeface="Times New Roman" panose="02020603050405020304" pitchFamily="18" charset="0"/>
                <a:ea typeface="楷体_GB2312" pitchFamily="49" charset="-122"/>
              </a:defRPr>
            </a:lvl2pPr>
            <a:lvl3pPr>
              <a:defRPr>
                <a:solidFill>
                  <a:schemeClr val="tx1"/>
                </a:solidFill>
                <a:latin typeface="Times New Roman" panose="02020603050405020304" pitchFamily="18" charset="0"/>
                <a:ea typeface="楷体_GB2312" pitchFamily="49" charset="-122"/>
              </a:defRPr>
            </a:lvl3pPr>
            <a:lvl4pPr>
              <a:defRPr>
                <a:solidFill>
                  <a:schemeClr val="tx1"/>
                </a:solidFill>
                <a:latin typeface="Times New Roman" panose="02020603050405020304" pitchFamily="18" charset="0"/>
                <a:ea typeface="楷体_GB2312" pitchFamily="49" charset="-122"/>
              </a:defRPr>
            </a:lvl4pPr>
            <a:lvl5pPr>
              <a:defRPr>
                <a:solidFill>
                  <a:schemeClr val="tx1"/>
                </a:solidFill>
                <a:latin typeface="Times New Roman" panose="02020603050405020304" pitchFamily="18" charset="0"/>
                <a:ea typeface="楷体_GB2312" pitchFamily="49"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9pPr>
          </a:lstStyle>
          <a:p>
            <a:pPr lvl="2" eaLnBrk="0" hangingPunct="0">
              <a:lnSpc>
                <a:spcPts val="2530"/>
              </a:lnSpc>
            </a:pPr>
            <a:r>
              <a:rPr lang="en-US" altLang="zh-CN" b="1" dirty="0">
                <a:solidFill>
                  <a:srgbClr val="0000FF"/>
                </a:solidFill>
                <a:ea typeface="宋体" panose="02010600030101010101" pitchFamily="2" charset="-122"/>
                <a:cs typeface="Times New Roman" panose="02020603050405020304" pitchFamily="18" charset="0"/>
              </a:rPr>
              <a:t>void</a:t>
            </a:r>
            <a:r>
              <a:rPr lang="en-US" altLang="zh-CN" b="1" dirty="0">
                <a:ea typeface="宋体" panose="02010600030101010101" pitchFamily="2" charset="-122"/>
                <a:cs typeface="Times New Roman" panose="02020603050405020304" pitchFamily="18" charset="0"/>
              </a:rPr>
              <a:t> main() {</a:t>
            </a:r>
            <a:endParaRPr lang="en-US" altLang="zh-CN" b="1" dirty="0">
              <a:ea typeface="宋体" panose="02010600030101010101" pitchFamily="2" charset="-122"/>
              <a:cs typeface="Times New Roman" panose="02020603050405020304" pitchFamily="18" charset="0"/>
            </a:endParaRPr>
          </a:p>
          <a:p>
            <a:pPr lvl="2" eaLnBrk="0" hangingPunct="0">
              <a:lnSpc>
                <a:spcPts val="2530"/>
              </a:lnSpc>
            </a:pPr>
            <a:r>
              <a:rPr lang="en-US" altLang="zh-CN" b="1" dirty="0">
                <a:ea typeface="宋体" panose="02010600030101010101" pitchFamily="2" charset="-122"/>
                <a:cs typeface="Times New Roman" panose="02020603050405020304" pitchFamily="18" charset="0"/>
              </a:rPr>
              <a:t>   </a:t>
            </a:r>
            <a:r>
              <a:rPr lang="en-US" altLang="zh-CN" b="1" dirty="0" err="1">
                <a:solidFill>
                  <a:srgbClr val="0000FF"/>
                </a:solidFill>
                <a:ea typeface="宋体" panose="02010600030101010101" pitchFamily="2" charset="-122"/>
                <a:cs typeface="Times New Roman" panose="02020603050405020304" pitchFamily="18" charset="0"/>
              </a:rPr>
              <a:t>int</a:t>
            </a:r>
            <a:r>
              <a:rPr lang="en-US" altLang="zh-CN" b="1" dirty="0">
                <a:ea typeface="宋体" panose="02010600030101010101" pitchFamily="2" charset="-122"/>
                <a:cs typeface="Times New Roman" panose="02020603050405020304" pitchFamily="18" charset="0"/>
              </a:rPr>
              <a:t> </a:t>
            </a:r>
            <a:r>
              <a:rPr lang="en-US" altLang="zh-CN" b="1" i="1" dirty="0">
                <a:ea typeface="宋体" panose="02010600030101010101" pitchFamily="2" charset="-122"/>
                <a:cs typeface="Times New Roman" panose="02020603050405020304" pitchFamily="18" charset="0"/>
              </a:rPr>
              <a:t>n</a:t>
            </a:r>
            <a:r>
              <a:rPr lang="en-US" altLang="zh-CN" b="1" dirty="0">
                <a:ea typeface="宋体" panose="02010600030101010101" pitchFamily="2" charset="-122"/>
                <a:cs typeface="Times New Roman" panose="02020603050405020304" pitchFamily="18" charset="0"/>
              </a:rPr>
              <a:t> = 3;</a:t>
            </a:r>
            <a:endParaRPr lang="en-US" altLang="zh-CN" b="1" dirty="0">
              <a:ea typeface="宋体" panose="02010600030101010101" pitchFamily="2" charset="-122"/>
              <a:cs typeface="Times New Roman" panose="02020603050405020304" pitchFamily="18" charset="0"/>
            </a:endParaRPr>
          </a:p>
          <a:p>
            <a:pPr lvl="2" eaLnBrk="0" hangingPunct="0">
              <a:lnSpc>
                <a:spcPts val="2530"/>
              </a:lnSpc>
            </a:pPr>
            <a:r>
              <a:rPr lang="en-US" altLang="zh-CN" b="1" dirty="0">
                <a:ea typeface="宋体" panose="02010600030101010101" pitchFamily="2" charset="-122"/>
                <a:cs typeface="Times New Roman" panose="02020603050405020304" pitchFamily="18" charset="0"/>
              </a:rPr>
              <a:t> </a:t>
            </a:r>
            <a:r>
              <a:rPr lang="en-US" altLang="zh-CN" b="1" dirty="0" err="1" smtClean="0">
                <a:ea typeface="宋体" panose="02010600030101010101" pitchFamily="2" charset="-122"/>
                <a:cs typeface="Times New Roman" panose="02020603050405020304" pitchFamily="18" charset="0"/>
              </a:rPr>
              <a:t>cout</a:t>
            </a:r>
            <a:r>
              <a:rPr lang="en-US" altLang="zh-CN" b="1" dirty="0" smtClean="0">
                <a:ea typeface="宋体" panose="02010600030101010101" pitchFamily="2" charset="-122"/>
                <a:cs typeface="Times New Roman" panose="02020603050405020304" pitchFamily="18" charset="0"/>
              </a:rPr>
              <a:t>&lt;&lt; Sum(</a:t>
            </a:r>
            <a:r>
              <a:rPr lang="en-US" altLang="zh-CN" b="1" i="1" dirty="0" smtClean="0">
                <a:ea typeface="宋体" panose="02010600030101010101" pitchFamily="2" charset="-122"/>
                <a:cs typeface="Times New Roman" panose="02020603050405020304" pitchFamily="18" charset="0"/>
              </a:rPr>
              <a:t>n</a:t>
            </a:r>
            <a:r>
              <a:rPr lang="en-US" altLang="zh-CN" b="1" dirty="0">
                <a:ea typeface="宋体" panose="02010600030101010101" pitchFamily="2" charset="-122"/>
                <a:cs typeface="Times New Roman" panose="02020603050405020304" pitchFamily="18" charset="0"/>
              </a:rPr>
              <a:t>);</a:t>
            </a:r>
            <a:endParaRPr lang="en-US" altLang="zh-CN" b="1" dirty="0">
              <a:ea typeface="宋体" panose="02010600030101010101" pitchFamily="2" charset="-122"/>
              <a:cs typeface="Times New Roman" panose="02020603050405020304" pitchFamily="18" charset="0"/>
            </a:endParaRPr>
          </a:p>
          <a:p>
            <a:pPr lvl="2" eaLnBrk="0" hangingPunct="0">
              <a:lnSpc>
                <a:spcPts val="2530"/>
              </a:lnSpc>
              <a:spcAft>
                <a:spcPts val="800"/>
              </a:spcAft>
            </a:pPr>
            <a:r>
              <a:rPr lang="en-US" altLang="zh-CN" b="1" dirty="0">
                <a:ea typeface="宋体" panose="02010600030101010101" pitchFamily="2" charset="-122"/>
                <a:cs typeface="Times New Roman" panose="02020603050405020304" pitchFamily="18" charset="0"/>
              </a:rPr>
              <a:t>}</a:t>
            </a:r>
            <a:endParaRPr lang="zh-CN" altLang="en-US" b="1" dirty="0">
              <a:cs typeface="Times New Roman" panose="02020603050405020304" pitchFamily="18" charset="0"/>
            </a:endParaRPr>
          </a:p>
        </p:txBody>
      </p:sp>
      <p:grpSp>
        <p:nvGrpSpPr>
          <p:cNvPr id="30" name="组合 29"/>
          <p:cNvGrpSpPr/>
          <p:nvPr/>
        </p:nvGrpSpPr>
        <p:grpSpPr>
          <a:xfrm>
            <a:off x="3071802" y="5786454"/>
            <a:ext cx="1296144" cy="297324"/>
            <a:chOff x="2267744" y="5570744"/>
            <a:chExt cx="1332687" cy="369332"/>
          </a:xfrm>
        </p:grpSpPr>
        <p:sp>
          <p:nvSpPr>
            <p:cNvPr id="31" name="文本框 30"/>
            <p:cNvSpPr txBox="1">
              <a:spLocks noChangeArrowheads="1"/>
            </p:cNvSpPr>
            <p:nvPr/>
          </p:nvSpPr>
          <p:spPr bwMode="auto">
            <a:xfrm>
              <a:off x="2483768" y="5570744"/>
              <a:ext cx="1116663" cy="369332"/>
            </a:xfrm>
            <a:prstGeom prst="rect">
              <a:avLst/>
            </a:prstGeom>
            <a:solidFill>
              <a:srgbClr val="FFCC00"/>
            </a:solidFill>
            <a:ln w="28575">
              <a:solidFill>
                <a:srgbClr val="FFC000"/>
              </a:solidFill>
              <a:miter lim="800000"/>
            </a:ln>
          </p:spPr>
          <p:txBody>
            <a:bodyPr wrap="square">
              <a:spAutoFit/>
            </a:bodyPr>
            <a:lstStyle/>
            <a:p>
              <a:pPr algn="ctr" eaLnBrk="0" hangingPunct="0">
                <a:spcBef>
                  <a:spcPct val="50000"/>
                </a:spcBef>
              </a:pPr>
              <a:r>
                <a:rPr lang="en-US" altLang="zh-CN" dirty="0">
                  <a:latin typeface="Times New Roman" panose="02020603050405020304" pitchFamily="18" charset="0"/>
                  <a:ea typeface="宋体" panose="02010600030101010101" pitchFamily="2" charset="-122"/>
                </a:rPr>
                <a:t>Call B</a:t>
              </a:r>
              <a:endParaRPr lang="en-US" altLang="zh-CN" dirty="0">
                <a:latin typeface="Times New Roman" panose="02020603050405020304" pitchFamily="18" charset="0"/>
                <a:ea typeface="宋体" panose="02010600030101010101" pitchFamily="2" charset="-122"/>
              </a:endParaRPr>
            </a:p>
          </p:txBody>
        </p:sp>
        <p:cxnSp>
          <p:nvCxnSpPr>
            <p:cNvPr id="32" name="直接箭头连接符 31"/>
            <p:cNvCxnSpPr/>
            <p:nvPr/>
          </p:nvCxnSpPr>
          <p:spPr>
            <a:xfrm>
              <a:off x="2267744" y="5804304"/>
              <a:ext cx="216024"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blinds(horizontal)">
                                      <p:cBhvr>
                                        <p:cTn id="7" dur="500"/>
                                        <p:tgtEl>
                                          <p:spTgt spid="11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blinds(horizontal)">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blinds(horizontal)">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1267">
                                            <p:txEl>
                                              <p:pRg st="1" end="1"/>
                                            </p:txEl>
                                          </p:spTgt>
                                        </p:tgtEl>
                                        <p:attrNameLst>
                                          <p:attrName>style.visibility</p:attrName>
                                        </p:attrNameLst>
                                      </p:cBhvr>
                                      <p:to>
                                        <p:strVal val="visible"/>
                                      </p:to>
                                    </p:set>
                                    <p:animEffect transition="in" filter="blinds(horizontal)">
                                      <p:cBhvr>
                                        <p:cTn id="26" dur="500"/>
                                        <p:tgtEl>
                                          <p:spTgt spid="11267">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7"/>
                                        </p:tgtEl>
                                        <p:attrNameLst>
                                          <p:attrName>style.visibility</p:attrName>
                                        </p:attrNameLst>
                                      </p:cBhvr>
                                      <p:to>
                                        <p:strVal val="visible"/>
                                      </p:to>
                                    </p:set>
                                    <p:anim calcmode="lin" valueType="num">
                                      <p:cBhvr additive="base">
                                        <p:cTn id="31" dur="500" fill="hold"/>
                                        <p:tgtEl>
                                          <p:spTgt spid="37"/>
                                        </p:tgtEl>
                                        <p:attrNameLst>
                                          <p:attrName>ppt_x</p:attrName>
                                        </p:attrNameLst>
                                      </p:cBhvr>
                                      <p:tavLst>
                                        <p:tav tm="0">
                                          <p:val>
                                            <p:strVal val="#ppt_x"/>
                                          </p:val>
                                        </p:tav>
                                        <p:tav tm="100000">
                                          <p:val>
                                            <p:strVal val="#ppt_x"/>
                                          </p:val>
                                        </p:tav>
                                      </p:tavLst>
                                    </p:anim>
                                    <p:anim calcmode="lin" valueType="num">
                                      <p:cBhvr additive="base">
                                        <p:cTn id="32"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267">
                                            <p:txEl>
                                              <p:pRg st="2" end="2"/>
                                            </p:txEl>
                                          </p:spTgt>
                                        </p:tgtEl>
                                        <p:attrNameLst>
                                          <p:attrName>style.visibility</p:attrName>
                                        </p:attrNameLst>
                                      </p:cBhvr>
                                      <p:to>
                                        <p:strVal val="visible"/>
                                      </p:to>
                                    </p:set>
                                    <p:animEffect transition="in" filter="blinds(horizontal)">
                                      <p:cBhvr>
                                        <p:cTn id="37" dur="500"/>
                                        <p:tgtEl>
                                          <p:spTgt spid="11267">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1273"/>
                                        </p:tgtEl>
                                        <p:attrNameLst>
                                          <p:attrName>style.visibility</p:attrName>
                                        </p:attrNameLst>
                                      </p:cBhvr>
                                      <p:to>
                                        <p:strVal val="visible"/>
                                      </p:to>
                                    </p:set>
                                    <p:animEffect transition="in" filter="blinds(horizontal)">
                                      <p:cBhvr>
                                        <p:cTn id="42" dur="500"/>
                                        <p:tgtEl>
                                          <p:spTgt spid="1127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1267">
                                            <p:txEl>
                                              <p:pRg st="3" end="3"/>
                                            </p:txEl>
                                          </p:spTgt>
                                        </p:tgtEl>
                                        <p:attrNameLst>
                                          <p:attrName>style.visibility</p:attrName>
                                        </p:attrNameLst>
                                      </p:cBhvr>
                                      <p:to>
                                        <p:strVal val="visible"/>
                                      </p:to>
                                    </p:set>
                                    <p:animEffect transition="in" filter="blinds(horizontal)">
                                      <p:cBhvr>
                                        <p:cTn id="47" dur="500"/>
                                        <p:tgtEl>
                                          <p:spTgt spid="11267">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1267">
                                            <p:txEl>
                                              <p:pRg st="4" end="4"/>
                                            </p:txEl>
                                          </p:spTgt>
                                        </p:tgtEl>
                                        <p:attrNameLst>
                                          <p:attrName>style.visibility</p:attrName>
                                        </p:attrNameLst>
                                      </p:cBhvr>
                                      <p:to>
                                        <p:strVal val="visible"/>
                                      </p:to>
                                    </p:set>
                                    <p:animEffect transition="in" filter="blinds(horizontal)">
                                      <p:cBhvr>
                                        <p:cTn id="52" dur="500"/>
                                        <p:tgtEl>
                                          <p:spTgt spid="11267">
                                            <p:txEl>
                                              <p:pRg st="4" end="4"/>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1274"/>
                                        </p:tgtEl>
                                        <p:attrNameLst>
                                          <p:attrName>style.visibility</p:attrName>
                                        </p:attrNameLst>
                                      </p:cBhvr>
                                      <p:to>
                                        <p:strVal val="visible"/>
                                      </p:to>
                                    </p:set>
                                    <p:animEffect transition="in" filter="blinds(horizontal)">
                                      <p:cBhvr>
                                        <p:cTn id="57" dur="500"/>
                                        <p:tgtEl>
                                          <p:spTgt spid="11274"/>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1267">
                                            <p:txEl>
                                              <p:pRg st="5" end="5"/>
                                            </p:txEl>
                                          </p:spTgt>
                                        </p:tgtEl>
                                        <p:attrNameLst>
                                          <p:attrName>style.visibility</p:attrName>
                                        </p:attrNameLst>
                                      </p:cBhvr>
                                      <p:to>
                                        <p:strVal val="visible"/>
                                      </p:to>
                                    </p:set>
                                    <p:animEffect transition="in" filter="blinds(horizontal)">
                                      <p:cBhvr>
                                        <p:cTn id="62" dur="500"/>
                                        <p:tgtEl>
                                          <p:spTgt spid="11267">
                                            <p:txEl>
                                              <p:pRg st="5" end="5"/>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1267">
                                            <p:txEl>
                                              <p:pRg st="6" end="6"/>
                                            </p:txEl>
                                          </p:spTgt>
                                        </p:tgtEl>
                                        <p:attrNameLst>
                                          <p:attrName>style.visibility</p:attrName>
                                        </p:attrNameLst>
                                      </p:cBhvr>
                                      <p:to>
                                        <p:strVal val="visible"/>
                                      </p:to>
                                    </p:set>
                                    <p:animEffect transition="in" filter="blinds(horizontal)">
                                      <p:cBhvr>
                                        <p:cTn id="67" dur="500"/>
                                        <p:tgtEl>
                                          <p:spTgt spid="11267">
                                            <p:txEl>
                                              <p:pRg st="6" end="6"/>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45"/>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11275"/>
                                        </p:tgtEl>
                                        <p:attrNameLst>
                                          <p:attrName>style.visibility</p:attrName>
                                        </p:attrNameLst>
                                      </p:cBhvr>
                                      <p:to>
                                        <p:strVal val="visible"/>
                                      </p:to>
                                    </p:set>
                                    <p:animEffect transition="in" filter="blinds(horizontal)">
                                      <p:cBhvr>
                                        <p:cTn id="76" dur="500"/>
                                        <p:tgtEl>
                                          <p:spTgt spid="11275"/>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11267">
                                            <p:txEl>
                                              <p:pRg st="7" end="7"/>
                                            </p:txEl>
                                          </p:spTgt>
                                        </p:tgtEl>
                                        <p:attrNameLst>
                                          <p:attrName>style.visibility</p:attrName>
                                        </p:attrNameLst>
                                      </p:cBhvr>
                                      <p:to>
                                        <p:strVal val="visible"/>
                                      </p:to>
                                    </p:set>
                                    <p:animEffect transition="in" filter="blinds(horizontal)">
                                      <p:cBhvr>
                                        <p:cTn id="81" dur="500"/>
                                        <p:tgtEl>
                                          <p:spTgt spid="11267">
                                            <p:txEl>
                                              <p:pRg st="7" end="7"/>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11267">
                                            <p:txEl>
                                              <p:pRg st="8" end="8"/>
                                            </p:txEl>
                                          </p:spTgt>
                                        </p:tgtEl>
                                        <p:attrNameLst>
                                          <p:attrName>style.visibility</p:attrName>
                                        </p:attrNameLst>
                                      </p:cBhvr>
                                      <p:to>
                                        <p:strVal val="visible"/>
                                      </p:to>
                                    </p:set>
                                    <p:animEffect transition="in" filter="blinds(horizontal)">
                                      <p:cBhvr>
                                        <p:cTn id="86" dur="500"/>
                                        <p:tgtEl>
                                          <p:spTgt spid="11267">
                                            <p:txEl>
                                              <p:pRg st="8" end="8"/>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11267">
                                            <p:txEl>
                                              <p:pRg st="9" end="9"/>
                                            </p:txEl>
                                          </p:spTgt>
                                        </p:tgtEl>
                                        <p:attrNameLst>
                                          <p:attrName>style.visibility</p:attrName>
                                        </p:attrNameLst>
                                      </p:cBhvr>
                                      <p:to>
                                        <p:strVal val="visible"/>
                                      </p:to>
                                    </p:set>
                                    <p:animEffect transition="in" filter="blinds(horizontal)">
                                      <p:cBhvr>
                                        <p:cTn id="91" dur="500"/>
                                        <p:tgtEl>
                                          <p:spTgt spid="11267">
                                            <p:txEl>
                                              <p:pRg st="9" end="9"/>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11277"/>
                                        </p:tgtEl>
                                        <p:attrNameLst>
                                          <p:attrName>style.visibility</p:attrName>
                                        </p:attrNameLst>
                                      </p:cBhvr>
                                      <p:to>
                                        <p:strVal val="visible"/>
                                      </p:to>
                                    </p:set>
                                    <p:animEffect transition="in" filter="blinds(horizontal)">
                                      <p:cBhvr>
                                        <p:cTn id="96" dur="500"/>
                                        <p:tgtEl>
                                          <p:spTgt spid="11277"/>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grpId="0" nodeType="clickEffect">
                                  <p:stCondLst>
                                    <p:cond delay="0"/>
                                  </p:stCondLst>
                                  <p:childTnLst>
                                    <p:set>
                                      <p:cBhvr>
                                        <p:cTn id="100" dur="1" fill="hold">
                                          <p:stCondLst>
                                            <p:cond delay="0"/>
                                          </p:stCondLst>
                                        </p:cTn>
                                        <p:tgtEl>
                                          <p:spTgt spid="11267">
                                            <p:txEl>
                                              <p:pRg st="10" end="10"/>
                                            </p:txEl>
                                          </p:spTgt>
                                        </p:tgtEl>
                                        <p:attrNameLst>
                                          <p:attrName>style.visibility</p:attrName>
                                        </p:attrNameLst>
                                      </p:cBhvr>
                                      <p:to>
                                        <p:strVal val="visible"/>
                                      </p:to>
                                    </p:set>
                                    <p:animEffect transition="in" filter="blinds(horizontal)">
                                      <p:cBhvr>
                                        <p:cTn id="101" dur="500"/>
                                        <p:tgtEl>
                                          <p:spTgt spid="11267">
                                            <p:txEl>
                                              <p:pRg st="10" end="10"/>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grpId="0" nodeType="clickEffect">
                                  <p:stCondLst>
                                    <p:cond delay="0"/>
                                  </p:stCondLst>
                                  <p:childTnLst>
                                    <p:set>
                                      <p:cBhvr>
                                        <p:cTn id="105" dur="1" fill="hold">
                                          <p:stCondLst>
                                            <p:cond delay="0"/>
                                          </p:stCondLst>
                                        </p:cTn>
                                        <p:tgtEl>
                                          <p:spTgt spid="11267">
                                            <p:txEl>
                                              <p:pRg st="11" end="11"/>
                                            </p:txEl>
                                          </p:spTgt>
                                        </p:tgtEl>
                                        <p:attrNameLst>
                                          <p:attrName>style.visibility</p:attrName>
                                        </p:attrNameLst>
                                      </p:cBhvr>
                                      <p:to>
                                        <p:strVal val="visible"/>
                                      </p:to>
                                    </p:set>
                                    <p:animEffect transition="in" filter="blinds(horizontal)">
                                      <p:cBhvr>
                                        <p:cTn id="106" dur="500"/>
                                        <p:tgtEl>
                                          <p:spTgt spid="11267">
                                            <p:txEl>
                                              <p:pRg st="11" end="11"/>
                                            </p:txEl>
                                          </p:spTgt>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48"/>
                                        </p:tgtEl>
                                        <p:attrNameLst>
                                          <p:attrName>style.visibility</p:attrName>
                                        </p:attrNameLst>
                                      </p:cBhvr>
                                      <p:to>
                                        <p:strVal val="visible"/>
                                      </p:to>
                                    </p:set>
                                  </p:childTnLst>
                                </p:cTn>
                              </p:par>
                              <p:par>
                                <p:cTn id="111" presetID="3" presetClass="entr" presetSubtype="10" fill="hold" grpId="0" nodeType="withEffect">
                                  <p:stCondLst>
                                    <p:cond delay="0"/>
                                  </p:stCondLst>
                                  <p:childTnLst>
                                    <p:set>
                                      <p:cBhvr>
                                        <p:cTn id="112" dur="1" fill="hold">
                                          <p:stCondLst>
                                            <p:cond delay="0"/>
                                          </p:stCondLst>
                                        </p:cTn>
                                        <p:tgtEl>
                                          <p:spTgt spid="11279"/>
                                        </p:tgtEl>
                                        <p:attrNameLst>
                                          <p:attrName>style.visibility</p:attrName>
                                        </p:attrNameLst>
                                      </p:cBhvr>
                                      <p:to>
                                        <p:strVal val="visible"/>
                                      </p:to>
                                    </p:set>
                                    <p:animEffect transition="in" filter="blinds(horizontal)">
                                      <p:cBhvr>
                                        <p:cTn id="113" dur="500"/>
                                        <p:tgtEl>
                                          <p:spTgt spid="11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uiExpand="1" build="p"/>
      <p:bldP spid="11273" grpId="0"/>
      <p:bldP spid="11274" grpId="0"/>
      <p:bldP spid="11275" grpId="0"/>
      <p:bldP spid="11277" grpId="0"/>
      <p:bldP spid="11279" grpId="0"/>
      <p:bldP spid="28" grpId="0" bldLvl="0" animBg="1"/>
      <p:bldP spid="29"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内容占位符 12290"/>
          <p:cNvSpPr>
            <a:spLocks noGrp="1" noChangeArrowheads="1"/>
          </p:cNvSpPr>
          <p:nvPr>
            <p:ph idx="1"/>
          </p:nvPr>
        </p:nvSpPr>
        <p:spPr>
          <a:xfrm>
            <a:off x="438524" y="1089704"/>
            <a:ext cx="8229600" cy="4678451"/>
          </a:xfrm>
        </p:spPr>
        <p:txBody>
          <a:bodyPr/>
          <a:lstStyle/>
          <a:p>
            <a:pPr>
              <a:buFont typeface="Wingdings" panose="05000000000000000000" pitchFamily="2" charset="2"/>
              <a:buNone/>
            </a:pPr>
            <a:r>
              <a:rPr lang="zh-CN" altLang="en-US" sz="2400" b="1" dirty="0"/>
              <a:t>（</a:t>
            </a:r>
            <a:r>
              <a:rPr lang="en-US" altLang="zh-CN" sz="2400" b="1" dirty="0"/>
              <a:t>3</a:t>
            </a:r>
            <a:r>
              <a:rPr lang="zh-CN" altLang="en-US" sz="2400" b="1" dirty="0"/>
              <a:t>）关于</a:t>
            </a:r>
            <a:r>
              <a:rPr lang="zh-CN" altLang="en-US" sz="2400" b="1" dirty="0">
                <a:solidFill>
                  <a:srgbClr val="FF0000"/>
                </a:solidFill>
              </a:rPr>
              <a:t>返回值的实现</a:t>
            </a:r>
            <a:r>
              <a:rPr lang="zh-CN" altLang="en-US" sz="2400" b="1" dirty="0"/>
              <a:t>的讨论</a:t>
            </a:r>
            <a:r>
              <a:rPr lang="en-US" altLang="zh-CN" sz="2400" b="1" dirty="0"/>
              <a:t>: </a:t>
            </a:r>
            <a:endParaRPr lang="zh-CN" altLang="en-US" sz="2400" b="1" dirty="0"/>
          </a:p>
          <a:p>
            <a:pPr>
              <a:spcBef>
                <a:spcPts val="0"/>
              </a:spcBef>
              <a:buFont typeface="Wingdings" panose="05000000000000000000" pitchFamily="2" charset="2"/>
              <a:buNone/>
            </a:pPr>
            <a:endParaRPr lang="zh-CN" altLang="en-US" sz="2400" b="1" dirty="0"/>
          </a:p>
          <a:p>
            <a:pPr>
              <a:buFont typeface="Wingdings" panose="05000000000000000000" pitchFamily="2" charset="2"/>
              <a:buNone/>
            </a:pPr>
            <a:r>
              <a:rPr lang="zh-CN" altLang="en-US" sz="2400" b="1" dirty="0"/>
              <a:t>          </a:t>
            </a:r>
            <a:r>
              <a:rPr lang="zh-CN" altLang="en-US" sz="2000" b="1" dirty="0">
                <a:solidFill>
                  <a:srgbClr val="FF0000"/>
                </a:solidFill>
              </a:rPr>
              <a:t>返回操作</a:t>
            </a:r>
            <a:r>
              <a:rPr lang="zh-CN" altLang="en-US" sz="2000" b="1" dirty="0"/>
              <a:t>的内部实现</a:t>
            </a:r>
            <a:r>
              <a:rPr lang="zh-CN" altLang="en-US" sz="2000" b="1" dirty="0">
                <a:solidFill>
                  <a:srgbClr val="FF0000"/>
                </a:solidFill>
              </a:rPr>
              <a:t>修改</a:t>
            </a:r>
            <a:r>
              <a:rPr lang="zh-CN" altLang="en-US" sz="2000" b="1" dirty="0"/>
              <a:t>为如下几项</a:t>
            </a:r>
            <a:r>
              <a:rPr lang="en-US" altLang="zh-CN" sz="2000" b="1" dirty="0"/>
              <a:t>:</a:t>
            </a:r>
            <a:endParaRPr lang="en-US" altLang="zh-CN" sz="2000" b="1" dirty="0"/>
          </a:p>
          <a:p>
            <a:pPr>
              <a:buFont typeface="Wingdings" panose="05000000000000000000" pitchFamily="2" charset="2"/>
              <a:buNone/>
            </a:pPr>
            <a:r>
              <a:rPr lang="zh-CN" altLang="en-US" sz="2000" b="1" dirty="0"/>
              <a:t>        （</a:t>
            </a:r>
            <a:r>
              <a:rPr lang="en-US" altLang="zh-CN" sz="2000" b="1" dirty="0"/>
              <a:t>a</a:t>
            </a:r>
            <a:r>
              <a:rPr lang="zh-CN" altLang="en-US" sz="2000" b="1" dirty="0"/>
              <a:t>）</a:t>
            </a:r>
            <a:r>
              <a:rPr lang="zh-CN" altLang="en-US" sz="2000" b="1" dirty="0">
                <a:solidFill>
                  <a:srgbClr val="FF0000"/>
                </a:solidFill>
              </a:rPr>
              <a:t>若函数需要返回值，将其值保存到</a:t>
            </a:r>
            <a:r>
              <a:rPr lang="zh-CN" altLang="en-US" sz="2000" b="1" dirty="0">
                <a:solidFill>
                  <a:srgbClr val="0000FF"/>
                </a:solidFill>
              </a:rPr>
              <a:t>“回传变量”</a:t>
            </a:r>
            <a:r>
              <a:rPr lang="zh-CN" altLang="en-US" sz="2000" b="1" dirty="0">
                <a:solidFill>
                  <a:srgbClr val="FF0000"/>
                </a:solidFill>
              </a:rPr>
              <a:t>中</a:t>
            </a:r>
            <a:r>
              <a:rPr lang="zh-CN" altLang="en-US" sz="2000" b="1" dirty="0"/>
              <a:t>。</a:t>
            </a:r>
            <a:endParaRPr lang="zh-CN" altLang="en-US" sz="2000" b="1" dirty="0"/>
          </a:p>
          <a:p>
            <a:pPr>
              <a:buFont typeface="Wingdings" panose="05000000000000000000" pitchFamily="2" charset="2"/>
              <a:buNone/>
            </a:pPr>
            <a:r>
              <a:rPr lang="zh-CN" altLang="en-US" sz="2000" b="1" dirty="0"/>
              <a:t>        （</a:t>
            </a:r>
            <a:r>
              <a:rPr lang="en-US" altLang="zh-CN" sz="2000" b="1" dirty="0"/>
              <a:t>b</a:t>
            </a:r>
            <a:r>
              <a:rPr lang="zh-CN" altLang="en-US" sz="2000" b="1" dirty="0"/>
              <a:t>）从栈顶取出返回地址，并退栈。</a:t>
            </a:r>
            <a:endParaRPr lang="zh-CN" altLang="en-US" sz="2000" b="1" dirty="0"/>
          </a:p>
          <a:p>
            <a:pPr>
              <a:buFont typeface="Wingdings" panose="05000000000000000000" pitchFamily="2" charset="2"/>
              <a:buNone/>
            </a:pPr>
            <a:r>
              <a:rPr lang="zh-CN" altLang="en-US" sz="2000" b="1" dirty="0"/>
              <a:t>        （</a:t>
            </a:r>
            <a:r>
              <a:rPr lang="en-US" altLang="zh-CN" sz="2000" b="1" dirty="0"/>
              <a:t>c</a:t>
            </a:r>
            <a:r>
              <a:rPr lang="zh-CN" altLang="en-US" sz="2000" b="1" dirty="0"/>
              <a:t>）按返回地址返回。</a:t>
            </a:r>
            <a:endParaRPr lang="zh-CN" altLang="en-US" sz="2000" b="1" dirty="0"/>
          </a:p>
          <a:p>
            <a:pPr>
              <a:buFont typeface="Wingdings" panose="05000000000000000000" pitchFamily="2" charset="2"/>
              <a:buNone/>
            </a:pPr>
            <a:r>
              <a:rPr lang="zh-CN" altLang="en-US" sz="2000" b="1" dirty="0"/>
              <a:t>        （</a:t>
            </a:r>
            <a:r>
              <a:rPr lang="en-US" altLang="zh-CN" sz="2000" b="1" dirty="0"/>
              <a:t>d</a:t>
            </a:r>
            <a:r>
              <a:rPr lang="zh-CN" altLang="en-US" sz="2000" b="1" dirty="0"/>
              <a:t>）</a:t>
            </a:r>
            <a:r>
              <a:rPr lang="zh-CN" altLang="en-US" sz="2000" b="1" dirty="0">
                <a:solidFill>
                  <a:srgbClr val="FF0000"/>
                </a:solidFill>
              </a:rPr>
              <a:t>在返回后自动执行以下操作：</a:t>
            </a:r>
            <a:endParaRPr lang="zh-CN" altLang="en-US" sz="2000" b="1" dirty="0">
              <a:solidFill>
                <a:srgbClr val="FF0000"/>
              </a:solidFill>
            </a:endParaRPr>
          </a:p>
          <a:p>
            <a:pPr>
              <a:buFont typeface="Wingdings" panose="05000000000000000000" pitchFamily="2" charset="2"/>
              <a:buNone/>
            </a:pPr>
            <a:r>
              <a:rPr lang="zh-CN" altLang="en-US" sz="2000" b="1" dirty="0">
                <a:solidFill>
                  <a:srgbClr val="FF0000"/>
                </a:solidFill>
              </a:rPr>
              <a:t>                 若函数需要返回值，</a:t>
            </a:r>
            <a:r>
              <a:rPr lang="zh-CN" altLang="en-US" sz="2000" b="1" dirty="0">
                <a:solidFill>
                  <a:srgbClr val="0000FF"/>
                </a:solidFill>
              </a:rPr>
              <a:t>从回传变量中取出所保存的值，</a:t>
            </a:r>
            <a:endParaRPr lang="zh-CN" altLang="en-US" sz="2000" b="1" dirty="0">
              <a:solidFill>
                <a:srgbClr val="0000FF"/>
              </a:solidFill>
            </a:endParaRPr>
          </a:p>
          <a:p>
            <a:pPr>
              <a:buFont typeface="Wingdings" panose="05000000000000000000" pitchFamily="2" charset="2"/>
              <a:buNone/>
            </a:pPr>
            <a:r>
              <a:rPr lang="zh-CN" altLang="en-US" sz="2000" b="1" dirty="0">
                <a:solidFill>
                  <a:srgbClr val="0000FF"/>
                </a:solidFill>
              </a:rPr>
              <a:t>                 并传送到相应的变量或位置上</a:t>
            </a:r>
            <a:r>
              <a:rPr lang="zh-CN" altLang="en-US" sz="2000" b="1" dirty="0">
                <a:solidFill>
                  <a:srgbClr val="FF0000"/>
                </a:solidFill>
              </a:rPr>
              <a:t>。</a:t>
            </a:r>
            <a:endParaRPr lang="zh-CN" altLang="en-US" sz="2000" b="1" dirty="0">
              <a:solidFill>
                <a:srgbClr val="FF0000"/>
              </a:solidFill>
            </a:endParaRPr>
          </a:p>
        </p:txBody>
      </p:sp>
      <p:sp>
        <p:nvSpPr>
          <p:cNvPr id="12297" name="文本框 12296"/>
          <p:cNvSpPr txBox="1">
            <a:spLocks noChangeArrowheads="1"/>
          </p:cNvSpPr>
          <p:nvPr/>
        </p:nvSpPr>
        <p:spPr bwMode="auto">
          <a:xfrm>
            <a:off x="6168075" y="1613557"/>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(d)</a:t>
            </a:r>
            <a:endParaRPr lang="en-US" altLang="zh-CN" dirty="0">
              <a:latin typeface="Arial" panose="020B0604020202020204" pitchFamily="34" charset="0"/>
              <a:ea typeface="宋体" panose="02010600030101010101" pitchFamily="2" charset="-122"/>
            </a:endParaRPr>
          </a:p>
        </p:txBody>
      </p:sp>
      <p:sp>
        <p:nvSpPr>
          <p:cNvPr id="12298" name="文本框 12297"/>
          <p:cNvSpPr txBox="1">
            <a:spLocks noChangeArrowheads="1"/>
          </p:cNvSpPr>
          <p:nvPr/>
        </p:nvSpPr>
        <p:spPr bwMode="auto">
          <a:xfrm>
            <a:off x="6651539" y="2011980"/>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(c)</a:t>
            </a:r>
            <a:endParaRPr lang="en-US" altLang="zh-CN" dirty="0">
              <a:latin typeface="Arial" panose="020B0604020202020204" pitchFamily="34" charset="0"/>
              <a:ea typeface="宋体" panose="02010600030101010101" pitchFamily="2" charset="-122"/>
            </a:endParaRPr>
          </a:p>
        </p:txBody>
      </p:sp>
      <p:sp>
        <p:nvSpPr>
          <p:cNvPr id="12299" name="文本框 12298"/>
          <p:cNvSpPr txBox="1">
            <a:spLocks noChangeArrowheads="1"/>
          </p:cNvSpPr>
          <p:nvPr/>
        </p:nvSpPr>
        <p:spPr bwMode="auto">
          <a:xfrm>
            <a:off x="8044867" y="2053372"/>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(a)</a:t>
            </a:r>
            <a:endParaRPr lang="en-US" altLang="zh-CN" dirty="0">
              <a:latin typeface="Arial" panose="020B0604020202020204" pitchFamily="34" charset="0"/>
              <a:ea typeface="宋体" panose="02010600030101010101" pitchFamily="2" charset="-122"/>
            </a:endParaRPr>
          </a:p>
        </p:txBody>
      </p:sp>
      <p:sp>
        <p:nvSpPr>
          <p:cNvPr id="12301" name="文本框 12300"/>
          <p:cNvSpPr txBox="1">
            <a:spLocks noChangeArrowheads="1"/>
          </p:cNvSpPr>
          <p:nvPr/>
        </p:nvSpPr>
        <p:spPr bwMode="auto">
          <a:xfrm>
            <a:off x="7858584" y="2416499"/>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(b)</a:t>
            </a:r>
            <a:endParaRPr lang="en-US" altLang="zh-CN" dirty="0">
              <a:latin typeface="Arial" panose="020B0604020202020204" pitchFamily="34" charset="0"/>
              <a:ea typeface="宋体" panose="02010600030101010101" pitchFamily="2" charset="-122"/>
            </a:endParaRPr>
          </a:p>
        </p:txBody>
      </p:sp>
      <p:grpSp>
        <p:nvGrpSpPr>
          <p:cNvPr id="15" name="组合 14"/>
          <p:cNvGrpSpPr/>
          <p:nvPr/>
        </p:nvGrpSpPr>
        <p:grpSpPr>
          <a:xfrm>
            <a:off x="5724128" y="980728"/>
            <a:ext cx="3201157" cy="1458714"/>
            <a:chOff x="5219700" y="2684739"/>
            <a:chExt cx="3201157" cy="1458714"/>
          </a:xfrm>
        </p:grpSpPr>
        <p:sp>
          <p:nvSpPr>
            <p:cNvPr id="16" name="文本框 15"/>
            <p:cNvSpPr txBox="1">
              <a:spLocks noChangeArrowheads="1"/>
            </p:cNvSpPr>
            <p:nvPr/>
          </p:nvSpPr>
          <p:spPr bwMode="auto">
            <a:xfrm>
              <a:off x="7341357" y="3202075"/>
              <a:ext cx="1079500" cy="369332"/>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eaLnBrk="0" hangingPunct="0">
                <a:spcBef>
                  <a:spcPct val="50000"/>
                </a:spcBef>
              </a:pPr>
              <a:r>
                <a:rPr lang="zh-CN" altLang="en-US">
                  <a:latin typeface="Times New Roman" panose="02020603050405020304" pitchFamily="18" charset="0"/>
                  <a:ea typeface="宋体" panose="02010600030101010101" pitchFamily="2" charset="-122"/>
                </a:rPr>
                <a:t>子程序</a:t>
              </a:r>
              <a:r>
                <a:rPr lang="en-US" altLang="zh-CN">
                  <a:latin typeface="Times New Roman" panose="02020603050405020304" pitchFamily="18" charset="0"/>
                  <a:ea typeface="宋体" panose="02010600030101010101" pitchFamily="2" charset="-122"/>
                </a:rPr>
                <a:t>B</a:t>
              </a:r>
              <a:endParaRPr lang="en-US" altLang="zh-CN">
                <a:latin typeface="Times New Roman" panose="02020603050405020304" pitchFamily="18" charset="0"/>
                <a:ea typeface="宋体" panose="02010600030101010101" pitchFamily="2" charset="-122"/>
              </a:endParaRPr>
            </a:p>
          </p:txBody>
        </p:sp>
        <p:sp>
          <p:nvSpPr>
            <p:cNvPr id="17" name="文本框 16"/>
            <p:cNvSpPr txBox="1">
              <a:spLocks noChangeArrowheads="1"/>
            </p:cNvSpPr>
            <p:nvPr/>
          </p:nvSpPr>
          <p:spPr bwMode="auto">
            <a:xfrm>
              <a:off x="5219700" y="2857396"/>
              <a:ext cx="1079500" cy="369332"/>
            </a:xfrm>
            <a:prstGeom prst="rect">
              <a:avLst/>
            </a:prstGeom>
            <a:solidFill>
              <a:srgbClr val="FFCC00"/>
            </a:solidFill>
            <a:ln w="28575">
              <a:solidFill>
                <a:srgbClr val="FFC000"/>
              </a:solidFill>
              <a:miter lim="800000"/>
            </a:ln>
          </p:spPr>
          <p:txBody>
            <a:bodyPr>
              <a:spAutoFit/>
            </a:bodyPr>
            <a:lstStyle/>
            <a:p>
              <a:pPr algn="ctr" eaLnBrk="0" hangingPunct="0">
                <a:spcBef>
                  <a:spcPct val="50000"/>
                </a:spcBef>
              </a:pPr>
              <a:r>
                <a:rPr lang="en-US" altLang="zh-CN" dirty="0">
                  <a:latin typeface="Times New Roman" panose="02020603050405020304" pitchFamily="18" charset="0"/>
                  <a:ea typeface="宋体" panose="02010600030101010101" pitchFamily="2" charset="-122"/>
                </a:rPr>
                <a:t>Call B</a:t>
              </a:r>
              <a:endParaRPr lang="en-US" altLang="zh-CN" dirty="0">
                <a:latin typeface="Times New Roman" panose="02020603050405020304" pitchFamily="18" charset="0"/>
                <a:ea typeface="宋体" panose="02010600030101010101" pitchFamily="2" charset="-122"/>
              </a:endParaRPr>
            </a:p>
          </p:txBody>
        </p:sp>
        <p:grpSp>
          <p:nvGrpSpPr>
            <p:cNvPr id="18" name="组合 17"/>
            <p:cNvGrpSpPr/>
            <p:nvPr/>
          </p:nvGrpSpPr>
          <p:grpSpPr>
            <a:xfrm>
              <a:off x="6316452" y="2684739"/>
              <a:ext cx="1628500" cy="517336"/>
              <a:chOff x="6316452" y="2625523"/>
              <a:chExt cx="1628500" cy="517336"/>
            </a:xfrm>
          </p:grpSpPr>
          <p:cxnSp>
            <p:nvCxnSpPr>
              <p:cNvPr id="21" name="直接连接符 20"/>
              <p:cNvCxnSpPr/>
              <p:nvPr/>
            </p:nvCxnSpPr>
            <p:spPr>
              <a:xfrm flipV="1">
                <a:off x="6316452" y="2625523"/>
                <a:ext cx="1628500" cy="29468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a:off x="7740352" y="2625523"/>
                <a:ext cx="204600" cy="51733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9" name="直接箭头连接符 18"/>
            <p:cNvCxnSpPr/>
            <p:nvPr/>
          </p:nvCxnSpPr>
          <p:spPr>
            <a:xfrm flipH="1">
              <a:off x="7338168" y="3571407"/>
              <a:ext cx="281832" cy="572046"/>
            </a:xfrm>
            <a:prstGeom prst="straightConnector1">
              <a:avLst/>
            </a:prstGeom>
            <a:ln w="2222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flipV="1">
              <a:off x="6314536" y="3225110"/>
              <a:ext cx="1023632" cy="918343"/>
            </a:xfrm>
            <a:prstGeom prst="line">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6576068" y="1569828"/>
            <a:ext cx="1706744" cy="1155008"/>
            <a:chOff x="6650730" y="1828892"/>
            <a:chExt cx="1706744" cy="1155008"/>
          </a:xfrm>
        </p:grpSpPr>
        <p:cxnSp>
          <p:nvCxnSpPr>
            <p:cNvPr id="24" name="直接连接符 23"/>
            <p:cNvCxnSpPr/>
            <p:nvPr/>
          </p:nvCxnSpPr>
          <p:spPr>
            <a:xfrm flipH="1">
              <a:off x="7952104" y="2178255"/>
              <a:ext cx="405370" cy="805645"/>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flipV="1">
              <a:off x="6650730" y="1828892"/>
              <a:ext cx="1301374" cy="1155008"/>
            </a:xfrm>
            <a:prstGeom prst="straightConnector1">
              <a:avLst/>
            </a:prstGeom>
            <a:ln w="19050">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27" name="组合 114"/>
          <p:cNvGrpSpPr/>
          <p:nvPr/>
        </p:nvGrpSpPr>
        <p:grpSpPr>
          <a:xfrm>
            <a:off x="493395" y="105077"/>
            <a:ext cx="6505435" cy="679778"/>
            <a:chOff x="933887" y="3363717"/>
            <a:chExt cx="6505435" cy="679778"/>
          </a:xfrm>
        </p:grpSpPr>
        <p:grpSp>
          <p:nvGrpSpPr>
            <p:cNvPr id="28" name="组合 105"/>
            <p:cNvGrpSpPr/>
            <p:nvPr/>
          </p:nvGrpSpPr>
          <p:grpSpPr>
            <a:xfrm>
              <a:off x="933887" y="3363717"/>
              <a:ext cx="6505435" cy="679778"/>
              <a:chOff x="933887" y="3363717"/>
              <a:chExt cx="6505435" cy="679778"/>
            </a:xfrm>
          </p:grpSpPr>
          <p:sp>
            <p:nvSpPr>
              <p:cNvPr id="30"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1" name="TextBox 6"/>
              <p:cNvSpPr txBox="1">
                <a:spLocks noChangeArrowheads="1"/>
              </p:cNvSpPr>
              <p:nvPr/>
            </p:nvSpPr>
            <p:spPr bwMode="auto">
              <a:xfrm>
                <a:off x="1214282"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7.3 </a:t>
                </a:r>
                <a:r>
                  <a:rPr lang="zh-CN" altLang="en-US" sz="3600" b="1" dirty="0">
                    <a:latin typeface="Times New Roman" panose="02020603050405020304" pitchFamily="18" charset="0"/>
                    <a:ea typeface="黑体" panose="02010609060101010101" pitchFamily="49" charset="-122"/>
                  </a:rPr>
                  <a:t>递归的内部实现原理</a:t>
                </a:r>
                <a:endParaRPr lang="zh-CN" altLang="en-US" sz="3600" b="1" dirty="0">
                  <a:latin typeface="Times New Roman" panose="02020603050405020304" pitchFamily="18" charset="0"/>
                  <a:ea typeface="黑体" panose="02010609060101010101" pitchFamily="49" charset="-122"/>
                </a:endParaRPr>
              </a:p>
            </p:txBody>
          </p:sp>
        </p:grpSp>
        <p:pic>
          <p:nvPicPr>
            <p:cNvPr id="29" name="图片 28" descr="12.jpg"/>
            <p:cNvPicPr>
              <a:picLocks noChangeAspect="1"/>
            </p:cNvPicPr>
            <p:nvPr/>
          </p:nvPicPr>
          <p:blipFill>
            <a:blip r:embed="rId1" cstate="print"/>
            <a:stretch>
              <a:fillRect/>
            </a:stretch>
          </p:blipFill>
          <p:spPr>
            <a:xfrm>
              <a:off x="1115929" y="3530600"/>
              <a:ext cx="446172" cy="431048"/>
            </a:xfrm>
            <a:prstGeom prst="rect">
              <a:avLst/>
            </a:prstGeom>
          </p:spPr>
        </p:pic>
      </p:grpSp>
      <p:sp>
        <p:nvSpPr>
          <p:cNvPr id="26" name="文本框 25"/>
          <p:cNvSpPr txBox="1">
            <a:spLocks noChangeArrowheads="1"/>
          </p:cNvSpPr>
          <p:nvPr/>
        </p:nvSpPr>
        <p:spPr bwMode="auto">
          <a:xfrm>
            <a:off x="4722544" y="4869160"/>
            <a:ext cx="4028346" cy="1400383"/>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Times New Roman" panose="02020603050405020304" pitchFamily="18" charset="0"/>
                <a:ea typeface="楷体_GB2312" pitchFamily="49" charset="-122"/>
              </a:defRPr>
            </a:lvl1pPr>
            <a:lvl2pPr>
              <a:defRPr>
                <a:solidFill>
                  <a:schemeClr val="tx1"/>
                </a:solidFill>
                <a:latin typeface="Times New Roman" panose="02020603050405020304" pitchFamily="18" charset="0"/>
                <a:ea typeface="楷体_GB2312" pitchFamily="49" charset="-122"/>
              </a:defRPr>
            </a:lvl2pPr>
            <a:lvl3pPr>
              <a:defRPr>
                <a:solidFill>
                  <a:schemeClr val="tx1"/>
                </a:solidFill>
                <a:latin typeface="Times New Roman" panose="02020603050405020304" pitchFamily="18" charset="0"/>
                <a:ea typeface="楷体_GB2312" pitchFamily="49" charset="-122"/>
              </a:defRPr>
            </a:lvl3pPr>
            <a:lvl4pPr>
              <a:defRPr>
                <a:solidFill>
                  <a:schemeClr val="tx1"/>
                </a:solidFill>
                <a:latin typeface="Times New Roman" panose="02020603050405020304" pitchFamily="18" charset="0"/>
                <a:ea typeface="楷体_GB2312" pitchFamily="49" charset="-122"/>
              </a:defRPr>
            </a:lvl4pPr>
            <a:lvl5pPr>
              <a:defRPr>
                <a:solidFill>
                  <a:schemeClr val="tx1"/>
                </a:solidFill>
                <a:latin typeface="Times New Roman" panose="02020603050405020304" pitchFamily="18" charset="0"/>
                <a:ea typeface="楷体_GB2312" pitchFamily="49"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9pPr>
          </a:lstStyle>
          <a:p>
            <a:pPr lvl="2" eaLnBrk="0" hangingPunct="0">
              <a:lnSpc>
                <a:spcPts val="1700"/>
              </a:lnSpc>
              <a:spcBef>
                <a:spcPts val="0"/>
              </a:spcBef>
            </a:pPr>
            <a:r>
              <a:rPr lang="de-DE" altLang="en-US" b="1" dirty="0">
                <a:solidFill>
                  <a:srgbClr val="0000FF"/>
                </a:solidFill>
              </a:rPr>
              <a:t>int</a:t>
            </a:r>
            <a:r>
              <a:rPr lang="de-DE" altLang="en-US" b="1" dirty="0"/>
              <a:t> Sum ( </a:t>
            </a:r>
            <a:r>
              <a:rPr lang="de-DE" altLang="en-US" b="1" dirty="0">
                <a:solidFill>
                  <a:srgbClr val="0000FF"/>
                </a:solidFill>
              </a:rPr>
              <a:t>int</a:t>
            </a:r>
            <a:r>
              <a:rPr lang="de-DE" altLang="en-US" b="1" dirty="0"/>
              <a:t> </a:t>
            </a:r>
            <a:r>
              <a:rPr lang="de-DE" altLang="en-US" b="1" i="1" dirty="0"/>
              <a:t>n </a:t>
            </a:r>
            <a:r>
              <a:rPr lang="de-DE" altLang="en-US" b="1" dirty="0"/>
              <a:t>)</a:t>
            </a:r>
            <a:r>
              <a:rPr lang="en-US" altLang="en-US" b="1" dirty="0"/>
              <a:t> </a:t>
            </a:r>
            <a:r>
              <a:rPr lang="de-DE" altLang="en-US" b="1" dirty="0"/>
              <a:t>{ </a:t>
            </a:r>
            <a:endParaRPr lang="de-DE" altLang="en-US" b="1" dirty="0"/>
          </a:p>
          <a:p>
            <a:pPr lvl="2" eaLnBrk="0" hangingPunct="0">
              <a:lnSpc>
                <a:spcPts val="1700"/>
              </a:lnSpc>
              <a:spcBef>
                <a:spcPts val="0"/>
              </a:spcBef>
            </a:pPr>
            <a:r>
              <a:rPr lang="de-DE" altLang="en-US" b="1" dirty="0"/>
              <a:t>        </a:t>
            </a:r>
            <a:r>
              <a:rPr lang="de-DE" altLang="en-US" b="1" dirty="0">
                <a:solidFill>
                  <a:srgbClr val="0000FF"/>
                </a:solidFill>
              </a:rPr>
              <a:t>int</a:t>
            </a:r>
            <a:r>
              <a:rPr lang="de-DE" altLang="en-US" b="1" dirty="0"/>
              <a:t> </a:t>
            </a:r>
            <a:r>
              <a:rPr lang="de-DE" altLang="en-US" b="1" i="1" dirty="0"/>
              <a:t>sum</a:t>
            </a:r>
            <a:r>
              <a:rPr lang="de-DE" altLang="en-US" b="1" dirty="0"/>
              <a:t> = 0;                             </a:t>
            </a:r>
            <a:endParaRPr lang="de-DE" altLang="en-US" b="1" dirty="0"/>
          </a:p>
          <a:p>
            <a:pPr lvl="2">
              <a:lnSpc>
                <a:spcPts val="1700"/>
              </a:lnSpc>
              <a:spcBef>
                <a:spcPts val="0"/>
              </a:spcBef>
              <a:buFont typeface="Wingdings" panose="05000000000000000000" pitchFamily="2" charset="2"/>
              <a:buNone/>
            </a:pPr>
            <a:r>
              <a:rPr lang="de-DE" altLang="en-US" b="1" dirty="0"/>
              <a:t>        </a:t>
            </a:r>
            <a:r>
              <a:rPr lang="de-DE" altLang="en-US" b="1" dirty="0">
                <a:solidFill>
                  <a:srgbClr val="0000FF"/>
                </a:solidFill>
              </a:rPr>
              <a:t>for</a:t>
            </a:r>
            <a:r>
              <a:rPr lang="de-DE" altLang="en-US" b="1" dirty="0"/>
              <a:t> (</a:t>
            </a:r>
            <a:r>
              <a:rPr lang="de-DE" altLang="en-US" b="1" dirty="0">
                <a:solidFill>
                  <a:srgbClr val="0000FF"/>
                </a:solidFill>
              </a:rPr>
              <a:t>int</a:t>
            </a:r>
            <a:r>
              <a:rPr lang="de-DE" altLang="en-US" b="1" dirty="0"/>
              <a:t> </a:t>
            </a:r>
            <a:r>
              <a:rPr lang="de-DE" altLang="en-US" b="1" i="1" dirty="0"/>
              <a:t>i </a:t>
            </a:r>
            <a:r>
              <a:rPr lang="de-DE" altLang="en-US" b="1" dirty="0"/>
              <a:t>= 1; </a:t>
            </a:r>
            <a:r>
              <a:rPr lang="de-DE" altLang="en-US" b="1" i="1" dirty="0"/>
              <a:t>i</a:t>
            </a:r>
            <a:r>
              <a:rPr lang="de-DE" altLang="en-US" b="1" dirty="0"/>
              <a:t>&lt;= </a:t>
            </a:r>
            <a:r>
              <a:rPr lang="de-DE" altLang="en-US" b="1" i="1" dirty="0"/>
              <a:t>n</a:t>
            </a:r>
            <a:r>
              <a:rPr lang="de-DE" altLang="en-US" b="1" dirty="0"/>
              <a:t>; </a:t>
            </a:r>
            <a:r>
              <a:rPr lang="de-DE" altLang="en-US" b="1" i="1" dirty="0"/>
              <a:t>i</a:t>
            </a:r>
            <a:r>
              <a:rPr lang="de-DE" altLang="en-US" b="1" dirty="0"/>
              <a:t>++)</a:t>
            </a:r>
            <a:r>
              <a:rPr lang="en-US" altLang="zh-CN" b="1" dirty="0"/>
              <a:t> </a:t>
            </a:r>
            <a:endParaRPr lang="en-US" altLang="zh-CN" b="1" dirty="0"/>
          </a:p>
          <a:p>
            <a:pPr lvl="2">
              <a:lnSpc>
                <a:spcPts val="1700"/>
              </a:lnSpc>
              <a:spcBef>
                <a:spcPts val="0"/>
              </a:spcBef>
              <a:buFont typeface="Wingdings" panose="05000000000000000000" pitchFamily="2" charset="2"/>
              <a:buNone/>
            </a:pPr>
            <a:r>
              <a:rPr lang="en-US" altLang="zh-CN" b="1" i="1" dirty="0"/>
              <a:t>               </a:t>
            </a:r>
            <a:r>
              <a:rPr lang="de-DE" altLang="en-US" b="1" i="1" dirty="0"/>
              <a:t>sum</a:t>
            </a:r>
            <a:r>
              <a:rPr lang="en-US" altLang="zh-CN" b="1" i="1" dirty="0"/>
              <a:t> += n</a:t>
            </a:r>
            <a:r>
              <a:rPr lang="en-US" altLang="zh-CN" b="1" dirty="0"/>
              <a:t>;     </a:t>
            </a:r>
            <a:endParaRPr lang="en-US" altLang="zh-CN" b="1" dirty="0"/>
          </a:p>
          <a:p>
            <a:pPr lvl="2">
              <a:lnSpc>
                <a:spcPts val="1700"/>
              </a:lnSpc>
              <a:spcBef>
                <a:spcPts val="0"/>
              </a:spcBef>
              <a:buFont typeface="Wingdings" panose="05000000000000000000" pitchFamily="2" charset="2"/>
              <a:buNone/>
            </a:pPr>
            <a:r>
              <a:rPr lang="en-US" altLang="zh-CN" b="1" dirty="0"/>
              <a:t>        </a:t>
            </a:r>
            <a:r>
              <a:rPr lang="en-US" altLang="zh-CN" b="1" dirty="0">
                <a:solidFill>
                  <a:srgbClr val="0000FF"/>
                </a:solidFill>
              </a:rPr>
              <a:t>return</a:t>
            </a:r>
            <a:r>
              <a:rPr lang="en-US" altLang="zh-CN" b="1" dirty="0"/>
              <a:t> </a:t>
            </a:r>
            <a:r>
              <a:rPr lang="de-DE" altLang="en-US" b="1" i="1" dirty="0"/>
              <a:t>sum</a:t>
            </a:r>
            <a:r>
              <a:rPr lang="en-US" altLang="zh-CN" b="1" dirty="0"/>
              <a:t>;           </a:t>
            </a:r>
            <a:endParaRPr lang="en-US" altLang="zh-CN" b="1" dirty="0"/>
          </a:p>
          <a:p>
            <a:pPr lvl="2">
              <a:lnSpc>
                <a:spcPts val="1700"/>
              </a:lnSpc>
              <a:spcBef>
                <a:spcPts val="0"/>
              </a:spcBef>
              <a:buFont typeface="Wingdings" panose="05000000000000000000" pitchFamily="2" charset="2"/>
              <a:buNone/>
            </a:pPr>
            <a:r>
              <a:rPr lang="en-US" altLang="zh-CN" b="1" dirty="0"/>
              <a:t>}</a:t>
            </a:r>
            <a:r>
              <a:rPr lang="en-US" altLang="zh-CN" dirty="0"/>
              <a:t> </a:t>
            </a:r>
            <a:endParaRPr lang="zh-CN" altLang="en-US" b="1" dirty="0"/>
          </a:p>
        </p:txBody>
      </p:sp>
      <p:sp>
        <p:nvSpPr>
          <p:cNvPr id="32" name="文本框 31"/>
          <p:cNvSpPr txBox="1">
            <a:spLocks noChangeArrowheads="1"/>
          </p:cNvSpPr>
          <p:nvPr/>
        </p:nvSpPr>
        <p:spPr bwMode="auto">
          <a:xfrm>
            <a:off x="306276" y="4869160"/>
            <a:ext cx="4337732" cy="1426031"/>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Times New Roman" panose="02020603050405020304" pitchFamily="18" charset="0"/>
                <a:ea typeface="楷体_GB2312" pitchFamily="49" charset="-122"/>
              </a:defRPr>
            </a:lvl1pPr>
            <a:lvl2pPr>
              <a:defRPr>
                <a:solidFill>
                  <a:schemeClr val="tx1"/>
                </a:solidFill>
                <a:latin typeface="Times New Roman" panose="02020603050405020304" pitchFamily="18" charset="0"/>
                <a:ea typeface="楷体_GB2312" pitchFamily="49" charset="-122"/>
              </a:defRPr>
            </a:lvl2pPr>
            <a:lvl3pPr>
              <a:defRPr>
                <a:solidFill>
                  <a:schemeClr val="tx1"/>
                </a:solidFill>
                <a:latin typeface="Times New Roman" panose="02020603050405020304" pitchFamily="18" charset="0"/>
                <a:ea typeface="楷体_GB2312" pitchFamily="49" charset="-122"/>
              </a:defRPr>
            </a:lvl3pPr>
            <a:lvl4pPr>
              <a:defRPr>
                <a:solidFill>
                  <a:schemeClr val="tx1"/>
                </a:solidFill>
                <a:latin typeface="Times New Roman" panose="02020603050405020304" pitchFamily="18" charset="0"/>
                <a:ea typeface="楷体_GB2312" pitchFamily="49" charset="-122"/>
              </a:defRPr>
            </a:lvl4pPr>
            <a:lvl5pPr>
              <a:defRPr>
                <a:solidFill>
                  <a:schemeClr val="tx1"/>
                </a:solidFill>
                <a:latin typeface="Times New Roman" panose="02020603050405020304" pitchFamily="18" charset="0"/>
                <a:ea typeface="楷体_GB2312" pitchFamily="49"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9pPr>
          </a:lstStyle>
          <a:p>
            <a:pPr lvl="2" eaLnBrk="0" hangingPunct="0">
              <a:lnSpc>
                <a:spcPts val="2550"/>
              </a:lnSpc>
            </a:pPr>
            <a:r>
              <a:rPr lang="en-US" altLang="zh-CN" b="1" dirty="0" err="1">
                <a:solidFill>
                  <a:srgbClr val="0000FF"/>
                </a:solidFill>
                <a:ea typeface="宋体" panose="02010600030101010101" pitchFamily="2" charset="-122"/>
                <a:cs typeface="Times New Roman" panose="02020603050405020304" pitchFamily="18" charset="0"/>
              </a:rPr>
              <a:t>int</a:t>
            </a:r>
            <a:r>
              <a:rPr lang="en-US" altLang="zh-CN" b="1" dirty="0">
                <a:ea typeface="宋体" panose="02010600030101010101" pitchFamily="2" charset="-122"/>
                <a:cs typeface="Times New Roman" panose="02020603050405020304" pitchFamily="18" charset="0"/>
              </a:rPr>
              <a:t> main() {</a:t>
            </a:r>
            <a:endParaRPr lang="en-US" altLang="zh-CN" b="1" dirty="0">
              <a:ea typeface="宋体" panose="02010600030101010101" pitchFamily="2" charset="-122"/>
              <a:cs typeface="Times New Roman" panose="02020603050405020304" pitchFamily="18" charset="0"/>
            </a:endParaRPr>
          </a:p>
          <a:p>
            <a:pPr lvl="2" eaLnBrk="0" hangingPunct="0">
              <a:lnSpc>
                <a:spcPts val="2550"/>
              </a:lnSpc>
            </a:pPr>
            <a:r>
              <a:rPr lang="en-US" altLang="zh-CN" b="1" dirty="0">
                <a:ea typeface="宋体" panose="02010600030101010101" pitchFamily="2" charset="-122"/>
                <a:cs typeface="Times New Roman" panose="02020603050405020304" pitchFamily="18" charset="0"/>
              </a:rPr>
              <a:t>   </a:t>
            </a:r>
            <a:r>
              <a:rPr lang="en-US" altLang="zh-CN" b="1" dirty="0" err="1">
                <a:solidFill>
                  <a:srgbClr val="0000FF"/>
                </a:solidFill>
                <a:ea typeface="宋体" panose="02010600030101010101" pitchFamily="2" charset="-122"/>
                <a:cs typeface="Times New Roman" panose="02020603050405020304" pitchFamily="18" charset="0"/>
              </a:rPr>
              <a:t>int</a:t>
            </a:r>
            <a:r>
              <a:rPr lang="en-US" altLang="zh-CN" b="1" dirty="0">
                <a:ea typeface="宋体" panose="02010600030101010101" pitchFamily="2" charset="-122"/>
                <a:cs typeface="Times New Roman" panose="02020603050405020304" pitchFamily="18" charset="0"/>
              </a:rPr>
              <a:t> </a:t>
            </a:r>
            <a:r>
              <a:rPr lang="en-US" altLang="zh-CN" b="1" i="1" dirty="0">
                <a:ea typeface="宋体" panose="02010600030101010101" pitchFamily="2" charset="-122"/>
                <a:cs typeface="Times New Roman" panose="02020603050405020304" pitchFamily="18" charset="0"/>
              </a:rPr>
              <a:t>m</a:t>
            </a:r>
            <a:r>
              <a:rPr lang="en-US" altLang="zh-CN" b="1" dirty="0">
                <a:ea typeface="宋体" panose="02010600030101010101" pitchFamily="2" charset="-122"/>
                <a:cs typeface="Times New Roman" panose="02020603050405020304" pitchFamily="18" charset="0"/>
              </a:rPr>
              <a:t> = 3;</a:t>
            </a:r>
            <a:endParaRPr lang="en-US" altLang="zh-CN" b="1" dirty="0">
              <a:ea typeface="宋体" panose="02010600030101010101" pitchFamily="2" charset="-122"/>
              <a:cs typeface="Times New Roman" panose="02020603050405020304" pitchFamily="18" charset="0"/>
            </a:endParaRPr>
          </a:p>
          <a:p>
            <a:pPr lvl="2" eaLnBrk="0" hangingPunct="0">
              <a:lnSpc>
                <a:spcPts val="2550"/>
              </a:lnSpc>
            </a:pPr>
            <a:r>
              <a:rPr lang="en-US" altLang="zh-CN" b="1" dirty="0">
                <a:ea typeface="宋体" panose="02010600030101010101" pitchFamily="2" charset="-122"/>
                <a:cs typeface="Times New Roman" panose="02020603050405020304" pitchFamily="18" charset="0"/>
              </a:rPr>
              <a:t> </a:t>
            </a:r>
            <a:r>
              <a:rPr lang="en-US" altLang="zh-CN" b="1" dirty="0" smtClean="0">
                <a:ea typeface="宋体" panose="02010600030101010101" pitchFamily="2" charset="-122"/>
                <a:cs typeface="Times New Roman" panose="02020603050405020304" pitchFamily="18" charset="0"/>
              </a:rPr>
              <a:t>  </a:t>
            </a:r>
            <a:r>
              <a:rPr lang="en-US" altLang="zh-CN" b="1" dirty="0" err="1" smtClean="0">
                <a:ea typeface="宋体" panose="02010600030101010101" pitchFamily="2" charset="-122"/>
                <a:cs typeface="Times New Roman" panose="02020603050405020304" pitchFamily="18" charset="0"/>
              </a:rPr>
              <a:t>cout</a:t>
            </a:r>
            <a:r>
              <a:rPr lang="en-US" altLang="zh-CN" b="1" dirty="0" smtClean="0">
                <a:ea typeface="宋体" panose="02010600030101010101" pitchFamily="2" charset="-122"/>
                <a:cs typeface="Times New Roman" panose="02020603050405020304" pitchFamily="18" charset="0"/>
              </a:rPr>
              <a:t>&lt;&lt; Sum(</a:t>
            </a:r>
            <a:r>
              <a:rPr lang="en-US" altLang="zh-CN" b="1" i="1" dirty="0" smtClean="0">
                <a:ea typeface="宋体" panose="02010600030101010101" pitchFamily="2" charset="-122"/>
                <a:cs typeface="Times New Roman" panose="02020603050405020304" pitchFamily="18" charset="0"/>
              </a:rPr>
              <a:t>m</a:t>
            </a:r>
            <a:r>
              <a:rPr lang="en-US" altLang="zh-CN" b="1" dirty="0">
                <a:ea typeface="宋体" panose="02010600030101010101" pitchFamily="2" charset="-122"/>
                <a:cs typeface="Times New Roman" panose="02020603050405020304" pitchFamily="18" charset="0"/>
              </a:rPr>
              <a:t>);</a:t>
            </a:r>
            <a:endParaRPr lang="en-US" altLang="zh-CN" b="1" dirty="0">
              <a:ea typeface="宋体" panose="02010600030101010101" pitchFamily="2" charset="-122"/>
              <a:cs typeface="Times New Roman" panose="02020603050405020304" pitchFamily="18" charset="0"/>
            </a:endParaRPr>
          </a:p>
          <a:p>
            <a:pPr lvl="2" eaLnBrk="0" hangingPunct="0">
              <a:lnSpc>
                <a:spcPts val="2550"/>
              </a:lnSpc>
            </a:pPr>
            <a:r>
              <a:rPr lang="en-US" altLang="zh-CN" b="1" dirty="0">
                <a:ea typeface="宋体" panose="02010600030101010101" pitchFamily="2" charset="-122"/>
                <a:cs typeface="Times New Roman" panose="02020603050405020304" pitchFamily="18" charset="0"/>
              </a:rPr>
              <a:t>}</a:t>
            </a:r>
            <a:endParaRPr lang="zh-CN" altLang="en-US" b="1" dirty="0">
              <a:cs typeface="Times New Roman" panose="02020603050405020304" pitchFamily="18" charset="0"/>
            </a:endParaRPr>
          </a:p>
        </p:txBody>
      </p:sp>
      <p:grpSp>
        <p:nvGrpSpPr>
          <p:cNvPr id="33" name="组合 32"/>
          <p:cNvGrpSpPr/>
          <p:nvPr/>
        </p:nvGrpSpPr>
        <p:grpSpPr>
          <a:xfrm>
            <a:off x="3347864" y="5569351"/>
            <a:ext cx="1163228" cy="369332"/>
            <a:chOff x="2348898" y="5580693"/>
            <a:chExt cx="1163228" cy="369332"/>
          </a:xfrm>
        </p:grpSpPr>
        <p:sp>
          <p:nvSpPr>
            <p:cNvPr id="34" name="文本框 33"/>
            <p:cNvSpPr txBox="1">
              <a:spLocks noChangeArrowheads="1"/>
            </p:cNvSpPr>
            <p:nvPr/>
          </p:nvSpPr>
          <p:spPr bwMode="auto">
            <a:xfrm>
              <a:off x="2564922" y="5580693"/>
              <a:ext cx="947204" cy="369332"/>
            </a:xfrm>
            <a:prstGeom prst="rect">
              <a:avLst/>
            </a:prstGeom>
            <a:solidFill>
              <a:srgbClr val="FFCC00"/>
            </a:solidFill>
            <a:ln w="28575">
              <a:solidFill>
                <a:srgbClr val="FFC000"/>
              </a:solidFill>
              <a:miter lim="800000"/>
            </a:ln>
          </p:spPr>
          <p:txBody>
            <a:bodyPr wrap="square">
              <a:spAutoFit/>
            </a:bodyPr>
            <a:lstStyle/>
            <a:p>
              <a:pPr algn="ctr" eaLnBrk="0" hangingPunct="0">
                <a:spcBef>
                  <a:spcPct val="50000"/>
                </a:spcBef>
              </a:pPr>
              <a:r>
                <a:rPr lang="en-US" altLang="zh-CN" dirty="0">
                  <a:latin typeface="Times New Roman" panose="02020603050405020304" pitchFamily="18" charset="0"/>
                  <a:ea typeface="宋体" panose="02010600030101010101" pitchFamily="2" charset="-122"/>
                </a:rPr>
                <a:t>Call B</a:t>
              </a:r>
              <a:endParaRPr lang="en-US" altLang="zh-CN" dirty="0">
                <a:latin typeface="Times New Roman" panose="02020603050405020304" pitchFamily="18" charset="0"/>
                <a:ea typeface="宋体" panose="02010600030101010101" pitchFamily="2" charset="-122"/>
              </a:endParaRPr>
            </a:p>
          </p:txBody>
        </p:sp>
        <p:cxnSp>
          <p:nvCxnSpPr>
            <p:cNvPr id="35" name="直接箭头连接符 34"/>
            <p:cNvCxnSpPr/>
            <p:nvPr/>
          </p:nvCxnSpPr>
          <p:spPr>
            <a:xfrm>
              <a:off x="2348898" y="5787328"/>
              <a:ext cx="216024"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blinds(horizontal)">
                                      <p:cBhvr>
                                        <p:cTn id="7" dur="500"/>
                                        <p:tgtEl>
                                          <p:spTgt spid="12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blinds(horizontal)">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blinds(horizontal)">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2291">
                                            <p:txEl>
                                              <p:pRg st="2" end="2"/>
                                            </p:txEl>
                                          </p:spTgt>
                                        </p:tgtEl>
                                        <p:attrNameLst>
                                          <p:attrName>style.visibility</p:attrName>
                                        </p:attrNameLst>
                                      </p:cBhvr>
                                      <p:to>
                                        <p:strVal val="visible"/>
                                      </p:to>
                                    </p:set>
                                    <p:animEffect transition="in" filter="blinds(horizontal)">
                                      <p:cBhvr>
                                        <p:cTn id="26" dur="500"/>
                                        <p:tgtEl>
                                          <p:spTgt spid="12291">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2291">
                                            <p:txEl>
                                              <p:pRg st="3" end="3"/>
                                            </p:txEl>
                                          </p:spTgt>
                                        </p:tgtEl>
                                        <p:attrNameLst>
                                          <p:attrName>style.visibility</p:attrName>
                                        </p:attrNameLst>
                                      </p:cBhvr>
                                      <p:to>
                                        <p:strVal val="visible"/>
                                      </p:to>
                                    </p:set>
                                    <p:animEffect transition="in" filter="blinds(horizontal)">
                                      <p:cBhvr>
                                        <p:cTn id="37" dur="500"/>
                                        <p:tgtEl>
                                          <p:spTgt spid="12291">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2299"/>
                                        </p:tgtEl>
                                        <p:attrNameLst>
                                          <p:attrName>style.visibility</p:attrName>
                                        </p:attrNameLst>
                                      </p:cBhvr>
                                      <p:to>
                                        <p:strVal val="visible"/>
                                      </p:to>
                                    </p:set>
                                    <p:animEffect transition="in" filter="blinds(horizontal)">
                                      <p:cBhvr>
                                        <p:cTn id="42" dur="500"/>
                                        <p:tgtEl>
                                          <p:spTgt spid="12299"/>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2291">
                                            <p:txEl>
                                              <p:pRg st="4" end="4"/>
                                            </p:txEl>
                                          </p:spTgt>
                                        </p:tgtEl>
                                        <p:attrNameLst>
                                          <p:attrName>style.visibility</p:attrName>
                                        </p:attrNameLst>
                                      </p:cBhvr>
                                      <p:to>
                                        <p:strVal val="visible"/>
                                      </p:to>
                                    </p:set>
                                    <p:animEffect transition="in" filter="blinds(horizontal)">
                                      <p:cBhvr>
                                        <p:cTn id="47" dur="500"/>
                                        <p:tgtEl>
                                          <p:spTgt spid="12291">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2291">
                                            <p:txEl>
                                              <p:pRg st="5" end="5"/>
                                            </p:txEl>
                                          </p:spTgt>
                                        </p:tgtEl>
                                        <p:attrNameLst>
                                          <p:attrName>style.visibility</p:attrName>
                                        </p:attrNameLst>
                                      </p:cBhvr>
                                      <p:to>
                                        <p:strVal val="visible"/>
                                      </p:to>
                                    </p:set>
                                    <p:animEffect transition="in" filter="blinds(horizontal)">
                                      <p:cBhvr>
                                        <p:cTn id="52" dur="500"/>
                                        <p:tgtEl>
                                          <p:spTgt spid="12291">
                                            <p:txEl>
                                              <p:pRg st="5" end="5"/>
                                            </p:txEl>
                                          </p:spTgt>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12301"/>
                                        </p:tgtEl>
                                        <p:attrNameLst>
                                          <p:attrName>style.visibility</p:attrName>
                                        </p:attrNameLst>
                                      </p:cBhvr>
                                      <p:to>
                                        <p:strVal val="visible"/>
                                      </p:to>
                                    </p:set>
                                    <p:animEffect transition="in" filter="blinds(horizontal)">
                                      <p:cBhvr>
                                        <p:cTn id="55" dur="500"/>
                                        <p:tgtEl>
                                          <p:spTgt spid="12301"/>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23"/>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12298"/>
                                        </p:tgtEl>
                                        <p:attrNameLst>
                                          <p:attrName>style.visibility</p:attrName>
                                        </p:attrNameLst>
                                      </p:cBhvr>
                                      <p:to>
                                        <p:strVal val="visible"/>
                                      </p:to>
                                    </p:set>
                                    <p:animEffect transition="in" filter="blinds(horizontal)">
                                      <p:cBhvr>
                                        <p:cTn id="64" dur="500"/>
                                        <p:tgtEl>
                                          <p:spTgt spid="12298"/>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12291">
                                            <p:txEl>
                                              <p:pRg st="6" end="6"/>
                                            </p:txEl>
                                          </p:spTgt>
                                        </p:tgtEl>
                                        <p:attrNameLst>
                                          <p:attrName>style.visibility</p:attrName>
                                        </p:attrNameLst>
                                      </p:cBhvr>
                                      <p:to>
                                        <p:strVal val="visible"/>
                                      </p:to>
                                    </p:set>
                                    <p:animEffect transition="in" filter="blinds(horizontal)">
                                      <p:cBhvr>
                                        <p:cTn id="69" dur="500"/>
                                        <p:tgtEl>
                                          <p:spTgt spid="12291">
                                            <p:txEl>
                                              <p:pRg st="6" end="6"/>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12291">
                                            <p:txEl>
                                              <p:pRg st="7" end="7"/>
                                            </p:txEl>
                                          </p:spTgt>
                                        </p:tgtEl>
                                        <p:attrNameLst>
                                          <p:attrName>style.visibility</p:attrName>
                                        </p:attrNameLst>
                                      </p:cBhvr>
                                      <p:to>
                                        <p:strVal val="visible"/>
                                      </p:to>
                                    </p:set>
                                    <p:animEffect transition="in" filter="blinds(horizontal)">
                                      <p:cBhvr>
                                        <p:cTn id="74" dur="500"/>
                                        <p:tgtEl>
                                          <p:spTgt spid="12291">
                                            <p:txEl>
                                              <p:pRg st="7" end="7"/>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12291">
                                            <p:txEl>
                                              <p:pRg st="8" end="8"/>
                                            </p:txEl>
                                          </p:spTgt>
                                        </p:tgtEl>
                                        <p:attrNameLst>
                                          <p:attrName>style.visibility</p:attrName>
                                        </p:attrNameLst>
                                      </p:cBhvr>
                                      <p:to>
                                        <p:strVal val="visible"/>
                                      </p:to>
                                    </p:set>
                                    <p:animEffect transition="in" filter="blinds(horizontal)">
                                      <p:cBhvr>
                                        <p:cTn id="79" dur="500"/>
                                        <p:tgtEl>
                                          <p:spTgt spid="12291">
                                            <p:txEl>
                                              <p:pRg st="8" end="8"/>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12297"/>
                                        </p:tgtEl>
                                        <p:attrNameLst>
                                          <p:attrName>style.visibility</p:attrName>
                                        </p:attrNameLst>
                                      </p:cBhvr>
                                      <p:to>
                                        <p:strVal val="visible"/>
                                      </p:to>
                                    </p:set>
                                    <p:animEffect transition="in" filter="blinds(horizontal)">
                                      <p:cBhvr>
                                        <p:cTn id="84" dur="500"/>
                                        <p:tgtEl>
                                          <p:spTgt spid="12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uiExpand="1" build="p"/>
      <p:bldP spid="12297" grpId="0"/>
      <p:bldP spid="12298" grpId="0"/>
      <p:bldP spid="12299" grpId="0"/>
      <p:bldP spid="12301" grpId="0"/>
      <p:bldP spid="26" grpId="0" bldLvl="0" animBg="1"/>
      <p:bldP spid="32"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内容占位符 13314"/>
          <p:cNvSpPr>
            <a:spLocks noGrp="1" noChangeArrowheads="1"/>
          </p:cNvSpPr>
          <p:nvPr>
            <p:ph idx="1"/>
          </p:nvPr>
        </p:nvSpPr>
        <p:spPr>
          <a:xfrm>
            <a:off x="457200" y="980728"/>
            <a:ext cx="8229600" cy="5112569"/>
          </a:xfrm>
        </p:spPr>
        <p:txBody>
          <a:bodyPr/>
          <a:lstStyle/>
          <a:p>
            <a:pPr>
              <a:lnSpc>
                <a:spcPct val="90000"/>
              </a:lnSpc>
              <a:buClr>
                <a:srgbClr val="FF0000"/>
              </a:buClr>
              <a:buFont typeface="Wingdings" panose="05000000000000000000" pitchFamily="2" charset="2"/>
              <a:buChar char="Ø"/>
            </a:pPr>
            <a:r>
              <a:rPr lang="en-US" altLang="zh-CN" sz="2800" b="1" dirty="0"/>
              <a:t>7.3.2 </a:t>
            </a:r>
            <a:r>
              <a:rPr lang="zh-CN" altLang="en-US" sz="2800" b="1" dirty="0"/>
              <a:t>递归调用的内部实现原理 </a:t>
            </a:r>
            <a:endParaRPr lang="zh-CN" altLang="en-US" sz="2800" b="1" dirty="0"/>
          </a:p>
          <a:p>
            <a:pPr lvl="1">
              <a:lnSpc>
                <a:spcPct val="90000"/>
              </a:lnSpc>
              <a:buClr>
                <a:srgbClr val="FF0000"/>
              </a:buClr>
              <a:buFont typeface="Wingdings" panose="05000000000000000000" pitchFamily="2" charset="2"/>
              <a:buChar char="n"/>
            </a:pPr>
            <a:r>
              <a:rPr lang="zh-CN" altLang="en-US" sz="2400" b="1" dirty="0"/>
              <a:t>可将递归调用</a:t>
            </a:r>
            <a:r>
              <a:rPr lang="zh-CN" altLang="en-US" sz="2400" b="1" dirty="0">
                <a:solidFill>
                  <a:srgbClr val="FF0000"/>
                </a:solidFill>
              </a:rPr>
              <a:t>理解为</a:t>
            </a:r>
            <a:r>
              <a:rPr lang="en-US" altLang="zh-CN" sz="2400" b="1" dirty="0"/>
              <a:t>:</a:t>
            </a:r>
            <a:endParaRPr lang="en-US" altLang="zh-CN" sz="2400" b="1" dirty="0"/>
          </a:p>
          <a:p>
            <a:pPr lvl="2">
              <a:lnSpc>
                <a:spcPct val="90000"/>
              </a:lnSpc>
              <a:buClr>
                <a:srgbClr val="FF0000"/>
              </a:buClr>
              <a:buFont typeface="Arial" panose="020B0604020202020204" pitchFamily="34" charset="0"/>
              <a:buChar char="•"/>
            </a:pPr>
            <a:r>
              <a:rPr lang="zh-CN" altLang="en-US" sz="2200" b="1" dirty="0"/>
              <a:t>调用与自己有相同的代码和同名的局部变量的子程序。</a:t>
            </a:r>
            <a:endParaRPr lang="zh-CN" altLang="en-US" sz="2200" b="1" dirty="0"/>
          </a:p>
          <a:p>
            <a:pPr lvl="1">
              <a:lnSpc>
                <a:spcPct val="90000"/>
              </a:lnSpc>
              <a:buClr>
                <a:srgbClr val="FF0000"/>
              </a:buClr>
              <a:buFont typeface="Wingdings" panose="05000000000000000000" pitchFamily="2" charset="2"/>
              <a:buChar char="n"/>
            </a:pPr>
            <a:r>
              <a:rPr lang="zh-CN" altLang="en-US" sz="2400" b="1" dirty="0"/>
              <a:t>由此可知：     </a:t>
            </a:r>
            <a:endParaRPr lang="zh-CN" altLang="en-US" sz="2400" b="1" dirty="0"/>
          </a:p>
          <a:p>
            <a:pPr lvl="2">
              <a:lnSpc>
                <a:spcPct val="90000"/>
              </a:lnSpc>
              <a:buClr>
                <a:srgbClr val="FF0000"/>
              </a:buClr>
              <a:buFont typeface="Arial" panose="020B0604020202020204" pitchFamily="34" charset="0"/>
              <a:buChar char="•"/>
            </a:pPr>
            <a:r>
              <a:rPr lang="zh-CN" altLang="en-US" sz="2200" b="1" dirty="0"/>
              <a:t>执行</a:t>
            </a:r>
            <a:r>
              <a:rPr lang="zh-CN" altLang="en-US" sz="2200" b="1" dirty="0">
                <a:solidFill>
                  <a:srgbClr val="FF0000"/>
                </a:solidFill>
              </a:rPr>
              <a:t>递归调用</a:t>
            </a:r>
            <a:r>
              <a:rPr lang="zh-CN" altLang="en-US" sz="2200" b="1" dirty="0"/>
              <a:t>及</a:t>
            </a:r>
            <a:r>
              <a:rPr lang="zh-CN" altLang="en-US" sz="2200" b="1" dirty="0">
                <a:solidFill>
                  <a:srgbClr val="FF0000"/>
                </a:solidFill>
              </a:rPr>
              <a:t>返回</a:t>
            </a:r>
            <a:r>
              <a:rPr lang="zh-CN" altLang="en-US" sz="2200" b="1" dirty="0"/>
              <a:t>的内部实现</a:t>
            </a:r>
            <a:r>
              <a:rPr lang="zh-CN" altLang="en-US" sz="2200" b="1" dirty="0">
                <a:solidFill>
                  <a:srgbClr val="FF0000"/>
                </a:solidFill>
              </a:rPr>
              <a:t>与前述实现相同</a:t>
            </a:r>
            <a:r>
              <a:rPr lang="en-US" altLang="zh-CN" sz="2200" b="1" dirty="0"/>
              <a:t>:</a:t>
            </a:r>
            <a:endParaRPr lang="en-US" altLang="zh-CN" sz="2200" b="1" dirty="0"/>
          </a:p>
          <a:p>
            <a:pPr>
              <a:lnSpc>
                <a:spcPct val="90000"/>
              </a:lnSpc>
              <a:buFont typeface="Wingdings" panose="05000000000000000000" pitchFamily="2" charset="2"/>
              <a:buNone/>
            </a:pPr>
            <a:r>
              <a:rPr lang="zh-CN" altLang="en-US" sz="2400" b="1" dirty="0"/>
              <a:t>     </a:t>
            </a:r>
            <a:endParaRPr lang="zh-CN" altLang="en-US" sz="2400" b="1" dirty="0"/>
          </a:p>
          <a:p>
            <a:pPr lvl="1">
              <a:lnSpc>
                <a:spcPct val="90000"/>
              </a:lnSpc>
              <a:buClr>
                <a:srgbClr val="FF0000"/>
              </a:buClr>
              <a:buFont typeface="Wingdings" panose="05000000000000000000" pitchFamily="2" charset="2"/>
              <a:buChar char="n"/>
            </a:pPr>
            <a:r>
              <a:rPr lang="zh-CN" altLang="en-US" sz="2000" b="1" dirty="0"/>
              <a:t>在执行</a:t>
            </a:r>
            <a:r>
              <a:rPr lang="zh-CN" altLang="en-US" sz="2000" b="1" dirty="0">
                <a:solidFill>
                  <a:srgbClr val="FF0000"/>
                </a:solidFill>
              </a:rPr>
              <a:t>递归调用</a:t>
            </a:r>
            <a:r>
              <a:rPr lang="zh-CN" altLang="en-US" sz="2000" b="1" dirty="0"/>
              <a:t>时</a:t>
            </a:r>
            <a:r>
              <a:rPr lang="en-US" altLang="zh-CN" sz="2000" b="1" dirty="0"/>
              <a:t>, </a:t>
            </a:r>
            <a:r>
              <a:rPr lang="zh-CN" altLang="en-US" sz="2000" b="1" dirty="0"/>
              <a:t>计算机内部执行如下操作</a:t>
            </a:r>
            <a:r>
              <a:rPr lang="en-US" altLang="zh-CN" sz="2000" b="1" dirty="0"/>
              <a:t>:</a:t>
            </a:r>
            <a:endParaRPr lang="en-US" altLang="zh-CN" sz="2000" b="1" dirty="0"/>
          </a:p>
          <a:p>
            <a:pPr>
              <a:lnSpc>
                <a:spcPct val="90000"/>
              </a:lnSpc>
              <a:buFont typeface="Wingdings" panose="05000000000000000000" pitchFamily="2" charset="2"/>
              <a:buNone/>
            </a:pPr>
            <a:r>
              <a:rPr lang="zh-CN" altLang="en-US" sz="2200" b="1" dirty="0"/>
              <a:t>           </a:t>
            </a:r>
            <a:r>
              <a:rPr lang="en-US" altLang="zh-CN" sz="2200" b="1" dirty="0">
                <a:solidFill>
                  <a:srgbClr val="FF0000"/>
                </a:solidFill>
              </a:rPr>
              <a:t>(a) </a:t>
            </a:r>
            <a:r>
              <a:rPr lang="zh-CN" altLang="en-US" sz="2200" b="1" dirty="0"/>
              <a:t>开辟栈顶存储空间，用于保存：</a:t>
            </a:r>
            <a:endParaRPr lang="zh-CN" altLang="en-US" sz="2200" b="1" dirty="0"/>
          </a:p>
          <a:p>
            <a:pPr>
              <a:lnSpc>
                <a:spcPct val="90000"/>
              </a:lnSpc>
              <a:buFont typeface="Wingdings" panose="05000000000000000000" pitchFamily="2" charset="2"/>
              <a:buNone/>
            </a:pPr>
            <a:r>
              <a:rPr lang="zh-CN" altLang="en-US" sz="2200" b="1" dirty="0"/>
              <a:t>      </a:t>
            </a:r>
            <a:r>
              <a:rPr lang="en-US" altLang="zh-CN" sz="2200" b="1" dirty="0"/>
              <a:t>           </a:t>
            </a:r>
            <a:r>
              <a:rPr lang="zh-CN" altLang="en-US" sz="2200" b="1" dirty="0"/>
              <a:t>返回地址、</a:t>
            </a:r>
            <a:r>
              <a:rPr lang="zh-CN" altLang="en-US" sz="2200" b="1" dirty="0">
                <a:solidFill>
                  <a:srgbClr val="FF0000"/>
                </a:solidFill>
              </a:rPr>
              <a:t>被调层</a:t>
            </a:r>
            <a:r>
              <a:rPr lang="zh-CN" altLang="en-US" sz="2200" b="1" dirty="0"/>
              <a:t>（函数）中的形参和局部变量的值。</a:t>
            </a:r>
            <a:endParaRPr lang="zh-CN" altLang="en-US" sz="2200" b="1" dirty="0"/>
          </a:p>
          <a:p>
            <a:pPr>
              <a:lnSpc>
                <a:spcPct val="90000"/>
              </a:lnSpc>
              <a:buFont typeface="Wingdings" panose="05000000000000000000" pitchFamily="2" charset="2"/>
              <a:buNone/>
            </a:pPr>
            <a:r>
              <a:rPr lang="zh-CN" altLang="en-US" sz="2200" b="1" dirty="0">
                <a:solidFill>
                  <a:srgbClr val="FF0000"/>
                </a:solidFill>
              </a:rPr>
              <a:t>           </a:t>
            </a:r>
            <a:r>
              <a:rPr lang="en-US" altLang="zh-CN" sz="2200" b="1" dirty="0">
                <a:solidFill>
                  <a:srgbClr val="FF0000"/>
                </a:solidFill>
              </a:rPr>
              <a:t>(b) </a:t>
            </a:r>
            <a:r>
              <a:rPr lang="zh-CN" altLang="en-US" sz="2200" b="1" dirty="0"/>
              <a:t>为被调层（函数）准备数据：计算实参的值</a:t>
            </a:r>
            <a:r>
              <a:rPr lang="en-US" altLang="zh-CN" sz="2200" b="1" dirty="0"/>
              <a:t>, </a:t>
            </a:r>
            <a:r>
              <a:rPr lang="zh-CN" altLang="en-US" sz="2200" b="1" dirty="0"/>
              <a:t>并赋给对</a:t>
            </a:r>
            <a:endParaRPr lang="en-US" altLang="zh-CN" sz="2200" b="1" dirty="0"/>
          </a:p>
          <a:p>
            <a:pPr>
              <a:lnSpc>
                <a:spcPct val="90000"/>
              </a:lnSpc>
              <a:buFont typeface="Wingdings" panose="05000000000000000000" pitchFamily="2" charset="2"/>
              <a:buNone/>
            </a:pPr>
            <a:r>
              <a:rPr lang="zh-CN" altLang="en-US" sz="2200" b="1" dirty="0"/>
              <a:t>                 应的形参（在栈顶元素中）。</a:t>
            </a:r>
            <a:endParaRPr lang="zh-CN" altLang="en-US" sz="2200" b="1" dirty="0"/>
          </a:p>
          <a:p>
            <a:pPr>
              <a:lnSpc>
                <a:spcPct val="90000"/>
              </a:lnSpc>
              <a:buFont typeface="Wingdings" panose="05000000000000000000" pitchFamily="2" charset="2"/>
              <a:buNone/>
            </a:pPr>
            <a:r>
              <a:rPr lang="zh-CN" altLang="en-US" sz="2200" b="1" dirty="0">
                <a:solidFill>
                  <a:srgbClr val="FF0000"/>
                </a:solidFill>
              </a:rPr>
              <a:t>           </a:t>
            </a:r>
            <a:r>
              <a:rPr lang="en-US" altLang="zh-CN" sz="2200" b="1" dirty="0">
                <a:solidFill>
                  <a:srgbClr val="FF0000"/>
                </a:solidFill>
              </a:rPr>
              <a:t>(c)  </a:t>
            </a:r>
            <a:r>
              <a:rPr lang="zh-CN" altLang="en-US" sz="2200" b="1" dirty="0"/>
              <a:t>转入子程序执行。         </a:t>
            </a:r>
            <a:endParaRPr lang="zh-CN" altLang="en-US" sz="2200" b="1" dirty="0"/>
          </a:p>
        </p:txBody>
      </p:sp>
      <p:grpSp>
        <p:nvGrpSpPr>
          <p:cNvPr id="6" name="组合 114"/>
          <p:cNvGrpSpPr/>
          <p:nvPr/>
        </p:nvGrpSpPr>
        <p:grpSpPr>
          <a:xfrm>
            <a:off x="493395" y="105077"/>
            <a:ext cx="6505435" cy="679778"/>
            <a:chOff x="933887" y="3363717"/>
            <a:chExt cx="6505435" cy="679778"/>
          </a:xfrm>
        </p:grpSpPr>
        <p:grpSp>
          <p:nvGrpSpPr>
            <p:cNvPr id="7" name="组合 105"/>
            <p:cNvGrpSpPr/>
            <p:nvPr/>
          </p:nvGrpSpPr>
          <p:grpSpPr>
            <a:xfrm>
              <a:off x="933887" y="3363717"/>
              <a:ext cx="6505435" cy="679778"/>
              <a:chOff x="933887" y="3363717"/>
              <a:chExt cx="6505435" cy="679778"/>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214282"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7.3 </a:t>
                </a:r>
                <a:r>
                  <a:rPr lang="zh-CN" altLang="en-US" sz="3600" b="1" dirty="0">
                    <a:latin typeface="Times New Roman" panose="02020603050405020304" pitchFamily="18" charset="0"/>
                    <a:ea typeface="黑体" panose="02010609060101010101" pitchFamily="49" charset="-122"/>
                  </a:rPr>
                  <a:t>递归的内部实现原理</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descr="12.jpg"/>
            <p:cNvPicPr>
              <a:picLocks noChangeAspect="1"/>
            </p:cNvPicPr>
            <p:nvPr/>
          </p:nvPicPr>
          <p:blipFill>
            <a:blip r:embed="rId1" cstate="print"/>
            <a:stretch>
              <a:fillRect/>
            </a:stretch>
          </p:blipFill>
          <p:spPr>
            <a:xfrm>
              <a:off x="1115929" y="3530600"/>
              <a:ext cx="446172" cy="431048"/>
            </a:xfrm>
            <a:prstGeom prst="rect">
              <a:avLst/>
            </a:prstGeom>
          </p:spPr>
        </p:pic>
      </p:grpSp>
      <p:grpSp>
        <p:nvGrpSpPr>
          <p:cNvPr id="2" name="组合 1"/>
          <p:cNvGrpSpPr/>
          <p:nvPr/>
        </p:nvGrpSpPr>
        <p:grpSpPr>
          <a:xfrm>
            <a:off x="5364088" y="4797152"/>
            <a:ext cx="3058696" cy="1766054"/>
            <a:chOff x="5939632" y="974738"/>
            <a:chExt cx="3058696" cy="1766054"/>
          </a:xfrm>
        </p:grpSpPr>
        <p:sp>
          <p:nvSpPr>
            <p:cNvPr id="11" name="文本框 10"/>
            <p:cNvSpPr txBox="1">
              <a:spLocks noChangeArrowheads="1"/>
            </p:cNvSpPr>
            <p:nvPr/>
          </p:nvSpPr>
          <p:spPr bwMode="auto">
            <a:xfrm>
              <a:off x="5939632" y="1040420"/>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(a)</a:t>
              </a:r>
              <a:endParaRPr lang="en-US" altLang="zh-CN" dirty="0">
                <a:latin typeface="Arial" panose="020B0604020202020204" pitchFamily="34" charset="0"/>
                <a:ea typeface="宋体" panose="02010600030101010101" pitchFamily="2" charset="-122"/>
              </a:endParaRPr>
            </a:p>
          </p:txBody>
        </p:sp>
        <p:sp>
          <p:nvSpPr>
            <p:cNvPr id="12" name="文本框 11"/>
            <p:cNvSpPr txBox="1">
              <a:spLocks noChangeArrowheads="1"/>
            </p:cNvSpPr>
            <p:nvPr/>
          </p:nvSpPr>
          <p:spPr bwMode="auto">
            <a:xfrm>
              <a:off x="6326880" y="1022479"/>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(b)</a:t>
              </a:r>
              <a:endParaRPr lang="en-US" altLang="zh-CN" dirty="0">
                <a:latin typeface="Arial" panose="020B0604020202020204" pitchFamily="34" charset="0"/>
                <a:ea typeface="宋体" panose="02010600030101010101" pitchFamily="2" charset="-122"/>
              </a:endParaRPr>
            </a:p>
          </p:txBody>
        </p:sp>
        <p:sp>
          <p:nvSpPr>
            <p:cNvPr id="13" name="文本框 12"/>
            <p:cNvSpPr txBox="1">
              <a:spLocks noChangeArrowheads="1"/>
            </p:cNvSpPr>
            <p:nvPr/>
          </p:nvSpPr>
          <p:spPr bwMode="auto">
            <a:xfrm>
              <a:off x="7244935" y="974738"/>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(c)</a:t>
              </a:r>
              <a:endParaRPr lang="en-US" altLang="zh-CN" dirty="0">
                <a:latin typeface="Arial" panose="020B0604020202020204" pitchFamily="34" charset="0"/>
                <a:ea typeface="宋体" panose="02010600030101010101" pitchFamily="2" charset="-122"/>
              </a:endParaRPr>
            </a:p>
          </p:txBody>
        </p:sp>
        <p:grpSp>
          <p:nvGrpSpPr>
            <p:cNvPr id="16" name="组合 15"/>
            <p:cNvGrpSpPr/>
            <p:nvPr/>
          </p:nvGrpSpPr>
          <p:grpSpPr>
            <a:xfrm>
              <a:off x="6084167" y="1282078"/>
              <a:ext cx="2914161" cy="1458714"/>
              <a:chOff x="5506696" y="2684739"/>
              <a:chExt cx="2914161" cy="1458714"/>
            </a:xfrm>
          </p:grpSpPr>
          <p:sp>
            <p:nvSpPr>
              <p:cNvPr id="17" name="文本框 16"/>
              <p:cNvSpPr txBox="1">
                <a:spLocks noChangeArrowheads="1"/>
              </p:cNvSpPr>
              <p:nvPr/>
            </p:nvSpPr>
            <p:spPr bwMode="auto">
              <a:xfrm>
                <a:off x="7341357" y="3202075"/>
                <a:ext cx="1079500" cy="369332"/>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eaLnBrk="0" hangingPunct="0">
                  <a:spcBef>
                    <a:spcPct val="50000"/>
                  </a:spcBef>
                </a:pPr>
                <a:r>
                  <a:rPr lang="zh-CN" altLang="en-US">
                    <a:latin typeface="Times New Roman" panose="02020603050405020304" pitchFamily="18" charset="0"/>
                    <a:ea typeface="宋体" panose="02010600030101010101" pitchFamily="2" charset="-122"/>
                  </a:rPr>
                  <a:t>子程序</a:t>
                </a:r>
                <a:r>
                  <a:rPr lang="en-US" altLang="zh-CN">
                    <a:latin typeface="Times New Roman" panose="02020603050405020304" pitchFamily="18" charset="0"/>
                    <a:ea typeface="宋体" panose="02010600030101010101" pitchFamily="2" charset="-122"/>
                  </a:rPr>
                  <a:t>B</a:t>
                </a:r>
                <a:endParaRPr lang="en-US" altLang="zh-CN">
                  <a:latin typeface="Times New Roman" panose="02020603050405020304" pitchFamily="18" charset="0"/>
                  <a:ea typeface="宋体" panose="02010600030101010101" pitchFamily="2" charset="-122"/>
                </a:endParaRPr>
              </a:p>
            </p:txBody>
          </p:sp>
          <p:sp>
            <p:nvSpPr>
              <p:cNvPr id="18" name="文本框 17"/>
              <p:cNvSpPr txBox="1">
                <a:spLocks noChangeArrowheads="1"/>
              </p:cNvSpPr>
              <p:nvPr/>
            </p:nvSpPr>
            <p:spPr bwMode="auto">
              <a:xfrm>
                <a:off x="5506696" y="2857396"/>
                <a:ext cx="792503" cy="369332"/>
              </a:xfrm>
              <a:prstGeom prst="rect">
                <a:avLst/>
              </a:prstGeom>
              <a:solidFill>
                <a:srgbClr val="FFCC00"/>
              </a:solidFill>
              <a:ln w="28575">
                <a:solidFill>
                  <a:srgbClr val="FFC000"/>
                </a:solidFill>
                <a:miter lim="800000"/>
              </a:ln>
            </p:spPr>
            <p:txBody>
              <a:bodyPr wrap="square">
                <a:spAutoFit/>
              </a:bodyPr>
              <a:lstStyle/>
              <a:p>
                <a:pPr algn="ctr" eaLnBrk="0" hangingPunct="0">
                  <a:spcBef>
                    <a:spcPct val="50000"/>
                  </a:spcBef>
                </a:pPr>
                <a:r>
                  <a:rPr lang="en-US" altLang="zh-CN" dirty="0">
                    <a:latin typeface="Times New Roman" panose="02020603050405020304" pitchFamily="18" charset="0"/>
                    <a:ea typeface="宋体" panose="02010600030101010101" pitchFamily="2" charset="-122"/>
                  </a:rPr>
                  <a:t>Call B</a:t>
                </a:r>
                <a:endParaRPr lang="en-US" altLang="zh-CN" dirty="0">
                  <a:latin typeface="Times New Roman" panose="02020603050405020304" pitchFamily="18" charset="0"/>
                  <a:ea typeface="宋体" panose="02010600030101010101" pitchFamily="2" charset="-122"/>
                </a:endParaRPr>
              </a:p>
            </p:txBody>
          </p:sp>
          <p:grpSp>
            <p:nvGrpSpPr>
              <p:cNvPr id="19" name="组合 18"/>
              <p:cNvGrpSpPr/>
              <p:nvPr/>
            </p:nvGrpSpPr>
            <p:grpSpPr>
              <a:xfrm>
                <a:off x="6316452" y="2684739"/>
                <a:ext cx="1628500" cy="517336"/>
                <a:chOff x="6316452" y="2625523"/>
                <a:chExt cx="1628500" cy="517336"/>
              </a:xfrm>
            </p:grpSpPr>
            <p:cxnSp>
              <p:nvCxnSpPr>
                <p:cNvPr id="22" name="直接连接符 21"/>
                <p:cNvCxnSpPr/>
                <p:nvPr/>
              </p:nvCxnSpPr>
              <p:spPr>
                <a:xfrm flipV="1">
                  <a:off x="6316452" y="2625523"/>
                  <a:ext cx="1628500" cy="29468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H="1">
                  <a:off x="7740352" y="2625523"/>
                  <a:ext cx="204600" cy="51733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0" name="直接箭头连接符 19"/>
              <p:cNvCxnSpPr/>
              <p:nvPr/>
            </p:nvCxnSpPr>
            <p:spPr>
              <a:xfrm flipH="1">
                <a:off x="7338168" y="3571407"/>
                <a:ext cx="281832" cy="572046"/>
              </a:xfrm>
              <a:prstGeom prst="straightConnector1">
                <a:avLst/>
              </a:prstGeom>
              <a:ln w="2222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flipV="1">
                <a:off x="6314536" y="3225110"/>
                <a:ext cx="1023632" cy="918343"/>
              </a:xfrm>
              <a:prstGeom prst="line">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6892007" y="1109146"/>
              <a:ext cx="1859648" cy="690268"/>
              <a:chOff x="6892007" y="1109146"/>
              <a:chExt cx="1859648" cy="690268"/>
            </a:xfrm>
          </p:grpSpPr>
          <p:cxnSp>
            <p:nvCxnSpPr>
              <p:cNvPr id="25" name="直接连接符 24"/>
              <p:cNvCxnSpPr/>
              <p:nvPr/>
            </p:nvCxnSpPr>
            <p:spPr>
              <a:xfrm flipV="1">
                <a:off x="6892007" y="1110228"/>
                <a:ext cx="1859648" cy="368532"/>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endCxn id="17" idx="0"/>
              </p:cNvCxnSpPr>
              <p:nvPr/>
            </p:nvCxnSpPr>
            <p:spPr>
              <a:xfrm flipH="1">
                <a:off x="8458578" y="1109146"/>
                <a:ext cx="293077" cy="690268"/>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grpSp>
      </p:grpSp>
      <p:sp>
        <p:nvSpPr>
          <p:cNvPr id="3" name="页脚占位符 2"/>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blinds(horizontal)">
                                      <p:cBhvr>
                                        <p:cTn id="7" dur="500"/>
                                        <p:tgtEl>
                                          <p:spTgt spid="13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315">
                                            <p:txEl>
                                              <p:pRg st="1" end="1"/>
                                            </p:txEl>
                                          </p:spTgt>
                                        </p:tgtEl>
                                        <p:attrNameLst>
                                          <p:attrName>style.visibility</p:attrName>
                                        </p:attrNameLst>
                                      </p:cBhvr>
                                      <p:to>
                                        <p:strVal val="visible"/>
                                      </p:to>
                                    </p:set>
                                    <p:animEffect transition="in" filter="blinds(horizontal)">
                                      <p:cBhvr>
                                        <p:cTn id="12" dur="500"/>
                                        <p:tgtEl>
                                          <p:spTgt spid="133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315">
                                            <p:txEl>
                                              <p:pRg st="2" end="2"/>
                                            </p:txEl>
                                          </p:spTgt>
                                        </p:tgtEl>
                                        <p:attrNameLst>
                                          <p:attrName>style.visibility</p:attrName>
                                        </p:attrNameLst>
                                      </p:cBhvr>
                                      <p:to>
                                        <p:strVal val="visible"/>
                                      </p:to>
                                    </p:set>
                                    <p:animEffect transition="in" filter="blinds(horizontal)">
                                      <p:cBhvr>
                                        <p:cTn id="17" dur="500"/>
                                        <p:tgtEl>
                                          <p:spTgt spid="133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315">
                                            <p:txEl>
                                              <p:pRg st="3" end="3"/>
                                            </p:txEl>
                                          </p:spTgt>
                                        </p:tgtEl>
                                        <p:attrNameLst>
                                          <p:attrName>style.visibility</p:attrName>
                                        </p:attrNameLst>
                                      </p:cBhvr>
                                      <p:to>
                                        <p:strVal val="visible"/>
                                      </p:to>
                                    </p:set>
                                    <p:animEffect transition="in" filter="blinds(horizontal)">
                                      <p:cBhvr>
                                        <p:cTn id="22" dur="500"/>
                                        <p:tgtEl>
                                          <p:spTgt spid="133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315">
                                            <p:txEl>
                                              <p:pRg st="4" end="4"/>
                                            </p:txEl>
                                          </p:spTgt>
                                        </p:tgtEl>
                                        <p:attrNameLst>
                                          <p:attrName>style.visibility</p:attrName>
                                        </p:attrNameLst>
                                      </p:cBhvr>
                                      <p:to>
                                        <p:strVal val="visible"/>
                                      </p:to>
                                    </p:set>
                                    <p:animEffect transition="in" filter="blinds(horizontal)">
                                      <p:cBhvr>
                                        <p:cTn id="27" dur="500"/>
                                        <p:tgtEl>
                                          <p:spTgt spid="1331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3315">
                                            <p:txEl>
                                              <p:pRg st="5" end="5"/>
                                            </p:txEl>
                                          </p:spTgt>
                                        </p:tgtEl>
                                        <p:attrNameLst>
                                          <p:attrName>style.visibility</p:attrName>
                                        </p:attrNameLst>
                                      </p:cBhvr>
                                      <p:to>
                                        <p:strVal val="visible"/>
                                      </p:to>
                                    </p:set>
                                    <p:animEffect transition="in" filter="blinds(horizontal)">
                                      <p:cBhvr>
                                        <p:cTn id="32" dur="500"/>
                                        <p:tgtEl>
                                          <p:spTgt spid="13315">
                                            <p:txEl>
                                              <p:pRg st="5" end="5"/>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3315">
                                            <p:txEl>
                                              <p:pRg st="6" end="6"/>
                                            </p:txEl>
                                          </p:spTgt>
                                        </p:tgtEl>
                                        <p:attrNameLst>
                                          <p:attrName>style.visibility</p:attrName>
                                        </p:attrNameLst>
                                      </p:cBhvr>
                                      <p:to>
                                        <p:strVal val="visible"/>
                                      </p:to>
                                    </p:set>
                                    <p:animEffect transition="in" filter="blinds(horizontal)">
                                      <p:cBhvr>
                                        <p:cTn id="35" dur="500"/>
                                        <p:tgtEl>
                                          <p:spTgt spid="13315">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fade">
                                      <p:cBhvr>
                                        <p:cTn id="40" dur="1000"/>
                                        <p:tgtEl>
                                          <p:spTgt spid="2"/>
                                        </p:tgtEl>
                                      </p:cBhvr>
                                    </p:animEffect>
                                    <p:anim calcmode="lin" valueType="num">
                                      <p:cBhvr>
                                        <p:cTn id="41" dur="1000" fill="hold"/>
                                        <p:tgtEl>
                                          <p:spTgt spid="2"/>
                                        </p:tgtEl>
                                        <p:attrNameLst>
                                          <p:attrName>ppt_x</p:attrName>
                                        </p:attrNameLst>
                                      </p:cBhvr>
                                      <p:tavLst>
                                        <p:tav tm="0">
                                          <p:val>
                                            <p:strVal val="#ppt_x"/>
                                          </p:val>
                                        </p:tav>
                                        <p:tav tm="100000">
                                          <p:val>
                                            <p:strVal val="#ppt_x"/>
                                          </p:val>
                                        </p:tav>
                                      </p:tavLst>
                                    </p:anim>
                                    <p:anim calcmode="lin" valueType="num">
                                      <p:cBhvr>
                                        <p:cTn id="4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3315">
                                            <p:txEl>
                                              <p:pRg st="7" end="7"/>
                                            </p:txEl>
                                          </p:spTgt>
                                        </p:tgtEl>
                                        <p:attrNameLst>
                                          <p:attrName>style.visibility</p:attrName>
                                        </p:attrNameLst>
                                      </p:cBhvr>
                                      <p:to>
                                        <p:strVal val="visible"/>
                                      </p:to>
                                    </p:set>
                                    <p:animEffect transition="in" filter="blinds(horizontal)">
                                      <p:cBhvr>
                                        <p:cTn id="47" dur="500"/>
                                        <p:tgtEl>
                                          <p:spTgt spid="13315">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3315">
                                            <p:txEl>
                                              <p:pRg st="8" end="8"/>
                                            </p:txEl>
                                          </p:spTgt>
                                        </p:tgtEl>
                                        <p:attrNameLst>
                                          <p:attrName>style.visibility</p:attrName>
                                        </p:attrNameLst>
                                      </p:cBhvr>
                                      <p:to>
                                        <p:strVal val="visible"/>
                                      </p:to>
                                    </p:set>
                                    <p:animEffect transition="in" filter="blinds(horizontal)">
                                      <p:cBhvr>
                                        <p:cTn id="52" dur="500"/>
                                        <p:tgtEl>
                                          <p:spTgt spid="13315">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3315">
                                            <p:txEl>
                                              <p:pRg st="9" end="9"/>
                                            </p:txEl>
                                          </p:spTgt>
                                        </p:tgtEl>
                                        <p:attrNameLst>
                                          <p:attrName>style.visibility</p:attrName>
                                        </p:attrNameLst>
                                      </p:cBhvr>
                                      <p:to>
                                        <p:strVal val="visible"/>
                                      </p:to>
                                    </p:set>
                                    <p:animEffect transition="in" filter="blinds(horizontal)">
                                      <p:cBhvr>
                                        <p:cTn id="57" dur="500"/>
                                        <p:tgtEl>
                                          <p:spTgt spid="13315">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3315">
                                            <p:txEl>
                                              <p:pRg st="10" end="10"/>
                                            </p:txEl>
                                          </p:spTgt>
                                        </p:tgtEl>
                                        <p:attrNameLst>
                                          <p:attrName>style.visibility</p:attrName>
                                        </p:attrNameLst>
                                      </p:cBhvr>
                                      <p:to>
                                        <p:strVal val="visible"/>
                                      </p:to>
                                    </p:set>
                                    <p:animEffect transition="in" filter="blinds(horizontal)">
                                      <p:cBhvr>
                                        <p:cTn id="62" dur="500"/>
                                        <p:tgtEl>
                                          <p:spTgt spid="13315">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3315">
                                            <p:txEl>
                                              <p:pRg st="11" end="11"/>
                                            </p:txEl>
                                          </p:spTgt>
                                        </p:tgtEl>
                                        <p:attrNameLst>
                                          <p:attrName>style.visibility</p:attrName>
                                        </p:attrNameLst>
                                      </p:cBhvr>
                                      <p:to>
                                        <p:strVal val="visible"/>
                                      </p:to>
                                    </p:set>
                                    <p:animEffect transition="in" filter="blinds(horizontal)">
                                      <p:cBhvr>
                                        <p:cTn id="67" dur="500"/>
                                        <p:tgtEl>
                                          <p:spTgt spid="1331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内容占位符 14338"/>
          <p:cNvSpPr>
            <a:spLocks noGrp="1" noChangeArrowheads="1"/>
          </p:cNvSpPr>
          <p:nvPr>
            <p:ph idx="1"/>
          </p:nvPr>
        </p:nvSpPr>
        <p:spPr>
          <a:xfrm>
            <a:off x="457200" y="1052737"/>
            <a:ext cx="8229600" cy="5040560"/>
          </a:xfrm>
        </p:spPr>
        <p:txBody>
          <a:bodyPr/>
          <a:lstStyle/>
          <a:p>
            <a:pPr>
              <a:buClr>
                <a:srgbClr val="FF0000"/>
              </a:buClr>
              <a:buFont typeface="Wingdings" panose="05000000000000000000" pitchFamily="2" charset="2"/>
              <a:buChar char="n"/>
            </a:pPr>
            <a:r>
              <a:rPr lang="zh-CN" altLang="en-US" sz="2400" b="1" dirty="0"/>
              <a:t>在</a:t>
            </a:r>
            <a:r>
              <a:rPr lang="zh-CN" altLang="en-US" sz="2400" b="1" dirty="0">
                <a:solidFill>
                  <a:srgbClr val="FF0000"/>
                </a:solidFill>
              </a:rPr>
              <a:t>执行返回</a:t>
            </a:r>
            <a:r>
              <a:rPr lang="zh-CN" altLang="en-US" sz="2400" b="1" dirty="0"/>
              <a:t>操作时</a:t>
            </a:r>
            <a:r>
              <a:rPr lang="en-US" altLang="zh-CN" sz="2400" b="1" dirty="0"/>
              <a:t>, </a:t>
            </a:r>
            <a:r>
              <a:rPr lang="zh-CN" altLang="en-US" sz="2400" b="1" dirty="0"/>
              <a:t>内部实现如下</a:t>
            </a:r>
            <a:r>
              <a:rPr lang="en-US" altLang="zh-CN" sz="2400" b="1" dirty="0"/>
              <a:t>:</a:t>
            </a:r>
            <a:endParaRPr lang="en-US" altLang="zh-CN" sz="2400" b="1" dirty="0"/>
          </a:p>
          <a:p>
            <a:pPr lvl="1">
              <a:buFont typeface="Wingdings" panose="05000000000000000000" pitchFamily="2" charset="2"/>
              <a:buNone/>
            </a:pPr>
            <a:r>
              <a:rPr lang="zh-CN" altLang="en-US" sz="2200" b="1" dirty="0">
                <a:solidFill>
                  <a:srgbClr val="FF0000"/>
                </a:solidFill>
              </a:rPr>
              <a:t>（</a:t>
            </a:r>
            <a:r>
              <a:rPr lang="en-US" altLang="zh-CN" sz="2200" b="1" dirty="0">
                <a:solidFill>
                  <a:srgbClr val="FF0000"/>
                </a:solidFill>
              </a:rPr>
              <a:t>a</a:t>
            </a:r>
            <a:r>
              <a:rPr lang="zh-CN" altLang="en-US" sz="2200" b="1" dirty="0">
                <a:solidFill>
                  <a:srgbClr val="FF0000"/>
                </a:solidFill>
              </a:rPr>
              <a:t>）</a:t>
            </a:r>
            <a:r>
              <a:rPr lang="zh-CN" altLang="en-US" sz="2200" b="1" dirty="0"/>
              <a:t>若函数需要返回值，将其值保存到</a:t>
            </a:r>
            <a:r>
              <a:rPr lang="zh-CN" altLang="en-US" sz="2200" b="1" dirty="0">
                <a:solidFill>
                  <a:srgbClr val="FF0000"/>
                </a:solidFill>
              </a:rPr>
              <a:t>回传变量</a:t>
            </a:r>
            <a:r>
              <a:rPr lang="zh-CN" altLang="en-US" sz="2200" b="1" dirty="0"/>
              <a:t>中。</a:t>
            </a:r>
            <a:endParaRPr lang="zh-CN" altLang="en-US" sz="2200" b="1" dirty="0"/>
          </a:p>
          <a:p>
            <a:pPr lvl="1">
              <a:buFont typeface="Wingdings" panose="05000000000000000000" pitchFamily="2" charset="2"/>
              <a:buNone/>
            </a:pPr>
            <a:r>
              <a:rPr lang="zh-CN" altLang="en-US" sz="2200" b="1" dirty="0">
                <a:solidFill>
                  <a:srgbClr val="FF0000"/>
                </a:solidFill>
              </a:rPr>
              <a:t>（</a:t>
            </a:r>
            <a:r>
              <a:rPr lang="en-US" altLang="zh-CN" sz="2200" b="1" dirty="0">
                <a:solidFill>
                  <a:srgbClr val="FF0000"/>
                </a:solidFill>
              </a:rPr>
              <a:t>b</a:t>
            </a:r>
            <a:r>
              <a:rPr lang="zh-CN" altLang="en-US" sz="2200" b="1" dirty="0">
                <a:solidFill>
                  <a:srgbClr val="FF0000"/>
                </a:solidFill>
              </a:rPr>
              <a:t>）</a:t>
            </a:r>
            <a:r>
              <a:rPr lang="zh-CN" altLang="en-US" sz="2200" b="1" dirty="0"/>
              <a:t>从栈顶取出返回地址，并退栈</a:t>
            </a:r>
            <a:endParaRPr lang="zh-CN" altLang="en-US" sz="2200" b="1" dirty="0"/>
          </a:p>
          <a:p>
            <a:pPr lvl="1">
              <a:buFont typeface="Wingdings" panose="05000000000000000000" pitchFamily="2" charset="2"/>
              <a:buNone/>
            </a:pPr>
            <a:r>
              <a:rPr lang="zh-CN" altLang="en-US" sz="2200" b="1" dirty="0"/>
              <a:t>          </a:t>
            </a:r>
            <a:r>
              <a:rPr lang="en-US" altLang="zh-CN" sz="2200" b="1" dirty="0"/>
              <a:t>----</a:t>
            </a:r>
            <a:r>
              <a:rPr lang="zh-CN" altLang="en-US" sz="2200" b="1" dirty="0"/>
              <a:t>同时撤消被调层子程序的局部变量及形参。</a:t>
            </a:r>
            <a:endParaRPr lang="zh-CN" altLang="en-US" sz="2200" b="1" dirty="0"/>
          </a:p>
          <a:p>
            <a:pPr lvl="1">
              <a:buFont typeface="Wingdings" panose="05000000000000000000" pitchFamily="2" charset="2"/>
              <a:buNone/>
            </a:pPr>
            <a:r>
              <a:rPr lang="zh-CN" altLang="en-US" sz="2200" b="1" dirty="0">
                <a:solidFill>
                  <a:srgbClr val="FF0000"/>
                </a:solidFill>
              </a:rPr>
              <a:t>（</a:t>
            </a:r>
            <a:r>
              <a:rPr lang="en-US" altLang="zh-CN" sz="2200" b="1" dirty="0">
                <a:solidFill>
                  <a:srgbClr val="FF0000"/>
                </a:solidFill>
              </a:rPr>
              <a:t>c</a:t>
            </a:r>
            <a:r>
              <a:rPr lang="zh-CN" altLang="en-US" sz="2200" b="1" dirty="0">
                <a:solidFill>
                  <a:srgbClr val="FF0000"/>
                </a:solidFill>
              </a:rPr>
              <a:t>）</a:t>
            </a:r>
            <a:r>
              <a:rPr lang="zh-CN" altLang="en-US" sz="2200" b="1" dirty="0"/>
              <a:t>按返回地址返回。</a:t>
            </a:r>
            <a:endParaRPr lang="zh-CN" altLang="en-US" sz="2200" b="1" dirty="0"/>
          </a:p>
          <a:p>
            <a:pPr lvl="1">
              <a:buFont typeface="Wingdings" panose="05000000000000000000" pitchFamily="2" charset="2"/>
              <a:buNone/>
            </a:pPr>
            <a:r>
              <a:rPr lang="zh-CN" altLang="en-US" sz="2200" b="1" dirty="0">
                <a:solidFill>
                  <a:srgbClr val="FF0000"/>
                </a:solidFill>
              </a:rPr>
              <a:t>（</a:t>
            </a:r>
            <a:r>
              <a:rPr lang="en-US" altLang="zh-CN" sz="2200" b="1" dirty="0">
                <a:solidFill>
                  <a:srgbClr val="FF0000"/>
                </a:solidFill>
              </a:rPr>
              <a:t>d</a:t>
            </a:r>
            <a:r>
              <a:rPr lang="zh-CN" altLang="en-US" sz="2200" b="1" dirty="0">
                <a:solidFill>
                  <a:srgbClr val="FF0000"/>
                </a:solidFill>
              </a:rPr>
              <a:t>）</a:t>
            </a:r>
            <a:r>
              <a:rPr lang="zh-CN" altLang="en-US" sz="2200" b="1" dirty="0"/>
              <a:t>在返回后自动执行如下操作：</a:t>
            </a:r>
            <a:endParaRPr lang="zh-CN" altLang="en-US" sz="2200" b="1" dirty="0"/>
          </a:p>
          <a:p>
            <a:pPr lvl="1">
              <a:buFont typeface="Wingdings" panose="05000000000000000000" pitchFamily="2" charset="2"/>
              <a:buNone/>
            </a:pPr>
            <a:r>
              <a:rPr lang="zh-CN" altLang="en-US" sz="2200" b="1" dirty="0"/>
              <a:t>          若函数需要返回值，从回传变量中取出所保存的值</a:t>
            </a:r>
            <a:r>
              <a:rPr lang="en-US" altLang="zh-CN" sz="2200" b="1" dirty="0"/>
              <a:t>,</a:t>
            </a:r>
            <a:r>
              <a:rPr lang="zh-CN" altLang="en-US" sz="2200" b="1" dirty="0"/>
              <a:t>并传 </a:t>
            </a:r>
            <a:endParaRPr lang="en-US" altLang="zh-CN" sz="2200" b="1" dirty="0"/>
          </a:p>
          <a:p>
            <a:pPr lvl="1">
              <a:buFont typeface="Wingdings" panose="05000000000000000000" pitchFamily="2" charset="2"/>
              <a:buNone/>
            </a:pPr>
            <a:r>
              <a:rPr lang="en-US" altLang="zh-CN" sz="2200" b="1" dirty="0"/>
              <a:t>          </a:t>
            </a:r>
            <a:r>
              <a:rPr lang="zh-CN" altLang="en-US" sz="2200" b="1" dirty="0"/>
              <a:t>送到相应的实变参或位置上。</a:t>
            </a:r>
            <a:endParaRPr lang="zh-CN" altLang="en-US" sz="2200" b="1" dirty="0"/>
          </a:p>
          <a:p>
            <a:endParaRPr lang="zh-CN" altLang="en-US" dirty="0"/>
          </a:p>
        </p:txBody>
      </p:sp>
      <p:grpSp>
        <p:nvGrpSpPr>
          <p:cNvPr id="6" name="组合 114"/>
          <p:cNvGrpSpPr/>
          <p:nvPr/>
        </p:nvGrpSpPr>
        <p:grpSpPr>
          <a:xfrm>
            <a:off x="493395" y="105077"/>
            <a:ext cx="6505435" cy="679778"/>
            <a:chOff x="933887" y="3363717"/>
            <a:chExt cx="6505435" cy="679778"/>
          </a:xfrm>
        </p:grpSpPr>
        <p:grpSp>
          <p:nvGrpSpPr>
            <p:cNvPr id="7" name="组合 105"/>
            <p:cNvGrpSpPr/>
            <p:nvPr/>
          </p:nvGrpSpPr>
          <p:grpSpPr>
            <a:xfrm>
              <a:off x="933887" y="3363717"/>
              <a:ext cx="6505435" cy="679778"/>
              <a:chOff x="933887" y="3363717"/>
              <a:chExt cx="6505435" cy="679778"/>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214282"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7.3 </a:t>
                </a:r>
                <a:r>
                  <a:rPr lang="zh-CN" altLang="en-US" sz="3600" b="1" dirty="0">
                    <a:latin typeface="Times New Roman" panose="02020603050405020304" pitchFamily="18" charset="0"/>
                    <a:ea typeface="黑体" panose="02010609060101010101" pitchFamily="49" charset="-122"/>
                  </a:rPr>
                  <a:t>递归的内部实现原理</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descr="12.jpg"/>
            <p:cNvPicPr>
              <a:picLocks noChangeAspect="1"/>
            </p:cNvPicPr>
            <p:nvPr/>
          </p:nvPicPr>
          <p:blipFill>
            <a:blip r:embed="rId1" cstate="print"/>
            <a:stretch>
              <a:fillRect/>
            </a:stretch>
          </p:blipFill>
          <p:spPr>
            <a:xfrm>
              <a:off x="1115929" y="3530600"/>
              <a:ext cx="446172" cy="431048"/>
            </a:xfrm>
            <a:prstGeom prst="rect">
              <a:avLst/>
            </a:prstGeom>
          </p:spPr>
        </p:pic>
      </p:grpSp>
      <p:grpSp>
        <p:nvGrpSpPr>
          <p:cNvPr id="2" name="组合 1"/>
          <p:cNvGrpSpPr/>
          <p:nvPr/>
        </p:nvGrpSpPr>
        <p:grpSpPr>
          <a:xfrm>
            <a:off x="5398251" y="4149080"/>
            <a:ext cx="3201157" cy="1802483"/>
            <a:chOff x="5398251" y="4237562"/>
            <a:chExt cx="3201157" cy="1802483"/>
          </a:xfrm>
        </p:grpSpPr>
        <p:sp>
          <p:nvSpPr>
            <p:cNvPr id="11" name="文本框 10"/>
            <p:cNvSpPr txBox="1">
              <a:spLocks noChangeArrowheads="1"/>
            </p:cNvSpPr>
            <p:nvPr/>
          </p:nvSpPr>
          <p:spPr bwMode="auto">
            <a:xfrm>
              <a:off x="5842198" y="4870391"/>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(d)</a:t>
              </a:r>
              <a:endParaRPr lang="en-US" altLang="zh-CN" dirty="0">
                <a:latin typeface="Arial" panose="020B0604020202020204" pitchFamily="34" charset="0"/>
                <a:ea typeface="宋体" panose="02010600030101010101" pitchFamily="2" charset="-122"/>
              </a:endParaRPr>
            </a:p>
          </p:txBody>
        </p:sp>
        <p:sp>
          <p:nvSpPr>
            <p:cNvPr id="12" name="文本框 11"/>
            <p:cNvSpPr txBox="1">
              <a:spLocks noChangeArrowheads="1"/>
            </p:cNvSpPr>
            <p:nvPr/>
          </p:nvSpPr>
          <p:spPr bwMode="auto">
            <a:xfrm>
              <a:off x="6325662" y="5268814"/>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(c)</a:t>
              </a:r>
              <a:endParaRPr lang="en-US" altLang="zh-CN" dirty="0">
                <a:latin typeface="Arial" panose="020B0604020202020204" pitchFamily="34" charset="0"/>
                <a:ea typeface="宋体" panose="02010600030101010101" pitchFamily="2" charset="-122"/>
              </a:endParaRPr>
            </a:p>
          </p:txBody>
        </p:sp>
        <p:sp>
          <p:nvSpPr>
            <p:cNvPr id="13" name="文本框 12"/>
            <p:cNvSpPr txBox="1">
              <a:spLocks noChangeArrowheads="1"/>
            </p:cNvSpPr>
            <p:nvPr/>
          </p:nvSpPr>
          <p:spPr bwMode="auto">
            <a:xfrm>
              <a:off x="7718990" y="5310206"/>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(a)</a:t>
              </a:r>
              <a:endParaRPr lang="en-US" altLang="zh-CN" dirty="0">
                <a:latin typeface="Arial" panose="020B0604020202020204" pitchFamily="34" charset="0"/>
                <a:ea typeface="宋体" panose="02010600030101010101" pitchFamily="2" charset="-122"/>
              </a:endParaRPr>
            </a:p>
          </p:txBody>
        </p:sp>
        <p:sp>
          <p:nvSpPr>
            <p:cNvPr id="14" name="文本框 13"/>
            <p:cNvSpPr txBox="1">
              <a:spLocks noChangeArrowheads="1"/>
            </p:cNvSpPr>
            <p:nvPr/>
          </p:nvSpPr>
          <p:spPr bwMode="auto">
            <a:xfrm>
              <a:off x="7532707" y="5673333"/>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(b)</a:t>
              </a:r>
              <a:endParaRPr lang="en-US" altLang="zh-CN" dirty="0">
                <a:latin typeface="Arial" panose="020B0604020202020204" pitchFamily="34" charset="0"/>
                <a:ea typeface="宋体" panose="02010600030101010101" pitchFamily="2" charset="-122"/>
              </a:endParaRPr>
            </a:p>
          </p:txBody>
        </p:sp>
        <p:grpSp>
          <p:nvGrpSpPr>
            <p:cNvPr id="15" name="组合 14"/>
            <p:cNvGrpSpPr/>
            <p:nvPr/>
          </p:nvGrpSpPr>
          <p:grpSpPr>
            <a:xfrm>
              <a:off x="5398251" y="4237562"/>
              <a:ext cx="3201157" cy="1458714"/>
              <a:chOff x="5219700" y="2684739"/>
              <a:chExt cx="3201157" cy="1458714"/>
            </a:xfrm>
          </p:grpSpPr>
          <p:sp>
            <p:nvSpPr>
              <p:cNvPr id="16" name="文本框 15"/>
              <p:cNvSpPr txBox="1">
                <a:spLocks noChangeArrowheads="1"/>
              </p:cNvSpPr>
              <p:nvPr/>
            </p:nvSpPr>
            <p:spPr bwMode="auto">
              <a:xfrm>
                <a:off x="7341357" y="3202075"/>
                <a:ext cx="1079500" cy="369332"/>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eaLnBrk="0" hangingPunct="0">
                  <a:spcBef>
                    <a:spcPct val="50000"/>
                  </a:spcBef>
                </a:pPr>
                <a:r>
                  <a:rPr lang="zh-CN" altLang="en-US" dirty="0">
                    <a:latin typeface="Times New Roman" panose="02020603050405020304" pitchFamily="18" charset="0"/>
                    <a:ea typeface="宋体" panose="02010600030101010101" pitchFamily="2" charset="-122"/>
                  </a:rPr>
                  <a:t>子程序</a:t>
                </a:r>
                <a:r>
                  <a:rPr lang="en-US" altLang="zh-CN" dirty="0">
                    <a:latin typeface="Times New Roman" panose="02020603050405020304" pitchFamily="18" charset="0"/>
                    <a:ea typeface="宋体" panose="02010600030101010101" pitchFamily="2" charset="-122"/>
                  </a:rPr>
                  <a:t>B</a:t>
                </a:r>
                <a:endParaRPr lang="en-US" altLang="zh-CN" dirty="0">
                  <a:latin typeface="Times New Roman" panose="02020603050405020304" pitchFamily="18" charset="0"/>
                  <a:ea typeface="宋体" panose="02010600030101010101" pitchFamily="2" charset="-122"/>
                </a:endParaRPr>
              </a:p>
            </p:txBody>
          </p:sp>
          <p:sp>
            <p:nvSpPr>
              <p:cNvPr id="17" name="文本框 16"/>
              <p:cNvSpPr txBox="1">
                <a:spLocks noChangeArrowheads="1"/>
              </p:cNvSpPr>
              <p:nvPr/>
            </p:nvSpPr>
            <p:spPr bwMode="auto">
              <a:xfrm>
                <a:off x="5219700" y="2857396"/>
                <a:ext cx="1079500" cy="369332"/>
              </a:xfrm>
              <a:prstGeom prst="rect">
                <a:avLst/>
              </a:prstGeom>
              <a:solidFill>
                <a:srgbClr val="FFCC00"/>
              </a:solidFill>
              <a:ln w="28575">
                <a:solidFill>
                  <a:srgbClr val="FFC000"/>
                </a:solidFill>
                <a:miter lim="800000"/>
              </a:ln>
            </p:spPr>
            <p:txBody>
              <a:bodyPr>
                <a:spAutoFit/>
              </a:bodyPr>
              <a:lstStyle/>
              <a:p>
                <a:pPr algn="ctr" eaLnBrk="0" hangingPunct="0">
                  <a:spcBef>
                    <a:spcPct val="50000"/>
                  </a:spcBef>
                </a:pPr>
                <a:r>
                  <a:rPr lang="en-US" altLang="zh-CN" dirty="0">
                    <a:latin typeface="Times New Roman" panose="02020603050405020304" pitchFamily="18" charset="0"/>
                    <a:ea typeface="宋体" panose="02010600030101010101" pitchFamily="2" charset="-122"/>
                  </a:rPr>
                  <a:t>Call B</a:t>
                </a:r>
                <a:endParaRPr lang="en-US" altLang="zh-CN" dirty="0">
                  <a:latin typeface="Times New Roman" panose="02020603050405020304" pitchFamily="18" charset="0"/>
                  <a:ea typeface="宋体" panose="02010600030101010101" pitchFamily="2" charset="-122"/>
                </a:endParaRPr>
              </a:p>
            </p:txBody>
          </p:sp>
          <p:grpSp>
            <p:nvGrpSpPr>
              <p:cNvPr id="18" name="组合 17"/>
              <p:cNvGrpSpPr/>
              <p:nvPr/>
            </p:nvGrpSpPr>
            <p:grpSpPr>
              <a:xfrm>
                <a:off x="6316452" y="2684739"/>
                <a:ext cx="1628500" cy="517336"/>
                <a:chOff x="6316452" y="2625523"/>
                <a:chExt cx="1628500" cy="517336"/>
              </a:xfrm>
            </p:grpSpPr>
            <p:cxnSp>
              <p:nvCxnSpPr>
                <p:cNvPr id="21" name="直接连接符 20"/>
                <p:cNvCxnSpPr/>
                <p:nvPr/>
              </p:nvCxnSpPr>
              <p:spPr>
                <a:xfrm flipV="1">
                  <a:off x="6316452" y="2625523"/>
                  <a:ext cx="1628500" cy="29468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a:off x="7740352" y="2625523"/>
                  <a:ext cx="204600" cy="51733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9" name="直接箭头连接符 18"/>
              <p:cNvCxnSpPr/>
              <p:nvPr/>
            </p:nvCxnSpPr>
            <p:spPr>
              <a:xfrm flipH="1">
                <a:off x="7338168" y="3571407"/>
                <a:ext cx="281832" cy="572046"/>
              </a:xfrm>
              <a:prstGeom prst="straightConnector1">
                <a:avLst/>
              </a:prstGeom>
              <a:ln w="2222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flipV="1">
                <a:off x="6314536" y="3225110"/>
                <a:ext cx="1023632" cy="918343"/>
              </a:xfrm>
              <a:prstGeom prst="line">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6250191" y="4826662"/>
              <a:ext cx="1706744" cy="1155008"/>
              <a:chOff x="6650730" y="1828892"/>
              <a:chExt cx="1706744" cy="1155008"/>
            </a:xfrm>
          </p:grpSpPr>
          <p:cxnSp>
            <p:nvCxnSpPr>
              <p:cNvPr id="24" name="直接连接符 23"/>
              <p:cNvCxnSpPr/>
              <p:nvPr/>
            </p:nvCxnSpPr>
            <p:spPr>
              <a:xfrm flipH="1">
                <a:off x="7952104" y="2178255"/>
                <a:ext cx="405370" cy="805645"/>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flipV="1">
                <a:off x="6650730" y="1828892"/>
                <a:ext cx="1301374" cy="1155008"/>
              </a:xfrm>
              <a:prstGeom prst="straightConnector1">
                <a:avLst/>
              </a:prstGeom>
              <a:ln w="19050">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grpSp>
      </p:grpSp>
      <p:sp>
        <p:nvSpPr>
          <p:cNvPr id="3" name="页脚占位符 2"/>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blinds(horizontal)">
                                      <p:cBhvr>
                                        <p:cTn id="7" dur="500"/>
                                        <p:tgtEl>
                                          <p:spTgt spid="14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4339">
                                            <p:txEl>
                                              <p:pRg st="1" end="1"/>
                                            </p:txEl>
                                          </p:spTgt>
                                        </p:tgtEl>
                                        <p:attrNameLst>
                                          <p:attrName>style.visibility</p:attrName>
                                        </p:attrNameLst>
                                      </p:cBhvr>
                                      <p:to>
                                        <p:strVal val="visible"/>
                                      </p:to>
                                    </p:set>
                                    <p:animEffect transition="in" filter="blinds(horizontal)">
                                      <p:cBhvr>
                                        <p:cTn id="18" dur="500"/>
                                        <p:tgtEl>
                                          <p:spTgt spid="14339">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4339">
                                            <p:txEl>
                                              <p:pRg st="2" end="2"/>
                                            </p:txEl>
                                          </p:spTgt>
                                        </p:tgtEl>
                                        <p:attrNameLst>
                                          <p:attrName>style.visibility</p:attrName>
                                        </p:attrNameLst>
                                      </p:cBhvr>
                                      <p:to>
                                        <p:strVal val="visible"/>
                                      </p:to>
                                    </p:set>
                                    <p:animEffect transition="in" filter="blinds(horizontal)">
                                      <p:cBhvr>
                                        <p:cTn id="23" dur="500"/>
                                        <p:tgtEl>
                                          <p:spTgt spid="14339">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4339">
                                            <p:txEl>
                                              <p:pRg st="3" end="3"/>
                                            </p:txEl>
                                          </p:spTgt>
                                        </p:tgtEl>
                                        <p:attrNameLst>
                                          <p:attrName>style.visibility</p:attrName>
                                        </p:attrNameLst>
                                      </p:cBhvr>
                                      <p:to>
                                        <p:strVal val="visible"/>
                                      </p:to>
                                    </p:set>
                                    <p:animEffect transition="in" filter="blinds(horizontal)">
                                      <p:cBhvr>
                                        <p:cTn id="28" dur="500"/>
                                        <p:tgtEl>
                                          <p:spTgt spid="14339">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4339">
                                            <p:txEl>
                                              <p:pRg st="4" end="4"/>
                                            </p:txEl>
                                          </p:spTgt>
                                        </p:tgtEl>
                                        <p:attrNameLst>
                                          <p:attrName>style.visibility</p:attrName>
                                        </p:attrNameLst>
                                      </p:cBhvr>
                                      <p:to>
                                        <p:strVal val="visible"/>
                                      </p:to>
                                    </p:set>
                                    <p:animEffect transition="in" filter="blinds(horizontal)">
                                      <p:cBhvr>
                                        <p:cTn id="33" dur="500"/>
                                        <p:tgtEl>
                                          <p:spTgt spid="14339">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4339">
                                            <p:txEl>
                                              <p:pRg st="5" end="5"/>
                                            </p:txEl>
                                          </p:spTgt>
                                        </p:tgtEl>
                                        <p:attrNameLst>
                                          <p:attrName>style.visibility</p:attrName>
                                        </p:attrNameLst>
                                      </p:cBhvr>
                                      <p:to>
                                        <p:strVal val="visible"/>
                                      </p:to>
                                    </p:set>
                                    <p:animEffect transition="in" filter="blinds(horizontal)">
                                      <p:cBhvr>
                                        <p:cTn id="38" dur="500"/>
                                        <p:tgtEl>
                                          <p:spTgt spid="14339">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4339">
                                            <p:txEl>
                                              <p:pRg st="6" end="6"/>
                                            </p:txEl>
                                          </p:spTgt>
                                        </p:tgtEl>
                                        <p:attrNameLst>
                                          <p:attrName>style.visibility</p:attrName>
                                        </p:attrNameLst>
                                      </p:cBhvr>
                                      <p:to>
                                        <p:strVal val="visible"/>
                                      </p:to>
                                    </p:set>
                                    <p:animEffect transition="in" filter="blinds(horizontal)">
                                      <p:cBhvr>
                                        <p:cTn id="43" dur="500"/>
                                        <p:tgtEl>
                                          <p:spTgt spid="14339">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4339">
                                            <p:txEl>
                                              <p:pRg st="7" end="7"/>
                                            </p:txEl>
                                          </p:spTgt>
                                        </p:tgtEl>
                                        <p:attrNameLst>
                                          <p:attrName>style.visibility</p:attrName>
                                        </p:attrNameLst>
                                      </p:cBhvr>
                                      <p:to>
                                        <p:strVal val="visible"/>
                                      </p:to>
                                    </p:set>
                                    <p:animEffect transition="in" filter="blinds(horizontal)">
                                      <p:cBhvr>
                                        <p:cTn id="48" dur="500"/>
                                        <p:tgtEl>
                                          <p:spTgt spid="1433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内容占位符 15362"/>
          <p:cNvSpPr>
            <a:spLocks noGrp="1" noChangeArrowheads="1"/>
          </p:cNvSpPr>
          <p:nvPr>
            <p:ph idx="1"/>
          </p:nvPr>
        </p:nvSpPr>
        <p:spPr>
          <a:xfrm>
            <a:off x="457200" y="1052737"/>
            <a:ext cx="8229600" cy="5040560"/>
          </a:xfrm>
        </p:spPr>
        <p:txBody>
          <a:bodyPr/>
          <a:lstStyle/>
          <a:p>
            <a:pPr>
              <a:buClr>
                <a:srgbClr val="FF0000"/>
              </a:buClr>
              <a:buFont typeface="Wingdings" panose="05000000000000000000" pitchFamily="2" charset="2"/>
              <a:buChar char="ü"/>
            </a:pPr>
            <a:r>
              <a:rPr lang="zh-CN" altLang="en-US" sz="2400" b="1" dirty="0">
                <a:solidFill>
                  <a:srgbClr val="FF0000"/>
                </a:solidFill>
              </a:rPr>
              <a:t>例</a:t>
            </a:r>
            <a:r>
              <a:rPr lang="zh-CN" altLang="en-US" sz="2400" b="1" dirty="0"/>
              <a:t>：根据递归程序的内部实现过程，</a:t>
            </a:r>
            <a:endParaRPr lang="en-US" altLang="zh-CN" sz="2400" b="1" dirty="0"/>
          </a:p>
          <a:p>
            <a:pPr marL="0" indent="0">
              <a:buClr>
                <a:srgbClr val="FF0000"/>
              </a:buClr>
              <a:buNone/>
            </a:pPr>
            <a:r>
              <a:rPr lang="en-US" altLang="zh-CN" sz="2400" b="1" dirty="0"/>
              <a:t>             </a:t>
            </a:r>
            <a:r>
              <a:rPr lang="zh-CN" altLang="en-US" sz="2400" b="1" dirty="0"/>
              <a:t>求解</a:t>
            </a:r>
            <a:r>
              <a:rPr lang="en-US" altLang="zh-CN" sz="2400" b="1" dirty="0"/>
              <a:t>return </a:t>
            </a:r>
            <a:r>
              <a:rPr lang="en-US" altLang="zh-CN" sz="2400" b="1" dirty="0" err="1"/>
              <a:t>hcf</a:t>
            </a:r>
            <a:r>
              <a:rPr lang="en-US" altLang="zh-CN" sz="2400" b="1" dirty="0"/>
              <a:t>(28,6)</a:t>
            </a:r>
            <a:r>
              <a:rPr lang="zh-CN" altLang="en-US" sz="2400" b="1" dirty="0"/>
              <a:t>的执行结果。</a:t>
            </a:r>
            <a:endParaRPr lang="zh-CN" altLang="en-US" sz="2400" b="1" dirty="0"/>
          </a:p>
          <a:p>
            <a:pPr>
              <a:buFont typeface="Wingdings" panose="05000000000000000000" pitchFamily="2" charset="2"/>
              <a:buNone/>
            </a:pPr>
            <a:r>
              <a:rPr lang="en-US" altLang="zh-CN" sz="2000" b="1" dirty="0"/>
              <a:t>                  </a:t>
            </a:r>
            <a:r>
              <a:rPr lang="en-US" altLang="zh-CN" sz="2000" b="1" dirty="0" err="1">
                <a:solidFill>
                  <a:srgbClr val="0000FF"/>
                </a:solidFill>
              </a:rPr>
              <a:t>int</a:t>
            </a:r>
            <a:r>
              <a:rPr lang="en-US" altLang="zh-CN" sz="2000" b="1" dirty="0"/>
              <a:t>  </a:t>
            </a:r>
            <a:r>
              <a:rPr lang="en-US" altLang="zh-CN" sz="2000" b="1" dirty="0" err="1"/>
              <a:t>Hcf</a:t>
            </a:r>
            <a:r>
              <a:rPr lang="en-US" altLang="zh-CN" sz="2000" b="1" dirty="0"/>
              <a:t>(</a:t>
            </a:r>
            <a:r>
              <a:rPr lang="en-US" altLang="zh-CN" sz="2000" b="1" dirty="0" err="1">
                <a:solidFill>
                  <a:srgbClr val="0000FF"/>
                </a:solidFill>
              </a:rPr>
              <a:t>int</a:t>
            </a:r>
            <a:r>
              <a:rPr lang="en-US" altLang="zh-CN" sz="2000" b="1" dirty="0"/>
              <a:t> </a:t>
            </a:r>
            <a:r>
              <a:rPr lang="en-US" altLang="zh-CN" sz="2000" b="1" i="1" dirty="0"/>
              <a:t>M</a:t>
            </a:r>
            <a:r>
              <a:rPr lang="en-US" altLang="zh-CN" sz="2000" b="1" dirty="0"/>
              <a:t>, </a:t>
            </a:r>
            <a:r>
              <a:rPr lang="en-US" altLang="zh-CN" sz="2000" b="1" dirty="0" err="1">
                <a:solidFill>
                  <a:srgbClr val="0000FF"/>
                </a:solidFill>
              </a:rPr>
              <a:t>int</a:t>
            </a:r>
            <a:r>
              <a:rPr lang="en-US" altLang="zh-CN" sz="2000" b="1" dirty="0"/>
              <a:t> </a:t>
            </a:r>
            <a:r>
              <a:rPr lang="en-US" altLang="zh-CN" sz="2000" b="1" i="1" dirty="0"/>
              <a:t>N</a:t>
            </a:r>
            <a:r>
              <a:rPr lang="en-US" altLang="zh-CN" sz="2000" b="1" dirty="0"/>
              <a:t>) {</a:t>
            </a:r>
            <a:endParaRPr lang="en-US" altLang="zh-CN" sz="2000" b="1" dirty="0"/>
          </a:p>
          <a:p>
            <a:pPr>
              <a:buFont typeface="Wingdings" panose="05000000000000000000" pitchFamily="2" charset="2"/>
              <a:buNone/>
            </a:pPr>
            <a:r>
              <a:rPr lang="en-US" altLang="zh-CN" sz="2000" b="1" dirty="0"/>
              <a:t>           (1)      </a:t>
            </a:r>
            <a:r>
              <a:rPr lang="en-US" altLang="zh-CN" sz="2000" b="1" dirty="0">
                <a:solidFill>
                  <a:srgbClr val="0000FF"/>
                </a:solidFill>
              </a:rPr>
              <a:t>if</a:t>
            </a:r>
            <a:r>
              <a:rPr lang="en-US" altLang="zh-CN" sz="2000" b="1" dirty="0"/>
              <a:t> ( </a:t>
            </a:r>
            <a:r>
              <a:rPr lang="en-US" altLang="zh-CN" sz="2000" b="1" i="1" dirty="0"/>
              <a:t>N</a:t>
            </a:r>
            <a:r>
              <a:rPr lang="en-US" altLang="zh-CN" sz="2000" b="1" dirty="0"/>
              <a:t>==0) { </a:t>
            </a:r>
            <a:endParaRPr lang="en-US" altLang="zh-CN" sz="2000" b="1" dirty="0"/>
          </a:p>
          <a:p>
            <a:pPr>
              <a:buFont typeface="Wingdings" panose="05000000000000000000" pitchFamily="2" charset="2"/>
              <a:buNone/>
            </a:pPr>
            <a:r>
              <a:rPr lang="en-US" altLang="zh-CN" sz="2000" b="1" dirty="0"/>
              <a:t>           (2)           </a:t>
            </a:r>
            <a:r>
              <a:rPr lang="en-US" altLang="zh-CN" sz="2000" b="1" dirty="0" err="1">
                <a:solidFill>
                  <a:srgbClr val="0000FF"/>
                </a:solidFill>
              </a:rPr>
              <a:t>cout</a:t>
            </a:r>
            <a:r>
              <a:rPr lang="en-US" altLang="zh-CN" sz="2000" b="1" dirty="0"/>
              <a:t>&lt;&lt;</a:t>
            </a:r>
            <a:r>
              <a:rPr lang="en-US" altLang="zh-CN" sz="2000" b="1" i="1" dirty="0"/>
              <a:t>M</a:t>
            </a:r>
            <a:r>
              <a:rPr lang="en-US" altLang="zh-CN" sz="2000" b="1" dirty="0"/>
              <a:t>;  </a:t>
            </a:r>
            <a:r>
              <a:rPr lang="en-US" altLang="zh-CN" sz="2000" b="1" dirty="0">
                <a:solidFill>
                  <a:srgbClr val="0000FF"/>
                </a:solidFill>
              </a:rPr>
              <a:t>return</a:t>
            </a:r>
            <a:r>
              <a:rPr lang="en-US" altLang="zh-CN" sz="2000" b="1" dirty="0"/>
              <a:t> </a:t>
            </a:r>
            <a:r>
              <a:rPr lang="en-US" altLang="zh-CN" sz="2000" b="1" i="1" dirty="0"/>
              <a:t>M</a:t>
            </a:r>
            <a:r>
              <a:rPr lang="en-US" altLang="zh-CN" sz="2000" b="1" dirty="0"/>
              <a:t>; } </a:t>
            </a:r>
            <a:endParaRPr lang="en-US" altLang="zh-CN" sz="2000" b="1" dirty="0"/>
          </a:p>
          <a:p>
            <a:pPr>
              <a:buFont typeface="Wingdings" panose="05000000000000000000" pitchFamily="2" charset="2"/>
              <a:buNone/>
            </a:pPr>
            <a:r>
              <a:rPr lang="en-US" altLang="zh-CN" sz="2000" b="1" dirty="0"/>
              <a:t>           (3)      </a:t>
            </a:r>
            <a:r>
              <a:rPr lang="en-US" altLang="zh-CN" sz="2000" b="1" dirty="0">
                <a:solidFill>
                  <a:srgbClr val="0000FF"/>
                </a:solidFill>
              </a:rPr>
              <a:t>else return </a:t>
            </a:r>
            <a:r>
              <a:rPr lang="en-US" altLang="zh-CN" sz="2000" b="1" dirty="0" err="1"/>
              <a:t>Hcf</a:t>
            </a:r>
            <a:r>
              <a:rPr lang="en-US" altLang="zh-CN" sz="2000" b="1" dirty="0"/>
              <a:t>(</a:t>
            </a:r>
            <a:r>
              <a:rPr lang="en-US" altLang="zh-CN" sz="2000" b="1" i="1" dirty="0"/>
              <a:t>N</a:t>
            </a:r>
            <a:r>
              <a:rPr lang="en-US" altLang="zh-CN" sz="2000" b="1" dirty="0"/>
              <a:t>, </a:t>
            </a:r>
            <a:r>
              <a:rPr lang="en-US" altLang="zh-CN" sz="2000" b="1" i="1" dirty="0"/>
              <a:t>M</a:t>
            </a:r>
            <a:r>
              <a:rPr lang="en-US" altLang="zh-CN" sz="2000" b="1" dirty="0"/>
              <a:t> </a:t>
            </a:r>
            <a:r>
              <a:rPr lang="en-US" altLang="zh-CN" sz="2000" b="1" dirty="0">
                <a:solidFill>
                  <a:srgbClr val="FF0000"/>
                </a:solidFill>
              </a:rPr>
              <a:t>%</a:t>
            </a:r>
            <a:r>
              <a:rPr lang="en-US" altLang="zh-CN" sz="2000" b="1" dirty="0"/>
              <a:t> </a:t>
            </a:r>
            <a:r>
              <a:rPr lang="en-US" altLang="zh-CN" sz="2000" b="1" i="1" dirty="0"/>
              <a:t>N</a:t>
            </a:r>
            <a:r>
              <a:rPr lang="en-US" altLang="zh-CN" sz="2000" b="1" dirty="0"/>
              <a:t>);</a:t>
            </a:r>
            <a:endParaRPr lang="en-US" altLang="zh-CN" sz="2000" b="1" dirty="0"/>
          </a:p>
          <a:p>
            <a:pPr>
              <a:buFont typeface="Wingdings" panose="05000000000000000000" pitchFamily="2" charset="2"/>
              <a:buNone/>
            </a:pPr>
            <a:r>
              <a:rPr lang="en-US" altLang="zh-CN" sz="2000" b="1" dirty="0"/>
              <a:t>           (4)  } </a:t>
            </a:r>
            <a:endParaRPr lang="en-US" altLang="zh-CN" sz="2000" b="1" dirty="0"/>
          </a:p>
          <a:p>
            <a:pPr>
              <a:buFont typeface="Wingdings" panose="05000000000000000000" pitchFamily="2" charset="2"/>
              <a:buNone/>
            </a:pPr>
            <a:r>
              <a:rPr lang="zh-CN" altLang="en-US" sz="2000" b="1" dirty="0">
                <a:solidFill>
                  <a:srgbClr val="FF0000"/>
                </a:solidFill>
              </a:rPr>
              <a:t>    解</a:t>
            </a:r>
            <a:r>
              <a:rPr lang="en-US" altLang="zh-CN" sz="2000" b="1" dirty="0"/>
              <a:t>: </a:t>
            </a:r>
            <a:r>
              <a:rPr lang="zh-CN" altLang="en-US" sz="2000" b="1" dirty="0"/>
              <a:t>为便于描述，程序的每一行用其序号标识，用序号０表示最外层 </a:t>
            </a:r>
            <a:endParaRPr lang="en-US" altLang="zh-CN" sz="2000" b="1" dirty="0"/>
          </a:p>
          <a:p>
            <a:pPr>
              <a:buFont typeface="Wingdings" panose="05000000000000000000" pitchFamily="2" charset="2"/>
              <a:buNone/>
            </a:pPr>
            <a:r>
              <a:rPr lang="en-US" altLang="zh-CN" sz="2000" b="1" dirty="0"/>
              <a:t>           </a:t>
            </a:r>
            <a:r>
              <a:rPr lang="zh-CN" altLang="en-US" sz="2000" b="1" dirty="0"/>
              <a:t>调用的下面（即表示返回地址）。执行过程用表</a:t>
            </a:r>
            <a:r>
              <a:rPr lang="en-US" altLang="zh-CN" sz="2000" b="1" dirty="0"/>
              <a:t>6-1</a:t>
            </a:r>
            <a:r>
              <a:rPr lang="zh-CN" altLang="en-US" sz="2000" b="1" dirty="0"/>
              <a:t>表示。</a:t>
            </a:r>
            <a:endParaRPr lang="zh-CN" altLang="en-US" sz="2000" b="1" dirty="0"/>
          </a:p>
          <a:p>
            <a:pPr>
              <a:buFont typeface="Wingdings" panose="05000000000000000000" pitchFamily="2" charset="2"/>
              <a:buNone/>
            </a:pPr>
            <a:r>
              <a:rPr lang="zh-CN" altLang="en-US" sz="2000" b="1" dirty="0"/>
              <a:t>    </a:t>
            </a:r>
            <a:r>
              <a:rPr lang="zh-CN" altLang="en-US" sz="2000" b="1" dirty="0">
                <a:solidFill>
                  <a:srgbClr val="FF0000"/>
                </a:solidFill>
              </a:rPr>
              <a:t>说明</a:t>
            </a:r>
            <a:r>
              <a:rPr lang="en-US" altLang="zh-CN" sz="2000" b="1" dirty="0">
                <a:solidFill>
                  <a:srgbClr val="FF0000"/>
                </a:solidFill>
              </a:rPr>
              <a:t>:</a:t>
            </a:r>
            <a:endParaRPr lang="en-US" altLang="zh-CN" sz="2000" b="1" dirty="0">
              <a:solidFill>
                <a:srgbClr val="FF0000"/>
              </a:solidFill>
            </a:endParaRPr>
          </a:p>
          <a:p>
            <a:pPr>
              <a:buFont typeface="Wingdings" panose="05000000000000000000" pitchFamily="2" charset="2"/>
              <a:buNone/>
            </a:pPr>
            <a:r>
              <a:rPr lang="en-US" altLang="zh-CN" sz="1800" b="1" dirty="0"/>
              <a:t>           </a:t>
            </a:r>
            <a:r>
              <a:rPr lang="zh-CN" altLang="en-US" sz="1800" b="1" dirty="0"/>
              <a:t>后面一些行中最左边的字母序号为接着上一行第三列的内容</a:t>
            </a:r>
            <a:r>
              <a:rPr lang="en-US" altLang="zh-CN" sz="1800" b="1" dirty="0"/>
              <a:t>, </a:t>
            </a:r>
            <a:endParaRPr lang="en-US" altLang="zh-CN" sz="1800" b="1" dirty="0"/>
          </a:p>
          <a:p>
            <a:pPr>
              <a:buFont typeface="Wingdings" panose="05000000000000000000" pitchFamily="2" charset="2"/>
              <a:buNone/>
            </a:pPr>
            <a:r>
              <a:rPr lang="zh-CN" altLang="en-US" sz="1800" b="1" dirty="0"/>
              <a:t>           即表示上一行中调用或返回的余下操作的序号</a:t>
            </a:r>
            <a:r>
              <a:rPr lang="en-US" altLang="zh-CN" sz="1800" b="1" dirty="0"/>
              <a:t>, </a:t>
            </a:r>
            <a:endParaRPr lang="en-US" altLang="zh-CN" sz="1800" b="1" dirty="0"/>
          </a:p>
          <a:p>
            <a:pPr>
              <a:buFont typeface="Wingdings" panose="05000000000000000000" pitchFamily="2" charset="2"/>
              <a:buNone/>
            </a:pPr>
            <a:r>
              <a:rPr lang="zh-CN" altLang="en-US" sz="1800" b="1" dirty="0"/>
              <a:t>           只是出于栈的描述的需要而分开。</a:t>
            </a:r>
            <a:endParaRPr lang="zh-CN" altLang="en-US" sz="1800" b="1" dirty="0"/>
          </a:p>
        </p:txBody>
      </p:sp>
      <p:grpSp>
        <p:nvGrpSpPr>
          <p:cNvPr id="6" name="组合 114"/>
          <p:cNvGrpSpPr/>
          <p:nvPr/>
        </p:nvGrpSpPr>
        <p:grpSpPr>
          <a:xfrm>
            <a:off x="493395" y="105077"/>
            <a:ext cx="6505435" cy="679778"/>
            <a:chOff x="933887" y="3363717"/>
            <a:chExt cx="6505435" cy="679778"/>
          </a:xfrm>
        </p:grpSpPr>
        <p:grpSp>
          <p:nvGrpSpPr>
            <p:cNvPr id="7" name="组合 105"/>
            <p:cNvGrpSpPr/>
            <p:nvPr/>
          </p:nvGrpSpPr>
          <p:grpSpPr>
            <a:xfrm>
              <a:off x="933887" y="3363717"/>
              <a:ext cx="6505435" cy="679778"/>
              <a:chOff x="933887" y="3363717"/>
              <a:chExt cx="6505435" cy="679778"/>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214282"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7.3 </a:t>
                </a:r>
                <a:r>
                  <a:rPr lang="zh-CN" altLang="en-US" sz="3600" b="1" dirty="0">
                    <a:latin typeface="Times New Roman" panose="02020603050405020304" pitchFamily="18" charset="0"/>
                    <a:ea typeface="黑体" panose="02010609060101010101" pitchFamily="49" charset="-122"/>
                  </a:rPr>
                  <a:t>递归的内部实现原理</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descr="12.jpg"/>
            <p:cNvPicPr>
              <a:picLocks noChangeAspect="1"/>
            </p:cNvPicPr>
            <p:nvPr/>
          </p:nvPicPr>
          <p:blipFill>
            <a:blip r:embed="rId1" cstate="print"/>
            <a:stretch>
              <a:fillRect/>
            </a:stretch>
          </p:blipFill>
          <p:spPr>
            <a:xfrm>
              <a:off x="1115929" y="3530600"/>
              <a:ext cx="446172" cy="431048"/>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blinds(horizontal)">
                                      <p:cBhvr>
                                        <p:cTn id="7" dur="500"/>
                                        <p:tgtEl>
                                          <p:spTgt spid="153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363">
                                            <p:txEl>
                                              <p:pRg st="1" end="1"/>
                                            </p:txEl>
                                          </p:spTgt>
                                        </p:tgtEl>
                                        <p:attrNameLst>
                                          <p:attrName>style.visibility</p:attrName>
                                        </p:attrNameLst>
                                      </p:cBhvr>
                                      <p:to>
                                        <p:strVal val="visible"/>
                                      </p:to>
                                    </p:set>
                                    <p:animEffect transition="in" filter="blinds(horizontal)">
                                      <p:cBhvr>
                                        <p:cTn id="12" dur="500"/>
                                        <p:tgtEl>
                                          <p:spTgt spid="153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363">
                                            <p:txEl>
                                              <p:pRg st="2" end="2"/>
                                            </p:txEl>
                                          </p:spTgt>
                                        </p:tgtEl>
                                        <p:attrNameLst>
                                          <p:attrName>style.visibility</p:attrName>
                                        </p:attrNameLst>
                                      </p:cBhvr>
                                      <p:to>
                                        <p:strVal val="visible"/>
                                      </p:to>
                                    </p:set>
                                    <p:animEffect transition="in" filter="blinds(horizontal)">
                                      <p:cBhvr>
                                        <p:cTn id="17" dur="500"/>
                                        <p:tgtEl>
                                          <p:spTgt spid="153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363">
                                            <p:txEl>
                                              <p:pRg st="3" end="3"/>
                                            </p:txEl>
                                          </p:spTgt>
                                        </p:tgtEl>
                                        <p:attrNameLst>
                                          <p:attrName>style.visibility</p:attrName>
                                        </p:attrNameLst>
                                      </p:cBhvr>
                                      <p:to>
                                        <p:strVal val="visible"/>
                                      </p:to>
                                    </p:set>
                                    <p:animEffect transition="in" filter="blinds(horizontal)">
                                      <p:cBhvr>
                                        <p:cTn id="22" dur="500"/>
                                        <p:tgtEl>
                                          <p:spTgt spid="1536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5363">
                                            <p:txEl>
                                              <p:pRg st="4" end="4"/>
                                            </p:txEl>
                                          </p:spTgt>
                                        </p:tgtEl>
                                        <p:attrNameLst>
                                          <p:attrName>style.visibility</p:attrName>
                                        </p:attrNameLst>
                                      </p:cBhvr>
                                      <p:to>
                                        <p:strVal val="visible"/>
                                      </p:to>
                                    </p:set>
                                    <p:animEffect transition="in" filter="blinds(horizontal)">
                                      <p:cBhvr>
                                        <p:cTn id="27" dur="500"/>
                                        <p:tgtEl>
                                          <p:spTgt spid="1536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5363">
                                            <p:txEl>
                                              <p:pRg st="5" end="5"/>
                                            </p:txEl>
                                          </p:spTgt>
                                        </p:tgtEl>
                                        <p:attrNameLst>
                                          <p:attrName>style.visibility</p:attrName>
                                        </p:attrNameLst>
                                      </p:cBhvr>
                                      <p:to>
                                        <p:strVal val="visible"/>
                                      </p:to>
                                    </p:set>
                                    <p:animEffect transition="in" filter="blinds(horizontal)">
                                      <p:cBhvr>
                                        <p:cTn id="32" dur="500"/>
                                        <p:tgtEl>
                                          <p:spTgt spid="1536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5363">
                                            <p:txEl>
                                              <p:pRg st="6" end="6"/>
                                            </p:txEl>
                                          </p:spTgt>
                                        </p:tgtEl>
                                        <p:attrNameLst>
                                          <p:attrName>style.visibility</p:attrName>
                                        </p:attrNameLst>
                                      </p:cBhvr>
                                      <p:to>
                                        <p:strVal val="visible"/>
                                      </p:to>
                                    </p:set>
                                    <p:animEffect transition="in" filter="blinds(horizontal)">
                                      <p:cBhvr>
                                        <p:cTn id="37" dur="500"/>
                                        <p:tgtEl>
                                          <p:spTgt spid="1536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5363">
                                            <p:txEl>
                                              <p:pRg st="7" end="7"/>
                                            </p:txEl>
                                          </p:spTgt>
                                        </p:tgtEl>
                                        <p:attrNameLst>
                                          <p:attrName>style.visibility</p:attrName>
                                        </p:attrNameLst>
                                      </p:cBhvr>
                                      <p:to>
                                        <p:strVal val="visible"/>
                                      </p:to>
                                    </p:set>
                                    <p:animEffect transition="in" filter="blinds(horizontal)">
                                      <p:cBhvr>
                                        <p:cTn id="42" dur="500"/>
                                        <p:tgtEl>
                                          <p:spTgt spid="1536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5363">
                                            <p:txEl>
                                              <p:pRg st="8" end="8"/>
                                            </p:txEl>
                                          </p:spTgt>
                                        </p:tgtEl>
                                        <p:attrNameLst>
                                          <p:attrName>style.visibility</p:attrName>
                                        </p:attrNameLst>
                                      </p:cBhvr>
                                      <p:to>
                                        <p:strVal val="visible"/>
                                      </p:to>
                                    </p:set>
                                    <p:animEffect transition="in" filter="blinds(horizontal)">
                                      <p:cBhvr>
                                        <p:cTn id="47" dur="500"/>
                                        <p:tgtEl>
                                          <p:spTgt spid="1536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5363">
                                            <p:txEl>
                                              <p:pRg st="9" end="9"/>
                                            </p:txEl>
                                          </p:spTgt>
                                        </p:tgtEl>
                                        <p:attrNameLst>
                                          <p:attrName>style.visibility</p:attrName>
                                        </p:attrNameLst>
                                      </p:cBhvr>
                                      <p:to>
                                        <p:strVal val="visible"/>
                                      </p:to>
                                    </p:set>
                                    <p:animEffect transition="in" filter="blinds(horizontal)">
                                      <p:cBhvr>
                                        <p:cTn id="52" dur="500"/>
                                        <p:tgtEl>
                                          <p:spTgt spid="1536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5363">
                                            <p:txEl>
                                              <p:pRg st="10" end="10"/>
                                            </p:txEl>
                                          </p:spTgt>
                                        </p:tgtEl>
                                        <p:attrNameLst>
                                          <p:attrName>style.visibility</p:attrName>
                                        </p:attrNameLst>
                                      </p:cBhvr>
                                      <p:to>
                                        <p:strVal val="visible"/>
                                      </p:to>
                                    </p:set>
                                    <p:animEffect transition="in" filter="blinds(horizontal)">
                                      <p:cBhvr>
                                        <p:cTn id="57" dur="500"/>
                                        <p:tgtEl>
                                          <p:spTgt spid="1536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5363">
                                            <p:txEl>
                                              <p:pRg st="11" end="11"/>
                                            </p:txEl>
                                          </p:spTgt>
                                        </p:tgtEl>
                                        <p:attrNameLst>
                                          <p:attrName>style.visibility</p:attrName>
                                        </p:attrNameLst>
                                      </p:cBhvr>
                                      <p:to>
                                        <p:strVal val="visible"/>
                                      </p:to>
                                    </p:set>
                                    <p:animEffect transition="in" filter="blinds(horizontal)">
                                      <p:cBhvr>
                                        <p:cTn id="62" dur="500"/>
                                        <p:tgtEl>
                                          <p:spTgt spid="1536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5363">
                                            <p:txEl>
                                              <p:pRg st="12" end="12"/>
                                            </p:txEl>
                                          </p:spTgt>
                                        </p:tgtEl>
                                        <p:attrNameLst>
                                          <p:attrName>style.visibility</p:attrName>
                                        </p:attrNameLst>
                                      </p:cBhvr>
                                      <p:to>
                                        <p:strVal val="visible"/>
                                      </p:to>
                                    </p:set>
                                    <p:animEffect transition="in" filter="blinds(horizontal)">
                                      <p:cBhvr>
                                        <p:cTn id="67" dur="500"/>
                                        <p:tgtEl>
                                          <p:spTgt spid="1536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49" name="标题 16385"/>
          <p:cNvSpPr>
            <a:spLocks noGrp="1" noChangeArrowheads="1"/>
          </p:cNvSpPr>
          <p:nvPr>
            <p:ph type="title"/>
          </p:nvPr>
        </p:nvSpPr>
        <p:spPr/>
        <p:txBody>
          <a:bodyPr/>
          <a:lstStyle/>
          <a:p>
            <a:r>
              <a:rPr lang="en-US" altLang="zh-CN" sz="3200" b="1" dirty="0">
                <a:solidFill>
                  <a:srgbClr val="0000FF"/>
                </a:solidFill>
              </a:rPr>
              <a:t>return</a:t>
            </a:r>
            <a:r>
              <a:rPr lang="en-US" altLang="zh-CN" sz="3200" b="1" dirty="0"/>
              <a:t> </a:t>
            </a:r>
            <a:r>
              <a:rPr lang="en-US" altLang="zh-CN" sz="3200" dirty="0" err="1"/>
              <a:t>H</a:t>
            </a:r>
            <a:r>
              <a:rPr lang="en-US" altLang="zh-CN" sz="3200" b="1" dirty="0" err="1"/>
              <a:t>cf</a:t>
            </a:r>
            <a:r>
              <a:rPr lang="en-US" altLang="zh-CN" sz="3200" b="1" dirty="0"/>
              <a:t>(28,6)</a:t>
            </a:r>
            <a:r>
              <a:rPr lang="zh-CN" altLang="en-US" sz="3200" b="1" dirty="0"/>
              <a:t>的执行结果</a:t>
            </a:r>
            <a:endParaRPr lang="zh-CN" altLang="en-US" sz="3200" b="1" dirty="0"/>
          </a:p>
        </p:txBody>
      </p:sp>
      <p:graphicFrame>
        <p:nvGraphicFramePr>
          <p:cNvPr id="16387" name="内容占位符 16386"/>
          <p:cNvGraphicFramePr>
            <a:graphicFrameLocks noGrp="1"/>
          </p:cNvGraphicFramePr>
          <p:nvPr>
            <p:ph idx="4294967295"/>
          </p:nvPr>
        </p:nvGraphicFramePr>
        <p:xfrm>
          <a:off x="611188" y="3942184"/>
          <a:ext cx="7993063" cy="272796"/>
        </p:xfrm>
        <a:graphic>
          <a:graphicData uri="http://schemas.openxmlformats.org/drawingml/2006/table">
            <a:tbl>
              <a:tblPr/>
              <a:tblGrid>
                <a:gridCol w="936477"/>
                <a:gridCol w="720080"/>
                <a:gridCol w="1008112"/>
                <a:gridCol w="1440160"/>
                <a:gridCol w="2304256"/>
                <a:gridCol w="1583978"/>
              </a:tblGrid>
              <a:tr h="205018">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t>返回</a:t>
                      </a:r>
                      <a:r>
                        <a:rPr lang="en-US" altLang="x-none" sz="1400" b="1" dirty="0"/>
                        <a:t>:c,d </a:t>
                      </a:r>
                      <a:endParaRPr lang="zh-CN" altLang="en-US" sz="1400" b="1"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2">
                        <a:lumMod val="60000"/>
                        <a:lumOff val="40000"/>
                      </a:schemeClr>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0</a:t>
                      </a:r>
                      <a:endParaRPr lang="en-US" altLang="x-none" sz="1400" b="1"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t>返回</a:t>
                      </a:r>
                      <a:r>
                        <a:rPr lang="en-US" altLang="x-none" sz="1400" b="1" dirty="0"/>
                        <a:t>:a,b </a:t>
                      </a:r>
                      <a:endParaRPr lang="zh-CN" altLang="en-US" sz="1400" b="1"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2">
                        <a:lumMod val="50000"/>
                      </a:schemeClr>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2 </a:t>
                      </a:r>
                      <a:endParaRPr lang="zh-CN" altLang="en-US" sz="1400" b="1"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400" b="1"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40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6403" name="表格 16402"/>
          <p:cNvGraphicFramePr/>
          <p:nvPr/>
        </p:nvGraphicFramePr>
        <p:xfrm>
          <a:off x="611188" y="980729"/>
          <a:ext cx="7993063" cy="298704"/>
        </p:xfrm>
        <a:graphic>
          <a:graphicData uri="http://schemas.openxmlformats.org/drawingml/2006/table">
            <a:tbl>
              <a:tblPr/>
              <a:tblGrid>
                <a:gridCol w="936476"/>
                <a:gridCol w="720080"/>
                <a:gridCol w="1008112"/>
                <a:gridCol w="1440160"/>
                <a:gridCol w="2304256"/>
                <a:gridCol w="1583979"/>
              </a:tblGrid>
              <a:tr h="257361">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nSpc>
                          <a:spcPct val="85000"/>
                        </a:lnSpc>
                        <a:spcBef>
                          <a:spcPct val="0"/>
                        </a:spcBef>
                        <a:buNone/>
                      </a:pPr>
                      <a:endParaRPr lang="zh-CN" altLang="en-US" sz="1600" b="1" dirty="0">
                        <a:solidFill>
                          <a:srgbClr val="0000FF"/>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nSpc>
                          <a:spcPct val="85000"/>
                        </a:lnSpc>
                        <a:spcBef>
                          <a:spcPct val="0"/>
                        </a:spcBef>
                        <a:buNone/>
                      </a:pPr>
                      <a:r>
                        <a:rPr lang="zh-CN" altLang="en-US" sz="1600" b="1" dirty="0">
                          <a:solidFill>
                            <a:srgbClr val="0000FF"/>
                          </a:solidFill>
                        </a:rPr>
                        <a:t>语句 </a:t>
                      </a:r>
                      <a:endParaRPr lang="zh-CN" altLang="en-US" sz="1600" b="1" dirty="0">
                        <a:solidFill>
                          <a:srgbClr val="0000FF"/>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nSpc>
                          <a:spcPct val="85000"/>
                        </a:lnSpc>
                        <a:spcBef>
                          <a:spcPct val="0"/>
                        </a:spcBef>
                        <a:buNone/>
                      </a:pPr>
                      <a:r>
                        <a:rPr lang="zh-CN" altLang="en-US" sz="1600" b="1" dirty="0">
                          <a:solidFill>
                            <a:srgbClr val="0000FF"/>
                          </a:solidFill>
                        </a:rPr>
                        <a:t>操作序号 </a:t>
                      </a:r>
                      <a:endParaRPr lang="zh-CN" altLang="en-US" sz="1600" b="1" dirty="0">
                        <a:solidFill>
                          <a:srgbClr val="0000FF"/>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nSpc>
                          <a:spcPct val="85000"/>
                        </a:lnSpc>
                        <a:spcBef>
                          <a:spcPct val="0"/>
                        </a:spcBef>
                        <a:buNone/>
                      </a:pPr>
                      <a:r>
                        <a:rPr lang="zh-CN" altLang="en-US" sz="1600" b="1" dirty="0">
                          <a:solidFill>
                            <a:srgbClr val="0000FF"/>
                          </a:solidFill>
                        </a:rPr>
                        <a:t>回传变量的值</a:t>
                      </a:r>
                      <a:endParaRPr lang="zh-CN" altLang="en-US" sz="1600" b="1" dirty="0">
                        <a:solidFill>
                          <a:srgbClr val="0000FF"/>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nSpc>
                          <a:spcPct val="85000"/>
                        </a:lnSpc>
                        <a:spcBef>
                          <a:spcPct val="0"/>
                        </a:spcBef>
                        <a:buNone/>
                      </a:pPr>
                      <a:r>
                        <a:rPr lang="zh-CN" altLang="en-US" sz="1600" b="1" dirty="0">
                          <a:solidFill>
                            <a:srgbClr val="0000FF"/>
                          </a:solidFill>
                        </a:rPr>
                        <a:t>栈状态： </a:t>
                      </a:r>
                      <a:r>
                        <a:rPr lang="en-US" altLang="x-none" sz="1600" b="1" dirty="0">
                          <a:solidFill>
                            <a:srgbClr val="0000FF"/>
                          </a:solidFill>
                        </a:rPr>
                        <a:t>(</a:t>
                      </a:r>
                      <a:r>
                        <a:rPr lang="zh-CN" altLang="en-US" sz="1600" b="1" dirty="0">
                          <a:solidFill>
                            <a:srgbClr val="0000FF"/>
                          </a:solidFill>
                        </a:rPr>
                        <a:t>返址</a:t>
                      </a:r>
                      <a:r>
                        <a:rPr lang="en-US" altLang="x-none" sz="1600" b="1" dirty="0">
                          <a:solidFill>
                            <a:srgbClr val="0000FF"/>
                          </a:solidFill>
                        </a:rPr>
                        <a:t>,</a:t>
                      </a:r>
                      <a:r>
                        <a:rPr lang="en-US" altLang="x-none" sz="1600" b="1" i="1" dirty="0">
                          <a:solidFill>
                            <a:srgbClr val="0000FF"/>
                          </a:solidFill>
                        </a:rPr>
                        <a:t>m</a:t>
                      </a:r>
                      <a:r>
                        <a:rPr lang="en-US" altLang="x-none" sz="1600" b="1" dirty="0">
                          <a:solidFill>
                            <a:srgbClr val="0000FF"/>
                          </a:solidFill>
                        </a:rPr>
                        <a:t>,</a:t>
                      </a:r>
                      <a:r>
                        <a:rPr lang="en-US" altLang="x-none" sz="1600" b="1" i="1" dirty="0">
                          <a:solidFill>
                            <a:srgbClr val="0000FF"/>
                          </a:solidFill>
                        </a:rPr>
                        <a:t>n</a:t>
                      </a:r>
                      <a:r>
                        <a:rPr lang="en-US" altLang="x-none" sz="1600" b="1" dirty="0">
                          <a:solidFill>
                            <a:srgbClr val="0000FF"/>
                          </a:solidFill>
                        </a:rPr>
                        <a:t>)</a:t>
                      </a:r>
                      <a:endParaRPr lang="zh-CN" altLang="en-US" sz="1600" b="1" dirty="0">
                        <a:solidFill>
                          <a:srgbClr val="0000FF"/>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600" b="1" dirty="0">
                          <a:solidFill>
                            <a:srgbClr val="0000FF"/>
                          </a:solidFill>
                        </a:rPr>
                        <a:t>输出结果</a:t>
                      </a:r>
                      <a:endParaRPr lang="zh-CN" altLang="en-US" sz="1600" b="1" dirty="0">
                        <a:solidFill>
                          <a:srgbClr val="0000FF"/>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6419" name="表格 16418"/>
          <p:cNvGraphicFramePr/>
          <p:nvPr/>
        </p:nvGraphicFramePr>
        <p:xfrm>
          <a:off x="611188" y="1340768"/>
          <a:ext cx="7993063" cy="272750"/>
        </p:xfrm>
        <a:graphic>
          <a:graphicData uri="http://schemas.openxmlformats.org/drawingml/2006/table">
            <a:tbl>
              <a:tblPr/>
              <a:tblGrid>
                <a:gridCol w="936476"/>
                <a:gridCol w="720080"/>
                <a:gridCol w="1008112"/>
                <a:gridCol w="1440160"/>
                <a:gridCol w="2304256"/>
                <a:gridCol w="1583979"/>
              </a:tblGrid>
              <a:tr h="223766">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400" b="1" dirty="0"/>
                    </a:p>
                  </a:txBody>
                  <a:tcPr marT="45697" marB="4569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0</a:t>
                      </a:r>
                      <a:endParaRPr lang="en-US" altLang="x-none"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t>调用</a:t>
                      </a:r>
                      <a:r>
                        <a:rPr lang="en-US" altLang="x-none" sz="1400" b="1" dirty="0"/>
                        <a:t>:a,b </a:t>
                      </a: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nSpc>
                          <a:spcPct val="85000"/>
                        </a:lnSpc>
                        <a:spcBef>
                          <a:spcPct val="0"/>
                        </a:spcBef>
                        <a:buNone/>
                      </a:pPr>
                      <a:r>
                        <a:rPr lang="en-US" altLang="x-none" sz="1400" b="1" dirty="0"/>
                        <a:t> </a:t>
                      </a:r>
                      <a:r>
                        <a:rPr lang="en-US" altLang="x-none" sz="1400" b="1" dirty="0">
                          <a:solidFill>
                            <a:srgbClr val="FF0000"/>
                          </a:solidFill>
                        </a:rPr>
                        <a:t>(0,28,6) </a:t>
                      </a:r>
                      <a:endParaRPr lang="zh-CN" altLang="en-US" sz="1400" b="1" dirty="0">
                        <a:solidFill>
                          <a:srgbClr val="FF0000"/>
                        </a:solidFill>
                      </a:endParaRPr>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400" b="1" dirty="0"/>
                    </a:p>
                  </a:txBody>
                  <a:tcPr marT="45697" marB="4569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6435" name="表格 16434"/>
          <p:cNvGraphicFramePr/>
          <p:nvPr/>
        </p:nvGraphicFramePr>
        <p:xfrm>
          <a:off x="611188" y="1700808"/>
          <a:ext cx="7993063" cy="272750"/>
        </p:xfrm>
        <a:graphic>
          <a:graphicData uri="http://schemas.openxmlformats.org/drawingml/2006/table">
            <a:tbl>
              <a:tblPr/>
              <a:tblGrid>
                <a:gridCol w="936476"/>
                <a:gridCol w="720080"/>
                <a:gridCol w="1008112"/>
                <a:gridCol w="1440160"/>
                <a:gridCol w="2304256"/>
                <a:gridCol w="1583979"/>
              </a:tblGrid>
              <a:tr h="202810">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t>调用</a:t>
                      </a:r>
                      <a:r>
                        <a:rPr lang="en-US" altLang="x-none" sz="1400" b="1" dirty="0"/>
                        <a:t>:c </a:t>
                      </a:r>
                      <a:endParaRPr lang="zh-CN" altLang="en-US" sz="1400" b="1" dirty="0"/>
                    </a:p>
                  </a:txBody>
                  <a:tcPr marT="45697" marB="4569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6"/>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1,3 </a:t>
                      </a: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solidFill>
                            <a:schemeClr val="tx1"/>
                          </a:solidFill>
                        </a:rPr>
                        <a:t>调用</a:t>
                      </a:r>
                      <a:r>
                        <a:rPr lang="en-US" altLang="x-none" sz="1400" b="1" dirty="0">
                          <a:solidFill>
                            <a:schemeClr val="tx1"/>
                          </a:solidFill>
                        </a:rPr>
                        <a:t>:a,b </a:t>
                      </a:r>
                      <a:endParaRPr lang="zh-CN" altLang="en-US" sz="1400" b="1" dirty="0">
                        <a:solidFill>
                          <a:schemeClr val="tx1"/>
                        </a:solidFill>
                      </a:endParaRPr>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00B050"/>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nSpc>
                          <a:spcPct val="85000"/>
                        </a:lnSpc>
                        <a:spcBef>
                          <a:spcPct val="0"/>
                        </a:spcBef>
                        <a:buNone/>
                      </a:pPr>
                      <a:r>
                        <a:rPr lang="en-US" altLang="x-none" sz="1400" b="1" dirty="0"/>
                        <a:t> (0,28,6</a:t>
                      </a:r>
                      <a:r>
                        <a:rPr lang="en-US" altLang="x-none" sz="1400" b="1" dirty="0">
                          <a:solidFill>
                            <a:schemeClr val="tx1"/>
                          </a:solidFill>
                        </a:rPr>
                        <a:t>) </a:t>
                      </a:r>
                      <a:r>
                        <a:rPr lang="en-US" altLang="x-none" sz="1400" b="1" dirty="0">
                          <a:solidFill>
                            <a:srgbClr val="FF0000"/>
                          </a:solidFill>
                        </a:rPr>
                        <a:t>(4,6,4)</a:t>
                      </a:r>
                      <a:r>
                        <a:rPr lang="zh-CN" altLang="en-US" sz="1400" b="1" dirty="0">
                          <a:solidFill>
                            <a:srgbClr val="FF0000"/>
                          </a:solidFill>
                        </a:rPr>
                        <a:t> </a:t>
                      </a:r>
                      <a:endParaRPr lang="zh-CN" altLang="en-US" sz="1400" b="1" dirty="0">
                        <a:solidFill>
                          <a:srgbClr val="FF0000"/>
                        </a:solidFill>
                      </a:endParaRPr>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400" b="1" dirty="0"/>
                    </a:p>
                  </a:txBody>
                  <a:tcPr marT="45697" marB="4569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6451" name="表格 16450"/>
          <p:cNvGraphicFramePr/>
          <p:nvPr/>
        </p:nvGraphicFramePr>
        <p:xfrm>
          <a:off x="611188" y="2060849"/>
          <a:ext cx="7993063" cy="272750"/>
        </p:xfrm>
        <a:graphic>
          <a:graphicData uri="http://schemas.openxmlformats.org/drawingml/2006/table">
            <a:tbl>
              <a:tblPr/>
              <a:tblGrid>
                <a:gridCol w="936476"/>
                <a:gridCol w="720080"/>
                <a:gridCol w="1008112"/>
                <a:gridCol w="1440160"/>
                <a:gridCol w="2304256"/>
                <a:gridCol w="1583979"/>
              </a:tblGrid>
              <a:tr h="202810">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t>调用</a:t>
                      </a:r>
                      <a:r>
                        <a:rPr lang="en-US" altLang="x-none" sz="1400" b="1" dirty="0"/>
                        <a:t>:c </a:t>
                      </a:r>
                      <a:endParaRPr lang="zh-CN" altLang="en-US" sz="1400" b="1" dirty="0"/>
                    </a:p>
                  </a:txBody>
                  <a:tcPr marT="45697" marB="4569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00B050"/>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1,3</a:t>
                      </a: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t>调用</a:t>
                      </a:r>
                      <a:r>
                        <a:rPr lang="en-US" altLang="x-none" sz="1400" b="1" dirty="0"/>
                        <a:t>:a,b </a:t>
                      </a: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D5B5"/>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nSpc>
                          <a:spcPct val="85000"/>
                        </a:lnSpc>
                        <a:spcBef>
                          <a:spcPct val="0"/>
                        </a:spcBef>
                        <a:buNone/>
                      </a:pPr>
                      <a:r>
                        <a:rPr lang="en-US" altLang="x-none" sz="1400" b="1" dirty="0"/>
                        <a:t> (0,28,6) (4,6,4</a:t>
                      </a:r>
                      <a:r>
                        <a:rPr lang="en-US" altLang="x-none" sz="1400" b="1" dirty="0">
                          <a:solidFill>
                            <a:schemeClr val="tx1"/>
                          </a:solidFill>
                        </a:rPr>
                        <a:t>) </a:t>
                      </a:r>
                      <a:r>
                        <a:rPr lang="en-US" altLang="x-none" sz="1400" b="1" dirty="0">
                          <a:solidFill>
                            <a:srgbClr val="FF0000"/>
                          </a:solidFill>
                        </a:rPr>
                        <a:t>(4,4,2)</a:t>
                      </a:r>
                      <a:endParaRPr lang="zh-CN" altLang="en-US" sz="1400" b="1" dirty="0">
                        <a:solidFill>
                          <a:srgbClr val="FF0000"/>
                        </a:solidFill>
                      </a:endParaRPr>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400" b="1" dirty="0"/>
                    </a:p>
                  </a:txBody>
                  <a:tcPr marT="45697" marB="4569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6467" name="表格 16466"/>
          <p:cNvGraphicFramePr/>
          <p:nvPr/>
        </p:nvGraphicFramePr>
        <p:xfrm>
          <a:off x="611189" y="2420889"/>
          <a:ext cx="8002587" cy="324566"/>
        </p:xfrm>
        <a:graphic>
          <a:graphicData uri="http://schemas.openxmlformats.org/drawingml/2006/table">
            <a:tbl>
              <a:tblPr/>
              <a:tblGrid>
                <a:gridCol w="937592"/>
                <a:gridCol w="720938"/>
                <a:gridCol w="1009313"/>
                <a:gridCol w="1441876"/>
                <a:gridCol w="2307002"/>
                <a:gridCol w="1585866"/>
              </a:tblGrid>
              <a:tr h="192714">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t>调用</a:t>
                      </a:r>
                      <a:r>
                        <a:rPr lang="en-US" altLang="x-none" sz="1400" b="1" dirty="0"/>
                        <a:t>:c </a:t>
                      </a:r>
                      <a:endParaRPr lang="zh-CN" altLang="en-US" sz="1400" b="1" dirty="0"/>
                    </a:p>
                  </a:txBody>
                  <a:tcPr marT="45697" marB="4569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D5B5"/>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1,3</a:t>
                      </a: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t>调用</a:t>
                      </a:r>
                      <a:r>
                        <a:rPr lang="en-US" altLang="x-none" sz="1400" b="1" dirty="0"/>
                        <a:t>:a,b </a:t>
                      </a: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4">
                        <a:lumMod val="60000"/>
                        <a:lumOff val="40000"/>
                      </a:schemeClr>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l">
                        <a:lnSpc>
                          <a:spcPct val="85000"/>
                        </a:lnSpc>
                        <a:spcBef>
                          <a:spcPct val="0"/>
                        </a:spcBef>
                        <a:buNone/>
                      </a:pPr>
                      <a:r>
                        <a:rPr lang="en-US" altLang="x-none" sz="1400" b="1" dirty="0"/>
                        <a:t>(0,28,6) (4,6,4) (4,4,2) </a:t>
                      </a:r>
                      <a:r>
                        <a:rPr lang="en-US" altLang="x-none" sz="1400" b="1" dirty="0">
                          <a:solidFill>
                            <a:srgbClr val="FF0000"/>
                          </a:solidFill>
                        </a:rPr>
                        <a:t>(4,2,0)</a:t>
                      </a:r>
                      <a:endParaRPr lang="zh-CN" altLang="en-US" sz="1400" b="1" dirty="0">
                        <a:solidFill>
                          <a:srgbClr val="FF0000"/>
                        </a:solidFill>
                      </a:endParaRPr>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800" b="1" dirty="0"/>
                    </a:p>
                  </a:txBody>
                  <a:tcPr marT="45697" marB="4569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6483" name="表格 16482"/>
          <p:cNvGraphicFramePr/>
          <p:nvPr/>
        </p:nvGraphicFramePr>
        <p:xfrm>
          <a:off x="611188" y="2838078"/>
          <a:ext cx="7993063" cy="272750"/>
        </p:xfrm>
        <a:graphic>
          <a:graphicData uri="http://schemas.openxmlformats.org/drawingml/2006/table">
            <a:tbl>
              <a:tblPr/>
              <a:tblGrid>
                <a:gridCol w="936476"/>
                <a:gridCol w="720080"/>
                <a:gridCol w="1008112"/>
                <a:gridCol w="1440160"/>
                <a:gridCol w="2304256"/>
                <a:gridCol w="1583979"/>
              </a:tblGrid>
              <a:tr h="228279">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t>调用</a:t>
                      </a:r>
                      <a:r>
                        <a:rPr lang="en-US" altLang="x-none" sz="1400" b="1" dirty="0"/>
                        <a:t>:c </a:t>
                      </a:r>
                      <a:endParaRPr lang="zh-CN" altLang="en-US" sz="1400" b="1" dirty="0"/>
                    </a:p>
                  </a:txBody>
                  <a:tcPr marT="45697" marB="4569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4">
                        <a:lumMod val="60000"/>
                        <a:lumOff val="40000"/>
                      </a:schemeClr>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1,2,4 </a:t>
                      </a: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solidFill>
                            <a:schemeClr val="bg1"/>
                          </a:solidFill>
                        </a:rPr>
                        <a:t>返回</a:t>
                      </a:r>
                      <a:r>
                        <a:rPr lang="en-US" altLang="x-none" sz="1400" b="1" dirty="0">
                          <a:solidFill>
                            <a:schemeClr val="bg1"/>
                          </a:solidFill>
                        </a:rPr>
                        <a:t>:a,b </a:t>
                      </a:r>
                      <a:endParaRPr lang="zh-CN" altLang="en-US" sz="1400" b="1" dirty="0">
                        <a:solidFill>
                          <a:schemeClr val="bg1"/>
                        </a:solidFill>
                      </a:endParaRPr>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0000FF"/>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2 </a:t>
                      </a: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nSpc>
                          <a:spcPct val="85000"/>
                        </a:lnSpc>
                        <a:spcBef>
                          <a:spcPct val="0"/>
                        </a:spcBef>
                        <a:buNone/>
                      </a:pPr>
                      <a:r>
                        <a:rPr lang="en-US" altLang="x-none" sz="1400" b="1" dirty="0"/>
                        <a:t>(0,28,6) (4,6,4) (4,4,2)</a:t>
                      </a: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2</a:t>
                      </a:r>
                      <a:endParaRPr lang="en-US" altLang="x-none" sz="1400" b="1" dirty="0"/>
                    </a:p>
                  </a:txBody>
                  <a:tcPr marT="45697" marB="4569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6499" name="表格 16498"/>
          <p:cNvGraphicFramePr/>
          <p:nvPr/>
        </p:nvGraphicFramePr>
        <p:xfrm>
          <a:off x="622580" y="3205835"/>
          <a:ext cx="7993063" cy="272750"/>
        </p:xfrm>
        <a:graphic>
          <a:graphicData uri="http://schemas.openxmlformats.org/drawingml/2006/table">
            <a:tbl>
              <a:tblPr/>
              <a:tblGrid>
                <a:gridCol w="936476"/>
                <a:gridCol w="720080"/>
                <a:gridCol w="1008112"/>
                <a:gridCol w="1440160"/>
                <a:gridCol w="2304256"/>
                <a:gridCol w="1583979"/>
              </a:tblGrid>
              <a:tr h="259300">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solidFill>
                            <a:schemeClr val="bg1"/>
                          </a:solidFill>
                        </a:rPr>
                        <a:t>返回</a:t>
                      </a:r>
                      <a:r>
                        <a:rPr lang="en-US" altLang="x-none" sz="1400" b="1" dirty="0">
                          <a:solidFill>
                            <a:schemeClr val="bg1"/>
                          </a:solidFill>
                        </a:rPr>
                        <a:t>:c,d </a:t>
                      </a:r>
                      <a:endParaRPr lang="zh-CN" altLang="en-US" sz="1400" b="1" dirty="0">
                        <a:solidFill>
                          <a:schemeClr val="bg1"/>
                        </a:solidFill>
                      </a:endParaRPr>
                    </a:p>
                  </a:txBody>
                  <a:tcPr marT="45697" marB="4569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0000FF"/>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4</a:t>
                      </a:r>
                      <a:endParaRPr lang="en-US" altLang="x-none"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t>返回</a:t>
                      </a:r>
                      <a:r>
                        <a:rPr lang="en-US" altLang="x-none" sz="1400" b="1" dirty="0"/>
                        <a:t>:a,b </a:t>
                      </a: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5">
                        <a:lumMod val="75000"/>
                      </a:schemeClr>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2 </a:t>
                      </a: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nSpc>
                          <a:spcPct val="85000"/>
                        </a:lnSpc>
                        <a:spcBef>
                          <a:spcPct val="0"/>
                        </a:spcBef>
                        <a:buNone/>
                      </a:pPr>
                      <a:r>
                        <a:rPr lang="en-US" altLang="x-none" sz="1400" b="1" dirty="0"/>
                        <a:t>(0,28,6) (4,6,4)</a:t>
                      </a:r>
                      <a:r>
                        <a:rPr lang="zh-CN" altLang="en-US" sz="1400" b="1" dirty="0"/>
                        <a:t> </a:t>
                      </a: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400" b="1" dirty="0"/>
                    </a:p>
                  </a:txBody>
                  <a:tcPr marT="45697" marB="4569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6515" name="表格 16514"/>
          <p:cNvGraphicFramePr/>
          <p:nvPr/>
        </p:nvGraphicFramePr>
        <p:xfrm>
          <a:off x="620712" y="3570510"/>
          <a:ext cx="7993063" cy="272796"/>
        </p:xfrm>
        <a:graphic>
          <a:graphicData uri="http://schemas.openxmlformats.org/drawingml/2006/table">
            <a:tbl>
              <a:tblPr/>
              <a:tblGrid>
                <a:gridCol w="936477"/>
                <a:gridCol w="720080"/>
                <a:gridCol w="1008112"/>
                <a:gridCol w="1440160"/>
                <a:gridCol w="2304256"/>
                <a:gridCol w="1583978"/>
              </a:tblGrid>
              <a:tr h="206789">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t>返回</a:t>
                      </a:r>
                      <a:r>
                        <a:rPr lang="en-US" altLang="x-none" sz="1400" b="1" dirty="0"/>
                        <a:t>:c,d </a:t>
                      </a:r>
                      <a:endParaRPr lang="zh-CN" altLang="en-US" sz="1400" b="1"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5">
                        <a:lumMod val="75000"/>
                      </a:schemeClr>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4</a:t>
                      </a:r>
                      <a:endParaRPr lang="en-US" altLang="x-none" sz="1400" b="1"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t>返回</a:t>
                      </a:r>
                      <a:r>
                        <a:rPr lang="en-US" altLang="x-none" sz="1400" b="1" dirty="0"/>
                        <a:t>:a,b </a:t>
                      </a:r>
                      <a:endParaRPr lang="zh-CN" altLang="en-US" sz="1400" b="1"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2">
                        <a:lumMod val="60000"/>
                        <a:lumOff val="40000"/>
                      </a:schemeClr>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2 </a:t>
                      </a:r>
                      <a:endParaRPr lang="zh-CN" altLang="en-US" sz="1400" b="1"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nSpc>
                          <a:spcPct val="85000"/>
                        </a:lnSpc>
                        <a:spcBef>
                          <a:spcPct val="0"/>
                        </a:spcBef>
                        <a:buNone/>
                      </a:pPr>
                      <a:r>
                        <a:rPr lang="en-US" altLang="x-none" sz="1400" b="1" dirty="0"/>
                        <a:t>(0,28,6) </a:t>
                      </a:r>
                      <a:endParaRPr lang="zh-CN" altLang="en-US" sz="1400" b="1"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40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2" name="矩形 1"/>
          <p:cNvSpPr/>
          <p:nvPr/>
        </p:nvSpPr>
        <p:spPr>
          <a:xfrm>
            <a:off x="1740505" y="5463437"/>
            <a:ext cx="4572000" cy="1169551"/>
          </a:xfrm>
          <a:prstGeom prst="rect">
            <a:avLst/>
          </a:prstGeom>
        </p:spPr>
        <p:txBody>
          <a:bodyPr>
            <a:spAutoFit/>
          </a:bodyPr>
          <a:lstStyle/>
          <a:p>
            <a:pPr>
              <a:buFont typeface="Wingdings" panose="05000000000000000000" pitchFamily="2" charset="2"/>
              <a:buNone/>
            </a:pPr>
            <a:r>
              <a:rPr lang="en-US" altLang="zh-CN" sz="1400" b="1" dirty="0">
                <a:latin typeface="Times New Roman" panose="02020603050405020304" pitchFamily="18" charset="0"/>
                <a:cs typeface="Times New Roman" panose="02020603050405020304" pitchFamily="18" charset="0"/>
              </a:rPr>
              <a:t>             </a:t>
            </a:r>
            <a:r>
              <a:rPr lang="en-US" altLang="zh-CN" sz="1400" b="1" dirty="0" err="1">
                <a:solidFill>
                  <a:srgbClr val="0000FF"/>
                </a:solidFill>
                <a:latin typeface="Times New Roman" panose="02020603050405020304" pitchFamily="18" charset="0"/>
                <a:cs typeface="Times New Roman" panose="02020603050405020304" pitchFamily="18" charset="0"/>
              </a:rPr>
              <a:t>int</a:t>
            </a:r>
            <a:r>
              <a:rPr lang="en-US" altLang="zh-CN" sz="1400" b="1" dirty="0">
                <a:latin typeface="Times New Roman" panose="02020603050405020304" pitchFamily="18" charset="0"/>
                <a:cs typeface="Times New Roman" panose="02020603050405020304" pitchFamily="18" charset="0"/>
              </a:rPr>
              <a:t>  </a:t>
            </a:r>
            <a:r>
              <a:rPr lang="en-US" altLang="zh-CN" sz="1400" b="1" dirty="0" err="1">
                <a:latin typeface="Times New Roman" panose="02020603050405020304" pitchFamily="18" charset="0"/>
                <a:cs typeface="Times New Roman" panose="02020603050405020304" pitchFamily="18" charset="0"/>
              </a:rPr>
              <a:t>Hcf</a:t>
            </a:r>
            <a:r>
              <a:rPr lang="en-US" altLang="zh-CN" sz="1400" b="1" dirty="0">
                <a:latin typeface="Times New Roman" panose="02020603050405020304" pitchFamily="18" charset="0"/>
                <a:cs typeface="Times New Roman" panose="02020603050405020304" pitchFamily="18" charset="0"/>
              </a:rPr>
              <a:t>(</a:t>
            </a:r>
            <a:r>
              <a:rPr lang="en-US" altLang="zh-CN" sz="1400" b="1" dirty="0" err="1">
                <a:solidFill>
                  <a:srgbClr val="0000FF"/>
                </a:solidFill>
                <a:latin typeface="Times New Roman" panose="02020603050405020304" pitchFamily="18" charset="0"/>
                <a:cs typeface="Times New Roman" panose="02020603050405020304" pitchFamily="18" charset="0"/>
              </a:rPr>
              <a:t>int</a:t>
            </a:r>
            <a:r>
              <a:rPr lang="en-US" altLang="zh-CN" sz="1400" b="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m</a:t>
            </a:r>
            <a:r>
              <a:rPr lang="en-US" altLang="zh-CN" sz="1400" b="1" dirty="0">
                <a:latin typeface="Times New Roman" panose="02020603050405020304" pitchFamily="18" charset="0"/>
                <a:cs typeface="Times New Roman" panose="02020603050405020304" pitchFamily="18" charset="0"/>
              </a:rPr>
              <a:t>, </a:t>
            </a:r>
            <a:r>
              <a:rPr lang="en-US" altLang="zh-CN" sz="1400" b="1" dirty="0" err="1">
                <a:solidFill>
                  <a:srgbClr val="0000FF"/>
                </a:solidFill>
                <a:latin typeface="Times New Roman" panose="02020603050405020304" pitchFamily="18" charset="0"/>
                <a:cs typeface="Times New Roman" panose="02020603050405020304" pitchFamily="18" charset="0"/>
              </a:rPr>
              <a:t>int</a:t>
            </a:r>
            <a:r>
              <a:rPr lang="en-US" altLang="zh-CN" sz="1400" b="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n</a:t>
            </a:r>
            <a:r>
              <a:rPr lang="en-US" altLang="zh-CN" sz="1400" b="1" dirty="0">
                <a:latin typeface="Times New Roman" panose="02020603050405020304" pitchFamily="18" charset="0"/>
                <a:cs typeface="Times New Roman" panose="02020603050405020304" pitchFamily="18" charset="0"/>
              </a:rPr>
              <a:t>){</a:t>
            </a:r>
            <a:endParaRPr lang="en-US" altLang="zh-CN" sz="1400" b="1" dirty="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zh-CN" sz="1400" b="1" dirty="0">
                <a:latin typeface="Times New Roman" panose="02020603050405020304" pitchFamily="18" charset="0"/>
                <a:cs typeface="Times New Roman" panose="02020603050405020304" pitchFamily="18" charset="0"/>
              </a:rPr>
              <a:t>           (1)      </a:t>
            </a:r>
            <a:r>
              <a:rPr lang="en-US" altLang="zh-CN" sz="1400" b="1" dirty="0">
                <a:solidFill>
                  <a:srgbClr val="0000FF"/>
                </a:solidFill>
                <a:latin typeface="Times New Roman" panose="02020603050405020304" pitchFamily="18" charset="0"/>
                <a:cs typeface="Times New Roman" panose="02020603050405020304" pitchFamily="18" charset="0"/>
              </a:rPr>
              <a:t>if</a:t>
            </a:r>
            <a:r>
              <a:rPr lang="en-US" altLang="zh-CN" sz="1400" b="1" dirty="0">
                <a:latin typeface="Times New Roman" panose="02020603050405020304" pitchFamily="18" charset="0"/>
                <a:cs typeface="Times New Roman" panose="02020603050405020304" pitchFamily="18" charset="0"/>
              </a:rPr>
              <a:t> ( </a:t>
            </a:r>
            <a:r>
              <a:rPr lang="en-US" altLang="zh-CN" sz="1400" b="1" i="1" dirty="0">
                <a:latin typeface="Times New Roman" panose="02020603050405020304" pitchFamily="18" charset="0"/>
                <a:cs typeface="Times New Roman" panose="02020603050405020304" pitchFamily="18" charset="0"/>
              </a:rPr>
              <a:t>n</a:t>
            </a:r>
            <a:r>
              <a:rPr lang="en-US" altLang="zh-CN" sz="1400" b="1" dirty="0">
                <a:latin typeface="Times New Roman" panose="02020603050405020304" pitchFamily="18" charset="0"/>
                <a:cs typeface="Times New Roman" panose="02020603050405020304" pitchFamily="18" charset="0"/>
              </a:rPr>
              <a:t>==0) { </a:t>
            </a:r>
            <a:endParaRPr lang="en-US" altLang="zh-CN" sz="1400" b="1" dirty="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zh-CN" sz="1400" b="1" dirty="0">
                <a:latin typeface="Times New Roman" panose="02020603050405020304" pitchFamily="18" charset="0"/>
                <a:cs typeface="Times New Roman" panose="02020603050405020304" pitchFamily="18" charset="0"/>
              </a:rPr>
              <a:t>           (2)            </a:t>
            </a:r>
            <a:r>
              <a:rPr lang="en-US" altLang="zh-CN" sz="1400" b="1" dirty="0" err="1">
                <a:solidFill>
                  <a:srgbClr val="0000FF"/>
                </a:solidFill>
                <a:latin typeface="Times New Roman" panose="02020603050405020304" pitchFamily="18" charset="0"/>
                <a:cs typeface="Times New Roman" panose="02020603050405020304" pitchFamily="18" charset="0"/>
              </a:rPr>
              <a:t>cout</a:t>
            </a:r>
            <a:r>
              <a:rPr lang="en-US" altLang="zh-CN" sz="1400" b="1" dirty="0">
                <a:latin typeface="Times New Roman" panose="02020603050405020304" pitchFamily="18" charset="0"/>
                <a:cs typeface="Times New Roman" panose="02020603050405020304" pitchFamily="18" charset="0"/>
              </a:rPr>
              <a:t>&lt;&lt;</a:t>
            </a:r>
            <a:r>
              <a:rPr lang="en-US" altLang="zh-CN" sz="1400" b="1" i="1" dirty="0">
                <a:latin typeface="Times New Roman" panose="02020603050405020304" pitchFamily="18" charset="0"/>
                <a:cs typeface="Times New Roman" panose="02020603050405020304" pitchFamily="18" charset="0"/>
              </a:rPr>
              <a:t>m</a:t>
            </a:r>
            <a:r>
              <a:rPr lang="en-US" altLang="zh-CN" sz="1400" b="1" dirty="0">
                <a:latin typeface="Times New Roman" panose="02020603050405020304" pitchFamily="18" charset="0"/>
                <a:cs typeface="Times New Roman" panose="02020603050405020304" pitchFamily="18" charset="0"/>
              </a:rPr>
              <a:t>;  </a:t>
            </a:r>
            <a:r>
              <a:rPr lang="en-US" altLang="zh-CN" sz="1400" b="1" dirty="0">
                <a:solidFill>
                  <a:srgbClr val="0000FF"/>
                </a:solidFill>
                <a:latin typeface="Times New Roman" panose="02020603050405020304" pitchFamily="18" charset="0"/>
                <a:cs typeface="Times New Roman" panose="02020603050405020304" pitchFamily="18" charset="0"/>
              </a:rPr>
              <a:t>return</a:t>
            </a:r>
            <a:r>
              <a:rPr lang="en-US" altLang="zh-CN" sz="1400" b="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m</a:t>
            </a:r>
            <a:r>
              <a:rPr lang="en-US" altLang="zh-CN" sz="1400" b="1" dirty="0">
                <a:latin typeface="Times New Roman" panose="02020603050405020304" pitchFamily="18" charset="0"/>
                <a:cs typeface="Times New Roman" panose="02020603050405020304" pitchFamily="18" charset="0"/>
              </a:rPr>
              <a:t>; } </a:t>
            </a:r>
            <a:endParaRPr lang="en-US" altLang="zh-CN" sz="1400" b="1" dirty="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zh-CN" sz="1400" b="1" dirty="0">
                <a:latin typeface="Times New Roman" panose="02020603050405020304" pitchFamily="18" charset="0"/>
                <a:cs typeface="Times New Roman" panose="02020603050405020304" pitchFamily="18" charset="0"/>
              </a:rPr>
              <a:t>           (3)      </a:t>
            </a:r>
            <a:r>
              <a:rPr lang="en-US" altLang="zh-CN" sz="1400" b="1" dirty="0">
                <a:solidFill>
                  <a:srgbClr val="0000FF"/>
                </a:solidFill>
                <a:latin typeface="Times New Roman" panose="02020603050405020304" pitchFamily="18" charset="0"/>
                <a:cs typeface="Times New Roman" panose="02020603050405020304" pitchFamily="18" charset="0"/>
              </a:rPr>
              <a:t>else return </a:t>
            </a:r>
            <a:r>
              <a:rPr lang="en-US" altLang="zh-CN" sz="1400" b="1" dirty="0" err="1">
                <a:latin typeface="Times New Roman" panose="02020603050405020304" pitchFamily="18" charset="0"/>
                <a:cs typeface="Times New Roman" panose="02020603050405020304" pitchFamily="18" charset="0"/>
              </a:rPr>
              <a:t>Hcf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n</a:t>
            </a:r>
            <a:r>
              <a:rPr lang="en-US" altLang="zh-CN" sz="1400" b="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m</a:t>
            </a:r>
            <a:r>
              <a:rPr lang="en-US" altLang="zh-CN" sz="1400" b="1" dirty="0">
                <a:latin typeface="Times New Roman" panose="02020603050405020304" pitchFamily="18" charset="0"/>
                <a:cs typeface="Times New Roman" panose="02020603050405020304" pitchFamily="18" charset="0"/>
              </a:rPr>
              <a:t> </a:t>
            </a:r>
            <a:r>
              <a:rPr lang="en-US" altLang="zh-CN" sz="1400" b="1" dirty="0">
                <a:solidFill>
                  <a:srgbClr val="FF0000"/>
                </a:solidFill>
                <a:latin typeface="Times New Roman" panose="02020603050405020304" pitchFamily="18" charset="0"/>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n</a:t>
            </a:r>
            <a:r>
              <a:rPr lang="en-US" altLang="zh-CN" sz="1400" b="1" dirty="0">
                <a:latin typeface="Times New Roman" panose="02020603050405020304" pitchFamily="18" charset="0"/>
                <a:cs typeface="Times New Roman" panose="02020603050405020304" pitchFamily="18" charset="0"/>
              </a:rPr>
              <a:t>);</a:t>
            </a:r>
            <a:endParaRPr lang="en-US" altLang="zh-CN" sz="1400" b="1" dirty="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zh-CN" sz="1400" b="1" dirty="0">
                <a:latin typeface="Times New Roman" panose="02020603050405020304" pitchFamily="18" charset="0"/>
                <a:cs typeface="Times New Roman" panose="02020603050405020304" pitchFamily="18" charset="0"/>
              </a:rPr>
              <a:t>           (4)  } </a:t>
            </a:r>
            <a:endParaRPr lang="zh-CN" altLang="en-US" sz="1400" b="1" dirty="0">
              <a:latin typeface="Times New Roman" panose="02020603050405020304" pitchFamily="18" charset="0"/>
              <a:cs typeface="Times New Roman" panose="02020603050405020304" pitchFamily="18" charset="0"/>
            </a:endParaRPr>
          </a:p>
        </p:txBody>
      </p:sp>
      <p:grpSp>
        <p:nvGrpSpPr>
          <p:cNvPr id="16384" name="组合 16383"/>
          <p:cNvGrpSpPr/>
          <p:nvPr/>
        </p:nvGrpSpPr>
        <p:grpSpPr>
          <a:xfrm>
            <a:off x="2611538" y="4934518"/>
            <a:ext cx="512451" cy="498452"/>
            <a:chOff x="2611538" y="4934518"/>
            <a:chExt cx="512451" cy="498452"/>
          </a:xfrm>
        </p:grpSpPr>
        <p:sp>
          <p:nvSpPr>
            <p:cNvPr id="17" name="文本框 16"/>
            <p:cNvSpPr txBox="1">
              <a:spLocks noChangeArrowheads="1"/>
            </p:cNvSpPr>
            <p:nvPr/>
          </p:nvSpPr>
          <p:spPr bwMode="auto">
            <a:xfrm>
              <a:off x="2710039" y="4934518"/>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chemeClr val="accent3">
                      <a:lumMod val="50000"/>
                    </a:schemeClr>
                  </a:solidFill>
                  <a:latin typeface="Times New Roman" panose="02020603050405020304" pitchFamily="18" charset="0"/>
                  <a:ea typeface="宋体" panose="02010600030101010101" pitchFamily="2" charset="-122"/>
                  <a:cs typeface="Times New Roman" panose="02020603050405020304" pitchFamily="18" charset="0"/>
                </a:rPr>
                <a:t>(a)</a:t>
              </a:r>
              <a:endParaRPr lang="en-US" altLang="zh-CN" sz="1400" dirty="0">
                <a:solidFill>
                  <a:schemeClr val="accent3">
                    <a:lumMod val="50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 name="文本框 17"/>
            <p:cNvSpPr txBox="1">
              <a:spLocks noChangeArrowheads="1"/>
            </p:cNvSpPr>
            <p:nvPr/>
          </p:nvSpPr>
          <p:spPr bwMode="auto">
            <a:xfrm>
              <a:off x="2611538" y="5125193"/>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chemeClr val="accent3">
                      <a:lumMod val="50000"/>
                    </a:schemeClr>
                  </a:solidFill>
                  <a:latin typeface="Times New Roman" panose="02020603050405020304" pitchFamily="18" charset="0"/>
                  <a:ea typeface="宋体" panose="02010600030101010101" pitchFamily="2" charset="-122"/>
                  <a:cs typeface="Times New Roman" panose="02020603050405020304" pitchFamily="18" charset="0"/>
                </a:rPr>
                <a:t>(b)</a:t>
              </a:r>
              <a:endParaRPr lang="en-US" altLang="zh-CN" sz="1400" dirty="0">
                <a:solidFill>
                  <a:schemeClr val="accent3">
                    <a:lumMod val="50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27789" name="组合 27788"/>
          <p:cNvGrpSpPr/>
          <p:nvPr/>
        </p:nvGrpSpPr>
        <p:grpSpPr>
          <a:xfrm>
            <a:off x="961524" y="4204204"/>
            <a:ext cx="2602364" cy="792429"/>
            <a:chOff x="961524" y="4204204"/>
            <a:chExt cx="2602364" cy="792429"/>
          </a:xfrm>
        </p:grpSpPr>
        <p:sp>
          <p:nvSpPr>
            <p:cNvPr id="14" name="文本框 13"/>
            <p:cNvSpPr txBox="1">
              <a:spLocks noChangeArrowheads="1"/>
            </p:cNvSpPr>
            <p:nvPr/>
          </p:nvSpPr>
          <p:spPr bwMode="auto">
            <a:xfrm>
              <a:off x="1275364" y="4204204"/>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(a)</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文本框 14"/>
            <p:cNvSpPr txBox="1">
              <a:spLocks noChangeArrowheads="1"/>
            </p:cNvSpPr>
            <p:nvPr/>
          </p:nvSpPr>
          <p:spPr bwMode="auto">
            <a:xfrm>
              <a:off x="1522858" y="4208528"/>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(b)</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 name="文本框 19"/>
            <p:cNvSpPr txBox="1">
              <a:spLocks noChangeArrowheads="1"/>
            </p:cNvSpPr>
            <p:nvPr/>
          </p:nvSpPr>
          <p:spPr bwMode="auto">
            <a:xfrm>
              <a:off x="2527112" y="4688856"/>
              <a:ext cx="1036776" cy="307777"/>
            </a:xfrm>
            <a:prstGeom prst="rect">
              <a:avLst/>
            </a:prstGeom>
            <a:solidFill>
              <a:schemeClr val="accent6"/>
            </a:solidFill>
            <a:ln w="28575">
              <a:solidFill>
                <a:schemeClr val="accent6">
                  <a:lumMod val="75000"/>
                </a:schemeClr>
              </a:solidFill>
              <a:miter lim="800000"/>
            </a:ln>
          </p:spPr>
          <p:txBody>
            <a:bodyPr wrap="square">
              <a:spAutoFit/>
            </a:bodyPr>
            <a:lstStyle/>
            <a:p>
              <a:pPr algn="ctr" eaLnBrk="0" hangingPunct="0">
                <a:spcBef>
                  <a:spcPct val="50000"/>
                </a:spcBef>
              </a:pP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子程序</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Hcf</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文本框 20"/>
            <p:cNvSpPr txBox="1">
              <a:spLocks noChangeArrowheads="1"/>
            </p:cNvSpPr>
            <p:nvPr/>
          </p:nvSpPr>
          <p:spPr bwMode="auto">
            <a:xfrm>
              <a:off x="961524" y="4479144"/>
              <a:ext cx="912710" cy="307777"/>
            </a:xfrm>
            <a:prstGeom prst="rect">
              <a:avLst/>
            </a:prstGeom>
            <a:solidFill>
              <a:srgbClr val="00B0F0"/>
            </a:solidFill>
            <a:ln w="28575">
              <a:solidFill>
                <a:srgbClr val="00B0F0"/>
              </a:solidFill>
              <a:miter lim="800000"/>
            </a:ln>
          </p:spPr>
          <p:txBody>
            <a:bodyPr wrap="square">
              <a:spAutoFit/>
            </a:bodyPr>
            <a:lstStyle/>
            <a:p>
              <a:pPr algn="ctr" eaLnBrk="0" hangingPunct="0">
                <a:spcBef>
                  <a:spcPct val="50000"/>
                </a:spcBef>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Call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Hcf</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2" name="组合 21"/>
            <p:cNvGrpSpPr/>
            <p:nvPr/>
          </p:nvGrpSpPr>
          <p:grpSpPr>
            <a:xfrm>
              <a:off x="1885260" y="4374095"/>
              <a:ext cx="1040788" cy="314761"/>
              <a:chOff x="6316452" y="2625523"/>
              <a:chExt cx="1628500" cy="517336"/>
            </a:xfrm>
          </p:grpSpPr>
          <p:cxnSp>
            <p:nvCxnSpPr>
              <p:cNvPr id="25" name="直接连接符 24"/>
              <p:cNvCxnSpPr/>
              <p:nvPr/>
            </p:nvCxnSpPr>
            <p:spPr>
              <a:xfrm flipV="1">
                <a:off x="6316452" y="2625523"/>
                <a:ext cx="1628500" cy="29468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H="1">
                <a:off x="7740352" y="2625523"/>
                <a:ext cx="204600" cy="51733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27790" name="组合 27789"/>
          <p:cNvGrpSpPr/>
          <p:nvPr/>
        </p:nvGrpSpPr>
        <p:grpSpPr>
          <a:xfrm>
            <a:off x="1884033" y="4138035"/>
            <a:ext cx="1188521" cy="550821"/>
            <a:chOff x="1884033" y="4138035"/>
            <a:chExt cx="1188521" cy="550821"/>
          </a:xfrm>
        </p:grpSpPr>
        <p:sp>
          <p:nvSpPr>
            <p:cNvPr id="16" name="文本框 15"/>
            <p:cNvSpPr txBox="1">
              <a:spLocks noChangeArrowheads="1"/>
            </p:cNvSpPr>
            <p:nvPr/>
          </p:nvSpPr>
          <p:spPr bwMode="auto">
            <a:xfrm>
              <a:off x="1931835" y="4138035"/>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FF6600"/>
                  </a:solidFill>
                  <a:latin typeface="Times New Roman" panose="02020603050405020304" pitchFamily="18" charset="0"/>
                  <a:ea typeface="宋体" panose="02010600030101010101" pitchFamily="2" charset="-122"/>
                  <a:cs typeface="Times New Roman" panose="02020603050405020304" pitchFamily="18" charset="0"/>
                </a:rPr>
                <a:t>(c)</a:t>
              </a:r>
              <a:endParaRPr lang="en-US" altLang="zh-CN" sz="1400" dirty="0">
                <a:solidFill>
                  <a:srgbClr val="FF6600"/>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7" name="组合 26"/>
            <p:cNvGrpSpPr/>
            <p:nvPr/>
          </p:nvGrpSpPr>
          <p:grpSpPr>
            <a:xfrm>
              <a:off x="1884033" y="4268878"/>
              <a:ext cx="1188521" cy="419978"/>
              <a:chOff x="6892007" y="1109146"/>
              <a:chExt cx="1859654" cy="690268"/>
            </a:xfrm>
          </p:grpSpPr>
          <p:cxnSp>
            <p:nvCxnSpPr>
              <p:cNvPr id="28" name="直接连接符 27"/>
              <p:cNvCxnSpPr/>
              <p:nvPr/>
            </p:nvCxnSpPr>
            <p:spPr>
              <a:xfrm flipV="1">
                <a:off x="6892007" y="1110228"/>
                <a:ext cx="1859648" cy="368532"/>
              </a:xfrm>
              <a:prstGeom prst="line">
                <a:avLst/>
              </a:prstGeom>
              <a:ln w="19050">
                <a:solidFill>
                  <a:srgbClr val="FF6600"/>
                </a:solidFill>
                <a:prstDash val="dash"/>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H="1">
                <a:off x="8522426" y="1109146"/>
                <a:ext cx="229235" cy="690268"/>
              </a:xfrm>
              <a:prstGeom prst="straightConnector1">
                <a:avLst/>
              </a:prstGeom>
              <a:ln w="19050">
                <a:solidFill>
                  <a:srgbClr val="FF6600"/>
                </a:solidFill>
                <a:prstDash val="dash"/>
                <a:tailEnd type="triangle"/>
              </a:ln>
            </p:spPr>
            <p:style>
              <a:lnRef idx="1">
                <a:schemeClr val="accent1"/>
              </a:lnRef>
              <a:fillRef idx="0">
                <a:schemeClr val="accent1"/>
              </a:fillRef>
              <a:effectRef idx="0">
                <a:schemeClr val="accent1"/>
              </a:effectRef>
              <a:fontRef idx="minor">
                <a:schemeClr val="tx1"/>
              </a:fontRef>
            </p:style>
          </p:cxnSp>
        </p:grpSp>
      </p:grpSp>
      <p:grpSp>
        <p:nvGrpSpPr>
          <p:cNvPr id="16385" name="组合 16384"/>
          <p:cNvGrpSpPr/>
          <p:nvPr/>
        </p:nvGrpSpPr>
        <p:grpSpPr>
          <a:xfrm>
            <a:off x="4235994" y="5161235"/>
            <a:ext cx="488861" cy="510435"/>
            <a:chOff x="4235994" y="5161235"/>
            <a:chExt cx="488861" cy="510435"/>
          </a:xfrm>
        </p:grpSpPr>
        <p:sp>
          <p:nvSpPr>
            <p:cNvPr id="49" name="文本框 48"/>
            <p:cNvSpPr txBox="1">
              <a:spLocks noChangeArrowheads="1"/>
            </p:cNvSpPr>
            <p:nvPr/>
          </p:nvSpPr>
          <p:spPr bwMode="auto">
            <a:xfrm>
              <a:off x="4312705" y="5161235"/>
              <a:ext cx="4121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chemeClr val="accent2">
                      <a:lumMod val="60000"/>
                      <a:lumOff val="40000"/>
                    </a:schemeClr>
                  </a:solidFill>
                  <a:latin typeface="Times New Roman" panose="02020603050405020304" pitchFamily="18" charset="0"/>
                  <a:ea typeface="宋体" panose="02010600030101010101" pitchFamily="2" charset="-122"/>
                  <a:cs typeface="Times New Roman" panose="02020603050405020304" pitchFamily="18" charset="0"/>
                </a:rPr>
                <a:t>(a)</a:t>
              </a:r>
              <a:endParaRPr lang="en-US" altLang="zh-CN" sz="1400" dirty="0">
                <a:solidFill>
                  <a:schemeClr val="accent2">
                    <a:lumMod val="60000"/>
                    <a:lumOff val="40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0" name="文本框 49"/>
            <p:cNvSpPr txBox="1">
              <a:spLocks noChangeArrowheads="1"/>
            </p:cNvSpPr>
            <p:nvPr/>
          </p:nvSpPr>
          <p:spPr bwMode="auto">
            <a:xfrm>
              <a:off x="4235994" y="5363893"/>
              <a:ext cx="4121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chemeClr val="accent2">
                      <a:lumMod val="60000"/>
                      <a:lumOff val="40000"/>
                    </a:schemeClr>
                  </a:solidFill>
                  <a:latin typeface="Times New Roman" panose="02020603050405020304" pitchFamily="18" charset="0"/>
                  <a:ea typeface="宋体" panose="02010600030101010101" pitchFamily="2" charset="-122"/>
                  <a:cs typeface="Times New Roman" panose="02020603050405020304" pitchFamily="18" charset="0"/>
                </a:rPr>
                <a:t>(b)</a:t>
              </a:r>
              <a:endParaRPr lang="en-US" altLang="zh-CN" sz="1400" dirty="0">
                <a:solidFill>
                  <a:schemeClr val="accent2">
                    <a:lumMod val="60000"/>
                    <a:lumOff val="40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27793" name="组合 27792"/>
          <p:cNvGrpSpPr/>
          <p:nvPr/>
        </p:nvGrpSpPr>
        <p:grpSpPr>
          <a:xfrm>
            <a:off x="3576497" y="4346498"/>
            <a:ext cx="1643574" cy="844088"/>
            <a:chOff x="3576497" y="4346498"/>
            <a:chExt cx="1643574" cy="844088"/>
          </a:xfrm>
        </p:grpSpPr>
        <p:sp>
          <p:nvSpPr>
            <p:cNvPr id="48" name="文本框 47"/>
            <p:cNvSpPr txBox="1">
              <a:spLocks noChangeArrowheads="1"/>
            </p:cNvSpPr>
            <p:nvPr/>
          </p:nvSpPr>
          <p:spPr bwMode="auto">
            <a:xfrm>
              <a:off x="3577317" y="4346498"/>
              <a:ext cx="4121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(c)</a:t>
              </a:r>
              <a:endParaRPr lang="en-US" altLang="zh-CN" sz="140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7791" name="组合 27790"/>
            <p:cNvGrpSpPr/>
            <p:nvPr/>
          </p:nvGrpSpPr>
          <p:grpSpPr>
            <a:xfrm>
              <a:off x="3584308" y="4578982"/>
              <a:ext cx="1635763" cy="611604"/>
              <a:chOff x="3584308" y="4578982"/>
              <a:chExt cx="1635763" cy="611604"/>
            </a:xfrm>
          </p:grpSpPr>
          <p:sp>
            <p:nvSpPr>
              <p:cNvPr id="51" name="文本框 50"/>
              <p:cNvSpPr txBox="1">
                <a:spLocks noChangeArrowheads="1"/>
              </p:cNvSpPr>
              <p:nvPr/>
            </p:nvSpPr>
            <p:spPr bwMode="auto">
              <a:xfrm>
                <a:off x="4187805" y="4882809"/>
                <a:ext cx="1032266" cy="307777"/>
              </a:xfrm>
              <a:prstGeom prst="rect">
                <a:avLst/>
              </a:prstGeom>
              <a:solidFill>
                <a:srgbClr val="00B050"/>
              </a:solidFill>
              <a:ln w="28575">
                <a:solidFill>
                  <a:srgbClr val="00B050"/>
                </a:solidFill>
                <a:miter lim="800000"/>
              </a:ln>
            </p:spPr>
            <p:txBody>
              <a:bodyPr wrap="square">
                <a:spAutoFit/>
              </a:bodyPr>
              <a:lstStyle/>
              <a:p>
                <a:pPr algn="ctr" eaLnBrk="0" hangingPunct="0">
                  <a:spcBef>
                    <a:spcPct val="50000"/>
                  </a:spcBef>
                </a:pP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子程序</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Hcf</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53" name="组合 52"/>
              <p:cNvGrpSpPr/>
              <p:nvPr/>
            </p:nvGrpSpPr>
            <p:grpSpPr>
              <a:xfrm>
                <a:off x="3584308" y="4578982"/>
                <a:ext cx="982892" cy="318341"/>
                <a:chOff x="6400323" y="2619640"/>
                <a:chExt cx="1544629" cy="523219"/>
              </a:xfrm>
            </p:grpSpPr>
            <p:cxnSp>
              <p:nvCxnSpPr>
                <p:cNvPr id="62" name="直接连接符 61"/>
                <p:cNvCxnSpPr/>
                <p:nvPr/>
              </p:nvCxnSpPr>
              <p:spPr>
                <a:xfrm flipV="1">
                  <a:off x="6400323" y="2619640"/>
                  <a:ext cx="1528889" cy="354925"/>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a:xfrm flipH="1">
                  <a:off x="7740352" y="2625523"/>
                  <a:ext cx="204600" cy="51733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56" name="组合 55"/>
            <p:cNvGrpSpPr/>
            <p:nvPr/>
          </p:nvGrpSpPr>
          <p:grpSpPr>
            <a:xfrm>
              <a:off x="3576497" y="4477343"/>
              <a:ext cx="1136579" cy="419978"/>
              <a:chOff x="6965513" y="1109146"/>
              <a:chExt cx="1786148" cy="690268"/>
            </a:xfrm>
          </p:grpSpPr>
          <p:cxnSp>
            <p:nvCxnSpPr>
              <p:cNvPr id="60" name="直接连接符 59"/>
              <p:cNvCxnSpPr/>
              <p:nvPr/>
            </p:nvCxnSpPr>
            <p:spPr>
              <a:xfrm flipV="1">
                <a:off x="6965513" y="1110229"/>
                <a:ext cx="1786144" cy="365189"/>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a:xfrm flipH="1">
                <a:off x="8522426" y="1109146"/>
                <a:ext cx="229235" cy="690268"/>
              </a:xfrm>
              <a:prstGeom prst="straightConnector1">
                <a:avLst/>
              </a:prstGeom>
              <a:ln w="19050">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grpSp>
      </p:grpSp>
      <p:grpSp>
        <p:nvGrpSpPr>
          <p:cNvPr id="27806" name="组合 27805"/>
          <p:cNvGrpSpPr/>
          <p:nvPr/>
        </p:nvGrpSpPr>
        <p:grpSpPr>
          <a:xfrm>
            <a:off x="5850242" y="5385708"/>
            <a:ext cx="538953" cy="502731"/>
            <a:chOff x="5850242" y="5385708"/>
            <a:chExt cx="538953" cy="502731"/>
          </a:xfrm>
        </p:grpSpPr>
        <p:sp>
          <p:nvSpPr>
            <p:cNvPr id="68" name="文本框 67"/>
            <p:cNvSpPr txBox="1">
              <a:spLocks noChangeArrowheads="1"/>
            </p:cNvSpPr>
            <p:nvPr/>
          </p:nvSpPr>
          <p:spPr bwMode="auto">
            <a:xfrm>
              <a:off x="5975246" y="5385708"/>
              <a:ext cx="41394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5E8892"/>
                  </a:solidFill>
                  <a:latin typeface="Times New Roman" panose="02020603050405020304" pitchFamily="18" charset="0"/>
                  <a:ea typeface="宋体" panose="02010600030101010101" pitchFamily="2" charset="-122"/>
                  <a:cs typeface="Times New Roman" panose="02020603050405020304" pitchFamily="18" charset="0"/>
                </a:rPr>
                <a:t>(a)</a:t>
              </a:r>
              <a:endParaRPr lang="en-US" altLang="zh-CN" sz="1400" dirty="0">
                <a:solidFill>
                  <a:srgbClr val="5E889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 name="文本框 68"/>
            <p:cNvSpPr txBox="1">
              <a:spLocks noChangeArrowheads="1"/>
            </p:cNvSpPr>
            <p:nvPr/>
          </p:nvSpPr>
          <p:spPr bwMode="auto">
            <a:xfrm>
              <a:off x="5850242" y="5580662"/>
              <a:ext cx="41394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5E8892"/>
                  </a:solidFill>
                  <a:latin typeface="Times New Roman" panose="02020603050405020304" pitchFamily="18" charset="0"/>
                  <a:ea typeface="宋体" panose="02010600030101010101" pitchFamily="2" charset="-122"/>
                  <a:cs typeface="Times New Roman" panose="02020603050405020304" pitchFamily="18" charset="0"/>
                </a:rPr>
                <a:t>(b)</a:t>
              </a:r>
              <a:endParaRPr lang="en-US" altLang="zh-CN" sz="1400" dirty="0">
                <a:solidFill>
                  <a:srgbClr val="5E8892"/>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27799" name="组合 27798"/>
          <p:cNvGrpSpPr/>
          <p:nvPr/>
        </p:nvGrpSpPr>
        <p:grpSpPr>
          <a:xfrm>
            <a:off x="5218488" y="4569347"/>
            <a:ext cx="1645225" cy="858598"/>
            <a:chOff x="5218488" y="4569347"/>
            <a:chExt cx="1645225" cy="858598"/>
          </a:xfrm>
        </p:grpSpPr>
        <p:grpSp>
          <p:nvGrpSpPr>
            <p:cNvPr id="72" name="组合 71"/>
            <p:cNvGrpSpPr/>
            <p:nvPr/>
          </p:nvGrpSpPr>
          <p:grpSpPr>
            <a:xfrm>
              <a:off x="5235501" y="4805407"/>
              <a:ext cx="977201" cy="314761"/>
              <a:chOff x="6415946" y="2625523"/>
              <a:chExt cx="1529006" cy="517336"/>
            </a:xfrm>
          </p:grpSpPr>
          <p:cxnSp>
            <p:nvCxnSpPr>
              <p:cNvPr id="81" name="直接连接符 80"/>
              <p:cNvCxnSpPr/>
              <p:nvPr/>
            </p:nvCxnSpPr>
            <p:spPr>
              <a:xfrm flipV="1">
                <a:off x="6415946" y="2625523"/>
                <a:ext cx="1529005" cy="290646"/>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p:nvPr/>
            </p:nvCxnSpPr>
            <p:spPr>
              <a:xfrm flipH="1">
                <a:off x="7740352" y="2625523"/>
                <a:ext cx="204600" cy="51733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7797" name="组合 27796"/>
            <p:cNvGrpSpPr/>
            <p:nvPr/>
          </p:nvGrpSpPr>
          <p:grpSpPr>
            <a:xfrm>
              <a:off x="5218488" y="4569347"/>
              <a:ext cx="1645225" cy="858598"/>
              <a:chOff x="5218488" y="4569347"/>
              <a:chExt cx="1645225" cy="858598"/>
            </a:xfrm>
          </p:grpSpPr>
          <p:sp>
            <p:nvSpPr>
              <p:cNvPr id="67" name="文本框 66"/>
              <p:cNvSpPr txBox="1">
                <a:spLocks noChangeArrowheads="1"/>
              </p:cNvSpPr>
              <p:nvPr/>
            </p:nvSpPr>
            <p:spPr bwMode="auto">
              <a:xfrm>
                <a:off x="5218488" y="4569347"/>
                <a:ext cx="41394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b="1" dirty="0">
                    <a:solidFill>
                      <a:srgbClr val="FCD5B5"/>
                    </a:solidFill>
                    <a:latin typeface="Times New Roman" panose="02020603050405020304" pitchFamily="18" charset="0"/>
                    <a:ea typeface="宋体" panose="02010600030101010101" pitchFamily="2" charset="-122"/>
                    <a:cs typeface="Times New Roman" panose="02020603050405020304" pitchFamily="18" charset="0"/>
                  </a:rPr>
                  <a:t>(c)</a:t>
                </a:r>
                <a:endParaRPr lang="en-US" altLang="zh-CN" sz="1400" b="1" dirty="0">
                  <a:solidFill>
                    <a:srgbClr val="FCD5B5"/>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7796" name="组合 27795"/>
              <p:cNvGrpSpPr/>
              <p:nvPr/>
            </p:nvGrpSpPr>
            <p:grpSpPr>
              <a:xfrm>
                <a:off x="5225144" y="4700190"/>
                <a:ext cx="1638569" cy="727755"/>
                <a:chOff x="5225144" y="4700190"/>
                <a:chExt cx="1638569" cy="727755"/>
              </a:xfrm>
            </p:grpSpPr>
            <p:sp>
              <p:nvSpPr>
                <p:cNvPr id="70" name="文本框 69"/>
                <p:cNvSpPr txBox="1">
                  <a:spLocks noChangeArrowheads="1"/>
                </p:cNvSpPr>
                <p:nvPr/>
              </p:nvSpPr>
              <p:spPr bwMode="auto">
                <a:xfrm>
                  <a:off x="5826937" y="5120168"/>
                  <a:ext cx="1036776" cy="307777"/>
                </a:xfrm>
                <a:prstGeom prst="rect">
                  <a:avLst/>
                </a:prstGeom>
                <a:solidFill>
                  <a:srgbClr val="FCD5B5"/>
                </a:solidFill>
                <a:ln w="28575">
                  <a:solidFill>
                    <a:schemeClr val="accent6">
                      <a:lumMod val="40000"/>
                      <a:lumOff val="60000"/>
                    </a:schemeClr>
                  </a:solidFill>
                  <a:miter lim="800000"/>
                </a:ln>
              </p:spPr>
              <p:txBody>
                <a:bodyPr wrap="square">
                  <a:spAutoFit/>
                </a:bodyPr>
                <a:lstStyle/>
                <a:p>
                  <a:pPr algn="ctr" eaLnBrk="0" hangingPunct="0">
                    <a:spcBef>
                      <a:spcPct val="50000"/>
                    </a:spcBef>
                  </a:pP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子程序</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Hcf</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75" name="组合 74"/>
                <p:cNvGrpSpPr/>
                <p:nvPr/>
              </p:nvGrpSpPr>
              <p:grpSpPr>
                <a:xfrm>
                  <a:off x="5225144" y="4700190"/>
                  <a:ext cx="1134060" cy="419978"/>
                  <a:chOff x="6977219" y="1109146"/>
                  <a:chExt cx="1774442" cy="690268"/>
                </a:xfrm>
              </p:grpSpPr>
              <p:cxnSp>
                <p:nvCxnSpPr>
                  <p:cNvPr id="79" name="直接连接符 78"/>
                  <p:cNvCxnSpPr/>
                  <p:nvPr/>
                </p:nvCxnSpPr>
                <p:spPr>
                  <a:xfrm flipV="1">
                    <a:off x="6977219" y="1110229"/>
                    <a:ext cx="1774435" cy="327171"/>
                  </a:xfrm>
                  <a:prstGeom prst="line">
                    <a:avLst/>
                  </a:prstGeom>
                  <a:ln w="19050">
                    <a:solidFill>
                      <a:schemeClr val="accent6">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0" name="直接箭头连接符 79"/>
                  <p:cNvCxnSpPr/>
                  <p:nvPr/>
                </p:nvCxnSpPr>
                <p:spPr>
                  <a:xfrm flipH="1">
                    <a:off x="8522426" y="1109146"/>
                    <a:ext cx="229235" cy="690268"/>
                  </a:xfrm>
                  <a:prstGeom prst="straightConnector1">
                    <a:avLst/>
                  </a:prstGeom>
                  <a:ln w="19050">
                    <a:solidFill>
                      <a:schemeClr val="accent6">
                        <a:lumMod val="40000"/>
                        <a:lumOff val="60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grpSp>
        </p:grpSp>
      </p:grpSp>
      <p:grpSp>
        <p:nvGrpSpPr>
          <p:cNvPr id="27803" name="组合 27802"/>
          <p:cNvGrpSpPr/>
          <p:nvPr/>
        </p:nvGrpSpPr>
        <p:grpSpPr>
          <a:xfrm>
            <a:off x="7619290" y="5623127"/>
            <a:ext cx="467439" cy="506646"/>
            <a:chOff x="7619290" y="5623127"/>
            <a:chExt cx="467439" cy="506646"/>
          </a:xfrm>
        </p:grpSpPr>
        <p:sp>
          <p:nvSpPr>
            <p:cNvPr id="87" name="文本框 86"/>
            <p:cNvSpPr txBox="1">
              <a:spLocks noChangeArrowheads="1"/>
            </p:cNvSpPr>
            <p:nvPr/>
          </p:nvSpPr>
          <p:spPr bwMode="auto">
            <a:xfrm>
              <a:off x="7672779" y="5623127"/>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a:t>
              </a:r>
              <a:endParaRPr lang="en-US" altLang="zh-CN" sz="14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88" name="文本框 87"/>
            <p:cNvSpPr txBox="1">
              <a:spLocks noChangeArrowheads="1"/>
            </p:cNvSpPr>
            <p:nvPr/>
          </p:nvSpPr>
          <p:spPr bwMode="auto">
            <a:xfrm>
              <a:off x="7619290" y="5821996"/>
              <a:ext cx="39371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spcBef>
                  <a:spcPct val="50000"/>
                </a:spcBef>
              </a:pPr>
              <a:r>
                <a:rPr lang="en-US" altLang="zh-CN" sz="14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(b)</a:t>
              </a:r>
              <a:endParaRPr lang="en-US" altLang="zh-CN" sz="14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27802" name="组合 27801"/>
          <p:cNvGrpSpPr/>
          <p:nvPr/>
        </p:nvGrpSpPr>
        <p:grpSpPr>
          <a:xfrm>
            <a:off x="6886715" y="4806216"/>
            <a:ext cx="1693028" cy="858600"/>
            <a:chOff x="6886715" y="4806216"/>
            <a:chExt cx="1693028" cy="858600"/>
          </a:xfrm>
        </p:grpSpPr>
        <p:sp>
          <p:nvSpPr>
            <p:cNvPr id="86" name="文本框 85"/>
            <p:cNvSpPr txBox="1">
              <a:spLocks noChangeArrowheads="1"/>
            </p:cNvSpPr>
            <p:nvPr/>
          </p:nvSpPr>
          <p:spPr bwMode="auto">
            <a:xfrm>
              <a:off x="6934517" y="4806216"/>
              <a:ext cx="413950" cy="30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8A3CC4"/>
                  </a:solidFill>
                  <a:latin typeface="Times New Roman" panose="02020603050405020304" pitchFamily="18" charset="0"/>
                  <a:ea typeface="宋体" panose="02010600030101010101" pitchFamily="2" charset="-122"/>
                  <a:cs typeface="Times New Roman" panose="02020603050405020304" pitchFamily="18" charset="0"/>
                </a:rPr>
                <a:t>(c)</a:t>
              </a:r>
              <a:endParaRPr lang="en-US" altLang="zh-CN" sz="1400" dirty="0">
                <a:solidFill>
                  <a:srgbClr val="8A3CC4"/>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89" name="文本框 88"/>
            <p:cNvSpPr txBox="1">
              <a:spLocks noChangeArrowheads="1"/>
            </p:cNvSpPr>
            <p:nvPr/>
          </p:nvSpPr>
          <p:spPr bwMode="auto">
            <a:xfrm>
              <a:off x="7542967" y="5357038"/>
              <a:ext cx="1036776" cy="307778"/>
            </a:xfrm>
            <a:prstGeom prst="rect">
              <a:avLst/>
            </a:prstGeom>
            <a:solidFill>
              <a:schemeClr val="accent4">
                <a:lumMod val="60000"/>
                <a:lumOff val="40000"/>
              </a:schemeClr>
            </a:solidFill>
            <a:ln w="28575">
              <a:solidFill>
                <a:schemeClr val="accent4">
                  <a:lumMod val="60000"/>
                  <a:lumOff val="40000"/>
                </a:schemeClr>
              </a:solidFill>
              <a:miter lim="800000"/>
            </a:ln>
          </p:spPr>
          <p:txBody>
            <a:bodyPr wrap="square">
              <a:spAutoFit/>
            </a:bodyPr>
            <a:lstStyle/>
            <a:p>
              <a:pPr algn="ctr" eaLnBrk="0" hangingPunct="0">
                <a:spcBef>
                  <a:spcPct val="50000"/>
                </a:spcBef>
              </a:pP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子程序</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Hcf</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90" name="组合 89"/>
            <p:cNvGrpSpPr/>
            <p:nvPr/>
          </p:nvGrpSpPr>
          <p:grpSpPr>
            <a:xfrm>
              <a:off x="6887942" y="5042276"/>
              <a:ext cx="1040789" cy="314762"/>
              <a:chOff x="6316452" y="2625523"/>
              <a:chExt cx="1628500" cy="517336"/>
            </a:xfrm>
          </p:grpSpPr>
          <p:cxnSp>
            <p:nvCxnSpPr>
              <p:cNvPr id="99" name="直接连接符 98"/>
              <p:cNvCxnSpPr/>
              <p:nvPr/>
            </p:nvCxnSpPr>
            <p:spPr>
              <a:xfrm flipV="1">
                <a:off x="6316452" y="2625523"/>
                <a:ext cx="1628500" cy="29468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p:nvPr/>
            </p:nvCxnSpPr>
            <p:spPr>
              <a:xfrm flipH="1">
                <a:off x="7740352" y="2625523"/>
                <a:ext cx="204600" cy="51733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3" name="组合 92"/>
            <p:cNvGrpSpPr/>
            <p:nvPr/>
          </p:nvGrpSpPr>
          <p:grpSpPr>
            <a:xfrm>
              <a:off x="6886715" y="4937059"/>
              <a:ext cx="1188521" cy="419978"/>
              <a:chOff x="6892007" y="1109146"/>
              <a:chExt cx="1859654" cy="690268"/>
            </a:xfrm>
          </p:grpSpPr>
          <p:cxnSp>
            <p:nvCxnSpPr>
              <p:cNvPr id="97" name="直接连接符 96"/>
              <p:cNvCxnSpPr/>
              <p:nvPr/>
            </p:nvCxnSpPr>
            <p:spPr>
              <a:xfrm flipV="1">
                <a:off x="6892007" y="1110228"/>
                <a:ext cx="1859648" cy="368532"/>
              </a:xfrm>
              <a:prstGeom prst="line">
                <a:avLst/>
              </a:prstGeom>
              <a:ln w="19050">
                <a:solidFill>
                  <a:srgbClr val="8A3CC4"/>
                </a:solidFill>
                <a:prstDash val="dash"/>
              </a:ln>
            </p:spPr>
            <p:style>
              <a:lnRef idx="1">
                <a:schemeClr val="accent1"/>
              </a:lnRef>
              <a:fillRef idx="0">
                <a:schemeClr val="accent1"/>
              </a:fillRef>
              <a:effectRef idx="0">
                <a:schemeClr val="accent1"/>
              </a:effectRef>
              <a:fontRef idx="minor">
                <a:schemeClr val="tx1"/>
              </a:fontRef>
            </p:style>
          </p:cxnSp>
          <p:cxnSp>
            <p:nvCxnSpPr>
              <p:cNvPr id="98" name="直接箭头连接符 97"/>
              <p:cNvCxnSpPr/>
              <p:nvPr/>
            </p:nvCxnSpPr>
            <p:spPr>
              <a:xfrm flipH="1">
                <a:off x="8522426" y="1109146"/>
                <a:ext cx="229235" cy="690268"/>
              </a:xfrm>
              <a:prstGeom prst="straightConnector1">
                <a:avLst/>
              </a:prstGeom>
              <a:ln w="19050">
                <a:solidFill>
                  <a:srgbClr val="8A3CC4"/>
                </a:solidFill>
                <a:prstDash val="dash"/>
                <a:tailEnd type="triangle"/>
              </a:ln>
            </p:spPr>
            <p:style>
              <a:lnRef idx="1">
                <a:schemeClr val="accent1"/>
              </a:lnRef>
              <a:fillRef idx="0">
                <a:schemeClr val="accent1"/>
              </a:fillRef>
              <a:effectRef idx="0">
                <a:schemeClr val="accent1"/>
              </a:effectRef>
              <a:fontRef idx="minor">
                <a:schemeClr val="tx1"/>
              </a:fontRef>
            </p:style>
          </p:cxnSp>
        </p:grpSp>
      </p:grpSp>
      <p:grpSp>
        <p:nvGrpSpPr>
          <p:cNvPr id="27805" name="组合 27804"/>
          <p:cNvGrpSpPr/>
          <p:nvPr/>
        </p:nvGrpSpPr>
        <p:grpSpPr>
          <a:xfrm>
            <a:off x="6680356" y="5371053"/>
            <a:ext cx="1117611" cy="706659"/>
            <a:chOff x="6680356" y="5371053"/>
            <a:chExt cx="1117611" cy="706659"/>
          </a:xfrm>
        </p:grpSpPr>
        <p:grpSp>
          <p:nvGrpSpPr>
            <p:cNvPr id="27804" name="组合 27803"/>
            <p:cNvGrpSpPr/>
            <p:nvPr/>
          </p:nvGrpSpPr>
          <p:grpSpPr>
            <a:xfrm>
              <a:off x="6804465" y="5371053"/>
              <a:ext cx="993502" cy="706659"/>
              <a:chOff x="6804465" y="5371053"/>
              <a:chExt cx="993502" cy="706659"/>
            </a:xfrm>
          </p:grpSpPr>
          <p:cxnSp>
            <p:nvCxnSpPr>
              <p:cNvPr id="91" name="直接箭头连接符 90"/>
              <p:cNvCxnSpPr/>
              <p:nvPr/>
            </p:nvCxnSpPr>
            <p:spPr>
              <a:xfrm flipH="1">
                <a:off x="7540931" y="5678831"/>
                <a:ext cx="113667" cy="250968"/>
              </a:xfrm>
              <a:prstGeom prst="straightConnector1">
                <a:avLst/>
              </a:prstGeom>
              <a:ln w="2222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flipV="1">
                <a:off x="6886718" y="5371053"/>
                <a:ext cx="654212" cy="558745"/>
              </a:xfrm>
              <a:prstGeom prst="line">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4" name="组合 93"/>
              <p:cNvGrpSpPr/>
              <p:nvPr/>
            </p:nvGrpSpPr>
            <p:grpSpPr>
              <a:xfrm>
                <a:off x="6804465" y="5462158"/>
                <a:ext cx="993502" cy="615554"/>
                <a:chOff x="6763309" y="1972189"/>
                <a:chExt cx="1554511" cy="1011712"/>
              </a:xfrm>
            </p:grpSpPr>
            <p:cxnSp>
              <p:nvCxnSpPr>
                <p:cNvPr id="95" name="直接连接符 94"/>
                <p:cNvCxnSpPr/>
                <p:nvPr/>
              </p:nvCxnSpPr>
              <p:spPr>
                <a:xfrm flipH="1">
                  <a:off x="7952103" y="2305271"/>
                  <a:ext cx="365717" cy="678629"/>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p:nvPr/>
              </p:nvCxnSpPr>
              <p:spPr>
                <a:xfrm flipH="1" flipV="1">
                  <a:off x="6763309" y="1972189"/>
                  <a:ext cx="1188796" cy="1011712"/>
                </a:xfrm>
                <a:prstGeom prst="straightConnector1">
                  <a:avLst/>
                </a:prstGeom>
                <a:ln w="19050">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grpSp>
        </p:grpSp>
        <p:sp>
          <p:nvSpPr>
            <p:cNvPr id="101" name="文本框 100"/>
            <p:cNvSpPr txBox="1">
              <a:spLocks noChangeArrowheads="1"/>
            </p:cNvSpPr>
            <p:nvPr/>
          </p:nvSpPr>
          <p:spPr bwMode="auto">
            <a:xfrm>
              <a:off x="6918762" y="5717373"/>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(c)</a:t>
              </a:r>
              <a:endParaRPr lang="en-US" altLang="zh-CN" sz="14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 name="文本框 101"/>
            <p:cNvSpPr txBox="1">
              <a:spLocks noChangeArrowheads="1"/>
            </p:cNvSpPr>
            <p:nvPr/>
          </p:nvSpPr>
          <p:spPr bwMode="auto">
            <a:xfrm>
              <a:off x="6680356" y="5597767"/>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(d)</a:t>
              </a:r>
              <a:endParaRPr lang="en-US" altLang="zh-CN" sz="14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16390" name="组合 16389"/>
          <p:cNvGrpSpPr/>
          <p:nvPr/>
        </p:nvGrpSpPr>
        <p:grpSpPr>
          <a:xfrm>
            <a:off x="4957273" y="5202503"/>
            <a:ext cx="1063547" cy="638340"/>
            <a:chOff x="4957273" y="5202503"/>
            <a:chExt cx="1063547" cy="638340"/>
          </a:xfrm>
        </p:grpSpPr>
        <p:grpSp>
          <p:nvGrpSpPr>
            <p:cNvPr id="76" name="组合 75"/>
            <p:cNvGrpSpPr/>
            <p:nvPr/>
          </p:nvGrpSpPr>
          <p:grpSpPr>
            <a:xfrm>
              <a:off x="5050904" y="5202503"/>
              <a:ext cx="969916" cy="638340"/>
              <a:chOff x="6704580" y="1934738"/>
              <a:chExt cx="1517607" cy="1049164"/>
            </a:xfrm>
          </p:grpSpPr>
          <p:cxnSp>
            <p:nvCxnSpPr>
              <p:cNvPr id="77" name="直接连接符 76"/>
              <p:cNvCxnSpPr/>
              <p:nvPr/>
            </p:nvCxnSpPr>
            <p:spPr>
              <a:xfrm flipH="1">
                <a:off x="7952103" y="2328307"/>
                <a:ext cx="270084" cy="655592"/>
              </a:xfrm>
              <a:prstGeom prst="line">
                <a:avLst/>
              </a:prstGeom>
              <a:ln w="19050">
                <a:solidFill>
                  <a:schemeClr val="accent5">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p:nvPr/>
            </p:nvCxnSpPr>
            <p:spPr>
              <a:xfrm flipH="1" flipV="1">
                <a:off x="6704580" y="1934738"/>
                <a:ext cx="1247524" cy="1049164"/>
              </a:xfrm>
              <a:prstGeom prst="straightConnector1">
                <a:avLst/>
              </a:prstGeom>
              <a:ln w="19050">
                <a:solidFill>
                  <a:schemeClr val="accent5">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27807" name="组合 27806"/>
            <p:cNvGrpSpPr/>
            <p:nvPr/>
          </p:nvGrpSpPr>
          <p:grpSpPr>
            <a:xfrm>
              <a:off x="4957273" y="5205097"/>
              <a:ext cx="981295" cy="565458"/>
              <a:chOff x="4957273" y="5205097"/>
              <a:chExt cx="981295" cy="565458"/>
            </a:xfrm>
          </p:grpSpPr>
          <p:cxnSp>
            <p:nvCxnSpPr>
              <p:cNvPr id="73" name="直接箭头连接符 72"/>
              <p:cNvCxnSpPr/>
              <p:nvPr/>
            </p:nvCxnSpPr>
            <p:spPr>
              <a:xfrm flipH="1">
                <a:off x="5824901" y="5441961"/>
                <a:ext cx="113667" cy="250968"/>
              </a:xfrm>
              <a:prstGeom prst="straightConnector1">
                <a:avLst/>
              </a:prstGeom>
              <a:ln w="2222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flipV="1">
                <a:off x="5222384" y="5205097"/>
                <a:ext cx="602517" cy="487833"/>
              </a:xfrm>
              <a:prstGeom prst="line">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3" name="文本框 102"/>
              <p:cNvSpPr txBox="1">
                <a:spLocks noChangeArrowheads="1"/>
              </p:cNvSpPr>
              <p:nvPr/>
            </p:nvSpPr>
            <p:spPr bwMode="auto">
              <a:xfrm>
                <a:off x="5195679" y="5462778"/>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5E8892"/>
                    </a:solidFill>
                    <a:latin typeface="Times New Roman" panose="02020603050405020304" pitchFamily="18" charset="0"/>
                    <a:ea typeface="宋体" panose="02010600030101010101" pitchFamily="2" charset="-122"/>
                    <a:cs typeface="Times New Roman" panose="02020603050405020304" pitchFamily="18" charset="0"/>
                  </a:rPr>
                  <a:t>(c)</a:t>
                </a:r>
                <a:endParaRPr lang="en-US" altLang="zh-CN" sz="1400" dirty="0">
                  <a:solidFill>
                    <a:srgbClr val="5E889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4" name="文本框 103"/>
              <p:cNvSpPr txBox="1">
                <a:spLocks noChangeArrowheads="1"/>
              </p:cNvSpPr>
              <p:nvPr/>
            </p:nvSpPr>
            <p:spPr bwMode="auto">
              <a:xfrm>
                <a:off x="4957273" y="5343172"/>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5E8892"/>
                    </a:solidFill>
                    <a:latin typeface="Times New Roman" panose="02020603050405020304" pitchFamily="18" charset="0"/>
                    <a:ea typeface="宋体" panose="02010600030101010101" pitchFamily="2" charset="-122"/>
                    <a:cs typeface="Times New Roman" panose="02020603050405020304" pitchFamily="18" charset="0"/>
                  </a:rPr>
                  <a:t>(d)</a:t>
                </a:r>
                <a:endParaRPr lang="en-US" altLang="zh-CN" sz="1400" dirty="0">
                  <a:solidFill>
                    <a:srgbClr val="5E8892"/>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grpSp>
        <p:nvGrpSpPr>
          <p:cNvPr id="16391" name="组合 16390"/>
          <p:cNvGrpSpPr/>
          <p:nvPr/>
        </p:nvGrpSpPr>
        <p:grpSpPr>
          <a:xfrm>
            <a:off x="3301655" y="4966154"/>
            <a:ext cx="1135355" cy="651841"/>
            <a:chOff x="3301655" y="4966154"/>
            <a:chExt cx="1135355" cy="651841"/>
          </a:xfrm>
        </p:grpSpPr>
        <p:cxnSp>
          <p:nvCxnSpPr>
            <p:cNvPr id="54" name="直接箭头连接符 53"/>
            <p:cNvCxnSpPr/>
            <p:nvPr/>
          </p:nvCxnSpPr>
          <p:spPr>
            <a:xfrm flipH="1">
              <a:off x="4181095" y="5197363"/>
              <a:ext cx="145255" cy="272717"/>
            </a:xfrm>
            <a:prstGeom prst="straightConnector1">
              <a:avLst/>
            </a:prstGeom>
            <a:ln w="2222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flipV="1">
              <a:off x="3576495" y="4966154"/>
              <a:ext cx="604597" cy="503927"/>
            </a:xfrm>
            <a:prstGeom prst="line">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6388" name="组合 16387"/>
            <p:cNvGrpSpPr/>
            <p:nvPr/>
          </p:nvGrpSpPr>
          <p:grpSpPr>
            <a:xfrm>
              <a:off x="3301655" y="5002442"/>
              <a:ext cx="1135355" cy="615553"/>
              <a:chOff x="3301655" y="5002442"/>
              <a:chExt cx="1135355" cy="615553"/>
            </a:xfrm>
          </p:grpSpPr>
          <p:grpSp>
            <p:nvGrpSpPr>
              <p:cNvPr id="57" name="组合 56"/>
              <p:cNvGrpSpPr/>
              <p:nvPr/>
            </p:nvGrpSpPr>
            <p:grpSpPr>
              <a:xfrm>
                <a:off x="3447830" y="5002442"/>
                <a:ext cx="989180" cy="615553"/>
                <a:chOff x="6763309" y="1972189"/>
                <a:chExt cx="1554511" cy="1011712"/>
              </a:xfrm>
            </p:grpSpPr>
            <p:cxnSp>
              <p:nvCxnSpPr>
                <p:cNvPr id="58" name="直接连接符 57"/>
                <p:cNvCxnSpPr/>
                <p:nvPr/>
              </p:nvCxnSpPr>
              <p:spPr>
                <a:xfrm flipH="1">
                  <a:off x="7952103" y="2305271"/>
                  <a:ext cx="365717" cy="678629"/>
                </a:xfrm>
                <a:prstGeom prst="line">
                  <a:avLst/>
                </a:prstGeom>
                <a:ln w="19050">
                  <a:solidFill>
                    <a:schemeClr val="accent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flipH="1" flipV="1">
                  <a:off x="6763309" y="1972189"/>
                  <a:ext cx="1188796" cy="1011712"/>
                </a:xfrm>
                <a:prstGeom prst="straightConnector1">
                  <a:avLst/>
                </a:prstGeom>
                <a:ln w="19050">
                  <a:solidFill>
                    <a:schemeClr val="accent2">
                      <a:lumMod val="60000"/>
                      <a:lumOff val="40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16386" name="组合 16385"/>
              <p:cNvGrpSpPr/>
              <p:nvPr/>
            </p:nvGrpSpPr>
            <p:grpSpPr>
              <a:xfrm>
                <a:off x="3301655" y="5101753"/>
                <a:ext cx="602061" cy="441091"/>
                <a:chOff x="3301655" y="5101753"/>
                <a:chExt cx="602061" cy="441091"/>
              </a:xfrm>
            </p:grpSpPr>
            <p:sp>
              <p:nvSpPr>
                <p:cNvPr id="105" name="文本框 104"/>
                <p:cNvSpPr txBox="1">
                  <a:spLocks noChangeArrowheads="1"/>
                </p:cNvSpPr>
                <p:nvPr/>
              </p:nvSpPr>
              <p:spPr bwMode="auto">
                <a:xfrm>
                  <a:off x="3489766" y="5235067"/>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chemeClr val="accent2">
                          <a:lumMod val="60000"/>
                          <a:lumOff val="40000"/>
                        </a:schemeClr>
                      </a:solidFill>
                      <a:latin typeface="Times New Roman" panose="02020603050405020304" pitchFamily="18" charset="0"/>
                      <a:ea typeface="宋体" panose="02010600030101010101" pitchFamily="2" charset="-122"/>
                      <a:cs typeface="Times New Roman" panose="02020603050405020304" pitchFamily="18" charset="0"/>
                    </a:rPr>
                    <a:t>(c)</a:t>
                  </a:r>
                  <a:endParaRPr lang="en-US" altLang="zh-CN" sz="1400" dirty="0">
                    <a:solidFill>
                      <a:schemeClr val="accent2">
                        <a:lumMod val="60000"/>
                        <a:lumOff val="40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6" name="文本框 105"/>
                <p:cNvSpPr txBox="1">
                  <a:spLocks noChangeArrowheads="1"/>
                </p:cNvSpPr>
                <p:nvPr/>
              </p:nvSpPr>
              <p:spPr bwMode="auto">
                <a:xfrm>
                  <a:off x="3301655" y="5101753"/>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chemeClr val="accent2">
                          <a:lumMod val="60000"/>
                          <a:lumOff val="40000"/>
                        </a:schemeClr>
                      </a:solidFill>
                      <a:latin typeface="Times New Roman" panose="02020603050405020304" pitchFamily="18" charset="0"/>
                      <a:ea typeface="宋体" panose="02010600030101010101" pitchFamily="2" charset="-122"/>
                      <a:cs typeface="Times New Roman" panose="02020603050405020304" pitchFamily="18" charset="0"/>
                    </a:rPr>
                    <a:t>(d)</a:t>
                  </a:r>
                  <a:endParaRPr lang="en-US" altLang="zh-CN" sz="1400" dirty="0">
                    <a:solidFill>
                      <a:schemeClr val="accent2">
                        <a:lumMod val="60000"/>
                        <a:lumOff val="40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grpSp>
      <p:grpSp>
        <p:nvGrpSpPr>
          <p:cNvPr id="27792" name="组合 27791"/>
          <p:cNvGrpSpPr/>
          <p:nvPr/>
        </p:nvGrpSpPr>
        <p:grpSpPr>
          <a:xfrm>
            <a:off x="3065082" y="4387840"/>
            <a:ext cx="661444" cy="318693"/>
            <a:chOff x="3065082" y="4387840"/>
            <a:chExt cx="661444" cy="318693"/>
          </a:xfrm>
        </p:grpSpPr>
        <p:sp>
          <p:nvSpPr>
            <p:cNvPr id="107" name="文本框 106"/>
            <p:cNvSpPr txBox="1">
              <a:spLocks noChangeArrowheads="1"/>
            </p:cNvSpPr>
            <p:nvPr/>
          </p:nvSpPr>
          <p:spPr bwMode="auto">
            <a:xfrm>
              <a:off x="3065082" y="4398756"/>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(a)</a:t>
              </a:r>
              <a:endParaRPr lang="en-US" altLang="zh-CN" sz="140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8" name="文本框 107"/>
            <p:cNvSpPr txBox="1">
              <a:spLocks noChangeArrowheads="1"/>
            </p:cNvSpPr>
            <p:nvPr/>
          </p:nvSpPr>
          <p:spPr bwMode="auto">
            <a:xfrm>
              <a:off x="3312576" y="4387840"/>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(b)</a:t>
              </a:r>
              <a:endParaRPr lang="en-US" altLang="zh-CN" sz="140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27794" name="组合 27793"/>
          <p:cNvGrpSpPr/>
          <p:nvPr/>
        </p:nvGrpSpPr>
        <p:grpSpPr>
          <a:xfrm>
            <a:off x="4650445" y="4595307"/>
            <a:ext cx="653824" cy="311073"/>
            <a:chOff x="4650445" y="4595307"/>
            <a:chExt cx="653824" cy="311073"/>
          </a:xfrm>
        </p:grpSpPr>
        <p:sp>
          <p:nvSpPr>
            <p:cNvPr id="109" name="文本框 108"/>
            <p:cNvSpPr txBox="1">
              <a:spLocks noChangeArrowheads="1"/>
            </p:cNvSpPr>
            <p:nvPr/>
          </p:nvSpPr>
          <p:spPr bwMode="auto">
            <a:xfrm>
              <a:off x="4650445" y="4598603"/>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b="1" dirty="0">
                  <a:solidFill>
                    <a:srgbClr val="FCD5B5"/>
                  </a:solidFill>
                  <a:latin typeface="Times New Roman" panose="02020603050405020304" pitchFamily="18" charset="0"/>
                  <a:ea typeface="宋体" panose="02010600030101010101" pitchFamily="2" charset="-122"/>
                  <a:cs typeface="Times New Roman" panose="02020603050405020304" pitchFamily="18" charset="0"/>
                </a:rPr>
                <a:t>(a)</a:t>
              </a:r>
              <a:endParaRPr lang="en-US" altLang="zh-CN" sz="1400" b="1" dirty="0">
                <a:solidFill>
                  <a:srgbClr val="FCD5B5"/>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0" name="文本框 109"/>
            <p:cNvSpPr txBox="1">
              <a:spLocks noChangeArrowheads="1"/>
            </p:cNvSpPr>
            <p:nvPr/>
          </p:nvSpPr>
          <p:spPr bwMode="auto">
            <a:xfrm>
              <a:off x="4890319" y="4595307"/>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b="1" dirty="0">
                  <a:solidFill>
                    <a:srgbClr val="FCD5B5"/>
                  </a:solidFill>
                  <a:latin typeface="Times New Roman" panose="02020603050405020304" pitchFamily="18" charset="0"/>
                  <a:ea typeface="宋体" panose="02010600030101010101" pitchFamily="2" charset="-122"/>
                  <a:cs typeface="Times New Roman" panose="02020603050405020304" pitchFamily="18" charset="0"/>
                </a:rPr>
                <a:t>(b)</a:t>
              </a:r>
              <a:endParaRPr lang="en-US" altLang="zh-CN" sz="1400" b="1" dirty="0">
                <a:solidFill>
                  <a:srgbClr val="FCD5B5"/>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27798" name="组合 27797"/>
          <p:cNvGrpSpPr/>
          <p:nvPr/>
        </p:nvGrpSpPr>
        <p:grpSpPr>
          <a:xfrm>
            <a:off x="6381563" y="4818935"/>
            <a:ext cx="661444" cy="307777"/>
            <a:chOff x="6381563" y="4818935"/>
            <a:chExt cx="661444" cy="307777"/>
          </a:xfrm>
        </p:grpSpPr>
        <p:sp>
          <p:nvSpPr>
            <p:cNvPr id="111" name="文本框 110"/>
            <p:cNvSpPr txBox="1">
              <a:spLocks noChangeArrowheads="1"/>
            </p:cNvSpPr>
            <p:nvPr/>
          </p:nvSpPr>
          <p:spPr bwMode="auto">
            <a:xfrm>
              <a:off x="6381563" y="4818935"/>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8A3CC4"/>
                  </a:solidFill>
                  <a:latin typeface="Times New Roman" panose="02020603050405020304" pitchFamily="18" charset="0"/>
                  <a:ea typeface="宋体" panose="02010600030101010101" pitchFamily="2" charset="-122"/>
                  <a:cs typeface="Times New Roman" panose="02020603050405020304" pitchFamily="18" charset="0"/>
                </a:rPr>
                <a:t>(a)</a:t>
              </a:r>
              <a:endParaRPr lang="en-US" altLang="zh-CN" sz="1400" dirty="0">
                <a:solidFill>
                  <a:srgbClr val="8A3CC4"/>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2" name="文本框 111"/>
            <p:cNvSpPr txBox="1">
              <a:spLocks noChangeArrowheads="1"/>
            </p:cNvSpPr>
            <p:nvPr/>
          </p:nvSpPr>
          <p:spPr bwMode="auto">
            <a:xfrm>
              <a:off x="6629057" y="4818935"/>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8A3CC4"/>
                  </a:solidFill>
                  <a:latin typeface="Times New Roman" panose="02020603050405020304" pitchFamily="18" charset="0"/>
                  <a:ea typeface="宋体" panose="02010600030101010101" pitchFamily="2" charset="-122"/>
                  <a:cs typeface="Times New Roman" panose="02020603050405020304" pitchFamily="18" charset="0"/>
                </a:rPr>
                <a:t>(b)</a:t>
              </a:r>
              <a:endParaRPr lang="en-US" altLang="zh-CN" sz="1400" dirty="0">
                <a:solidFill>
                  <a:srgbClr val="8A3CC4"/>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16406" name="组合 16405"/>
          <p:cNvGrpSpPr/>
          <p:nvPr/>
        </p:nvGrpSpPr>
        <p:grpSpPr>
          <a:xfrm>
            <a:off x="1801783" y="4702872"/>
            <a:ext cx="993501" cy="706658"/>
            <a:chOff x="1801783" y="4702872"/>
            <a:chExt cx="993501" cy="706658"/>
          </a:xfrm>
        </p:grpSpPr>
        <p:cxnSp>
          <p:nvCxnSpPr>
            <p:cNvPr id="23" name="直接箭头连接符 22"/>
            <p:cNvCxnSpPr/>
            <p:nvPr/>
          </p:nvCxnSpPr>
          <p:spPr>
            <a:xfrm flipH="1">
              <a:off x="2538248" y="5010649"/>
              <a:ext cx="113667" cy="250968"/>
            </a:xfrm>
            <a:prstGeom prst="straightConnector1">
              <a:avLst/>
            </a:prstGeom>
            <a:ln w="2222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1884036" y="4702872"/>
              <a:ext cx="654212" cy="558745"/>
            </a:xfrm>
            <a:prstGeom prst="line">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0" name="组合 29"/>
            <p:cNvGrpSpPr/>
            <p:nvPr/>
          </p:nvGrpSpPr>
          <p:grpSpPr>
            <a:xfrm>
              <a:off x="1801783" y="4793977"/>
              <a:ext cx="993501" cy="615553"/>
              <a:chOff x="6763309" y="1972189"/>
              <a:chExt cx="1554511" cy="1011712"/>
            </a:xfrm>
          </p:grpSpPr>
          <p:cxnSp>
            <p:nvCxnSpPr>
              <p:cNvPr id="31" name="直接连接符 30"/>
              <p:cNvCxnSpPr/>
              <p:nvPr/>
            </p:nvCxnSpPr>
            <p:spPr>
              <a:xfrm flipH="1">
                <a:off x="7952103" y="2305271"/>
                <a:ext cx="365717" cy="678629"/>
              </a:xfrm>
              <a:prstGeom prst="line">
                <a:avLst/>
              </a:prstGeom>
              <a:ln w="19050">
                <a:solidFill>
                  <a:schemeClr val="bg2">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flipH="1" flipV="1">
                <a:off x="6763309" y="1972189"/>
                <a:ext cx="1188796" cy="1011712"/>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grpSp>
      <p:grpSp>
        <p:nvGrpSpPr>
          <p:cNvPr id="16394" name="组合 16393"/>
          <p:cNvGrpSpPr/>
          <p:nvPr/>
        </p:nvGrpSpPr>
        <p:grpSpPr>
          <a:xfrm>
            <a:off x="1477095" y="4820970"/>
            <a:ext cx="835553" cy="442802"/>
            <a:chOff x="1477095" y="4820970"/>
            <a:chExt cx="835553" cy="442802"/>
          </a:xfrm>
        </p:grpSpPr>
        <p:sp>
          <p:nvSpPr>
            <p:cNvPr id="83" name="文本框 82"/>
            <p:cNvSpPr txBox="1">
              <a:spLocks noChangeArrowheads="1"/>
            </p:cNvSpPr>
            <p:nvPr/>
          </p:nvSpPr>
          <p:spPr bwMode="auto">
            <a:xfrm>
              <a:off x="1477095" y="4820970"/>
              <a:ext cx="6477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(d)</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4" name="文本框 83"/>
            <p:cNvSpPr txBox="1">
              <a:spLocks noChangeArrowheads="1"/>
            </p:cNvSpPr>
            <p:nvPr/>
          </p:nvSpPr>
          <p:spPr bwMode="auto">
            <a:xfrm>
              <a:off x="1664948" y="4955995"/>
              <a:ext cx="6477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(c)</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777" name="椭圆 27776"/>
            <p:cNvSpPr/>
            <p:nvPr/>
          </p:nvSpPr>
          <p:spPr>
            <a:xfrm>
              <a:off x="1582955" y="4874655"/>
              <a:ext cx="552197" cy="386961"/>
            </a:xfrm>
            <a:prstGeom prst="ellipse">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405" name="组合 16404"/>
          <p:cNvGrpSpPr/>
          <p:nvPr/>
        </p:nvGrpSpPr>
        <p:grpSpPr>
          <a:xfrm>
            <a:off x="-486289" y="4786921"/>
            <a:ext cx="4572000" cy="1738635"/>
            <a:chOff x="-486289" y="4786921"/>
            <a:chExt cx="4572000" cy="1738635"/>
          </a:xfrm>
        </p:grpSpPr>
        <p:grpSp>
          <p:nvGrpSpPr>
            <p:cNvPr id="27779" name="组合 27778"/>
            <p:cNvGrpSpPr/>
            <p:nvPr/>
          </p:nvGrpSpPr>
          <p:grpSpPr>
            <a:xfrm>
              <a:off x="-486289" y="5407301"/>
              <a:ext cx="4572000" cy="1118255"/>
              <a:chOff x="-384247" y="5364035"/>
              <a:chExt cx="4572000" cy="1118255"/>
            </a:xfrm>
          </p:grpSpPr>
          <p:sp>
            <p:nvSpPr>
              <p:cNvPr id="27776" name="矩形 27775"/>
              <p:cNvSpPr/>
              <p:nvPr/>
            </p:nvSpPr>
            <p:spPr>
              <a:xfrm>
                <a:off x="-384247" y="5364035"/>
                <a:ext cx="4572000" cy="1118255"/>
              </a:xfrm>
              <a:prstGeom prst="rect">
                <a:avLst/>
              </a:prstGeom>
            </p:spPr>
            <p:txBody>
              <a:bodyPr>
                <a:spAutoFit/>
              </a:bodyPr>
              <a:lstStyle/>
              <a:p>
                <a:pPr lvl="2" eaLnBrk="0" hangingPunct="0">
                  <a:lnSpc>
                    <a:spcPts val="2000"/>
                  </a:lnSpc>
                </a:pPr>
                <a:r>
                  <a:rPr lang="en-US" altLang="zh-CN" sz="1400" b="1" dirty="0" err="1">
                    <a:solidFill>
                      <a:srgbClr val="0000FF"/>
                    </a:solidFill>
                    <a:latin typeface="Times New Roman" panose="02020603050405020304" pitchFamily="18" charset="0"/>
                    <a:ea typeface="宋体" panose="02010600030101010101" pitchFamily="2" charset="-122"/>
                    <a:cs typeface="Times New Roman" panose="02020603050405020304" pitchFamily="18" charset="0"/>
                  </a:rPr>
                  <a:t>int</a:t>
                </a: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 main() {</a:t>
                </a:r>
                <a:endParaRPr lang="en-US" altLang="zh-CN" sz="1400" b="1" dirty="0">
                  <a:latin typeface="Times New Roman" panose="02020603050405020304" pitchFamily="18" charset="0"/>
                  <a:ea typeface="宋体" panose="02010600030101010101" pitchFamily="2" charset="-122"/>
                  <a:cs typeface="Times New Roman" panose="02020603050405020304" pitchFamily="18" charset="0"/>
                </a:endParaRPr>
              </a:p>
              <a:p>
                <a:pPr lvl="2" eaLnBrk="0" hangingPunct="0">
                  <a:lnSpc>
                    <a:spcPts val="2000"/>
                  </a:lnSpc>
                </a:pP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dirty="0" err="1">
                    <a:solidFill>
                      <a:srgbClr val="0000FF"/>
                    </a:solidFill>
                    <a:latin typeface="Times New Roman" panose="02020603050405020304" pitchFamily="18" charset="0"/>
                    <a:ea typeface="宋体" panose="02010600030101010101" pitchFamily="2" charset="-122"/>
                    <a:cs typeface="Times New Roman" panose="02020603050405020304" pitchFamily="18" charset="0"/>
                  </a:rPr>
                  <a:t>int</a:t>
                </a: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i="1" dirty="0">
                    <a:latin typeface="Times New Roman" panose="02020603050405020304" pitchFamily="18" charset="0"/>
                    <a:ea typeface="宋体" panose="02010600030101010101" pitchFamily="2" charset="-122"/>
                    <a:cs typeface="Times New Roman" panose="02020603050405020304" pitchFamily="18" charset="0"/>
                  </a:rPr>
                  <a:t>m</a:t>
                </a: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 =28; </a:t>
                </a:r>
                <a:r>
                  <a:rPr lang="en-US" altLang="zh-CN" sz="1400" b="1" dirty="0" err="1">
                    <a:solidFill>
                      <a:srgbClr val="0000FF"/>
                    </a:solidFill>
                    <a:latin typeface="Times New Roman" panose="02020603050405020304" pitchFamily="18" charset="0"/>
                    <a:ea typeface="宋体" panose="02010600030101010101" pitchFamily="2" charset="-122"/>
                    <a:cs typeface="Times New Roman" panose="02020603050405020304" pitchFamily="18" charset="0"/>
                  </a:rPr>
                  <a:t>int</a:t>
                </a: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 6;</a:t>
                </a:r>
                <a:endParaRPr lang="en-US" altLang="zh-CN" sz="1400" b="1" dirty="0">
                  <a:latin typeface="Times New Roman" panose="02020603050405020304" pitchFamily="18" charset="0"/>
                  <a:ea typeface="宋体" panose="02010600030101010101" pitchFamily="2" charset="-122"/>
                  <a:cs typeface="Times New Roman" panose="02020603050405020304" pitchFamily="18" charset="0"/>
                </a:endParaRPr>
              </a:p>
              <a:p>
                <a:pPr lvl="2" eaLnBrk="0" hangingPunct="0">
                  <a:lnSpc>
                    <a:spcPts val="2000"/>
                  </a:lnSpc>
                </a:pP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dirty="0" err="1">
                    <a:solidFill>
                      <a:srgbClr val="0000FF"/>
                    </a:solidFill>
                    <a:latin typeface="Times New Roman" panose="02020603050405020304" pitchFamily="18" charset="0"/>
                    <a:ea typeface="宋体" panose="02010600030101010101" pitchFamily="2" charset="-122"/>
                    <a:cs typeface="Times New Roman" panose="02020603050405020304" pitchFamily="18" charset="0"/>
                  </a:rPr>
                  <a:t>int</a:t>
                </a:r>
                <a:r>
                  <a:rPr lang="en-US" altLang="zh-CN" sz="14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dirty="0" err="1">
                    <a:latin typeface="Times New Roman" panose="02020603050405020304" pitchFamily="18" charset="0"/>
                    <a:ea typeface="宋体" panose="02010600030101010101" pitchFamily="2" charset="-122"/>
                    <a:cs typeface="Times New Roman" panose="02020603050405020304" pitchFamily="18" charset="0"/>
                  </a:rPr>
                  <a:t>hcf</a:t>
                </a: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1400" b="1" dirty="0" err="1">
                    <a:latin typeface="Times New Roman" panose="02020603050405020304" pitchFamily="18" charset="0"/>
                    <a:ea typeface="宋体" panose="02010600030101010101" pitchFamily="2" charset="-122"/>
                    <a:cs typeface="Times New Roman" panose="02020603050405020304" pitchFamily="18" charset="0"/>
                  </a:rPr>
                  <a:t>Hcf</a:t>
                </a: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dirty="0" err="1">
                    <a:latin typeface="Times New Roman" panose="02020603050405020304" pitchFamily="18" charset="0"/>
                    <a:ea typeface="宋体" panose="02010600030101010101" pitchFamily="2" charset="-122"/>
                    <a:cs typeface="Times New Roman" panose="02020603050405020304" pitchFamily="18" charset="0"/>
                  </a:rPr>
                  <a:t>m,n</a:t>
                </a: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1400" b="1" dirty="0">
                  <a:latin typeface="Times New Roman" panose="02020603050405020304" pitchFamily="18" charset="0"/>
                  <a:ea typeface="宋体" panose="02010600030101010101" pitchFamily="2" charset="-122"/>
                  <a:cs typeface="Times New Roman" panose="02020603050405020304" pitchFamily="18" charset="0"/>
                </a:endParaRPr>
              </a:p>
              <a:p>
                <a:pPr lvl="2" eaLnBrk="0" hangingPunct="0">
                  <a:lnSpc>
                    <a:spcPts val="2000"/>
                  </a:lnSpc>
                </a:pP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1400" b="1" dirty="0">
                  <a:latin typeface="Times New Roman" panose="02020603050405020304" pitchFamily="18" charset="0"/>
                  <a:cs typeface="Times New Roman" panose="02020603050405020304" pitchFamily="18" charset="0"/>
                </a:endParaRPr>
              </a:p>
            </p:txBody>
          </p:sp>
          <p:sp>
            <p:nvSpPr>
              <p:cNvPr id="27778" name="矩形 27777"/>
              <p:cNvSpPr/>
              <p:nvPr/>
            </p:nvSpPr>
            <p:spPr>
              <a:xfrm>
                <a:off x="590944" y="5384530"/>
                <a:ext cx="1746807" cy="994863"/>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6404" name="直接箭头连接符 16403"/>
            <p:cNvCxnSpPr>
              <a:stCxn id="21" idx="2"/>
            </p:cNvCxnSpPr>
            <p:nvPr/>
          </p:nvCxnSpPr>
          <p:spPr>
            <a:xfrm flipH="1">
              <a:off x="1416045" y="4786921"/>
              <a:ext cx="1834" cy="622608"/>
            </a:xfrm>
            <a:prstGeom prst="straightConnector1">
              <a:avLst/>
            </a:prstGeom>
            <a:ln w="15875">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grpSp>
      <p:sp>
        <p:nvSpPr>
          <p:cNvPr id="3" name="页脚占位符 2"/>
          <p:cNvSpPr>
            <a:spLocks noGrp="1"/>
          </p:cNvSpPr>
          <p:nvPr>
            <p:ph type="ftr" sz="quarter" idx="11"/>
          </p:nvPr>
        </p:nvSpPr>
        <p:spPr/>
        <p:txBody>
          <a:bodyPr/>
          <a:lstStyle/>
          <a:p>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6403"/>
                                        </p:tgtEl>
                                        <p:attrNameLst>
                                          <p:attrName>style.visibility</p:attrName>
                                        </p:attrNameLst>
                                      </p:cBhvr>
                                      <p:to>
                                        <p:strVal val="visible"/>
                                      </p:to>
                                    </p:set>
                                    <p:animEffect transition="in" filter="blinds(horizontal)">
                                      <p:cBhvr>
                                        <p:cTn id="13" dur="500"/>
                                        <p:tgtEl>
                                          <p:spTgt spid="16403"/>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640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778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6419"/>
                                        </p:tgtEl>
                                        <p:attrNameLst>
                                          <p:attrName>style.visibility</p:attrName>
                                        </p:attrNameLst>
                                      </p:cBhvr>
                                      <p:to>
                                        <p:strVal val="visible"/>
                                      </p:to>
                                    </p:set>
                                    <p:animEffect transition="in" filter="blinds(horizontal)">
                                      <p:cBhvr>
                                        <p:cTn id="26" dur="500"/>
                                        <p:tgtEl>
                                          <p:spTgt spid="16419"/>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79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6435"/>
                                        </p:tgtEl>
                                        <p:attrNameLst>
                                          <p:attrName>style.visibility</p:attrName>
                                        </p:attrNameLst>
                                      </p:cBhvr>
                                      <p:to>
                                        <p:strVal val="visible"/>
                                      </p:to>
                                    </p:set>
                                    <p:animEffect transition="in" filter="blinds(horizontal)">
                                      <p:cBhvr>
                                        <p:cTn id="35" dur="500"/>
                                        <p:tgtEl>
                                          <p:spTgt spid="16435"/>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2779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27793"/>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16451"/>
                                        </p:tgtEl>
                                        <p:attrNameLst>
                                          <p:attrName>style.visibility</p:attrName>
                                        </p:attrNameLst>
                                      </p:cBhvr>
                                      <p:to>
                                        <p:strVal val="visible"/>
                                      </p:to>
                                    </p:set>
                                    <p:animEffect transition="in" filter="blinds(horizontal)">
                                      <p:cBhvr>
                                        <p:cTn id="48" dur="500"/>
                                        <p:tgtEl>
                                          <p:spTgt spid="16451"/>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779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779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16467"/>
                                        </p:tgtEl>
                                        <p:attrNameLst>
                                          <p:attrName>style.visibility</p:attrName>
                                        </p:attrNameLst>
                                      </p:cBhvr>
                                      <p:to>
                                        <p:strVal val="visible"/>
                                      </p:to>
                                    </p:set>
                                    <p:animEffect transition="in" filter="blinds(horizontal)">
                                      <p:cBhvr>
                                        <p:cTn id="61" dur="500"/>
                                        <p:tgtEl>
                                          <p:spTgt spid="16467"/>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27798"/>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16483"/>
                                        </p:tgtEl>
                                        <p:attrNameLst>
                                          <p:attrName>style.visibility</p:attrName>
                                        </p:attrNameLst>
                                      </p:cBhvr>
                                      <p:to>
                                        <p:strVal val="visible"/>
                                      </p:to>
                                    </p:set>
                                    <p:animEffect transition="in" filter="blinds(horizontal)">
                                      <p:cBhvr>
                                        <p:cTn id="70" dur="500"/>
                                        <p:tgtEl>
                                          <p:spTgt spid="16483"/>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780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780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780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16499"/>
                                        </p:tgtEl>
                                        <p:attrNameLst>
                                          <p:attrName>style.visibility</p:attrName>
                                        </p:attrNameLst>
                                      </p:cBhvr>
                                      <p:to>
                                        <p:strVal val="visible"/>
                                      </p:to>
                                    </p:set>
                                    <p:animEffect transition="in" filter="blinds(horizontal)">
                                      <p:cBhvr>
                                        <p:cTn id="87" dur="500"/>
                                        <p:tgtEl>
                                          <p:spTgt spid="16499"/>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27806"/>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16390"/>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nodeType="clickEffect">
                                  <p:stCondLst>
                                    <p:cond delay="0"/>
                                  </p:stCondLst>
                                  <p:childTnLst>
                                    <p:set>
                                      <p:cBhvr>
                                        <p:cTn id="99" dur="1" fill="hold">
                                          <p:stCondLst>
                                            <p:cond delay="0"/>
                                          </p:stCondLst>
                                        </p:cTn>
                                        <p:tgtEl>
                                          <p:spTgt spid="16515"/>
                                        </p:tgtEl>
                                        <p:attrNameLst>
                                          <p:attrName>style.visibility</p:attrName>
                                        </p:attrNameLst>
                                      </p:cBhvr>
                                      <p:to>
                                        <p:strVal val="visible"/>
                                      </p:to>
                                    </p:set>
                                    <p:animEffect transition="in" filter="blinds(horizontal)">
                                      <p:cBhvr>
                                        <p:cTn id="100" dur="500"/>
                                        <p:tgtEl>
                                          <p:spTgt spid="16515"/>
                                        </p:tgtEl>
                                      </p:cBhvr>
                                    </p:animEffec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16385"/>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3" presetClass="entr" presetSubtype="10" fill="hold" nodeType="clickEffect">
                                  <p:stCondLst>
                                    <p:cond delay="0"/>
                                  </p:stCondLst>
                                  <p:childTnLst>
                                    <p:set>
                                      <p:cBhvr>
                                        <p:cTn id="108" dur="1" fill="hold">
                                          <p:stCondLst>
                                            <p:cond delay="0"/>
                                          </p:stCondLst>
                                        </p:cTn>
                                        <p:tgtEl>
                                          <p:spTgt spid="16387"/>
                                        </p:tgtEl>
                                        <p:attrNameLst>
                                          <p:attrName>style.visibility</p:attrName>
                                        </p:attrNameLst>
                                      </p:cBhvr>
                                      <p:to>
                                        <p:strVal val="visible"/>
                                      </p:to>
                                    </p:set>
                                    <p:animEffect transition="in" filter="blinds(horizontal)">
                                      <p:cBhvr>
                                        <p:cTn id="109" dur="500"/>
                                        <p:tgtEl>
                                          <p:spTgt spid="16387"/>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clickEffect">
                                  <p:stCondLst>
                                    <p:cond delay="0"/>
                                  </p:stCondLst>
                                  <p:childTnLst>
                                    <p:set>
                                      <p:cBhvr>
                                        <p:cTn id="113" dur="1" fill="hold">
                                          <p:stCondLst>
                                            <p:cond delay="0"/>
                                          </p:stCondLst>
                                        </p:cTn>
                                        <p:tgtEl>
                                          <p:spTgt spid="16391"/>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nodeType="clickEffect">
                                  <p:stCondLst>
                                    <p:cond delay="0"/>
                                  </p:stCondLst>
                                  <p:childTnLst>
                                    <p:set>
                                      <p:cBhvr>
                                        <p:cTn id="117" dur="1" fill="hold">
                                          <p:stCondLst>
                                            <p:cond delay="0"/>
                                          </p:stCondLst>
                                        </p:cTn>
                                        <p:tgtEl>
                                          <p:spTgt spid="16384"/>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nodeType="clickEffect">
                                  <p:stCondLst>
                                    <p:cond delay="0"/>
                                  </p:stCondLst>
                                  <p:childTnLst>
                                    <p:set>
                                      <p:cBhvr>
                                        <p:cTn id="121" dur="1" fill="hold">
                                          <p:stCondLst>
                                            <p:cond delay="0"/>
                                          </p:stCondLst>
                                        </p:cTn>
                                        <p:tgtEl>
                                          <p:spTgt spid="16406"/>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nodeType="clickEffect">
                                  <p:stCondLst>
                                    <p:cond delay="0"/>
                                  </p:stCondLst>
                                  <p:childTnLst>
                                    <p:set>
                                      <p:cBhvr>
                                        <p:cTn id="125" dur="1" fill="hold">
                                          <p:stCondLst>
                                            <p:cond delay="0"/>
                                          </p:stCondLst>
                                        </p:cTn>
                                        <p:tgtEl>
                                          <p:spTgt spid="163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文本占位符 17410"/>
          <p:cNvSpPr>
            <a:spLocks noGrp="1" noChangeArrowheads="1"/>
          </p:cNvSpPr>
          <p:nvPr>
            <p:ph idx="1"/>
          </p:nvPr>
        </p:nvSpPr>
        <p:spPr>
          <a:xfrm>
            <a:off x="457200" y="955421"/>
            <a:ext cx="8229600" cy="5025163"/>
          </a:xfrm>
        </p:spPr>
        <p:txBody>
          <a:bodyPr/>
          <a:lstStyle/>
          <a:p>
            <a:pPr>
              <a:spcBef>
                <a:spcPts val="0"/>
              </a:spcBef>
              <a:buClr>
                <a:srgbClr val="FF0000"/>
              </a:buClr>
              <a:buFont typeface="Wingdings" panose="05000000000000000000" pitchFamily="2" charset="2"/>
              <a:buChar char="ü"/>
            </a:pPr>
            <a:r>
              <a:rPr lang="zh-CN" altLang="en-US" sz="2200" b="1" dirty="0">
                <a:cs typeface="Times New Roman" panose="02020603050405020304" pitchFamily="18" charset="0"/>
              </a:rPr>
              <a:t>例：</a:t>
            </a:r>
            <a:endParaRPr lang="zh-CN" altLang="en-US" sz="2200" b="1" dirty="0">
              <a:cs typeface="Times New Roman" panose="02020603050405020304" pitchFamily="18" charset="0"/>
            </a:endParaRPr>
          </a:p>
          <a:p>
            <a:pPr>
              <a:spcBef>
                <a:spcPts val="0"/>
              </a:spcBef>
              <a:buFont typeface="Wingdings" panose="05000000000000000000" pitchFamily="2" charset="2"/>
              <a:buNone/>
            </a:pPr>
            <a:r>
              <a:rPr lang="en-US" altLang="zh-CN" sz="2200" b="1" dirty="0">
                <a:cs typeface="Times New Roman" panose="02020603050405020304" pitchFamily="18" charset="0"/>
              </a:rPr>
              <a:t>      </a:t>
            </a:r>
            <a:r>
              <a:rPr lang="en-US" altLang="zh-CN" sz="2200" b="1" dirty="0">
                <a:solidFill>
                  <a:srgbClr val="0000FF"/>
                </a:solidFill>
                <a:cs typeface="Times New Roman" panose="02020603050405020304" pitchFamily="18" charset="0"/>
              </a:rPr>
              <a:t>void</a:t>
            </a:r>
            <a:r>
              <a:rPr lang="en-US" altLang="zh-CN" sz="2200" b="1" dirty="0">
                <a:cs typeface="Times New Roman" panose="02020603050405020304" pitchFamily="18" charset="0"/>
              </a:rPr>
              <a:t> P(</a:t>
            </a:r>
            <a:r>
              <a:rPr lang="en-US" altLang="zh-CN" sz="2200" b="1" dirty="0" err="1">
                <a:solidFill>
                  <a:srgbClr val="0000FF"/>
                </a:solidFill>
                <a:cs typeface="Times New Roman" panose="02020603050405020304" pitchFamily="18" charset="0"/>
              </a:rPr>
              <a:t>int</a:t>
            </a:r>
            <a:r>
              <a:rPr lang="en-US" altLang="zh-CN" sz="2200" b="1" dirty="0">
                <a:cs typeface="Times New Roman" panose="02020603050405020304" pitchFamily="18" charset="0"/>
              </a:rPr>
              <a:t> n){                      </a:t>
            </a:r>
            <a:r>
              <a:rPr lang="zh-CN" altLang="en-US" sz="2200" b="1" dirty="0">
                <a:solidFill>
                  <a:srgbClr val="FF0000"/>
                </a:solidFill>
                <a:cs typeface="Times New Roman" panose="02020603050405020304" pitchFamily="18" charset="0"/>
              </a:rPr>
              <a:t>调用 </a:t>
            </a:r>
            <a:r>
              <a:rPr lang="en-US" altLang="zh-CN" sz="2200" b="1" dirty="0">
                <a:solidFill>
                  <a:srgbClr val="FF0000"/>
                </a:solidFill>
                <a:cs typeface="Times New Roman" panose="02020603050405020304" pitchFamily="18" charset="0"/>
              </a:rPr>
              <a:t>P(3) </a:t>
            </a:r>
            <a:endParaRPr lang="en-US" altLang="zh-CN" sz="2200" b="1" dirty="0">
              <a:solidFill>
                <a:srgbClr val="FF0000"/>
              </a:solidFill>
              <a:cs typeface="Times New Roman" panose="02020603050405020304" pitchFamily="18" charset="0"/>
            </a:endParaRPr>
          </a:p>
          <a:p>
            <a:pPr>
              <a:spcBef>
                <a:spcPts val="0"/>
              </a:spcBef>
              <a:buFont typeface="Wingdings" panose="05000000000000000000" pitchFamily="2" charset="2"/>
              <a:buNone/>
            </a:pPr>
            <a:r>
              <a:rPr lang="en-US" altLang="zh-CN" sz="2200" b="1" dirty="0">
                <a:cs typeface="Times New Roman" panose="02020603050405020304" pitchFamily="18" charset="0"/>
              </a:rPr>
              <a:t>              </a:t>
            </a:r>
            <a:r>
              <a:rPr lang="en-US" altLang="zh-CN" sz="2200" b="1" dirty="0">
                <a:solidFill>
                  <a:srgbClr val="0000FF"/>
                </a:solidFill>
                <a:cs typeface="Times New Roman" panose="02020603050405020304" pitchFamily="18" charset="0"/>
              </a:rPr>
              <a:t>if</a:t>
            </a:r>
            <a:r>
              <a:rPr lang="en-US" altLang="zh-CN" sz="2200" b="1" dirty="0">
                <a:cs typeface="Times New Roman" panose="02020603050405020304" pitchFamily="18" charset="0"/>
              </a:rPr>
              <a:t> (</a:t>
            </a:r>
            <a:r>
              <a:rPr lang="en-US" altLang="zh-CN" sz="2200" b="1" i="1" dirty="0">
                <a:cs typeface="Times New Roman" panose="02020603050405020304" pitchFamily="18" charset="0"/>
              </a:rPr>
              <a:t>n</a:t>
            </a:r>
            <a:r>
              <a:rPr lang="en-US" altLang="zh-CN" sz="2200" b="1" dirty="0">
                <a:cs typeface="Times New Roman" panose="02020603050405020304" pitchFamily="18" charset="0"/>
              </a:rPr>
              <a:t>&gt;0){ </a:t>
            </a:r>
            <a:endParaRPr lang="en-US" altLang="zh-CN" sz="2200" b="1" dirty="0">
              <a:cs typeface="Times New Roman" panose="02020603050405020304" pitchFamily="18" charset="0"/>
            </a:endParaRPr>
          </a:p>
          <a:p>
            <a:pPr>
              <a:spcBef>
                <a:spcPts val="0"/>
              </a:spcBef>
              <a:buFont typeface="Wingdings" panose="05000000000000000000" pitchFamily="2" charset="2"/>
              <a:buNone/>
            </a:pPr>
            <a:r>
              <a:rPr lang="en-US" altLang="zh-CN" sz="2200" b="1" dirty="0">
                <a:cs typeface="Times New Roman" panose="02020603050405020304" pitchFamily="18" charset="0"/>
              </a:rPr>
              <a:t>                  </a:t>
            </a:r>
            <a:r>
              <a:rPr lang="en-US" altLang="zh-CN" sz="2200" b="1" dirty="0" err="1">
                <a:solidFill>
                  <a:srgbClr val="0000FF"/>
                </a:solidFill>
                <a:cs typeface="Times New Roman" panose="02020603050405020304" pitchFamily="18" charset="0"/>
              </a:rPr>
              <a:t>cout</a:t>
            </a:r>
            <a:r>
              <a:rPr lang="en-US" altLang="zh-CN" sz="2200" b="1" dirty="0">
                <a:cs typeface="Times New Roman" panose="02020603050405020304" pitchFamily="18" charset="0"/>
              </a:rPr>
              <a:t> &lt;&lt; </a:t>
            </a:r>
            <a:r>
              <a:rPr lang="en-US" altLang="zh-CN" sz="2200" b="1" i="1" dirty="0">
                <a:cs typeface="Times New Roman" panose="02020603050405020304" pitchFamily="18" charset="0"/>
              </a:rPr>
              <a:t>n</a:t>
            </a:r>
            <a:r>
              <a:rPr lang="en-US" altLang="zh-CN" sz="2200" b="1" dirty="0">
                <a:cs typeface="Times New Roman" panose="02020603050405020304" pitchFamily="18" charset="0"/>
              </a:rPr>
              <a:t>;</a:t>
            </a:r>
            <a:endParaRPr lang="en-US" altLang="zh-CN" sz="2200" b="1" dirty="0">
              <a:cs typeface="Times New Roman" panose="02020603050405020304" pitchFamily="18" charset="0"/>
            </a:endParaRPr>
          </a:p>
          <a:p>
            <a:pPr>
              <a:spcBef>
                <a:spcPts val="0"/>
              </a:spcBef>
              <a:buFont typeface="Wingdings" panose="05000000000000000000" pitchFamily="2" charset="2"/>
              <a:buNone/>
            </a:pPr>
            <a:r>
              <a:rPr lang="en-US" altLang="zh-CN" sz="2200" b="1" dirty="0">
                <a:cs typeface="Times New Roman" panose="02020603050405020304" pitchFamily="18" charset="0"/>
              </a:rPr>
              <a:t>                  P(</a:t>
            </a:r>
            <a:r>
              <a:rPr lang="en-US" altLang="zh-CN" sz="2200" b="1" i="1" dirty="0">
                <a:cs typeface="Times New Roman" panose="02020603050405020304" pitchFamily="18" charset="0"/>
              </a:rPr>
              <a:t>n</a:t>
            </a:r>
            <a:r>
              <a:rPr lang="en-US" altLang="zh-CN" sz="2200" b="1" dirty="0">
                <a:cs typeface="Times New Roman" panose="02020603050405020304" pitchFamily="18" charset="0"/>
              </a:rPr>
              <a:t>-1);</a:t>
            </a:r>
            <a:endParaRPr lang="en-US" altLang="zh-CN" sz="2200" b="1" dirty="0">
              <a:cs typeface="Times New Roman" panose="02020603050405020304" pitchFamily="18" charset="0"/>
            </a:endParaRPr>
          </a:p>
          <a:p>
            <a:pPr>
              <a:spcBef>
                <a:spcPts val="0"/>
              </a:spcBef>
              <a:buFont typeface="Wingdings" panose="05000000000000000000" pitchFamily="2" charset="2"/>
              <a:buNone/>
            </a:pPr>
            <a:r>
              <a:rPr lang="en-US" altLang="zh-CN" sz="2200" b="1" dirty="0">
                <a:cs typeface="Times New Roman" panose="02020603050405020304" pitchFamily="18" charset="0"/>
              </a:rPr>
              <a:t>              }</a:t>
            </a:r>
            <a:endParaRPr lang="en-US" altLang="zh-CN" sz="2200" b="1" dirty="0">
              <a:cs typeface="Times New Roman" panose="02020603050405020304" pitchFamily="18" charset="0"/>
            </a:endParaRPr>
          </a:p>
          <a:p>
            <a:pPr>
              <a:spcBef>
                <a:spcPts val="0"/>
              </a:spcBef>
              <a:buFont typeface="Wingdings" panose="05000000000000000000" pitchFamily="2" charset="2"/>
              <a:buNone/>
            </a:pPr>
            <a:r>
              <a:rPr lang="zh-CN" altLang="en-US" sz="2200" b="1" dirty="0">
                <a:cs typeface="Times New Roman" panose="02020603050405020304" pitchFamily="18" charset="0"/>
              </a:rPr>
              <a:t>       </a:t>
            </a:r>
            <a:r>
              <a:rPr lang="en-US" altLang="zh-CN" sz="2200" b="1" dirty="0">
                <a:cs typeface="Times New Roman" panose="02020603050405020304" pitchFamily="18" charset="0"/>
              </a:rPr>
              <a:t>}</a:t>
            </a:r>
            <a:endParaRPr lang="en-US" altLang="zh-CN" sz="2200" b="1" dirty="0">
              <a:cs typeface="Times New Roman" panose="02020603050405020304" pitchFamily="18" charset="0"/>
            </a:endParaRPr>
          </a:p>
        </p:txBody>
      </p:sp>
      <p:sp>
        <p:nvSpPr>
          <p:cNvPr id="28675" name="矩形 17411"/>
          <p:cNvSpPr>
            <a:spLocks noChangeAspect="1" noChangeArrowheads="1"/>
          </p:cNvSpPr>
          <p:nvPr/>
        </p:nvSpPr>
        <p:spPr bwMode="auto">
          <a:xfrm>
            <a:off x="1403350" y="1773238"/>
            <a:ext cx="8569325" cy="431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17413" name="文本框 17412"/>
          <p:cNvSpPr txBox="1">
            <a:spLocks noChangeArrowheads="1"/>
          </p:cNvSpPr>
          <p:nvPr/>
        </p:nvSpPr>
        <p:spPr bwMode="auto">
          <a:xfrm>
            <a:off x="7236223" y="2773667"/>
            <a:ext cx="792161" cy="363537"/>
          </a:xfrm>
          <a:prstGeom prst="rect">
            <a:avLst/>
          </a:prstGeom>
          <a:solidFill>
            <a:srgbClr val="FFFF00"/>
          </a:solidFill>
          <a:ln>
            <a:noFill/>
          </a:ln>
        </p:spPr>
        <p:txBody>
          <a:bodyPr/>
          <a:lstStyle/>
          <a:p>
            <a:pPr algn="just" eaLnBrk="0" hangingPunct="0"/>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 1</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14" name="文本框 17413"/>
          <p:cNvSpPr txBox="1">
            <a:spLocks noChangeArrowheads="1"/>
          </p:cNvSpPr>
          <p:nvPr/>
        </p:nvSpPr>
        <p:spPr bwMode="auto">
          <a:xfrm>
            <a:off x="5196160" y="2271874"/>
            <a:ext cx="792162" cy="354012"/>
          </a:xfrm>
          <a:prstGeom prst="rect">
            <a:avLst/>
          </a:prstGeom>
          <a:solidFill>
            <a:srgbClr val="FFFF00"/>
          </a:solidFill>
          <a:ln>
            <a:noFill/>
          </a:ln>
        </p:spPr>
        <p:txBody>
          <a:bodyPr/>
          <a:lstStyle/>
          <a:p>
            <a:pPr algn="ctr" eaLnBrk="0" hangingPunct="0"/>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 2</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15" name="文本框 17414"/>
          <p:cNvSpPr txBox="1">
            <a:spLocks noChangeArrowheads="1"/>
          </p:cNvSpPr>
          <p:nvPr/>
        </p:nvSpPr>
        <p:spPr bwMode="auto">
          <a:xfrm>
            <a:off x="1979613" y="3780331"/>
            <a:ext cx="744537" cy="421430"/>
          </a:xfrm>
          <a:prstGeom prst="rect">
            <a:avLst/>
          </a:prstGeom>
          <a:solidFill>
            <a:srgbClr val="FFC000"/>
          </a:solidFill>
          <a:ln>
            <a:noFill/>
          </a:ln>
        </p:spPr>
        <p:txBody>
          <a:bodyPr/>
          <a:lstStyle/>
          <a:p>
            <a:pPr algn="just" eaLnBrk="0" hangingPunct="0"/>
            <a:r>
              <a:rPr lang="en-US" altLang="zh-CN" sz="2000" b="1">
                <a:latin typeface="Times New Roman" panose="02020603050405020304" pitchFamily="18" charset="0"/>
                <a:ea typeface="宋体" panose="02010600030101010101" pitchFamily="2" charset="-122"/>
                <a:cs typeface="Times New Roman" panose="02020603050405020304" pitchFamily="18" charset="0"/>
              </a:rPr>
              <a:t>P(3)</a:t>
            </a:r>
            <a:endParaRPr lang="en-US" altLang="zh-CN" sz="20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16" name="文本框 17415"/>
          <p:cNvSpPr txBox="1">
            <a:spLocks noChangeArrowheads="1"/>
          </p:cNvSpPr>
          <p:nvPr/>
        </p:nvSpPr>
        <p:spPr bwMode="auto">
          <a:xfrm flipH="1">
            <a:off x="3282952" y="3185760"/>
            <a:ext cx="684213" cy="318746"/>
          </a:xfrm>
          <a:prstGeom prst="rect">
            <a:avLst/>
          </a:prstGeom>
          <a:solidFill>
            <a:srgbClr val="00B050"/>
          </a:solidFill>
          <a:ln w="9525">
            <a:solidFill>
              <a:srgbClr val="000000"/>
            </a:solidFill>
            <a:miter lim="800000"/>
          </a:ln>
        </p:spPr>
        <p:txBody>
          <a:bodyPr/>
          <a:lstStyle/>
          <a:p>
            <a:pPr algn="ctr" eaLnBrk="0" hangingPunct="0"/>
            <a:r>
              <a:rPr lang="en-US" altLang="zh-CN" sz="2000" b="1">
                <a:latin typeface="Times New Roman" panose="02020603050405020304" pitchFamily="18" charset="0"/>
                <a:ea typeface="宋体" panose="02010600030101010101" pitchFamily="2" charset="-122"/>
                <a:cs typeface="Times New Roman" panose="02020603050405020304" pitchFamily="18" charset="0"/>
              </a:rPr>
              <a:t>3</a:t>
            </a:r>
            <a:endParaRPr lang="en-US" altLang="zh-CN" sz="20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17" name="任意多边形 17416"/>
          <p:cNvSpPr>
            <a:spLocks noChangeArrowheads="1"/>
          </p:cNvSpPr>
          <p:nvPr/>
        </p:nvSpPr>
        <p:spPr bwMode="auto">
          <a:xfrm>
            <a:off x="2579687" y="2563812"/>
            <a:ext cx="1054100" cy="1215763"/>
          </a:xfrm>
          <a:custGeom>
            <a:avLst/>
            <a:gdLst>
              <a:gd name="T0" fmla="*/ 0 w 770"/>
              <a:gd name="T1" fmla="*/ 768 h 768"/>
              <a:gd name="T2" fmla="*/ 768 w 770"/>
              <a:gd name="T3" fmla="*/ 0 h 768"/>
              <a:gd name="T4" fmla="*/ 770 w 770"/>
              <a:gd name="T5" fmla="*/ 394 h 768"/>
            </a:gdLst>
            <a:ahLst/>
            <a:cxnLst>
              <a:cxn ang="0">
                <a:pos x="T0" y="T1"/>
              </a:cxn>
              <a:cxn ang="0">
                <a:pos x="T2" y="T3"/>
              </a:cxn>
              <a:cxn ang="0">
                <a:pos x="T4" y="T5"/>
              </a:cxn>
            </a:cxnLst>
            <a:rect l="0" t="0" r="r" b="b"/>
            <a:pathLst>
              <a:path w="770" h="768">
                <a:moveTo>
                  <a:pt x="0" y="768"/>
                </a:moveTo>
                <a:lnTo>
                  <a:pt x="768" y="0"/>
                </a:lnTo>
                <a:lnTo>
                  <a:pt x="770" y="394"/>
                </a:lnTo>
              </a:path>
            </a:pathLst>
          </a:custGeom>
          <a:noFill/>
          <a:ln w="9525">
            <a:solidFill>
              <a:srgbClr val="00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7418" name="文本框 17417"/>
          <p:cNvSpPr txBox="1">
            <a:spLocks noChangeArrowheads="1"/>
          </p:cNvSpPr>
          <p:nvPr/>
        </p:nvSpPr>
        <p:spPr bwMode="auto">
          <a:xfrm>
            <a:off x="3240086" y="4364038"/>
            <a:ext cx="709614" cy="365125"/>
          </a:xfrm>
          <a:prstGeom prst="rect">
            <a:avLst/>
          </a:prstGeom>
          <a:solidFill>
            <a:srgbClr val="FFC000"/>
          </a:solidFill>
          <a:ln>
            <a:noFill/>
          </a:ln>
        </p:spPr>
        <p:txBody>
          <a:bodyPr/>
          <a:lstStyle/>
          <a:p>
            <a:pPr algn="just" eaLnBrk="0" hangingPunct="0"/>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P(2)</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19" name="直接连接符 17418"/>
          <p:cNvSpPr>
            <a:spLocks noChangeShapeType="1"/>
          </p:cNvSpPr>
          <p:nvPr/>
        </p:nvSpPr>
        <p:spPr bwMode="auto">
          <a:xfrm>
            <a:off x="3635375" y="3503613"/>
            <a:ext cx="0" cy="86042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8684" name="矩形 17420"/>
          <p:cNvSpPr>
            <a:spLocks noChangeArrowheads="1"/>
          </p:cNvSpPr>
          <p:nvPr/>
        </p:nvSpPr>
        <p:spPr bwMode="auto">
          <a:xfrm>
            <a:off x="6596063" y="5014913"/>
            <a:ext cx="557212" cy="5000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22" name="文本框 17421"/>
          <p:cNvSpPr txBox="1">
            <a:spLocks noChangeArrowheads="1"/>
          </p:cNvSpPr>
          <p:nvPr/>
        </p:nvSpPr>
        <p:spPr bwMode="auto">
          <a:xfrm>
            <a:off x="3275856" y="2133601"/>
            <a:ext cx="791913" cy="354012"/>
          </a:xfrm>
          <a:prstGeom prst="rect">
            <a:avLst/>
          </a:prstGeom>
          <a:solidFill>
            <a:srgbClr val="FFFF00"/>
          </a:solidFill>
          <a:ln>
            <a:noFill/>
          </a:ln>
        </p:spPr>
        <p:txBody>
          <a:bodyPr/>
          <a:lstStyle/>
          <a:p>
            <a:pPr algn="ctr" eaLnBrk="0" hangingPunct="0"/>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 3</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23" name="文本框 17422"/>
          <p:cNvSpPr txBox="1">
            <a:spLocks noChangeArrowheads="1"/>
          </p:cNvSpPr>
          <p:nvPr/>
        </p:nvSpPr>
        <p:spPr bwMode="auto">
          <a:xfrm>
            <a:off x="8258969" y="4352163"/>
            <a:ext cx="741633" cy="365740"/>
          </a:xfrm>
          <a:prstGeom prst="rect">
            <a:avLst/>
          </a:prstGeom>
          <a:solidFill>
            <a:srgbClr val="FFFF00"/>
          </a:solidFill>
          <a:ln>
            <a:noFill/>
          </a:ln>
        </p:spPr>
        <p:txBody>
          <a:bodyPr/>
          <a:lstStyle/>
          <a:p>
            <a:pPr algn="just" eaLnBrk="0" hangingPunct="0"/>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 0</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24" name="文本框 17423"/>
          <p:cNvSpPr txBox="1">
            <a:spLocks noChangeArrowheads="1"/>
          </p:cNvSpPr>
          <p:nvPr/>
        </p:nvSpPr>
        <p:spPr bwMode="auto">
          <a:xfrm>
            <a:off x="1908175" y="5229226"/>
            <a:ext cx="2231776" cy="411262"/>
          </a:xfrm>
          <a:prstGeom prst="rect">
            <a:avLst/>
          </a:prstGeom>
          <a:solidFill>
            <a:srgbClr val="00B0F0"/>
          </a:solidFill>
          <a:ln>
            <a:noFill/>
          </a:ln>
        </p:spPr>
        <p:txBody>
          <a:bodyPr/>
          <a:lstStyle/>
          <a:p>
            <a:pPr algn="just" eaLnBrk="0" hangingPunct="0"/>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与</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P(3)</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等价的操作</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25" name="文本框 17424"/>
          <p:cNvSpPr txBox="1">
            <a:spLocks noChangeArrowheads="1"/>
          </p:cNvSpPr>
          <p:nvPr/>
        </p:nvSpPr>
        <p:spPr bwMode="auto">
          <a:xfrm flipH="1">
            <a:off x="5220072" y="3732647"/>
            <a:ext cx="719137" cy="326158"/>
          </a:xfrm>
          <a:prstGeom prst="rect">
            <a:avLst/>
          </a:prstGeom>
          <a:solidFill>
            <a:srgbClr val="00B050"/>
          </a:solidFill>
          <a:ln w="9525">
            <a:solidFill>
              <a:srgbClr val="000000"/>
            </a:solidFill>
            <a:miter lim="800000"/>
          </a:ln>
        </p:spPr>
        <p:txBody>
          <a:bodyPr/>
          <a:lstStyle/>
          <a:p>
            <a:pPr algn="ctr" eaLnBrk="0" hangingPunct="0"/>
            <a:r>
              <a:rPr lang="en-US" altLang="zh-CN" sz="2000" b="1">
                <a:latin typeface="Times New Roman" panose="02020603050405020304" pitchFamily="18" charset="0"/>
                <a:ea typeface="宋体" panose="02010600030101010101" pitchFamily="2" charset="-122"/>
                <a:cs typeface="Times New Roman" panose="02020603050405020304" pitchFamily="18" charset="0"/>
              </a:rPr>
              <a:t>2</a:t>
            </a:r>
            <a:endParaRPr lang="en-US" altLang="zh-CN" sz="20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26" name="任意多边形 17425"/>
          <p:cNvSpPr>
            <a:spLocks noChangeArrowheads="1"/>
          </p:cNvSpPr>
          <p:nvPr/>
        </p:nvSpPr>
        <p:spPr bwMode="auto">
          <a:xfrm>
            <a:off x="3949699" y="3068638"/>
            <a:ext cx="1628776" cy="1301476"/>
          </a:xfrm>
          <a:custGeom>
            <a:avLst/>
            <a:gdLst>
              <a:gd name="T0" fmla="*/ 0 w 770"/>
              <a:gd name="T1" fmla="*/ 768 h 768"/>
              <a:gd name="T2" fmla="*/ 768 w 770"/>
              <a:gd name="T3" fmla="*/ 0 h 768"/>
              <a:gd name="T4" fmla="*/ 770 w 770"/>
              <a:gd name="T5" fmla="*/ 394 h 768"/>
            </a:gdLst>
            <a:ahLst/>
            <a:cxnLst>
              <a:cxn ang="0">
                <a:pos x="T0" y="T1"/>
              </a:cxn>
              <a:cxn ang="0">
                <a:pos x="T2" y="T3"/>
              </a:cxn>
              <a:cxn ang="0">
                <a:pos x="T4" y="T5"/>
              </a:cxn>
            </a:cxnLst>
            <a:rect l="0" t="0" r="r" b="b"/>
            <a:pathLst>
              <a:path w="770" h="768">
                <a:moveTo>
                  <a:pt x="0" y="768"/>
                </a:moveTo>
                <a:lnTo>
                  <a:pt x="768" y="0"/>
                </a:lnTo>
                <a:lnTo>
                  <a:pt x="770" y="394"/>
                </a:lnTo>
              </a:path>
            </a:pathLst>
          </a:custGeom>
          <a:noFill/>
          <a:ln w="9525">
            <a:solidFill>
              <a:srgbClr val="00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7427" name="文本框 17426"/>
          <p:cNvSpPr txBox="1">
            <a:spLocks noChangeArrowheads="1"/>
          </p:cNvSpPr>
          <p:nvPr/>
        </p:nvSpPr>
        <p:spPr bwMode="auto">
          <a:xfrm>
            <a:off x="5156972" y="4797152"/>
            <a:ext cx="744538" cy="346075"/>
          </a:xfrm>
          <a:prstGeom prst="rect">
            <a:avLst/>
          </a:prstGeom>
          <a:solidFill>
            <a:srgbClr val="FFC000"/>
          </a:solidFill>
          <a:ln>
            <a:noFill/>
          </a:ln>
        </p:spPr>
        <p:txBody>
          <a:bodyPr/>
          <a:lstStyle/>
          <a:p>
            <a:pPr algn="just" eaLnBrk="0" hangingPunct="0"/>
            <a:r>
              <a:rPr lang="en-US" altLang="zh-CN" sz="2000" b="1">
                <a:latin typeface="Times New Roman" panose="02020603050405020304" pitchFamily="18" charset="0"/>
                <a:ea typeface="宋体" panose="02010600030101010101" pitchFamily="2" charset="-122"/>
                <a:cs typeface="Times New Roman" panose="02020603050405020304" pitchFamily="18" charset="0"/>
              </a:rPr>
              <a:t>P(1)</a:t>
            </a:r>
            <a:endParaRPr lang="en-US" altLang="zh-CN" sz="20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28" name="直接连接符 17427"/>
          <p:cNvSpPr>
            <a:spLocks noChangeShapeType="1"/>
          </p:cNvSpPr>
          <p:nvPr/>
        </p:nvSpPr>
        <p:spPr bwMode="auto">
          <a:xfrm>
            <a:off x="5580063" y="4076700"/>
            <a:ext cx="0" cy="71913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7430" name="文本框 17429"/>
          <p:cNvSpPr txBox="1">
            <a:spLocks noChangeArrowheads="1"/>
          </p:cNvSpPr>
          <p:nvPr/>
        </p:nvSpPr>
        <p:spPr bwMode="auto">
          <a:xfrm flipH="1">
            <a:off x="7236296" y="4194176"/>
            <a:ext cx="730250" cy="368300"/>
          </a:xfrm>
          <a:prstGeom prst="rect">
            <a:avLst/>
          </a:prstGeom>
          <a:solidFill>
            <a:srgbClr val="00B050"/>
          </a:solidFill>
          <a:ln w="9525">
            <a:solidFill>
              <a:srgbClr val="000000"/>
            </a:solidFill>
            <a:miter lim="800000"/>
          </a:ln>
        </p:spPr>
        <p:txBody>
          <a:bodyPr/>
          <a:lstStyle/>
          <a:p>
            <a:pPr algn="ctr" eaLnBrk="0" hangingPunct="0"/>
            <a:r>
              <a:rPr lang="en-US" altLang="zh-CN" sz="2000" b="1">
                <a:latin typeface="Times New Roman" panose="02020603050405020304" pitchFamily="18" charset="0"/>
                <a:ea typeface="宋体" panose="02010600030101010101" pitchFamily="2" charset="-122"/>
                <a:cs typeface="Times New Roman" panose="02020603050405020304" pitchFamily="18" charset="0"/>
              </a:rPr>
              <a:t>1</a:t>
            </a:r>
            <a:endParaRPr lang="en-US" altLang="zh-CN" sz="2000" b="1">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 name="组合 1"/>
          <p:cNvGrpSpPr/>
          <p:nvPr/>
        </p:nvGrpSpPr>
        <p:grpSpPr>
          <a:xfrm>
            <a:off x="5901510" y="3571875"/>
            <a:ext cx="1699911" cy="1591295"/>
            <a:chOff x="5901510" y="3571875"/>
            <a:chExt cx="1699911" cy="1591295"/>
          </a:xfrm>
        </p:grpSpPr>
        <p:cxnSp>
          <p:nvCxnSpPr>
            <p:cNvPr id="48" name="直接箭头连接符 47"/>
            <p:cNvCxnSpPr>
              <a:stCxn id="17430" idx="2"/>
            </p:cNvCxnSpPr>
            <p:nvPr/>
          </p:nvCxnSpPr>
          <p:spPr>
            <a:xfrm flipH="1">
              <a:off x="7596337" y="4562476"/>
              <a:ext cx="5084" cy="60069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431" name="任意多边形 17430"/>
            <p:cNvSpPr>
              <a:spLocks noChangeArrowheads="1"/>
            </p:cNvSpPr>
            <p:nvPr/>
          </p:nvSpPr>
          <p:spPr bwMode="auto">
            <a:xfrm>
              <a:off x="5901510" y="3571875"/>
              <a:ext cx="1693090" cy="1223963"/>
            </a:xfrm>
            <a:custGeom>
              <a:avLst/>
              <a:gdLst>
                <a:gd name="T0" fmla="*/ 0 w 770"/>
                <a:gd name="T1" fmla="*/ 768 h 768"/>
                <a:gd name="T2" fmla="*/ 768 w 770"/>
                <a:gd name="T3" fmla="*/ 0 h 768"/>
                <a:gd name="T4" fmla="*/ 770 w 770"/>
                <a:gd name="T5" fmla="*/ 394 h 768"/>
              </a:gdLst>
              <a:ahLst/>
              <a:cxnLst>
                <a:cxn ang="0">
                  <a:pos x="T0" y="T1"/>
                </a:cxn>
                <a:cxn ang="0">
                  <a:pos x="T2" y="T3"/>
                </a:cxn>
                <a:cxn ang="0">
                  <a:pos x="T4" y="T5"/>
                </a:cxn>
              </a:cxnLst>
              <a:rect l="0" t="0" r="r" b="b"/>
              <a:pathLst>
                <a:path w="770" h="768">
                  <a:moveTo>
                    <a:pt x="0" y="768"/>
                  </a:moveTo>
                  <a:lnTo>
                    <a:pt x="768" y="0"/>
                  </a:lnTo>
                  <a:lnTo>
                    <a:pt x="770" y="394"/>
                  </a:lnTo>
                </a:path>
              </a:pathLst>
            </a:custGeom>
            <a:noFill/>
            <a:ln w="9525">
              <a:solidFill>
                <a:srgbClr val="00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sp>
        <p:nvSpPr>
          <p:cNvPr id="17432" name="文本框 17431"/>
          <p:cNvSpPr txBox="1">
            <a:spLocks noChangeArrowheads="1"/>
          </p:cNvSpPr>
          <p:nvPr/>
        </p:nvSpPr>
        <p:spPr bwMode="auto">
          <a:xfrm>
            <a:off x="7236296" y="5157789"/>
            <a:ext cx="755650" cy="345324"/>
          </a:xfrm>
          <a:prstGeom prst="rect">
            <a:avLst/>
          </a:prstGeom>
          <a:solidFill>
            <a:srgbClr val="FFC000"/>
          </a:solidFill>
          <a:ln>
            <a:noFill/>
          </a:ln>
        </p:spPr>
        <p:txBody>
          <a:bodyPr/>
          <a:lstStyle/>
          <a:p>
            <a:pPr algn="just" eaLnBrk="0" hangingPunct="0"/>
            <a:r>
              <a:rPr lang="en-US" altLang="zh-CN" sz="2000" b="1">
                <a:latin typeface="Times New Roman" panose="02020603050405020304" pitchFamily="18" charset="0"/>
                <a:ea typeface="宋体" panose="02010600030101010101" pitchFamily="2" charset="-122"/>
                <a:cs typeface="Times New Roman" panose="02020603050405020304" pitchFamily="18" charset="0"/>
              </a:rPr>
              <a:t>P(0)</a:t>
            </a:r>
            <a:endParaRPr lang="en-US" altLang="zh-CN" sz="20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36" name="文本框 17435"/>
          <p:cNvSpPr txBox="1">
            <a:spLocks noChangeArrowheads="1"/>
          </p:cNvSpPr>
          <p:nvPr/>
        </p:nvSpPr>
        <p:spPr bwMode="auto">
          <a:xfrm>
            <a:off x="1401763" y="6021389"/>
            <a:ext cx="6770637" cy="386234"/>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zh-CN" altLang="en-US" sz="2000" b="1" dirty="0">
                <a:solidFill>
                  <a:srgbClr val="FF0000"/>
                </a:solidFill>
                <a:ea typeface="宋体" panose="02010600030101010101" pitchFamily="2" charset="-122"/>
              </a:rPr>
              <a:t>有效输出结果的操作次序如红线所示。输出结果为</a:t>
            </a:r>
            <a:r>
              <a:rPr lang="en-US" altLang="zh-CN" sz="2000" b="1" dirty="0">
                <a:solidFill>
                  <a:srgbClr val="FF0000"/>
                </a:solidFill>
                <a:ea typeface="宋体" panose="02010600030101010101" pitchFamily="2" charset="-122"/>
              </a:rPr>
              <a:t>3</a:t>
            </a:r>
            <a:r>
              <a:rPr lang="zh-CN" altLang="en-US" sz="2000" b="1" dirty="0">
                <a:solidFill>
                  <a:srgbClr val="FF0000"/>
                </a:solidFill>
                <a:ea typeface="宋体" panose="02010600030101010101" pitchFamily="2" charset="-122"/>
              </a:rPr>
              <a:t>，</a:t>
            </a:r>
            <a:r>
              <a:rPr lang="en-US" altLang="zh-CN" sz="2000" b="1" dirty="0">
                <a:solidFill>
                  <a:srgbClr val="FF0000"/>
                </a:solidFill>
                <a:ea typeface="宋体" panose="02010600030101010101" pitchFamily="2" charset="-122"/>
              </a:rPr>
              <a:t>2</a:t>
            </a:r>
            <a:r>
              <a:rPr lang="zh-CN" altLang="en-US" sz="2000" b="1" dirty="0">
                <a:solidFill>
                  <a:srgbClr val="FF0000"/>
                </a:solidFill>
                <a:ea typeface="宋体" panose="02010600030101010101" pitchFamily="2" charset="-122"/>
              </a:rPr>
              <a:t>，</a:t>
            </a:r>
            <a:r>
              <a:rPr lang="en-US" altLang="zh-CN" sz="2000" b="1" dirty="0">
                <a:solidFill>
                  <a:srgbClr val="FF0000"/>
                </a:solidFill>
                <a:ea typeface="宋体" panose="02010600030101010101" pitchFamily="2" charset="-122"/>
              </a:rPr>
              <a:t>1</a:t>
            </a:r>
            <a:endParaRPr lang="en-US" altLang="zh-CN" sz="2000" b="1" dirty="0">
              <a:solidFill>
                <a:srgbClr val="FF0000"/>
              </a:solidFill>
              <a:latin typeface="Arial" panose="020B0604020202020204" pitchFamily="34" charset="0"/>
              <a:ea typeface="宋体" panose="02010600030101010101" pitchFamily="2" charset="-122"/>
            </a:endParaRPr>
          </a:p>
        </p:txBody>
      </p:sp>
      <p:grpSp>
        <p:nvGrpSpPr>
          <p:cNvPr id="25" name="组合 24"/>
          <p:cNvGrpSpPr/>
          <p:nvPr/>
        </p:nvGrpSpPr>
        <p:grpSpPr>
          <a:xfrm>
            <a:off x="3949699" y="4703289"/>
            <a:ext cx="1628775" cy="946030"/>
            <a:chOff x="3851275" y="4716435"/>
            <a:chExt cx="1727200" cy="932884"/>
          </a:xfrm>
        </p:grpSpPr>
        <p:cxnSp>
          <p:nvCxnSpPr>
            <p:cNvPr id="20" name="直接连接符 19"/>
            <p:cNvCxnSpPr/>
            <p:nvPr/>
          </p:nvCxnSpPr>
          <p:spPr>
            <a:xfrm>
              <a:off x="5578475" y="5150844"/>
              <a:ext cx="0" cy="498475"/>
            </a:xfrm>
            <a:prstGeom prst="line">
              <a:avLst/>
            </a:prstGeom>
            <a:ln>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H="1" flipV="1">
              <a:off x="3851275" y="4716435"/>
              <a:ext cx="1727200" cy="924175"/>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677" name="组合 28676"/>
          <p:cNvGrpSpPr/>
          <p:nvPr/>
        </p:nvGrpSpPr>
        <p:grpSpPr>
          <a:xfrm>
            <a:off x="5888084" y="5143227"/>
            <a:ext cx="1708252" cy="774304"/>
            <a:chOff x="5888084" y="5143227"/>
            <a:chExt cx="1708252" cy="774304"/>
          </a:xfrm>
        </p:grpSpPr>
        <p:cxnSp>
          <p:nvCxnSpPr>
            <p:cNvPr id="29" name="直接连接符 28"/>
            <p:cNvCxnSpPr/>
            <p:nvPr/>
          </p:nvCxnSpPr>
          <p:spPr>
            <a:xfrm flipH="1">
              <a:off x="7594600" y="5499447"/>
              <a:ext cx="1736" cy="418083"/>
            </a:xfrm>
            <a:prstGeom prst="line">
              <a:avLst/>
            </a:prstGeom>
            <a:ln>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flipH="1" flipV="1">
              <a:off x="5888084" y="5143227"/>
              <a:ext cx="1704926" cy="774304"/>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689" name="组合 28688"/>
          <p:cNvGrpSpPr/>
          <p:nvPr/>
        </p:nvGrpSpPr>
        <p:grpSpPr>
          <a:xfrm>
            <a:off x="7991946" y="4853887"/>
            <a:ext cx="612502" cy="893895"/>
            <a:chOff x="7991946" y="4853887"/>
            <a:chExt cx="396478" cy="893895"/>
          </a:xfrm>
        </p:grpSpPr>
        <p:cxnSp>
          <p:nvCxnSpPr>
            <p:cNvPr id="28679" name="直接连接符 28678"/>
            <p:cNvCxnSpPr/>
            <p:nvPr/>
          </p:nvCxnSpPr>
          <p:spPr>
            <a:xfrm flipV="1">
              <a:off x="7991946" y="4853888"/>
              <a:ext cx="396478" cy="302315"/>
            </a:xfrm>
            <a:prstGeom prst="line">
              <a:avLst/>
            </a:prstGeom>
            <a:ln>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8681" name="直接连接符 28680"/>
            <p:cNvCxnSpPr/>
            <p:nvPr/>
          </p:nvCxnSpPr>
          <p:spPr>
            <a:xfrm>
              <a:off x="8388424" y="4853887"/>
              <a:ext cx="0" cy="893895"/>
            </a:xfrm>
            <a:prstGeom prst="line">
              <a:avLst/>
            </a:prstGeom>
            <a:ln>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8683" name="直接箭头连接符 28682"/>
            <p:cNvCxnSpPr/>
            <p:nvPr/>
          </p:nvCxnSpPr>
          <p:spPr>
            <a:xfrm flipH="1" flipV="1">
              <a:off x="7991946" y="5499447"/>
              <a:ext cx="396478" cy="248335"/>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694" name="组合 28693"/>
          <p:cNvGrpSpPr/>
          <p:nvPr/>
        </p:nvGrpSpPr>
        <p:grpSpPr>
          <a:xfrm>
            <a:off x="2579687" y="4194176"/>
            <a:ext cx="1056209" cy="964355"/>
            <a:chOff x="2579687" y="4194176"/>
            <a:chExt cx="1056209" cy="964355"/>
          </a:xfrm>
        </p:grpSpPr>
        <p:cxnSp>
          <p:nvCxnSpPr>
            <p:cNvPr id="28691" name="直接连接符 28690"/>
            <p:cNvCxnSpPr/>
            <p:nvPr/>
          </p:nvCxnSpPr>
          <p:spPr>
            <a:xfrm>
              <a:off x="3635896" y="4725144"/>
              <a:ext cx="0" cy="433387"/>
            </a:xfrm>
            <a:prstGeom prst="line">
              <a:avLst/>
            </a:prstGeom>
            <a:ln>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8693" name="直接箭头连接符 28692"/>
            <p:cNvCxnSpPr/>
            <p:nvPr/>
          </p:nvCxnSpPr>
          <p:spPr>
            <a:xfrm flipH="1" flipV="1">
              <a:off x="2579687" y="4194176"/>
              <a:ext cx="1054100" cy="962027"/>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1" name="组合 50"/>
          <p:cNvGrpSpPr/>
          <p:nvPr/>
        </p:nvGrpSpPr>
        <p:grpSpPr>
          <a:xfrm>
            <a:off x="3779912" y="2708920"/>
            <a:ext cx="3960440" cy="2008983"/>
            <a:chOff x="3779912" y="2708920"/>
            <a:chExt cx="3960440" cy="2008983"/>
          </a:xfrm>
        </p:grpSpPr>
        <p:cxnSp>
          <p:nvCxnSpPr>
            <p:cNvPr id="37" name="直接连接符 36"/>
            <p:cNvCxnSpPr/>
            <p:nvPr/>
          </p:nvCxnSpPr>
          <p:spPr>
            <a:xfrm>
              <a:off x="5724128" y="4076700"/>
              <a:ext cx="0" cy="62658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50" name="组合 49"/>
            <p:cNvGrpSpPr/>
            <p:nvPr/>
          </p:nvGrpSpPr>
          <p:grpSpPr>
            <a:xfrm>
              <a:off x="3779912" y="2708920"/>
              <a:ext cx="3960440" cy="2008983"/>
              <a:chOff x="3779912" y="2708920"/>
              <a:chExt cx="3960440" cy="2008983"/>
            </a:xfrm>
          </p:grpSpPr>
          <p:cxnSp>
            <p:nvCxnSpPr>
              <p:cNvPr id="28696" name="直接连接符 28695"/>
              <p:cNvCxnSpPr/>
              <p:nvPr/>
            </p:nvCxnSpPr>
            <p:spPr>
              <a:xfrm>
                <a:off x="3779912" y="3571875"/>
                <a:ext cx="0" cy="62988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698" name="直接连接符 28697"/>
              <p:cNvCxnSpPr/>
              <p:nvPr/>
            </p:nvCxnSpPr>
            <p:spPr>
              <a:xfrm flipV="1">
                <a:off x="3779912" y="2708920"/>
                <a:ext cx="1944216" cy="149284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702" name="直接连接符 28701"/>
              <p:cNvCxnSpPr/>
              <p:nvPr/>
            </p:nvCxnSpPr>
            <p:spPr>
              <a:xfrm>
                <a:off x="5724128" y="2717938"/>
                <a:ext cx="0" cy="101470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V="1">
                <a:off x="5724128" y="3284984"/>
                <a:ext cx="2016224" cy="143291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7740352" y="3284984"/>
                <a:ext cx="0" cy="916777"/>
              </a:xfrm>
              <a:prstGeom prst="line">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52" name="组合 67"/>
          <p:cNvGrpSpPr/>
          <p:nvPr/>
        </p:nvGrpSpPr>
        <p:grpSpPr>
          <a:xfrm>
            <a:off x="-166120" y="79460"/>
            <a:ext cx="7317240" cy="698583"/>
            <a:chOff x="241715" y="4179148"/>
            <a:chExt cx="7317240" cy="698583"/>
          </a:xfrm>
        </p:grpSpPr>
        <p:grpSp>
          <p:nvGrpSpPr>
            <p:cNvPr id="53" name="组合 106"/>
            <p:cNvGrpSpPr/>
            <p:nvPr/>
          </p:nvGrpSpPr>
          <p:grpSpPr>
            <a:xfrm>
              <a:off x="241715" y="4179148"/>
              <a:ext cx="7317240" cy="698583"/>
              <a:chOff x="232190" y="4179148"/>
              <a:chExt cx="7317240" cy="698583"/>
            </a:xfrm>
          </p:grpSpPr>
          <p:sp>
            <p:nvSpPr>
              <p:cNvPr id="55"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56" name="TextBox 6"/>
              <p:cNvSpPr txBox="1">
                <a:spLocks noChangeArrowheads="1"/>
              </p:cNvSpPr>
              <p:nvPr/>
            </p:nvSpPr>
            <p:spPr bwMode="auto">
              <a:xfrm>
                <a:off x="232190"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7.4 </a:t>
                </a:r>
                <a:r>
                  <a:rPr lang="zh-CN" altLang="en-US" sz="3600" b="1" dirty="0">
                    <a:latin typeface="Times New Roman" panose="02020603050405020304" pitchFamily="18" charset="0"/>
                    <a:ea typeface="黑体" panose="02010609060101010101" pitchFamily="49" charset="-122"/>
                  </a:rPr>
                  <a:t>递归程序的阅读</a:t>
                </a:r>
                <a:endParaRPr lang="zh-CN" altLang="en-US" sz="3600" b="1" dirty="0">
                  <a:latin typeface="黑体" panose="02010609060101010101" pitchFamily="49" charset="-122"/>
                  <a:ea typeface="黑体" panose="02010609060101010101" pitchFamily="49" charset="-122"/>
                </a:endParaRPr>
              </a:p>
            </p:txBody>
          </p:sp>
        </p:grpSp>
        <p:pic>
          <p:nvPicPr>
            <p:cNvPr id="54" name="图片 53" descr="无标题.png"/>
            <p:cNvPicPr>
              <a:picLocks noChangeAspect="1"/>
            </p:cNvPicPr>
            <p:nvPr/>
          </p:nvPicPr>
          <p:blipFill>
            <a:blip r:embed="rId1" cstate="print"/>
            <a:stretch>
              <a:fillRect/>
            </a:stretch>
          </p:blipFill>
          <p:spPr>
            <a:xfrm>
              <a:off x="1137949" y="4364064"/>
              <a:ext cx="433676" cy="330989"/>
            </a:xfrm>
            <a:prstGeom prst="rect">
              <a:avLst/>
            </a:prstGeom>
          </p:spPr>
        </p:pic>
      </p:grpSp>
      <p:sp>
        <p:nvSpPr>
          <p:cNvPr id="3" name="页脚占位符 2"/>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7415"/>
                                        </p:tgtEl>
                                        <p:attrNameLst>
                                          <p:attrName>style.visibility</p:attrName>
                                        </p:attrNameLst>
                                      </p:cBhvr>
                                      <p:to>
                                        <p:strVal val="visible"/>
                                      </p:to>
                                    </p:set>
                                    <p:animEffect transition="in" filter="blinds(horizontal)">
                                      <p:cBhvr>
                                        <p:cTn id="11" dur="500"/>
                                        <p:tgtEl>
                                          <p:spTgt spid="17415"/>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7424"/>
                                        </p:tgtEl>
                                        <p:attrNameLst>
                                          <p:attrName>style.visibility</p:attrName>
                                        </p:attrNameLst>
                                      </p:cBhvr>
                                      <p:to>
                                        <p:strVal val="visible"/>
                                      </p:to>
                                    </p:set>
                                    <p:animEffect transition="in" filter="blinds(horizontal)">
                                      <p:cBhvr>
                                        <p:cTn id="16" dur="500"/>
                                        <p:tgtEl>
                                          <p:spTgt spid="17424"/>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7422"/>
                                        </p:tgtEl>
                                        <p:attrNameLst>
                                          <p:attrName>style.visibility</p:attrName>
                                        </p:attrNameLst>
                                      </p:cBhvr>
                                      <p:to>
                                        <p:strVal val="visible"/>
                                      </p:to>
                                    </p:set>
                                    <p:animEffect transition="in" filter="blinds(horizontal)">
                                      <p:cBhvr>
                                        <p:cTn id="21" dur="500"/>
                                        <p:tgtEl>
                                          <p:spTgt spid="17422"/>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7417"/>
                                        </p:tgtEl>
                                        <p:attrNameLst>
                                          <p:attrName>style.visibility</p:attrName>
                                        </p:attrNameLst>
                                      </p:cBhvr>
                                      <p:to>
                                        <p:strVal val="visible"/>
                                      </p:to>
                                    </p:set>
                                    <p:animEffect transition="in" filter="blinds(horizontal)">
                                      <p:cBhvr>
                                        <p:cTn id="26" dur="500"/>
                                        <p:tgtEl>
                                          <p:spTgt spid="17417"/>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17416"/>
                                        </p:tgtEl>
                                        <p:attrNameLst>
                                          <p:attrName>style.visibility</p:attrName>
                                        </p:attrNameLst>
                                      </p:cBhvr>
                                      <p:to>
                                        <p:strVal val="visible"/>
                                      </p:to>
                                    </p:set>
                                    <p:animEffect transition="in" filter="blinds(horizontal)">
                                      <p:cBhvr>
                                        <p:cTn id="29" dur="500"/>
                                        <p:tgtEl>
                                          <p:spTgt spid="17416"/>
                                        </p:tgtEl>
                                      </p:cBhvr>
                                    </p:animEffect>
                                  </p:childTnLst>
                                </p:cTn>
                              </p:par>
                              <p:par>
                                <p:cTn id="30" presetID="3" presetClass="entr" presetSubtype="10" fill="hold" nodeType="withEffect">
                                  <p:stCondLst>
                                    <p:cond delay="0"/>
                                  </p:stCondLst>
                                  <p:childTnLst>
                                    <p:set>
                                      <p:cBhvr>
                                        <p:cTn id="31" dur="1" fill="hold">
                                          <p:stCondLst>
                                            <p:cond delay="0"/>
                                          </p:stCondLst>
                                        </p:cTn>
                                        <p:tgtEl>
                                          <p:spTgt spid="17419"/>
                                        </p:tgtEl>
                                        <p:attrNameLst>
                                          <p:attrName>style.visibility</p:attrName>
                                        </p:attrNameLst>
                                      </p:cBhvr>
                                      <p:to>
                                        <p:strVal val="visible"/>
                                      </p:to>
                                    </p:set>
                                    <p:animEffect transition="in" filter="blinds(horizontal)">
                                      <p:cBhvr>
                                        <p:cTn id="32" dur="500"/>
                                        <p:tgtEl>
                                          <p:spTgt spid="17419"/>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7418"/>
                                        </p:tgtEl>
                                        <p:attrNameLst>
                                          <p:attrName>style.visibility</p:attrName>
                                        </p:attrNameLst>
                                      </p:cBhvr>
                                      <p:to>
                                        <p:strVal val="visible"/>
                                      </p:to>
                                    </p:set>
                                    <p:animEffect transition="in" filter="blinds(horizontal)">
                                      <p:cBhvr>
                                        <p:cTn id="35" dur="500"/>
                                        <p:tgtEl>
                                          <p:spTgt spid="17418"/>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7414"/>
                                        </p:tgtEl>
                                        <p:attrNameLst>
                                          <p:attrName>style.visibility</p:attrName>
                                        </p:attrNameLst>
                                      </p:cBhvr>
                                      <p:to>
                                        <p:strVal val="visible"/>
                                      </p:to>
                                    </p:set>
                                    <p:animEffect transition="in" filter="blinds(horizontal)">
                                      <p:cBhvr>
                                        <p:cTn id="40" dur="500"/>
                                        <p:tgtEl>
                                          <p:spTgt spid="17414"/>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17426"/>
                                        </p:tgtEl>
                                        <p:attrNameLst>
                                          <p:attrName>style.visibility</p:attrName>
                                        </p:attrNameLst>
                                      </p:cBhvr>
                                      <p:to>
                                        <p:strVal val="visible"/>
                                      </p:to>
                                    </p:set>
                                    <p:animEffect transition="in" filter="blinds(horizontal)">
                                      <p:cBhvr>
                                        <p:cTn id="45" dur="500"/>
                                        <p:tgtEl>
                                          <p:spTgt spid="17426"/>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17425"/>
                                        </p:tgtEl>
                                        <p:attrNameLst>
                                          <p:attrName>style.visibility</p:attrName>
                                        </p:attrNameLst>
                                      </p:cBhvr>
                                      <p:to>
                                        <p:strVal val="visible"/>
                                      </p:to>
                                    </p:set>
                                    <p:animEffect transition="in" filter="blinds(horizontal)">
                                      <p:cBhvr>
                                        <p:cTn id="48" dur="500"/>
                                        <p:tgtEl>
                                          <p:spTgt spid="17425"/>
                                        </p:tgtEl>
                                      </p:cBhvr>
                                    </p:animEffect>
                                  </p:childTnLst>
                                </p:cTn>
                              </p:par>
                              <p:par>
                                <p:cTn id="49" presetID="3" presetClass="entr" presetSubtype="10" fill="hold" nodeType="withEffect">
                                  <p:stCondLst>
                                    <p:cond delay="0"/>
                                  </p:stCondLst>
                                  <p:childTnLst>
                                    <p:set>
                                      <p:cBhvr>
                                        <p:cTn id="50" dur="1" fill="hold">
                                          <p:stCondLst>
                                            <p:cond delay="0"/>
                                          </p:stCondLst>
                                        </p:cTn>
                                        <p:tgtEl>
                                          <p:spTgt spid="17428"/>
                                        </p:tgtEl>
                                        <p:attrNameLst>
                                          <p:attrName>style.visibility</p:attrName>
                                        </p:attrNameLst>
                                      </p:cBhvr>
                                      <p:to>
                                        <p:strVal val="visible"/>
                                      </p:to>
                                    </p:set>
                                    <p:animEffect transition="in" filter="blinds(horizontal)">
                                      <p:cBhvr>
                                        <p:cTn id="51" dur="500"/>
                                        <p:tgtEl>
                                          <p:spTgt spid="17428"/>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17427"/>
                                        </p:tgtEl>
                                        <p:attrNameLst>
                                          <p:attrName>style.visibility</p:attrName>
                                        </p:attrNameLst>
                                      </p:cBhvr>
                                      <p:to>
                                        <p:strVal val="visible"/>
                                      </p:to>
                                    </p:set>
                                    <p:animEffect transition="in" filter="blinds(horizontal)">
                                      <p:cBhvr>
                                        <p:cTn id="54" dur="500"/>
                                        <p:tgtEl>
                                          <p:spTgt spid="17427"/>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17413"/>
                                        </p:tgtEl>
                                        <p:attrNameLst>
                                          <p:attrName>style.visibility</p:attrName>
                                        </p:attrNameLst>
                                      </p:cBhvr>
                                      <p:to>
                                        <p:strVal val="visible"/>
                                      </p:to>
                                    </p:set>
                                    <p:animEffect transition="in" filter="blinds(horizontal)">
                                      <p:cBhvr>
                                        <p:cTn id="59" dur="500"/>
                                        <p:tgtEl>
                                          <p:spTgt spid="17413"/>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17432"/>
                                        </p:tgtEl>
                                        <p:attrNameLst>
                                          <p:attrName>style.visibility</p:attrName>
                                        </p:attrNameLst>
                                      </p:cBhvr>
                                      <p:to>
                                        <p:strVal val="visible"/>
                                      </p:to>
                                    </p:set>
                                    <p:animEffect transition="in" filter="blinds(horizontal)">
                                      <p:cBhvr>
                                        <p:cTn id="64" dur="500"/>
                                        <p:tgtEl>
                                          <p:spTgt spid="17432"/>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17430"/>
                                        </p:tgtEl>
                                        <p:attrNameLst>
                                          <p:attrName>style.visibility</p:attrName>
                                        </p:attrNameLst>
                                      </p:cBhvr>
                                      <p:to>
                                        <p:strVal val="visible"/>
                                      </p:to>
                                    </p:set>
                                    <p:animEffect transition="in" filter="blinds(horizontal)">
                                      <p:cBhvr>
                                        <p:cTn id="67" dur="500"/>
                                        <p:tgtEl>
                                          <p:spTgt spid="17430"/>
                                        </p:tgtEl>
                                      </p:cBhvr>
                                    </p:animEffect>
                                  </p:childTnLst>
                                </p:cTn>
                              </p:par>
                              <p:par>
                                <p:cTn id="68" presetID="1" presetClass="entr" presetSubtype="0" fill="hold" nodeType="withEffect">
                                  <p:stCondLst>
                                    <p:cond delay="0"/>
                                  </p:stCondLst>
                                  <p:childTnLst>
                                    <p:set>
                                      <p:cBhvr>
                                        <p:cTn id="69" dur="1" fill="hold">
                                          <p:stCondLst>
                                            <p:cond delay="0"/>
                                          </p:stCondLst>
                                        </p:cTn>
                                        <p:tgtEl>
                                          <p:spTgt spid="2"/>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17423"/>
                                        </p:tgtEl>
                                        <p:attrNameLst>
                                          <p:attrName>style.visibility</p:attrName>
                                        </p:attrNameLst>
                                      </p:cBhvr>
                                      <p:to>
                                        <p:strVal val="visible"/>
                                      </p:to>
                                    </p:set>
                                    <p:animEffect transition="in" filter="blinds(horizontal)">
                                      <p:cBhvr>
                                        <p:cTn id="74" dur="500"/>
                                        <p:tgtEl>
                                          <p:spTgt spid="17423"/>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868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867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8694"/>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5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17436"/>
                                        </p:tgtEl>
                                        <p:attrNameLst>
                                          <p:attrName>style.visibility</p:attrName>
                                        </p:attrNameLst>
                                      </p:cBhvr>
                                      <p:to>
                                        <p:strVal val="visible"/>
                                      </p:to>
                                    </p:set>
                                    <p:animEffect transition="in" filter="blinds(horizontal)">
                                      <p:cBhvr>
                                        <p:cTn id="99" dur="500"/>
                                        <p:tgtEl>
                                          <p:spTgt spid="17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3" grpId="0" animBg="1"/>
      <p:bldP spid="17414" grpId="0" animBg="1"/>
      <p:bldP spid="17415" grpId="0" animBg="1"/>
      <p:bldP spid="17416" grpId="0" animBg="1"/>
      <p:bldP spid="17418" grpId="0" animBg="1"/>
      <p:bldP spid="17422" grpId="0" animBg="1"/>
      <p:bldP spid="17423" grpId="0" animBg="1"/>
      <p:bldP spid="17424" grpId="0" animBg="1"/>
      <p:bldP spid="17425" grpId="0" animBg="1"/>
      <p:bldP spid="17427" grpId="0" animBg="1"/>
      <p:bldP spid="17430" grpId="0" animBg="1"/>
      <p:bldP spid="17432" grpId="0" animBg="1"/>
      <p:bldP spid="1743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文本占位符 18434"/>
          <p:cNvSpPr>
            <a:spLocks noGrp="1" noChangeArrowheads="1"/>
          </p:cNvSpPr>
          <p:nvPr>
            <p:ph idx="1"/>
          </p:nvPr>
        </p:nvSpPr>
        <p:spPr>
          <a:xfrm>
            <a:off x="332068" y="1000166"/>
            <a:ext cx="8229600" cy="4678451"/>
          </a:xfrm>
        </p:spPr>
        <p:txBody>
          <a:bodyPr/>
          <a:lstStyle/>
          <a:p>
            <a:pPr>
              <a:buClr>
                <a:srgbClr val="FF0000"/>
              </a:buClr>
              <a:buFont typeface="Wingdings" panose="05000000000000000000" pitchFamily="2" charset="2"/>
              <a:buChar char="ü"/>
            </a:pPr>
            <a:r>
              <a:rPr lang="zh-CN" altLang="en-US" sz="2400" b="1" dirty="0"/>
              <a:t>针对下面的算法</a:t>
            </a:r>
            <a:r>
              <a:rPr lang="en-US" altLang="zh-CN" sz="2400" b="1" dirty="0"/>
              <a:t>P(n)</a:t>
            </a:r>
            <a:r>
              <a:rPr lang="zh-CN" altLang="en-US" sz="2400" b="1" dirty="0"/>
              <a:t>，用前述方法求出</a:t>
            </a:r>
            <a:r>
              <a:rPr lang="zh-CN" altLang="en-US" sz="2400" b="1" dirty="0">
                <a:solidFill>
                  <a:srgbClr val="FF0000"/>
                </a:solidFill>
              </a:rPr>
              <a:t>调用 </a:t>
            </a:r>
            <a:r>
              <a:rPr lang="en-US" altLang="zh-CN" sz="2400" b="1" dirty="0">
                <a:solidFill>
                  <a:srgbClr val="FF0000"/>
                </a:solidFill>
              </a:rPr>
              <a:t>P(3)</a:t>
            </a:r>
            <a:r>
              <a:rPr lang="zh-CN" altLang="en-US" sz="2400" b="1" dirty="0">
                <a:solidFill>
                  <a:srgbClr val="FF0000"/>
                </a:solidFill>
              </a:rPr>
              <a:t>所得到的输出结果。</a:t>
            </a:r>
            <a:endParaRPr lang="zh-CN" altLang="en-US" sz="2400" b="1" dirty="0">
              <a:solidFill>
                <a:srgbClr val="FF0000"/>
              </a:solidFill>
            </a:endParaRPr>
          </a:p>
          <a:p>
            <a:pPr>
              <a:buFont typeface="Wingdings" panose="05000000000000000000" pitchFamily="2" charset="2"/>
              <a:buNone/>
            </a:pPr>
            <a:r>
              <a:rPr lang="en-US" altLang="zh-CN" sz="2200" b="1" dirty="0">
                <a:solidFill>
                  <a:srgbClr val="0000FF"/>
                </a:solidFill>
              </a:rPr>
              <a:t>      void</a:t>
            </a:r>
            <a:r>
              <a:rPr lang="en-US" altLang="zh-CN" sz="2200" b="1" dirty="0"/>
              <a:t> P(</a:t>
            </a:r>
            <a:r>
              <a:rPr lang="en-US" altLang="zh-CN" sz="2200" b="1" dirty="0" err="1">
                <a:solidFill>
                  <a:srgbClr val="0000FF"/>
                </a:solidFill>
              </a:rPr>
              <a:t>int</a:t>
            </a:r>
            <a:r>
              <a:rPr lang="en-US" altLang="zh-CN" sz="2200" b="1" dirty="0"/>
              <a:t> </a:t>
            </a:r>
            <a:r>
              <a:rPr lang="en-US" altLang="zh-CN" sz="2200" b="1" i="1" dirty="0"/>
              <a:t>n</a:t>
            </a:r>
            <a:r>
              <a:rPr lang="en-US" altLang="zh-CN" sz="2200" b="1" dirty="0"/>
              <a:t>){</a:t>
            </a:r>
            <a:endParaRPr lang="en-US" altLang="zh-CN" sz="2200" b="1" dirty="0"/>
          </a:p>
          <a:p>
            <a:pPr>
              <a:buFont typeface="Wingdings" panose="05000000000000000000" pitchFamily="2" charset="2"/>
              <a:buNone/>
            </a:pPr>
            <a:r>
              <a:rPr lang="en-US" altLang="zh-CN" sz="2200" b="1" dirty="0">
                <a:solidFill>
                  <a:srgbClr val="0000FF"/>
                </a:solidFill>
              </a:rPr>
              <a:t>              if</a:t>
            </a:r>
            <a:r>
              <a:rPr lang="en-US" altLang="zh-CN" sz="2200" b="1" dirty="0"/>
              <a:t>(n&gt;0) {</a:t>
            </a:r>
            <a:endParaRPr lang="en-US" altLang="zh-CN" sz="2200" b="1" dirty="0"/>
          </a:p>
          <a:p>
            <a:pPr>
              <a:buFont typeface="Wingdings" panose="05000000000000000000" pitchFamily="2" charset="2"/>
              <a:buNone/>
            </a:pPr>
            <a:r>
              <a:rPr lang="en-US" altLang="zh-CN" sz="2200" b="1" dirty="0"/>
              <a:t>                  </a:t>
            </a:r>
            <a:r>
              <a:rPr lang="fr-FR" altLang="en-US" sz="2200" b="1" dirty="0">
                <a:solidFill>
                  <a:srgbClr val="0000FF"/>
                </a:solidFill>
              </a:rPr>
              <a:t>cout</a:t>
            </a:r>
            <a:r>
              <a:rPr lang="fr-FR" altLang="en-US" sz="2200" b="1" dirty="0"/>
              <a:t> &lt;&lt; </a:t>
            </a:r>
            <a:r>
              <a:rPr lang="fr-FR" altLang="en-US" sz="2200" b="1" i="1" dirty="0"/>
              <a:t>n</a:t>
            </a:r>
            <a:r>
              <a:rPr lang="fr-FR" altLang="en-US" sz="2200" b="1" dirty="0"/>
              <a:t>;</a:t>
            </a:r>
            <a:endParaRPr lang="fr-FR" altLang="en-US" sz="2200" b="1" dirty="0"/>
          </a:p>
          <a:p>
            <a:pPr>
              <a:buFont typeface="Wingdings" panose="05000000000000000000" pitchFamily="2" charset="2"/>
              <a:buNone/>
            </a:pPr>
            <a:r>
              <a:rPr lang="fr-FR" altLang="en-US" sz="2200" b="1" dirty="0"/>
              <a:t>                  </a:t>
            </a:r>
            <a:r>
              <a:rPr lang="en-US" altLang="zh-CN" sz="2200" b="1" dirty="0"/>
              <a:t>P</a:t>
            </a:r>
            <a:r>
              <a:rPr lang="fr-FR" altLang="en-US" sz="2200" b="1" dirty="0"/>
              <a:t>(</a:t>
            </a:r>
            <a:r>
              <a:rPr lang="fr-FR" altLang="en-US" sz="2200" b="1" i="1" dirty="0"/>
              <a:t>n</a:t>
            </a:r>
            <a:r>
              <a:rPr lang="fr-FR" altLang="en-US" sz="2200" b="1" dirty="0"/>
              <a:t>-1);</a:t>
            </a:r>
            <a:endParaRPr lang="fr-FR" altLang="en-US" sz="2200" b="1" dirty="0"/>
          </a:p>
          <a:p>
            <a:pPr>
              <a:buFont typeface="Wingdings" panose="05000000000000000000" pitchFamily="2" charset="2"/>
              <a:buNone/>
            </a:pPr>
            <a:r>
              <a:rPr lang="fr-FR" altLang="en-US" sz="2200" b="1" dirty="0"/>
              <a:t>                  </a:t>
            </a:r>
            <a:r>
              <a:rPr lang="fr-FR" altLang="en-US" sz="2200" b="1" dirty="0">
                <a:solidFill>
                  <a:srgbClr val="0000FF"/>
                </a:solidFill>
              </a:rPr>
              <a:t>cout</a:t>
            </a:r>
            <a:r>
              <a:rPr lang="fr-FR" altLang="en-US" sz="2200" b="1" dirty="0"/>
              <a:t> &lt;&lt; </a:t>
            </a:r>
            <a:r>
              <a:rPr lang="fr-FR" altLang="en-US" sz="2200" b="1" i="1" dirty="0"/>
              <a:t>n</a:t>
            </a:r>
            <a:r>
              <a:rPr lang="fr-FR" altLang="en-US" sz="2200" b="1" dirty="0"/>
              <a:t>;</a:t>
            </a:r>
            <a:endParaRPr lang="fr-FR" altLang="en-US" sz="2200" b="1" dirty="0"/>
          </a:p>
          <a:p>
            <a:pPr>
              <a:buFont typeface="Wingdings" panose="05000000000000000000" pitchFamily="2" charset="2"/>
              <a:buNone/>
            </a:pPr>
            <a:r>
              <a:rPr lang="fr-FR" altLang="en-US" sz="2200" b="1" dirty="0"/>
              <a:t>              </a:t>
            </a:r>
            <a:r>
              <a:rPr lang="en-US" altLang="zh-CN" sz="2200" b="1" dirty="0"/>
              <a:t>}</a:t>
            </a:r>
            <a:endParaRPr lang="en-US" altLang="zh-CN" sz="2200" b="1" dirty="0"/>
          </a:p>
          <a:p>
            <a:pPr>
              <a:buFont typeface="Wingdings" panose="05000000000000000000" pitchFamily="2" charset="2"/>
              <a:buNone/>
            </a:pPr>
            <a:r>
              <a:rPr lang="en-US" altLang="zh-CN" sz="2200" b="1" dirty="0"/>
              <a:t>       }</a:t>
            </a:r>
            <a:endParaRPr lang="en-US" altLang="zh-CN" sz="2200" b="1" dirty="0"/>
          </a:p>
        </p:txBody>
      </p:sp>
      <p:grpSp>
        <p:nvGrpSpPr>
          <p:cNvPr id="11" name="组合 67"/>
          <p:cNvGrpSpPr/>
          <p:nvPr/>
        </p:nvGrpSpPr>
        <p:grpSpPr>
          <a:xfrm>
            <a:off x="-166120" y="79460"/>
            <a:ext cx="7317240" cy="698583"/>
            <a:chOff x="241715" y="4179148"/>
            <a:chExt cx="7317240" cy="698583"/>
          </a:xfrm>
        </p:grpSpPr>
        <p:grpSp>
          <p:nvGrpSpPr>
            <p:cNvPr id="12" name="组合 106"/>
            <p:cNvGrpSpPr/>
            <p:nvPr/>
          </p:nvGrpSpPr>
          <p:grpSpPr>
            <a:xfrm>
              <a:off x="241715" y="4179148"/>
              <a:ext cx="7317240" cy="698583"/>
              <a:chOff x="232190" y="4179148"/>
              <a:chExt cx="7317240" cy="698583"/>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232190"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7.4 </a:t>
                </a:r>
                <a:r>
                  <a:rPr lang="zh-CN" altLang="en-US" sz="3600" b="1" dirty="0">
                    <a:latin typeface="Times New Roman" panose="02020603050405020304" pitchFamily="18" charset="0"/>
                    <a:ea typeface="黑体" panose="02010609060101010101" pitchFamily="49" charset="-122"/>
                  </a:rPr>
                  <a:t>递归程序的阅读</a:t>
                </a:r>
                <a:endParaRPr lang="zh-CN" altLang="en-US" sz="3600" b="1" dirty="0">
                  <a:latin typeface="黑体" panose="02010609060101010101" pitchFamily="49" charset="-122"/>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grpSp>
        <p:nvGrpSpPr>
          <p:cNvPr id="29769" name="组合 29768"/>
          <p:cNvGrpSpPr/>
          <p:nvPr/>
        </p:nvGrpSpPr>
        <p:grpSpPr>
          <a:xfrm>
            <a:off x="2268805" y="2492896"/>
            <a:ext cx="6745144" cy="3999197"/>
            <a:chOff x="2195637" y="2492896"/>
            <a:chExt cx="6745144" cy="3999197"/>
          </a:xfrm>
        </p:grpSpPr>
        <p:cxnSp>
          <p:nvCxnSpPr>
            <p:cNvPr id="29733" name="直接连接符 29732"/>
            <p:cNvCxnSpPr/>
            <p:nvPr/>
          </p:nvCxnSpPr>
          <p:spPr>
            <a:xfrm>
              <a:off x="7950372" y="4417837"/>
              <a:ext cx="0" cy="2074255"/>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735" name="直接连接符 29734"/>
            <p:cNvCxnSpPr/>
            <p:nvPr/>
          </p:nvCxnSpPr>
          <p:spPr>
            <a:xfrm flipH="1" flipV="1">
              <a:off x="5940152" y="5661248"/>
              <a:ext cx="2010220" cy="830845"/>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737" name="直接连接符 29736"/>
            <p:cNvCxnSpPr/>
            <p:nvPr/>
          </p:nvCxnSpPr>
          <p:spPr>
            <a:xfrm>
              <a:off x="5940152" y="5661248"/>
              <a:ext cx="0" cy="545638"/>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741" name="直接连接符 29740"/>
            <p:cNvCxnSpPr/>
            <p:nvPr/>
          </p:nvCxnSpPr>
          <p:spPr>
            <a:xfrm flipH="1" flipV="1">
              <a:off x="4032049" y="5107452"/>
              <a:ext cx="1908104" cy="1099437"/>
            </a:xfrm>
            <a:prstGeom prst="line">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p:cNvSpPr txBox="1">
              <a:spLocks noChangeArrowheads="1"/>
            </p:cNvSpPr>
            <p:nvPr/>
          </p:nvSpPr>
          <p:spPr bwMode="auto">
            <a:xfrm>
              <a:off x="7427350" y="2633782"/>
              <a:ext cx="792161" cy="363537"/>
            </a:xfrm>
            <a:prstGeom prst="rect">
              <a:avLst/>
            </a:prstGeom>
            <a:solidFill>
              <a:srgbClr val="FFFF00"/>
            </a:solidFill>
            <a:ln>
              <a:noFill/>
            </a:ln>
          </p:spPr>
          <p:txBody>
            <a:bodyPr/>
            <a:lstStyle/>
            <a:p>
              <a:pPr algn="just" eaLnBrk="0" hangingPunct="0"/>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 1</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文本框 9"/>
            <p:cNvSpPr txBox="1">
              <a:spLocks noChangeArrowheads="1"/>
            </p:cNvSpPr>
            <p:nvPr/>
          </p:nvSpPr>
          <p:spPr bwMode="auto">
            <a:xfrm>
              <a:off x="5426343" y="2529859"/>
              <a:ext cx="792162" cy="354012"/>
            </a:xfrm>
            <a:prstGeom prst="rect">
              <a:avLst/>
            </a:prstGeom>
            <a:solidFill>
              <a:srgbClr val="FFFF00"/>
            </a:solidFill>
            <a:ln>
              <a:noFill/>
            </a:ln>
          </p:spPr>
          <p:txBody>
            <a:bodyPr/>
            <a:lstStyle/>
            <a:p>
              <a:pPr algn="ctr" eaLnBrk="0" hangingPunct="0"/>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 2</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 name="文本框 15"/>
            <p:cNvSpPr txBox="1">
              <a:spLocks noChangeArrowheads="1"/>
            </p:cNvSpPr>
            <p:nvPr/>
          </p:nvSpPr>
          <p:spPr bwMode="auto">
            <a:xfrm>
              <a:off x="2195637" y="4139626"/>
              <a:ext cx="744537" cy="421430"/>
            </a:xfrm>
            <a:prstGeom prst="rect">
              <a:avLst/>
            </a:prstGeom>
            <a:solidFill>
              <a:srgbClr val="FFC000"/>
            </a:solidFill>
            <a:ln>
              <a:noFill/>
            </a:ln>
          </p:spPr>
          <p:txBody>
            <a:bodyPr/>
            <a:lstStyle/>
            <a:p>
              <a:pPr algn="just" eaLnBrk="0" hangingPunct="0"/>
              <a:r>
                <a:rPr lang="en-US" altLang="zh-CN" sz="2000" b="1">
                  <a:latin typeface="Times New Roman" panose="02020603050405020304" pitchFamily="18" charset="0"/>
                  <a:ea typeface="宋体" panose="02010600030101010101" pitchFamily="2" charset="-122"/>
                  <a:cs typeface="Times New Roman" panose="02020603050405020304" pitchFamily="18" charset="0"/>
                </a:rPr>
                <a:t>P(3)</a:t>
              </a:r>
              <a:endParaRPr lang="en-US" altLang="zh-CN" sz="20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 name="文本框 16"/>
            <p:cNvSpPr txBox="1">
              <a:spLocks noChangeArrowheads="1"/>
            </p:cNvSpPr>
            <p:nvPr/>
          </p:nvSpPr>
          <p:spPr bwMode="auto">
            <a:xfrm flipH="1">
              <a:off x="3562832" y="3366331"/>
              <a:ext cx="599129" cy="321858"/>
            </a:xfrm>
            <a:prstGeom prst="rect">
              <a:avLst/>
            </a:prstGeom>
            <a:solidFill>
              <a:srgbClr val="00B050"/>
            </a:solidFill>
            <a:ln w="9525">
              <a:solidFill>
                <a:srgbClr val="000000"/>
              </a:solidFill>
              <a:miter lim="800000"/>
            </a:ln>
          </p:spPr>
          <p:txBody>
            <a:bodyPr/>
            <a:lstStyle/>
            <a:p>
              <a:pPr algn="ctr" eaLnBrk="0" hangingPunct="0"/>
              <a:r>
                <a:rPr lang="en-US" altLang="zh-CN" b="1" dirty="0">
                  <a:latin typeface="Times New Roman" panose="02020603050405020304" pitchFamily="18" charset="0"/>
                  <a:ea typeface="宋体" panose="02010600030101010101" pitchFamily="2" charset="-122"/>
                  <a:cs typeface="Times New Roman" panose="02020603050405020304" pitchFamily="18" charset="0"/>
                </a:rPr>
                <a:t>3</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 name="文本框 18"/>
            <p:cNvSpPr txBox="1">
              <a:spLocks noChangeArrowheads="1"/>
            </p:cNvSpPr>
            <p:nvPr/>
          </p:nvSpPr>
          <p:spPr bwMode="auto">
            <a:xfrm>
              <a:off x="3562832" y="4044493"/>
              <a:ext cx="599129" cy="350013"/>
            </a:xfrm>
            <a:prstGeom prst="rect">
              <a:avLst/>
            </a:prstGeom>
            <a:solidFill>
              <a:srgbClr val="FFC000"/>
            </a:solidFill>
            <a:ln>
              <a:noFill/>
            </a:ln>
          </p:spPr>
          <p:txBody>
            <a:bodyPr/>
            <a:lstStyle/>
            <a:p>
              <a:pPr algn="just" eaLnBrk="0" hangingPunct="0"/>
              <a:r>
                <a:rPr lang="en-US" altLang="zh-CN" b="1" dirty="0">
                  <a:latin typeface="Times New Roman" panose="02020603050405020304" pitchFamily="18" charset="0"/>
                  <a:ea typeface="宋体" panose="02010600030101010101" pitchFamily="2" charset="-122"/>
                  <a:cs typeface="Times New Roman" panose="02020603050405020304" pitchFamily="18" charset="0"/>
                </a:rPr>
                <a:t>P(2)</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 name="直接连接符 19"/>
            <p:cNvSpPr>
              <a:spLocks noChangeShapeType="1"/>
            </p:cNvSpPr>
            <p:nvPr/>
          </p:nvSpPr>
          <p:spPr bwMode="auto">
            <a:xfrm flipH="1">
              <a:off x="3847006" y="3683124"/>
              <a:ext cx="0" cy="36823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1" name="矩形 17420"/>
            <p:cNvSpPr>
              <a:spLocks noChangeArrowheads="1"/>
            </p:cNvSpPr>
            <p:nvPr/>
          </p:nvSpPr>
          <p:spPr bwMode="auto">
            <a:xfrm>
              <a:off x="6812087" y="5374208"/>
              <a:ext cx="557212" cy="5000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 name="文本框 21"/>
            <p:cNvSpPr txBox="1">
              <a:spLocks noChangeArrowheads="1"/>
            </p:cNvSpPr>
            <p:nvPr/>
          </p:nvSpPr>
          <p:spPr bwMode="auto">
            <a:xfrm>
              <a:off x="3491880" y="2492896"/>
              <a:ext cx="791913" cy="354012"/>
            </a:xfrm>
            <a:prstGeom prst="rect">
              <a:avLst/>
            </a:prstGeom>
            <a:solidFill>
              <a:srgbClr val="FFFF00"/>
            </a:solidFill>
            <a:ln>
              <a:noFill/>
            </a:ln>
          </p:spPr>
          <p:txBody>
            <a:bodyPr/>
            <a:lstStyle/>
            <a:p>
              <a:pPr algn="ctr" eaLnBrk="0" hangingPunct="0"/>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 3</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 name="文本框 22"/>
            <p:cNvSpPr txBox="1">
              <a:spLocks noChangeArrowheads="1"/>
            </p:cNvSpPr>
            <p:nvPr/>
          </p:nvSpPr>
          <p:spPr bwMode="auto">
            <a:xfrm>
              <a:off x="8243248" y="4085349"/>
              <a:ext cx="697533" cy="365740"/>
            </a:xfrm>
            <a:prstGeom prst="rect">
              <a:avLst/>
            </a:prstGeom>
            <a:solidFill>
              <a:srgbClr val="FFFF00"/>
            </a:solidFill>
            <a:ln>
              <a:noFill/>
            </a:ln>
          </p:spPr>
          <p:txBody>
            <a:bodyPr/>
            <a:lstStyle/>
            <a:p>
              <a:pPr algn="just" eaLnBrk="0" hangingPunct="0"/>
              <a:r>
                <a:rPr lang="en-US" altLang="zh-CN" b="1" i="1" dirty="0">
                  <a:latin typeface="Times New Roman" panose="02020603050405020304" pitchFamily="18" charset="0"/>
                  <a:ea typeface="宋体" panose="02010600030101010101" pitchFamily="2" charset="-122"/>
                  <a:cs typeface="Times New Roman" panose="02020603050405020304" pitchFamily="18" charset="0"/>
                </a:rPr>
                <a:t>n </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 0</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 name="文本框 24"/>
            <p:cNvSpPr txBox="1">
              <a:spLocks noChangeArrowheads="1"/>
            </p:cNvSpPr>
            <p:nvPr/>
          </p:nvSpPr>
          <p:spPr bwMode="auto">
            <a:xfrm flipH="1">
              <a:off x="5469458" y="3800062"/>
              <a:ext cx="616346" cy="326158"/>
            </a:xfrm>
            <a:prstGeom prst="rect">
              <a:avLst/>
            </a:prstGeom>
            <a:solidFill>
              <a:srgbClr val="00B050"/>
            </a:solidFill>
            <a:ln w="9525">
              <a:solidFill>
                <a:srgbClr val="000000"/>
              </a:solidFill>
              <a:miter lim="800000"/>
            </a:ln>
          </p:spPr>
          <p:txBody>
            <a:bodyPr/>
            <a:lstStyle/>
            <a:p>
              <a:pPr algn="ctr" eaLnBrk="0" hangingPunct="0"/>
              <a:r>
                <a:rPr lang="en-US" altLang="zh-CN" b="1" dirty="0">
                  <a:latin typeface="Times New Roman" panose="02020603050405020304" pitchFamily="18" charset="0"/>
                  <a:ea typeface="宋体" panose="02010600030101010101" pitchFamily="2" charset="-122"/>
                  <a:cs typeface="Times New Roman" panose="02020603050405020304" pitchFamily="18" charset="0"/>
                </a:rPr>
                <a:t>2</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 name="文本框 26"/>
            <p:cNvSpPr txBox="1">
              <a:spLocks noChangeArrowheads="1"/>
            </p:cNvSpPr>
            <p:nvPr/>
          </p:nvSpPr>
          <p:spPr bwMode="auto">
            <a:xfrm>
              <a:off x="5469459" y="4532701"/>
              <a:ext cx="620251" cy="333480"/>
            </a:xfrm>
            <a:prstGeom prst="rect">
              <a:avLst/>
            </a:prstGeom>
            <a:solidFill>
              <a:srgbClr val="FFC000"/>
            </a:solidFill>
            <a:ln>
              <a:noFill/>
            </a:ln>
          </p:spPr>
          <p:txBody>
            <a:bodyPr/>
            <a:lstStyle/>
            <a:p>
              <a:pPr algn="just" eaLnBrk="0" hangingPunct="0"/>
              <a:r>
                <a:rPr lang="en-US" altLang="zh-CN" b="1" dirty="0">
                  <a:latin typeface="Times New Roman" panose="02020603050405020304" pitchFamily="18" charset="0"/>
                  <a:ea typeface="宋体" panose="02010600030101010101" pitchFamily="2" charset="-122"/>
                  <a:cs typeface="Times New Roman" panose="02020603050405020304" pitchFamily="18" charset="0"/>
                </a:rPr>
                <a:t>P(1)</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 name="文本框 28"/>
            <p:cNvSpPr txBox="1">
              <a:spLocks noChangeArrowheads="1"/>
            </p:cNvSpPr>
            <p:nvPr/>
          </p:nvSpPr>
          <p:spPr bwMode="auto">
            <a:xfrm flipH="1">
              <a:off x="7488434" y="4052133"/>
              <a:ext cx="622128" cy="368300"/>
            </a:xfrm>
            <a:prstGeom prst="rect">
              <a:avLst/>
            </a:prstGeom>
            <a:solidFill>
              <a:srgbClr val="00B050"/>
            </a:solidFill>
            <a:ln w="9525">
              <a:solidFill>
                <a:srgbClr val="000000"/>
              </a:solidFill>
              <a:miter lim="800000"/>
            </a:ln>
          </p:spPr>
          <p:txBody>
            <a:bodyPr/>
            <a:lstStyle/>
            <a:p>
              <a:pPr algn="ctr" eaLnBrk="0" hangingPunct="0"/>
              <a:r>
                <a:rPr lang="en-US" altLang="zh-CN" b="1" dirty="0">
                  <a:latin typeface="Times New Roman" panose="02020603050405020304" pitchFamily="18" charset="0"/>
                  <a:ea typeface="宋体" panose="02010600030101010101" pitchFamily="2" charset="-122"/>
                  <a:cs typeface="Times New Roman" panose="02020603050405020304" pitchFamily="18" charset="0"/>
                </a:rPr>
                <a:t>1</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2" name="任意多边形 31"/>
            <p:cNvSpPr>
              <a:spLocks noChangeArrowheads="1"/>
            </p:cNvSpPr>
            <p:nvPr/>
          </p:nvSpPr>
          <p:spPr bwMode="auto">
            <a:xfrm>
              <a:off x="6112669" y="3429000"/>
              <a:ext cx="1693090" cy="1223963"/>
            </a:xfrm>
            <a:custGeom>
              <a:avLst/>
              <a:gdLst>
                <a:gd name="T0" fmla="*/ 0 w 770"/>
                <a:gd name="T1" fmla="*/ 768 h 768"/>
                <a:gd name="T2" fmla="*/ 768 w 770"/>
                <a:gd name="T3" fmla="*/ 0 h 768"/>
                <a:gd name="T4" fmla="*/ 770 w 770"/>
                <a:gd name="T5" fmla="*/ 394 h 768"/>
              </a:gdLst>
              <a:ahLst/>
              <a:cxnLst>
                <a:cxn ang="0">
                  <a:pos x="T0" y="T1"/>
                </a:cxn>
                <a:cxn ang="0">
                  <a:pos x="T2" y="T3"/>
                </a:cxn>
                <a:cxn ang="0">
                  <a:pos x="T4" y="T5"/>
                </a:cxn>
              </a:cxnLst>
              <a:rect l="0" t="0" r="r" b="b"/>
              <a:pathLst>
                <a:path w="770" h="768">
                  <a:moveTo>
                    <a:pt x="0" y="768"/>
                  </a:moveTo>
                  <a:lnTo>
                    <a:pt x="768" y="0"/>
                  </a:lnTo>
                  <a:lnTo>
                    <a:pt x="770" y="394"/>
                  </a:lnTo>
                </a:path>
              </a:pathLst>
            </a:custGeom>
            <a:noFill/>
            <a:ln w="9525">
              <a:solidFill>
                <a:srgbClr val="00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3" name="文本框 32"/>
            <p:cNvSpPr txBox="1">
              <a:spLocks noChangeArrowheads="1"/>
            </p:cNvSpPr>
            <p:nvPr/>
          </p:nvSpPr>
          <p:spPr bwMode="auto">
            <a:xfrm>
              <a:off x="7488434" y="4781912"/>
              <a:ext cx="622128" cy="345324"/>
            </a:xfrm>
            <a:prstGeom prst="rect">
              <a:avLst/>
            </a:prstGeom>
            <a:solidFill>
              <a:srgbClr val="FFC000"/>
            </a:solidFill>
            <a:ln>
              <a:noFill/>
            </a:ln>
          </p:spPr>
          <p:txBody>
            <a:bodyPr/>
            <a:lstStyle/>
            <a:p>
              <a:pPr algn="just" eaLnBrk="0" hangingPunct="0"/>
              <a:r>
                <a:rPr lang="en-US" altLang="zh-CN" b="1" dirty="0">
                  <a:latin typeface="Times New Roman" panose="02020603050405020304" pitchFamily="18" charset="0"/>
                  <a:ea typeface="宋体" panose="02010600030101010101" pitchFamily="2" charset="-122"/>
                  <a:cs typeface="Times New Roman" panose="02020603050405020304" pitchFamily="18" charset="0"/>
                </a:rPr>
                <a:t>P(0)</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9768" name="组合 29767"/>
            <p:cNvGrpSpPr/>
            <p:nvPr/>
          </p:nvGrpSpPr>
          <p:grpSpPr>
            <a:xfrm>
              <a:off x="4165724" y="5062584"/>
              <a:ext cx="1628774" cy="946030"/>
              <a:chOff x="4165724" y="5062584"/>
              <a:chExt cx="1628774" cy="946030"/>
            </a:xfrm>
          </p:grpSpPr>
          <p:cxnSp>
            <p:nvCxnSpPr>
              <p:cNvPr id="35" name="直接连接符 34"/>
              <p:cNvCxnSpPr/>
              <p:nvPr/>
            </p:nvCxnSpPr>
            <p:spPr>
              <a:xfrm>
                <a:off x="5794498" y="5503115"/>
                <a:ext cx="0" cy="505499"/>
              </a:xfrm>
              <a:prstGeom prst="line">
                <a:avLst/>
              </a:prstGeom>
              <a:ln>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flipH="1" flipV="1">
                <a:off x="4165724" y="5062584"/>
                <a:ext cx="1623071" cy="937199"/>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767" name="组合 29766"/>
            <p:cNvGrpSpPr/>
            <p:nvPr/>
          </p:nvGrpSpPr>
          <p:grpSpPr>
            <a:xfrm>
              <a:off x="6085805" y="5543398"/>
              <a:ext cx="1726555" cy="733429"/>
              <a:chOff x="6085805" y="5543398"/>
              <a:chExt cx="1726555" cy="733429"/>
            </a:xfrm>
          </p:grpSpPr>
          <p:cxnSp>
            <p:nvCxnSpPr>
              <p:cNvPr id="38" name="直接连接符 37"/>
              <p:cNvCxnSpPr/>
              <p:nvPr/>
            </p:nvCxnSpPr>
            <p:spPr>
              <a:xfrm flipH="1">
                <a:off x="7810605" y="5802675"/>
                <a:ext cx="1755" cy="474150"/>
              </a:xfrm>
              <a:prstGeom prst="line">
                <a:avLst/>
              </a:prstGeom>
              <a:ln>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flipH="1" flipV="1">
                <a:off x="6085805" y="5543398"/>
                <a:ext cx="1723192" cy="733429"/>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766" name="组合 29765"/>
            <p:cNvGrpSpPr/>
            <p:nvPr/>
          </p:nvGrpSpPr>
          <p:grpSpPr>
            <a:xfrm>
              <a:off x="8110219" y="4479321"/>
              <a:ext cx="638785" cy="893897"/>
              <a:chOff x="8110219" y="4479321"/>
              <a:chExt cx="638785" cy="893897"/>
            </a:xfrm>
          </p:grpSpPr>
          <p:cxnSp>
            <p:nvCxnSpPr>
              <p:cNvPr id="41" name="直接连接符 40"/>
              <p:cNvCxnSpPr/>
              <p:nvPr/>
            </p:nvCxnSpPr>
            <p:spPr>
              <a:xfrm flipV="1">
                <a:off x="8110219" y="4479324"/>
                <a:ext cx="638783" cy="307813"/>
              </a:xfrm>
              <a:prstGeom prst="line">
                <a:avLst/>
              </a:prstGeom>
              <a:ln>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8749002" y="4479321"/>
                <a:ext cx="0" cy="893895"/>
              </a:xfrm>
              <a:prstGeom prst="line">
                <a:avLst/>
              </a:prstGeom>
              <a:ln>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flipH="1" flipV="1">
                <a:off x="8110219" y="5107452"/>
                <a:ext cx="638785" cy="265766"/>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765" name="组合 29764"/>
            <p:cNvGrpSpPr/>
            <p:nvPr/>
          </p:nvGrpSpPr>
          <p:grpSpPr>
            <a:xfrm>
              <a:off x="2795711" y="4553471"/>
              <a:ext cx="1056209" cy="964355"/>
              <a:chOff x="2795711" y="4553471"/>
              <a:chExt cx="1056209" cy="964355"/>
            </a:xfrm>
          </p:grpSpPr>
          <p:cxnSp>
            <p:nvCxnSpPr>
              <p:cNvPr id="45" name="直接连接符 44"/>
              <p:cNvCxnSpPr/>
              <p:nvPr/>
            </p:nvCxnSpPr>
            <p:spPr>
              <a:xfrm>
                <a:off x="3851920" y="5084439"/>
                <a:ext cx="0" cy="433387"/>
              </a:xfrm>
              <a:prstGeom prst="line">
                <a:avLst/>
              </a:prstGeom>
              <a:ln>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flipH="1" flipV="1">
                <a:off x="2795711" y="4553471"/>
                <a:ext cx="1054100" cy="962027"/>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8" name="直接连接符 47"/>
            <p:cNvCxnSpPr/>
            <p:nvPr/>
          </p:nvCxnSpPr>
          <p:spPr>
            <a:xfrm>
              <a:off x="5913632" y="4120435"/>
              <a:ext cx="0" cy="34364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55" name="直接连接符 54"/>
            <p:cNvSpPr>
              <a:spLocks noChangeShapeType="1"/>
            </p:cNvSpPr>
            <p:nvPr/>
          </p:nvSpPr>
          <p:spPr bwMode="auto">
            <a:xfrm flipH="1">
              <a:off x="3847006" y="4390821"/>
              <a:ext cx="0" cy="36823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nvGrpSpPr>
            <p:cNvPr id="29764" name="组合 29763"/>
            <p:cNvGrpSpPr/>
            <p:nvPr/>
          </p:nvGrpSpPr>
          <p:grpSpPr>
            <a:xfrm>
              <a:off x="2735906" y="2985181"/>
              <a:ext cx="1112457" cy="1154445"/>
              <a:chOff x="2735906" y="2985181"/>
              <a:chExt cx="1112457" cy="1154445"/>
            </a:xfrm>
          </p:grpSpPr>
          <p:cxnSp>
            <p:nvCxnSpPr>
              <p:cNvPr id="59" name="直接连接符 58"/>
              <p:cNvCxnSpPr/>
              <p:nvPr/>
            </p:nvCxnSpPr>
            <p:spPr>
              <a:xfrm flipV="1">
                <a:off x="2735906" y="2985181"/>
                <a:ext cx="1111100" cy="11544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a:xfrm>
                <a:off x="3848363" y="2985181"/>
                <a:ext cx="0" cy="3842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65" name="文本框 64"/>
            <p:cNvSpPr txBox="1">
              <a:spLocks noChangeArrowheads="1"/>
            </p:cNvSpPr>
            <p:nvPr/>
          </p:nvSpPr>
          <p:spPr bwMode="auto">
            <a:xfrm flipH="1">
              <a:off x="3551006" y="4751123"/>
              <a:ext cx="620251" cy="321858"/>
            </a:xfrm>
            <a:prstGeom prst="rect">
              <a:avLst/>
            </a:prstGeom>
            <a:solidFill>
              <a:srgbClr val="00B050"/>
            </a:solidFill>
            <a:ln w="9525">
              <a:solidFill>
                <a:srgbClr val="000000"/>
              </a:solidFill>
              <a:miter lim="800000"/>
            </a:ln>
          </p:spPr>
          <p:txBody>
            <a:bodyPr/>
            <a:lstStyle/>
            <a:p>
              <a:pPr algn="ctr" eaLnBrk="0" hangingPunct="0"/>
              <a:r>
                <a:rPr lang="en-US" altLang="zh-CN" b="1" dirty="0">
                  <a:latin typeface="Times New Roman" panose="02020603050405020304" pitchFamily="18" charset="0"/>
                  <a:ea typeface="宋体" panose="02010600030101010101" pitchFamily="2" charset="-122"/>
                  <a:cs typeface="Times New Roman" panose="02020603050405020304" pitchFamily="18" charset="0"/>
                </a:rPr>
                <a:t>3</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 name="直接连接符 65"/>
            <p:cNvSpPr>
              <a:spLocks noChangeShapeType="1"/>
            </p:cNvSpPr>
            <p:nvPr/>
          </p:nvSpPr>
          <p:spPr bwMode="auto">
            <a:xfrm flipH="1">
              <a:off x="5765459" y="4861235"/>
              <a:ext cx="0" cy="36823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7" name="文本框 66"/>
            <p:cNvSpPr txBox="1">
              <a:spLocks noChangeArrowheads="1"/>
            </p:cNvSpPr>
            <p:nvPr/>
          </p:nvSpPr>
          <p:spPr bwMode="auto">
            <a:xfrm flipH="1">
              <a:off x="5469459" y="5221537"/>
              <a:ext cx="620251" cy="321858"/>
            </a:xfrm>
            <a:prstGeom prst="rect">
              <a:avLst/>
            </a:prstGeom>
            <a:solidFill>
              <a:srgbClr val="00B050"/>
            </a:solidFill>
            <a:ln w="9525">
              <a:solidFill>
                <a:srgbClr val="000000"/>
              </a:solidFill>
              <a:miter lim="800000"/>
            </a:ln>
          </p:spPr>
          <p:txBody>
            <a:bodyPr/>
            <a:lstStyle/>
            <a:p>
              <a:pPr algn="ctr" eaLnBrk="0" hangingPunct="0"/>
              <a:r>
                <a:rPr lang="en-US" altLang="zh-CN" b="1" dirty="0">
                  <a:latin typeface="Times New Roman" panose="02020603050405020304" pitchFamily="18" charset="0"/>
                  <a:ea typeface="宋体" panose="02010600030101010101" pitchFamily="2" charset="-122"/>
                  <a:cs typeface="Times New Roman" panose="02020603050405020304" pitchFamily="18" charset="0"/>
                </a:rPr>
                <a:t>2</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 name="直接连接符 68"/>
            <p:cNvSpPr>
              <a:spLocks noChangeShapeType="1"/>
            </p:cNvSpPr>
            <p:nvPr/>
          </p:nvSpPr>
          <p:spPr bwMode="auto">
            <a:xfrm>
              <a:off x="7800773" y="4420570"/>
              <a:ext cx="1981" cy="36134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cxnSp>
          <p:nvCxnSpPr>
            <p:cNvPr id="68" name="直接箭头连接符 67"/>
            <p:cNvCxnSpPr/>
            <p:nvPr/>
          </p:nvCxnSpPr>
          <p:spPr>
            <a:xfrm>
              <a:off x="5764119" y="4126220"/>
              <a:ext cx="0" cy="4198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直接连接符 71"/>
            <p:cNvSpPr>
              <a:spLocks noChangeShapeType="1"/>
            </p:cNvSpPr>
            <p:nvPr/>
          </p:nvSpPr>
          <p:spPr bwMode="auto">
            <a:xfrm flipH="1">
              <a:off x="7809306" y="5128413"/>
              <a:ext cx="0" cy="36823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3" name="文本框 72"/>
            <p:cNvSpPr txBox="1">
              <a:spLocks noChangeArrowheads="1"/>
            </p:cNvSpPr>
            <p:nvPr/>
          </p:nvSpPr>
          <p:spPr bwMode="auto">
            <a:xfrm flipH="1">
              <a:off x="7513306" y="5488715"/>
              <a:ext cx="620251" cy="321858"/>
            </a:xfrm>
            <a:prstGeom prst="rect">
              <a:avLst/>
            </a:prstGeom>
            <a:solidFill>
              <a:srgbClr val="00B050"/>
            </a:solidFill>
            <a:ln w="9525">
              <a:solidFill>
                <a:srgbClr val="000000"/>
              </a:solidFill>
              <a:miter lim="800000"/>
            </a:ln>
          </p:spPr>
          <p:txBody>
            <a:bodyPr/>
            <a:lstStyle/>
            <a:p>
              <a:pPr algn="ctr" eaLnBrk="0" hangingPunct="0"/>
              <a:r>
                <a:rPr lang="en-US" altLang="zh-CN" b="1" dirty="0">
                  <a:latin typeface="Times New Roman" panose="02020603050405020304" pitchFamily="18" charset="0"/>
                  <a:ea typeface="宋体" panose="02010600030101010101" pitchFamily="2" charset="-122"/>
                  <a:cs typeface="Times New Roman" panose="02020603050405020304" pitchFamily="18" charset="0"/>
                </a:rPr>
                <a:t>1</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86" name="直接连接符 85"/>
            <p:cNvCxnSpPr/>
            <p:nvPr/>
          </p:nvCxnSpPr>
          <p:spPr>
            <a:xfrm flipV="1">
              <a:off x="5918908" y="3080436"/>
              <a:ext cx="2024110" cy="138877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p:nvPr/>
          </p:nvCxnSpPr>
          <p:spPr>
            <a:xfrm>
              <a:off x="7943018" y="3076564"/>
              <a:ext cx="0" cy="974791"/>
            </a:xfrm>
            <a:prstGeom prst="straightConnector1">
              <a:avLst/>
            </a:prstGeom>
            <a:ln w="15875">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29707" name="直接连接符 29706"/>
            <p:cNvCxnSpPr/>
            <p:nvPr/>
          </p:nvCxnSpPr>
          <p:spPr>
            <a:xfrm>
              <a:off x="4032050" y="3683124"/>
              <a:ext cx="0" cy="32194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709" name="直接连接符 29708"/>
            <p:cNvCxnSpPr/>
            <p:nvPr/>
          </p:nvCxnSpPr>
          <p:spPr>
            <a:xfrm flipV="1">
              <a:off x="4032049" y="2891419"/>
              <a:ext cx="1859994" cy="1110646"/>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728" name="直接连接符 29727"/>
            <p:cNvCxnSpPr/>
            <p:nvPr/>
          </p:nvCxnSpPr>
          <p:spPr>
            <a:xfrm flipV="1">
              <a:off x="7943018" y="5810126"/>
              <a:ext cx="7354" cy="447"/>
            </a:xfrm>
            <a:prstGeom prst="line">
              <a:avLst/>
            </a:prstGeom>
          </p:spPr>
          <p:style>
            <a:lnRef idx="1">
              <a:schemeClr val="accent1"/>
            </a:lnRef>
            <a:fillRef idx="0">
              <a:schemeClr val="accent1"/>
            </a:fillRef>
            <a:effectRef idx="0">
              <a:schemeClr val="accent1"/>
            </a:effectRef>
            <a:fontRef idx="minor">
              <a:schemeClr val="tx1"/>
            </a:fontRef>
          </p:style>
        </p:cxnSp>
        <p:cxnSp>
          <p:nvCxnSpPr>
            <p:cNvPr id="29750" name="直接连接符 29749"/>
            <p:cNvCxnSpPr/>
            <p:nvPr/>
          </p:nvCxnSpPr>
          <p:spPr>
            <a:xfrm>
              <a:off x="5892043" y="2891419"/>
              <a:ext cx="0" cy="908643"/>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29763" name="组合 29762"/>
            <p:cNvGrpSpPr/>
            <p:nvPr/>
          </p:nvGrpSpPr>
          <p:grpSpPr>
            <a:xfrm>
              <a:off x="4161961" y="3076564"/>
              <a:ext cx="1602158" cy="974791"/>
              <a:chOff x="4161961" y="3076564"/>
              <a:chExt cx="1602158" cy="974791"/>
            </a:xfrm>
          </p:grpSpPr>
          <p:cxnSp>
            <p:nvCxnSpPr>
              <p:cNvPr id="29752" name="直接连接符 29751"/>
              <p:cNvCxnSpPr/>
              <p:nvPr/>
            </p:nvCxnSpPr>
            <p:spPr>
              <a:xfrm flipV="1">
                <a:off x="4161961" y="3076564"/>
                <a:ext cx="1602158" cy="9747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754" name="直接箭头连接符 29753"/>
              <p:cNvCxnSpPr/>
              <p:nvPr/>
            </p:nvCxnSpPr>
            <p:spPr>
              <a:xfrm>
                <a:off x="5764119" y="3076564"/>
                <a:ext cx="0" cy="7234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769"/>
                                        </p:tgtEl>
                                        <p:attrNameLst>
                                          <p:attrName>style.visibility</p:attrName>
                                        </p:attrNameLst>
                                      </p:cBhvr>
                                      <p:to>
                                        <p:strVal val="visible"/>
                                      </p:to>
                                    </p:set>
                                    <p:anim calcmode="lin" valueType="num">
                                      <p:cBhvr additive="base">
                                        <p:cTn id="7" dur="500" fill="hold"/>
                                        <p:tgtEl>
                                          <p:spTgt spid="29769"/>
                                        </p:tgtEl>
                                        <p:attrNameLst>
                                          <p:attrName>ppt_x</p:attrName>
                                        </p:attrNameLst>
                                      </p:cBhvr>
                                      <p:tavLst>
                                        <p:tav tm="0">
                                          <p:val>
                                            <p:strVal val="#ppt_x"/>
                                          </p:val>
                                        </p:tav>
                                        <p:tav tm="100000">
                                          <p:val>
                                            <p:strVal val="#ppt_x"/>
                                          </p:val>
                                        </p:tav>
                                      </p:tavLst>
                                    </p:anim>
                                    <p:anim calcmode="lin" valueType="num">
                                      <p:cBhvr additive="base">
                                        <p:cTn id="8" dur="500" fill="hold"/>
                                        <p:tgtEl>
                                          <p:spTgt spid="297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文本占位符 19458"/>
          <p:cNvSpPr>
            <a:spLocks noGrp="1" noChangeArrowheads="1"/>
          </p:cNvSpPr>
          <p:nvPr>
            <p:ph idx="1"/>
          </p:nvPr>
        </p:nvSpPr>
        <p:spPr>
          <a:xfrm>
            <a:off x="420687" y="990345"/>
            <a:ext cx="8229600" cy="4678451"/>
          </a:xfrm>
        </p:spPr>
        <p:txBody>
          <a:bodyPr/>
          <a:lstStyle/>
          <a:p>
            <a:pPr>
              <a:buClr>
                <a:srgbClr val="FF0000"/>
              </a:buClr>
              <a:buFont typeface="Wingdings" panose="05000000000000000000" pitchFamily="2" charset="2"/>
              <a:buChar char="ü"/>
            </a:pPr>
            <a:r>
              <a:rPr lang="zh-CN" altLang="en-US" sz="2400" b="1" dirty="0"/>
              <a:t>例：函数</a:t>
            </a:r>
            <a:r>
              <a:rPr lang="en-US" altLang="zh-CN" sz="2400" b="1" dirty="0"/>
              <a:t>F</a:t>
            </a:r>
            <a:r>
              <a:rPr lang="zh-CN" altLang="en-US" sz="2400" b="1" dirty="0"/>
              <a:t>定义如下</a:t>
            </a:r>
            <a:r>
              <a:rPr lang="en-US" altLang="zh-CN" sz="2400" b="1" dirty="0"/>
              <a:t>, </a:t>
            </a:r>
            <a:r>
              <a:rPr lang="zh-CN" altLang="en-US" sz="2400" b="1" dirty="0"/>
              <a:t>用上述方法求出</a:t>
            </a:r>
            <a:r>
              <a:rPr lang="en-US" altLang="zh-CN" sz="2400" b="1" dirty="0"/>
              <a:t>F(6)</a:t>
            </a:r>
            <a:r>
              <a:rPr lang="zh-CN" altLang="en-US" sz="2400" b="1" dirty="0"/>
              <a:t>的值。</a:t>
            </a:r>
            <a:endParaRPr lang="zh-CN" altLang="en-US" sz="2400" b="1" dirty="0"/>
          </a:p>
          <a:p>
            <a:pPr>
              <a:buFont typeface="Wingdings" panose="05000000000000000000" pitchFamily="2" charset="2"/>
              <a:buNone/>
            </a:pPr>
            <a:r>
              <a:rPr lang="zh-CN" altLang="en-US" sz="2000" dirty="0"/>
              <a:t>        </a:t>
            </a:r>
            <a:r>
              <a:rPr lang="en-US" altLang="zh-CN" sz="2000" dirty="0" err="1">
                <a:solidFill>
                  <a:srgbClr val="0000FF"/>
                </a:solidFill>
              </a:rPr>
              <a:t>int</a:t>
            </a:r>
            <a:r>
              <a:rPr lang="en-US" altLang="zh-CN" sz="2000" dirty="0"/>
              <a:t> F(</a:t>
            </a:r>
            <a:r>
              <a:rPr lang="en-US" altLang="zh-CN" sz="2000" dirty="0" err="1">
                <a:solidFill>
                  <a:srgbClr val="0000FF"/>
                </a:solidFill>
              </a:rPr>
              <a:t>int</a:t>
            </a:r>
            <a:r>
              <a:rPr lang="en-US" altLang="zh-CN" sz="2000" dirty="0"/>
              <a:t> </a:t>
            </a:r>
            <a:r>
              <a:rPr lang="en-US" altLang="zh-CN" sz="2000" i="1" dirty="0"/>
              <a:t>N</a:t>
            </a:r>
            <a:r>
              <a:rPr lang="en-US" altLang="zh-CN" sz="2000" dirty="0"/>
              <a:t>) {</a:t>
            </a:r>
            <a:endParaRPr lang="en-US" altLang="zh-CN" sz="2000" dirty="0"/>
          </a:p>
          <a:p>
            <a:pPr>
              <a:buFont typeface="Wingdings" panose="05000000000000000000" pitchFamily="2" charset="2"/>
              <a:buNone/>
            </a:pPr>
            <a:r>
              <a:rPr lang="en-US" altLang="zh-CN" sz="2000" dirty="0"/>
              <a:t>            </a:t>
            </a:r>
            <a:r>
              <a:rPr lang="en-US" altLang="zh-CN" sz="2000" dirty="0">
                <a:solidFill>
                  <a:srgbClr val="0000FF"/>
                </a:solidFill>
              </a:rPr>
              <a:t> if </a:t>
            </a:r>
            <a:r>
              <a:rPr lang="en-US" altLang="zh-CN" sz="2000" dirty="0"/>
              <a:t>( </a:t>
            </a:r>
            <a:r>
              <a:rPr lang="en-US" altLang="zh-CN" sz="2000" i="1" dirty="0"/>
              <a:t>N</a:t>
            </a:r>
            <a:r>
              <a:rPr lang="en-US" altLang="zh-CN" sz="2000" dirty="0"/>
              <a:t>&lt;=2)  </a:t>
            </a:r>
            <a:r>
              <a:rPr lang="en-US" altLang="zh-CN" sz="2000" dirty="0">
                <a:solidFill>
                  <a:srgbClr val="0000FF"/>
                </a:solidFill>
              </a:rPr>
              <a:t>return</a:t>
            </a:r>
            <a:r>
              <a:rPr lang="en-US" altLang="zh-CN" sz="2000" dirty="0"/>
              <a:t> 1;</a:t>
            </a:r>
            <a:endParaRPr lang="en-US" altLang="zh-CN" sz="2000" dirty="0"/>
          </a:p>
          <a:p>
            <a:pPr>
              <a:buFont typeface="Wingdings" panose="05000000000000000000" pitchFamily="2" charset="2"/>
              <a:buNone/>
            </a:pPr>
            <a:r>
              <a:rPr lang="en-US" altLang="zh-CN" sz="2000" dirty="0"/>
              <a:t>             </a:t>
            </a:r>
            <a:r>
              <a:rPr lang="en-US" altLang="zh-CN" sz="2000" dirty="0">
                <a:solidFill>
                  <a:srgbClr val="0000FF"/>
                </a:solidFill>
              </a:rPr>
              <a:t>return</a:t>
            </a:r>
            <a:r>
              <a:rPr lang="en-US" altLang="zh-CN" sz="2000" dirty="0"/>
              <a:t> (2*F(</a:t>
            </a:r>
            <a:r>
              <a:rPr lang="en-US" altLang="zh-CN" sz="2000" i="1" dirty="0"/>
              <a:t>N</a:t>
            </a:r>
            <a:r>
              <a:rPr lang="en-US" altLang="zh-CN" sz="2000" dirty="0"/>
              <a:t>-1)+3*F(</a:t>
            </a:r>
            <a:r>
              <a:rPr lang="en-US" altLang="zh-CN" sz="2000" i="1" dirty="0"/>
              <a:t>N</a:t>
            </a:r>
            <a:r>
              <a:rPr lang="en-US" altLang="zh-CN" sz="2000" dirty="0"/>
              <a:t>-2)); </a:t>
            </a:r>
            <a:endParaRPr lang="en-US" altLang="zh-CN" sz="2000" dirty="0"/>
          </a:p>
          <a:p>
            <a:pPr>
              <a:buFont typeface="Wingdings" panose="05000000000000000000" pitchFamily="2" charset="2"/>
              <a:buNone/>
            </a:pPr>
            <a:r>
              <a:rPr lang="en-US" altLang="zh-CN" sz="2000" dirty="0"/>
              <a:t>        }</a:t>
            </a:r>
            <a:endParaRPr lang="en-US" altLang="zh-CN" sz="2000" dirty="0"/>
          </a:p>
          <a:p>
            <a:pPr>
              <a:buFont typeface="Wingdings" panose="05000000000000000000" pitchFamily="2" charset="2"/>
              <a:buNone/>
            </a:pPr>
            <a:r>
              <a:rPr lang="zh-CN" altLang="en-US" sz="2000" b="1" dirty="0">
                <a:solidFill>
                  <a:srgbClr val="FF0000"/>
                </a:solidFill>
              </a:rPr>
              <a:t>        解</a:t>
            </a:r>
            <a:r>
              <a:rPr lang="en-US" altLang="zh-CN" sz="2000" b="1" dirty="0">
                <a:solidFill>
                  <a:srgbClr val="FF0000"/>
                </a:solidFill>
              </a:rPr>
              <a:t>:</a:t>
            </a:r>
            <a:r>
              <a:rPr lang="en-US" altLang="zh-CN" dirty="0">
                <a:solidFill>
                  <a:srgbClr val="FF0000"/>
                </a:solidFill>
              </a:rPr>
              <a:t>                                             </a:t>
            </a:r>
            <a:endParaRPr lang="en-US" altLang="zh-CN" dirty="0">
              <a:solidFill>
                <a:srgbClr val="FF0000"/>
              </a:solidFill>
            </a:endParaRPr>
          </a:p>
        </p:txBody>
      </p:sp>
      <p:sp>
        <p:nvSpPr>
          <p:cNvPr id="19460" name="矩形 19459"/>
          <p:cNvSpPr>
            <a:spLocks noChangeArrowheads="1"/>
          </p:cNvSpPr>
          <p:nvPr/>
        </p:nvSpPr>
        <p:spPr bwMode="auto">
          <a:xfrm>
            <a:off x="3995738" y="2924175"/>
            <a:ext cx="8636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ea typeface="宋体" panose="02010600030101010101" pitchFamily="2" charset="-122"/>
              </a:rPr>
              <a:t>F(6)</a:t>
            </a:r>
            <a:endParaRPr lang="en-US" altLang="zh-CN" b="1">
              <a:ea typeface="宋体" panose="02010600030101010101" pitchFamily="2" charset="-122"/>
            </a:endParaRPr>
          </a:p>
        </p:txBody>
      </p:sp>
      <p:sp>
        <p:nvSpPr>
          <p:cNvPr id="19461" name="矩形 19460"/>
          <p:cNvSpPr>
            <a:spLocks noChangeArrowheads="1"/>
          </p:cNvSpPr>
          <p:nvPr/>
        </p:nvSpPr>
        <p:spPr bwMode="auto">
          <a:xfrm>
            <a:off x="2411413" y="3429000"/>
            <a:ext cx="1008062"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ea typeface="宋体" panose="02010600030101010101" pitchFamily="2" charset="-122"/>
              </a:rPr>
              <a:t>2*F(5)</a:t>
            </a:r>
            <a:endParaRPr lang="en-US" altLang="zh-CN" b="1">
              <a:ea typeface="宋体" panose="02010600030101010101" pitchFamily="2" charset="-122"/>
            </a:endParaRPr>
          </a:p>
        </p:txBody>
      </p:sp>
      <p:sp>
        <p:nvSpPr>
          <p:cNvPr id="19462" name="矩形 19461"/>
          <p:cNvSpPr>
            <a:spLocks noChangeArrowheads="1"/>
          </p:cNvSpPr>
          <p:nvPr/>
        </p:nvSpPr>
        <p:spPr bwMode="auto">
          <a:xfrm>
            <a:off x="5724525" y="3429000"/>
            <a:ext cx="115252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ea typeface="宋体" panose="02010600030101010101" pitchFamily="2" charset="-122"/>
              </a:rPr>
              <a:t>3*F(4)</a:t>
            </a:r>
            <a:endParaRPr lang="en-US" altLang="zh-CN" b="1">
              <a:ea typeface="宋体" panose="02010600030101010101" pitchFamily="2" charset="-122"/>
            </a:endParaRPr>
          </a:p>
        </p:txBody>
      </p:sp>
      <p:sp>
        <p:nvSpPr>
          <p:cNvPr id="19463" name="矩形 19462"/>
          <p:cNvSpPr>
            <a:spLocks noChangeArrowheads="1"/>
          </p:cNvSpPr>
          <p:nvPr/>
        </p:nvSpPr>
        <p:spPr bwMode="auto">
          <a:xfrm>
            <a:off x="1258888" y="4149725"/>
            <a:ext cx="34575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ea typeface="宋体" panose="02010600030101010101" pitchFamily="2" charset="-122"/>
              </a:rPr>
              <a:t>2*F(4)         +          3*F(3)</a:t>
            </a:r>
            <a:endParaRPr lang="en-US" altLang="zh-CN" b="1">
              <a:ea typeface="宋体" panose="02010600030101010101" pitchFamily="2" charset="-122"/>
            </a:endParaRPr>
          </a:p>
        </p:txBody>
      </p:sp>
      <p:sp>
        <p:nvSpPr>
          <p:cNvPr id="19464" name="矩形 19463"/>
          <p:cNvSpPr>
            <a:spLocks noChangeArrowheads="1"/>
          </p:cNvSpPr>
          <p:nvPr/>
        </p:nvSpPr>
        <p:spPr bwMode="auto">
          <a:xfrm>
            <a:off x="5580063" y="4076700"/>
            <a:ext cx="20161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ea typeface="宋体" panose="02010600030101010101" pitchFamily="2" charset="-122"/>
              </a:rPr>
              <a:t>2*F(3) + 3*F(2)</a:t>
            </a:r>
            <a:endParaRPr lang="en-US" altLang="zh-CN" b="1">
              <a:ea typeface="宋体" panose="02010600030101010101" pitchFamily="2" charset="-122"/>
            </a:endParaRPr>
          </a:p>
        </p:txBody>
      </p:sp>
      <p:sp>
        <p:nvSpPr>
          <p:cNvPr id="19465" name="矩形 19464"/>
          <p:cNvSpPr>
            <a:spLocks noChangeArrowheads="1"/>
          </p:cNvSpPr>
          <p:nvPr/>
        </p:nvSpPr>
        <p:spPr bwMode="auto">
          <a:xfrm>
            <a:off x="1187450" y="4797425"/>
            <a:ext cx="1728788"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ea typeface="宋体" panose="02010600030101010101" pitchFamily="2" charset="-122"/>
              </a:rPr>
              <a:t>2*F(3)+3*F(2)</a:t>
            </a:r>
            <a:endParaRPr lang="en-US" altLang="zh-CN" b="1">
              <a:ea typeface="宋体" panose="02010600030101010101" pitchFamily="2" charset="-122"/>
            </a:endParaRPr>
          </a:p>
        </p:txBody>
      </p:sp>
      <p:sp>
        <p:nvSpPr>
          <p:cNvPr id="19466" name="矩形 19465"/>
          <p:cNvSpPr>
            <a:spLocks noChangeArrowheads="1"/>
          </p:cNvSpPr>
          <p:nvPr/>
        </p:nvSpPr>
        <p:spPr bwMode="auto">
          <a:xfrm>
            <a:off x="3276600" y="4797425"/>
            <a:ext cx="17287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ea typeface="宋体" panose="02010600030101010101" pitchFamily="2" charset="-122"/>
              </a:rPr>
              <a:t>2*F(2)+3*F(1)</a:t>
            </a:r>
            <a:endParaRPr lang="en-US" altLang="zh-CN" b="1">
              <a:ea typeface="宋体" panose="02010600030101010101" pitchFamily="2" charset="-122"/>
            </a:endParaRPr>
          </a:p>
        </p:txBody>
      </p:sp>
      <p:sp>
        <p:nvSpPr>
          <p:cNvPr id="19467" name="矩形 19466"/>
          <p:cNvSpPr>
            <a:spLocks noChangeArrowheads="1"/>
          </p:cNvSpPr>
          <p:nvPr/>
        </p:nvSpPr>
        <p:spPr bwMode="auto">
          <a:xfrm>
            <a:off x="5219700" y="4724400"/>
            <a:ext cx="15843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ea typeface="宋体" panose="02010600030101010101" pitchFamily="2" charset="-122"/>
              </a:rPr>
              <a:t>2*F(2)+3*F(1)</a:t>
            </a:r>
            <a:endParaRPr lang="en-US" altLang="zh-CN" b="1">
              <a:ea typeface="宋体" panose="02010600030101010101" pitchFamily="2" charset="-122"/>
            </a:endParaRPr>
          </a:p>
        </p:txBody>
      </p:sp>
      <p:sp>
        <p:nvSpPr>
          <p:cNvPr id="19468" name="矩形 19467"/>
          <p:cNvSpPr>
            <a:spLocks noChangeArrowheads="1"/>
          </p:cNvSpPr>
          <p:nvPr/>
        </p:nvSpPr>
        <p:spPr bwMode="auto">
          <a:xfrm>
            <a:off x="755650" y="5445125"/>
            <a:ext cx="1512888"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ea typeface="宋体" panose="02010600030101010101" pitchFamily="2" charset="-122"/>
              </a:rPr>
              <a:t>2*F(2)+3*F(1)</a:t>
            </a:r>
            <a:endParaRPr lang="en-US" altLang="zh-CN" b="1">
              <a:ea typeface="宋体" panose="02010600030101010101" pitchFamily="2" charset="-122"/>
            </a:endParaRPr>
          </a:p>
        </p:txBody>
      </p:sp>
      <p:sp>
        <p:nvSpPr>
          <p:cNvPr id="19469" name="矩形 19468"/>
          <p:cNvSpPr>
            <a:spLocks noChangeArrowheads="1"/>
          </p:cNvSpPr>
          <p:nvPr/>
        </p:nvSpPr>
        <p:spPr bwMode="auto">
          <a:xfrm>
            <a:off x="4284663" y="3500438"/>
            <a:ext cx="4318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ea typeface="宋体" panose="02010600030101010101" pitchFamily="2" charset="-122"/>
              </a:rPr>
              <a:t>+</a:t>
            </a:r>
            <a:endParaRPr lang="en-US" altLang="zh-CN" b="1">
              <a:ea typeface="宋体" panose="02010600030101010101" pitchFamily="2" charset="-122"/>
            </a:endParaRPr>
          </a:p>
        </p:txBody>
      </p:sp>
      <p:sp>
        <p:nvSpPr>
          <p:cNvPr id="19470" name="任意多边形 19469"/>
          <p:cNvSpPr>
            <a:spLocks noChangeArrowheads="1"/>
          </p:cNvSpPr>
          <p:nvPr/>
        </p:nvSpPr>
        <p:spPr bwMode="auto">
          <a:xfrm>
            <a:off x="2195513" y="3141663"/>
            <a:ext cx="1930400" cy="433387"/>
          </a:xfrm>
          <a:custGeom>
            <a:avLst/>
            <a:gdLst>
              <a:gd name="T0" fmla="*/ 885 w 885"/>
              <a:gd name="T1" fmla="*/ 0 h 525"/>
              <a:gd name="T2" fmla="*/ 45 w 885"/>
              <a:gd name="T3" fmla="*/ 345 h 525"/>
              <a:gd name="T4" fmla="*/ 0 w 885"/>
              <a:gd name="T5" fmla="*/ 480 h 525"/>
              <a:gd name="T6" fmla="*/ 165 w 885"/>
              <a:gd name="T7" fmla="*/ 525 h 525"/>
            </a:gdLst>
            <a:ahLst/>
            <a:cxnLst>
              <a:cxn ang="0">
                <a:pos x="T0" y="T1"/>
              </a:cxn>
              <a:cxn ang="0">
                <a:pos x="T2" y="T3"/>
              </a:cxn>
              <a:cxn ang="0">
                <a:pos x="T4" y="T5"/>
              </a:cxn>
              <a:cxn ang="0">
                <a:pos x="T6" y="T7"/>
              </a:cxn>
            </a:cxnLst>
            <a:rect l="0" t="0" r="r" b="b"/>
            <a:pathLst>
              <a:path w="885" h="525">
                <a:moveTo>
                  <a:pt x="885" y="0"/>
                </a:moveTo>
                <a:lnTo>
                  <a:pt x="45" y="345"/>
                </a:lnTo>
                <a:lnTo>
                  <a:pt x="0" y="480"/>
                </a:lnTo>
                <a:lnTo>
                  <a:pt x="165" y="525"/>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FF0000"/>
              </a:solidFill>
            </a:endParaRPr>
          </a:p>
        </p:txBody>
      </p:sp>
      <p:sp>
        <p:nvSpPr>
          <p:cNvPr id="19471" name="任意多边形 19470"/>
          <p:cNvSpPr>
            <a:spLocks noChangeArrowheads="1"/>
          </p:cNvSpPr>
          <p:nvPr/>
        </p:nvSpPr>
        <p:spPr bwMode="auto">
          <a:xfrm>
            <a:off x="1476375" y="3716338"/>
            <a:ext cx="1425575" cy="504825"/>
          </a:xfrm>
          <a:custGeom>
            <a:avLst/>
            <a:gdLst>
              <a:gd name="T0" fmla="*/ 885 w 885"/>
              <a:gd name="T1" fmla="*/ 0 h 525"/>
              <a:gd name="T2" fmla="*/ 45 w 885"/>
              <a:gd name="T3" fmla="*/ 345 h 525"/>
              <a:gd name="T4" fmla="*/ 0 w 885"/>
              <a:gd name="T5" fmla="*/ 480 h 525"/>
              <a:gd name="T6" fmla="*/ 165 w 885"/>
              <a:gd name="T7" fmla="*/ 525 h 525"/>
            </a:gdLst>
            <a:ahLst/>
            <a:cxnLst>
              <a:cxn ang="0">
                <a:pos x="T0" y="T1"/>
              </a:cxn>
              <a:cxn ang="0">
                <a:pos x="T2" y="T3"/>
              </a:cxn>
              <a:cxn ang="0">
                <a:pos x="T4" y="T5"/>
              </a:cxn>
              <a:cxn ang="0">
                <a:pos x="T6" y="T7"/>
              </a:cxn>
            </a:cxnLst>
            <a:rect l="0" t="0" r="r" b="b"/>
            <a:pathLst>
              <a:path w="885" h="525">
                <a:moveTo>
                  <a:pt x="885" y="0"/>
                </a:moveTo>
                <a:lnTo>
                  <a:pt x="45" y="345"/>
                </a:lnTo>
                <a:lnTo>
                  <a:pt x="0" y="480"/>
                </a:lnTo>
                <a:lnTo>
                  <a:pt x="165" y="525"/>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72" name="任意多边形 19471"/>
          <p:cNvSpPr>
            <a:spLocks noChangeArrowheads="1"/>
          </p:cNvSpPr>
          <p:nvPr/>
        </p:nvSpPr>
        <p:spPr bwMode="auto">
          <a:xfrm>
            <a:off x="3282156" y="4453255"/>
            <a:ext cx="706438" cy="574675"/>
          </a:xfrm>
          <a:custGeom>
            <a:avLst/>
            <a:gdLst>
              <a:gd name="T0" fmla="*/ 885 w 885"/>
              <a:gd name="T1" fmla="*/ 0 h 525"/>
              <a:gd name="T2" fmla="*/ 45 w 885"/>
              <a:gd name="T3" fmla="*/ 345 h 525"/>
              <a:gd name="T4" fmla="*/ 0 w 885"/>
              <a:gd name="T5" fmla="*/ 480 h 525"/>
              <a:gd name="T6" fmla="*/ 165 w 885"/>
              <a:gd name="T7" fmla="*/ 525 h 525"/>
            </a:gdLst>
            <a:ahLst/>
            <a:cxnLst>
              <a:cxn ang="0">
                <a:pos x="T0" y="T1"/>
              </a:cxn>
              <a:cxn ang="0">
                <a:pos x="T2" y="T3"/>
              </a:cxn>
              <a:cxn ang="0">
                <a:pos x="T4" y="T5"/>
              </a:cxn>
              <a:cxn ang="0">
                <a:pos x="T6" y="T7"/>
              </a:cxn>
            </a:cxnLst>
            <a:rect l="0" t="0" r="r" b="b"/>
            <a:pathLst>
              <a:path w="885" h="525">
                <a:moveTo>
                  <a:pt x="885" y="0"/>
                </a:moveTo>
                <a:lnTo>
                  <a:pt x="45" y="345"/>
                </a:lnTo>
                <a:lnTo>
                  <a:pt x="0" y="480"/>
                </a:lnTo>
                <a:lnTo>
                  <a:pt x="165" y="525"/>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73" name="任意多边形 19472"/>
          <p:cNvSpPr>
            <a:spLocks noChangeArrowheads="1"/>
          </p:cNvSpPr>
          <p:nvPr/>
        </p:nvSpPr>
        <p:spPr bwMode="auto">
          <a:xfrm>
            <a:off x="1187624" y="4437063"/>
            <a:ext cx="720552" cy="574675"/>
          </a:xfrm>
          <a:custGeom>
            <a:avLst/>
            <a:gdLst>
              <a:gd name="T0" fmla="*/ 885 w 885"/>
              <a:gd name="T1" fmla="*/ 0 h 525"/>
              <a:gd name="T2" fmla="*/ 45 w 885"/>
              <a:gd name="T3" fmla="*/ 345 h 525"/>
              <a:gd name="T4" fmla="*/ 0 w 885"/>
              <a:gd name="T5" fmla="*/ 480 h 525"/>
              <a:gd name="T6" fmla="*/ 165 w 885"/>
              <a:gd name="T7" fmla="*/ 525 h 525"/>
            </a:gdLst>
            <a:ahLst/>
            <a:cxnLst>
              <a:cxn ang="0">
                <a:pos x="T0" y="T1"/>
              </a:cxn>
              <a:cxn ang="0">
                <a:pos x="T2" y="T3"/>
              </a:cxn>
              <a:cxn ang="0">
                <a:pos x="T4" y="T5"/>
              </a:cxn>
              <a:cxn ang="0">
                <a:pos x="T6" y="T7"/>
              </a:cxn>
            </a:cxnLst>
            <a:rect l="0" t="0" r="r" b="b"/>
            <a:pathLst>
              <a:path w="885" h="525">
                <a:moveTo>
                  <a:pt x="885" y="0"/>
                </a:moveTo>
                <a:lnTo>
                  <a:pt x="45" y="345"/>
                </a:lnTo>
                <a:lnTo>
                  <a:pt x="0" y="480"/>
                </a:lnTo>
                <a:lnTo>
                  <a:pt x="165" y="525"/>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74" name="任意多边形 19473"/>
          <p:cNvSpPr>
            <a:spLocks noChangeArrowheads="1"/>
          </p:cNvSpPr>
          <p:nvPr/>
        </p:nvSpPr>
        <p:spPr bwMode="auto">
          <a:xfrm>
            <a:off x="3071814" y="3710139"/>
            <a:ext cx="1185862" cy="534987"/>
          </a:xfrm>
          <a:custGeom>
            <a:avLst/>
            <a:gdLst>
              <a:gd name="T0" fmla="*/ 1589 w 1754"/>
              <a:gd name="T1" fmla="*/ 614 h 614"/>
              <a:gd name="T2" fmla="*/ 1754 w 1754"/>
              <a:gd name="T3" fmla="*/ 524 h 614"/>
              <a:gd name="T4" fmla="*/ 0 w 1754"/>
              <a:gd name="T5" fmla="*/ 0 h 614"/>
            </a:gdLst>
            <a:ahLst/>
            <a:cxnLst>
              <a:cxn ang="0">
                <a:pos x="T0" y="T1"/>
              </a:cxn>
              <a:cxn ang="0">
                <a:pos x="T2" y="T3"/>
              </a:cxn>
              <a:cxn ang="0">
                <a:pos x="T4" y="T5"/>
              </a:cxn>
            </a:cxnLst>
            <a:rect l="0" t="0" r="r" b="b"/>
            <a:pathLst>
              <a:path w="1754" h="614">
                <a:moveTo>
                  <a:pt x="1589" y="614"/>
                </a:moveTo>
                <a:lnTo>
                  <a:pt x="1754" y="524"/>
                </a:lnTo>
                <a:lnTo>
                  <a:pt x="0" y="0"/>
                </a:lnTo>
              </a:path>
            </a:pathLst>
          </a:custGeom>
          <a:noFill/>
          <a:ln w="9525">
            <a:solidFill>
              <a:srgbClr val="0000FF"/>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75" name="任意多边形 19474"/>
          <p:cNvSpPr>
            <a:spLocks noChangeArrowheads="1"/>
          </p:cNvSpPr>
          <p:nvPr/>
        </p:nvSpPr>
        <p:spPr bwMode="auto">
          <a:xfrm>
            <a:off x="5580063" y="3716338"/>
            <a:ext cx="792162" cy="576262"/>
          </a:xfrm>
          <a:custGeom>
            <a:avLst/>
            <a:gdLst>
              <a:gd name="T0" fmla="*/ 885 w 885"/>
              <a:gd name="T1" fmla="*/ 0 h 525"/>
              <a:gd name="T2" fmla="*/ 45 w 885"/>
              <a:gd name="T3" fmla="*/ 345 h 525"/>
              <a:gd name="T4" fmla="*/ 0 w 885"/>
              <a:gd name="T5" fmla="*/ 480 h 525"/>
              <a:gd name="T6" fmla="*/ 165 w 885"/>
              <a:gd name="T7" fmla="*/ 525 h 525"/>
            </a:gdLst>
            <a:ahLst/>
            <a:cxnLst>
              <a:cxn ang="0">
                <a:pos x="T0" y="T1"/>
              </a:cxn>
              <a:cxn ang="0">
                <a:pos x="T2" y="T3"/>
              </a:cxn>
              <a:cxn ang="0">
                <a:pos x="T4" y="T5"/>
              </a:cxn>
              <a:cxn ang="0">
                <a:pos x="T6" y="T7"/>
              </a:cxn>
            </a:cxnLst>
            <a:rect l="0" t="0" r="r" b="b"/>
            <a:pathLst>
              <a:path w="885" h="525">
                <a:moveTo>
                  <a:pt x="885" y="0"/>
                </a:moveTo>
                <a:lnTo>
                  <a:pt x="45" y="345"/>
                </a:lnTo>
                <a:lnTo>
                  <a:pt x="0" y="480"/>
                </a:lnTo>
                <a:lnTo>
                  <a:pt x="165" y="525"/>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76" name="任意多边形 19475"/>
          <p:cNvSpPr>
            <a:spLocks noChangeArrowheads="1"/>
          </p:cNvSpPr>
          <p:nvPr/>
        </p:nvSpPr>
        <p:spPr bwMode="auto">
          <a:xfrm>
            <a:off x="611188" y="5084763"/>
            <a:ext cx="993775" cy="504825"/>
          </a:xfrm>
          <a:custGeom>
            <a:avLst/>
            <a:gdLst>
              <a:gd name="T0" fmla="*/ 885 w 885"/>
              <a:gd name="T1" fmla="*/ 0 h 525"/>
              <a:gd name="T2" fmla="*/ 45 w 885"/>
              <a:gd name="T3" fmla="*/ 345 h 525"/>
              <a:gd name="T4" fmla="*/ 0 w 885"/>
              <a:gd name="T5" fmla="*/ 480 h 525"/>
              <a:gd name="T6" fmla="*/ 165 w 885"/>
              <a:gd name="T7" fmla="*/ 525 h 525"/>
            </a:gdLst>
            <a:ahLst/>
            <a:cxnLst>
              <a:cxn ang="0">
                <a:pos x="T0" y="T1"/>
              </a:cxn>
              <a:cxn ang="0">
                <a:pos x="T2" y="T3"/>
              </a:cxn>
              <a:cxn ang="0">
                <a:pos x="T4" y="T5"/>
              </a:cxn>
              <a:cxn ang="0">
                <a:pos x="T6" y="T7"/>
              </a:cxn>
            </a:cxnLst>
            <a:rect l="0" t="0" r="r" b="b"/>
            <a:pathLst>
              <a:path w="885" h="525">
                <a:moveTo>
                  <a:pt x="885" y="0"/>
                </a:moveTo>
                <a:lnTo>
                  <a:pt x="45" y="345"/>
                </a:lnTo>
                <a:lnTo>
                  <a:pt x="0" y="480"/>
                </a:lnTo>
                <a:lnTo>
                  <a:pt x="165" y="525"/>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77" name="任意多边形 19476"/>
          <p:cNvSpPr>
            <a:spLocks noChangeArrowheads="1"/>
          </p:cNvSpPr>
          <p:nvPr/>
        </p:nvSpPr>
        <p:spPr bwMode="auto">
          <a:xfrm>
            <a:off x="5148263" y="4364037"/>
            <a:ext cx="903288" cy="576263"/>
          </a:xfrm>
          <a:custGeom>
            <a:avLst/>
            <a:gdLst>
              <a:gd name="T0" fmla="*/ 885 w 885"/>
              <a:gd name="T1" fmla="*/ 0 h 525"/>
              <a:gd name="T2" fmla="*/ 45 w 885"/>
              <a:gd name="T3" fmla="*/ 345 h 525"/>
              <a:gd name="T4" fmla="*/ 0 w 885"/>
              <a:gd name="T5" fmla="*/ 480 h 525"/>
              <a:gd name="T6" fmla="*/ 165 w 885"/>
              <a:gd name="T7" fmla="*/ 525 h 525"/>
            </a:gdLst>
            <a:ahLst/>
            <a:cxnLst>
              <a:cxn ang="0">
                <a:pos x="T0" y="T1"/>
              </a:cxn>
              <a:cxn ang="0">
                <a:pos x="T2" y="T3"/>
              </a:cxn>
              <a:cxn ang="0">
                <a:pos x="T4" y="T5"/>
              </a:cxn>
              <a:cxn ang="0">
                <a:pos x="T6" y="T7"/>
              </a:cxn>
            </a:cxnLst>
            <a:rect l="0" t="0" r="r" b="b"/>
            <a:pathLst>
              <a:path w="885" h="525">
                <a:moveTo>
                  <a:pt x="885" y="0"/>
                </a:moveTo>
                <a:lnTo>
                  <a:pt x="45" y="345"/>
                </a:lnTo>
                <a:lnTo>
                  <a:pt x="0" y="480"/>
                </a:lnTo>
                <a:lnTo>
                  <a:pt x="165" y="525"/>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78" name="任意多边形 19477"/>
          <p:cNvSpPr>
            <a:spLocks noChangeArrowheads="1"/>
          </p:cNvSpPr>
          <p:nvPr/>
        </p:nvSpPr>
        <p:spPr bwMode="auto">
          <a:xfrm>
            <a:off x="4652963" y="3115174"/>
            <a:ext cx="2286000" cy="433387"/>
          </a:xfrm>
          <a:custGeom>
            <a:avLst/>
            <a:gdLst>
              <a:gd name="T0" fmla="*/ 2294 w 2579"/>
              <a:gd name="T1" fmla="*/ 569 h 569"/>
              <a:gd name="T2" fmla="*/ 2579 w 2579"/>
              <a:gd name="T3" fmla="*/ 569 h 569"/>
              <a:gd name="T4" fmla="*/ 2564 w 2579"/>
              <a:gd name="T5" fmla="*/ 464 h 569"/>
              <a:gd name="T6" fmla="*/ 0 w 2579"/>
              <a:gd name="T7" fmla="*/ 0 h 569"/>
            </a:gdLst>
            <a:ahLst/>
            <a:cxnLst>
              <a:cxn ang="0">
                <a:pos x="T0" y="T1"/>
              </a:cxn>
              <a:cxn ang="0">
                <a:pos x="T2" y="T3"/>
              </a:cxn>
              <a:cxn ang="0">
                <a:pos x="T4" y="T5"/>
              </a:cxn>
              <a:cxn ang="0">
                <a:pos x="T6" y="T7"/>
              </a:cxn>
            </a:cxnLst>
            <a:rect l="0" t="0" r="r" b="b"/>
            <a:pathLst>
              <a:path w="2579" h="569">
                <a:moveTo>
                  <a:pt x="2294" y="569"/>
                </a:moveTo>
                <a:lnTo>
                  <a:pt x="2579" y="569"/>
                </a:lnTo>
                <a:lnTo>
                  <a:pt x="2564" y="464"/>
                </a:lnTo>
                <a:lnTo>
                  <a:pt x="0" y="0"/>
                </a:lnTo>
              </a:path>
            </a:pathLst>
          </a:custGeom>
          <a:noFill/>
          <a:ln w="9525">
            <a:solidFill>
              <a:srgbClr val="0000FF"/>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79" name="任意多边形 19478"/>
          <p:cNvSpPr>
            <a:spLocks noChangeArrowheads="1"/>
          </p:cNvSpPr>
          <p:nvPr/>
        </p:nvSpPr>
        <p:spPr bwMode="auto">
          <a:xfrm>
            <a:off x="6659563" y="3644900"/>
            <a:ext cx="936625" cy="647700"/>
          </a:xfrm>
          <a:custGeom>
            <a:avLst/>
            <a:gdLst>
              <a:gd name="T0" fmla="*/ 615 w 794"/>
              <a:gd name="T1" fmla="*/ 630 h 630"/>
              <a:gd name="T2" fmla="*/ 779 w 794"/>
              <a:gd name="T3" fmla="*/ 615 h 630"/>
              <a:gd name="T4" fmla="*/ 794 w 794"/>
              <a:gd name="T5" fmla="*/ 480 h 630"/>
              <a:gd name="T6" fmla="*/ 0 w 794"/>
              <a:gd name="T7" fmla="*/ 0 h 630"/>
            </a:gdLst>
            <a:ahLst/>
            <a:cxnLst>
              <a:cxn ang="0">
                <a:pos x="T0" y="T1"/>
              </a:cxn>
              <a:cxn ang="0">
                <a:pos x="T2" y="T3"/>
              </a:cxn>
              <a:cxn ang="0">
                <a:pos x="T4" y="T5"/>
              </a:cxn>
              <a:cxn ang="0">
                <a:pos x="T6" y="T7"/>
              </a:cxn>
            </a:cxnLst>
            <a:rect l="0" t="0" r="r" b="b"/>
            <a:pathLst>
              <a:path w="794" h="630">
                <a:moveTo>
                  <a:pt x="615" y="630"/>
                </a:moveTo>
                <a:lnTo>
                  <a:pt x="779" y="615"/>
                </a:lnTo>
                <a:lnTo>
                  <a:pt x="794" y="480"/>
                </a:lnTo>
                <a:lnTo>
                  <a:pt x="0" y="0"/>
                </a:lnTo>
              </a:path>
            </a:pathLst>
          </a:custGeom>
          <a:noFill/>
          <a:ln w="9525">
            <a:solidFill>
              <a:srgbClr val="0000FF"/>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80" name="任意多边形 19479"/>
          <p:cNvSpPr>
            <a:spLocks noChangeArrowheads="1"/>
          </p:cNvSpPr>
          <p:nvPr/>
        </p:nvSpPr>
        <p:spPr bwMode="auto">
          <a:xfrm>
            <a:off x="6227763" y="4374334"/>
            <a:ext cx="649287" cy="574675"/>
          </a:xfrm>
          <a:custGeom>
            <a:avLst/>
            <a:gdLst>
              <a:gd name="T0" fmla="*/ 615 w 794"/>
              <a:gd name="T1" fmla="*/ 630 h 630"/>
              <a:gd name="T2" fmla="*/ 779 w 794"/>
              <a:gd name="T3" fmla="*/ 615 h 630"/>
              <a:gd name="T4" fmla="*/ 794 w 794"/>
              <a:gd name="T5" fmla="*/ 480 h 630"/>
              <a:gd name="T6" fmla="*/ 0 w 794"/>
              <a:gd name="T7" fmla="*/ 0 h 630"/>
            </a:gdLst>
            <a:ahLst/>
            <a:cxnLst>
              <a:cxn ang="0">
                <a:pos x="T0" y="T1"/>
              </a:cxn>
              <a:cxn ang="0">
                <a:pos x="T2" y="T3"/>
              </a:cxn>
              <a:cxn ang="0">
                <a:pos x="T4" y="T5"/>
              </a:cxn>
              <a:cxn ang="0">
                <a:pos x="T6" y="T7"/>
              </a:cxn>
            </a:cxnLst>
            <a:rect l="0" t="0" r="r" b="b"/>
            <a:pathLst>
              <a:path w="794" h="630">
                <a:moveTo>
                  <a:pt x="615" y="630"/>
                </a:moveTo>
                <a:lnTo>
                  <a:pt x="779" y="615"/>
                </a:lnTo>
                <a:lnTo>
                  <a:pt x="794" y="480"/>
                </a:lnTo>
                <a:lnTo>
                  <a:pt x="0" y="0"/>
                </a:lnTo>
              </a:path>
            </a:pathLst>
          </a:custGeom>
          <a:noFill/>
          <a:ln w="9525">
            <a:solidFill>
              <a:srgbClr val="0000FF"/>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81" name="任意多边形 19480"/>
          <p:cNvSpPr>
            <a:spLocks noChangeArrowheads="1"/>
          </p:cNvSpPr>
          <p:nvPr/>
        </p:nvSpPr>
        <p:spPr bwMode="auto">
          <a:xfrm>
            <a:off x="4216695" y="4464586"/>
            <a:ext cx="830263" cy="556510"/>
          </a:xfrm>
          <a:custGeom>
            <a:avLst/>
            <a:gdLst>
              <a:gd name="T0" fmla="*/ 615 w 794"/>
              <a:gd name="T1" fmla="*/ 630 h 630"/>
              <a:gd name="T2" fmla="*/ 779 w 794"/>
              <a:gd name="T3" fmla="*/ 615 h 630"/>
              <a:gd name="T4" fmla="*/ 794 w 794"/>
              <a:gd name="T5" fmla="*/ 480 h 630"/>
              <a:gd name="T6" fmla="*/ 0 w 794"/>
              <a:gd name="T7" fmla="*/ 0 h 630"/>
            </a:gdLst>
            <a:ahLst/>
            <a:cxnLst>
              <a:cxn ang="0">
                <a:pos x="T0" y="T1"/>
              </a:cxn>
              <a:cxn ang="0">
                <a:pos x="T2" y="T3"/>
              </a:cxn>
              <a:cxn ang="0">
                <a:pos x="T4" y="T5"/>
              </a:cxn>
              <a:cxn ang="0">
                <a:pos x="T6" y="T7"/>
              </a:cxn>
            </a:cxnLst>
            <a:rect l="0" t="0" r="r" b="b"/>
            <a:pathLst>
              <a:path w="794" h="630">
                <a:moveTo>
                  <a:pt x="615" y="630"/>
                </a:moveTo>
                <a:lnTo>
                  <a:pt x="779" y="615"/>
                </a:lnTo>
                <a:lnTo>
                  <a:pt x="794" y="480"/>
                </a:lnTo>
                <a:lnTo>
                  <a:pt x="0" y="0"/>
                </a:lnTo>
              </a:path>
            </a:pathLst>
          </a:custGeom>
          <a:noFill/>
          <a:ln w="9525">
            <a:solidFill>
              <a:srgbClr val="0000FF"/>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82" name="任意多边形 19481"/>
          <p:cNvSpPr>
            <a:spLocks noChangeArrowheads="1"/>
          </p:cNvSpPr>
          <p:nvPr/>
        </p:nvSpPr>
        <p:spPr bwMode="auto">
          <a:xfrm>
            <a:off x="2293938" y="4407218"/>
            <a:ext cx="719138" cy="620712"/>
          </a:xfrm>
          <a:custGeom>
            <a:avLst/>
            <a:gdLst>
              <a:gd name="T0" fmla="*/ 615 w 794"/>
              <a:gd name="T1" fmla="*/ 630 h 630"/>
              <a:gd name="T2" fmla="*/ 779 w 794"/>
              <a:gd name="T3" fmla="*/ 615 h 630"/>
              <a:gd name="T4" fmla="*/ 794 w 794"/>
              <a:gd name="T5" fmla="*/ 480 h 630"/>
              <a:gd name="T6" fmla="*/ 0 w 794"/>
              <a:gd name="T7" fmla="*/ 0 h 630"/>
            </a:gdLst>
            <a:ahLst/>
            <a:cxnLst>
              <a:cxn ang="0">
                <a:pos x="T0" y="T1"/>
              </a:cxn>
              <a:cxn ang="0">
                <a:pos x="T2" y="T3"/>
              </a:cxn>
              <a:cxn ang="0">
                <a:pos x="T4" y="T5"/>
              </a:cxn>
              <a:cxn ang="0">
                <a:pos x="T6" y="T7"/>
              </a:cxn>
            </a:cxnLst>
            <a:rect l="0" t="0" r="r" b="b"/>
            <a:pathLst>
              <a:path w="794" h="630">
                <a:moveTo>
                  <a:pt x="615" y="630"/>
                </a:moveTo>
                <a:lnTo>
                  <a:pt x="779" y="615"/>
                </a:lnTo>
                <a:lnTo>
                  <a:pt x="794" y="480"/>
                </a:lnTo>
                <a:lnTo>
                  <a:pt x="0" y="0"/>
                </a:lnTo>
              </a:path>
            </a:pathLst>
          </a:custGeom>
          <a:noFill/>
          <a:ln w="9525">
            <a:solidFill>
              <a:srgbClr val="0000FF"/>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83" name="任意多边形 19482"/>
          <p:cNvSpPr>
            <a:spLocks noChangeArrowheads="1"/>
          </p:cNvSpPr>
          <p:nvPr/>
        </p:nvSpPr>
        <p:spPr bwMode="auto">
          <a:xfrm>
            <a:off x="1763713" y="5084763"/>
            <a:ext cx="647700" cy="576262"/>
          </a:xfrm>
          <a:custGeom>
            <a:avLst/>
            <a:gdLst>
              <a:gd name="T0" fmla="*/ 615 w 794"/>
              <a:gd name="T1" fmla="*/ 630 h 630"/>
              <a:gd name="T2" fmla="*/ 779 w 794"/>
              <a:gd name="T3" fmla="*/ 615 h 630"/>
              <a:gd name="T4" fmla="*/ 794 w 794"/>
              <a:gd name="T5" fmla="*/ 480 h 630"/>
              <a:gd name="T6" fmla="*/ 0 w 794"/>
              <a:gd name="T7" fmla="*/ 0 h 630"/>
            </a:gdLst>
            <a:ahLst/>
            <a:cxnLst>
              <a:cxn ang="0">
                <a:pos x="T0" y="T1"/>
              </a:cxn>
              <a:cxn ang="0">
                <a:pos x="T2" y="T3"/>
              </a:cxn>
              <a:cxn ang="0">
                <a:pos x="T4" y="T5"/>
              </a:cxn>
              <a:cxn ang="0">
                <a:pos x="T6" y="T7"/>
              </a:cxn>
            </a:cxnLst>
            <a:rect l="0" t="0" r="r" b="b"/>
            <a:pathLst>
              <a:path w="794" h="630">
                <a:moveTo>
                  <a:pt x="615" y="630"/>
                </a:moveTo>
                <a:lnTo>
                  <a:pt x="779" y="615"/>
                </a:lnTo>
                <a:lnTo>
                  <a:pt x="794" y="480"/>
                </a:lnTo>
                <a:lnTo>
                  <a:pt x="0" y="0"/>
                </a:lnTo>
              </a:path>
            </a:pathLst>
          </a:custGeom>
          <a:noFill/>
          <a:ln w="9525">
            <a:solidFill>
              <a:srgbClr val="0000FF"/>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84" name="任意多边形 19483"/>
          <p:cNvSpPr>
            <a:spLocks noChangeArrowheads="1"/>
          </p:cNvSpPr>
          <p:nvPr/>
        </p:nvSpPr>
        <p:spPr bwMode="auto">
          <a:xfrm>
            <a:off x="1763713" y="5805488"/>
            <a:ext cx="247650" cy="333375"/>
          </a:xfrm>
          <a:custGeom>
            <a:avLst/>
            <a:gdLst>
              <a:gd name="T0" fmla="*/ 60 w 390"/>
              <a:gd name="T1" fmla="*/ 0 h 525"/>
              <a:gd name="T2" fmla="*/ 0 w 390"/>
              <a:gd name="T3" fmla="*/ 525 h 525"/>
              <a:gd name="T4" fmla="*/ 390 w 390"/>
              <a:gd name="T5" fmla="*/ 525 h 525"/>
              <a:gd name="T6" fmla="*/ 375 w 390"/>
              <a:gd name="T7" fmla="*/ 1 h 525"/>
            </a:gdLst>
            <a:ahLst/>
            <a:cxnLst>
              <a:cxn ang="0">
                <a:pos x="T0" y="T1"/>
              </a:cxn>
              <a:cxn ang="0">
                <a:pos x="T2" y="T3"/>
              </a:cxn>
              <a:cxn ang="0">
                <a:pos x="T4" y="T5"/>
              </a:cxn>
              <a:cxn ang="0">
                <a:pos x="T6" y="T7"/>
              </a:cxn>
            </a:cxnLst>
            <a:rect l="0" t="0" r="r" b="b"/>
            <a:pathLst>
              <a:path w="390" h="525">
                <a:moveTo>
                  <a:pt x="60" y="0"/>
                </a:moveTo>
                <a:lnTo>
                  <a:pt x="0" y="525"/>
                </a:lnTo>
                <a:lnTo>
                  <a:pt x="390" y="525"/>
                </a:lnTo>
                <a:lnTo>
                  <a:pt x="375" y="1"/>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85" name="任意多边形 19484"/>
          <p:cNvSpPr>
            <a:spLocks noChangeArrowheads="1"/>
          </p:cNvSpPr>
          <p:nvPr/>
        </p:nvSpPr>
        <p:spPr bwMode="auto">
          <a:xfrm>
            <a:off x="1042988" y="5805488"/>
            <a:ext cx="255587" cy="333375"/>
          </a:xfrm>
          <a:custGeom>
            <a:avLst/>
            <a:gdLst>
              <a:gd name="T0" fmla="*/ 60 w 390"/>
              <a:gd name="T1" fmla="*/ 0 h 525"/>
              <a:gd name="T2" fmla="*/ 0 w 390"/>
              <a:gd name="T3" fmla="*/ 525 h 525"/>
              <a:gd name="T4" fmla="*/ 390 w 390"/>
              <a:gd name="T5" fmla="*/ 525 h 525"/>
              <a:gd name="T6" fmla="*/ 375 w 390"/>
              <a:gd name="T7" fmla="*/ 1 h 525"/>
            </a:gdLst>
            <a:ahLst/>
            <a:cxnLst>
              <a:cxn ang="0">
                <a:pos x="T0" y="T1"/>
              </a:cxn>
              <a:cxn ang="0">
                <a:pos x="T2" y="T3"/>
              </a:cxn>
              <a:cxn ang="0">
                <a:pos x="T4" y="T5"/>
              </a:cxn>
              <a:cxn ang="0">
                <a:pos x="T6" y="T7"/>
              </a:cxn>
            </a:cxnLst>
            <a:rect l="0" t="0" r="r" b="b"/>
            <a:pathLst>
              <a:path w="390" h="525">
                <a:moveTo>
                  <a:pt x="60" y="0"/>
                </a:moveTo>
                <a:lnTo>
                  <a:pt x="0" y="525"/>
                </a:lnTo>
                <a:lnTo>
                  <a:pt x="390" y="525"/>
                </a:lnTo>
                <a:lnTo>
                  <a:pt x="375" y="1"/>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86" name="任意多边形 19485"/>
          <p:cNvSpPr>
            <a:spLocks noChangeArrowheads="1"/>
          </p:cNvSpPr>
          <p:nvPr/>
        </p:nvSpPr>
        <p:spPr bwMode="auto">
          <a:xfrm>
            <a:off x="3685619" y="5157788"/>
            <a:ext cx="281147" cy="333375"/>
          </a:xfrm>
          <a:custGeom>
            <a:avLst/>
            <a:gdLst>
              <a:gd name="T0" fmla="*/ 60 w 390"/>
              <a:gd name="T1" fmla="*/ 0 h 525"/>
              <a:gd name="T2" fmla="*/ 0 w 390"/>
              <a:gd name="T3" fmla="*/ 525 h 525"/>
              <a:gd name="T4" fmla="*/ 390 w 390"/>
              <a:gd name="T5" fmla="*/ 525 h 525"/>
              <a:gd name="T6" fmla="*/ 375 w 390"/>
              <a:gd name="T7" fmla="*/ 1 h 525"/>
            </a:gdLst>
            <a:ahLst/>
            <a:cxnLst>
              <a:cxn ang="0">
                <a:pos x="T0" y="T1"/>
              </a:cxn>
              <a:cxn ang="0">
                <a:pos x="T2" y="T3"/>
              </a:cxn>
              <a:cxn ang="0">
                <a:pos x="T4" y="T5"/>
              </a:cxn>
              <a:cxn ang="0">
                <a:pos x="T6" y="T7"/>
              </a:cxn>
            </a:cxnLst>
            <a:rect l="0" t="0" r="r" b="b"/>
            <a:pathLst>
              <a:path w="390" h="525">
                <a:moveTo>
                  <a:pt x="60" y="0"/>
                </a:moveTo>
                <a:lnTo>
                  <a:pt x="0" y="525"/>
                </a:lnTo>
                <a:lnTo>
                  <a:pt x="390" y="525"/>
                </a:lnTo>
                <a:lnTo>
                  <a:pt x="375" y="1"/>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87" name="任意多边形 19486"/>
          <p:cNvSpPr>
            <a:spLocks noChangeArrowheads="1"/>
          </p:cNvSpPr>
          <p:nvPr/>
        </p:nvSpPr>
        <p:spPr bwMode="auto">
          <a:xfrm>
            <a:off x="4477781" y="5157788"/>
            <a:ext cx="281146" cy="333375"/>
          </a:xfrm>
          <a:custGeom>
            <a:avLst/>
            <a:gdLst>
              <a:gd name="T0" fmla="*/ 60 w 390"/>
              <a:gd name="T1" fmla="*/ 0 h 525"/>
              <a:gd name="T2" fmla="*/ 0 w 390"/>
              <a:gd name="T3" fmla="*/ 525 h 525"/>
              <a:gd name="T4" fmla="*/ 390 w 390"/>
              <a:gd name="T5" fmla="*/ 525 h 525"/>
              <a:gd name="T6" fmla="*/ 375 w 390"/>
              <a:gd name="T7" fmla="*/ 1 h 525"/>
            </a:gdLst>
            <a:ahLst/>
            <a:cxnLst>
              <a:cxn ang="0">
                <a:pos x="T0" y="T1"/>
              </a:cxn>
              <a:cxn ang="0">
                <a:pos x="T2" y="T3"/>
              </a:cxn>
              <a:cxn ang="0">
                <a:pos x="T4" y="T5"/>
              </a:cxn>
              <a:cxn ang="0">
                <a:pos x="T6" y="T7"/>
              </a:cxn>
            </a:cxnLst>
            <a:rect l="0" t="0" r="r" b="b"/>
            <a:pathLst>
              <a:path w="390" h="525">
                <a:moveTo>
                  <a:pt x="60" y="0"/>
                </a:moveTo>
                <a:lnTo>
                  <a:pt x="0" y="525"/>
                </a:lnTo>
                <a:lnTo>
                  <a:pt x="390" y="525"/>
                </a:lnTo>
                <a:lnTo>
                  <a:pt x="375" y="1"/>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88" name="任意多边形 19487"/>
          <p:cNvSpPr>
            <a:spLocks noChangeArrowheads="1"/>
          </p:cNvSpPr>
          <p:nvPr/>
        </p:nvSpPr>
        <p:spPr bwMode="auto">
          <a:xfrm>
            <a:off x="5531229" y="5084763"/>
            <a:ext cx="281147" cy="333375"/>
          </a:xfrm>
          <a:custGeom>
            <a:avLst/>
            <a:gdLst>
              <a:gd name="T0" fmla="*/ 60 w 390"/>
              <a:gd name="T1" fmla="*/ 0 h 525"/>
              <a:gd name="T2" fmla="*/ 0 w 390"/>
              <a:gd name="T3" fmla="*/ 525 h 525"/>
              <a:gd name="T4" fmla="*/ 390 w 390"/>
              <a:gd name="T5" fmla="*/ 525 h 525"/>
              <a:gd name="T6" fmla="*/ 375 w 390"/>
              <a:gd name="T7" fmla="*/ 1 h 525"/>
            </a:gdLst>
            <a:ahLst/>
            <a:cxnLst>
              <a:cxn ang="0">
                <a:pos x="T0" y="T1"/>
              </a:cxn>
              <a:cxn ang="0">
                <a:pos x="T2" y="T3"/>
              </a:cxn>
              <a:cxn ang="0">
                <a:pos x="T4" y="T5"/>
              </a:cxn>
              <a:cxn ang="0">
                <a:pos x="T6" y="T7"/>
              </a:cxn>
            </a:cxnLst>
            <a:rect l="0" t="0" r="r" b="b"/>
            <a:pathLst>
              <a:path w="390" h="525">
                <a:moveTo>
                  <a:pt x="60" y="0"/>
                </a:moveTo>
                <a:lnTo>
                  <a:pt x="0" y="525"/>
                </a:lnTo>
                <a:lnTo>
                  <a:pt x="390" y="525"/>
                </a:lnTo>
                <a:lnTo>
                  <a:pt x="375" y="1"/>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89" name="任意多边形 19488"/>
          <p:cNvSpPr>
            <a:spLocks noChangeArrowheads="1"/>
          </p:cNvSpPr>
          <p:nvPr/>
        </p:nvSpPr>
        <p:spPr bwMode="auto">
          <a:xfrm>
            <a:off x="6349444" y="5084763"/>
            <a:ext cx="281147" cy="333375"/>
          </a:xfrm>
          <a:custGeom>
            <a:avLst/>
            <a:gdLst>
              <a:gd name="T0" fmla="*/ 60 w 390"/>
              <a:gd name="T1" fmla="*/ 0 h 525"/>
              <a:gd name="T2" fmla="*/ 0 w 390"/>
              <a:gd name="T3" fmla="*/ 525 h 525"/>
              <a:gd name="T4" fmla="*/ 390 w 390"/>
              <a:gd name="T5" fmla="*/ 525 h 525"/>
              <a:gd name="T6" fmla="*/ 375 w 390"/>
              <a:gd name="T7" fmla="*/ 1 h 525"/>
            </a:gdLst>
            <a:ahLst/>
            <a:cxnLst>
              <a:cxn ang="0">
                <a:pos x="T0" y="T1"/>
              </a:cxn>
              <a:cxn ang="0">
                <a:pos x="T2" y="T3"/>
              </a:cxn>
              <a:cxn ang="0">
                <a:pos x="T4" y="T5"/>
              </a:cxn>
              <a:cxn ang="0">
                <a:pos x="T6" y="T7"/>
              </a:cxn>
            </a:cxnLst>
            <a:rect l="0" t="0" r="r" b="b"/>
            <a:pathLst>
              <a:path w="390" h="525">
                <a:moveTo>
                  <a:pt x="60" y="0"/>
                </a:moveTo>
                <a:lnTo>
                  <a:pt x="0" y="525"/>
                </a:lnTo>
                <a:lnTo>
                  <a:pt x="390" y="525"/>
                </a:lnTo>
                <a:lnTo>
                  <a:pt x="375" y="1"/>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90" name="任意多边形 19489"/>
          <p:cNvSpPr>
            <a:spLocks noChangeArrowheads="1"/>
          </p:cNvSpPr>
          <p:nvPr/>
        </p:nvSpPr>
        <p:spPr bwMode="auto">
          <a:xfrm>
            <a:off x="7019925" y="4437063"/>
            <a:ext cx="247650" cy="333375"/>
          </a:xfrm>
          <a:custGeom>
            <a:avLst/>
            <a:gdLst>
              <a:gd name="T0" fmla="*/ 60 w 390"/>
              <a:gd name="T1" fmla="*/ 0 h 525"/>
              <a:gd name="T2" fmla="*/ 0 w 390"/>
              <a:gd name="T3" fmla="*/ 525 h 525"/>
              <a:gd name="T4" fmla="*/ 390 w 390"/>
              <a:gd name="T5" fmla="*/ 525 h 525"/>
              <a:gd name="T6" fmla="*/ 375 w 390"/>
              <a:gd name="T7" fmla="*/ 1 h 525"/>
            </a:gdLst>
            <a:ahLst/>
            <a:cxnLst>
              <a:cxn ang="0">
                <a:pos x="T0" y="T1"/>
              </a:cxn>
              <a:cxn ang="0">
                <a:pos x="T2" y="T3"/>
              </a:cxn>
              <a:cxn ang="0">
                <a:pos x="T4" y="T5"/>
              </a:cxn>
              <a:cxn ang="0">
                <a:pos x="T6" y="T7"/>
              </a:cxn>
            </a:cxnLst>
            <a:rect l="0" t="0" r="r" b="b"/>
            <a:pathLst>
              <a:path w="390" h="525">
                <a:moveTo>
                  <a:pt x="60" y="0"/>
                </a:moveTo>
                <a:lnTo>
                  <a:pt x="0" y="525"/>
                </a:lnTo>
                <a:lnTo>
                  <a:pt x="390" y="525"/>
                </a:lnTo>
                <a:lnTo>
                  <a:pt x="375" y="1"/>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91" name="矩形 19490"/>
          <p:cNvSpPr>
            <a:spLocks noChangeArrowheads="1"/>
          </p:cNvSpPr>
          <p:nvPr/>
        </p:nvSpPr>
        <p:spPr bwMode="auto">
          <a:xfrm>
            <a:off x="1403350" y="5949950"/>
            <a:ext cx="2159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1</a:t>
            </a:r>
            <a:endParaRPr lang="en-US" altLang="zh-CN" sz="1600" b="1">
              <a:latin typeface="Arial" panose="020B0604020202020204" pitchFamily="34" charset="0"/>
              <a:ea typeface="宋体" panose="02010600030101010101" pitchFamily="2" charset="-122"/>
            </a:endParaRPr>
          </a:p>
        </p:txBody>
      </p:sp>
      <p:sp>
        <p:nvSpPr>
          <p:cNvPr id="19492" name="矩形 19491"/>
          <p:cNvSpPr>
            <a:spLocks noChangeArrowheads="1"/>
          </p:cNvSpPr>
          <p:nvPr/>
        </p:nvSpPr>
        <p:spPr bwMode="auto">
          <a:xfrm>
            <a:off x="2051050" y="5949950"/>
            <a:ext cx="2159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1</a:t>
            </a:r>
            <a:endParaRPr lang="en-US" altLang="zh-CN" sz="1600" b="1">
              <a:latin typeface="Arial" panose="020B0604020202020204" pitchFamily="34" charset="0"/>
              <a:ea typeface="宋体" panose="02010600030101010101" pitchFamily="2" charset="-122"/>
            </a:endParaRPr>
          </a:p>
        </p:txBody>
      </p:sp>
      <p:sp>
        <p:nvSpPr>
          <p:cNvPr id="19493" name="矩形 19492"/>
          <p:cNvSpPr>
            <a:spLocks noChangeArrowheads="1"/>
          </p:cNvSpPr>
          <p:nvPr/>
        </p:nvSpPr>
        <p:spPr bwMode="auto">
          <a:xfrm>
            <a:off x="3974941" y="5229225"/>
            <a:ext cx="23749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1</a:t>
            </a:r>
            <a:endParaRPr lang="en-US" altLang="zh-CN" sz="1600" b="1">
              <a:latin typeface="Arial" panose="020B0604020202020204" pitchFamily="34" charset="0"/>
              <a:ea typeface="宋体" panose="02010600030101010101" pitchFamily="2" charset="-122"/>
            </a:endParaRPr>
          </a:p>
        </p:txBody>
      </p:sp>
      <p:sp>
        <p:nvSpPr>
          <p:cNvPr id="19494" name="矩形 19493"/>
          <p:cNvSpPr>
            <a:spLocks noChangeArrowheads="1"/>
          </p:cNvSpPr>
          <p:nvPr/>
        </p:nvSpPr>
        <p:spPr bwMode="auto">
          <a:xfrm>
            <a:off x="4695666" y="5229225"/>
            <a:ext cx="23749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1</a:t>
            </a:r>
            <a:endParaRPr lang="en-US" altLang="zh-CN" sz="1600" b="1">
              <a:latin typeface="Arial" panose="020B0604020202020204" pitchFamily="34" charset="0"/>
              <a:ea typeface="宋体" panose="02010600030101010101" pitchFamily="2" charset="-122"/>
            </a:endParaRPr>
          </a:p>
        </p:txBody>
      </p:sp>
      <p:sp>
        <p:nvSpPr>
          <p:cNvPr id="19495" name="矩形 19494"/>
          <p:cNvSpPr>
            <a:spLocks noChangeArrowheads="1"/>
          </p:cNvSpPr>
          <p:nvPr/>
        </p:nvSpPr>
        <p:spPr bwMode="auto">
          <a:xfrm>
            <a:off x="2124075" y="5157788"/>
            <a:ext cx="2159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5</a:t>
            </a:r>
            <a:endParaRPr lang="en-US" altLang="zh-CN" sz="1600" b="1">
              <a:latin typeface="Arial" panose="020B0604020202020204" pitchFamily="34" charset="0"/>
              <a:ea typeface="宋体" panose="02010600030101010101" pitchFamily="2" charset="-122"/>
            </a:endParaRPr>
          </a:p>
        </p:txBody>
      </p:sp>
      <p:sp>
        <p:nvSpPr>
          <p:cNvPr id="19496" name="矩形 19495"/>
          <p:cNvSpPr>
            <a:spLocks noChangeArrowheads="1"/>
          </p:cNvSpPr>
          <p:nvPr/>
        </p:nvSpPr>
        <p:spPr bwMode="auto">
          <a:xfrm>
            <a:off x="7308850" y="4508500"/>
            <a:ext cx="2159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1</a:t>
            </a:r>
            <a:endParaRPr lang="en-US" altLang="zh-CN" sz="1600" b="1">
              <a:latin typeface="Arial" panose="020B0604020202020204" pitchFamily="34" charset="0"/>
              <a:ea typeface="宋体" panose="02010600030101010101" pitchFamily="2" charset="-122"/>
            </a:endParaRPr>
          </a:p>
        </p:txBody>
      </p:sp>
      <p:sp>
        <p:nvSpPr>
          <p:cNvPr id="19497" name="矩形 19496"/>
          <p:cNvSpPr>
            <a:spLocks noChangeArrowheads="1"/>
          </p:cNvSpPr>
          <p:nvPr/>
        </p:nvSpPr>
        <p:spPr bwMode="auto">
          <a:xfrm>
            <a:off x="6638766" y="5157788"/>
            <a:ext cx="23749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1</a:t>
            </a:r>
            <a:endParaRPr lang="en-US" altLang="zh-CN" sz="1600" b="1">
              <a:latin typeface="Arial" panose="020B0604020202020204" pitchFamily="34" charset="0"/>
              <a:ea typeface="宋体" panose="02010600030101010101" pitchFamily="2" charset="-122"/>
            </a:endParaRPr>
          </a:p>
        </p:txBody>
      </p:sp>
      <p:sp>
        <p:nvSpPr>
          <p:cNvPr id="19498" name="矩形 19497"/>
          <p:cNvSpPr>
            <a:spLocks noChangeArrowheads="1"/>
          </p:cNvSpPr>
          <p:nvPr/>
        </p:nvSpPr>
        <p:spPr bwMode="auto">
          <a:xfrm>
            <a:off x="5820551" y="5157788"/>
            <a:ext cx="23749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1</a:t>
            </a:r>
            <a:endParaRPr lang="en-US" altLang="zh-CN" sz="1600" b="1">
              <a:latin typeface="Arial" panose="020B0604020202020204" pitchFamily="34" charset="0"/>
              <a:ea typeface="宋体" panose="02010600030101010101" pitchFamily="2" charset="-122"/>
            </a:endParaRPr>
          </a:p>
        </p:txBody>
      </p:sp>
      <p:sp>
        <p:nvSpPr>
          <p:cNvPr id="19499" name="矩形 19498"/>
          <p:cNvSpPr>
            <a:spLocks noChangeArrowheads="1"/>
          </p:cNvSpPr>
          <p:nvPr/>
        </p:nvSpPr>
        <p:spPr bwMode="auto">
          <a:xfrm>
            <a:off x="6588125" y="4437063"/>
            <a:ext cx="2159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5</a:t>
            </a:r>
            <a:endParaRPr lang="en-US" altLang="zh-CN" sz="1600" b="1">
              <a:latin typeface="Arial" panose="020B0604020202020204" pitchFamily="34" charset="0"/>
              <a:ea typeface="宋体" panose="02010600030101010101" pitchFamily="2" charset="-122"/>
            </a:endParaRPr>
          </a:p>
        </p:txBody>
      </p:sp>
      <p:sp>
        <p:nvSpPr>
          <p:cNvPr id="19500" name="矩形 19499"/>
          <p:cNvSpPr>
            <a:spLocks noChangeArrowheads="1"/>
          </p:cNvSpPr>
          <p:nvPr/>
        </p:nvSpPr>
        <p:spPr bwMode="auto">
          <a:xfrm>
            <a:off x="4572124" y="4437112"/>
            <a:ext cx="2159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5</a:t>
            </a:r>
            <a:endParaRPr lang="en-US" altLang="zh-CN" sz="1600" b="1">
              <a:latin typeface="Arial" panose="020B0604020202020204" pitchFamily="34" charset="0"/>
              <a:ea typeface="宋体" panose="02010600030101010101" pitchFamily="2" charset="-122"/>
            </a:endParaRPr>
          </a:p>
        </p:txBody>
      </p:sp>
      <p:sp>
        <p:nvSpPr>
          <p:cNvPr id="19501" name="任意多边形 19500"/>
          <p:cNvSpPr>
            <a:spLocks noChangeArrowheads="1"/>
          </p:cNvSpPr>
          <p:nvPr/>
        </p:nvSpPr>
        <p:spPr bwMode="auto">
          <a:xfrm>
            <a:off x="2411760" y="5111849"/>
            <a:ext cx="255587" cy="333375"/>
          </a:xfrm>
          <a:custGeom>
            <a:avLst/>
            <a:gdLst>
              <a:gd name="T0" fmla="*/ 60 w 390"/>
              <a:gd name="T1" fmla="*/ 0 h 525"/>
              <a:gd name="T2" fmla="*/ 0 w 390"/>
              <a:gd name="T3" fmla="*/ 525 h 525"/>
              <a:gd name="T4" fmla="*/ 390 w 390"/>
              <a:gd name="T5" fmla="*/ 525 h 525"/>
              <a:gd name="T6" fmla="*/ 375 w 390"/>
              <a:gd name="T7" fmla="*/ 1 h 525"/>
            </a:gdLst>
            <a:ahLst/>
            <a:cxnLst>
              <a:cxn ang="0">
                <a:pos x="T0" y="T1"/>
              </a:cxn>
              <a:cxn ang="0">
                <a:pos x="T2" y="T3"/>
              </a:cxn>
              <a:cxn ang="0">
                <a:pos x="T4" y="T5"/>
              </a:cxn>
              <a:cxn ang="0">
                <a:pos x="T6" y="T7"/>
              </a:cxn>
            </a:cxnLst>
            <a:rect l="0" t="0" r="r" b="b"/>
            <a:pathLst>
              <a:path w="390" h="525">
                <a:moveTo>
                  <a:pt x="60" y="0"/>
                </a:moveTo>
                <a:lnTo>
                  <a:pt x="0" y="525"/>
                </a:lnTo>
                <a:lnTo>
                  <a:pt x="390" y="525"/>
                </a:lnTo>
                <a:lnTo>
                  <a:pt x="375" y="1"/>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502" name="矩形 19501"/>
          <p:cNvSpPr>
            <a:spLocks noChangeArrowheads="1"/>
          </p:cNvSpPr>
          <p:nvPr/>
        </p:nvSpPr>
        <p:spPr bwMode="auto">
          <a:xfrm>
            <a:off x="2627660" y="5183286"/>
            <a:ext cx="2159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1</a:t>
            </a:r>
            <a:endParaRPr lang="en-US" altLang="zh-CN" sz="1600" b="1">
              <a:latin typeface="Arial" panose="020B0604020202020204" pitchFamily="34" charset="0"/>
              <a:ea typeface="宋体" panose="02010600030101010101" pitchFamily="2" charset="-122"/>
            </a:endParaRPr>
          </a:p>
        </p:txBody>
      </p:sp>
      <p:sp>
        <p:nvSpPr>
          <p:cNvPr id="19503" name="矩形 19502"/>
          <p:cNvSpPr>
            <a:spLocks noChangeArrowheads="1"/>
          </p:cNvSpPr>
          <p:nvPr/>
        </p:nvSpPr>
        <p:spPr bwMode="auto">
          <a:xfrm>
            <a:off x="2700338" y="4437063"/>
            <a:ext cx="2159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13</a:t>
            </a:r>
            <a:endParaRPr lang="en-US" altLang="zh-CN" sz="1600" b="1">
              <a:latin typeface="Arial" panose="020B0604020202020204" pitchFamily="34" charset="0"/>
              <a:ea typeface="宋体" panose="02010600030101010101" pitchFamily="2" charset="-122"/>
            </a:endParaRPr>
          </a:p>
        </p:txBody>
      </p:sp>
      <p:sp>
        <p:nvSpPr>
          <p:cNvPr id="19504" name="矩形 19503"/>
          <p:cNvSpPr>
            <a:spLocks noChangeArrowheads="1"/>
          </p:cNvSpPr>
          <p:nvPr/>
        </p:nvSpPr>
        <p:spPr bwMode="auto">
          <a:xfrm>
            <a:off x="7235825" y="3789363"/>
            <a:ext cx="2159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13</a:t>
            </a:r>
            <a:endParaRPr lang="en-US" altLang="zh-CN" sz="1600" b="1">
              <a:latin typeface="Arial" panose="020B0604020202020204" pitchFamily="34" charset="0"/>
              <a:ea typeface="宋体" panose="02010600030101010101" pitchFamily="2" charset="-122"/>
            </a:endParaRPr>
          </a:p>
        </p:txBody>
      </p:sp>
      <p:sp>
        <p:nvSpPr>
          <p:cNvPr id="19505" name="矩形 19504"/>
          <p:cNvSpPr>
            <a:spLocks noChangeArrowheads="1"/>
          </p:cNvSpPr>
          <p:nvPr/>
        </p:nvSpPr>
        <p:spPr bwMode="auto">
          <a:xfrm>
            <a:off x="3668532" y="3691989"/>
            <a:ext cx="2159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dirty="0">
                <a:latin typeface="Arial" panose="020B0604020202020204" pitchFamily="34" charset="0"/>
                <a:ea typeface="宋体" panose="02010600030101010101" pitchFamily="2" charset="-122"/>
              </a:rPr>
              <a:t>41</a:t>
            </a:r>
            <a:endParaRPr lang="en-US" altLang="zh-CN" sz="1600" b="1" dirty="0">
              <a:latin typeface="Arial" panose="020B0604020202020204" pitchFamily="34" charset="0"/>
              <a:ea typeface="宋体" panose="02010600030101010101" pitchFamily="2" charset="-122"/>
            </a:endParaRPr>
          </a:p>
        </p:txBody>
      </p:sp>
      <p:sp>
        <p:nvSpPr>
          <p:cNvPr id="19506" name="矩形 19505"/>
          <p:cNvSpPr>
            <a:spLocks noChangeArrowheads="1"/>
          </p:cNvSpPr>
          <p:nvPr/>
        </p:nvSpPr>
        <p:spPr bwMode="auto">
          <a:xfrm>
            <a:off x="5539127" y="2995613"/>
            <a:ext cx="225085" cy="260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dirty="0">
                <a:latin typeface="Arial" panose="020B0604020202020204" pitchFamily="34" charset="0"/>
                <a:ea typeface="宋体" panose="02010600030101010101" pitchFamily="2" charset="-122"/>
              </a:rPr>
              <a:t>121</a:t>
            </a:r>
            <a:endParaRPr lang="en-US" altLang="zh-CN" sz="1600" b="1" dirty="0">
              <a:latin typeface="Arial" panose="020B0604020202020204" pitchFamily="34" charset="0"/>
              <a:ea typeface="宋体" panose="02010600030101010101" pitchFamily="2" charset="-122"/>
            </a:endParaRPr>
          </a:p>
        </p:txBody>
      </p:sp>
      <p:sp>
        <p:nvSpPr>
          <p:cNvPr id="19507" name="矩形标注 19506"/>
          <p:cNvSpPr>
            <a:spLocks noChangeArrowheads="1"/>
          </p:cNvSpPr>
          <p:nvPr/>
        </p:nvSpPr>
        <p:spPr bwMode="auto">
          <a:xfrm>
            <a:off x="5940425" y="2276475"/>
            <a:ext cx="1944688" cy="360363"/>
          </a:xfrm>
          <a:prstGeom prst="wedgeRectCallout">
            <a:avLst>
              <a:gd name="adj1" fmla="val -54815"/>
              <a:gd name="adj2" fmla="val 164537"/>
            </a:avLst>
          </a:prstGeom>
          <a:solidFill>
            <a:srgbClr val="FFCC00"/>
          </a:solidFill>
          <a:ln w="9525">
            <a:solidFill>
              <a:schemeClr val="tx1"/>
            </a:solidFill>
            <a:miter lim="800000"/>
          </a:ln>
        </p:spPr>
        <p:txBody>
          <a:bodyPr/>
          <a:lstStyle/>
          <a:p>
            <a:pPr algn="ctr" eaLnBrk="0" hangingPunct="0"/>
            <a:r>
              <a:rPr lang="zh-CN" altLang="en-US">
                <a:solidFill>
                  <a:schemeClr val="tx2"/>
                </a:solidFill>
                <a:latin typeface="Arial" panose="020B0604020202020204" pitchFamily="34" charset="0"/>
                <a:ea typeface="宋体" panose="02010600030101010101" pitchFamily="2" charset="-122"/>
              </a:rPr>
              <a:t>最终解为</a:t>
            </a:r>
            <a:r>
              <a:rPr lang="en-US" altLang="zh-CN">
                <a:solidFill>
                  <a:schemeClr val="tx2"/>
                </a:solidFill>
                <a:latin typeface="Arial" panose="020B0604020202020204" pitchFamily="34" charset="0"/>
                <a:ea typeface="宋体" panose="02010600030101010101" pitchFamily="2" charset="-122"/>
              </a:rPr>
              <a:t>121</a:t>
            </a:r>
            <a:endParaRPr lang="en-US" altLang="zh-CN">
              <a:solidFill>
                <a:schemeClr val="tx2"/>
              </a:solidFill>
              <a:latin typeface="Arial" panose="020B0604020202020204" pitchFamily="34" charset="0"/>
              <a:ea typeface="宋体" panose="02010600030101010101" pitchFamily="2" charset="-122"/>
            </a:endParaRPr>
          </a:p>
        </p:txBody>
      </p:sp>
      <p:grpSp>
        <p:nvGrpSpPr>
          <p:cNvPr id="59" name="组合 67"/>
          <p:cNvGrpSpPr/>
          <p:nvPr/>
        </p:nvGrpSpPr>
        <p:grpSpPr>
          <a:xfrm>
            <a:off x="-166120" y="79460"/>
            <a:ext cx="7317240" cy="698583"/>
            <a:chOff x="241715" y="4179148"/>
            <a:chExt cx="7317240" cy="698583"/>
          </a:xfrm>
        </p:grpSpPr>
        <p:grpSp>
          <p:nvGrpSpPr>
            <p:cNvPr id="60" name="组合 106"/>
            <p:cNvGrpSpPr/>
            <p:nvPr/>
          </p:nvGrpSpPr>
          <p:grpSpPr>
            <a:xfrm>
              <a:off x="241715" y="4179148"/>
              <a:ext cx="7317240" cy="698583"/>
              <a:chOff x="232190" y="4179148"/>
              <a:chExt cx="7317240" cy="698583"/>
            </a:xfrm>
          </p:grpSpPr>
          <p:sp>
            <p:nvSpPr>
              <p:cNvPr id="62"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63" name="TextBox 6"/>
              <p:cNvSpPr txBox="1">
                <a:spLocks noChangeArrowheads="1"/>
              </p:cNvSpPr>
              <p:nvPr/>
            </p:nvSpPr>
            <p:spPr bwMode="auto">
              <a:xfrm>
                <a:off x="232190"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7.4 </a:t>
                </a:r>
                <a:r>
                  <a:rPr lang="zh-CN" altLang="en-US" sz="3600" b="1" dirty="0">
                    <a:latin typeface="Times New Roman" panose="02020603050405020304" pitchFamily="18" charset="0"/>
                    <a:ea typeface="黑体" panose="02010609060101010101" pitchFamily="49" charset="-122"/>
                  </a:rPr>
                  <a:t>递归程序的阅读</a:t>
                </a:r>
                <a:endParaRPr lang="zh-CN" altLang="en-US" sz="3600" b="1" dirty="0">
                  <a:latin typeface="黑体" panose="02010609060101010101" pitchFamily="49" charset="-122"/>
                  <a:ea typeface="黑体" panose="02010609060101010101" pitchFamily="49" charset="-122"/>
                </a:endParaRPr>
              </a:p>
            </p:txBody>
          </p:sp>
        </p:grpSp>
        <p:pic>
          <p:nvPicPr>
            <p:cNvPr id="61" name="图片 60" descr="无标题.png"/>
            <p:cNvPicPr>
              <a:picLocks noChangeAspect="1"/>
            </p:cNvPicPr>
            <p:nvPr/>
          </p:nvPicPr>
          <p:blipFill>
            <a:blip r:embed="rId1" cstate="print"/>
            <a:stretch>
              <a:fillRect/>
            </a:stretch>
          </p:blipFill>
          <p:spPr>
            <a:xfrm>
              <a:off x="1137949" y="4364064"/>
              <a:ext cx="433676" cy="330989"/>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2">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9460"/>
                                        </p:tgtEl>
                                        <p:attrNameLst>
                                          <p:attrName>style.visibility</p:attrName>
                                        </p:attrNameLst>
                                      </p:cBhvr>
                                      <p:to>
                                        <p:strVal val="visible"/>
                                      </p:to>
                                    </p:set>
                                    <p:animEffect transition="in" filter="blinds(horizontal)">
                                      <p:cBhvr>
                                        <p:cTn id="11" dur="500"/>
                                        <p:tgtEl>
                                          <p:spTgt spid="19460"/>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9470"/>
                                        </p:tgtEl>
                                        <p:attrNameLst>
                                          <p:attrName>style.visibility</p:attrName>
                                        </p:attrNameLst>
                                      </p:cBhvr>
                                      <p:to>
                                        <p:strVal val="visible"/>
                                      </p:to>
                                    </p:set>
                                    <p:animEffect transition="in" filter="blinds(horizontal)">
                                      <p:cBhvr>
                                        <p:cTn id="16" dur="500"/>
                                        <p:tgtEl>
                                          <p:spTgt spid="19470"/>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9461"/>
                                        </p:tgtEl>
                                        <p:attrNameLst>
                                          <p:attrName>style.visibility</p:attrName>
                                        </p:attrNameLst>
                                      </p:cBhvr>
                                      <p:to>
                                        <p:strVal val="visible"/>
                                      </p:to>
                                    </p:set>
                                    <p:animEffect transition="in" filter="blinds(horizontal)">
                                      <p:cBhvr>
                                        <p:cTn id="21" dur="500"/>
                                        <p:tgtEl>
                                          <p:spTgt spid="19461"/>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9462"/>
                                        </p:tgtEl>
                                        <p:attrNameLst>
                                          <p:attrName>style.visibility</p:attrName>
                                        </p:attrNameLst>
                                      </p:cBhvr>
                                      <p:to>
                                        <p:strVal val="visible"/>
                                      </p:to>
                                    </p:set>
                                    <p:animEffect transition="in" filter="blinds(horizontal)">
                                      <p:cBhvr>
                                        <p:cTn id="24" dur="500"/>
                                        <p:tgtEl>
                                          <p:spTgt spid="19462"/>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9469"/>
                                        </p:tgtEl>
                                        <p:attrNameLst>
                                          <p:attrName>style.visibility</p:attrName>
                                        </p:attrNameLst>
                                      </p:cBhvr>
                                      <p:to>
                                        <p:strVal val="visible"/>
                                      </p:to>
                                    </p:set>
                                    <p:animEffect transition="in" filter="blinds(horizontal)">
                                      <p:cBhvr>
                                        <p:cTn id="27" dur="500"/>
                                        <p:tgtEl>
                                          <p:spTgt spid="1946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9478"/>
                                        </p:tgtEl>
                                        <p:attrNameLst>
                                          <p:attrName>style.visibility</p:attrName>
                                        </p:attrNameLst>
                                      </p:cBhvr>
                                      <p:to>
                                        <p:strVal val="visible"/>
                                      </p:to>
                                    </p:set>
                                    <p:animEffect transition="in" filter="blinds(horizontal)">
                                      <p:cBhvr>
                                        <p:cTn id="32" dur="500"/>
                                        <p:tgtEl>
                                          <p:spTgt spid="1947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9463"/>
                                        </p:tgtEl>
                                        <p:attrNameLst>
                                          <p:attrName>style.visibility</p:attrName>
                                        </p:attrNameLst>
                                      </p:cBhvr>
                                      <p:to>
                                        <p:strVal val="visible"/>
                                      </p:to>
                                    </p:set>
                                    <p:animEffect transition="in" filter="blinds(horizontal)">
                                      <p:cBhvr>
                                        <p:cTn id="37" dur="500"/>
                                        <p:tgtEl>
                                          <p:spTgt spid="19463"/>
                                        </p:tgtEl>
                                      </p:cBhvr>
                                    </p:animEffect>
                                  </p:childTnLst>
                                </p:cTn>
                              </p:par>
                              <p:par>
                                <p:cTn id="38" presetID="3" presetClass="entr" presetSubtype="10" fill="hold" nodeType="withEffect">
                                  <p:stCondLst>
                                    <p:cond delay="0"/>
                                  </p:stCondLst>
                                  <p:childTnLst>
                                    <p:set>
                                      <p:cBhvr>
                                        <p:cTn id="39" dur="1" fill="hold">
                                          <p:stCondLst>
                                            <p:cond delay="0"/>
                                          </p:stCondLst>
                                        </p:cTn>
                                        <p:tgtEl>
                                          <p:spTgt spid="19471"/>
                                        </p:tgtEl>
                                        <p:attrNameLst>
                                          <p:attrName>style.visibility</p:attrName>
                                        </p:attrNameLst>
                                      </p:cBhvr>
                                      <p:to>
                                        <p:strVal val="visible"/>
                                      </p:to>
                                    </p:set>
                                    <p:animEffect transition="in" filter="blinds(horizontal)">
                                      <p:cBhvr>
                                        <p:cTn id="40" dur="500"/>
                                        <p:tgtEl>
                                          <p:spTgt spid="19471"/>
                                        </p:tgtEl>
                                      </p:cBhvr>
                                    </p:animEffect>
                                  </p:childTnLst>
                                </p:cTn>
                              </p:par>
                              <p:par>
                                <p:cTn id="41" presetID="3" presetClass="entr" presetSubtype="10" fill="hold" nodeType="withEffect">
                                  <p:stCondLst>
                                    <p:cond delay="0"/>
                                  </p:stCondLst>
                                  <p:childTnLst>
                                    <p:set>
                                      <p:cBhvr>
                                        <p:cTn id="42" dur="1" fill="hold">
                                          <p:stCondLst>
                                            <p:cond delay="0"/>
                                          </p:stCondLst>
                                        </p:cTn>
                                        <p:tgtEl>
                                          <p:spTgt spid="19474"/>
                                        </p:tgtEl>
                                        <p:attrNameLst>
                                          <p:attrName>style.visibility</p:attrName>
                                        </p:attrNameLst>
                                      </p:cBhvr>
                                      <p:to>
                                        <p:strVal val="visible"/>
                                      </p:to>
                                    </p:set>
                                    <p:animEffect transition="in" filter="blinds(horizontal)">
                                      <p:cBhvr>
                                        <p:cTn id="43" dur="500"/>
                                        <p:tgtEl>
                                          <p:spTgt spid="19474"/>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19473"/>
                                        </p:tgtEl>
                                        <p:attrNameLst>
                                          <p:attrName>style.visibility</p:attrName>
                                        </p:attrNameLst>
                                      </p:cBhvr>
                                      <p:to>
                                        <p:strVal val="visible"/>
                                      </p:to>
                                    </p:set>
                                    <p:animEffect transition="in" filter="blinds(horizontal)">
                                      <p:cBhvr>
                                        <p:cTn id="48" dur="500"/>
                                        <p:tgtEl>
                                          <p:spTgt spid="19473"/>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19465"/>
                                        </p:tgtEl>
                                        <p:attrNameLst>
                                          <p:attrName>style.visibility</p:attrName>
                                        </p:attrNameLst>
                                      </p:cBhvr>
                                      <p:to>
                                        <p:strVal val="visible"/>
                                      </p:to>
                                    </p:set>
                                    <p:animEffect transition="in" filter="blinds(horizontal)">
                                      <p:cBhvr>
                                        <p:cTn id="51" dur="500"/>
                                        <p:tgtEl>
                                          <p:spTgt spid="19465"/>
                                        </p:tgtEl>
                                      </p:cBhvr>
                                    </p:animEffect>
                                  </p:childTnLst>
                                </p:cTn>
                              </p:par>
                              <p:par>
                                <p:cTn id="52" presetID="3" presetClass="entr" presetSubtype="10" fill="hold" nodeType="withEffect">
                                  <p:stCondLst>
                                    <p:cond delay="0"/>
                                  </p:stCondLst>
                                  <p:childTnLst>
                                    <p:set>
                                      <p:cBhvr>
                                        <p:cTn id="53" dur="1" fill="hold">
                                          <p:stCondLst>
                                            <p:cond delay="0"/>
                                          </p:stCondLst>
                                        </p:cTn>
                                        <p:tgtEl>
                                          <p:spTgt spid="19482"/>
                                        </p:tgtEl>
                                        <p:attrNameLst>
                                          <p:attrName>style.visibility</p:attrName>
                                        </p:attrNameLst>
                                      </p:cBhvr>
                                      <p:to>
                                        <p:strVal val="visible"/>
                                      </p:to>
                                    </p:set>
                                    <p:animEffect transition="in" filter="blinds(horizontal)">
                                      <p:cBhvr>
                                        <p:cTn id="54" dur="500"/>
                                        <p:tgtEl>
                                          <p:spTgt spid="19482"/>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19476"/>
                                        </p:tgtEl>
                                        <p:attrNameLst>
                                          <p:attrName>style.visibility</p:attrName>
                                        </p:attrNameLst>
                                      </p:cBhvr>
                                      <p:to>
                                        <p:strVal val="visible"/>
                                      </p:to>
                                    </p:set>
                                    <p:animEffect transition="in" filter="blinds(horizontal)">
                                      <p:cBhvr>
                                        <p:cTn id="59" dur="500"/>
                                        <p:tgtEl>
                                          <p:spTgt spid="19476"/>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19468"/>
                                        </p:tgtEl>
                                        <p:attrNameLst>
                                          <p:attrName>style.visibility</p:attrName>
                                        </p:attrNameLst>
                                      </p:cBhvr>
                                      <p:to>
                                        <p:strVal val="visible"/>
                                      </p:to>
                                    </p:set>
                                    <p:animEffect transition="in" filter="blinds(horizontal)">
                                      <p:cBhvr>
                                        <p:cTn id="62" dur="500"/>
                                        <p:tgtEl>
                                          <p:spTgt spid="19468"/>
                                        </p:tgtEl>
                                      </p:cBhvr>
                                    </p:animEffect>
                                  </p:childTnLst>
                                </p:cTn>
                              </p:par>
                              <p:par>
                                <p:cTn id="63" presetID="3" presetClass="entr" presetSubtype="10" fill="hold" nodeType="withEffect">
                                  <p:stCondLst>
                                    <p:cond delay="0"/>
                                  </p:stCondLst>
                                  <p:childTnLst>
                                    <p:set>
                                      <p:cBhvr>
                                        <p:cTn id="64" dur="1" fill="hold">
                                          <p:stCondLst>
                                            <p:cond delay="0"/>
                                          </p:stCondLst>
                                        </p:cTn>
                                        <p:tgtEl>
                                          <p:spTgt spid="19483"/>
                                        </p:tgtEl>
                                        <p:attrNameLst>
                                          <p:attrName>style.visibility</p:attrName>
                                        </p:attrNameLst>
                                      </p:cBhvr>
                                      <p:to>
                                        <p:strVal val="visible"/>
                                      </p:to>
                                    </p:set>
                                    <p:animEffect transition="in" filter="blinds(horizontal)">
                                      <p:cBhvr>
                                        <p:cTn id="65" dur="500"/>
                                        <p:tgtEl>
                                          <p:spTgt spid="19483"/>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19485"/>
                                        </p:tgtEl>
                                        <p:attrNameLst>
                                          <p:attrName>style.visibility</p:attrName>
                                        </p:attrNameLst>
                                      </p:cBhvr>
                                      <p:to>
                                        <p:strVal val="visible"/>
                                      </p:to>
                                    </p:set>
                                    <p:animEffect transition="in" filter="blinds(horizontal)">
                                      <p:cBhvr>
                                        <p:cTn id="70" dur="500"/>
                                        <p:tgtEl>
                                          <p:spTgt spid="19485"/>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19491"/>
                                        </p:tgtEl>
                                        <p:attrNameLst>
                                          <p:attrName>style.visibility</p:attrName>
                                        </p:attrNameLst>
                                      </p:cBhvr>
                                      <p:to>
                                        <p:strVal val="visible"/>
                                      </p:to>
                                    </p:set>
                                    <p:animEffect transition="in" filter="blinds(horizontal)">
                                      <p:cBhvr>
                                        <p:cTn id="73" dur="500"/>
                                        <p:tgtEl>
                                          <p:spTgt spid="19491"/>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nodeType="clickEffect">
                                  <p:stCondLst>
                                    <p:cond delay="0"/>
                                  </p:stCondLst>
                                  <p:childTnLst>
                                    <p:set>
                                      <p:cBhvr>
                                        <p:cTn id="77" dur="1" fill="hold">
                                          <p:stCondLst>
                                            <p:cond delay="0"/>
                                          </p:stCondLst>
                                        </p:cTn>
                                        <p:tgtEl>
                                          <p:spTgt spid="19484"/>
                                        </p:tgtEl>
                                        <p:attrNameLst>
                                          <p:attrName>style.visibility</p:attrName>
                                        </p:attrNameLst>
                                      </p:cBhvr>
                                      <p:to>
                                        <p:strVal val="visible"/>
                                      </p:to>
                                    </p:set>
                                    <p:animEffect transition="in" filter="blinds(horizontal)">
                                      <p:cBhvr>
                                        <p:cTn id="78" dur="500"/>
                                        <p:tgtEl>
                                          <p:spTgt spid="19484"/>
                                        </p:tgtEl>
                                      </p:cBhvr>
                                    </p:animEffect>
                                  </p:childTnLst>
                                </p:cTn>
                              </p:par>
                              <p:par>
                                <p:cTn id="79" presetID="3" presetClass="entr" presetSubtype="10" fill="hold" grpId="0" nodeType="withEffect">
                                  <p:stCondLst>
                                    <p:cond delay="0"/>
                                  </p:stCondLst>
                                  <p:childTnLst>
                                    <p:set>
                                      <p:cBhvr>
                                        <p:cTn id="80" dur="1" fill="hold">
                                          <p:stCondLst>
                                            <p:cond delay="0"/>
                                          </p:stCondLst>
                                        </p:cTn>
                                        <p:tgtEl>
                                          <p:spTgt spid="19492"/>
                                        </p:tgtEl>
                                        <p:attrNameLst>
                                          <p:attrName>style.visibility</p:attrName>
                                        </p:attrNameLst>
                                      </p:cBhvr>
                                      <p:to>
                                        <p:strVal val="visible"/>
                                      </p:to>
                                    </p:set>
                                    <p:animEffect transition="in" filter="blinds(horizontal)">
                                      <p:cBhvr>
                                        <p:cTn id="81" dur="500"/>
                                        <p:tgtEl>
                                          <p:spTgt spid="19492"/>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19495"/>
                                        </p:tgtEl>
                                        <p:attrNameLst>
                                          <p:attrName>style.visibility</p:attrName>
                                        </p:attrNameLst>
                                      </p:cBhvr>
                                      <p:to>
                                        <p:strVal val="visible"/>
                                      </p:to>
                                    </p:set>
                                    <p:animEffect transition="in" filter="blinds(horizontal)">
                                      <p:cBhvr>
                                        <p:cTn id="86" dur="500"/>
                                        <p:tgtEl>
                                          <p:spTgt spid="19495"/>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nodeType="clickEffect">
                                  <p:stCondLst>
                                    <p:cond delay="0"/>
                                  </p:stCondLst>
                                  <p:childTnLst>
                                    <p:set>
                                      <p:cBhvr>
                                        <p:cTn id="90" dur="1" fill="hold">
                                          <p:stCondLst>
                                            <p:cond delay="0"/>
                                          </p:stCondLst>
                                        </p:cTn>
                                        <p:tgtEl>
                                          <p:spTgt spid="19501"/>
                                        </p:tgtEl>
                                        <p:attrNameLst>
                                          <p:attrName>style.visibility</p:attrName>
                                        </p:attrNameLst>
                                      </p:cBhvr>
                                      <p:to>
                                        <p:strVal val="visible"/>
                                      </p:to>
                                    </p:set>
                                    <p:animEffect transition="in" filter="blinds(horizontal)">
                                      <p:cBhvr>
                                        <p:cTn id="91" dur="500"/>
                                        <p:tgtEl>
                                          <p:spTgt spid="19501"/>
                                        </p:tgtEl>
                                      </p:cBhvr>
                                    </p:animEffect>
                                  </p:childTnLst>
                                </p:cTn>
                              </p:par>
                              <p:par>
                                <p:cTn id="92" presetID="3" presetClass="entr" presetSubtype="10" fill="hold" grpId="0" nodeType="withEffect">
                                  <p:stCondLst>
                                    <p:cond delay="0"/>
                                  </p:stCondLst>
                                  <p:childTnLst>
                                    <p:set>
                                      <p:cBhvr>
                                        <p:cTn id="93" dur="1" fill="hold">
                                          <p:stCondLst>
                                            <p:cond delay="0"/>
                                          </p:stCondLst>
                                        </p:cTn>
                                        <p:tgtEl>
                                          <p:spTgt spid="19502"/>
                                        </p:tgtEl>
                                        <p:attrNameLst>
                                          <p:attrName>style.visibility</p:attrName>
                                        </p:attrNameLst>
                                      </p:cBhvr>
                                      <p:to>
                                        <p:strVal val="visible"/>
                                      </p:to>
                                    </p:set>
                                    <p:animEffect transition="in" filter="blinds(horizontal)">
                                      <p:cBhvr>
                                        <p:cTn id="94" dur="500"/>
                                        <p:tgtEl>
                                          <p:spTgt spid="19502"/>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19503"/>
                                        </p:tgtEl>
                                        <p:attrNameLst>
                                          <p:attrName>style.visibility</p:attrName>
                                        </p:attrNameLst>
                                      </p:cBhvr>
                                      <p:to>
                                        <p:strVal val="visible"/>
                                      </p:to>
                                    </p:set>
                                    <p:animEffect transition="in" filter="blinds(horizontal)">
                                      <p:cBhvr>
                                        <p:cTn id="99" dur="500"/>
                                        <p:tgtEl>
                                          <p:spTgt spid="19503"/>
                                        </p:tgtEl>
                                      </p:cBhvr>
                                    </p:animEffect>
                                  </p:childTnLst>
                                </p:cTn>
                              </p:par>
                            </p:childTnLst>
                          </p:cTn>
                        </p:par>
                      </p:childTnLst>
                    </p:cTn>
                  </p:par>
                  <p:par>
                    <p:cTn id="100" fill="hold">
                      <p:stCondLst>
                        <p:cond delay="indefinite"/>
                      </p:stCondLst>
                      <p:childTnLst>
                        <p:par>
                          <p:cTn id="101" fill="hold">
                            <p:stCondLst>
                              <p:cond delay="0"/>
                            </p:stCondLst>
                            <p:childTnLst>
                              <p:par>
                                <p:cTn id="102" presetID="3" presetClass="entr" presetSubtype="10" fill="hold" nodeType="clickEffect">
                                  <p:stCondLst>
                                    <p:cond delay="0"/>
                                  </p:stCondLst>
                                  <p:childTnLst>
                                    <p:set>
                                      <p:cBhvr>
                                        <p:cTn id="103" dur="1" fill="hold">
                                          <p:stCondLst>
                                            <p:cond delay="0"/>
                                          </p:stCondLst>
                                        </p:cTn>
                                        <p:tgtEl>
                                          <p:spTgt spid="19481"/>
                                        </p:tgtEl>
                                        <p:attrNameLst>
                                          <p:attrName>style.visibility</p:attrName>
                                        </p:attrNameLst>
                                      </p:cBhvr>
                                      <p:to>
                                        <p:strVal val="visible"/>
                                      </p:to>
                                    </p:set>
                                    <p:animEffect transition="in" filter="blinds(horizontal)">
                                      <p:cBhvr>
                                        <p:cTn id="104" dur="500"/>
                                        <p:tgtEl>
                                          <p:spTgt spid="19481"/>
                                        </p:tgtEl>
                                      </p:cBhvr>
                                    </p:animEffect>
                                  </p:childTnLst>
                                </p:cTn>
                              </p:par>
                              <p:par>
                                <p:cTn id="105" presetID="3" presetClass="entr" presetSubtype="10" fill="hold" grpId="0" nodeType="withEffect">
                                  <p:stCondLst>
                                    <p:cond delay="0"/>
                                  </p:stCondLst>
                                  <p:childTnLst>
                                    <p:set>
                                      <p:cBhvr>
                                        <p:cTn id="106" dur="1" fill="hold">
                                          <p:stCondLst>
                                            <p:cond delay="0"/>
                                          </p:stCondLst>
                                        </p:cTn>
                                        <p:tgtEl>
                                          <p:spTgt spid="19466"/>
                                        </p:tgtEl>
                                        <p:attrNameLst>
                                          <p:attrName>style.visibility</p:attrName>
                                        </p:attrNameLst>
                                      </p:cBhvr>
                                      <p:to>
                                        <p:strVal val="visible"/>
                                      </p:to>
                                    </p:set>
                                    <p:animEffect transition="in" filter="blinds(horizontal)">
                                      <p:cBhvr>
                                        <p:cTn id="107" dur="500"/>
                                        <p:tgtEl>
                                          <p:spTgt spid="19466"/>
                                        </p:tgtEl>
                                      </p:cBhvr>
                                    </p:animEffect>
                                  </p:childTnLst>
                                </p:cTn>
                              </p:par>
                              <p:par>
                                <p:cTn id="108" presetID="3" presetClass="entr" presetSubtype="10" fill="hold" nodeType="withEffect">
                                  <p:stCondLst>
                                    <p:cond delay="0"/>
                                  </p:stCondLst>
                                  <p:childTnLst>
                                    <p:set>
                                      <p:cBhvr>
                                        <p:cTn id="109" dur="1" fill="hold">
                                          <p:stCondLst>
                                            <p:cond delay="0"/>
                                          </p:stCondLst>
                                        </p:cTn>
                                        <p:tgtEl>
                                          <p:spTgt spid="19472"/>
                                        </p:tgtEl>
                                        <p:attrNameLst>
                                          <p:attrName>style.visibility</p:attrName>
                                        </p:attrNameLst>
                                      </p:cBhvr>
                                      <p:to>
                                        <p:strVal val="visible"/>
                                      </p:to>
                                    </p:set>
                                    <p:animEffect transition="in" filter="blinds(horizontal)">
                                      <p:cBhvr>
                                        <p:cTn id="110" dur="500"/>
                                        <p:tgtEl>
                                          <p:spTgt spid="19472"/>
                                        </p:tgtEl>
                                      </p:cBhvr>
                                    </p:animEffect>
                                  </p:childTnLst>
                                </p:cTn>
                              </p:par>
                            </p:childTnLst>
                          </p:cTn>
                        </p:par>
                      </p:childTnLst>
                    </p:cTn>
                  </p:par>
                  <p:par>
                    <p:cTn id="111" fill="hold">
                      <p:stCondLst>
                        <p:cond delay="indefinite"/>
                      </p:stCondLst>
                      <p:childTnLst>
                        <p:par>
                          <p:cTn id="112" fill="hold">
                            <p:stCondLst>
                              <p:cond delay="0"/>
                            </p:stCondLst>
                            <p:childTnLst>
                              <p:par>
                                <p:cTn id="113" presetID="3" presetClass="entr" presetSubtype="10" fill="hold" nodeType="clickEffect">
                                  <p:stCondLst>
                                    <p:cond delay="0"/>
                                  </p:stCondLst>
                                  <p:childTnLst>
                                    <p:set>
                                      <p:cBhvr>
                                        <p:cTn id="114" dur="1" fill="hold">
                                          <p:stCondLst>
                                            <p:cond delay="0"/>
                                          </p:stCondLst>
                                        </p:cTn>
                                        <p:tgtEl>
                                          <p:spTgt spid="19486"/>
                                        </p:tgtEl>
                                        <p:attrNameLst>
                                          <p:attrName>style.visibility</p:attrName>
                                        </p:attrNameLst>
                                      </p:cBhvr>
                                      <p:to>
                                        <p:strVal val="visible"/>
                                      </p:to>
                                    </p:set>
                                    <p:animEffect transition="in" filter="blinds(horizontal)">
                                      <p:cBhvr>
                                        <p:cTn id="115" dur="500"/>
                                        <p:tgtEl>
                                          <p:spTgt spid="19486"/>
                                        </p:tgtEl>
                                      </p:cBhvr>
                                    </p:animEffect>
                                  </p:childTnLst>
                                </p:cTn>
                              </p:par>
                              <p:par>
                                <p:cTn id="116" presetID="3" presetClass="entr" presetSubtype="10" fill="hold" grpId="0" nodeType="withEffect">
                                  <p:stCondLst>
                                    <p:cond delay="0"/>
                                  </p:stCondLst>
                                  <p:childTnLst>
                                    <p:set>
                                      <p:cBhvr>
                                        <p:cTn id="117" dur="1" fill="hold">
                                          <p:stCondLst>
                                            <p:cond delay="0"/>
                                          </p:stCondLst>
                                        </p:cTn>
                                        <p:tgtEl>
                                          <p:spTgt spid="19493"/>
                                        </p:tgtEl>
                                        <p:attrNameLst>
                                          <p:attrName>style.visibility</p:attrName>
                                        </p:attrNameLst>
                                      </p:cBhvr>
                                      <p:to>
                                        <p:strVal val="visible"/>
                                      </p:to>
                                    </p:set>
                                    <p:animEffect transition="in" filter="blinds(horizontal)">
                                      <p:cBhvr>
                                        <p:cTn id="118" dur="500"/>
                                        <p:tgtEl>
                                          <p:spTgt spid="19493"/>
                                        </p:tgtEl>
                                      </p:cBhvr>
                                    </p:animEffect>
                                  </p:childTnLst>
                                </p:cTn>
                              </p:par>
                            </p:childTnLst>
                          </p:cTn>
                        </p:par>
                      </p:childTnLst>
                    </p:cTn>
                  </p:par>
                  <p:par>
                    <p:cTn id="119" fill="hold">
                      <p:stCondLst>
                        <p:cond delay="indefinite"/>
                      </p:stCondLst>
                      <p:childTnLst>
                        <p:par>
                          <p:cTn id="120" fill="hold">
                            <p:stCondLst>
                              <p:cond delay="0"/>
                            </p:stCondLst>
                            <p:childTnLst>
                              <p:par>
                                <p:cTn id="121" presetID="3" presetClass="entr" presetSubtype="10" fill="hold" nodeType="clickEffect">
                                  <p:stCondLst>
                                    <p:cond delay="0"/>
                                  </p:stCondLst>
                                  <p:childTnLst>
                                    <p:set>
                                      <p:cBhvr>
                                        <p:cTn id="122" dur="1" fill="hold">
                                          <p:stCondLst>
                                            <p:cond delay="0"/>
                                          </p:stCondLst>
                                        </p:cTn>
                                        <p:tgtEl>
                                          <p:spTgt spid="19487"/>
                                        </p:tgtEl>
                                        <p:attrNameLst>
                                          <p:attrName>style.visibility</p:attrName>
                                        </p:attrNameLst>
                                      </p:cBhvr>
                                      <p:to>
                                        <p:strVal val="visible"/>
                                      </p:to>
                                    </p:set>
                                    <p:animEffect transition="in" filter="blinds(horizontal)">
                                      <p:cBhvr>
                                        <p:cTn id="123" dur="500"/>
                                        <p:tgtEl>
                                          <p:spTgt spid="19487"/>
                                        </p:tgtEl>
                                      </p:cBhvr>
                                    </p:animEffect>
                                  </p:childTnLst>
                                </p:cTn>
                              </p:par>
                              <p:par>
                                <p:cTn id="124" presetID="3" presetClass="entr" presetSubtype="10" fill="hold" grpId="0" nodeType="withEffect">
                                  <p:stCondLst>
                                    <p:cond delay="0"/>
                                  </p:stCondLst>
                                  <p:childTnLst>
                                    <p:set>
                                      <p:cBhvr>
                                        <p:cTn id="125" dur="1" fill="hold">
                                          <p:stCondLst>
                                            <p:cond delay="0"/>
                                          </p:stCondLst>
                                        </p:cTn>
                                        <p:tgtEl>
                                          <p:spTgt spid="19494"/>
                                        </p:tgtEl>
                                        <p:attrNameLst>
                                          <p:attrName>style.visibility</p:attrName>
                                        </p:attrNameLst>
                                      </p:cBhvr>
                                      <p:to>
                                        <p:strVal val="visible"/>
                                      </p:to>
                                    </p:set>
                                    <p:animEffect transition="in" filter="blinds(horizontal)">
                                      <p:cBhvr>
                                        <p:cTn id="126" dur="500"/>
                                        <p:tgtEl>
                                          <p:spTgt spid="19494"/>
                                        </p:tgtEl>
                                      </p:cBhvr>
                                    </p:animEffect>
                                  </p:childTnLst>
                                </p:cTn>
                              </p:par>
                            </p:childTnLst>
                          </p:cTn>
                        </p:par>
                      </p:childTnLst>
                    </p:cTn>
                  </p:par>
                  <p:par>
                    <p:cTn id="127" fill="hold">
                      <p:stCondLst>
                        <p:cond delay="indefinite"/>
                      </p:stCondLst>
                      <p:childTnLst>
                        <p:par>
                          <p:cTn id="128" fill="hold">
                            <p:stCondLst>
                              <p:cond delay="0"/>
                            </p:stCondLst>
                            <p:childTnLst>
                              <p:par>
                                <p:cTn id="129" presetID="3" presetClass="entr" presetSubtype="10" fill="hold" grpId="0" nodeType="clickEffect">
                                  <p:stCondLst>
                                    <p:cond delay="0"/>
                                  </p:stCondLst>
                                  <p:childTnLst>
                                    <p:set>
                                      <p:cBhvr>
                                        <p:cTn id="130" dur="1" fill="hold">
                                          <p:stCondLst>
                                            <p:cond delay="0"/>
                                          </p:stCondLst>
                                        </p:cTn>
                                        <p:tgtEl>
                                          <p:spTgt spid="19500"/>
                                        </p:tgtEl>
                                        <p:attrNameLst>
                                          <p:attrName>style.visibility</p:attrName>
                                        </p:attrNameLst>
                                      </p:cBhvr>
                                      <p:to>
                                        <p:strVal val="visible"/>
                                      </p:to>
                                    </p:set>
                                    <p:animEffect transition="in" filter="blinds(horizontal)">
                                      <p:cBhvr>
                                        <p:cTn id="131" dur="500"/>
                                        <p:tgtEl>
                                          <p:spTgt spid="19500"/>
                                        </p:tgtEl>
                                      </p:cBhvr>
                                    </p:animEffect>
                                  </p:childTnLst>
                                </p:cTn>
                              </p:par>
                            </p:childTnLst>
                          </p:cTn>
                        </p:par>
                      </p:childTnLst>
                    </p:cTn>
                  </p:par>
                  <p:par>
                    <p:cTn id="132" fill="hold">
                      <p:stCondLst>
                        <p:cond delay="indefinite"/>
                      </p:stCondLst>
                      <p:childTnLst>
                        <p:par>
                          <p:cTn id="133" fill="hold">
                            <p:stCondLst>
                              <p:cond delay="0"/>
                            </p:stCondLst>
                            <p:childTnLst>
                              <p:par>
                                <p:cTn id="134" presetID="3" presetClass="entr" presetSubtype="10" fill="hold" grpId="0" nodeType="clickEffect">
                                  <p:stCondLst>
                                    <p:cond delay="0"/>
                                  </p:stCondLst>
                                  <p:childTnLst>
                                    <p:set>
                                      <p:cBhvr>
                                        <p:cTn id="135" dur="1" fill="hold">
                                          <p:stCondLst>
                                            <p:cond delay="0"/>
                                          </p:stCondLst>
                                        </p:cTn>
                                        <p:tgtEl>
                                          <p:spTgt spid="19505"/>
                                        </p:tgtEl>
                                        <p:attrNameLst>
                                          <p:attrName>style.visibility</p:attrName>
                                        </p:attrNameLst>
                                      </p:cBhvr>
                                      <p:to>
                                        <p:strVal val="visible"/>
                                      </p:to>
                                    </p:set>
                                    <p:animEffect transition="in" filter="blinds(horizontal)">
                                      <p:cBhvr>
                                        <p:cTn id="136" dur="500"/>
                                        <p:tgtEl>
                                          <p:spTgt spid="19505"/>
                                        </p:tgtEl>
                                      </p:cBhvr>
                                    </p:animEffect>
                                  </p:childTnLst>
                                </p:cTn>
                              </p:par>
                            </p:childTnLst>
                          </p:cTn>
                        </p:par>
                      </p:childTnLst>
                    </p:cTn>
                  </p:par>
                  <p:par>
                    <p:cTn id="137" fill="hold">
                      <p:stCondLst>
                        <p:cond delay="indefinite"/>
                      </p:stCondLst>
                      <p:childTnLst>
                        <p:par>
                          <p:cTn id="138" fill="hold">
                            <p:stCondLst>
                              <p:cond delay="0"/>
                            </p:stCondLst>
                            <p:childTnLst>
                              <p:par>
                                <p:cTn id="139" presetID="3" presetClass="entr" presetSubtype="10" fill="hold" nodeType="clickEffect">
                                  <p:stCondLst>
                                    <p:cond delay="0"/>
                                  </p:stCondLst>
                                  <p:childTnLst>
                                    <p:set>
                                      <p:cBhvr>
                                        <p:cTn id="140" dur="1" fill="hold">
                                          <p:stCondLst>
                                            <p:cond delay="0"/>
                                          </p:stCondLst>
                                        </p:cTn>
                                        <p:tgtEl>
                                          <p:spTgt spid="19475"/>
                                        </p:tgtEl>
                                        <p:attrNameLst>
                                          <p:attrName>style.visibility</p:attrName>
                                        </p:attrNameLst>
                                      </p:cBhvr>
                                      <p:to>
                                        <p:strVal val="visible"/>
                                      </p:to>
                                    </p:set>
                                    <p:animEffect transition="in" filter="blinds(horizontal)">
                                      <p:cBhvr>
                                        <p:cTn id="141" dur="500"/>
                                        <p:tgtEl>
                                          <p:spTgt spid="19475"/>
                                        </p:tgtEl>
                                      </p:cBhvr>
                                    </p:animEffect>
                                  </p:childTnLst>
                                </p:cTn>
                              </p:par>
                              <p:par>
                                <p:cTn id="142" presetID="3" presetClass="entr" presetSubtype="10" fill="hold" grpId="0" nodeType="withEffect">
                                  <p:stCondLst>
                                    <p:cond delay="0"/>
                                  </p:stCondLst>
                                  <p:childTnLst>
                                    <p:set>
                                      <p:cBhvr>
                                        <p:cTn id="143" dur="1" fill="hold">
                                          <p:stCondLst>
                                            <p:cond delay="0"/>
                                          </p:stCondLst>
                                        </p:cTn>
                                        <p:tgtEl>
                                          <p:spTgt spid="19464"/>
                                        </p:tgtEl>
                                        <p:attrNameLst>
                                          <p:attrName>style.visibility</p:attrName>
                                        </p:attrNameLst>
                                      </p:cBhvr>
                                      <p:to>
                                        <p:strVal val="visible"/>
                                      </p:to>
                                    </p:set>
                                    <p:animEffect transition="in" filter="blinds(horizontal)">
                                      <p:cBhvr>
                                        <p:cTn id="144" dur="500"/>
                                        <p:tgtEl>
                                          <p:spTgt spid="19464"/>
                                        </p:tgtEl>
                                      </p:cBhvr>
                                    </p:animEffect>
                                  </p:childTnLst>
                                </p:cTn>
                              </p:par>
                              <p:par>
                                <p:cTn id="145" presetID="3" presetClass="entr" presetSubtype="10" fill="hold" nodeType="withEffect">
                                  <p:stCondLst>
                                    <p:cond delay="0"/>
                                  </p:stCondLst>
                                  <p:childTnLst>
                                    <p:set>
                                      <p:cBhvr>
                                        <p:cTn id="146" dur="1" fill="hold">
                                          <p:stCondLst>
                                            <p:cond delay="0"/>
                                          </p:stCondLst>
                                        </p:cTn>
                                        <p:tgtEl>
                                          <p:spTgt spid="19479"/>
                                        </p:tgtEl>
                                        <p:attrNameLst>
                                          <p:attrName>style.visibility</p:attrName>
                                        </p:attrNameLst>
                                      </p:cBhvr>
                                      <p:to>
                                        <p:strVal val="visible"/>
                                      </p:to>
                                    </p:set>
                                    <p:animEffect transition="in" filter="blinds(horizontal)">
                                      <p:cBhvr>
                                        <p:cTn id="147" dur="500"/>
                                        <p:tgtEl>
                                          <p:spTgt spid="19479"/>
                                        </p:tgtEl>
                                      </p:cBhvr>
                                    </p:animEffect>
                                  </p:childTnLst>
                                </p:cTn>
                              </p:par>
                            </p:childTnLst>
                          </p:cTn>
                        </p:par>
                      </p:childTnLst>
                    </p:cTn>
                  </p:par>
                  <p:par>
                    <p:cTn id="148" fill="hold">
                      <p:stCondLst>
                        <p:cond delay="indefinite"/>
                      </p:stCondLst>
                      <p:childTnLst>
                        <p:par>
                          <p:cTn id="149" fill="hold">
                            <p:stCondLst>
                              <p:cond delay="0"/>
                            </p:stCondLst>
                            <p:childTnLst>
                              <p:par>
                                <p:cTn id="150" presetID="3" presetClass="entr" presetSubtype="10" fill="hold" nodeType="clickEffect">
                                  <p:stCondLst>
                                    <p:cond delay="0"/>
                                  </p:stCondLst>
                                  <p:childTnLst>
                                    <p:set>
                                      <p:cBhvr>
                                        <p:cTn id="151" dur="1" fill="hold">
                                          <p:stCondLst>
                                            <p:cond delay="0"/>
                                          </p:stCondLst>
                                        </p:cTn>
                                        <p:tgtEl>
                                          <p:spTgt spid="19477"/>
                                        </p:tgtEl>
                                        <p:attrNameLst>
                                          <p:attrName>style.visibility</p:attrName>
                                        </p:attrNameLst>
                                      </p:cBhvr>
                                      <p:to>
                                        <p:strVal val="visible"/>
                                      </p:to>
                                    </p:set>
                                    <p:animEffect transition="in" filter="blinds(horizontal)">
                                      <p:cBhvr>
                                        <p:cTn id="152" dur="500"/>
                                        <p:tgtEl>
                                          <p:spTgt spid="19477"/>
                                        </p:tgtEl>
                                      </p:cBhvr>
                                    </p:animEffect>
                                  </p:childTnLst>
                                </p:cTn>
                              </p:par>
                              <p:par>
                                <p:cTn id="153" presetID="3" presetClass="entr" presetSubtype="10" fill="hold" grpId="0" nodeType="withEffect">
                                  <p:stCondLst>
                                    <p:cond delay="0"/>
                                  </p:stCondLst>
                                  <p:childTnLst>
                                    <p:set>
                                      <p:cBhvr>
                                        <p:cTn id="154" dur="1" fill="hold">
                                          <p:stCondLst>
                                            <p:cond delay="0"/>
                                          </p:stCondLst>
                                        </p:cTn>
                                        <p:tgtEl>
                                          <p:spTgt spid="19467"/>
                                        </p:tgtEl>
                                        <p:attrNameLst>
                                          <p:attrName>style.visibility</p:attrName>
                                        </p:attrNameLst>
                                      </p:cBhvr>
                                      <p:to>
                                        <p:strVal val="visible"/>
                                      </p:to>
                                    </p:set>
                                    <p:animEffect transition="in" filter="blinds(horizontal)">
                                      <p:cBhvr>
                                        <p:cTn id="155" dur="500"/>
                                        <p:tgtEl>
                                          <p:spTgt spid="19467"/>
                                        </p:tgtEl>
                                      </p:cBhvr>
                                    </p:animEffect>
                                  </p:childTnLst>
                                </p:cTn>
                              </p:par>
                              <p:par>
                                <p:cTn id="156" presetID="3" presetClass="entr" presetSubtype="10" fill="hold" nodeType="withEffect">
                                  <p:stCondLst>
                                    <p:cond delay="0"/>
                                  </p:stCondLst>
                                  <p:childTnLst>
                                    <p:set>
                                      <p:cBhvr>
                                        <p:cTn id="157" dur="1" fill="hold">
                                          <p:stCondLst>
                                            <p:cond delay="0"/>
                                          </p:stCondLst>
                                        </p:cTn>
                                        <p:tgtEl>
                                          <p:spTgt spid="19480"/>
                                        </p:tgtEl>
                                        <p:attrNameLst>
                                          <p:attrName>style.visibility</p:attrName>
                                        </p:attrNameLst>
                                      </p:cBhvr>
                                      <p:to>
                                        <p:strVal val="visible"/>
                                      </p:to>
                                    </p:set>
                                    <p:animEffect transition="in" filter="blinds(horizontal)">
                                      <p:cBhvr>
                                        <p:cTn id="158" dur="500"/>
                                        <p:tgtEl>
                                          <p:spTgt spid="19480"/>
                                        </p:tgtEl>
                                      </p:cBhvr>
                                    </p:animEffect>
                                  </p:childTnLst>
                                </p:cTn>
                              </p:par>
                            </p:childTnLst>
                          </p:cTn>
                        </p:par>
                      </p:childTnLst>
                    </p:cTn>
                  </p:par>
                  <p:par>
                    <p:cTn id="159" fill="hold">
                      <p:stCondLst>
                        <p:cond delay="indefinite"/>
                      </p:stCondLst>
                      <p:childTnLst>
                        <p:par>
                          <p:cTn id="160" fill="hold">
                            <p:stCondLst>
                              <p:cond delay="0"/>
                            </p:stCondLst>
                            <p:childTnLst>
                              <p:par>
                                <p:cTn id="161" presetID="3" presetClass="entr" presetSubtype="10" fill="hold" nodeType="clickEffect">
                                  <p:stCondLst>
                                    <p:cond delay="0"/>
                                  </p:stCondLst>
                                  <p:childTnLst>
                                    <p:set>
                                      <p:cBhvr>
                                        <p:cTn id="162" dur="1" fill="hold">
                                          <p:stCondLst>
                                            <p:cond delay="0"/>
                                          </p:stCondLst>
                                        </p:cTn>
                                        <p:tgtEl>
                                          <p:spTgt spid="19488"/>
                                        </p:tgtEl>
                                        <p:attrNameLst>
                                          <p:attrName>style.visibility</p:attrName>
                                        </p:attrNameLst>
                                      </p:cBhvr>
                                      <p:to>
                                        <p:strVal val="visible"/>
                                      </p:to>
                                    </p:set>
                                    <p:animEffect transition="in" filter="blinds(horizontal)">
                                      <p:cBhvr>
                                        <p:cTn id="163" dur="500"/>
                                        <p:tgtEl>
                                          <p:spTgt spid="19488"/>
                                        </p:tgtEl>
                                      </p:cBhvr>
                                    </p:animEffect>
                                  </p:childTnLst>
                                </p:cTn>
                              </p:par>
                              <p:par>
                                <p:cTn id="164" presetID="3" presetClass="entr" presetSubtype="10" fill="hold" grpId="0" nodeType="withEffect">
                                  <p:stCondLst>
                                    <p:cond delay="0"/>
                                  </p:stCondLst>
                                  <p:childTnLst>
                                    <p:set>
                                      <p:cBhvr>
                                        <p:cTn id="165" dur="1" fill="hold">
                                          <p:stCondLst>
                                            <p:cond delay="0"/>
                                          </p:stCondLst>
                                        </p:cTn>
                                        <p:tgtEl>
                                          <p:spTgt spid="19498"/>
                                        </p:tgtEl>
                                        <p:attrNameLst>
                                          <p:attrName>style.visibility</p:attrName>
                                        </p:attrNameLst>
                                      </p:cBhvr>
                                      <p:to>
                                        <p:strVal val="visible"/>
                                      </p:to>
                                    </p:set>
                                    <p:animEffect transition="in" filter="blinds(horizontal)">
                                      <p:cBhvr>
                                        <p:cTn id="166" dur="500"/>
                                        <p:tgtEl>
                                          <p:spTgt spid="19498"/>
                                        </p:tgtEl>
                                      </p:cBhvr>
                                    </p:animEffect>
                                  </p:childTnLst>
                                </p:cTn>
                              </p:par>
                            </p:childTnLst>
                          </p:cTn>
                        </p:par>
                      </p:childTnLst>
                    </p:cTn>
                  </p:par>
                  <p:par>
                    <p:cTn id="167" fill="hold">
                      <p:stCondLst>
                        <p:cond delay="indefinite"/>
                      </p:stCondLst>
                      <p:childTnLst>
                        <p:par>
                          <p:cTn id="168" fill="hold">
                            <p:stCondLst>
                              <p:cond delay="0"/>
                            </p:stCondLst>
                            <p:childTnLst>
                              <p:par>
                                <p:cTn id="169" presetID="3" presetClass="entr" presetSubtype="10" fill="hold" nodeType="clickEffect">
                                  <p:stCondLst>
                                    <p:cond delay="0"/>
                                  </p:stCondLst>
                                  <p:childTnLst>
                                    <p:set>
                                      <p:cBhvr>
                                        <p:cTn id="170" dur="1" fill="hold">
                                          <p:stCondLst>
                                            <p:cond delay="0"/>
                                          </p:stCondLst>
                                        </p:cTn>
                                        <p:tgtEl>
                                          <p:spTgt spid="19489"/>
                                        </p:tgtEl>
                                        <p:attrNameLst>
                                          <p:attrName>style.visibility</p:attrName>
                                        </p:attrNameLst>
                                      </p:cBhvr>
                                      <p:to>
                                        <p:strVal val="visible"/>
                                      </p:to>
                                    </p:set>
                                    <p:animEffect transition="in" filter="blinds(horizontal)">
                                      <p:cBhvr>
                                        <p:cTn id="171" dur="500"/>
                                        <p:tgtEl>
                                          <p:spTgt spid="19489"/>
                                        </p:tgtEl>
                                      </p:cBhvr>
                                    </p:animEffect>
                                  </p:childTnLst>
                                </p:cTn>
                              </p:par>
                              <p:par>
                                <p:cTn id="172" presetID="3" presetClass="entr" presetSubtype="10" fill="hold" grpId="0" nodeType="withEffect">
                                  <p:stCondLst>
                                    <p:cond delay="0"/>
                                  </p:stCondLst>
                                  <p:childTnLst>
                                    <p:set>
                                      <p:cBhvr>
                                        <p:cTn id="173" dur="1" fill="hold">
                                          <p:stCondLst>
                                            <p:cond delay="0"/>
                                          </p:stCondLst>
                                        </p:cTn>
                                        <p:tgtEl>
                                          <p:spTgt spid="19497"/>
                                        </p:tgtEl>
                                        <p:attrNameLst>
                                          <p:attrName>style.visibility</p:attrName>
                                        </p:attrNameLst>
                                      </p:cBhvr>
                                      <p:to>
                                        <p:strVal val="visible"/>
                                      </p:to>
                                    </p:set>
                                    <p:animEffect transition="in" filter="blinds(horizontal)">
                                      <p:cBhvr>
                                        <p:cTn id="174" dur="500"/>
                                        <p:tgtEl>
                                          <p:spTgt spid="19497"/>
                                        </p:tgtEl>
                                      </p:cBhvr>
                                    </p:animEffect>
                                  </p:childTnLst>
                                </p:cTn>
                              </p:par>
                            </p:childTnLst>
                          </p:cTn>
                        </p:par>
                      </p:childTnLst>
                    </p:cTn>
                  </p:par>
                  <p:par>
                    <p:cTn id="175" fill="hold">
                      <p:stCondLst>
                        <p:cond delay="indefinite"/>
                      </p:stCondLst>
                      <p:childTnLst>
                        <p:par>
                          <p:cTn id="176" fill="hold">
                            <p:stCondLst>
                              <p:cond delay="0"/>
                            </p:stCondLst>
                            <p:childTnLst>
                              <p:par>
                                <p:cTn id="177" presetID="3" presetClass="entr" presetSubtype="10" fill="hold" grpId="0" nodeType="clickEffect">
                                  <p:stCondLst>
                                    <p:cond delay="0"/>
                                  </p:stCondLst>
                                  <p:childTnLst>
                                    <p:set>
                                      <p:cBhvr>
                                        <p:cTn id="178" dur="1" fill="hold">
                                          <p:stCondLst>
                                            <p:cond delay="0"/>
                                          </p:stCondLst>
                                        </p:cTn>
                                        <p:tgtEl>
                                          <p:spTgt spid="19499"/>
                                        </p:tgtEl>
                                        <p:attrNameLst>
                                          <p:attrName>style.visibility</p:attrName>
                                        </p:attrNameLst>
                                      </p:cBhvr>
                                      <p:to>
                                        <p:strVal val="visible"/>
                                      </p:to>
                                    </p:set>
                                    <p:animEffect transition="in" filter="blinds(horizontal)">
                                      <p:cBhvr>
                                        <p:cTn id="179" dur="500"/>
                                        <p:tgtEl>
                                          <p:spTgt spid="19499"/>
                                        </p:tgtEl>
                                      </p:cBhvr>
                                    </p:animEffect>
                                  </p:childTnLst>
                                </p:cTn>
                              </p:par>
                            </p:childTnLst>
                          </p:cTn>
                        </p:par>
                      </p:childTnLst>
                    </p:cTn>
                  </p:par>
                  <p:par>
                    <p:cTn id="180" fill="hold">
                      <p:stCondLst>
                        <p:cond delay="indefinite"/>
                      </p:stCondLst>
                      <p:childTnLst>
                        <p:par>
                          <p:cTn id="181" fill="hold">
                            <p:stCondLst>
                              <p:cond delay="0"/>
                            </p:stCondLst>
                            <p:childTnLst>
                              <p:par>
                                <p:cTn id="182" presetID="3" presetClass="entr" presetSubtype="10" fill="hold" nodeType="clickEffect">
                                  <p:stCondLst>
                                    <p:cond delay="0"/>
                                  </p:stCondLst>
                                  <p:childTnLst>
                                    <p:set>
                                      <p:cBhvr>
                                        <p:cTn id="183" dur="1" fill="hold">
                                          <p:stCondLst>
                                            <p:cond delay="0"/>
                                          </p:stCondLst>
                                        </p:cTn>
                                        <p:tgtEl>
                                          <p:spTgt spid="19490"/>
                                        </p:tgtEl>
                                        <p:attrNameLst>
                                          <p:attrName>style.visibility</p:attrName>
                                        </p:attrNameLst>
                                      </p:cBhvr>
                                      <p:to>
                                        <p:strVal val="visible"/>
                                      </p:to>
                                    </p:set>
                                    <p:animEffect transition="in" filter="blinds(horizontal)">
                                      <p:cBhvr>
                                        <p:cTn id="184" dur="500"/>
                                        <p:tgtEl>
                                          <p:spTgt spid="19490"/>
                                        </p:tgtEl>
                                      </p:cBhvr>
                                    </p:animEffect>
                                  </p:childTnLst>
                                </p:cTn>
                              </p:par>
                              <p:par>
                                <p:cTn id="185" presetID="3" presetClass="entr" presetSubtype="10" fill="hold" grpId="0" nodeType="withEffect">
                                  <p:stCondLst>
                                    <p:cond delay="0"/>
                                  </p:stCondLst>
                                  <p:childTnLst>
                                    <p:set>
                                      <p:cBhvr>
                                        <p:cTn id="186" dur="1" fill="hold">
                                          <p:stCondLst>
                                            <p:cond delay="0"/>
                                          </p:stCondLst>
                                        </p:cTn>
                                        <p:tgtEl>
                                          <p:spTgt spid="19496"/>
                                        </p:tgtEl>
                                        <p:attrNameLst>
                                          <p:attrName>style.visibility</p:attrName>
                                        </p:attrNameLst>
                                      </p:cBhvr>
                                      <p:to>
                                        <p:strVal val="visible"/>
                                      </p:to>
                                    </p:set>
                                    <p:animEffect transition="in" filter="blinds(horizontal)">
                                      <p:cBhvr>
                                        <p:cTn id="187" dur="500"/>
                                        <p:tgtEl>
                                          <p:spTgt spid="19496"/>
                                        </p:tgtEl>
                                      </p:cBhvr>
                                    </p:animEffect>
                                  </p:childTnLst>
                                </p:cTn>
                              </p:par>
                            </p:childTnLst>
                          </p:cTn>
                        </p:par>
                      </p:childTnLst>
                    </p:cTn>
                  </p:par>
                  <p:par>
                    <p:cTn id="188" fill="hold">
                      <p:stCondLst>
                        <p:cond delay="indefinite"/>
                      </p:stCondLst>
                      <p:childTnLst>
                        <p:par>
                          <p:cTn id="189" fill="hold">
                            <p:stCondLst>
                              <p:cond delay="0"/>
                            </p:stCondLst>
                            <p:childTnLst>
                              <p:par>
                                <p:cTn id="190" presetID="3" presetClass="entr" presetSubtype="10" fill="hold" grpId="0" nodeType="clickEffect">
                                  <p:stCondLst>
                                    <p:cond delay="0"/>
                                  </p:stCondLst>
                                  <p:childTnLst>
                                    <p:set>
                                      <p:cBhvr>
                                        <p:cTn id="191" dur="1" fill="hold">
                                          <p:stCondLst>
                                            <p:cond delay="0"/>
                                          </p:stCondLst>
                                        </p:cTn>
                                        <p:tgtEl>
                                          <p:spTgt spid="19504"/>
                                        </p:tgtEl>
                                        <p:attrNameLst>
                                          <p:attrName>style.visibility</p:attrName>
                                        </p:attrNameLst>
                                      </p:cBhvr>
                                      <p:to>
                                        <p:strVal val="visible"/>
                                      </p:to>
                                    </p:set>
                                    <p:animEffect transition="in" filter="blinds(horizontal)">
                                      <p:cBhvr>
                                        <p:cTn id="192" dur="500"/>
                                        <p:tgtEl>
                                          <p:spTgt spid="19504"/>
                                        </p:tgtEl>
                                      </p:cBhvr>
                                    </p:animEffect>
                                  </p:childTnLst>
                                </p:cTn>
                              </p:par>
                            </p:childTnLst>
                          </p:cTn>
                        </p:par>
                      </p:childTnLst>
                    </p:cTn>
                  </p:par>
                  <p:par>
                    <p:cTn id="193" fill="hold">
                      <p:stCondLst>
                        <p:cond delay="indefinite"/>
                      </p:stCondLst>
                      <p:childTnLst>
                        <p:par>
                          <p:cTn id="194" fill="hold">
                            <p:stCondLst>
                              <p:cond delay="0"/>
                            </p:stCondLst>
                            <p:childTnLst>
                              <p:par>
                                <p:cTn id="195" presetID="3" presetClass="entr" presetSubtype="10" fill="hold" grpId="0" nodeType="clickEffect">
                                  <p:stCondLst>
                                    <p:cond delay="0"/>
                                  </p:stCondLst>
                                  <p:childTnLst>
                                    <p:set>
                                      <p:cBhvr>
                                        <p:cTn id="196" dur="1" fill="hold">
                                          <p:stCondLst>
                                            <p:cond delay="0"/>
                                          </p:stCondLst>
                                        </p:cTn>
                                        <p:tgtEl>
                                          <p:spTgt spid="19506"/>
                                        </p:tgtEl>
                                        <p:attrNameLst>
                                          <p:attrName>style.visibility</p:attrName>
                                        </p:attrNameLst>
                                      </p:cBhvr>
                                      <p:to>
                                        <p:strVal val="visible"/>
                                      </p:to>
                                    </p:set>
                                    <p:animEffect transition="in" filter="blinds(horizontal)">
                                      <p:cBhvr>
                                        <p:cTn id="197" dur="500"/>
                                        <p:tgtEl>
                                          <p:spTgt spid="19506"/>
                                        </p:tgtEl>
                                      </p:cBhvr>
                                    </p:animEffect>
                                  </p:childTnLst>
                                </p:cTn>
                              </p:par>
                            </p:childTnLst>
                          </p:cTn>
                        </p:par>
                      </p:childTnLst>
                    </p:cTn>
                  </p:par>
                  <p:par>
                    <p:cTn id="198" fill="hold">
                      <p:stCondLst>
                        <p:cond delay="indefinite"/>
                      </p:stCondLst>
                      <p:childTnLst>
                        <p:par>
                          <p:cTn id="199" fill="hold">
                            <p:stCondLst>
                              <p:cond delay="0"/>
                            </p:stCondLst>
                            <p:childTnLst>
                              <p:par>
                                <p:cTn id="200" presetID="3" presetClass="entr" presetSubtype="10" fill="hold" grpId="0" nodeType="clickEffect">
                                  <p:stCondLst>
                                    <p:cond delay="0"/>
                                  </p:stCondLst>
                                  <p:childTnLst>
                                    <p:set>
                                      <p:cBhvr>
                                        <p:cTn id="201" dur="1" fill="hold">
                                          <p:stCondLst>
                                            <p:cond delay="0"/>
                                          </p:stCondLst>
                                        </p:cTn>
                                        <p:tgtEl>
                                          <p:spTgt spid="19507"/>
                                        </p:tgtEl>
                                        <p:attrNameLst>
                                          <p:attrName>style.visibility</p:attrName>
                                        </p:attrNameLst>
                                      </p:cBhvr>
                                      <p:to>
                                        <p:strVal val="visible"/>
                                      </p:to>
                                    </p:set>
                                    <p:animEffect transition="in" filter="blinds(horizontal)">
                                      <p:cBhvr>
                                        <p:cTn id="202" dur="500"/>
                                        <p:tgtEl>
                                          <p:spTgt spid="19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p:bldP spid="19461" grpId="0"/>
      <p:bldP spid="19462" grpId="0"/>
      <p:bldP spid="19463" grpId="0"/>
      <p:bldP spid="19464" grpId="0"/>
      <p:bldP spid="19465" grpId="0"/>
      <p:bldP spid="19466" grpId="0"/>
      <p:bldP spid="19467" grpId="0"/>
      <p:bldP spid="19468" grpId="0"/>
      <p:bldP spid="19469" grpId="0"/>
      <p:bldP spid="19491" grpId="0"/>
      <p:bldP spid="19492" grpId="0"/>
      <p:bldP spid="19493" grpId="0"/>
      <p:bldP spid="19494" grpId="0"/>
      <p:bldP spid="19495" grpId="0"/>
      <p:bldP spid="19496" grpId="0"/>
      <p:bldP spid="19497" grpId="0"/>
      <p:bldP spid="19498" grpId="0"/>
      <p:bldP spid="19499" grpId="0"/>
      <p:bldP spid="19500" grpId="0"/>
      <p:bldP spid="19502" grpId="0"/>
      <p:bldP spid="19503" grpId="0"/>
      <p:bldP spid="19504" grpId="0"/>
      <p:bldP spid="19505" grpId="0"/>
      <p:bldP spid="19506" grpId="0"/>
      <p:bldP spid="1950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内容占位符 20482"/>
          <p:cNvSpPr>
            <a:spLocks noGrp="1" noChangeArrowheads="1"/>
          </p:cNvSpPr>
          <p:nvPr>
            <p:ph idx="1"/>
          </p:nvPr>
        </p:nvSpPr>
        <p:spPr>
          <a:xfrm>
            <a:off x="430560" y="980728"/>
            <a:ext cx="8229600" cy="4822467"/>
          </a:xfrm>
        </p:spPr>
        <p:txBody>
          <a:bodyPr/>
          <a:lstStyle/>
          <a:p>
            <a:pPr>
              <a:buClr>
                <a:srgbClr val="FF0000"/>
              </a:buClr>
              <a:buFont typeface="Wingdings" panose="05000000000000000000" pitchFamily="2" charset="2"/>
              <a:buChar char="ü"/>
            </a:pPr>
            <a:r>
              <a:rPr lang="zh-CN" altLang="en-US" sz="2400" b="1" dirty="0">
                <a:solidFill>
                  <a:srgbClr val="0000FF"/>
                </a:solidFill>
              </a:rPr>
              <a:t>例</a:t>
            </a:r>
            <a:r>
              <a:rPr lang="en-US" altLang="zh-CN" sz="2400" b="1" dirty="0">
                <a:solidFill>
                  <a:srgbClr val="0000FF"/>
                </a:solidFill>
              </a:rPr>
              <a:t>: </a:t>
            </a:r>
            <a:r>
              <a:rPr lang="zh-CN" altLang="en-US" sz="2400" b="1" dirty="0">
                <a:solidFill>
                  <a:srgbClr val="0000FF"/>
                </a:solidFill>
              </a:rPr>
              <a:t>证明下面的函数</a:t>
            </a:r>
            <a:r>
              <a:rPr lang="en-US" altLang="zh-CN" sz="2400" b="1" dirty="0">
                <a:solidFill>
                  <a:srgbClr val="0000FF"/>
                </a:solidFill>
              </a:rPr>
              <a:t>Fact(</a:t>
            </a:r>
            <a:r>
              <a:rPr lang="en-US" altLang="zh-CN" sz="2400" b="1" i="1" dirty="0">
                <a:solidFill>
                  <a:srgbClr val="0000FF"/>
                </a:solidFill>
              </a:rPr>
              <a:t>n</a:t>
            </a:r>
            <a:r>
              <a:rPr lang="en-US" altLang="zh-CN" sz="2400" b="1" dirty="0">
                <a:solidFill>
                  <a:srgbClr val="0000FF"/>
                </a:solidFill>
              </a:rPr>
              <a:t>) </a:t>
            </a:r>
            <a:r>
              <a:rPr lang="zh-CN" altLang="en-US" sz="2400" b="1" dirty="0">
                <a:solidFill>
                  <a:srgbClr val="0000FF"/>
                </a:solidFill>
              </a:rPr>
              <a:t>所实现的是求阶乘的功能，即</a:t>
            </a:r>
            <a:endParaRPr lang="zh-CN" altLang="en-US" sz="2400" b="1" dirty="0">
              <a:solidFill>
                <a:srgbClr val="0000FF"/>
              </a:solidFill>
            </a:endParaRPr>
          </a:p>
          <a:p>
            <a:pPr>
              <a:lnSpc>
                <a:spcPct val="80000"/>
              </a:lnSpc>
              <a:buFont typeface="Wingdings" panose="05000000000000000000" pitchFamily="2" charset="2"/>
              <a:buNone/>
            </a:pPr>
            <a:r>
              <a:rPr lang="en-US" altLang="zh-CN" sz="2000" b="1" dirty="0"/>
              <a:t>                                                   1         </a:t>
            </a:r>
            <a:r>
              <a:rPr lang="zh-CN" altLang="en-US" sz="2000" b="1" dirty="0"/>
              <a:t>当</a:t>
            </a:r>
            <a:r>
              <a:rPr lang="en-US" altLang="zh-CN" sz="2000" b="1" i="1" dirty="0"/>
              <a:t>n</a:t>
            </a:r>
            <a:r>
              <a:rPr lang="en-US" altLang="zh-CN" sz="2000" b="1" dirty="0"/>
              <a:t>=0</a:t>
            </a:r>
            <a:r>
              <a:rPr lang="zh-CN" altLang="en-US" sz="2000" b="1" dirty="0"/>
              <a:t>时</a:t>
            </a:r>
            <a:endParaRPr lang="zh-CN" altLang="en-US" sz="2000" b="1" dirty="0"/>
          </a:p>
          <a:p>
            <a:pPr>
              <a:lnSpc>
                <a:spcPct val="80000"/>
              </a:lnSpc>
              <a:buFont typeface="Wingdings" panose="05000000000000000000" pitchFamily="2" charset="2"/>
              <a:buNone/>
            </a:pPr>
            <a:r>
              <a:rPr lang="en-US" altLang="zh-CN" sz="2000" b="1" dirty="0"/>
              <a:t>         Fact(</a:t>
            </a:r>
            <a:r>
              <a:rPr lang="en-US" altLang="zh-CN" sz="2000" b="1" i="1" dirty="0"/>
              <a:t>n</a:t>
            </a:r>
            <a:r>
              <a:rPr lang="en-US" altLang="zh-CN" sz="2000" b="1" dirty="0"/>
              <a:t>) </a:t>
            </a:r>
            <a:r>
              <a:rPr lang="zh-CN" altLang="en-US" sz="2000" b="1" dirty="0"/>
              <a:t>等价于 </a:t>
            </a:r>
            <a:r>
              <a:rPr lang="en-US" altLang="zh-CN" sz="2000" b="1" i="1" dirty="0"/>
              <a:t>n</a:t>
            </a:r>
            <a:r>
              <a:rPr lang="en-US" altLang="zh-CN" sz="2000" b="1" dirty="0"/>
              <a:t>! =</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i="1" dirty="0"/>
              <a:t>n</a:t>
            </a:r>
            <a:r>
              <a:rPr lang="en-US" altLang="zh-CN" sz="2000" b="1" dirty="0"/>
              <a:t>(</a:t>
            </a:r>
            <a:r>
              <a:rPr lang="en-US" altLang="zh-CN" sz="2000" b="1" i="1" dirty="0"/>
              <a:t>n</a:t>
            </a:r>
            <a:r>
              <a:rPr lang="en-US" altLang="zh-CN" sz="2000" b="1" dirty="0"/>
              <a:t>-1)!   </a:t>
            </a:r>
            <a:r>
              <a:rPr lang="zh-CN" altLang="en-US" sz="2000" b="1" dirty="0"/>
              <a:t>当</a:t>
            </a:r>
            <a:r>
              <a:rPr lang="en-US" altLang="zh-CN" sz="2000" b="1" i="1" dirty="0"/>
              <a:t>n</a:t>
            </a:r>
            <a:r>
              <a:rPr lang="en-US" altLang="zh-CN" sz="2000" b="1" dirty="0"/>
              <a:t>&gt;0</a:t>
            </a:r>
            <a:r>
              <a:rPr lang="zh-CN" altLang="en-US" sz="2000" b="1" dirty="0"/>
              <a:t>时</a:t>
            </a:r>
            <a:endParaRPr lang="zh-CN" altLang="en-US" sz="2000" b="1" dirty="0"/>
          </a:p>
          <a:p>
            <a:pPr>
              <a:lnSpc>
                <a:spcPct val="80000"/>
              </a:lnSpc>
              <a:buFont typeface="Wingdings" panose="05000000000000000000" pitchFamily="2" charset="2"/>
              <a:buNone/>
            </a:pPr>
            <a:r>
              <a:rPr lang="en-US" altLang="zh-CN" sz="2000" b="1" dirty="0"/>
              <a:t>         Fact(</a:t>
            </a:r>
            <a:r>
              <a:rPr lang="en-US" altLang="zh-CN" sz="2000" b="1" i="1" dirty="0"/>
              <a:t>n</a:t>
            </a:r>
            <a:r>
              <a:rPr lang="en-US" altLang="zh-CN" sz="2000" b="1" dirty="0"/>
              <a:t>)</a:t>
            </a:r>
            <a:r>
              <a:rPr lang="zh-CN" altLang="en-US" sz="2000" b="1" dirty="0"/>
              <a:t>函数如下：</a:t>
            </a:r>
            <a:endParaRPr lang="zh-CN" altLang="en-US" sz="2000" b="1" dirty="0"/>
          </a:p>
          <a:p>
            <a:pPr>
              <a:lnSpc>
                <a:spcPct val="80000"/>
              </a:lnSpc>
              <a:spcBef>
                <a:spcPts val="1200"/>
              </a:spcBef>
              <a:buFont typeface="Wingdings" panose="05000000000000000000" pitchFamily="2" charset="2"/>
              <a:buNone/>
            </a:pPr>
            <a:r>
              <a:rPr lang="fr-FR" altLang="en-US" sz="2000" b="1" dirty="0"/>
              <a:t>         </a:t>
            </a:r>
            <a:r>
              <a:rPr lang="fr-FR" altLang="en-US" sz="2000" b="1" dirty="0">
                <a:solidFill>
                  <a:srgbClr val="0000FF"/>
                </a:solidFill>
              </a:rPr>
              <a:t>int</a:t>
            </a:r>
            <a:r>
              <a:rPr lang="fr-FR" altLang="en-US" sz="2000" b="1" dirty="0"/>
              <a:t> Fact</a:t>
            </a:r>
            <a:r>
              <a:rPr lang="zh-CN" altLang="en-US" sz="2000" b="1" dirty="0"/>
              <a:t>（</a:t>
            </a:r>
            <a:r>
              <a:rPr lang="fr-FR" altLang="en-US" sz="2000" b="1" dirty="0">
                <a:solidFill>
                  <a:srgbClr val="0000FF"/>
                </a:solidFill>
              </a:rPr>
              <a:t>int</a:t>
            </a:r>
            <a:r>
              <a:rPr lang="fr-FR" altLang="en-US" sz="2000" b="1" dirty="0"/>
              <a:t> </a:t>
            </a:r>
            <a:r>
              <a:rPr lang="fr-FR" altLang="en-US" sz="2000" b="1" i="1" dirty="0"/>
              <a:t>n</a:t>
            </a:r>
            <a:r>
              <a:rPr lang="zh-CN" altLang="en-US" sz="2000" b="1" dirty="0"/>
              <a:t>）</a:t>
            </a:r>
            <a:r>
              <a:rPr lang="fr-FR" altLang="en-US" sz="2000" b="1" dirty="0"/>
              <a:t>{</a:t>
            </a:r>
            <a:endParaRPr lang="fr-FR" altLang="en-US" sz="2000" b="1" dirty="0"/>
          </a:p>
          <a:p>
            <a:pPr>
              <a:lnSpc>
                <a:spcPct val="80000"/>
              </a:lnSpc>
              <a:buFont typeface="Wingdings" panose="05000000000000000000" pitchFamily="2" charset="2"/>
              <a:buNone/>
            </a:pPr>
            <a:r>
              <a:rPr lang="fr-FR" altLang="en-US" sz="2000" b="1" dirty="0"/>
              <a:t>                 </a:t>
            </a:r>
            <a:r>
              <a:rPr lang="en-US" altLang="zh-CN" sz="2000" b="1" dirty="0">
                <a:solidFill>
                  <a:srgbClr val="0000FF"/>
                </a:solidFill>
              </a:rPr>
              <a:t>if</a:t>
            </a:r>
            <a:r>
              <a:rPr lang="en-US" altLang="zh-CN" sz="2000" b="1" dirty="0"/>
              <a:t> ( </a:t>
            </a:r>
            <a:r>
              <a:rPr lang="en-US" altLang="zh-CN" sz="2000" b="1" i="1" dirty="0"/>
              <a:t>n</a:t>
            </a:r>
            <a:r>
              <a:rPr lang="en-US" altLang="zh-CN" sz="2000" b="1" dirty="0"/>
              <a:t> == 0 )  </a:t>
            </a:r>
            <a:r>
              <a:rPr lang="en-US" altLang="zh-CN" sz="2000" b="1" dirty="0">
                <a:solidFill>
                  <a:srgbClr val="0000FF"/>
                </a:solidFill>
              </a:rPr>
              <a:t>return</a:t>
            </a:r>
            <a:r>
              <a:rPr lang="en-US" altLang="zh-CN" sz="2000" b="1" dirty="0"/>
              <a:t> 1;</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dirty="0">
                <a:solidFill>
                  <a:srgbClr val="0000FF"/>
                </a:solidFill>
              </a:rPr>
              <a:t>else</a:t>
            </a:r>
            <a:r>
              <a:rPr lang="en-US" altLang="zh-CN" sz="2000" b="1" dirty="0"/>
              <a:t> </a:t>
            </a:r>
            <a:r>
              <a:rPr lang="en-US" altLang="zh-CN" sz="2000" b="1" dirty="0">
                <a:solidFill>
                  <a:srgbClr val="0000FF"/>
                </a:solidFill>
              </a:rPr>
              <a:t>return</a:t>
            </a:r>
            <a:r>
              <a:rPr lang="en-US" altLang="zh-CN" sz="2000" b="1" dirty="0"/>
              <a:t>   </a:t>
            </a:r>
            <a:r>
              <a:rPr lang="en-US" altLang="zh-CN" sz="2000" b="1" i="1" dirty="0"/>
              <a:t>n </a:t>
            </a:r>
            <a:r>
              <a:rPr lang="en-US" altLang="zh-CN" sz="2000" b="1" dirty="0"/>
              <a:t>* Fact( </a:t>
            </a:r>
            <a:r>
              <a:rPr lang="en-US" altLang="zh-CN" sz="2000" b="1" i="1" dirty="0"/>
              <a:t>n</a:t>
            </a:r>
            <a:r>
              <a:rPr lang="en-US" altLang="zh-CN" sz="2000" b="1" dirty="0"/>
              <a:t> – 1 );</a:t>
            </a:r>
            <a:endParaRPr lang="en-US" altLang="zh-CN" sz="2000" b="1" dirty="0"/>
          </a:p>
          <a:p>
            <a:pPr>
              <a:lnSpc>
                <a:spcPct val="80000"/>
              </a:lnSpc>
              <a:buFont typeface="Wingdings" panose="05000000000000000000" pitchFamily="2" charset="2"/>
              <a:buNone/>
            </a:pPr>
            <a:r>
              <a:rPr lang="en-US" altLang="zh-CN" sz="2000" b="1" dirty="0"/>
              <a:t>             }</a:t>
            </a:r>
            <a:endParaRPr lang="en-US" altLang="zh-CN" sz="2000" b="1" dirty="0"/>
          </a:p>
          <a:p>
            <a:pPr>
              <a:spcBef>
                <a:spcPts val="600"/>
              </a:spcBef>
              <a:buFont typeface="Wingdings" panose="05000000000000000000" pitchFamily="2" charset="2"/>
              <a:buNone/>
            </a:pPr>
            <a:r>
              <a:rPr lang="zh-CN" altLang="en-US" sz="2000" b="1" dirty="0">
                <a:solidFill>
                  <a:srgbClr val="FF0000"/>
                </a:solidFill>
              </a:rPr>
              <a:t>       证明</a:t>
            </a:r>
            <a:r>
              <a:rPr lang="zh-CN" altLang="en-US" sz="2000" b="1" dirty="0"/>
              <a:t>：</a:t>
            </a:r>
            <a:endParaRPr lang="zh-CN" altLang="en-US" sz="2000" b="1" dirty="0"/>
          </a:p>
          <a:p>
            <a:pPr>
              <a:spcBef>
                <a:spcPts val="600"/>
              </a:spcBef>
              <a:buFont typeface="Wingdings" panose="05000000000000000000" pitchFamily="2" charset="2"/>
              <a:buNone/>
            </a:pPr>
            <a:r>
              <a:rPr lang="en-US" altLang="zh-CN" sz="2000" b="1" dirty="0"/>
              <a:t>     (1) </a:t>
            </a:r>
            <a:r>
              <a:rPr lang="zh-CN" altLang="en-US" sz="2000" b="1" dirty="0"/>
              <a:t>当</a:t>
            </a:r>
            <a:r>
              <a:rPr lang="en-US" altLang="zh-CN" sz="2000" b="1" i="1" dirty="0"/>
              <a:t>n</a:t>
            </a:r>
            <a:r>
              <a:rPr lang="en-US" altLang="zh-CN" sz="2000" b="1" dirty="0"/>
              <a:t>=0</a:t>
            </a:r>
            <a:r>
              <a:rPr lang="zh-CN" altLang="en-US" sz="2000" b="1" dirty="0"/>
              <a:t>时，调用函数得到值为</a:t>
            </a:r>
            <a:r>
              <a:rPr lang="en-US" altLang="zh-CN" sz="2000" b="1" dirty="0"/>
              <a:t>1</a:t>
            </a:r>
            <a:r>
              <a:rPr lang="zh-CN" altLang="en-US" sz="2000" b="1" dirty="0"/>
              <a:t>，符合函数定义，功能正确。</a:t>
            </a:r>
            <a:endParaRPr lang="zh-CN" altLang="en-US" sz="2000" b="1" dirty="0"/>
          </a:p>
          <a:p>
            <a:pPr>
              <a:spcBef>
                <a:spcPts val="600"/>
              </a:spcBef>
              <a:buFont typeface="Wingdings" panose="05000000000000000000" pitchFamily="2" charset="2"/>
              <a:buNone/>
            </a:pPr>
            <a:r>
              <a:rPr lang="zh-CN" altLang="en-US" sz="2000" b="1" dirty="0"/>
              <a:t>     </a:t>
            </a:r>
            <a:r>
              <a:rPr lang="en-US" altLang="zh-CN" sz="2000" b="1" dirty="0"/>
              <a:t>(2) </a:t>
            </a:r>
            <a:r>
              <a:rPr lang="zh-CN" altLang="en-US" sz="2000" b="1" dirty="0"/>
              <a:t>假设</a:t>
            </a:r>
            <a:r>
              <a:rPr lang="en-US" altLang="zh-CN" sz="2000" b="1" dirty="0"/>
              <a:t>0≤</a:t>
            </a:r>
            <a:r>
              <a:rPr lang="en-US" altLang="zh-CN" sz="2000" b="1" i="1" dirty="0"/>
              <a:t>n&lt;k</a:t>
            </a:r>
            <a:r>
              <a:rPr lang="zh-CN" altLang="en-US" sz="2000" b="1" dirty="0"/>
              <a:t>时，函数正确，即函数</a:t>
            </a:r>
            <a:r>
              <a:rPr lang="en-US" altLang="zh-CN" sz="2000" b="1" dirty="0"/>
              <a:t>fact(n)</a:t>
            </a:r>
            <a:r>
              <a:rPr lang="zh-CN" altLang="en-US" sz="2000" b="1" dirty="0"/>
              <a:t>的结果为</a:t>
            </a:r>
            <a:r>
              <a:rPr lang="en-US" altLang="zh-CN" sz="2000" b="1" i="1" dirty="0"/>
              <a:t>n</a:t>
            </a:r>
            <a:r>
              <a:rPr lang="en-US" altLang="zh-CN" sz="2000" b="1" dirty="0"/>
              <a:t>(</a:t>
            </a:r>
            <a:r>
              <a:rPr lang="en-US" altLang="zh-CN" sz="2000" b="1" i="1" dirty="0"/>
              <a:t>n</a:t>
            </a:r>
            <a:r>
              <a:rPr lang="en-US" altLang="zh-CN" sz="2000" b="1" dirty="0"/>
              <a:t>-1)!</a:t>
            </a:r>
            <a:r>
              <a:rPr lang="zh-CN" altLang="en-US" sz="2000" b="1" dirty="0"/>
              <a:t> ，</a:t>
            </a:r>
            <a:endParaRPr lang="zh-CN" altLang="en-US" sz="2000" b="1" dirty="0"/>
          </a:p>
          <a:p>
            <a:pPr>
              <a:spcBef>
                <a:spcPts val="600"/>
              </a:spcBef>
              <a:buFont typeface="Wingdings" panose="05000000000000000000" pitchFamily="2" charset="2"/>
              <a:buNone/>
            </a:pPr>
            <a:r>
              <a:rPr lang="zh-CN" altLang="en-US" sz="2000" b="1" dirty="0"/>
              <a:t>           则当</a:t>
            </a:r>
            <a:r>
              <a:rPr lang="en-US" altLang="zh-CN" sz="2000" b="1" i="1" dirty="0"/>
              <a:t>n</a:t>
            </a:r>
            <a:r>
              <a:rPr lang="en-US" altLang="zh-CN" sz="2000" b="1" dirty="0"/>
              <a:t> = </a:t>
            </a:r>
            <a:r>
              <a:rPr lang="en-US" altLang="zh-CN" sz="2000" b="1" i="1" dirty="0"/>
              <a:t>k</a:t>
            </a:r>
            <a:r>
              <a:rPr lang="en-US" altLang="zh-CN" sz="2000" b="1" dirty="0"/>
              <a:t> &gt; 0</a:t>
            </a:r>
            <a:r>
              <a:rPr lang="zh-CN" altLang="en-US" sz="2000" b="1" dirty="0"/>
              <a:t>时， 由程序可知</a:t>
            </a:r>
            <a:endParaRPr lang="zh-CN" altLang="en-US" sz="2000" b="1" dirty="0"/>
          </a:p>
          <a:p>
            <a:pPr>
              <a:spcBef>
                <a:spcPts val="600"/>
              </a:spcBef>
              <a:buFont typeface="Wingdings" panose="05000000000000000000" pitchFamily="2" charset="2"/>
              <a:buNone/>
            </a:pPr>
            <a:r>
              <a:rPr lang="en-US" altLang="zh-CN" sz="2000" b="1" dirty="0"/>
              <a:t>           Fact(</a:t>
            </a:r>
            <a:r>
              <a:rPr lang="en-US" altLang="zh-CN" sz="2000" b="1" i="1" dirty="0"/>
              <a:t>n</a:t>
            </a:r>
            <a:r>
              <a:rPr lang="en-US" altLang="zh-CN" sz="2000" b="1" dirty="0"/>
              <a:t>)=</a:t>
            </a:r>
            <a:r>
              <a:rPr lang="en-US" altLang="zh-CN" sz="2000" b="1" i="1" dirty="0"/>
              <a:t>n</a:t>
            </a:r>
            <a:r>
              <a:rPr lang="en-US" altLang="zh-CN" sz="2000" b="1" dirty="0"/>
              <a:t>*Fact(</a:t>
            </a:r>
            <a:r>
              <a:rPr lang="en-US" altLang="zh-CN" sz="2000" b="1" i="1" dirty="0"/>
              <a:t>n</a:t>
            </a:r>
            <a:r>
              <a:rPr lang="en-US" altLang="zh-CN" sz="2000" b="1" dirty="0"/>
              <a:t>-1)=</a:t>
            </a:r>
            <a:r>
              <a:rPr lang="en-US" altLang="zh-CN" sz="2000" b="1" i="1" dirty="0"/>
              <a:t>n</a:t>
            </a:r>
            <a:r>
              <a:rPr lang="en-US" altLang="zh-CN" sz="2000" b="1" dirty="0"/>
              <a:t>* (</a:t>
            </a:r>
            <a:r>
              <a:rPr lang="en-US" altLang="zh-CN" sz="2000" b="1" i="1" dirty="0"/>
              <a:t>n</a:t>
            </a:r>
            <a:r>
              <a:rPr lang="en-US" altLang="zh-CN" sz="2000" b="1" dirty="0"/>
              <a:t>-1) (</a:t>
            </a:r>
            <a:r>
              <a:rPr lang="en-US" altLang="zh-CN" sz="2000" b="1" i="1" dirty="0"/>
              <a:t>n</a:t>
            </a:r>
            <a:r>
              <a:rPr lang="en-US" altLang="zh-CN" sz="2000" b="1" dirty="0"/>
              <a:t>-2)! =  </a:t>
            </a:r>
            <a:r>
              <a:rPr lang="en-US" altLang="zh-CN" sz="2000" b="1" i="1" dirty="0"/>
              <a:t>n</a:t>
            </a:r>
            <a:r>
              <a:rPr lang="en-US" altLang="zh-CN" sz="2000" b="1" dirty="0"/>
              <a:t>* (</a:t>
            </a:r>
            <a:r>
              <a:rPr lang="en-US" altLang="zh-CN" sz="2000" b="1" i="1" dirty="0"/>
              <a:t>n</a:t>
            </a:r>
            <a:r>
              <a:rPr lang="en-US" altLang="zh-CN" sz="2000" b="1" dirty="0"/>
              <a:t>-1)!</a:t>
            </a:r>
            <a:r>
              <a:rPr lang="zh-CN" altLang="en-US" sz="2000" b="1" dirty="0"/>
              <a:t>，功能正确。</a:t>
            </a:r>
            <a:endParaRPr lang="zh-CN" altLang="en-US" sz="2000" b="1" dirty="0"/>
          </a:p>
          <a:p>
            <a:pPr>
              <a:spcBef>
                <a:spcPts val="600"/>
              </a:spcBef>
              <a:buFont typeface="Wingdings" panose="05000000000000000000" pitchFamily="2" charset="2"/>
              <a:buNone/>
            </a:pPr>
            <a:r>
              <a:rPr lang="zh-CN" altLang="en-US" sz="2000" b="1" dirty="0"/>
              <a:t>    综上所述，程序功能正确。</a:t>
            </a:r>
            <a:endParaRPr lang="zh-CN" altLang="en-US" sz="2000" b="1" dirty="0"/>
          </a:p>
        </p:txBody>
      </p:sp>
      <p:sp>
        <p:nvSpPr>
          <p:cNvPr id="20484" name="左大括号 20483"/>
          <p:cNvSpPr/>
          <p:nvPr/>
        </p:nvSpPr>
        <p:spPr bwMode="auto">
          <a:xfrm>
            <a:off x="3276600" y="1557338"/>
            <a:ext cx="215900" cy="696912"/>
          </a:xfrm>
          <a:prstGeom prst="leftBrace">
            <a:avLst>
              <a:gd name="adj1" fmla="val 26810"/>
              <a:gd name="adj2" fmla="val 49866"/>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grpSp>
        <p:nvGrpSpPr>
          <p:cNvPr id="12" name="组合 109"/>
          <p:cNvGrpSpPr/>
          <p:nvPr/>
        </p:nvGrpSpPr>
        <p:grpSpPr>
          <a:xfrm>
            <a:off x="574576" y="121027"/>
            <a:ext cx="6745168" cy="672461"/>
            <a:chOff x="956926" y="4649923"/>
            <a:chExt cx="6797663" cy="601586"/>
          </a:xfrm>
        </p:grpSpPr>
        <p:sp>
          <p:nvSpPr>
            <p:cNvPr id="13" name="Freeform 5"/>
            <p:cNvSpPr/>
            <p:nvPr/>
          </p:nvSpPr>
          <p:spPr bwMode="auto">
            <a:xfrm>
              <a:off x="956926" y="4649923"/>
              <a:ext cx="804761" cy="60158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14" name="图片 13"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5" name="TextBox 6"/>
            <p:cNvSpPr txBox="1">
              <a:spLocks noChangeArrowheads="1"/>
            </p:cNvSpPr>
            <p:nvPr/>
          </p:nvSpPr>
          <p:spPr bwMode="auto">
            <a:xfrm>
              <a:off x="1211903" y="4649923"/>
              <a:ext cx="6542686" cy="578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7.5 </a:t>
              </a:r>
              <a:r>
                <a:rPr lang="zh-CN" altLang="en-US" sz="3600" b="1" dirty="0">
                  <a:latin typeface="Times New Roman" panose="02020603050405020304" pitchFamily="18" charset="0"/>
                  <a:ea typeface="黑体" panose="02010609060101010101" pitchFamily="49" charset="-122"/>
                </a:rPr>
                <a:t>递归程序的正确性证明</a:t>
              </a:r>
              <a:endParaRPr lang="zh-CN" altLang="en-US" sz="3600" b="1" dirty="0">
                <a:latin typeface="黑体" panose="02010609060101010101" pitchFamily="49" charset="-122"/>
                <a:ea typeface="黑体" panose="02010609060101010101" pitchFamily="49" charset="-122"/>
              </a:endParaRPr>
            </a:p>
          </p:txBody>
        </p: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blinds(horizontal)">
                                      <p:cBhvr>
                                        <p:cTn id="7" dur="500"/>
                                        <p:tgtEl>
                                          <p:spTgt spid="204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483">
                                            <p:txEl>
                                              <p:pRg st="1" end="1"/>
                                            </p:txEl>
                                          </p:spTgt>
                                        </p:tgtEl>
                                        <p:attrNameLst>
                                          <p:attrName>style.visibility</p:attrName>
                                        </p:attrNameLst>
                                      </p:cBhvr>
                                      <p:to>
                                        <p:strVal val="visible"/>
                                      </p:to>
                                    </p:set>
                                    <p:animEffect transition="in" filter="blinds(horizontal)">
                                      <p:cBhvr>
                                        <p:cTn id="12" dur="500"/>
                                        <p:tgtEl>
                                          <p:spTgt spid="204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0484"/>
                                        </p:tgtEl>
                                        <p:attrNameLst>
                                          <p:attrName>style.visibility</p:attrName>
                                        </p:attrNameLst>
                                      </p:cBhvr>
                                      <p:to>
                                        <p:strVal val="visible"/>
                                      </p:to>
                                    </p:set>
                                    <p:animEffect transition="in" filter="blinds(horizontal)">
                                      <p:cBhvr>
                                        <p:cTn id="17" dur="500"/>
                                        <p:tgtEl>
                                          <p:spTgt spid="2048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483">
                                            <p:txEl>
                                              <p:pRg st="2" end="2"/>
                                            </p:txEl>
                                          </p:spTgt>
                                        </p:tgtEl>
                                        <p:attrNameLst>
                                          <p:attrName>style.visibility</p:attrName>
                                        </p:attrNameLst>
                                      </p:cBhvr>
                                      <p:to>
                                        <p:strVal val="visible"/>
                                      </p:to>
                                    </p:set>
                                    <p:animEffect transition="in" filter="blinds(horizontal)">
                                      <p:cBhvr>
                                        <p:cTn id="22" dur="500"/>
                                        <p:tgtEl>
                                          <p:spTgt spid="2048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0483">
                                            <p:txEl>
                                              <p:pRg st="3" end="3"/>
                                            </p:txEl>
                                          </p:spTgt>
                                        </p:tgtEl>
                                        <p:attrNameLst>
                                          <p:attrName>style.visibility</p:attrName>
                                        </p:attrNameLst>
                                      </p:cBhvr>
                                      <p:to>
                                        <p:strVal val="visible"/>
                                      </p:to>
                                    </p:set>
                                    <p:animEffect transition="in" filter="blinds(horizontal)">
                                      <p:cBhvr>
                                        <p:cTn id="27" dur="500"/>
                                        <p:tgtEl>
                                          <p:spTgt spid="2048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0483">
                                            <p:txEl>
                                              <p:pRg st="4" end="4"/>
                                            </p:txEl>
                                          </p:spTgt>
                                        </p:tgtEl>
                                        <p:attrNameLst>
                                          <p:attrName>style.visibility</p:attrName>
                                        </p:attrNameLst>
                                      </p:cBhvr>
                                      <p:to>
                                        <p:strVal val="visible"/>
                                      </p:to>
                                    </p:set>
                                    <p:animEffect transition="in" filter="blinds(horizontal)">
                                      <p:cBhvr>
                                        <p:cTn id="32" dur="500"/>
                                        <p:tgtEl>
                                          <p:spTgt spid="2048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0483">
                                            <p:txEl>
                                              <p:pRg st="5" end="5"/>
                                            </p:txEl>
                                          </p:spTgt>
                                        </p:tgtEl>
                                        <p:attrNameLst>
                                          <p:attrName>style.visibility</p:attrName>
                                        </p:attrNameLst>
                                      </p:cBhvr>
                                      <p:to>
                                        <p:strVal val="visible"/>
                                      </p:to>
                                    </p:set>
                                    <p:animEffect transition="in" filter="blinds(horizontal)">
                                      <p:cBhvr>
                                        <p:cTn id="37" dur="500"/>
                                        <p:tgtEl>
                                          <p:spTgt spid="2048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0483">
                                            <p:txEl>
                                              <p:pRg st="6" end="6"/>
                                            </p:txEl>
                                          </p:spTgt>
                                        </p:tgtEl>
                                        <p:attrNameLst>
                                          <p:attrName>style.visibility</p:attrName>
                                        </p:attrNameLst>
                                      </p:cBhvr>
                                      <p:to>
                                        <p:strVal val="visible"/>
                                      </p:to>
                                    </p:set>
                                    <p:animEffect transition="in" filter="blinds(horizontal)">
                                      <p:cBhvr>
                                        <p:cTn id="42" dur="500"/>
                                        <p:tgtEl>
                                          <p:spTgt spid="2048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0483">
                                            <p:txEl>
                                              <p:pRg st="7" end="7"/>
                                            </p:txEl>
                                          </p:spTgt>
                                        </p:tgtEl>
                                        <p:attrNameLst>
                                          <p:attrName>style.visibility</p:attrName>
                                        </p:attrNameLst>
                                      </p:cBhvr>
                                      <p:to>
                                        <p:strVal val="visible"/>
                                      </p:to>
                                    </p:set>
                                    <p:animEffect transition="in" filter="blinds(horizontal)">
                                      <p:cBhvr>
                                        <p:cTn id="47" dur="500"/>
                                        <p:tgtEl>
                                          <p:spTgt spid="2048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0483">
                                            <p:txEl>
                                              <p:pRg st="8" end="8"/>
                                            </p:txEl>
                                          </p:spTgt>
                                        </p:tgtEl>
                                        <p:attrNameLst>
                                          <p:attrName>style.visibility</p:attrName>
                                        </p:attrNameLst>
                                      </p:cBhvr>
                                      <p:to>
                                        <p:strVal val="visible"/>
                                      </p:to>
                                    </p:set>
                                    <p:animEffect transition="in" filter="blinds(horizontal)">
                                      <p:cBhvr>
                                        <p:cTn id="52" dur="500"/>
                                        <p:tgtEl>
                                          <p:spTgt spid="2048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0483">
                                            <p:txEl>
                                              <p:pRg st="9" end="9"/>
                                            </p:txEl>
                                          </p:spTgt>
                                        </p:tgtEl>
                                        <p:attrNameLst>
                                          <p:attrName>style.visibility</p:attrName>
                                        </p:attrNameLst>
                                      </p:cBhvr>
                                      <p:to>
                                        <p:strVal val="visible"/>
                                      </p:to>
                                    </p:set>
                                    <p:animEffect transition="in" filter="blinds(horizontal)">
                                      <p:cBhvr>
                                        <p:cTn id="57" dur="500"/>
                                        <p:tgtEl>
                                          <p:spTgt spid="20483">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0483">
                                            <p:txEl>
                                              <p:pRg st="10" end="10"/>
                                            </p:txEl>
                                          </p:spTgt>
                                        </p:tgtEl>
                                        <p:attrNameLst>
                                          <p:attrName>style.visibility</p:attrName>
                                        </p:attrNameLst>
                                      </p:cBhvr>
                                      <p:to>
                                        <p:strVal val="visible"/>
                                      </p:to>
                                    </p:set>
                                    <p:animEffect transition="in" filter="blinds(horizontal)">
                                      <p:cBhvr>
                                        <p:cTn id="62" dur="500"/>
                                        <p:tgtEl>
                                          <p:spTgt spid="20483">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0483">
                                            <p:txEl>
                                              <p:pRg st="11" end="11"/>
                                            </p:txEl>
                                          </p:spTgt>
                                        </p:tgtEl>
                                        <p:attrNameLst>
                                          <p:attrName>style.visibility</p:attrName>
                                        </p:attrNameLst>
                                      </p:cBhvr>
                                      <p:to>
                                        <p:strVal val="visible"/>
                                      </p:to>
                                    </p:set>
                                    <p:animEffect transition="in" filter="blinds(horizontal)">
                                      <p:cBhvr>
                                        <p:cTn id="67" dur="500"/>
                                        <p:tgtEl>
                                          <p:spTgt spid="20483">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0483">
                                            <p:txEl>
                                              <p:pRg st="12" end="12"/>
                                            </p:txEl>
                                          </p:spTgt>
                                        </p:tgtEl>
                                        <p:attrNameLst>
                                          <p:attrName>style.visibility</p:attrName>
                                        </p:attrNameLst>
                                      </p:cBhvr>
                                      <p:to>
                                        <p:strVal val="visible"/>
                                      </p:to>
                                    </p:set>
                                    <p:animEffect transition="in" filter="blinds(horizontal)">
                                      <p:cBhvr>
                                        <p:cTn id="72" dur="500"/>
                                        <p:tgtEl>
                                          <p:spTgt spid="20483">
                                            <p:txEl>
                                              <p:pRg st="12" end="1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0483">
                                            <p:txEl>
                                              <p:pRg st="13" end="13"/>
                                            </p:txEl>
                                          </p:spTgt>
                                        </p:tgtEl>
                                        <p:attrNameLst>
                                          <p:attrName>style.visibility</p:attrName>
                                        </p:attrNameLst>
                                      </p:cBhvr>
                                      <p:to>
                                        <p:strVal val="visible"/>
                                      </p:to>
                                    </p:set>
                                    <p:animEffect transition="in" filter="blinds(horizontal)">
                                      <p:cBhvr>
                                        <p:cTn id="77" dur="500"/>
                                        <p:tgtEl>
                                          <p:spTgt spid="20483">
                                            <p:txEl>
                                              <p:pRg st="13" end="13"/>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0483">
                                            <p:txEl>
                                              <p:pRg st="14" end="14"/>
                                            </p:txEl>
                                          </p:spTgt>
                                        </p:tgtEl>
                                        <p:attrNameLst>
                                          <p:attrName>style.visibility</p:attrName>
                                        </p:attrNameLst>
                                      </p:cBhvr>
                                      <p:to>
                                        <p:strVal val="visible"/>
                                      </p:to>
                                    </p:set>
                                    <p:animEffect transition="in" filter="blinds(horizontal)">
                                      <p:cBhvr>
                                        <p:cTn id="82" dur="500"/>
                                        <p:tgtEl>
                                          <p:spTgt spid="2048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内容占位符 21506"/>
          <p:cNvSpPr>
            <a:spLocks noGrp="1" noChangeArrowheads="1"/>
          </p:cNvSpPr>
          <p:nvPr>
            <p:ph idx="1"/>
          </p:nvPr>
        </p:nvSpPr>
        <p:spPr>
          <a:xfrm>
            <a:off x="395536" y="958628"/>
            <a:ext cx="8229600" cy="5505519"/>
          </a:xfrm>
        </p:spPr>
        <p:txBody>
          <a:bodyPr/>
          <a:lstStyle/>
          <a:p>
            <a:pPr>
              <a:lnSpc>
                <a:spcPct val="90000"/>
              </a:lnSpc>
              <a:buClr>
                <a:srgbClr val="FF0000"/>
              </a:buClr>
              <a:buFont typeface="Wingdings" panose="05000000000000000000" pitchFamily="2" charset="2"/>
              <a:buChar char="ü"/>
            </a:pPr>
            <a:r>
              <a:rPr lang="zh-CN" altLang="en-US" sz="2000" b="1" dirty="0">
                <a:solidFill>
                  <a:srgbClr val="FF0000"/>
                </a:solidFill>
              </a:rPr>
              <a:t>例</a:t>
            </a:r>
            <a:r>
              <a:rPr lang="zh-CN" altLang="en-US" sz="2000" b="1" dirty="0"/>
              <a:t>：对右面的函数，证明：</a:t>
            </a:r>
            <a:endParaRPr lang="zh-CN" altLang="en-US" sz="2000" b="1" dirty="0"/>
          </a:p>
          <a:p>
            <a:pPr>
              <a:lnSpc>
                <a:spcPct val="90000"/>
              </a:lnSpc>
              <a:buFont typeface="Wingdings" panose="05000000000000000000" pitchFamily="2" charset="2"/>
              <a:buNone/>
            </a:pPr>
            <a:r>
              <a:rPr lang="zh-CN" altLang="en-US" sz="2000" b="1" dirty="0"/>
              <a:t>　</a:t>
            </a:r>
            <a:r>
              <a:rPr lang="en-US" altLang="zh-CN" sz="2000" b="1" dirty="0"/>
              <a:t> (1) </a:t>
            </a:r>
            <a:r>
              <a:rPr lang="zh-CN" altLang="en-US" sz="2000" b="1" dirty="0"/>
              <a:t>调用</a:t>
            </a:r>
            <a:r>
              <a:rPr lang="en-US" altLang="zh-CN" sz="2000" b="1" dirty="0"/>
              <a:t>P(</a:t>
            </a:r>
            <a:r>
              <a:rPr lang="en-US" altLang="zh-CN" sz="2000" b="1" i="1" dirty="0"/>
              <a:t>n</a:t>
            </a:r>
            <a:r>
              <a:rPr lang="en-US" altLang="zh-CN" sz="2000" b="1" dirty="0"/>
              <a:t>)</a:t>
            </a:r>
            <a:r>
              <a:rPr lang="zh-CN" altLang="en-US" sz="2000" b="1" dirty="0"/>
              <a:t>所产生的输出项数为</a:t>
            </a:r>
            <a:r>
              <a:rPr lang="en-US" altLang="zh-CN" sz="2000" b="1" dirty="0"/>
              <a:t>2</a:t>
            </a:r>
            <a:r>
              <a:rPr lang="en-US" altLang="zh-CN" sz="2000" b="1" i="1" baseline="30000" dirty="0"/>
              <a:t>n</a:t>
            </a:r>
            <a:r>
              <a:rPr lang="en-US" altLang="zh-CN" sz="2000" b="1" dirty="0"/>
              <a:t>-1</a:t>
            </a:r>
            <a:r>
              <a:rPr lang="zh-CN" altLang="en-US" sz="2000" b="1" dirty="0"/>
              <a:t>。</a:t>
            </a:r>
            <a:r>
              <a:rPr lang="en-US" altLang="zh-CN" sz="2000" b="1" dirty="0"/>
              <a:t>(</a:t>
            </a:r>
            <a:r>
              <a:rPr lang="en-US" altLang="zh-CN" sz="2000" b="1" i="1" dirty="0"/>
              <a:t>n</a:t>
            </a:r>
            <a:r>
              <a:rPr lang="en-US" altLang="zh-CN" sz="2000" b="1" dirty="0"/>
              <a:t>≥0)</a:t>
            </a:r>
            <a:endParaRPr lang="en-US" altLang="zh-CN" sz="2000" b="1" dirty="0"/>
          </a:p>
          <a:p>
            <a:pPr>
              <a:lnSpc>
                <a:spcPct val="90000"/>
              </a:lnSpc>
              <a:buFont typeface="Wingdings" panose="05000000000000000000" pitchFamily="2" charset="2"/>
              <a:buNone/>
            </a:pPr>
            <a:r>
              <a:rPr lang="zh-CN" altLang="en-US" sz="2000" b="1" dirty="0"/>
              <a:t>　</a:t>
            </a:r>
            <a:r>
              <a:rPr lang="en-US" altLang="zh-CN" sz="2000" b="1" dirty="0"/>
              <a:t> (2) </a:t>
            </a:r>
            <a:r>
              <a:rPr lang="zh-CN" altLang="en-US" sz="2000" b="1" dirty="0"/>
              <a:t>调用</a:t>
            </a:r>
            <a:r>
              <a:rPr lang="en-US" altLang="zh-CN" sz="2000" b="1" dirty="0"/>
              <a:t>P(</a:t>
            </a:r>
            <a:r>
              <a:rPr lang="en-US" altLang="zh-CN" sz="2000" b="1" i="1" dirty="0"/>
              <a:t>n</a:t>
            </a:r>
            <a:r>
              <a:rPr lang="en-US" altLang="zh-CN" sz="2000" b="1" dirty="0"/>
              <a:t>)</a:t>
            </a:r>
            <a:r>
              <a:rPr lang="zh-CN" altLang="en-US" sz="2000" b="1" dirty="0"/>
              <a:t>所产生的输出项中的奇数项为</a:t>
            </a:r>
            <a:r>
              <a:rPr lang="en-US" altLang="zh-CN" sz="2000" b="1" dirty="0"/>
              <a:t>1</a:t>
            </a:r>
            <a:r>
              <a:rPr lang="zh-CN" altLang="en-US" sz="2000" b="1" dirty="0"/>
              <a:t>。</a:t>
            </a:r>
            <a:r>
              <a:rPr lang="en-US" altLang="zh-CN" sz="2000" b="1" dirty="0"/>
              <a:t>(</a:t>
            </a:r>
            <a:r>
              <a:rPr lang="en-US" altLang="zh-CN" sz="2000" b="1" i="1" dirty="0"/>
              <a:t>n</a:t>
            </a:r>
            <a:r>
              <a:rPr lang="en-US" altLang="zh-CN" sz="2000" b="1" dirty="0"/>
              <a:t>≥0)</a:t>
            </a:r>
            <a:endParaRPr lang="zh-CN" altLang="en-US" sz="2000" b="1" dirty="0"/>
          </a:p>
          <a:p>
            <a:pPr>
              <a:lnSpc>
                <a:spcPct val="90000"/>
              </a:lnSpc>
              <a:buFont typeface="Wingdings" panose="05000000000000000000" pitchFamily="2" charset="2"/>
              <a:buNone/>
            </a:pPr>
            <a:endParaRPr lang="en-US" altLang="zh-CN" sz="2000" b="1" dirty="0"/>
          </a:p>
          <a:p>
            <a:pPr>
              <a:buFont typeface="Wingdings" panose="05000000000000000000" pitchFamily="2" charset="2"/>
              <a:buNone/>
            </a:pPr>
            <a:r>
              <a:rPr lang="zh-CN" altLang="en-US" sz="2000" b="1" dirty="0"/>
              <a:t>      证明</a:t>
            </a:r>
            <a:r>
              <a:rPr lang="en-US" altLang="zh-CN" sz="2000" b="1" dirty="0"/>
              <a:t>(</a:t>
            </a:r>
            <a:r>
              <a:rPr lang="zh-CN" altLang="en-US" sz="2000" b="1" dirty="0"/>
              <a:t>１</a:t>
            </a:r>
            <a:r>
              <a:rPr lang="en-US" altLang="zh-CN" sz="2000" b="1" dirty="0"/>
              <a:t>)</a:t>
            </a:r>
            <a:r>
              <a:rPr lang="zh-CN" altLang="en-US" sz="2000" b="1" dirty="0"/>
              <a:t>：</a:t>
            </a:r>
            <a:endParaRPr lang="en-US" altLang="zh-CN" sz="2000" b="1" dirty="0"/>
          </a:p>
          <a:p>
            <a:pPr>
              <a:buFont typeface="Wingdings" panose="05000000000000000000" pitchFamily="2" charset="2"/>
              <a:buNone/>
            </a:pPr>
            <a:r>
              <a:rPr lang="zh-CN" altLang="en-US" sz="2000" b="1" dirty="0"/>
              <a:t>       </a:t>
            </a:r>
            <a:r>
              <a:rPr lang="en-US" altLang="zh-CN" sz="2000" b="1" dirty="0"/>
              <a:t>(1) </a:t>
            </a:r>
            <a:r>
              <a:rPr lang="zh-CN" altLang="en-US" sz="2000" b="1" dirty="0"/>
              <a:t>当</a:t>
            </a:r>
            <a:r>
              <a:rPr lang="en-US" altLang="zh-CN" sz="2000" b="1" i="1" dirty="0"/>
              <a:t>n</a:t>
            </a:r>
            <a:r>
              <a:rPr lang="en-US" altLang="zh-CN" sz="2000" b="1" dirty="0"/>
              <a:t>=0</a:t>
            </a:r>
            <a:r>
              <a:rPr lang="zh-CN" altLang="en-US" sz="2000" b="1" dirty="0"/>
              <a:t>时</a:t>
            </a:r>
            <a:r>
              <a:rPr lang="en-US" altLang="zh-CN" sz="2000" b="1" dirty="0"/>
              <a:t>, </a:t>
            </a:r>
            <a:r>
              <a:rPr lang="zh-CN" altLang="en-US" sz="2000" b="1" dirty="0"/>
              <a:t>由程序描述可知</a:t>
            </a:r>
            <a:r>
              <a:rPr lang="en-US" altLang="zh-CN" sz="2000" b="1" dirty="0"/>
              <a:t>, </a:t>
            </a:r>
            <a:r>
              <a:rPr lang="zh-CN" altLang="en-US" sz="2000" b="1" dirty="0"/>
              <a:t>不产生输出</a:t>
            </a:r>
            <a:r>
              <a:rPr lang="en-US" altLang="zh-CN" sz="2000" b="1" dirty="0"/>
              <a:t>, </a:t>
            </a:r>
            <a:r>
              <a:rPr lang="zh-CN" altLang="en-US" sz="2000" b="1" dirty="0"/>
              <a:t>即项数为</a:t>
            </a:r>
            <a:r>
              <a:rPr lang="en-US" altLang="zh-CN" sz="2000" b="1" dirty="0"/>
              <a:t>0</a:t>
            </a:r>
            <a:r>
              <a:rPr lang="zh-CN" altLang="en-US" sz="2000" b="1" dirty="0"/>
              <a:t>，符合命题。</a:t>
            </a:r>
            <a:endParaRPr lang="zh-CN" altLang="en-US" sz="2000" b="1" dirty="0"/>
          </a:p>
          <a:p>
            <a:pPr>
              <a:buFont typeface="Wingdings" panose="05000000000000000000" pitchFamily="2" charset="2"/>
              <a:buNone/>
            </a:pPr>
            <a:r>
              <a:rPr lang="zh-CN" altLang="en-US" sz="2000" b="1" dirty="0"/>
              <a:t>       </a:t>
            </a:r>
            <a:r>
              <a:rPr lang="en-US" altLang="zh-CN" sz="2000" b="1" dirty="0"/>
              <a:t>(2) </a:t>
            </a:r>
            <a:r>
              <a:rPr lang="zh-CN" altLang="en-US" sz="2000" b="1" dirty="0"/>
              <a:t>设</a:t>
            </a:r>
            <a:r>
              <a:rPr lang="en-US" altLang="zh-CN" sz="2000" b="1" dirty="0"/>
              <a:t>0≤</a:t>
            </a:r>
            <a:r>
              <a:rPr lang="en-US" altLang="zh-CN" sz="2000" b="1" i="1" dirty="0"/>
              <a:t>n</a:t>
            </a:r>
            <a:r>
              <a:rPr lang="en-US" altLang="zh-CN" sz="1800" b="1" dirty="0"/>
              <a:t>&lt;</a:t>
            </a:r>
            <a:r>
              <a:rPr lang="en-US" altLang="zh-CN" sz="2000" b="1" i="1" dirty="0"/>
              <a:t>k</a:t>
            </a:r>
            <a:r>
              <a:rPr lang="zh-CN" altLang="en-US" sz="2000" b="1" dirty="0"/>
              <a:t>时，命题正确，即调用</a:t>
            </a:r>
            <a:r>
              <a:rPr lang="en-US" altLang="zh-CN" sz="2000" b="1" dirty="0"/>
              <a:t>P(</a:t>
            </a:r>
            <a:r>
              <a:rPr lang="en-US" altLang="zh-CN" sz="2000" b="1" i="1" dirty="0"/>
              <a:t>n</a:t>
            </a:r>
            <a:r>
              <a:rPr lang="en-US" altLang="zh-CN" sz="2000" b="1" dirty="0"/>
              <a:t>)</a:t>
            </a:r>
            <a:r>
              <a:rPr lang="zh-CN" altLang="en-US" sz="2000" b="1" dirty="0"/>
              <a:t>产生</a:t>
            </a:r>
            <a:r>
              <a:rPr lang="en-US" altLang="zh-CN" sz="2000" b="1" dirty="0"/>
              <a:t>2</a:t>
            </a:r>
            <a:r>
              <a:rPr lang="en-US" altLang="zh-CN" sz="2000" b="1" i="1" baseline="30000" dirty="0"/>
              <a:t>n</a:t>
            </a:r>
            <a:r>
              <a:rPr lang="en-US" altLang="zh-CN" sz="2000" b="1" dirty="0"/>
              <a:t>-1</a:t>
            </a:r>
            <a:r>
              <a:rPr lang="zh-CN" altLang="en-US" sz="2000" b="1" dirty="0"/>
              <a:t>项输出，</a:t>
            </a:r>
            <a:endParaRPr lang="zh-CN" altLang="en-US" sz="2000" b="1" dirty="0"/>
          </a:p>
          <a:p>
            <a:pPr>
              <a:buFont typeface="Wingdings" panose="05000000000000000000" pitchFamily="2" charset="2"/>
              <a:buNone/>
            </a:pPr>
            <a:r>
              <a:rPr lang="zh-CN" altLang="en-US" sz="2000" b="1" dirty="0"/>
              <a:t>            则当</a:t>
            </a:r>
            <a:r>
              <a:rPr lang="en-US" altLang="zh-CN" sz="2000" b="1" i="1" dirty="0"/>
              <a:t>n</a:t>
            </a:r>
            <a:r>
              <a:rPr lang="zh-CN" altLang="en-US" sz="2000" b="1" dirty="0"/>
              <a:t>＝</a:t>
            </a:r>
            <a:r>
              <a:rPr lang="en-US" altLang="zh-CN" sz="2000" b="1" i="1" dirty="0"/>
              <a:t>k</a:t>
            </a:r>
            <a:r>
              <a:rPr lang="zh-CN" altLang="en-US" sz="2000" b="1" dirty="0"/>
              <a:t>时， 由程序描述可知，要依次执行如下操作：</a:t>
            </a:r>
            <a:endParaRPr lang="zh-CN" altLang="en-US" sz="2000" b="1" dirty="0"/>
          </a:p>
          <a:p>
            <a:pPr>
              <a:buFont typeface="Wingdings" panose="05000000000000000000" pitchFamily="2" charset="2"/>
              <a:buNone/>
            </a:pPr>
            <a:r>
              <a:rPr lang="en-US" altLang="zh-CN" sz="2000" b="1" dirty="0"/>
              <a:t>                             P(</a:t>
            </a:r>
            <a:r>
              <a:rPr lang="en-US" altLang="zh-CN" sz="2000" b="1" i="1" dirty="0"/>
              <a:t>n</a:t>
            </a:r>
            <a:r>
              <a:rPr lang="en-US" altLang="zh-CN" sz="2000" b="1" dirty="0"/>
              <a:t>-1);     </a:t>
            </a:r>
            <a:r>
              <a:rPr lang="en-US" altLang="zh-CN" sz="2000" b="1" dirty="0" err="1"/>
              <a:t>cout</a:t>
            </a:r>
            <a:r>
              <a:rPr lang="en-US" altLang="zh-CN" sz="2000" b="1" dirty="0"/>
              <a:t>&lt;&lt;</a:t>
            </a:r>
            <a:r>
              <a:rPr lang="en-US" altLang="zh-CN" sz="2000" b="1" i="1" dirty="0"/>
              <a:t>n</a:t>
            </a:r>
            <a:r>
              <a:rPr lang="en-US" altLang="zh-CN" sz="2000" b="1" dirty="0"/>
              <a:t>;   P(</a:t>
            </a:r>
            <a:r>
              <a:rPr lang="en-US" altLang="zh-CN" sz="2000" b="1" i="1" dirty="0"/>
              <a:t>n</a:t>
            </a:r>
            <a:r>
              <a:rPr lang="en-US" altLang="zh-CN" sz="2000" b="1" dirty="0"/>
              <a:t>-1);</a:t>
            </a:r>
            <a:endParaRPr lang="en-US" altLang="zh-CN" sz="2000" b="1" dirty="0"/>
          </a:p>
          <a:p>
            <a:pPr>
              <a:buFont typeface="Wingdings" panose="05000000000000000000" pitchFamily="2" charset="2"/>
              <a:buNone/>
            </a:pPr>
            <a:r>
              <a:rPr lang="en-US" altLang="zh-CN" sz="2000" b="1" dirty="0"/>
              <a:t>             </a:t>
            </a:r>
            <a:r>
              <a:rPr lang="zh-CN" altLang="en-US" sz="2000" b="1" dirty="0"/>
              <a:t>其中第二个操作产生一个输出，由假设知第一个和第三个操作分</a:t>
            </a:r>
            <a:endParaRPr lang="zh-CN" altLang="en-US" sz="2000" b="1" dirty="0"/>
          </a:p>
          <a:p>
            <a:pPr>
              <a:buFont typeface="Wingdings" panose="05000000000000000000" pitchFamily="2" charset="2"/>
              <a:buNone/>
            </a:pPr>
            <a:r>
              <a:rPr lang="zh-CN" altLang="en-US" sz="2000" b="1" dirty="0"/>
              <a:t>             别产生</a:t>
            </a:r>
            <a:r>
              <a:rPr lang="en-US" altLang="zh-CN" sz="2000" b="1" dirty="0"/>
              <a:t>2</a:t>
            </a:r>
            <a:r>
              <a:rPr lang="en-US" altLang="zh-CN" sz="2000" b="1" i="1" baseline="30000" dirty="0"/>
              <a:t>n</a:t>
            </a:r>
            <a:r>
              <a:rPr lang="en-US" altLang="zh-CN" sz="2000" b="1" baseline="30000" dirty="0"/>
              <a:t>-1</a:t>
            </a:r>
            <a:r>
              <a:rPr lang="en-US" altLang="zh-CN" sz="2000" b="1" dirty="0"/>
              <a:t>-1 </a:t>
            </a:r>
            <a:r>
              <a:rPr lang="zh-CN" altLang="en-US" sz="2000" b="1" dirty="0"/>
              <a:t>项输出</a:t>
            </a:r>
            <a:r>
              <a:rPr lang="en-US" altLang="zh-CN" sz="2000" b="1" dirty="0"/>
              <a:t>, </a:t>
            </a:r>
            <a:r>
              <a:rPr lang="zh-CN" altLang="en-US" sz="2000" b="1" dirty="0"/>
              <a:t>因此总输出项数为 </a:t>
            </a:r>
            <a:r>
              <a:rPr lang="en-US" altLang="zh-CN" sz="2000" b="1" dirty="0"/>
              <a:t>2(2</a:t>
            </a:r>
            <a:r>
              <a:rPr lang="en-US" altLang="zh-CN" sz="2000" b="1" i="1" baseline="30000" dirty="0"/>
              <a:t>n</a:t>
            </a:r>
            <a:r>
              <a:rPr lang="en-US" altLang="zh-CN" sz="2000" b="1" baseline="30000" dirty="0"/>
              <a:t>-1</a:t>
            </a:r>
            <a:r>
              <a:rPr lang="en-US" altLang="zh-CN" sz="2000" b="1" dirty="0"/>
              <a:t>-1)+1=2</a:t>
            </a:r>
            <a:r>
              <a:rPr lang="en-US" altLang="zh-CN" sz="2000" b="1" i="1" baseline="30000" dirty="0"/>
              <a:t>n</a:t>
            </a:r>
            <a:r>
              <a:rPr lang="en-US" altLang="zh-CN" sz="2000" b="1" dirty="0"/>
              <a:t>-1</a:t>
            </a:r>
            <a:r>
              <a:rPr lang="zh-CN" altLang="en-US" sz="2000" b="1" dirty="0"/>
              <a:t>。</a:t>
            </a:r>
            <a:endParaRPr lang="zh-CN" altLang="en-US" sz="2000" b="1" dirty="0"/>
          </a:p>
          <a:p>
            <a:pPr>
              <a:buFont typeface="Wingdings" panose="05000000000000000000" pitchFamily="2" charset="2"/>
              <a:buNone/>
            </a:pPr>
            <a:r>
              <a:rPr lang="zh-CN" altLang="en-US" sz="2000" b="1" dirty="0"/>
              <a:t>　　　 符合命题。</a:t>
            </a:r>
            <a:endParaRPr lang="zh-CN" altLang="en-US" sz="2000" b="1" dirty="0"/>
          </a:p>
          <a:p>
            <a:pPr>
              <a:buFont typeface="Wingdings" panose="05000000000000000000" pitchFamily="2" charset="2"/>
              <a:buNone/>
            </a:pPr>
            <a:r>
              <a:rPr lang="zh-CN" altLang="en-US" sz="2000" b="1" dirty="0"/>
              <a:t>   　综上所述，命题正确。</a:t>
            </a:r>
            <a:endParaRPr lang="zh-CN" altLang="en-US" sz="2000" b="1" dirty="0"/>
          </a:p>
          <a:p>
            <a:pPr>
              <a:spcBef>
                <a:spcPts val="1200"/>
              </a:spcBef>
              <a:buFont typeface="Wingdings" panose="05000000000000000000" pitchFamily="2" charset="2"/>
              <a:buNone/>
            </a:pPr>
            <a:r>
              <a:rPr lang="zh-CN" altLang="en-US" sz="2000" b="1" dirty="0">
                <a:solidFill>
                  <a:srgbClr val="FF0000"/>
                </a:solidFill>
              </a:rPr>
              <a:t>问题（２）留给读者自己练习。</a:t>
            </a:r>
            <a:endParaRPr lang="zh-CN" altLang="en-US" sz="2000" b="1" dirty="0">
              <a:solidFill>
                <a:srgbClr val="FF0000"/>
              </a:solidFill>
            </a:endParaRPr>
          </a:p>
        </p:txBody>
      </p:sp>
      <p:grpSp>
        <p:nvGrpSpPr>
          <p:cNvPr id="5" name="组合 4"/>
          <p:cNvGrpSpPr/>
          <p:nvPr/>
        </p:nvGrpSpPr>
        <p:grpSpPr>
          <a:xfrm>
            <a:off x="6858000" y="965594"/>
            <a:ext cx="4572000" cy="2031325"/>
            <a:chOff x="4932040" y="5085184"/>
            <a:chExt cx="4572000" cy="2031325"/>
          </a:xfrm>
        </p:grpSpPr>
        <p:sp>
          <p:nvSpPr>
            <p:cNvPr id="3" name="矩形 2"/>
            <p:cNvSpPr/>
            <p:nvPr/>
          </p:nvSpPr>
          <p:spPr>
            <a:xfrm>
              <a:off x="4932040" y="5085184"/>
              <a:ext cx="4572000" cy="2031325"/>
            </a:xfrm>
            <a:prstGeom prst="rect">
              <a:avLst/>
            </a:prstGeom>
          </p:spPr>
          <p:txBody>
            <a:bodyPr>
              <a:spAutoFit/>
            </a:bodyPr>
            <a:lstStyle/>
            <a:p>
              <a:pPr>
                <a:buFont typeface="Wingdings" panose="05000000000000000000" pitchFamily="2" charset="2"/>
                <a:buNone/>
              </a:pPr>
              <a:r>
                <a:rPr lang="en-US" altLang="zh-CN" b="1" dirty="0">
                  <a:solidFill>
                    <a:srgbClr val="0000FF"/>
                  </a:solidFill>
                </a:rPr>
                <a:t>void</a:t>
              </a:r>
              <a:r>
                <a:rPr lang="en-US" altLang="zh-CN" b="1" dirty="0"/>
                <a:t> P(</a:t>
              </a:r>
              <a:r>
                <a:rPr lang="en-US" altLang="zh-CN" b="1" dirty="0" err="1">
                  <a:solidFill>
                    <a:srgbClr val="0000FF"/>
                  </a:solidFill>
                </a:rPr>
                <a:t>int</a:t>
              </a:r>
              <a:r>
                <a:rPr lang="en-US" altLang="zh-CN" b="1" dirty="0"/>
                <a:t> </a:t>
              </a:r>
              <a:r>
                <a:rPr lang="en-US" altLang="zh-CN" b="1" i="1" dirty="0"/>
                <a:t>n</a:t>
              </a:r>
              <a:r>
                <a:rPr lang="en-US" altLang="zh-CN" b="1" dirty="0"/>
                <a:t>){</a:t>
              </a:r>
              <a:endParaRPr lang="en-US" altLang="zh-CN" b="1" dirty="0"/>
            </a:p>
            <a:p>
              <a:pPr>
                <a:buFont typeface="Wingdings" panose="05000000000000000000" pitchFamily="2" charset="2"/>
                <a:buNone/>
              </a:pPr>
              <a:r>
                <a:rPr lang="en-US" altLang="zh-CN" b="1" dirty="0">
                  <a:solidFill>
                    <a:srgbClr val="0000FF"/>
                  </a:solidFill>
                </a:rPr>
                <a:t>        if</a:t>
              </a:r>
              <a:r>
                <a:rPr lang="en-US" altLang="zh-CN" b="1" dirty="0"/>
                <a:t>(n&gt;0) {</a:t>
              </a:r>
              <a:endParaRPr lang="en-US" altLang="zh-CN" b="1" dirty="0"/>
            </a:p>
            <a:p>
              <a:pPr>
                <a:buFont typeface="Wingdings" panose="05000000000000000000" pitchFamily="2" charset="2"/>
                <a:buNone/>
              </a:pPr>
              <a:r>
                <a:rPr lang="en-US" altLang="zh-CN" b="1" dirty="0"/>
                <a:t>             P(</a:t>
              </a:r>
              <a:r>
                <a:rPr lang="en-US" altLang="zh-CN" b="1" i="1" dirty="0"/>
                <a:t>n</a:t>
              </a:r>
              <a:r>
                <a:rPr lang="en-US" altLang="zh-CN" b="1" dirty="0"/>
                <a:t>-1);</a:t>
              </a:r>
              <a:endParaRPr lang="en-US" altLang="zh-CN" b="1" dirty="0"/>
            </a:p>
            <a:p>
              <a:pPr>
                <a:buFont typeface="Wingdings" panose="05000000000000000000" pitchFamily="2" charset="2"/>
                <a:buNone/>
              </a:pPr>
              <a:r>
                <a:rPr lang="en-US" altLang="zh-CN" b="1" dirty="0"/>
                <a:t>             </a:t>
              </a:r>
              <a:r>
                <a:rPr lang="fr-FR" altLang="en-US" b="1" dirty="0">
                  <a:solidFill>
                    <a:srgbClr val="0000FF"/>
                  </a:solidFill>
                </a:rPr>
                <a:t>cout</a:t>
              </a:r>
              <a:r>
                <a:rPr lang="fr-FR" altLang="en-US" b="1" dirty="0"/>
                <a:t> &lt;&lt; </a:t>
              </a:r>
              <a:r>
                <a:rPr lang="fr-FR" altLang="en-US" b="1" i="1" dirty="0"/>
                <a:t>n</a:t>
              </a:r>
              <a:r>
                <a:rPr lang="fr-FR" altLang="en-US" b="1" dirty="0"/>
                <a:t>;</a:t>
              </a:r>
              <a:endParaRPr lang="fr-FR" altLang="en-US" b="1" dirty="0"/>
            </a:p>
            <a:p>
              <a:pPr>
                <a:buFont typeface="Wingdings" panose="05000000000000000000" pitchFamily="2" charset="2"/>
                <a:buNone/>
              </a:pPr>
              <a:r>
                <a:rPr lang="fr-FR" altLang="en-US" b="1" dirty="0"/>
                <a:t>             </a:t>
              </a:r>
              <a:r>
                <a:rPr lang="en-US" altLang="zh-CN" b="1" dirty="0"/>
                <a:t>P</a:t>
              </a:r>
              <a:r>
                <a:rPr lang="fr-FR" altLang="en-US" b="1" dirty="0"/>
                <a:t>(</a:t>
              </a:r>
              <a:r>
                <a:rPr lang="fr-FR" altLang="en-US" b="1" i="1" dirty="0"/>
                <a:t>n</a:t>
              </a:r>
              <a:r>
                <a:rPr lang="fr-FR" altLang="en-US" b="1" dirty="0"/>
                <a:t>-1);</a:t>
              </a:r>
              <a:endParaRPr lang="fr-FR" altLang="en-US" b="1" dirty="0"/>
            </a:p>
            <a:p>
              <a:pPr>
                <a:buFont typeface="Wingdings" panose="05000000000000000000" pitchFamily="2" charset="2"/>
                <a:buNone/>
              </a:pPr>
              <a:r>
                <a:rPr lang="fr-FR" altLang="en-US" b="1" dirty="0"/>
                <a:t>        </a:t>
              </a:r>
              <a:r>
                <a:rPr lang="en-US" altLang="zh-CN" b="1" dirty="0"/>
                <a:t>}</a:t>
              </a:r>
              <a:endParaRPr lang="en-US" altLang="zh-CN" b="1" dirty="0"/>
            </a:p>
            <a:p>
              <a:pPr>
                <a:buFont typeface="Wingdings" panose="05000000000000000000" pitchFamily="2" charset="2"/>
                <a:buNone/>
              </a:pPr>
              <a:r>
                <a:rPr lang="en-US" altLang="zh-CN" b="1" dirty="0"/>
                <a:t>}</a:t>
              </a:r>
              <a:endParaRPr lang="en-US" altLang="zh-CN" b="1" dirty="0"/>
            </a:p>
          </p:txBody>
        </p:sp>
        <p:sp>
          <p:nvSpPr>
            <p:cNvPr id="4" name="矩形 3"/>
            <p:cNvSpPr/>
            <p:nvPr/>
          </p:nvSpPr>
          <p:spPr>
            <a:xfrm>
              <a:off x="4932040" y="5085184"/>
              <a:ext cx="2016224" cy="16971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09"/>
          <p:cNvGrpSpPr/>
          <p:nvPr/>
        </p:nvGrpSpPr>
        <p:grpSpPr>
          <a:xfrm>
            <a:off x="574576" y="121026"/>
            <a:ext cx="6745168" cy="672462"/>
            <a:chOff x="956926" y="4649923"/>
            <a:chExt cx="6797663" cy="601587"/>
          </a:xfrm>
        </p:grpSpPr>
        <p:sp>
          <p:nvSpPr>
            <p:cNvPr id="16" name="Freeform 5"/>
            <p:cNvSpPr/>
            <p:nvPr/>
          </p:nvSpPr>
          <p:spPr bwMode="auto">
            <a:xfrm>
              <a:off x="956926" y="4649923"/>
              <a:ext cx="804761" cy="60158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17" name="图片 16"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8" name="TextBox 6"/>
            <p:cNvSpPr txBox="1">
              <a:spLocks noChangeArrowheads="1"/>
            </p:cNvSpPr>
            <p:nvPr/>
          </p:nvSpPr>
          <p:spPr bwMode="auto">
            <a:xfrm>
              <a:off x="1211903" y="4649923"/>
              <a:ext cx="6542686" cy="578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7.5 </a:t>
              </a:r>
              <a:r>
                <a:rPr lang="zh-CN" altLang="en-US" sz="3600" b="1" dirty="0">
                  <a:latin typeface="Times New Roman" panose="02020603050405020304" pitchFamily="18" charset="0"/>
                  <a:ea typeface="黑体" panose="02010609060101010101" pitchFamily="49" charset="-122"/>
                </a:rPr>
                <a:t>递归程序的正确性证明</a:t>
              </a:r>
              <a:endParaRPr lang="zh-CN" altLang="en-US" sz="3600" b="1" dirty="0">
                <a:latin typeface="黑体" panose="02010609060101010101" pitchFamily="49" charset="-122"/>
                <a:ea typeface="黑体" panose="02010609060101010101" pitchFamily="49" charset="-122"/>
              </a:endParaRPr>
            </a:p>
          </p:txBody>
        </p: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blinds(horizontal)">
                                      <p:cBhvr>
                                        <p:cTn id="7" dur="500"/>
                                        <p:tgtEl>
                                          <p:spTgt spid="215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507">
                                            <p:txEl>
                                              <p:pRg st="1" end="1"/>
                                            </p:txEl>
                                          </p:spTgt>
                                        </p:tgtEl>
                                        <p:attrNameLst>
                                          <p:attrName>style.visibility</p:attrName>
                                        </p:attrNameLst>
                                      </p:cBhvr>
                                      <p:to>
                                        <p:strVal val="visible"/>
                                      </p:to>
                                    </p:set>
                                    <p:animEffect transition="in" filter="blinds(horizontal)">
                                      <p:cBhvr>
                                        <p:cTn id="12" dur="500"/>
                                        <p:tgtEl>
                                          <p:spTgt spid="215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507">
                                            <p:txEl>
                                              <p:pRg st="2" end="2"/>
                                            </p:txEl>
                                          </p:spTgt>
                                        </p:tgtEl>
                                        <p:attrNameLst>
                                          <p:attrName>style.visibility</p:attrName>
                                        </p:attrNameLst>
                                      </p:cBhvr>
                                      <p:to>
                                        <p:strVal val="visible"/>
                                      </p:to>
                                    </p:set>
                                    <p:animEffect transition="in" filter="blinds(horizontal)">
                                      <p:cBhvr>
                                        <p:cTn id="17" dur="500"/>
                                        <p:tgtEl>
                                          <p:spTgt spid="215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1507">
                                            <p:txEl>
                                              <p:pRg st="4" end="4"/>
                                            </p:txEl>
                                          </p:spTgt>
                                        </p:tgtEl>
                                        <p:attrNameLst>
                                          <p:attrName>style.visibility</p:attrName>
                                        </p:attrNameLst>
                                      </p:cBhvr>
                                      <p:to>
                                        <p:strVal val="visible"/>
                                      </p:to>
                                    </p:set>
                                    <p:animEffect transition="in" filter="blinds(horizontal)">
                                      <p:cBhvr>
                                        <p:cTn id="22" dur="500"/>
                                        <p:tgtEl>
                                          <p:spTgt spid="2150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1507">
                                            <p:txEl>
                                              <p:pRg st="5" end="5"/>
                                            </p:txEl>
                                          </p:spTgt>
                                        </p:tgtEl>
                                        <p:attrNameLst>
                                          <p:attrName>style.visibility</p:attrName>
                                        </p:attrNameLst>
                                      </p:cBhvr>
                                      <p:to>
                                        <p:strVal val="visible"/>
                                      </p:to>
                                    </p:set>
                                    <p:animEffect transition="in" filter="blinds(horizontal)">
                                      <p:cBhvr>
                                        <p:cTn id="27" dur="500"/>
                                        <p:tgtEl>
                                          <p:spTgt spid="2150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1507">
                                            <p:txEl>
                                              <p:pRg st="6" end="6"/>
                                            </p:txEl>
                                          </p:spTgt>
                                        </p:tgtEl>
                                        <p:attrNameLst>
                                          <p:attrName>style.visibility</p:attrName>
                                        </p:attrNameLst>
                                      </p:cBhvr>
                                      <p:to>
                                        <p:strVal val="visible"/>
                                      </p:to>
                                    </p:set>
                                    <p:animEffect transition="in" filter="blinds(horizontal)">
                                      <p:cBhvr>
                                        <p:cTn id="32" dur="500"/>
                                        <p:tgtEl>
                                          <p:spTgt spid="2150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1507">
                                            <p:txEl>
                                              <p:pRg st="7" end="7"/>
                                            </p:txEl>
                                          </p:spTgt>
                                        </p:tgtEl>
                                        <p:attrNameLst>
                                          <p:attrName>style.visibility</p:attrName>
                                        </p:attrNameLst>
                                      </p:cBhvr>
                                      <p:to>
                                        <p:strVal val="visible"/>
                                      </p:to>
                                    </p:set>
                                    <p:animEffect transition="in" filter="blinds(horizontal)">
                                      <p:cBhvr>
                                        <p:cTn id="37" dur="500"/>
                                        <p:tgtEl>
                                          <p:spTgt spid="21507">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1507">
                                            <p:txEl>
                                              <p:pRg st="8" end="8"/>
                                            </p:txEl>
                                          </p:spTgt>
                                        </p:tgtEl>
                                        <p:attrNameLst>
                                          <p:attrName>style.visibility</p:attrName>
                                        </p:attrNameLst>
                                      </p:cBhvr>
                                      <p:to>
                                        <p:strVal val="visible"/>
                                      </p:to>
                                    </p:set>
                                    <p:animEffect transition="in" filter="blinds(horizontal)">
                                      <p:cBhvr>
                                        <p:cTn id="42" dur="500"/>
                                        <p:tgtEl>
                                          <p:spTgt spid="21507">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1507">
                                            <p:txEl>
                                              <p:pRg st="9" end="9"/>
                                            </p:txEl>
                                          </p:spTgt>
                                        </p:tgtEl>
                                        <p:attrNameLst>
                                          <p:attrName>style.visibility</p:attrName>
                                        </p:attrNameLst>
                                      </p:cBhvr>
                                      <p:to>
                                        <p:strVal val="visible"/>
                                      </p:to>
                                    </p:set>
                                    <p:animEffect transition="in" filter="blinds(horizontal)">
                                      <p:cBhvr>
                                        <p:cTn id="47" dur="500"/>
                                        <p:tgtEl>
                                          <p:spTgt spid="21507">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21507">
                                            <p:txEl>
                                              <p:pRg st="10" end="10"/>
                                            </p:txEl>
                                          </p:spTgt>
                                        </p:tgtEl>
                                        <p:attrNameLst>
                                          <p:attrName>style.visibility</p:attrName>
                                        </p:attrNameLst>
                                      </p:cBhvr>
                                      <p:to>
                                        <p:strVal val="visible"/>
                                      </p:to>
                                    </p:set>
                                    <p:animEffect transition="in" filter="blinds(horizontal)">
                                      <p:cBhvr>
                                        <p:cTn id="52" dur="500"/>
                                        <p:tgtEl>
                                          <p:spTgt spid="21507">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21507">
                                            <p:txEl>
                                              <p:pRg st="11" end="11"/>
                                            </p:txEl>
                                          </p:spTgt>
                                        </p:tgtEl>
                                        <p:attrNameLst>
                                          <p:attrName>style.visibility</p:attrName>
                                        </p:attrNameLst>
                                      </p:cBhvr>
                                      <p:to>
                                        <p:strVal val="visible"/>
                                      </p:to>
                                    </p:set>
                                    <p:animEffect transition="in" filter="blinds(horizontal)">
                                      <p:cBhvr>
                                        <p:cTn id="57" dur="500"/>
                                        <p:tgtEl>
                                          <p:spTgt spid="21507">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21507">
                                            <p:txEl>
                                              <p:pRg st="12" end="12"/>
                                            </p:txEl>
                                          </p:spTgt>
                                        </p:tgtEl>
                                        <p:attrNameLst>
                                          <p:attrName>style.visibility</p:attrName>
                                        </p:attrNameLst>
                                      </p:cBhvr>
                                      <p:to>
                                        <p:strVal val="visible"/>
                                      </p:to>
                                    </p:set>
                                    <p:animEffect transition="in" filter="blinds(horizontal)">
                                      <p:cBhvr>
                                        <p:cTn id="62" dur="500"/>
                                        <p:tgtEl>
                                          <p:spTgt spid="21507">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21507">
                                            <p:txEl>
                                              <p:pRg st="13" end="13"/>
                                            </p:txEl>
                                          </p:spTgt>
                                        </p:tgtEl>
                                        <p:attrNameLst>
                                          <p:attrName>style.visibility</p:attrName>
                                        </p:attrNameLst>
                                      </p:cBhvr>
                                      <p:to>
                                        <p:strVal val="visible"/>
                                      </p:to>
                                    </p:set>
                                    <p:animEffect transition="in" filter="blinds(horizontal)">
                                      <p:cBhvr>
                                        <p:cTn id="67" dur="500"/>
                                        <p:tgtEl>
                                          <p:spTgt spid="21507">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文本占位符 22530"/>
          <p:cNvSpPr>
            <a:spLocks noGrp="1" noChangeArrowheads="1"/>
          </p:cNvSpPr>
          <p:nvPr>
            <p:ph idx="1"/>
          </p:nvPr>
        </p:nvSpPr>
        <p:spPr>
          <a:xfrm>
            <a:off x="457200" y="939223"/>
            <a:ext cx="8229600" cy="4678451"/>
          </a:xfrm>
        </p:spPr>
        <p:txBody>
          <a:bodyPr/>
          <a:lstStyle/>
          <a:p>
            <a:pPr>
              <a:buClr>
                <a:srgbClr val="FF0000"/>
              </a:buClr>
              <a:buFont typeface="Wingdings" panose="05000000000000000000" pitchFamily="2" charset="2"/>
              <a:buChar char="ü"/>
            </a:pPr>
            <a:r>
              <a:rPr lang="zh-CN" altLang="en-US" sz="2200" b="1" dirty="0">
                <a:solidFill>
                  <a:srgbClr val="FF0000"/>
                </a:solidFill>
              </a:rPr>
              <a:t>练习</a:t>
            </a:r>
            <a:r>
              <a:rPr lang="zh-CN" altLang="en-US" sz="2200" b="1" dirty="0"/>
              <a:t>：</a:t>
            </a:r>
            <a:endParaRPr lang="zh-CN" altLang="en-US" sz="2200" b="1" dirty="0"/>
          </a:p>
          <a:p>
            <a:pPr>
              <a:buFont typeface="Wingdings" panose="05000000000000000000" pitchFamily="2" charset="2"/>
              <a:buNone/>
            </a:pPr>
            <a:r>
              <a:rPr lang="en-US" altLang="zh-CN" sz="2400" b="1" dirty="0"/>
              <a:t>  (1)  </a:t>
            </a:r>
            <a:r>
              <a:rPr lang="zh-CN" altLang="en-US" sz="2000" b="1" dirty="0"/>
              <a:t>证明</a:t>
            </a:r>
            <a:r>
              <a:rPr lang="en-US" altLang="zh-CN" sz="2000" b="1" dirty="0"/>
              <a:t>Print(</a:t>
            </a:r>
            <a:r>
              <a:rPr lang="en-US" altLang="zh-CN" sz="2000" b="1" i="1" dirty="0"/>
              <a:t>L</a:t>
            </a:r>
            <a:r>
              <a:rPr lang="en-US" altLang="zh-CN" sz="2000" b="1" dirty="0"/>
              <a:t>)</a:t>
            </a:r>
            <a:r>
              <a:rPr lang="zh-CN" altLang="en-US" sz="2000" b="1" dirty="0"/>
              <a:t>能输出链表</a:t>
            </a:r>
            <a:r>
              <a:rPr lang="en-US" altLang="zh-CN" sz="2000" b="1" i="1" dirty="0"/>
              <a:t>L</a:t>
            </a:r>
            <a:r>
              <a:rPr lang="zh-CN" altLang="en-US" sz="2000" b="1" dirty="0"/>
              <a:t>中所有结点值。</a:t>
            </a:r>
            <a:endParaRPr lang="zh-CN" altLang="en-US" sz="2000" b="1" dirty="0"/>
          </a:p>
          <a:p>
            <a:pPr>
              <a:buFont typeface="Wingdings" panose="05000000000000000000" pitchFamily="2" charset="2"/>
              <a:buNone/>
            </a:pPr>
            <a:r>
              <a:rPr lang="zh-CN" altLang="en-US" sz="2000" dirty="0"/>
              <a:t>                    </a:t>
            </a:r>
            <a:r>
              <a:rPr lang="en-US" altLang="zh-CN" sz="2000" dirty="0">
                <a:solidFill>
                  <a:srgbClr val="0000FF"/>
                </a:solidFill>
              </a:rPr>
              <a:t>void</a:t>
            </a:r>
            <a:r>
              <a:rPr lang="en-US" altLang="zh-CN" sz="2000" dirty="0"/>
              <a:t> Print( </a:t>
            </a:r>
            <a:r>
              <a:rPr lang="en-US" altLang="zh-CN" sz="2000" dirty="0">
                <a:solidFill>
                  <a:srgbClr val="0000FF"/>
                </a:solidFill>
              </a:rPr>
              <a:t>link</a:t>
            </a:r>
            <a:r>
              <a:rPr lang="en-US" altLang="zh-CN" sz="2000" dirty="0"/>
              <a:t> </a:t>
            </a:r>
            <a:r>
              <a:rPr lang="en-US" altLang="zh-CN" sz="2000" i="1" dirty="0"/>
              <a:t>L</a:t>
            </a:r>
            <a:r>
              <a:rPr lang="en-US" altLang="zh-CN" sz="2000" dirty="0"/>
              <a:t> ){</a:t>
            </a:r>
            <a:endParaRPr lang="en-US" altLang="zh-CN" sz="2000" dirty="0"/>
          </a:p>
          <a:p>
            <a:pPr>
              <a:buFont typeface="Wingdings" panose="05000000000000000000" pitchFamily="2" charset="2"/>
              <a:buNone/>
            </a:pPr>
            <a:r>
              <a:rPr lang="en-US" altLang="zh-CN" sz="2000" dirty="0"/>
              <a:t>                            </a:t>
            </a:r>
            <a:r>
              <a:rPr lang="en-US" altLang="zh-CN" sz="2000" dirty="0">
                <a:solidFill>
                  <a:srgbClr val="0000FF"/>
                </a:solidFill>
              </a:rPr>
              <a:t>if</a:t>
            </a:r>
            <a:r>
              <a:rPr lang="en-US" altLang="zh-CN" sz="2000" dirty="0"/>
              <a:t> ( </a:t>
            </a:r>
            <a:r>
              <a:rPr lang="en-US" altLang="zh-CN" sz="2000" i="1" dirty="0"/>
              <a:t>L</a:t>
            </a:r>
            <a:r>
              <a:rPr lang="en-US" altLang="zh-CN" sz="2000" dirty="0"/>
              <a:t> != NULL ){</a:t>
            </a:r>
            <a:endParaRPr lang="en-US" altLang="zh-CN" sz="2000" dirty="0"/>
          </a:p>
          <a:p>
            <a:pPr>
              <a:buFont typeface="Wingdings" panose="05000000000000000000" pitchFamily="2" charset="2"/>
              <a:buNone/>
            </a:pPr>
            <a:r>
              <a:rPr lang="en-US" altLang="zh-CN" sz="2000" dirty="0"/>
              <a:t>                         </a:t>
            </a:r>
            <a:r>
              <a:rPr lang="zh-CN" altLang="en-US" sz="2000" dirty="0"/>
              <a:t>　    </a:t>
            </a:r>
            <a:r>
              <a:rPr lang="en-US" altLang="zh-CN" sz="2000" dirty="0" err="1">
                <a:solidFill>
                  <a:srgbClr val="0000FF"/>
                </a:solidFill>
              </a:rPr>
              <a:t>cout</a:t>
            </a:r>
            <a:r>
              <a:rPr lang="en-US" altLang="zh-CN" sz="2000" dirty="0"/>
              <a:t> &lt;&lt; </a:t>
            </a:r>
            <a:r>
              <a:rPr lang="en-US" altLang="zh-CN" sz="2000" i="1" dirty="0"/>
              <a:t>L</a:t>
            </a:r>
            <a:r>
              <a:rPr lang="en-US" altLang="zh-CN" sz="2000" dirty="0"/>
              <a:t> </a:t>
            </a:r>
            <a:r>
              <a:rPr lang="en-US" altLang="zh-CN" sz="1600" b="1" dirty="0">
                <a:sym typeface="Wingdings" panose="05000000000000000000" pitchFamily="2" charset="2"/>
              </a:rPr>
              <a:t></a:t>
            </a:r>
            <a:r>
              <a:rPr lang="en-US" altLang="zh-CN" sz="2000" dirty="0"/>
              <a:t> data;</a:t>
            </a:r>
            <a:endParaRPr lang="en-US" altLang="zh-CN" sz="2000" dirty="0"/>
          </a:p>
          <a:p>
            <a:pPr>
              <a:buFont typeface="Wingdings" panose="05000000000000000000" pitchFamily="2" charset="2"/>
              <a:buNone/>
            </a:pPr>
            <a:r>
              <a:rPr lang="en-US" altLang="zh-CN" sz="2000" dirty="0"/>
              <a:t>                        </a:t>
            </a:r>
            <a:r>
              <a:rPr lang="zh-CN" altLang="en-US" sz="2000" dirty="0"/>
              <a:t>　     </a:t>
            </a:r>
            <a:r>
              <a:rPr lang="en-US" altLang="zh-CN" sz="2000" dirty="0"/>
              <a:t>Print( </a:t>
            </a:r>
            <a:r>
              <a:rPr lang="en-US" altLang="zh-CN" sz="2000" i="1" dirty="0"/>
              <a:t>L</a:t>
            </a:r>
            <a:r>
              <a:rPr lang="en-US" altLang="zh-CN" sz="2000" dirty="0"/>
              <a:t> </a:t>
            </a:r>
            <a:r>
              <a:rPr lang="en-US" altLang="zh-CN" sz="1600" b="1" dirty="0">
                <a:sym typeface="Wingdings" panose="05000000000000000000" pitchFamily="2" charset="2"/>
              </a:rPr>
              <a:t></a:t>
            </a:r>
            <a:r>
              <a:rPr lang="en-US" altLang="zh-CN" sz="2000" dirty="0"/>
              <a:t> next );</a:t>
            </a:r>
            <a:endParaRPr lang="en-US" altLang="zh-CN" sz="2000" dirty="0"/>
          </a:p>
          <a:p>
            <a:pPr>
              <a:buFont typeface="Wingdings" panose="05000000000000000000" pitchFamily="2" charset="2"/>
              <a:buNone/>
            </a:pPr>
            <a:r>
              <a:rPr lang="en-US" altLang="zh-CN" sz="2000" dirty="0"/>
              <a:t>                           }</a:t>
            </a:r>
            <a:endParaRPr lang="en-US" altLang="zh-CN" sz="2000" dirty="0"/>
          </a:p>
          <a:p>
            <a:pPr>
              <a:buFont typeface="Wingdings" panose="05000000000000000000" pitchFamily="2" charset="2"/>
              <a:buNone/>
            </a:pPr>
            <a:r>
              <a:rPr lang="en-US" altLang="zh-CN" sz="2000" dirty="0"/>
              <a:t>                    }</a:t>
            </a:r>
            <a:endParaRPr lang="en-US" altLang="zh-CN" sz="2000" dirty="0"/>
          </a:p>
          <a:p>
            <a:pPr>
              <a:buFont typeface="Wingdings" panose="05000000000000000000" pitchFamily="2" charset="2"/>
              <a:buNone/>
            </a:pPr>
            <a:r>
              <a:rPr lang="en-US" altLang="zh-CN" sz="2400" b="1" dirty="0"/>
              <a:t>  (2)  </a:t>
            </a:r>
            <a:r>
              <a:rPr lang="zh-CN" altLang="en-US" sz="2000" b="1" dirty="0"/>
              <a:t>证明</a:t>
            </a:r>
            <a:r>
              <a:rPr lang="en-US" altLang="zh-CN" sz="2000" b="1" dirty="0"/>
              <a:t>Print(</a:t>
            </a:r>
            <a:r>
              <a:rPr lang="en-US" altLang="zh-CN" sz="2000" b="1" i="1" dirty="0"/>
              <a:t>L</a:t>
            </a:r>
            <a:r>
              <a:rPr lang="en-US" altLang="zh-CN" sz="2000" b="1" dirty="0"/>
              <a:t>)</a:t>
            </a:r>
            <a:r>
              <a:rPr lang="zh-CN" altLang="en-US" sz="2000" b="1" dirty="0"/>
              <a:t>能按反序输出链表</a:t>
            </a:r>
            <a:r>
              <a:rPr lang="en-US" altLang="zh-CN" sz="2000" b="1" i="1" dirty="0"/>
              <a:t>L</a:t>
            </a:r>
            <a:r>
              <a:rPr lang="zh-CN" altLang="en-US" sz="2000" b="1" dirty="0"/>
              <a:t>中所有结点值。</a:t>
            </a:r>
            <a:endParaRPr lang="zh-CN" altLang="en-US" sz="2000" b="1" dirty="0"/>
          </a:p>
          <a:p>
            <a:pPr>
              <a:buFont typeface="Wingdings" panose="05000000000000000000" pitchFamily="2" charset="2"/>
              <a:buNone/>
            </a:pPr>
            <a:r>
              <a:rPr lang="zh-CN" altLang="en-US" sz="2000" dirty="0"/>
              <a:t>                    </a:t>
            </a:r>
            <a:r>
              <a:rPr lang="en-US" altLang="zh-CN" sz="2000" dirty="0">
                <a:solidFill>
                  <a:srgbClr val="0000FF"/>
                </a:solidFill>
              </a:rPr>
              <a:t>void</a:t>
            </a:r>
            <a:r>
              <a:rPr lang="en-US" altLang="zh-CN" sz="2000" dirty="0"/>
              <a:t> Print( </a:t>
            </a:r>
            <a:r>
              <a:rPr lang="en-US" altLang="zh-CN" sz="2000" dirty="0">
                <a:solidFill>
                  <a:srgbClr val="0000FF"/>
                </a:solidFill>
              </a:rPr>
              <a:t>link</a:t>
            </a:r>
            <a:r>
              <a:rPr lang="en-US" altLang="zh-CN" sz="2000" dirty="0"/>
              <a:t> </a:t>
            </a:r>
            <a:r>
              <a:rPr lang="en-US" altLang="zh-CN" sz="2000" i="1" dirty="0"/>
              <a:t>L</a:t>
            </a:r>
            <a:r>
              <a:rPr lang="en-US" altLang="zh-CN" sz="2000" dirty="0"/>
              <a:t> ){</a:t>
            </a:r>
            <a:endParaRPr lang="en-US" altLang="zh-CN" sz="2000" dirty="0"/>
          </a:p>
          <a:p>
            <a:pPr>
              <a:buFont typeface="Wingdings" panose="05000000000000000000" pitchFamily="2" charset="2"/>
              <a:buNone/>
            </a:pPr>
            <a:r>
              <a:rPr lang="en-US" altLang="zh-CN" sz="2000" dirty="0"/>
              <a:t>                            </a:t>
            </a:r>
            <a:r>
              <a:rPr lang="en-US" altLang="zh-CN" sz="2000" dirty="0">
                <a:solidFill>
                  <a:srgbClr val="0000FF"/>
                </a:solidFill>
              </a:rPr>
              <a:t>if</a:t>
            </a:r>
            <a:r>
              <a:rPr lang="en-US" altLang="zh-CN" sz="2000" dirty="0"/>
              <a:t> ( </a:t>
            </a:r>
            <a:r>
              <a:rPr lang="en-US" altLang="zh-CN" sz="2000" i="1" dirty="0"/>
              <a:t>L</a:t>
            </a:r>
            <a:r>
              <a:rPr lang="en-US" altLang="zh-CN" sz="2000" dirty="0"/>
              <a:t> != NULL ){</a:t>
            </a:r>
            <a:endParaRPr lang="en-US" altLang="zh-CN" sz="2000" dirty="0"/>
          </a:p>
          <a:p>
            <a:pPr>
              <a:buNone/>
            </a:pPr>
            <a:r>
              <a:rPr lang="en-US" altLang="zh-CN" sz="2000" dirty="0"/>
              <a:t>                       </a:t>
            </a:r>
            <a:r>
              <a:rPr lang="zh-CN" altLang="en-US" sz="2000" dirty="0"/>
              <a:t>　　  </a:t>
            </a:r>
            <a:r>
              <a:rPr lang="en-US" altLang="zh-CN" sz="2000" dirty="0"/>
              <a:t>Print( </a:t>
            </a:r>
            <a:r>
              <a:rPr lang="en-US" altLang="zh-CN" sz="2000" i="1" dirty="0"/>
              <a:t>L</a:t>
            </a:r>
            <a:r>
              <a:rPr lang="en-US" altLang="zh-CN" sz="2000" dirty="0"/>
              <a:t> </a:t>
            </a:r>
            <a:r>
              <a:rPr lang="en-US" altLang="zh-CN" sz="1600" b="1" dirty="0">
                <a:sym typeface="Wingdings" panose="05000000000000000000" pitchFamily="2" charset="2"/>
              </a:rPr>
              <a:t></a:t>
            </a:r>
            <a:r>
              <a:rPr lang="en-US" altLang="zh-CN" sz="2000" dirty="0"/>
              <a:t> next );</a:t>
            </a:r>
            <a:endParaRPr lang="en-US" altLang="zh-CN" sz="2000" dirty="0"/>
          </a:p>
          <a:p>
            <a:pPr>
              <a:buFont typeface="Wingdings" panose="05000000000000000000" pitchFamily="2" charset="2"/>
              <a:buNone/>
            </a:pPr>
            <a:r>
              <a:rPr lang="en-US" altLang="zh-CN" sz="2000" dirty="0"/>
              <a:t> </a:t>
            </a:r>
            <a:r>
              <a:rPr lang="zh-CN" altLang="en-US" sz="2000" dirty="0"/>
              <a:t>　　　　　　　    </a:t>
            </a:r>
            <a:r>
              <a:rPr lang="en-US" altLang="zh-CN" sz="2000" dirty="0" err="1">
                <a:solidFill>
                  <a:srgbClr val="0000FF"/>
                </a:solidFill>
              </a:rPr>
              <a:t>cout</a:t>
            </a:r>
            <a:r>
              <a:rPr lang="en-US" altLang="zh-CN" sz="2000" dirty="0"/>
              <a:t> &lt;&lt; </a:t>
            </a:r>
            <a:r>
              <a:rPr lang="en-US" altLang="zh-CN" sz="2000" i="1" dirty="0"/>
              <a:t>L</a:t>
            </a:r>
            <a:r>
              <a:rPr lang="en-US" altLang="zh-CN" sz="2000" dirty="0"/>
              <a:t> </a:t>
            </a:r>
            <a:r>
              <a:rPr lang="en-US" altLang="zh-CN" sz="1600" b="1" dirty="0">
                <a:sym typeface="Wingdings" panose="05000000000000000000" pitchFamily="2" charset="2"/>
              </a:rPr>
              <a:t></a:t>
            </a:r>
            <a:r>
              <a:rPr lang="en-US" altLang="zh-CN" sz="2000" dirty="0"/>
              <a:t> data;</a:t>
            </a:r>
            <a:endParaRPr lang="en-US" altLang="zh-CN" sz="2000" dirty="0"/>
          </a:p>
          <a:p>
            <a:pPr>
              <a:buFont typeface="Wingdings" panose="05000000000000000000" pitchFamily="2" charset="2"/>
              <a:buNone/>
            </a:pPr>
            <a:r>
              <a:rPr lang="zh-CN" altLang="en-US" sz="2000" dirty="0"/>
              <a:t>　　　　　　   </a:t>
            </a:r>
            <a:r>
              <a:rPr lang="en-US" altLang="zh-CN" sz="2000" dirty="0"/>
              <a:t>}</a:t>
            </a:r>
            <a:endParaRPr lang="en-US" altLang="zh-CN" sz="2000" dirty="0"/>
          </a:p>
          <a:p>
            <a:pPr>
              <a:buFont typeface="Wingdings" panose="05000000000000000000" pitchFamily="2" charset="2"/>
              <a:buNone/>
            </a:pPr>
            <a:r>
              <a:rPr lang="en-US" altLang="zh-CN" sz="2000" dirty="0"/>
              <a:t>                    }</a:t>
            </a:r>
            <a:endParaRPr lang="zh-CN" altLang="en-US" sz="2000" dirty="0"/>
          </a:p>
          <a:p>
            <a:pPr>
              <a:lnSpc>
                <a:spcPct val="80000"/>
              </a:lnSpc>
              <a:buFont typeface="Wingdings" panose="05000000000000000000" pitchFamily="2" charset="2"/>
              <a:buNone/>
            </a:pPr>
            <a:endParaRPr lang="zh-CN" altLang="en-US" sz="2000" dirty="0"/>
          </a:p>
        </p:txBody>
      </p:sp>
      <p:sp>
        <p:nvSpPr>
          <p:cNvPr id="3" name="文本框 2"/>
          <p:cNvSpPr txBox="1"/>
          <p:nvPr/>
        </p:nvSpPr>
        <p:spPr>
          <a:xfrm>
            <a:off x="5365068" y="1702642"/>
            <a:ext cx="2376264" cy="369332"/>
          </a:xfrm>
          <a:prstGeom prst="rect">
            <a:avLst/>
          </a:prstGeom>
          <a:noFill/>
        </p:spPr>
        <p:txBody>
          <a:bodyPr wrap="square" rtlCol="0">
            <a:spAutoFit/>
          </a:bodyPr>
          <a:lstStyle/>
          <a:p>
            <a:r>
              <a:rPr lang="en-US" altLang="zh-CN" dirty="0" err="1">
                <a:solidFill>
                  <a:srgbClr val="0000FF"/>
                </a:solidFill>
              </a:rPr>
              <a:t>typedef</a:t>
            </a:r>
            <a:r>
              <a:rPr lang="en-US" altLang="zh-CN" dirty="0">
                <a:solidFill>
                  <a:srgbClr val="0000FF"/>
                </a:solidFill>
              </a:rPr>
              <a:t>  </a:t>
            </a:r>
            <a:r>
              <a:rPr lang="en-US" altLang="zh-CN" dirty="0"/>
              <a:t>node* link;</a:t>
            </a:r>
            <a:endParaRPr lang="zh-CN" altLang="en-US" dirty="0"/>
          </a:p>
        </p:txBody>
      </p:sp>
      <p:grpSp>
        <p:nvGrpSpPr>
          <p:cNvPr id="12" name="组合 109"/>
          <p:cNvGrpSpPr/>
          <p:nvPr/>
        </p:nvGrpSpPr>
        <p:grpSpPr>
          <a:xfrm>
            <a:off x="539552" y="186012"/>
            <a:ext cx="6552728" cy="646307"/>
            <a:chOff x="956926" y="4581574"/>
            <a:chExt cx="7003838" cy="704675"/>
          </a:xfrm>
        </p:grpSpPr>
        <p:sp>
          <p:nvSpPr>
            <p:cNvPr id="13" name="Freeform 5"/>
            <p:cNvSpPr/>
            <p:nvPr/>
          </p:nvSpPr>
          <p:spPr bwMode="auto">
            <a:xfrm>
              <a:off x="956926" y="4581575"/>
              <a:ext cx="804761" cy="66993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14" name="图片 13"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5" name="TextBox 6"/>
            <p:cNvSpPr txBox="1">
              <a:spLocks noChangeArrowheads="1"/>
            </p:cNvSpPr>
            <p:nvPr/>
          </p:nvSpPr>
          <p:spPr bwMode="auto">
            <a:xfrm>
              <a:off x="1418078" y="4581574"/>
              <a:ext cx="6542686" cy="70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7.5 </a:t>
              </a:r>
              <a:r>
                <a:rPr lang="zh-CN" altLang="en-US" sz="3600" b="1" dirty="0">
                  <a:latin typeface="Times New Roman" panose="02020603050405020304" pitchFamily="18" charset="0"/>
                  <a:ea typeface="黑体" panose="02010609060101010101" pitchFamily="49" charset="-122"/>
                </a:rPr>
                <a:t>递归程序的正确性证明</a:t>
              </a:r>
              <a:endParaRPr lang="zh-CN" altLang="en-US" sz="3600" b="1" dirty="0">
                <a:latin typeface="黑体" panose="02010609060101010101" pitchFamily="49" charset="-122"/>
                <a:ea typeface="黑体" panose="02010609060101010101" pitchFamily="49" charset="-122"/>
              </a:endParaRPr>
            </a:p>
          </p:txBody>
        </p: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内容占位符 23554"/>
          <p:cNvSpPr>
            <a:spLocks noGrp="1" noChangeArrowheads="1"/>
          </p:cNvSpPr>
          <p:nvPr>
            <p:ph idx="1"/>
          </p:nvPr>
        </p:nvSpPr>
        <p:spPr>
          <a:xfrm>
            <a:off x="302840" y="965636"/>
            <a:ext cx="8229600" cy="4678451"/>
          </a:xfrm>
        </p:spPr>
        <p:txBody>
          <a:bodyPr/>
          <a:lstStyle/>
          <a:p>
            <a:pPr>
              <a:spcBef>
                <a:spcPts val="800"/>
              </a:spcBef>
              <a:buClr>
                <a:srgbClr val="FF0000"/>
              </a:buClr>
              <a:buFont typeface="Wingdings" panose="05000000000000000000" pitchFamily="2" charset="2"/>
              <a:buChar char="Ø"/>
            </a:pPr>
            <a:r>
              <a:rPr lang="zh-CN" altLang="en-US" sz="2800" b="1" dirty="0"/>
              <a:t>背景</a:t>
            </a:r>
            <a:endParaRPr lang="zh-CN" altLang="en-US" sz="2800" b="1" dirty="0"/>
          </a:p>
          <a:p>
            <a:pPr marL="457200" lvl="1" indent="0">
              <a:spcBef>
                <a:spcPts val="800"/>
              </a:spcBef>
              <a:buClr>
                <a:srgbClr val="FF0000"/>
              </a:buClr>
              <a:buNone/>
            </a:pPr>
            <a:r>
              <a:rPr lang="zh-CN" altLang="en-US" sz="2400" b="1" dirty="0">
                <a:solidFill>
                  <a:srgbClr val="FF0000"/>
                </a:solidFill>
              </a:rPr>
              <a:t>    为何要将递归程序转换为等价的非递归程序？</a:t>
            </a:r>
            <a:endParaRPr lang="zh-CN" altLang="en-US" sz="2400" b="1" dirty="0">
              <a:solidFill>
                <a:srgbClr val="FF0000"/>
              </a:solidFill>
            </a:endParaRPr>
          </a:p>
          <a:p>
            <a:pPr lvl="1">
              <a:spcBef>
                <a:spcPts val="800"/>
              </a:spcBef>
              <a:buClr>
                <a:srgbClr val="FF0000"/>
              </a:buClr>
              <a:buFont typeface="Wingdings" panose="05000000000000000000" pitchFamily="2" charset="2"/>
              <a:buChar char="n"/>
            </a:pPr>
            <a:r>
              <a:rPr lang="zh-CN" altLang="en-US" sz="2000" b="1" dirty="0"/>
              <a:t>递归程序虽然有良好的可读性，然而由于以下原因，需将递归程序转化为等价的非递归程序：</a:t>
            </a:r>
            <a:endParaRPr lang="zh-CN" altLang="en-US" sz="2000" b="1" dirty="0"/>
          </a:p>
          <a:p>
            <a:pPr lvl="2">
              <a:spcBef>
                <a:spcPts val="800"/>
              </a:spcBef>
              <a:buClr>
                <a:srgbClr val="FF0000"/>
              </a:buClr>
            </a:pPr>
            <a:r>
              <a:rPr lang="zh-CN" altLang="en-US" sz="2000" b="1" dirty="0"/>
              <a:t>时间花费</a:t>
            </a:r>
            <a:endParaRPr lang="zh-CN" altLang="en-US" sz="2000" b="1" dirty="0"/>
          </a:p>
          <a:p>
            <a:pPr lvl="2">
              <a:spcBef>
                <a:spcPts val="800"/>
              </a:spcBef>
              <a:buClr>
                <a:srgbClr val="FF0000"/>
              </a:buClr>
            </a:pPr>
            <a:r>
              <a:rPr lang="zh-CN" altLang="en-US" sz="2000" b="1" dirty="0"/>
              <a:t>空间开销</a:t>
            </a:r>
            <a:endParaRPr lang="zh-CN" altLang="en-US" sz="2000" b="1" dirty="0"/>
          </a:p>
          <a:p>
            <a:pPr lvl="2">
              <a:spcBef>
                <a:spcPts val="800"/>
              </a:spcBef>
              <a:buClr>
                <a:srgbClr val="FF0000"/>
              </a:buClr>
            </a:pPr>
            <a:r>
              <a:rPr lang="zh-CN" altLang="en-US" sz="2000" b="1" dirty="0"/>
              <a:t>一些编程环境的不支持，或者编写起来复杂。</a:t>
            </a:r>
            <a:endParaRPr lang="zh-CN" altLang="en-US" sz="2000" b="1" dirty="0"/>
          </a:p>
          <a:p>
            <a:pPr lvl="1">
              <a:spcBef>
                <a:spcPts val="800"/>
              </a:spcBef>
              <a:buClr>
                <a:srgbClr val="FF0000"/>
              </a:buClr>
              <a:buFont typeface="Wingdings" panose="05000000000000000000" pitchFamily="2" charset="2"/>
              <a:buChar char="n"/>
            </a:pPr>
            <a:r>
              <a:rPr lang="zh-CN" altLang="en-US" sz="2400" b="1" dirty="0">
                <a:solidFill>
                  <a:srgbClr val="FF0000"/>
                </a:solidFill>
              </a:rPr>
              <a:t>如何转换？</a:t>
            </a:r>
            <a:endParaRPr lang="zh-CN" altLang="en-US" sz="2400" b="1" dirty="0">
              <a:solidFill>
                <a:srgbClr val="FF0000"/>
              </a:solidFill>
            </a:endParaRPr>
          </a:p>
          <a:p>
            <a:pPr lvl="2">
              <a:spcBef>
                <a:spcPts val="800"/>
              </a:spcBef>
              <a:buClr>
                <a:srgbClr val="FF0000"/>
              </a:buClr>
            </a:pPr>
            <a:r>
              <a:rPr lang="zh-CN" altLang="en-US" sz="2000" b="1" dirty="0"/>
              <a:t>一种方式是重新设计</a:t>
            </a:r>
            <a:endParaRPr lang="zh-CN" altLang="en-US" sz="2000" b="1" dirty="0"/>
          </a:p>
          <a:p>
            <a:pPr lvl="2">
              <a:spcBef>
                <a:spcPts val="800"/>
              </a:spcBef>
              <a:buFont typeface="Wingdings" panose="05000000000000000000" pitchFamily="2" charset="2"/>
              <a:buNone/>
            </a:pPr>
            <a:r>
              <a:rPr lang="zh-CN" altLang="en-US" sz="2000" b="1" dirty="0"/>
              <a:t>　　</a:t>
            </a:r>
            <a:r>
              <a:rPr lang="zh-CN" altLang="en-US" sz="2000" b="1" dirty="0">
                <a:solidFill>
                  <a:srgbClr val="FF0000"/>
                </a:solidFill>
              </a:rPr>
              <a:t>不足之处</a:t>
            </a:r>
            <a:r>
              <a:rPr lang="zh-CN" altLang="en-US" sz="2000" b="1" dirty="0"/>
              <a:t>：没有利用已有的工作基础。</a:t>
            </a:r>
            <a:endParaRPr lang="zh-CN" altLang="en-US" sz="2000" b="1" dirty="0"/>
          </a:p>
          <a:p>
            <a:pPr lvl="2">
              <a:spcBef>
                <a:spcPts val="800"/>
              </a:spcBef>
              <a:buClr>
                <a:srgbClr val="FF0000"/>
              </a:buClr>
            </a:pPr>
            <a:r>
              <a:rPr lang="zh-CN" altLang="en-US" sz="2000" b="1" dirty="0"/>
              <a:t>一种方式是对给定的递归程序，用一组规则进行等价的转换。</a:t>
            </a:r>
            <a:endParaRPr lang="zh-CN" altLang="en-US" sz="2000" b="1" dirty="0"/>
          </a:p>
          <a:p>
            <a:pPr marL="1371600" lvl="3" indent="0">
              <a:spcBef>
                <a:spcPts val="800"/>
              </a:spcBef>
              <a:buClr>
                <a:srgbClr val="FF0000"/>
              </a:buClr>
              <a:buNone/>
            </a:pPr>
            <a:r>
              <a:rPr lang="zh-CN" altLang="en-US" b="1" dirty="0"/>
              <a:t>  </a:t>
            </a:r>
            <a:r>
              <a:rPr lang="zh-CN" altLang="en-US" b="1" dirty="0">
                <a:solidFill>
                  <a:srgbClr val="FF0000"/>
                </a:solidFill>
              </a:rPr>
              <a:t>问题是</a:t>
            </a:r>
            <a:r>
              <a:rPr lang="zh-CN" altLang="en-US" b="1" dirty="0"/>
              <a:t>：规则包括哪些？</a:t>
            </a:r>
            <a:endParaRPr lang="zh-CN" altLang="en-US" b="1" dirty="0"/>
          </a:p>
        </p:txBody>
      </p:sp>
      <p:grpSp>
        <p:nvGrpSpPr>
          <p:cNvPr id="11" name="组合 10"/>
          <p:cNvGrpSpPr/>
          <p:nvPr/>
        </p:nvGrpSpPr>
        <p:grpSpPr>
          <a:xfrm>
            <a:off x="541437" y="127832"/>
            <a:ext cx="7991003" cy="674160"/>
            <a:chOff x="999690" y="5042189"/>
            <a:chExt cx="8290830" cy="647731"/>
          </a:xfrm>
        </p:grpSpPr>
        <p:sp>
          <p:nvSpPr>
            <p:cNvPr id="12"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3"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14" name="图片 13"/>
            <p:cNvPicPr>
              <a:picLocks noChangeAspect="1"/>
            </p:cNvPicPr>
            <p:nvPr/>
          </p:nvPicPr>
          <p:blipFill>
            <a:blip r:embed="rId1" cstate="print"/>
            <a:stretch>
              <a:fillRect/>
            </a:stretch>
          </p:blipFill>
          <p:spPr>
            <a:xfrm>
              <a:off x="1199659" y="5205012"/>
              <a:ext cx="420013" cy="322083"/>
            </a:xfrm>
            <a:prstGeom prst="rect">
              <a:avLst/>
            </a:prstGeom>
          </p:spPr>
        </p:pic>
      </p:gr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0171" y="1484785"/>
            <a:ext cx="364526" cy="360336"/>
          </a:xfrm>
          <a:prstGeom prst="rect">
            <a:avLst/>
          </a:prstGeom>
        </p:spPr>
      </p:pic>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blinds(horizontal)">
                                      <p:cBhvr>
                                        <p:cTn id="7" dur="500"/>
                                        <p:tgtEl>
                                          <p:spTgt spid="235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555">
                                            <p:txEl>
                                              <p:pRg st="1" end="1"/>
                                            </p:txEl>
                                          </p:spTgt>
                                        </p:tgtEl>
                                        <p:attrNameLst>
                                          <p:attrName>style.visibility</p:attrName>
                                        </p:attrNameLst>
                                      </p:cBhvr>
                                      <p:to>
                                        <p:strVal val="visible"/>
                                      </p:to>
                                    </p:set>
                                    <p:animEffect transition="in" filter="blinds(horizontal)">
                                      <p:cBhvr>
                                        <p:cTn id="12" dur="500"/>
                                        <p:tgtEl>
                                          <p:spTgt spid="23555">
                                            <p:txEl>
                                              <p:pRg st="1" end="1"/>
                                            </p:txEl>
                                          </p:spTgt>
                                        </p:tgtEl>
                                      </p:cBhvr>
                                    </p:animEffec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23555">
                                            <p:txEl>
                                              <p:pRg st="2" end="2"/>
                                            </p:txEl>
                                          </p:spTgt>
                                        </p:tgtEl>
                                        <p:attrNameLst>
                                          <p:attrName>style.visibility</p:attrName>
                                        </p:attrNameLst>
                                      </p:cBhvr>
                                      <p:to>
                                        <p:strVal val="visible"/>
                                      </p:to>
                                    </p:set>
                                    <p:animEffect transition="in" filter="blinds(horizontal)">
                                      <p:cBhvr>
                                        <p:cTn id="19" dur="500"/>
                                        <p:tgtEl>
                                          <p:spTgt spid="23555">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23555">
                                            <p:txEl>
                                              <p:pRg st="3" end="3"/>
                                            </p:txEl>
                                          </p:spTgt>
                                        </p:tgtEl>
                                        <p:attrNameLst>
                                          <p:attrName>style.visibility</p:attrName>
                                        </p:attrNameLst>
                                      </p:cBhvr>
                                      <p:to>
                                        <p:strVal val="visible"/>
                                      </p:to>
                                    </p:set>
                                    <p:animEffect transition="in" filter="blinds(horizontal)">
                                      <p:cBhvr>
                                        <p:cTn id="24" dur="500"/>
                                        <p:tgtEl>
                                          <p:spTgt spid="23555">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3555">
                                            <p:txEl>
                                              <p:pRg st="4" end="4"/>
                                            </p:txEl>
                                          </p:spTgt>
                                        </p:tgtEl>
                                        <p:attrNameLst>
                                          <p:attrName>style.visibility</p:attrName>
                                        </p:attrNameLst>
                                      </p:cBhvr>
                                      <p:to>
                                        <p:strVal val="visible"/>
                                      </p:to>
                                    </p:set>
                                    <p:animEffect transition="in" filter="blinds(horizontal)">
                                      <p:cBhvr>
                                        <p:cTn id="29" dur="500"/>
                                        <p:tgtEl>
                                          <p:spTgt spid="23555">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23555">
                                            <p:txEl>
                                              <p:pRg st="5" end="5"/>
                                            </p:txEl>
                                          </p:spTgt>
                                        </p:tgtEl>
                                        <p:attrNameLst>
                                          <p:attrName>style.visibility</p:attrName>
                                        </p:attrNameLst>
                                      </p:cBhvr>
                                      <p:to>
                                        <p:strVal val="visible"/>
                                      </p:to>
                                    </p:set>
                                    <p:animEffect transition="in" filter="blinds(horizontal)">
                                      <p:cBhvr>
                                        <p:cTn id="34" dur="500"/>
                                        <p:tgtEl>
                                          <p:spTgt spid="23555">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23555">
                                            <p:txEl>
                                              <p:pRg st="6" end="6"/>
                                            </p:txEl>
                                          </p:spTgt>
                                        </p:tgtEl>
                                        <p:attrNameLst>
                                          <p:attrName>style.visibility</p:attrName>
                                        </p:attrNameLst>
                                      </p:cBhvr>
                                      <p:to>
                                        <p:strVal val="visible"/>
                                      </p:to>
                                    </p:set>
                                    <p:animEffect transition="in" filter="blinds(horizontal)">
                                      <p:cBhvr>
                                        <p:cTn id="39" dur="500"/>
                                        <p:tgtEl>
                                          <p:spTgt spid="23555">
                                            <p:txEl>
                                              <p:pRg st="6" end="6"/>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3555">
                                            <p:txEl>
                                              <p:pRg st="7" end="7"/>
                                            </p:txEl>
                                          </p:spTgt>
                                        </p:tgtEl>
                                        <p:attrNameLst>
                                          <p:attrName>style.visibility</p:attrName>
                                        </p:attrNameLst>
                                      </p:cBhvr>
                                      <p:to>
                                        <p:strVal val="visible"/>
                                      </p:to>
                                    </p:set>
                                    <p:animEffect transition="in" filter="blinds(horizontal)">
                                      <p:cBhvr>
                                        <p:cTn id="44" dur="500"/>
                                        <p:tgtEl>
                                          <p:spTgt spid="23555">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23555">
                                            <p:txEl>
                                              <p:pRg st="8" end="8"/>
                                            </p:txEl>
                                          </p:spTgt>
                                        </p:tgtEl>
                                        <p:attrNameLst>
                                          <p:attrName>style.visibility</p:attrName>
                                        </p:attrNameLst>
                                      </p:cBhvr>
                                      <p:to>
                                        <p:strVal val="visible"/>
                                      </p:to>
                                    </p:set>
                                    <p:animEffect transition="in" filter="blinds(horizontal)">
                                      <p:cBhvr>
                                        <p:cTn id="49" dur="500"/>
                                        <p:tgtEl>
                                          <p:spTgt spid="23555">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23555">
                                            <p:txEl>
                                              <p:pRg st="9" end="9"/>
                                            </p:txEl>
                                          </p:spTgt>
                                        </p:tgtEl>
                                        <p:attrNameLst>
                                          <p:attrName>style.visibility</p:attrName>
                                        </p:attrNameLst>
                                      </p:cBhvr>
                                      <p:to>
                                        <p:strVal val="visible"/>
                                      </p:to>
                                    </p:set>
                                    <p:animEffect transition="in" filter="blinds(horizontal)">
                                      <p:cBhvr>
                                        <p:cTn id="54" dur="500"/>
                                        <p:tgtEl>
                                          <p:spTgt spid="23555">
                                            <p:txEl>
                                              <p:pRg st="9" end="9"/>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23555">
                                            <p:txEl>
                                              <p:pRg st="10" end="10"/>
                                            </p:txEl>
                                          </p:spTgt>
                                        </p:tgtEl>
                                        <p:attrNameLst>
                                          <p:attrName>style.visibility</p:attrName>
                                        </p:attrNameLst>
                                      </p:cBhvr>
                                      <p:to>
                                        <p:strVal val="visible"/>
                                      </p:to>
                                    </p:set>
                                    <p:animEffect transition="in" filter="blinds(horizontal)">
                                      <p:cBhvr>
                                        <p:cTn id="59" dur="500"/>
                                        <p:tgtEl>
                                          <p:spTgt spid="2355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文本占位符 24578"/>
          <p:cNvSpPr>
            <a:spLocks noGrp="1"/>
          </p:cNvSpPr>
          <p:nvPr>
            <p:ph idx="1"/>
          </p:nvPr>
        </p:nvSpPr>
        <p:spPr>
          <a:xfrm>
            <a:off x="457200" y="1052737"/>
            <a:ext cx="8229600" cy="5040560"/>
          </a:xfrm>
        </p:spPr>
        <p:txBody>
          <a:bodyPr/>
          <a:lstStyle/>
          <a:p>
            <a:pPr>
              <a:lnSpc>
                <a:spcPct val="90000"/>
              </a:lnSpc>
              <a:buClr>
                <a:srgbClr val="FF0000"/>
              </a:buClr>
              <a:buFont typeface="Wingdings" panose="05000000000000000000" pitchFamily="2" charset="2"/>
              <a:buChar char="n"/>
            </a:pPr>
            <a:r>
              <a:rPr lang="zh-CN" altLang="en-US" sz="2200" b="1" dirty="0">
                <a:sym typeface="Arial" panose="020B0604020202020204" pitchFamily="34" charset="0"/>
              </a:rPr>
              <a:t>分析前述的递归调用和返回操作的内部执行机制可知，</a:t>
            </a:r>
            <a:endParaRPr lang="zh-CN" altLang="en-US" sz="2200" b="1" dirty="0">
              <a:sym typeface="Arial" panose="020B0604020202020204" pitchFamily="34" charset="0"/>
            </a:endParaRPr>
          </a:p>
          <a:p>
            <a:pPr marL="1905" indent="-1905">
              <a:lnSpc>
                <a:spcPct val="90000"/>
              </a:lnSpc>
              <a:buFont typeface="Wingdings" panose="05000000000000000000" pitchFamily="2" charset="2"/>
              <a:buNone/>
            </a:pPr>
            <a:r>
              <a:rPr lang="zh-CN" altLang="en-US" sz="2200" b="1" dirty="0">
                <a:solidFill>
                  <a:schemeClr val="accent2"/>
                </a:solidFill>
              </a:rPr>
              <a:t>     </a:t>
            </a:r>
            <a:r>
              <a:rPr lang="zh-CN" altLang="en-US" sz="2200" b="1" dirty="0">
                <a:solidFill>
                  <a:srgbClr val="FF0000"/>
                </a:solidFill>
              </a:rPr>
              <a:t>机械地</a:t>
            </a:r>
            <a:r>
              <a:rPr lang="zh-CN" altLang="en-US" sz="2200" b="1" dirty="0"/>
              <a:t>将递归程序转换为与其等价的非递归程序需要</a:t>
            </a:r>
            <a:r>
              <a:rPr lang="zh-CN" altLang="en-US" sz="2200" b="1" dirty="0">
                <a:solidFill>
                  <a:srgbClr val="FF0000"/>
                </a:solidFill>
              </a:rPr>
              <a:t>五条规则</a:t>
            </a:r>
            <a:r>
              <a:rPr lang="zh-CN" altLang="en-US" sz="2200" b="1" dirty="0"/>
              <a:t>：</a:t>
            </a:r>
            <a:endParaRPr lang="zh-CN" altLang="en-US" sz="2200" b="1" dirty="0"/>
          </a:p>
          <a:p>
            <a:pPr marL="1905" indent="-1905">
              <a:lnSpc>
                <a:spcPct val="90000"/>
              </a:lnSpc>
              <a:buFont typeface="Wingdings" panose="05000000000000000000" pitchFamily="2" charset="2"/>
              <a:buNone/>
            </a:pPr>
            <a:r>
              <a:rPr lang="en-US" altLang="zh-CN" sz="2000" b="1" dirty="0"/>
              <a:t>     (1) </a:t>
            </a:r>
            <a:r>
              <a:rPr lang="zh-CN" altLang="en-US" sz="2000" b="1" dirty="0"/>
              <a:t>设置一个栈</a:t>
            </a:r>
            <a:r>
              <a:rPr lang="en-US" altLang="zh-CN" sz="2000" b="1" dirty="0"/>
              <a:t>(</a:t>
            </a:r>
            <a:r>
              <a:rPr lang="zh-CN" altLang="en-US" sz="2000" b="1" dirty="0"/>
              <a:t>不妨用Ｓ表示</a:t>
            </a:r>
            <a:r>
              <a:rPr lang="en-US" altLang="zh-CN" sz="2000" b="1" dirty="0"/>
              <a:t>)</a:t>
            </a:r>
            <a:r>
              <a:rPr lang="zh-CN" altLang="en-US" sz="2000" b="1" dirty="0"/>
              <a:t>，并且开始时将其置为空。</a:t>
            </a:r>
            <a:endParaRPr lang="zh-CN" altLang="en-US" sz="2000" b="1" dirty="0"/>
          </a:p>
          <a:p>
            <a:pPr marL="1905" indent="-1905">
              <a:lnSpc>
                <a:spcPct val="90000"/>
              </a:lnSpc>
              <a:buFont typeface="Wingdings" panose="05000000000000000000" pitchFamily="2" charset="2"/>
              <a:buNone/>
            </a:pPr>
            <a:r>
              <a:rPr lang="en-US" altLang="zh-CN" sz="2000" b="1" dirty="0"/>
              <a:t>     (2) </a:t>
            </a:r>
            <a:r>
              <a:rPr lang="zh-CN" altLang="en-US" sz="2000" b="1" dirty="0"/>
              <a:t>在子程序入口处设置一个标号</a:t>
            </a:r>
            <a:r>
              <a:rPr lang="en-US" altLang="zh-CN" sz="2000" b="1" dirty="0"/>
              <a:t>(</a:t>
            </a:r>
            <a:r>
              <a:rPr lang="zh-CN" altLang="en-US" sz="2000" b="1" dirty="0"/>
              <a:t>不妨设为</a:t>
            </a:r>
            <a:r>
              <a:rPr lang="en-US" altLang="zh-CN" sz="2000" b="1" i="1" dirty="0"/>
              <a:t>L</a:t>
            </a:r>
            <a:r>
              <a:rPr lang="en-US" altLang="zh-CN" sz="2000" b="1" baseline="-25000" dirty="0"/>
              <a:t>0</a:t>
            </a:r>
            <a:r>
              <a:rPr lang="en-US" altLang="zh-CN" sz="2000" b="1" dirty="0"/>
              <a:t>)</a:t>
            </a:r>
            <a:r>
              <a:rPr lang="zh-CN" altLang="en-US" sz="2000" b="1" dirty="0"/>
              <a:t>。</a:t>
            </a:r>
            <a:endParaRPr lang="zh-CN" altLang="en-US" sz="2000" b="1" dirty="0"/>
          </a:p>
          <a:p>
            <a:pPr marL="1905" indent="-1905">
              <a:lnSpc>
                <a:spcPct val="90000"/>
              </a:lnSpc>
              <a:buFont typeface="Wingdings" panose="05000000000000000000" pitchFamily="2" charset="2"/>
              <a:buNone/>
            </a:pPr>
            <a:r>
              <a:rPr lang="en-US" altLang="zh-CN" sz="2000" b="1" dirty="0"/>
              <a:t>     (3) </a:t>
            </a:r>
            <a:r>
              <a:rPr lang="zh-CN" altLang="en-US" sz="2000" b="1" dirty="0"/>
              <a:t>对子程序中的每一递归调用，用以下几个等价操作来替换：</a:t>
            </a:r>
            <a:endParaRPr lang="zh-CN" altLang="en-US" sz="2000" b="1" dirty="0"/>
          </a:p>
          <a:p>
            <a:pPr marL="1905" indent="-1905" algn="dist">
              <a:lnSpc>
                <a:spcPct val="90000"/>
              </a:lnSpc>
              <a:buFont typeface="Wingdings" panose="05000000000000000000" pitchFamily="2" charset="2"/>
              <a:buNone/>
            </a:pPr>
            <a:r>
              <a:rPr lang="zh-CN" altLang="en-US" sz="2000" b="1" dirty="0"/>
              <a:t>           </a:t>
            </a:r>
            <a:r>
              <a:rPr lang="en-US" altLang="zh-CN" sz="2000" b="1" dirty="0"/>
              <a:t>(a) </a:t>
            </a:r>
            <a:r>
              <a:rPr lang="zh-CN" altLang="en-US" sz="2000" b="1" dirty="0">
                <a:solidFill>
                  <a:srgbClr val="FF0000"/>
                </a:solidFill>
              </a:rPr>
              <a:t>保留现场</a:t>
            </a:r>
            <a:r>
              <a:rPr lang="zh-CN" altLang="en-US" sz="2000" b="1" dirty="0"/>
              <a:t>：开辟栈顶存储空间，用于保存返回地址</a:t>
            </a:r>
            <a:r>
              <a:rPr lang="en-US" altLang="zh-CN" sz="2000" b="1" dirty="0"/>
              <a:t>(</a:t>
            </a:r>
            <a:r>
              <a:rPr lang="zh-CN" altLang="en-US" sz="2000" b="1" dirty="0"/>
              <a:t>不妨用</a:t>
            </a:r>
            <a:endParaRPr lang="zh-CN" altLang="en-US" sz="2000" b="1" dirty="0"/>
          </a:p>
          <a:p>
            <a:pPr marL="1905" indent="-1905" algn="dist">
              <a:lnSpc>
                <a:spcPct val="90000"/>
              </a:lnSpc>
              <a:buFont typeface="Wingdings" panose="05000000000000000000" pitchFamily="2" charset="2"/>
              <a:buNone/>
            </a:pPr>
            <a:r>
              <a:rPr lang="zh-CN" altLang="en-US" sz="2000" b="1" dirty="0"/>
              <a:t>                  </a:t>
            </a:r>
            <a:r>
              <a:rPr lang="en-US" altLang="zh-CN" sz="2000" b="1" i="1" dirty="0"/>
              <a:t>L</a:t>
            </a:r>
            <a:r>
              <a:rPr lang="en-US" altLang="zh-CN" sz="2000" b="1" i="1" baseline="-25000" dirty="0"/>
              <a:t>i</a:t>
            </a:r>
            <a:r>
              <a:rPr lang="zh-CN" altLang="en-US" sz="2000" b="1" dirty="0"/>
              <a:t>，</a:t>
            </a:r>
            <a:r>
              <a:rPr lang="en-US" altLang="zh-CN" sz="2000" b="1" i="1" dirty="0" err="1"/>
              <a:t>i</a:t>
            </a:r>
            <a:r>
              <a:rPr lang="en-US" altLang="zh-CN" sz="2000" b="1" i="1" dirty="0"/>
              <a:t> </a:t>
            </a:r>
            <a:r>
              <a:rPr lang="en-US" altLang="zh-CN" sz="2000" b="1" dirty="0"/>
              <a:t>= 1, 2, 3, …)</a:t>
            </a:r>
            <a:r>
              <a:rPr lang="zh-CN" altLang="en-US" sz="2000" b="1" dirty="0"/>
              <a:t>、</a:t>
            </a:r>
            <a:r>
              <a:rPr lang="zh-CN" altLang="en-US" sz="2000" b="1" dirty="0">
                <a:solidFill>
                  <a:srgbClr val="FF0000"/>
                </a:solidFill>
              </a:rPr>
              <a:t>调用层</a:t>
            </a:r>
            <a:r>
              <a:rPr lang="zh-CN" altLang="en-US" sz="2000" b="1" dirty="0"/>
              <a:t>中的形参和局部变量的值</a:t>
            </a:r>
            <a:r>
              <a:rPr lang="en-US" altLang="zh-CN" sz="2000" b="1" dirty="0"/>
              <a:t>(</a:t>
            </a:r>
            <a:r>
              <a:rPr lang="zh-CN" altLang="en-US" sz="2000" b="1" dirty="0"/>
              <a:t>最外层</a:t>
            </a:r>
            <a:endParaRPr lang="en-US" altLang="zh-CN" sz="2000" b="1" dirty="0"/>
          </a:p>
          <a:p>
            <a:pPr marL="1905" indent="-1905">
              <a:lnSpc>
                <a:spcPct val="90000"/>
              </a:lnSpc>
              <a:buFont typeface="Wingdings" panose="05000000000000000000" pitchFamily="2" charset="2"/>
              <a:buNone/>
            </a:pPr>
            <a:r>
              <a:rPr lang="en-US" altLang="zh-CN" sz="2000" b="1" dirty="0"/>
              <a:t>                 </a:t>
            </a:r>
            <a:r>
              <a:rPr lang="zh-CN" altLang="en-US" sz="2000" b="1" dirty="0"/>
              <a:t>调用不必考虑</a:t>
            </a:r>
            <a:r>
              <a:rPr lang="en-US" altLang="zh-CN" sz="2000" b="1" dirty="0"/>
              <a:t>)</a:t>
            </a:r>
            <a:r>
              <a:rPr lang="zh-CN" altLang="en-US" sz="2000" b="1" dirty="0"/>
              <a:t>。</a:t>
            </a:r>
            <a:endParaRPr lang="zh-CN" altLang="en-US" sz="2000" b="1" dirty="0"/>
          </a:p>
          <a:p>
            <a:pPr marL="1905" indent="-1905" algn="dist">
              <a:lnSpc>
                <a:spcPct val="90000"/>
              </a:lnSpc>
              <a:buFont typeface="Wingdings" panose="05000000000000000000" pitchFamily="2" charset="2"/>
              <a:buNone/>
            </a:pPr>
            <a:r>
              <a:rPr lang="zh-CN" altLang="en-US" sz="2000" b="1" dirty="0"/>
              <a:t>           </a:t>
            </a:r>
            <a:r>
              <a:rPr lang="en-US" altLang="zh-CN" sz="2000" b="1" dirty="0"/>
              <a:t>(b) </a:t>
            </a:r>
            <a:r>
              <a:rPr lang="zh-CN" altLang="en-US" sz="2000" b="1" dirty="0">
                <a:solidFill>
                  <a:srgbClr val="FF0000"/>
                </a:solidFill>
              </a:rPr>
              <a:t>准备数据</a:t>
            </a:r>
            <a:r>
              <a:rPr lang="zh-CN" altLang="en-US" sz="2000" b="1" dirty="0"/>
              <a:t>：为被调子程序准备数据，即计算实在参数的值</a:t>
            </a:r>
            <a:r>
              <a:rPr lang="en-US" altLang="zh-CN" sz="2000" b="1" dirty="0"/>
              <a:t>,</a:t>
            </a:r>
            <a:r>
              <a:rPr lang="zh-CN" altLang="en-US" sz="2000" b="1" dirty="0"/>
              <a:t>并赋</a:t>
            </a:r>
            <a:endParaRPr lang="en-US" altLang="zh-CN" sz="2000" b="1" dirty="0"/>
          </a:p>
          <a:p>
            <a:pPr marL="1905" indent="-1905">
              <a:lnSpc>
                <a:spcPct val="90000"/>
              </a:lnSpc>
              <a:buFont typeface="Wingdings" panose="05000000000000000000" pitchFamily="2" charset="2"/>
              <a:buNone/>
            </a:pPr>
            <a:r>
              <a:rPr lang="zh-CN" altLang="en-US" sz="2000" b="1" dirty="0"/>
              <a:t>                 给对应的形参 </a:t>
            </a:r>
            <a:endParaRPr lang="zh-CN" altLang="en-US" sz="2000" b="1" dirty="0"/>
          </a:p>
          <a:p>
            <a:pPr marL="1905" indent="-1905">
              <a:lnSpc>
                <a:spcPct val="90000"/>
              </a:lnSpc>
              <a:buFont typeface="Wingdings" panose="05000000000000000000" pitchFamily="2" charset="2"/>
              <a:buNone/>
            </a:pPr>
            <a:r>
              <a:rPr lang="zh-CN" altLang="en-US" sz="2000" b="1" dirty="0"/>
              <a:t>           </a:t>
            </a:r>
            <a:r>
              <a:rPr lang="en-US" altLang="zh-CN" sz="2000" b="1" dirty="0"/>
              <a:t>(c) </a:t>
            </a:r>
            <a:r>
              <a:rPr lang="zh-CN" altLang="en-US" sz="2000" b="1" dirty="0">
                <a:solidFill>
                  <a:srgbClr val="FF0000"/>
                </a:solidFill>
              </a:rPr>
              <a:t>转入（子程序）执行</a:t>
            </a:r>
            <a:r>
              <a:rPr lang="en-US" altLang="zh-CN" sz="2000" b="1" dirty="0"/>
              <a:t>, </a:t>
            </a:r>
            <a:r>
              <a:rPr lang="zh-CN" altLang="en-US" sz="2000" b="1" dirty="0"/>
              <a:t>即执行</a:t>
            </a:r>
            <a:r>
              <a:rPr lang="en-US" altLang="zh-CN" sz="2000" b="1" dirty="0" err="1"/>
              <a:t>goto</a:t>
            </a:r>
            <a:r>
              <a:rPr lang="en-US" altLang="zh-CN" sz="2000" b="1" dirty="0"/>
              <a:t> </a:t>
            </a:r>
            <a:r>
              <a:rPr lang="en-US" altLang="zh-CN" sz="2000" b="1" i="1" dirty="0"/>
              <a:t>L</a:t>
            </a:r>
            <a:r>
              <a:rPr lang="en-US" altLang="zh-CN" sz="2000" b="1" baseline="-25000" dirty="0"/>
              <a:t>0</a:t>
            </a:r>
            <a:r>
              <a:rPr lang="en-US" altLang="zh-CN" sz="2000" b="1" i="1" baseline="-25000" dirty="0"/>
              <a:t> </a:t>
            </a:r>
            <a:r>
              <a:rPr lang="zh-CN" altLang="en-US" sz="2000" b="1" dirty="0"/>
              <a:t>。</a:t>
            </a:r>
            <a:endParaRPr lang="zh-CN" altLang="en-US" sz="2000" b="1" dirty="0"/>
          </a:p>
          <a:p>
            <a:pPr marL="1905" indent="-1905">
              <a:lnSpc>
                <a:spcPct val="90000"/>
              </a:lnSpc>
              <a:buFont typeface="Wingdings" panose="05000000000000000000" pitchFamily="2" charset="2"/>
              <a:buNone/>
            </a:pPr>
            <a:r>
              <a:rPr lang="zh-CN" altLang="en-US" sz="2000" b="1" dirty="0"/>
              <a:t>           </a:t>
            </a:r>
            <a:r>
              <a:rPr lang="en-US" altLang="zh-CN" sz="2000" b="1" dirty="0"/>
              <a:t>(d) </a:t>
            </a:r>
            <a:r>
              <a:rPr lang="zh-CN" altLang="en-US" sz="2000" b="1" dirty="0">
                <a:solidFill>
                  <a:srgbClr val="FF0000"/>
                </a:solidFill>
              </a:rPr>
              <a:t>在返回处设一标号</a:t>
            </a:r>
            <a:r>
              <a:rPr lang="en-US" altLang="zh-CN" sz="2000" b="1" i="1" dirty="0"/>
              <a:t>L</a:t>
            </a:r>
            <a:r>
              <a:rPr lang="en-US" altLang="zh-CN" sz="2000" b="1" i="1" baseline="-25000" dirty="0"/>
              <a:t>i </a:t>
            </a:r>
            <a:r>
              <a:rPr lang="en-US" altLang="zh-CN" sz="2000" b="1" dirty="0"/>
              <a:t>(</a:t>
            </a:r>
            <a:r>
              <a:rPr lang="en-US" altLang="zh-CN" sz="2000" b="1" i="1" dirty="0" err="1"/>
              <a:t>i</a:t>
            </a:r>
            <a:r>
              <a:rPr lang="en-US" altLang="zh-CN" sz="2000" b="1" i="1" dirty="0"/>
              <a:t> </a:t>
            </a:r>
            <a:r>
              <a:rPr lang="en-US" altLang="zh-CN" sz="2000" b="1" dirty="0"/>
              <a:t>= 1, 2, 3, …)</a:t>
            </a:r>
            <a:r>
              <a:rPr lang="zh-CN" altLang="en-US" sz="2000" b="1" dirty="0"/>
              <a:t>，</a:t>
            </a:r>
            <a:endParaRPr lang="en-US" altLang="zh-CN" sz="2000" b="1" dirty="0"/>
          </a:p>
          <a:p>
            <a:pPr marL="1905" indent="-1905">
              <a:lnSpc>
                <a:spcPct val="90000"/>
              </a:lnSpc>
              <a:buFont typeface="Wingdings" panose="05000000000000000000" pitchFamily="2" charset="2"/>
              <a:buNone/>
            </a:pPr>
            <a:r>
              <a:rPr lang="en-US" altLang="zh-CN" sz="2000" b="1" dirty="0"/>
              <a:t>                 </a:t>
            </a:r>
            <a:r>
              <a:rPr lang="zh-CN" altLang="en-US" sz="2000" b="1" dirty="0"/>
              <a:t>并根据需要设置以下语句：若函数</a:t>
            </a:r>
            <a:endParaRPr lang="en-US" altLang="zh-CN" sz="2000" b="1" dirty="0"/>
          </a:p>
          <a:p>
            <a:pPr marL="1905" indent="-1905">
              <a:lnSpc>
                <a:spcPct val="90000"/>
              </a:lnSpc>
              <a:buFont typeface="Wingdings" panose="05000000000000000000" pitchFamily="2" charset="2"/>
              <a:buNone/>
            </a:pPr>
            <a:r>
              <a:rPr lang="en-US" altLang="zh-CN" sz="2000" b="1" dirty="0"/>
              <a:t>                 </a:t>
            </a:r>
            <a:r>
              <a:rPr lang="zh-CN" altLang="en-US" sz="2000" b="1" dirty="0"/>
              <a:t>需要返回值，从回传变量中取出所</a:t>
            </a:r>
            <a:endParaRPr lang="en-US" altLang="zh-CN" sz="2000" b="1" dirty="0"/>
          </a:p>
          <a:p>
            <a:pPr marL="1905" indent="-1905">
              <a:lnSpc>
                <a:spcPct val="90000"/>
              </a:lnSpc>
              <a:buFont typeface="Wingdings" panose="05000000000000000000" pitchFamily="2" charset="2"/>
              <a:buNone/>
            </a:pPr>
            <a:r>
              <a:rPr lang="zh-CN" altLang="en-US" sz="2000" b="1" dirty="0"/>
              <a:t>                 保存的值并传送到相应的位置。</a:t>
            </a:r>
            <a:endParaRPr lang="zh-CN" altLang="en-US" sz="2200" dirty="0"/>
          </a:p>
        </p:txBody>
      </p:sp>
      <p:grpSp>
        <p:nvGrpSpPr>
          <p:cNvPr id="6" name="组合 5"/>
          <p:cNvGrpSpPr/>
          <p:nvPr/>
        </p:nvGrpSpPr>
        <p:grpSpPr>
          <a:xfrm>
            <a:off x="541437" y="127832"/>
            <a:ext cx="7991003" cy="674160"/>
            <a:chOff x="999690" y="5042189"/>
            <a:chExt cx="8290830" cy="647731"/>
          </a:xfrm>
        </p:grpSpPr>
        <p:sp>
          <p:nvSpPr>
            <p:cNvPr id="7"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9" name="图片 8"/>
            <p:cNvPicPr>
              <a:picLocks noChangeAspect="1"/>
            </p:cNvPicPr>
            <p:nvPr/>
          </p:nvPicPr>
          <p:blipFill>
            <a:blip r:embed="rId1" cstate="print"/>
            <a:stretch>
              <a:fillRect/>
            </a:stretch>
          </p:blipFill>
          <p:spPr>
            <a:xfrm>
              <a:off x="1199659" y="5205012"/>
              <a:ext cx="420013" cy="322083"/>
            </a:xfrm>
            <a:prstGeom prst="rect">
              <a:avLst/>
            </a:prstGeom>
          </p:spPr>
        </p:pic>
      </p:grpSp>
      <p:sp>
        <p:nvSpPr>
          <p:cNvPr id="10" name="文本框 9"/>
          <p:cNvSpPr txBox="1">
            <a:spLocks noChangeArrowheads="1"/>
          </p:cNvSpPr>
          <p:nvPr/>
        </p:nvSpPr>
        <p:spPr bwMode="auto">
          <a:xfrm>
            <a:off x="5905500" y="4408557"/>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(a)</a:t>
            </a:r>
            <a:endParaRPr lang="en-US" altLang="zh-CN" dirty="0">
              <a:latin typeface="Arial" panose="020B0604020202020204" pitchFamily="34" charset="0"/>
              <a:ea typeface="宋体" panose="02010600030101010101" pitchFamily="2" charset="-122"/>
            </a:endParaRPr>
          </a:p>
        </p:txBody>
      </p:sp>
      <p:sp>
        <p:nvSpPr>
          <p:cNvPr id="11" name="文本框 10"/>
          <p:cNvSpPr txBox="1">
            <a:spLocks noChangeArrowheads="1"/>
          </p:cNvSpPr>
          <p:nvPr/>
        </p:nvSpPr>
        <p:spPr bwMode="auto">
          <a:xfrm>
            <a:off x="6269645" y="4407499"/>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(b)</a:t>
            </a:r>
            <a:endParaRPr lang="en-US" altLang="zh-CN" dirty="0">
              <a:latin typeface="Arial" panose="020B0604020202020204" pitchFamily="34" charset="0"/>
              <a:ea typeface="宋体" panose="02010600030101010101" pitchFamily="2" charset="-122"/>
            </a:endParaRPr>
          </a:p>
        </p:txBody>
      </p:sp>
      <p:sp>
        <p:nvSpPr>
          <p:cNvPr id="12" name="文本框 11"/>
          <p:cNvSpPr txBox="1">
            <a:spLocks noChangeArrowheads="1"/>
          </p:cNvSpPr>
          <p:nvPr/>
        </p:nvSpPr>
        <p:spPr bwMode="auto">
          <a:xfrm>
            <a:off x="7110033" y="4322457"/>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(c)</a:t>
            </a:r>
            <a:endParaRPr lang="en-US" altLang="zh-CN" dirty="0">
              <a:latin typeface="Arial" panose="020B0604020202020204" pitchFamily="34" charset="0"/>
              <a:ea typeface="宋体" panose="02010600030101010101" pitchFamily="2" charset="-122"/>
            </a:endParaRPr>
          </a:p>
        </p:txBody>
      </p:sp>
      <p:sp>
        <p:nvSpPr>
          <p:cNvPr id="13" name="文本框 12"/>
          <p:cNvSpPr txBox="1">
            <a:spLocks noChangeArrowheads="1"/>
          </p:cNvSpPr>
          <p:nvPr/>
        </p:nvSpPr>
        <p:spPr bwMode="auto">
          <a:xfrm>
            <a:off x="8028279" y="5723901"/>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(a)</a:t>
            </a:r>
            <a:endParaRPr lang="en-US" altLang="zh-CN" dirty="0">
              <a:latin typeface="Arial" panose="020B0604020202020204" pitchFamily="34" charset="0"/>
              <a:ea typeface="宋体" panose="02010600030101010101" pitchFamily="2" charset="-122"/>
            </a:endParaRPr>
          </a:p>
        </p:txBody>
      </p:sp>
      <p:sp>
        <p:nvSpPr>
          <p:cNvPr id="14" name="文本框 13"/>
          <p:cNvSpPr txBox="1">
            <a:spLocks noChangeArrowheads="1"/>
          </p:cNvSpPr>
          <p:nvPr/>
        </p:nvSpPr>
        <p:spPr bwMode="auto">
          <a:xfrm>
            <a:off x="7943729" y="6004619"/>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(b)</a:t>
            </a:r>
            <a:endParaRPr lang="en-US" altLang="zh-CN" dirty="0">
              <a:latin typeface="Arial" panose="020B0604020202020204" pitchFamily="34" charset="0"/>
              <a:ea typeface="宋体" panose="02010600030101010101" pitchFamily="2" charset="-122"/>
            </a:endParaRPr>
          </a:p>
        </p:txBody>
      </p:sp>
      <p:grpSp>
        <p:nvGrpSpPr>
          <p:cNvPr id="15" name="组合 14"/>
          <p:cNvGrpSpPr/>
          <p:nvPr/>
        </p:nvGrpSpPr>
        <p:grpSpPr>
          <a:xfrm>
            <a:off x="5760428" y="4625222"/>
            <a:ext cx="3201157" cy="1458714"/>
            <a:chOff x="5219700" y="2684739"/>
            <a:chExt cx="3201157" cy="1458714"/>
          </a:xfrm>
        </p:grpSpPr>
        <p:sp>
          <p:nvSpPr>
            <p:cNvPr id="16" name="文本框 15"/>
            <p:cNvSpPr txBox="1">
              <a:spLocks noChangeArrowheads="1"/>
            </p:cNvSpPr>
            <p:nvPr/>
          </p:nvSpPr>
          <p:spPr bwMode="auto">
            <a:xfrm>
              <a:off x="7341357" y="3202075"/>
              <a:ext cx="1079500" cy="369332"/>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eaLnBrk="0" hangingPunct="0">
                <a:spcBef>
                  <a:spcPct val="50000"/>
                </a:spcBef>
              </a:pPr>
              <a:r>
                <a:rPr lang="zh-CN" altLang="en-US">
                  <a:latin typeface="Times New Roman" panose="02020603050405020304" pitchFamily="18" charset="0"/>
                  <a:ea typeface="宋体" panose="02010600030101010101" pitchFamily="2" charset="-122"/>
                </a:rPr>
                <a:t>子程序</a:t>
              </a:r>
              <a:r>
                <a:rPr lang="en-US" altLang="zh-CN">
                  <a:latin typeface="Times New Roman" panose="02020603050405020304" pitchFamily="18" charset="0"/>
                  <a:ea typeface="宋体" panose="02010600030101010101" pitchFamily="2" charset="-122"/>
                </a:rPr>
                <a:t>B</a:t>
              </a:r>
              <a:endParaRPr lang="en-US" altLang="zh-CN">
                <a:latin typeface="Times New Roman" panose="02020603050405020304" pitchFamily="18" charset="0"/>
                <a:ea typeface="宋体" panose="02010600030101010101" pitchFamily="2" charset="-122"/>
              </a:endParaRPr>
            </a:p>
          </p:txBody>
        </p:sp>
        <p:sp>
          <p:nvSpPr>
            <p:cNvPr id="17" name="文本框 16"/>
            <p:cNvSpPr txBox="1">
              <a:spLocks noChangeArrowheads="1"/>
            </p:cNvSpPr>
            <p:nvPr/>
          </p:nvSpPr>
          <p:spPr bwMode="auto">
            <a:xfrm>
              <a:off x="5219700" y="2857396"/>
              <a:ext cx="1079500" cy="369332"/>
            </a:xfrm>
            <a:prstGeom prst="rect">
              <a:avLst/>
            </a:prstGeom>
            <a:solidFill>
              <a:srgbClr val="FFCC00"/>
            </a:solidFill>
            <a:ln w="28575">
              <a:solidFill>
                <a:srgbClr val="FFC000"/>
              </a:solidFill>
              <a:miter lim="800000"/>
            </a:ln>
          </p:spPr>
          <p:txBody>
            <a:bodyPr>
              <a:spAutoFit/>
            </a:bodyPr>
            <a:lstStyle/>
            <a:p>
              <a:pPr algn="ctr" eaLnBrk="0" hangingPunct="0">
                <a:spcBef>
                  <a:spcPct val="50000"/>
                </a:spcBef>
              </a:pPr>
              <a:r>
                <a:rPr lang="en-US" altLang="zh-CN" dirty="0">
                  <a:latin typeface="Times New Roman" panose="02020603050405020304" pitchFamily="18" charset="0"/>
                  <a:ea typeface="宋体" panose="02010600030101010101" pitchFamily="2" charset="-122"/>
                </a:rPr>
                <a:t>Call B</a:t>
              </a:r>
              <a:endParaRPr lang="en-US" altLang="zh-CN" dirty="0">
                <a:latin typeface="Times New Roman" panose="02020603050405020304" pitchFamily="18" charset="0"/>
                <a:ea typeface="宋体" panose="02010600030101010101" pitchFamily="2" charset="-122"/>
              </a:endParaRPr>
            </a:p>
          </p:txBody>
        </p:sp>
        <p:grpSp>
          <p:nvGrpSpPr>
            <p:cNvPr id="18" name="组合 17"/>
            <p:cNvGrpSpPr/>
            <p:nvPr/>
          </p:nvGrpSpPr>
          <p:grpSpPr>
            <a:xfrm>
              <a:off x="6316452" y="2684739"/>
              <a:ext cx="1628500" cy="517336"/>
              <a:chOff x="6316452" y="2625523"/>
              <a:chExt cx="1628500" cy="517336"/>
            </a:xfrm>
          </p:grpSpPr>
          <p:cxnSp>
            <p:nvCxnSpPr>
              <p:cNvPr id="21" name="直接连接符 20"/>
              <p:cNvCxnSpPr/>
              <p:nvPr/>
            </p:nvCxnSpPr>
            <p:spPr>
              <a:xfrm flipV="1">
                <a:off x="6316452" y="2625523"/>
                <a:ext cx="1628500" cy="29468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a:off x="7740352" y="2625523"/>
                <a:ext cx="204600" cy="51733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9" name="直接箭头连接符 18"/>
            <p:cNvCxnSpPr/>
            <p:nvPr/>
          </p:nvCxnSpPr>
          <p:spPr>
            <a:xfrm flipH="1">
              <a:off x="7338168" y="3571407"/>
              <a:ext cx="281832" cy="572046"/>
            </a:xfrm>
            <a:prstGeom prst="straightConnector1">
              <a:avLst/>
            </a:prstGeom>
            <a:ln w="2222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flipV="1">
              <a:off x="6314536" y="3225110"/>
              <a:ext cx="1023632" cy="918343"/>
            </a:xfrm>
            <a:prstGeom prst="line">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6855264" y="4453372"/>
            <a:ext cx="1897816" cy="703369"/>
            <a:chOff x="6892007" y="1110228"/>
            <a:chExt cx="1897816" cy="703369"/>
          </a:xfrm>
        </p:grpSpPr>
        <p:cxnSp>
          <p:nvCxnSpPr>
            <p:cNvPr id="24" name="直接连接符 23"/>
            <p:cNvCxnSpPr/>
            <p:nvPr/>
          </p:nvCxnSpPr>
          <p:spPr>
            <a:xfrm flipV="1">
              <a:off x="6892007" y="1110228"/>
              <a:ext cx="1859648" cy="368532"/>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a:off x="8496746" y="1123329"/>
              <a:ext cx="293077" cy="690268"/>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6613987" y="5172036"/>
            <a:ext cx="1706744" cy="1155008"/>
            <a:chOff x="6650730" y="1828892"/>
            <a:chExt cx="1706744" cy="1155008"/>
          </a:xfrm>
        </p:grpSpPr>
        <p:cxnSp>
          <p:nvCxnSpPr>
            <p:cNvPr id="27" name="直接连接符 26"/>
            <p:cNvCxnSpPr/>
            <p:nvPr/>
          </p:nvCxnSpPr>
          <p:spPr>
            <a:xfrm flipH="1">
              <a:off x="7952104" y="2178255"/>
              <a:ext cx="405370" cy="805645"/>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H="1" flipV="1">
              <a:off x="6650730" y="1828892"/>
              <a:ext cx="1301374" cy="1155008"/>
            </a:xfrm>
            <a:prstGeom prst="straightConnector1">
              <a:avLst/>
            </a:prstGeom>
            <a:ln w="19050">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grpSp>
      <p:sp>
        <p:nvSpPr>
          <p:cNvPr id="29" name="文本框 28"/>
          <p:cNvSpPr txBox="1">
            <a:spLocks noChangeArrowheads="1"/>
          </p:cNvSpPr>
          <p:nvPr/>
        </p:nvSpPr>
        <p:spPr bwMode="auto">
          <a:xfrm>
            <a:off x="6287197" y="5333986"/>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(d)</a:t>
            </a:r>
            <a:endParaRPr lang="en-US" altLang="zh-CN" dirty="0">
              <a:latin typeface="Arial" panose="020B0604020202020204" pitchFamily="34" charset="0"/>
              <a:ea typeface="宋体" panose="02010600030101010101" pitchFamily="2" charset="-122"/>
            </a:endParaRPr>
          </a:p>
        </p:txBody>
      </p:sp>
      <p:sp>
        <p:nvSpPr>
          <p:cNvPr id="30" name="文本框 29"/>
          <p:cNvSpPr txBox="1">
            <a:spLocks noChangeArrowheads="1"/>
          </p:cNvSpPr>
          <p:nvPr/>
        </p:nvSpPr>
        <p:spPr bwMode="auto">
          <a:xfrm>
            <a:off x="6593495" y="5545413"/>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(c)</a:t>
            </a:r>
            <a:endParaRPr lang="en-US" altLang="zh-CN" dirty="0">
              <a:latin typeface="Arial" panose="020B0604020202020204" pitchFamily="34" charset="0"/>
              <a:ea typeface="宋体" panose="02010600030101010101" pitchFamily="2" charset="-122"/>
            </a:endParaRPr>
          </a:p>
        </p:txBody>
      </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blinds(horizontal)">
                                      <p:cBhvr>
                                        <p:cTn id="7" dur="500"/>
                                        <p:tgtEl>
                                          <p:spTgt spid="245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579">
                                            <p:txEl>
                                              <p:pRg st="1" end="1"/>
                                            </p:txEl>
                                          </p:spTgt>
                                        </p:tgtEl>
                                        <p:attrNameLst>
                                          <p:attrName>style.visibility</p:attrName>
                                        </p:attrNameLst>
                                      </p:cBhvr>
                                      <p:to>
                                        <p:strVal val="visible"/>
                                      </p:to>
                                    </p:set>
                                    <p:animEffect transition="in" filter="blinds(horizontal)">
                                      <p:cBhvr>
                                        <p:cTn id="12" dur="500"/>
                                        <p:tgtEl>
                                          <p:spTgt spid="245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579">
                                            <p:txEl>
                                              <p:pRg st="2" end="2"/>
                                            </p:txEl>
                                          </p:spTgt>
                                        </p:tgtEl>
                                        <p:attrNameLst>
                                          <p:attrName>style.visibility</p:attrName>
                                        </p:attrNameLst>
                                      </p:cBhvr>
                                      <p:to>
                                        <p:strVal val="visible"/>
                                      </p:to>
                                    </p:set>
                                    <p:animEffect transition="in" filter="blinds(horizontal)">
                                      <p:cBhvr>
                                        <p:cTn id="17" dur="500"/>
                                        <p:tgtEl>
                                          <p:spTgt spid="245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4579">
                                            <p:txEl>
                                              <p:pRg st="3" end="3"/>
                                            </p:txEl>
                                          </p:spTgt>
                                        </p:tgtEl>
                                        <p:attrNameLst>
                                          <p:attrName>style.visibility</p:attrName>
                                        </p:attrNameLst>
                                      </p:cBhvr>
                                      <p:to>
                                        <p:strVal val="visible"/>
                                      </p:to>
                                    </p:set>
                                    <p:animEffect transition="in" filter="blinds(horizontal)">
                                      <p:cBhvr>
                                        <p:cTn id="22" dur="500"/>
                                        <p:tgtEl>
                                          <p:spTgt spid="2457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4579">
                                            <p:txEl>
                                              <p:pRg st="4" end="4"/>
                                            </p:txEl>
                                          </p:spTgt>
                                        </p:tgtEl>
                                        <p:attrNameLst>
                                          <p:attrName>style.visibility</p:attrName>
                                        </p:attrNameLst>
                                      </p:cBhvr>
                                      <p:to>
                                        <p:strVal val="visible"/>
                                      </p:to>
                                    </p:set>
                                    <p:animEffect transition="in" filter="blinds(horizontal)">
                                      <p:cBhvr>
                                        <p:cTn id="27" dur="500"/>
                                        <p:tgtEl>
                                          <p:spTgt spid="2457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4579">
                                            <p:txEl>
                                              <p:pRg st="5" end="5"/>
                                            </p:txEl>
                                          </p:spTgt>
                                        </p:tgtEl>
                                        <p:attrNameLst>
                                          <p:attrName>style.visibility</p:attrName>
                                        </p:attrNameLst>
                                      </p:cBhvr>
                                      <p:to>
                                        <p:strVal val="visible"/>
                                      </p:to>
                                    </p:set>
                                    <p:animEffect transition="in" filter="blinds(horizontal)">
                                      <p:cBhvr>
                                        <p:cTn id="32" dur="500"/>
                                        <p:tgtEl>
                                          <p:spTgt spid="2457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4579">
                                            <p:txEl>
                                              <p:pRg st="6" end="6"/>
                                            </p:txEl>
                                          </p:spTgt>
                                        </p:tgtEl>
                                        <p:attrNameLst>
                                          <p:attrName>style.visibility</p:attrName>
                                        </p:attrNameLst>
                                      </p:cBhvr>
                                      <p:to>
                                        <p:strVal val="visible"/>
                                      </p:to>
                                    </p:set>
                                    <p:animEffect transition="in" filter="blinds(horizontal)">
                                      <p:cBhvr>
                                        <p:cTn id="37" dur="500"/>
                                        <p:tgtEl>
                                          <p:spTgt spid="2457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4579">
                                            <p:txEl>
                                              <p:pRg st="7" end="7"/>
                                            </p:txEl>
                                          </p:spTgt>
                                        </p:tgtEl>
                                        <p:attrNameLst>
                                          <p:attrName>style.visibility</p:attrName>
                                        </p:attrNameLst>
                                      </p:cBhvr>
                                      <p:to>
                                        <p:strVal val="visible"/>
                                      </p:to>
                                    </p:set>
                                    <p:animEffect transition="in" filter="blinds(horizontal)">
                                      <p:cBhvr>
                                        <p:cTn id="42" dur="500"/>
                                        <p:tgtEl>
                                          <p:spTgt spid="2457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4579">
                                            <p:txEl>
                                              <p:pRg st="8" end="8"/>
                                            </p:txEl>
                                          </p:spTgt>
                                        </p:tgtEl>
                                        <p:attrNameLst>
                                          <p:attrName>style.visibility</p:attrName>
                                        </p:attrNameLst>
                                      </p:cBhvr>
                                      <p:to>
                                        <p:strVal val="visible"/>
                                      </p:to>
                                    </p:set>
                                    <p:animEffect transition="in" filter="blinds(horizontal)">
                                      <p:cBhvr>
                                        <p:cTn id="47" dur="500"/>
                                        <p:tgtEl>
                                          <p:spTgt spid="2457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4579">
                                            <p:txEl>
                                              <p:pRg st="9" end="9"/>
                                            </p:txEl>
                                          </p:spTgt>
                                        </p:tgtEl>
                                        <p:attrNameLst>
                                          <p:attrName>style.visibility</p:attrName>
                                        </p:attrNameLst>
                                      </p:cBhvr>
                                      <p:to>
                                        <p:strVal val="visible"/>
                                      </p:to>
                                    </p:set>
                                    <p:animEffect transition="in" filter="blinds(horizontal)">
                                      <p:cBhvr>
                                        <p:cTn id="52" dur="500"/>
                                        <p:tgtEl>
                                          <p:spTgt spid="24579">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4579">
                                            <p:txEl>
                                              <p:pRg st="10" end="10"/>
                                            </p:txEl>
                                          </p:spTgt>
                                        </p:tgtEl>
                                        <p:attrNameLst>
                                          <p:attrName>style.visibility</p:attrName>
                                        </p:attrNameLst>
                                      </p:cBhvr>
                                      <p:to>
                                        <p:strVal val="visible"/>
                                      </p:to>
                                    </p:set>
                                    <p:animEffect transition="in" filter="blinds(horizontal)">
                                      <p:cBhvr>
                                        <p:cTn id="57" dur="500"/>
                                        <p:tgtEl>
                                          <p:spTgt spid="24579">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4579">
                                            <p:txEl>
                                              <p:pRg st="11" end="11"/>
                                            </p:txEl>
                                          </p:spTgt>
                                        </p:tgtEl>
                                        <p:attrNameLst>
                                          <p:attrName>style.visibility</p:attrName>
                                        </p:attrNameLst>
                                      </p:cBhvr>
                                      <p:to>
                                        <p:strVal val="visible"/>
                                      </p:to>
                                    </p:set>
                                    <p:animEffect transition="in" filter="blinds(horizontal)">
                                      <p:cBhvr>
                                        <p:cTn id="62" dur="500"/>
                                        <p:tgtEl>
                                          <p:spTgt spid="24579">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4579">
                                            <p:txEl>
                                              <p:pRg st="12" end="12"/>
                                            </p:txEl>
                                          </p:spTgt>
                                        </p:tgtEl>
                                        <p:attrNameLst>
                                          <p:attrName>style.visibility</p:attrName>
                                        </p:attrNameLst>
                                      </p:cBhvr>
                                      <p:to>
                                        <p:strVal val="visible"/>
                                      </p:to>
                                    </p:set>
                                    <p:animEffect transition="in" filter="blinds(horizontal)">
                                      <p:cBhvr>
                                        <p:cTn id="67" dur="500"/>
                                        <p:tgtEl>
                                          <p:spTgt spid="24579">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4579">
                                            <p:txEl>
                                              <p:pRg st="13" end="13"/>
                                            </p:txEl>
                                          </p:spTgt>
                                        </p:tgtEl>
                                        <p:attrNameLst>
                                          <p:attrName>style.visibility</p:attrName>
                                        </p:attrNameLst>
                                      </p:cBhvr>
                                      <p:to>
                                        <p:strVal val="visible"/>
                                      </p:to>
                                    </p:set>
                                    <p:animEffect transition="in" filter="blinds(horizontal)">
                                      <p:cBhvr>
                                        <p:cTn id="72" dur="500"/>
                                        <p:tgtEl>
                                          <p:spTgt spid="24579">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4579">
                                            <p:txEl>
                                              <p:pRg st="14" end="14"/>
                                            </p:txEl>
                                          </p:spTgt>
                                        </p:tgtEl>
                                        <p:attrNameLst>
                                          <p:attrName>style.visibility</p:attrName>
                                        </p:attrNameLst>
                                      </p:cBhvr>
                                      <p:to>
                                        <p:strVal val="visible"/>
                                      </p:to>
                                    </p:set>
                                    <p:animEffect transition="in" filter="blinds(horizontal)">
                                      <p:cBhvr>
                                        <p:cTn id="77" dur="500"/>
                                        <p:tgtEl>
                                          <p:spTgt spid="24579">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nodeType="clickEffect">
                                  <p:stCondLst>
                                    <p:cond delay="0"/>
                                  </p:stCondLst>
                                  <p:childTnLst>
                                    <p:set>
                                      <p:cBhvr>
                                        <p:cTn id="81" dur="1" fill="hold">
                                          <p:stCondLst>
                                            <p:cond delay="0"/>
                                          </p:stCondLst>
                                        </p:cTn>
                                        <p:tgtEl>
                                          <p:spTgt spid="15"/>
                                        </p:tgtEl>
                                        <p:attrNameLst>
                                          <p:attrName>style.visibility</p:attrName>
                                        </p:attrNameLst>
                                      </p:cBhvr>
                                      <p:to>
                                        <p:strVal val="visible"/>
                                      </p:to>
                                    </p:set>
                                    <p:anim calcmode="lin" valueType="num">
                                      <p:cBhvr additive="base">
                                        <p:cTn id="82" dur="500" fill="hold"/>
                                        <p:tgtEl>
                                          <p:spTgt spid="15"/>
                                        </p:tgtEl>
                                        <p:attrNameLst>
                                          <p:attrName>ppt_x</p:attrName>
                                        </p:attrNameLst>
                                      </p:cBhvr>
                                      <p:tavLst>
                                        <p:tav tm="0">
                                          <p:val>
                                            <p:strVal val="#ppt_x"/>
                                          </p:val>
                                        </p:tav>
                                        <p:tav tm="100000">
                                          <p:val>
                                            <p:strVal val="#ppt_x"/>
                                          </p:val>
                                        </p:tav>
                                      </p:tavLst>
                                    </p:anim>
                                    <p:anim calcmode="lin" valueType="num">
                                      <p:cBhvr additive="base">
                                        <p:cTn id="8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10"/>
                                        </p:tgtEl>
                                        <p:attrNameLst>
                                          <p:attrName>style.visibility</p:attrName>
                                        </p:attrNameLst>
                                      </p:cBhvr>
                                      <p:to>
                                        <p:strVal val="visible"/>
                                      </p:to>
                                    </p:set>
                                    <p:animEffect transition="in" filter="blinds(horizontal)">
                                      <p:cBhvr>
                                        <p:cTn id="88" dur="500"/>
                                        <p:tgtEl>
                                          <p:spTgt spid="10"/>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11"/>
                                        </p:tgtEl>
                                        <p:attrNameLst>
                                          <p:attrName>style.visibility</p:attrName>
                                        </p:attrNameLst>
                                      </p:cBhvr>
                                      <p:to>
                                        <p:strVal val="visible"/>
                                      </p:to>
                                    </p:set>
                                    <p:animEffect transition="in" filter="blinds(horizontal)">
                                      <p:cBhvr>
                                        <p:cTn id="93" dur="500"/>
                                        <p:tgtEl>
                                          <p:spTgt spid="11"/>
                                        </p:tgtEl>
                                      </p:cBhvr>
                                    </p:animEffec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23"/>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12"/>
                                        </p:tgtEl>
                                        <p:attrNameLst>
                                          <p:attrName>style.visibility</p:attrName>
                                        </p:attrNameLst>
                                      </p:cBhvr>
                                      <p:to>
                                        <p:strVal val="visible"/>
                                      </p:to>
                                    </p:set>
                                    <p:animEffect transition="in" filter="blinds(horizontal)">
                                      <p:cBhvr>
                                        <p:cTn id="102" dur="500"/>
                                        <p:tgtEl>
                                          <p:spTgt spid="12"/>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grpId="0" nodeType="clickEffect">
                                  <p:stCondLst>
                                    <p:cond delay="0"/>
                                  </p:stCondLst>
                                  <p:childTnLst>
                                    <p:set>
                                      <p:cBhvr>
                                        <p:cTn id="106" dur="1" fill="hold">
                                          <p:stCondLst>
                                            <p:cond delay="0"/>
                                          </p:stCondLst>
                                        </p:cTn>
                                        <p:tgtEl>
                                          <p:spTgt spid="13"/>
                                        </p:tgtEl>
                                        <p:attrNameLst>
                                          <p:attrName>style.visibility</p:attrName>
                                        </p:attrNameLst>
                                      </p:cBhvr>
                                      <p:to>
                                        <p:strVal val="visible"/>
                                      </p:to>
                                    </p:set>
                                    <p:animEffect transition="in" filter="blinds(horizontal)">
                                      <p:cBhvr>
                                        <p:cTn id="107" dur="500"/>
                                        <p:tgtEl>
                                          <p:spTgt spid="13"/>
                                        </p:tgtEl>
                                      </p:cBhvr>
                                    </p:animEffec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nodeType="clickEffect">
                                  <p:stCondLst>
                                    <p:cond delay="0"/>
                                  </p:stCondLst>
                                  <p:childTnLst>
                                    <p:set>
                                      <p:cBhvr>
                                        <p:cTn id="111" dur="1" fill="hold">
                                          <p:stCondLst>
                                            <p:cond delay="0"/>
                                          </p:stCondLst>
                                        </p:cTn>
                                        <p:tgtEl>
                                          <p:spTgt spid="26"/>
                                        </p:tgtEl>
                                        <p:attrNameLst>
                                          <p:attrName>style.visibility</p:attrName>
                                        </p:attrNameLst>
                                      </p:cBhvr>
                                      <p:to>
                                        <p:strVal val="visible"/>
                                      </p:to>
                                    </p:set>
                                  </p:childTnLst>
                                </p:cTn>
                              </p:par>
                              <p:par>
                                <p:cTn id="112" presetID="3" presetClass="entr" presetSubtype="10" fill="hold" grpId="0" nodeType="withEffect">
                                  <p:stCondLst>
                                    <p:cond delay="0"/>
                                  </p:stCondLst>
                                  <p:childTnLst>
                                    <p:set>
                                      <p:cBhvr>
                                        <p:cTn id="113" dur="1" fill="hold">
                                          <p:stCondLst>
                                            <p:cond delay="0"/>
                                          </p:stCondLst>
                                        </p:cTn>
                                        <p:tgtEl>
                                          <p:spTgt spid="14"/>
                                        </p:tgtEl>
                                        <p:attrNameLst>
                                          <p:attrName>style.visibility</p:attrName>
                                        </p:attrNameLst>
                                      </p:cBhvr>
                                      <p:to>
                                        <p:strVal val="visible"/>
                                      </p:to>
                                    </p:set>
                                    <p:animEffect transition="in" filter="blinds(horizontal)">
                                      <p:cBhvr>
                                        <p:cTn id="114" dur="500"/>
                                        <p:tgtEl>
                                          <p:spTgt spid="14"/>
                                        </p:tgtEl>
                                      </p:cBhvr>
                                    </p:animEffect>
                                  </p:childTnLst>
                                </p:cTn>
                              </p:par>
                            </p:childTnLst>
                          </p:cTn>
                        </p:par>
                      </p:childTnLst>
                    </p:cTn>
                  </p:par>
                  <p:par>
                    <p:cTn id="115" fill="hold">
                      <p:stCondLst>
                        <p:cond delay="indefinite"/>
                      </p:stCondLst>
                      <p:childTnLst>
                        <p:par>
                          <p:cTn id="116" fill="hold">
                            <p:stCondLst>
                              <p:cond delay="0"/>
                            </p:stCondLst>
                            <p:childTnLst>
                              <p:par>
                                <p:cTn id="117" presetID="3" presetClass="entr" presetSubtype="10" fill="hold" grpId="0" nodeType="clickEffect">
                                  <p:stCondLst>
                                    <p:cond delay="0"/>
                                  </p:stCondLst>
                                  <p:childTnLst>
                                    <p:set>
                                      <p:cBhvr>
                                        <p:cTn id="118" dur="1" fill="hold">
                                          <p:stCondLst>
                                            <p:cond delay="0"/>
                                          </p:stCondLst>
                                        </p:cTn>
                                        <p:tgtEl>
                                          <p:spTgt spid="29"/>
                                        </p:tgtEl>
                                        <p:attrNameLst>
                                          <p:attrName>style.visibility</p:attrName>
                                        </p:attrNameLst>
                                      </p:cBhvr>
                                      <p:to>
                                        <p:strVal val="visible"/>
                                      </p:to>
                                    </p:set>
                                    <p:animEffect transition="in" filter="blinds(horizontal)">
                                      <p:cBhvr>
                                        <p:cTn id="119" dur="500"/>
                                        <p:tgtEl>
                                          <p:spTgt spid="29"/>
                                        </p:tgtEl>
                                      </p:cBhvr>
                                    </p:animEffect>
                                  </p:childTnLst>
                                </p:cTn>
                              </p:par>
                              <p:par>
                                <p:cTn id="120" presetID="3" presetClass="entr" presetSubtype="10" fill="hold" grpId="0" nodeType="withEffect">
                                  <p:stCondLst>
                                    <p:cond delay="0"/>
                                  </p:stCondLst>
                                  <p:childTnLst>
                                    <p:set>
                                      <p:cBhvr>
                                        <p:cTn id="121" dur="1" fill="hold">
                                          <p:stCondLst>
                                            <p:cond delay="0"/>
                                          </p:stCondLst>
                                        </p:cTn>
                                        <p:tgtEl>
                                          <p:spTgt spid="30"/>
                                        </p:tgtEl>
                                        <p:attrNameLst>
                                          <p:attrName>style.visibility</p:attrName>
                                        </p:attrNameLst>
                                      </p:cBhvr>
                                      <p:to>
                                        <p:strVal val="visible"/>
                                      </p:to>
                                    </p:set>
                                    <p:animEffect transition="in" filter="blinds(horizontal)">
                                      <p:cBhvr>
                                        <p:cTn id="12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uiExpand="1" build="p"/>
      <p:bldP spid="10" grpId="0"/>
      <p:bldP spid="11" grpId="0"/>
      <p:bldP spid="12" grpId="0"/>
      <p:bldP spid="13" grpId="0"/>
      <p:bldP spid="14" grpId="0"/>
      <p:bldP spid="29" grpId="0"/>
      <p:bldP spid="3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内容占位符 25602"/>
          <p:cNvSpPr>
            <a:spLocks noGrp="1" noChangeArrowheads="1"/>
          </p:cNvSpPr>
          <p:nvPr>
            <p:ph idx="1"/>
          </p:nvPr>
        </p:nvSpPr>
        <p:spPr>
          <a:xfrm>
            <a:off x="457200" y="1052737"/>
            <a:ext cx="8229600" cy="5040560"/>
          </a:xfrm>
        </p:spPr>
        <p:txBody>
          <a:bodyPr/>
          <a:lstStyle/>
          <a:p>
            <a:pPr>
              <a:buFont typeface="Wingdings" panose="05000000000000000000" pitchFamily="2" charset="2"/>
              <a:buNone/>
            </a:pPr>
            <a:r>
              <a:rPr lang="en-US" altLang="zh-CN" sz="2000" dirty="0"/>
              <a:t>    </a:t>
            </a:r>
            <a:r>
              <a:rPr lang="en-US" altLang="zh-CN" sz="2000" b="1" dirty="0"/>
              <a:t>(4) </a:t>
            </a:r>
            <a:r>
              <a:rPr lang="zh-CN" altLang="en-US" sz="2000" b="1" dirty="0"/>
              <a:t>对返回语句，可用以下几个等价操作来替换：</a:t>
            </a:r>
            <a:endParaRPr lang="zh-CN" altLang="en-US" sz="2000" b="1" dirty="0"/>
          </a:p>
          <a:p>
            <a:pPr>
              <a:buFont typeface="Wingdings" panose="05000000000000000000" pitchFamily="2" charset="2"/>
              <a:buNone/>
            </a:pPr>
            <a:r>
              <a:rPr lang="zh-CN" altLang="en-US" sz="2000" b="1" dirty="0"/>
              <a:t>          如果栈不空，则依次执行如下操作，否则结束本子程序，返回。</a:t>
            </a:r>
            <a:endParaRPr lang="zh-CN" altLang="en-US" sz="2000" b="1" dirty="0"/>
          </a:p>
          <a:p>
            <a:pPr>
              <a:buFont typeface="Wingdings" panose="05000000000000000000" pitchFamily="2" charset="2"/>
              <a:buNone/>
            </a:pPr>
            <a:r>
              <a:rPr lang="zh-CN" altLang="en-US" sz="2000" b="1" dirty="0"/>
              <a:t>          </a:t>
            </a:r>
            <a:r>
              <a:rPr lang="en-US" altLang="zh-CN" sz="2000" b="1" dirty="0"/>
              <a:t>(a) </a:t>
            </a:r>
            <a:r>
              <a:rPr lang="zh-CN" altLang="en-US" sz="2000" b="1" dirty="0"/>
              <a:t>回传数据：若函数需要返回值，将其值保存到回传变量中。</a:t>
            </a:r>
            <a:endParaRPr lang="zh-CN" altLang="en-US" sz="2000" b="1" dirty="0"/>
          </a:p>
          <a:p>
            <a:pPr>
              <a:buFont typeface="Wingdings" panose="05000000000000000000" pitchFamily="2" charset="2"/>
              <a:buNone/>
            </a:pPr>
            <a:r>
              <a:rPr lang="zh-CN" altLang="en-US" sz="2000" b="1" dirty="0"/>
              <a:t>          </a:t>
            </a:r>
            <a:r>
              <a:rPr lang="en-US" altLang="zh-CN" sz="2000" b="1" dirty="0"/>
              <a:t>(b) </a:t>
            </a:r>
            <a:r>
              <a:rPr lang="zh-CN" altLang="en-US" sz="2000" b="1" dirty="0"/>
              <a:t>恢复现场：从栈顶取出返回地址（不妨保存到</a:t>
            </a:r>
            <a:r>
              <a:rPr lang="zh-CN" altLang="en-US" sz="2000" b="1" i="1" dirty="0">
                <a:cs typeface="Times New Roman" panose="02020603050405020304" pitchFamily="18" charset="0"/>
              </a:rPr>
              <a:t>Ｘ</a:t>
            </a:r>
            <a:r>
              <a:rPr lang="zh-CN" altLang="en-US" sz="2000" b="1" dirty="0"/>
              <a:t>中）及各 </a:t>
            </a:r>
            <a:endParaRPr lang="zh-CN" altLang="en-US" sz="2000" b="1" dirty="0"/>
          </a:p>
          <a:p>
            <a:pPr>
              <a:buFont typeface="Wingdings" panose="05000000000000000000" pitchFamily="2" charset="2"/>
              <a:buNone/>
            </a:pPr>
            <a:r>
              <a:rPr lang="zh-CN" altLang="en-US" sz="2000" b="1" dirty="0"/>
              <a:t>                   变量、形参值，并退栈。</a:t>
            </a:r>
            <a:endParaRPr lang="zh-CN" altLang="en-US" sz="2000" b="1" dirty="0"/>
          </a:p>
          <a:p>
            <a:pPr>
              <a:buFont typeface="Wingdings" panose="05000000000000000000" pitchFamily="2" charset="2"/>
              <a:buNone/>
            </a:pPr>
            <a:r>
              <a:rPr lang="zh-CN" altLang="en-US" sz="2000" b="1" dirty="0"/>
              <a:t>          </a:t>
            </a:r>
            <a:r>
              <a:rPr lang="en-US" altLang="zh-CN" sz="2000" b="1" dirty="0"/>
              <a:t>(c) </a:t>
            </a:r>
            <a:r>
              <a:rPr lang="zh-CN" altLang="en-US" sz="2000" b="1" dirty="0"/>
              <a:t>返回：按返回地址返回（即执行</a:t>
            </a:r>
            <a:r>
              <a:rPr lang="en-US" altLang="zh-CN" sz="2000" b="1" dirty="0" err="1"/>
              <a:t>goto</a:t>
            </a:r>
            <a:r>
              <a:rPr lang="en-US" altLang="zh-CN" sz="2000" b="1" dirty="0"/>
              <a:t> </a:t>
            </a:r>
            <a:r>
              <a:rPr lang="zh-CN" altLang="en-US" sz="2000" b="1" i="1" dirty="0">
                <a:cs typeface="Times New Roman" panose="02020603050405020304" pitchFamily="18" charset="0"/>
              </a:rPr>
              <a:t>Ｘ</a:t>
            </a:r>
            <a:r>
              <a:rPr lang="zh-CN" altLang="en-US" sz="2000" b="1" dirty="0"/>
              <a:t>）。</a:t>
            </a:r>
            <a:endParaRPr lang="zh-CN" altLang="en-US" sz="2000" b="1" dirty="0"/>
          </a:p>
          <a:p>
            <a:pPr>
              <a:spcBef>
                <a:spcPts val="600"/>
              </a:spcBef>
              <a:buFont typeface="Wingdings" panose="05000000000000000000" pitchFamily="2" charset="2"/>
              <a:buNone/>
            </a:pPr>
            <a:r>
              <a:rPr lang="en-US" altLang="zh-CN" sz="2000" b="1" dirty="0"/>
              <a:t>    (5) </a:t>
            </a:r>
            <a:r>
              <a:rPr lang="zh-CN" altLang="en-US" sz="2000" b="1" dirty="0"/>
              <a:t>对其中的非递归调用和返回操作</a:t>
            </a:r>
            <a:r>
              <a:rPr lang="en-US" altLang="zh-CN" sz="2000" b="1" dirty="0"/>
              <a:t>,</a:t>
            </a:r>
            <a:r>
              <a:rPr lang="zh-CN" altLang="en-US" sz="2000" b="1" dirty="0"/>
              <a:t> 可照搬。</a:t>
            </a:r>
            <a:endParaRPr lang="zh-CN" altLang="en-US" sz="2000" b="1" dirty="0"/>
          </a:p>
          <a:p>
            <a:pPr>
              <a:lnSpc>
                <a:spcPct val="80000"/>
              </a:lnSpc>
              <a:buFont typeface="Wingdings" panose="05000000000000000000" pitchFamily="2" charset="2"/>
              <a:buNone/>
            </a:pPr>
            <a:endParaRPr lang="zh-CN" altLang="en-US" sz="1800" b="1" dirty="0"/>
          </a:p>
          <a:p>
            <a:pPr>
              <a:lnSpc>
                <a:spcPct val="80000"/>
              </a:lnSpc>
              <a:buClr>
                <a:srgbClr val="FF0000"/>
              </a:buClr>
              <a:buFont typeface="Wingdings" panose="05000000000000000000" pitchFamily="2" charset="2"/>
              <a:buChar char="ü"/>
            </a:pPr>
            <a:r>
              <a:rPr lang="zh-CN" altLang="en-US" sz="1800" b="1" dirty="0">
                <a:solidFill>
                  <a:srgbClr val="FF0000"/>
                </a:solidFill>
              </a:rPr>
              <a:t>例</a:t>
            </a:r>
            <a:r>
              <a:rPr lang="zh-CN" altLang="en-US" sz="1800" b="1" dirty="0"/>
              <a:t>：将下面递归程序转换为等价的非递归程序。</a:t>
            </a:r>
            <a:endParaRPr lang="zh-CN" altLang="en-US" sz="1800" b="1" dirty="0"/>
          </a:p>
          <a:p>
            <a:pPr>
              <a:lnSpc>
                <a:spcPct val="80000"/>
              </a:lnSpc>
              <a:buFont typeface="Wingdings" panose="05000000000000000000" pitchFamily="2" charset="2"/>
              <a:buNone/>
            </a:pPr>
            <a:r>
              <a:rPr lang="zh-CN" altLang="en-US" sz="1800" b="1" dirty="0"/>
              <a:t>              </a:t>
            </a:r>
            <a:r>
              <a:rPr lang="en-US" altLang="zh-CN" sz="1800" b="1" dirty="0">
                <a:solidFill>
                  <a:srgbClr val="0000FF"/>
                </a:solidFill>
              </a:rPr>
              <a:t>void</a:t>
            </a:r>
            <a:r>
              <a:rPr lang="en-US" altLang="zh-CN" sz="1800" b="1" dirty="0"/>
              <a:t>  P(</a:t>
            </a:r>
            <a:r>
              <a:rPr lang="en-US" altLang="zh-CN" sz="1800" b="1" dirty="0" err="1">
                <a:solidFill>
                  <a:srgbClr val="0000FF"/>
                </a:solidFill>
              </a:rPr>
              <a:t>int</a:t>
            </a:r>
            <a:r>
              <a:rPr lang="en-US" altLang="zh-CN" sz="1800" b="1" dirty="0"/>
              <a:t> </a:t>
            </a:r>
            <a:r>
              <a:rPr lang="en-US" altLang="zh-CN" sz="1800" b="1" i="1" dirty="0"/>
              <a:t>n</a:t>
            </a:r>
            <a:r>
              <a:rPr lang="en-US" altLang="zh-CN" sz="1800" b="1" dirty="0"/>
              <a:t>) </a:t>
            </a:r>
            <a:endParaRPr lang="en-US" altLang="zh-CN" sz="1800" b="1" dirty="0"/>
          </a:p>
          <a:p>
            <a:pPr>
              <a:lnSpc>
                <a:spcPct val="80000"/>
              </a:lnSpc>
              <a:buFont typeface="Wingdings" panose="05000000000000000000" pitchFamily="2" charset="2"/>
              <a:buNone/>
            </a:pPr>
            <a:r>
              <a:rPr lang="en-US" altLang="zh-CN" sz="1800" b="1" dirty="0"/>
              <a:t>              {</a:t>
            </a:r>
            <a:endParaRPr lang="en-US" altLang="zh-CN" sz="1800" b="1" dirty="0"/>
          </a:p>
          <a:p>
            <a:pPr>
              <a:lnSpc>
                <a:spcPct val="80000"/>
              </a:lnSpc>
              <a:buFont typeface="Wingdings" panose="05000000000000000000" pitchFamily="2" charset="2"/>
              <a:buNone/>
            </a:pPr>
            <a:r>
              <a:rPr lang="en-US" altLang="zh-CN" sz="1800" b="1" dirty="0"/>
              <a:t>                    </a:t>
            </a:r>
            <a:r>
              <a:rPr lang="en-US" altLang="zh-CN" sz="1800" b="1" dirty="0">
                <a:solidFill>
                  <a:srgbClr val="0000FF"/>
                </a:solidFill>
              </a:rPr>
              <a:t>if</a:t>
            </a:r>
            <a:r>
              <a:rPr lang="en-US" altLang="zh-CN" sz="1800" b="1" dirty="0"/>
              <a:t> ( </a:t>
            </a:r>
            <a:r>
              <a:rPr lang="en-US" altLang="zh-CN" sz="1800" b="1" i="1" dirty="0"/>
              <a:t>n</a:t>
            </a:r>
            <a:r>
              <a:rPr lang="en-US" altLang="zh-CN" sz="1800" b="1" dirty="0"/>
              <a:t> &gt; 0 )</a:t>
            </a:r>
            <a:endParaRPr lang="en-US" altLang="zh-CN" sz="1800" b="1" dirty="0"/>
          </a:p>
          <a:p>
            <a:pPr>
              <a:lnSpc>
                <a:spcPct val="80000"/>
              </a:lnSpc>
              <a:buFont typeface="Wingdings" panose="05000000000000000000" pitchFamily="2" charset="2"/>
              <a:buNone/>
            </a:pPr>
            <a:r>
              <a:rPr lang="en-US" altLang="zh-CN" sz="1800" b="1" dirty="0"/>
              <a:t>                    { </a:t>
            </a:r>
            <a:endParaRPr lang="en-US" altLang="zh-CN" sz="1800" b="1" dirty="0"/>
          </a:p>
          <a:p>
            <a:pPr>
              <a:lnSpc>
                <a:spcPct val="80000"/>
              </a:lnSpc>
              <a:buFont typeface="Wingdings" panose="05000000000000000000" pitchFamily="2" charset="2"/>
              <a:buNone/>
            </a:pPr>
            <a:r>
              <a:rPr lang="en-US" altLang="zh-CN" sz="1800" b="1" dirty="0"/>
              <a:t>                           P( </a:t>
            </a:r>
            <a:r>
              <a:rPr lang="en-US" altLang="zh-CN" sz="1800" b="1" i="1" dirty="0"/>
              <a:t>n</a:t>
            </a:r>
            <a:r>
              <a:rPr lang="en-US" altLang="zh-CN" sz="1800" b="1" dirty="0"/>
              <a:t> – 1 );</a:t>
            </a:r>
            <a:endParaRPr lang="en-US" altLang="zh-CN" sz="1800" b="1" dirty="0"/>
          </a:p>
          <a:p>
            <a:pPr>
              <a:lnSpc>
                <a:spcPct val="80000"/>
              </a:lnSpc>
              <a:buFont typeface="Wingdings" panose="05000000000000000000" pitchFamily="2" charset="2"/>
              <a:buNone/>
            </a:pPr>
            <a:r>
              <a:rPr lang="en-US" altLang="zh-CN" sz="1800" b="1" dirty="0"/>
              <a:t>                           </a:t>
            </a:r>
            <a:r>
              <a:rPr lang="en-US" altLang="zh-CN" sz="1800" b="1" dirty="0" err="1">
                <a:solidFill>
                  <a:srgbClr val="0000FF"/>
                </a:solidFill>
              </a:rPr>
              <a:t>cout</a:t>
            </a:r>
            <a:r>
              <a:rPr lang="en-US" altLang="zh-CN" sz="1800" b="1" dirty="0">
                <a:solidFill>
                  <a:srgbClr val="0000FF"/>
                </a:solidFill>
              </a:rPr>
              <a:t> </a:t>
            </a:r>
            <a:r>
              <a:rPr lang="en-US" altLang="zh-CN" sz="1800" b="1" dirty="0"/>
              <a:t>&lt;&lt; </a:t>
            </a:r>
            <a:r>
              <a:rPr lang="en-US" altLang="zh-CN" sz="1800" b="1" i="1" dirty="0"/>
              <a:t>n</a:t>
            </a:r>
            <a:r>
              <a:rPr lang="en-US" altLang="zh-CN" sz="1800" b="1" dirty="0"/>
              <a:t>;</a:t>
            </a:r>
            <a:endParaRPr lang="en-US" altLang="zh-CN" sz="1800" b="1" dirty="0"/>
          </a:p>
          <a:p>
            <a:pPr>
              <a:lnSpc>
                <a:spcPct val="80000"/>
              </a:lnSpc>
              <a:buFont typeface="Wingdings" panose="05000000000000000000" pitchFamily="2" charset="2"/>
              <a:buNone/>
            </a:pPr>
            <a:r>
              <a:rPr lang="en-US" altLang="zh-CN" sz="1800" b="1" dirty="0"/>
              <a:t>                     } </a:t>
            </a:r>
            <a:endParaRPr lang="en-US" altLang="zh-CN" sz="1800" b="1" dirty="0"/>
          </a:p>
          <a:p>
            <a:pPr>
              <a:lnSpc>
                <a:spcPct val="80000"/>
              </a:lnSpc>
              <a:buFont typeface="Wingdings" panose="05000000000000000000" pitchFamily="2" charset="2"/>
              <a:buNone/>
            </a:pPr>
            <a:r>
              <a:rPr lang="en-US" altLang="zh-CN" sz="1800" b="1" dirty="0"/>
              <a:t>              } </a:t>
            </a:r>
            <a:endParaRPr lang="zh-CN" altLang="en-US" sz="1800" b="1" dirty="0"/>
          </a:p>
        </p:txBody>
      </p:sp>
      <p:grpSp>
        <p:nvGrpSpPr>
          <p:cNvPr id="6" name="组合 5"/>
          <p:cNvGrpSpPr/>
          <p:nvPr/>
        </p:nvGrpSpPr>
        <p:grpSpPr>
          <a:xfrm>
            <a:off x="541437" y="127832"/>
            <a:ext cx="7991003" cy="674160"/>
            <a:chOff x="999690" y="5042189"/>
            <a:chExt cx="8290830" cy="647731"/>
          </a:xfrm>
        </p:grpSpPr>
        <p:sp>
          <p:nvSpPr>
            <p:cNvPr id="7"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9" name="图片 8"/>
            <p:cNvPicPr>
              <a:picLocks noChangeAspect="1"/>
            </p:cNvPicPr>
            <p:nvPr/>
          </p:nvPicPr>
          <p:blipFill>
            <a:blip r:embed="rId1" cstate="print"/>
            <a:stretch>
              <a:fillRect/>
            </a:stretch>
          </p:blipFill>
          <p:spPr>
            <a:xfrm>
              <a:off x="1199659" y="5205012"/>
              <a:ext cx="420013" cy="322083"/>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blinds(horizontal)">
                                      <p:cBhvr>
                                        <p:cTn id="7" dur="500"/>
                                        <p:tgtEl>
                                          <p:spTgt spid="256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603">
                                            <p:txEl>
                                              <p:pRg st="1" end="1"/>
                                            </p:txEl>
                                          </p:spTgt>
                                        </p:tgtEl>
                                        <p:attrNameLst>
                                          <p:attrName>style.visibility</p:attrName>
                                        </p:attrNameLst>
                                      </p:cBhvr>
                                      <p:to>
                                        <p:strVal val="visible"/>
                                      </p:to>
                                    </p:set>
                                    <p:animEffect transition="in" filter="blinds(horizontal)">
                                      <p:cBhvr>
                                        <p:cTn id="12" dur="500"/>
                                        <p:tgtEl>
                                          <p:spTgt spid="256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603">
                                            <p:txEl>
                                              <p:pRg st="2" end="2"/>
                                            </p:txEl>
                                          </p:spTgt>
                                        </p:tgtEl>
                                        <p:attrNameLst>
                                          <p:attrName>style.visibility</p:attrName>
                                        </p:attrNameLst>
                                      </p:cBhvr>
                                      <p:to>
                                        <p:strVal val="visible"/>
                                      </p:to>
                                    </p:set>
                                    <p:animEffect transition="in" filter="blinds(horizontal)">
                                      <p:cBhvr>
                                        <p:cTn id="17" dur="500"/>
                                        <p:tgtEl>
                                          <p:spTgt spid="256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603">
                                            <p:txEl>
                                              <p:pRg st="3" end="3"/>
                                            </p:txEl>
                                          </p:spTgt>
                                        </p:tgtEl>
                                        <p:attrNameLst>
                                          <p:attrName>style.visibility</p:attrName>
                                        </p:attrNameLst>
                                      </p:cBhvr>
                                      <p:to>
                                        <p:strVal val="visible"/>
                                      </p:to>
                                    </p:set>
                                    <p:animEffect transition="in" filter="blinds(horizontal)">
                                      <p:cBhvr>
                                        <p:cTn id="22" dur="500"/>
                                        <p:tgtEl>
                                          <p:spTgt spid="256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5603">
                                            <p:txEl>
                                              <p:pRg st="4" end="4"/>
                                            </p:txEl>
                                          </p:spTgt>
                                        </p:tgtEl>
                                        <p:attrNameLst>
                                          <p:attrName>style.visibility</p:attrName>
                                        </p:attrNameLst>
                                      </p:cBhvr>
                                      <p:to>
                                        <p:strVal val="visible"/>
                                      </p:to>
                                    </p:set>
                                    <p:animEffect transition="in" filter="blinds(horizontal)">
                                      <p:cBhvr>
                                        <p:cTn id="27" dur="500"/>
                                        <p:tgtEl>
                                          <p:spTgt spid="2560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5603">
                                            <p:txEl>
                                              <p:pRg st="5" end="5"/>
                                            </p:txEl>
                                          </p:spTgt>
                                        </p:tgtEl>
                                        <p:attrNameLst>
                                          <p:attrName>style.visibility</p:attrName>
                                        </p:attrNameLst>
                                      </p:cBhvr>
                                      <p:to>
                                        <p:strVal val="visible"/>
                                      </p:to>
                                    </p:set>
                                    <p:animEffect transition="in" filter="blinds(horizontal)">
                                      <p:cBhvr>
                                        <p:cTn id="32" dur="500"/>
                                        <p:tgtEl>
                                          <p:spTgt spid="2560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5603">
                                            <p:txEl>
                                              <p:pRg st="6" end="6"/>
                                            </p:txEl>
                                          </p:spTgt>
                                        </p:tgtEl>
                                        <p:attrNameLst>
                                          <p:attrName>style.visibility</p:attrName>
                                        </p:attrNameLst>
                                      </p:cBhvr>
                                      <p:to>
                                        <p:strVal val="visible"/>
                                      </p:to>
                                    </p:set>
                                    <p:animEffect transition="in" filter="blinds(horizontal)">
                                      <p:cBhvr>
                                        <p:cTn id="37" dur="500"/>
                                        <p:tgtEl>
                                          <p:spTgt spid="2560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5603">
                                            <p:txEl>
                                              <p:pRg st="8" end="8"/>
                                            </p:txEl>
                                          </p:spTgt>
                                        </p:tgtEl>
                                        <p:attrNameLst>
                                          <p:attrName>style.visibility</p:attrName>
                                        </p:attrNameLst>
                                      </p:cBhvr>
                                      <p:to>
                                        <p:strVal val="visible"/>
                                      </p:to>
                                    </p:set>
                                    <p:animEffect transition="in" filter="blinds(horizontal)">
                                      <p:cBhvr>
                                        <p:cTn id="42" dur="500"/>
                                        <p:tgtEl>
                                          <p:spTgt spid="2560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5603">
                                            <p:txEl>
                                              <p:pRg st="9" end="9"/>
                                            </p:txEl>
                                          </p:spTgt>
                                        </p:tgtEl>
                                        <p:attrNameLst>
                                          <p:attrName>style.visibility</p:attrName>
                                        </p:attrNameLst>
                                      </p:cBhvr>
                                      <p:to>
                                        <p:strVal val="visible"/>
                                      </p:to>
                                    </p:set>
                                    <p:animEffect transition="in" filter="blinds(horizontal)">
                                      <p:cBhvr>
                                        <p:cTn id="47" dur="500"/>
                                        <p:tgtEl>
                                          <p:spTgt spid="2560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5603">
                                            <p:txEl>
                                              <p:pRg st="10" end="10"/>
                                            </p:txEl>
                                          </p:spTgt>
                                        </p:tgtEl>
                                        <p:attrNameLst>
                                          <p:attrName>style.visibility</p:attrName>
                                        </p:attrNameLst>
                                      </p:cBhvr>
                                      <p:to>
                                        <p:strVal val="visible"/>
                                      </p:to>
                                    </p:set>
                                    <p:animEffect transition="in" filter="blinds(horizontal)">
                                      <p:cBhvr>
                                        <p:cTn id="52" dur="500"/>
                                        <p:tgtEl>
                                          <p:spTgt spid="2560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5603">
                                            <p:txEl>
                                              <p:pRg st="11" end="11"/>
                                            </p:txEl>
                                          </p:spTgt>
                                        </p:tgtEl>
                                        <p:attrNameLst>
                                          <p:attrName>style.visibility</p:attrName>
                                        </p:attrNameLst>
                                      </p:cBhvr>
                                      <p:to>
                                        <p:strVal val="visible"/>
                                      </p:to>
                                    </p:set>
                                    <p:animEffect transition="in" filter="blinds(horizontal)">
                                      <p:cBhvr>
                                        <p:cTn id="57" dur="500"/>
                                        <p:tgtEl>
                                          <p:spTgt spid="25603">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5603">
                                            <p:txEl>
                                              <p:pRg st="12" end="12"/>
                                            </p:txEl>
                                          </p:spTgt>
                                        </p:tgtEl>
                                        <p:attrNameLst>
                                          <p:attrName>style.visibility</p:attrName>
                                        </p:attrNameLst>
                                      </p:cBhvr>
                                      <p:to>
                                        <p:strVal val="visible"/>
                                      </p:to>
                                    </p:set>
                                    <p:animEffect transition="in" filter="blinds(horizontal)">
                                      <p:cBhvr>
                                        <p:cTn id="62" dur="500"/>
                                        <p:tgtEl>
                                          <p:spTgt spid="25603">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5603">
                                            <p:txEl>
                                              <p:pRg st="13" end="13"/>
                                            </p:txEl>
                                          </p:spTgt>
                                        </p:tgtEl>
                                        <p:attrNameLst>
                                          <p:attrName>style.visibility</p:attrName>
                                        </p:attrNameLst>
                                      </p:cBhvr>
                                      <p:to>
                                        <p:strVal val="visible"/>
                                      </p:to>
                                    </p:set>
                                    <p:animEffect transition="in" filter="blinds(horizontal)">
                                      <p:cBhvr>
                                        <p:cTn id="67" dur="500"/>
                                        <p:tgtEl>
                                          <p:spTgt spid="25603">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5603">
                                            <p:txEl>
                                              <p:pRg st="14" end="14"/>
                                            </p:txEl>
                                          </p:spTgt>
                                        </p:tgtEl>
                                        <p:attrNameLst>
                                          <p:attrName>style.visibility</p:attrName>
                                        </p:attrNameLst>
                                      </p:cBhvr>
                                      <p:to>
                                        <p:strVal val="visible"/>
                                      </p:to>
                                    </p:set>
                                    <p:animEffect transition="in" filter="blinds(horizontal)">
                                      <p:cBhvr>
                                        <p:cTn id="72" dur="500"/>
                                        <p:tgtEl>
                                          <p:spTgt spid="25603">
                                            <p:txEl>
                                              <p:pRg st="14" end="1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5603">
                                            <p:txEl>
                                              <p:pRg st="15" end="15"/>
                                            </p:txEl>
                                          </p:spTgt>
                                        </p:tgtEl>
                                        <p:attrNameLst>
                                          <p:attrName>style.visibility</p:attrName>
                                        </p:attrNameLst>
                                      </p:cBhvr>
                                      <p:to>
                                        <p:strVal val="visible"/>
                                      </p:to>
                                    </p:set>
                                    <p:animEffect transition="in" filter="blinds(horizontal)">
                                      <p:cBhvr>
                                        <p:cTn id="77" dur="500"/>
                                        <p:tgtEl>
                                          <p:spTgt spid="25603">
                                            <p:txEl>
                                              <p:pRg st="15" end="1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5603">
                                            <p:txEl>
                                              <p:pRg st="16" end="16"/>
                                            </p:txEl>
                                          </p:spTgt>
                                        </p:tgtEl>
                                        <p:attrNameLst>
                                          <p:attrName>style.visibility</p:attrName>
                                        </p:attrNameLst>
                                      </p:cBhvr>
                                      <p:to>
                                        <p:strVal val="visible"/>
                                      </p:to>
                                    </p:set>
                                    <p:animEffect transition="in" filter="blinds(horizontal)">
                                      <p:cBhvr>
                                        <p:cTn id="82" dur="500"/>
                                        <p:tgtEl>
                                          <p:spTgt spid="25603">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内容占位符 26626"/>
          <p:cNvSpPr>
            <a:spLocks noGrp="1" noChangeArrowheads="1"/>
          </p:cNvSpPr>
          <p:nvPr>
            <p:ph idx="1"/>
          </p:nvPr>
        </p:nvSpPr>
        <p:spPr>
          <a:xfrm>
            <a:off x="457200" y="976332"/>
            <a:ext cx="8229600" cy="4678451"/>
          </a:xfrm>
        </p:spPr>
        <p:txBody>
          <a:bodyPr/>
          <a:lstStyle/>
          <a:p>
            <a:pPr>
              <a:buFont typeface="Wingdings" panose="05000000000000000000" pitchFamily="2" charset="2"/>
              <a:buNone/>
            </a:pPr>
            <a:r>
              <a:rPr lang="zh-CN" altLang="en-US" sz="2000" b="1" dirty="0"/>
              <a:t>解</a:t>
            </a:r>
            <a:r>
              <a:rPr lang="en-US" altLang="zh-CN" sz="2000" b="1" dirty="0"/>
              <a:t>: </a:t>
            </a:r>
            <a:r>
              <a:rPr lang="zh-CN" altLang="en-US" sz="2000" b="1" dirty="0"/>
              <a:t>为了实现转换，需要按照规则对下列各部分分别进行转换：</a:t>
            </a:r>
            <a:endParaRPr lang="zh-CN" altLang="en-US" sz="2000" b="1" dirty="0"/>
          </a:p>
          <a:p>
            <a:pPr>
              <a:buFont typeface="Wingdings" panose="05000000000000000000" pitchFamily="2" charset="2"/>
              <a:buNone/>
            </a:pPr>
            <a:r>
              <a:rPr lang="zh-CN" altLang="en-US" sz="2000" b="1" dirty="0"/>
              <a:t>      </a:t>
            </a:r>
            <a:r>
              <a:rPr lang="zh-CN" altLang="en-US" b="1" dirty="0"/>
              <a:t> </a:t>
            </a:r>
            <a:r>
              <a:rPr lang="en-US" altLang="zh-CN" sz="2000" b="1" dirty="0">
                <a:solidFill>
                  <a:srgbClr val="0000FF"/>
                </a:solidFill>
              </a:rPr>
              <a:t>void</a:t>
            </a:r>
            <a:r>
              <a:rPr lang="en-US" altLang="zh-CN" sz="2000" b="1" dirty="0"/>
              <a:t>  P(</a:t>
            </a:r>
            <a:r>
              <a:rPr lang="en-US" altLang="zh-CN" sz="2000" b="1" dirty="0" err="1">
                <a:solidFill>
                  <a:srgbClr val="0000FF"/>
                </a:solidFill>
              </a:rPr>
              <a:t>int</a:t>
            </a:r>
            <a:r>
              <a:rPr lang="en-US" altLang="zh-CN" sz="2000" b="1" dirty="0"/>
              <a:t> </a:t>
            </a:r>
            <a:r>
              <a:rPr lang="en-US" altLang="zh-CN" sz="2000" b="1" i="1" dirty="0"/>
              <a:t>n</a:t>
            </a:r>
            <a:r>
              <a:rPr lang="en-US" altLang="zh-CN" sz="2000" b="1" dirty="0"/>
              <a:t>) { </a:t>
            </a:r>
            <a:endParaRPr lang="en-US" altLang="zh-CN" sz="2000" b="1" dirty="0"/>
          </a:p>
          <a:p>
            <a:pPr>
              <a:buFont typeface="Wingdings" panose="05000000000000000000" pitchFamily="2" charset="2"/>
              <a:buNone/>
            </a:pPr>
            <a:endParaRPr lang="en-US" altLang="zh-CN" sz="2000" b="1" dirty="0"/>
          </a:p>
          <a:p>
            <a:pPr>
              <a:buFont typeface="Wingdings" panose="05000000000000000000" pitchFamily="2" charset="2"/>
              <a:buNone/>
            </a:pPr>
            <a:endParaRPr lang="en-US" altLang="zh-CN" sz="2000" b="1" dirty="0"/>
          </a:p>
          <a:p>
            <a:pPr>
              <a:buFont typeface="Wingdings" panose="05000000000000000000" pitchFamily="2" charset="2"/>
              <a:buNone/>
            </a:pPr>
            <a:endParaRPr lang="en-US" altLang="zh-CN" sz="2000" b="1" dirty="0"/>
          </a:p>
          <a:p>
            <a:pPr>
              <a:buFont typeface="Wingdings" panose="05000000000000000000" pitchFamily="2" charset="2"/>
              <a:buNone/>
            </a:pPr>
            <a:endParaRPr lang="en-US" altLang="zh-CN" sz="2000" b="1" dirty="0"/>
          </a:p>
          <a:p>
            <a:pPr>
              <a:buFont typeface="Wingdings" panose="05000000000000000000" pitchFamily="2" charset="2"/>
              <a:buNone/>
            </a:pPr>
            <a:endParaRPr lang="en-US" altLang="zh-CN" sz="2000" b="1" dirty="0"/>
          </a:p>
          <a:p>
            <a:pPr>
              <a:buFont typeface="Wingdings" panose="05000000000000000000" pitchFamily="2" charset="2"/>
              <a:buNone/>
            </a:pPr>
            <a:endParaRPr lang="en-US" altLang="zh-CN" sz="2000" b="1" dirty="0"/>
          </a:p>
          <a:p>
            <a:pPr>
              <a:buFont typeface="Wingdings" panose="05000000000000000000" pitchFamily="2" charset="2"/>
              <a:buNone/>
            </a:pPr>
            <a:endParaRPr lang="en-US" altLang="zh-CN" sz="2000" b="1" dirty="0"/>
          </a:p>
          <a:p>
            <a:pPr>
              <a:buFont typeface="Wingdings" panose="05000000000000000000" pitchFamily="2" charset="2"/>
              <a:buNone/>
            </a:pPr>
            <a:endParaRPr lang="en-US" altLang="zh-CN" sz="2000" b="1" dirty="0"/>
          </a:p>
          <a:p>
            <a:pPr>
              <a:buFont typeface="Wingdings" panose="05000000000000000000" pitchFamily="2" charset="2"/>
              <a:buNone/>
            </a:pPr>
            <a:endParaRPr lang="en-US" altLang="zh-CN" sz="2000" b="1" dirty="0"/>
          </a:p>
          <a:p>
            <a:pPr>
              <a:buFont typeface="Wingdings" panose="05000000000000000000" pitchFamily="2" charset="2"/>
              <a:buNone/>
            </a:pPr>
            <a:endParaRPr lang="en-US" altLang="zh-CN" sz="2000" b="1" dirty="0"/>
          </a:p>
          <a:p>
            <a:pPr>
              <a:buFont typeface="Wingdings" panose="05000000000000000000" pitchFamily="2" charset="2"/>
              <a:buNone/>
            </a:pPr>
            <a:r>
              <a:rPr lang="en-US" altLang="zh-CN" sz="2000" b="1" dirty="0"/>
              <a:t>      }</a:t>
            </a:r>
            <a:endParaRPr lang="en-US" altLang="zh-CN" sz="2000" b="1" dirty="0"/>
          </a:p>
          <a:p>
            <a:pPr>
              <a:buFont typeface="Wingdings" panose="05000000000000000000" pitchFamily="2" charset="2"/>
              <a:buNone/>
            </a:pPr>
            <a:r>
              <a:rPr lang="zh-CN" altLang="en-US" sz="2000" dirty="0"/>
              <a:t>      </a:t>
            </a:r>
            <a:endParaRPr lang="zh-CN" altLang="en-US" sz="2000" dirty="0"/>
          </a:p>
        </p:txBody>
      </p:sp>
      <p:sp>
        <p:nvSpPr>
          <p:cNvPr id="26628" name="矩形 26627"/>
          <p:cNvSpPr>
            <a:spLocks noChangeArrowheads="1"/>
          </p:cNvSpPr>
          <p:nvPr/>
        </p:nvSpPr>
        <p:spPr bwMode="auto">
          <a:xfrm>
            <a:off x="1476375" y="2060575"/>
            <a:ext cx="1295400" cy="360363"/>
          </a:xfrm>
          <a:prstGeom prst="rect">
            <a:avLst/>
          </a:prstGeom>
          <a:solidFill>
            <a:srgbClr val="FFFF00"/>
          </a:solidFill>
          <a:ln w="9525">
            <a:solidFill>
              <a:schemeClr val="tx1"/>
            </a:solidFill>
            <a:miter lim="800000"/>
          </a:ln>
        </p:spPr>
        <p:txBody>
          <a:bodyPr/>
          <a:lstStyle/>
          <a:p>
            <a:pPr algn="ctr" eaLnBrk="0" hangingPunct="0"/>
            <a:endParaRPr lang="zh-CN" altLang="en-US">
              <a:latin typeface="Times New Roman" panose="02020603050405020304" pitchFamily="18" charset="0"/>
              <a:cs typeface="Times New Roman" panose="02020603050405020304" pitchFamily="18" charset="0"/>
            </a:endParaRPr>
          </a:p>
        </p:txBody>
      </p:sp>
      <p:sp>
        <p:nvSpPr>
          <p:cNvPr id="26629" name="矩形标注 26628"/>
          <p:cNvSpPr>
            <a:spLocks noChangeArrowheads="1"/>
          </p:cNvSpPr>
          <p:nvPr/>
        </p:nvSpPr>
        <p:spPr bwMode="auto">
          <a:xfrm>
            <a:off x="4643438" y="1844675"/>
            <a:ext cx="4103688" cy="678907"/>
          </a:xfrm>
          <a:prstGeom prst="wedgeRectCallout">
            <a:avLst>
              <a:gd name="adj1" fmla="val -95302"/>
              <a:gd name="adj2" fmla="val 14291"/>
            </a:avLst>
          </a:prstGeom>
          <a:solidFill>
            <a:srgbClr val="FFFF00"/>
          </a:solidFill>
          <a:ln w="9525" cap="rnd">
            <a:solidFill>
              <a:srgbClr val="000000"/>
            </a:solidFill>
            <a:prstDash val="sysDot"/>
            <a:miter lim="800000"/>
          </a:ln>
        </p:spPr>
        <p:txBody>
          <a:bodyPr/>
          <a:lstStyle/>
          <a:p>
            <a:pPr algn="ctr" eaLnBrk="0" hangingPunct="0"/>
            <a:r>
              <a:rPr lang="zh-CN" altLang="en-US" sz="2000" b="1" dirty="0">
                <a:latin typeface="Times New Roman" panose="02020603050405020304" pitchFamily="18" charset="0"/>
                <a:cs typeface="Times New Roman" panose="02020603050405020304" pitchFamily="18" charset="0"/>
              </a:rPr>
              <a:t>初始化栈</a:t>
            </a:r>
            <a:r>
              <a:rPr lang="en-US" altLang="zh-CN" sz="2000" b="1" dirty="0">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规则</a:t>
            </a:r>
            <a:r>
              <a:rPr lang="en-US" altLang="zh-CN" sz="2000" b="1" dirty="0">
                <a:latin typeface="Times New Roman" panose="02020603050405020304" pitchFamily="18" charset="0"/>
                <a:cs typeface="Times New Roman" panose="02020603050405020304" pitchFamily="18" charset="0"/>
              </a:rPr>
              <a:t>1</a:t>
            </a:r>
            <a:endParaRPr lang="en-US" altLang="zh-CN" sz="2000" b="1" dirty="0">
              <a:latin typeface="Times New Roman" panose="02020603050405020304" pitchFamily="18" charset="0"/>
              <a:cs typeface="Times New Roman" panose="02020603050405020304" pitchFamily="18" charset="0"/>
            </a:endParaRPr>
          </a:p>
          <a:p>
            <a:pPr algn="ctr" eaLnBrk="0" hangingPunct="0"/>
            <a:r>
              <a:rPr lang="zh-CN" altLang="en-US" sz="2000" b="1" dirty="0">
                <a:latin typeface="Times New Roman" panose="02020603050405020304" pitchFamily="18" charset="0"/>
                <a:cs typeface="Times New Roman" panose="02020603050405020304" pitchFamily="18" charset="0"/>
              </a:rPr>
              <a:t>设入口标号</a:t>
            </a:r>
            <a:r>
              <a:rPr lang="en-US" altLang="zh-CN" sz="2000" b="1" dirty="0">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规则</a:t>
            </a:r>
            <a:r>
              <a:rPr lang="en-US" altLang="zh-CN" sz="2000" b="1" dirty="0">
                <a:latin typeface="Times New Roman" panose="02020603050405020304" pitchFamily="18" charset="0"/>
                <a:cs typeface="Times New Roman" panose="02020603050405020304" pitchFamily="18" charset="0"/>
              </a:rPr>
              <a:t>2</a:t>
            </a:r>
            <a:endParaRPr lang="en-US" altLang="zh-CN" sz="2000" b="1" dirty="0">
              <a:latin typeface="Times New Roman" panose="02020603050405020304" pitchFamily="18" charset="0"/>
              <a:cs typeface="Times New Roman" panose="02020603050405020304" pitchFamily="18" charset="0"/>
            </a:endParaRPr>
          </a:p>
        </p:txBody>
      </p:sp>
      <p:sp>
        <p:nvSpPr>
          <p:cNvPr id="26631" name="矩形 26630"/>
          <p:cNvSpPr>
            <a:spLocks noChangeArrowheads="1"/>
          </p:cNvSpPr>
          <p:nvPr/>
        </p:nvSpPr>
        <p:spPr bwMode="auto">
          <a:xfrm>
            <a:off x="1475656" y="5229225"/>
            <a:ext cx="1295400" cy="360363"/>
          </a:xfrm>
          <a:prstGeom prst="rect">
            <a:avLst/>
          </a:prstGeom>
          <a:solidFill>
            <a:srgbClr val="00B0F0"/>
          </a:solidFill>
          <a:ln w="9525">
            <a:solidFill>
              <a:schemeClr val="tx1"/>
            </a:solidFill>
            <a:miter lim="800000"/>
          </a:ln>
        </p:spPr>
        <p:txBody>
          <a:bodyPr/>
          <a:lstStyle/>
          <a:p>
            <a:pPr algn="ctr" eaLnBrk="0" hangingPunct="0"/>
            <a:endParaRPr lang="zh-CN" altLang="en-US">
              <a:latin typeface="Times New Roman" panose="02020603050405020304" pitchFamily="18" charset="0"/>
              <a:cs typeface="Times New Roman" panose="02020603050405020304" pitchFamily="18" charset="0"/>
            </a:endParaRPr>
          </a:p>
        </p:txBody>
      </p:sp>
      <p:sp>
        <p:nvSpPr>
          <p:cNvPr id="26632" name="矩形 26631"/>
          <p:cNvSpPr>
            <a:spLocks noChangeArrowheads="1"/>
          </p:cNvSpPr>
          <p:nvPr/>
        </p:nvSpPr>
        <p:spPr bwMode="auto">
          <a:xfrm>
            <a:off x="1835150" y="3644900"/>
            <a:ext cx="1151955" cy="359395"/>
          </a:xfrm>
          <a:prstGeom prst="rect">
            <a:avLst/>
          </a:prstGeom>
          <a:solidFill>
            <a:schemeClr val="accent6">
              <a:lumMod val="60000"/>
              <a:lumOff val="40000"/>
            </a:schemeClr>
          </a:solidFill>
          <a:ln w="9525">
            <a:solidFill>
              <a:schemeClr val="tx1"/>
            </a:solidFill>
            <a:miter lim="800000"/>
          </a:ln>
        </p:spPr>
        <p:txBody>
          <a:bodyPr wrap="none" anchor="ctr"/>
          <a:lstStyle/>
          <a:p>
            <a:pPr algn="ctr" eaLnBrk="0" hangingPunct="0"/>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633" name="矩形 26632"/>
          <p:cNvSpPr>
            <a:spLocks noChangeArrowheads="1"/>
          </p:cNvSpPr>
          <p:nvPr/>
        </p:nvSpPr>
        <p:spPr bwMode="auto">
          <a:xfrm>
            <a:off x="1763713" y="2924175"/>
            <a:ext cx="1223962"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0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if</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&gt;0){</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634" name="矩形 26633"/>
          <p:cNvSpPr>
            <a:spLocks noChangeArrowheads="1"/>
          </p:cNvSpPr>
          <p:nvPr/>
        </p:nvSpPr>
        <p:spPr bwMode="auto">
          <a:xfrm>
            <a:off x="1331913" y="4508500"/>
            <a:ext cx="1800225" cy="403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0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err="1">
                <a:solidFill>
                  <a:srgbClr val="0000FF"/>
                </a:solidFill>
                <a:latin typeface="Times New Roman" panose="02020603050405020304" pitchFamily="18" charset="0"/>
                <a:ea typeface="宋体" panose="02010600030101010101" pitchFamily="2" charset="-122"/>
                <a:cs typeface="Times New Roman" panose="02020603050405020304" pitchFamily="18" charset="0"/>
              </a:rPr>
              <a:t>cout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&lt;&lt;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635" name="矩形标注 26634"/>
          <p:cNvSpPr>
            <a:spLocks noChangeArrowheads="1"/>
          </p:cNvSpPr>
          <p:nvPr/>
        </p:nvSpPr>
        <p:spPr bwMode="auto">
          <a:xfrm>
            <a:off x="4643438" y="3573463"/>
            <a:ext cx="4103688" cy="431601"/>
          </a:xfrm>
          <a:prstGeom prst="wedgeRectCallout">
            <a:avLst>
              <a:gd name="adj1" fmla="val -87681"/>
              <a:gd name="adj2" fmla="val 24631"/>
            </a:avLst>
          </a:prstGeom>
          <a:solidFill>
            <a:schemeClr val="accent6">
              <a:lumMod val="60000"/>
              <a:lumOff val="40000"/>
            </a:schemeClr>
          </a:solidFill>
          <a:ln w="9525" cap="rnd">
            <a:solidFill>
              <a:srgbClr val="000000"/>
            </a:solidFill>
            <a:prstDash val="sysDot"/>
            <a:miter lim="800000"/>
          </a:ln>
        </p:spPr>
        <p:txBody>
          <a:bodyPr/>
          <a:lstStyle/>
          <a:p>
            <a:pPr algn="ctr" eaLnBrk="0" hangingPunct="0"/>
            <a:r>
              <a:rPr lang="zh-CN" altLang="en-US" sz="2000" b="1" dirty="0">
                <a:latin typeface="Times New Roman" panose="02020603050405020304" pitchFamily="18" charset="0"/>
                <a:cs typeface="Times New Roman" panose="02020603050405020304" pitchFamily="18" charset="0"/>
              </a:rPr>
              <a:t>递归调用</a:t>
            </a:r>
            <a:r>
              <a:rPr lang="en-US" altLang="zh-CN" sz="2000" b="1" dirty="0">
                <a:latin typeface="Times New Roman" panose="02020603050405020304" pitchFamily="18" charset="0"/>
                <a:cs typeface="Times New Roman" panose="02020603050405020304" pitchFamily="18" charset="0"/>
              </a:rPr>
              <a:t>P(</a:t>
            </a:r>
            <a:r>
              <a:rPr lang="en-US" altLang="zh-CN" sz="2000" b="1" i="1" dirty="0">
                <a:latin typeface="Times New Roman" panose="02020603050405020304" pitchFamily="18" charset="0"/>
                <a:cs typeface="Times New Roman" panose="02020603050405020304" pitchFamily="18" charset="0"/>
              </a:rPr>
              <a:t>n</a:t>
            </a:r>
            <a:r>
              <a:rPr lang="en-US" altLang="zh-CN" sz="2000" b="1" dirty="0">
                <a:latin typeface="Times New Roman" panose="02020603050405020304" pitchFamily="18" charset="0"/>
                <a:cs typeface="Times New Roman" panose="02020603050405020304" pitchFamily="18" charset="0"/>
              </a:rPr>
              <a:t>-1)</a:t>
            </a:r>
            <a:r>
              <a:rPr lang="zh-CN" altLang="en-US" sz="2000" b="1" dirty="0">
                <a:latin typeface="Times New Roman" panose="02020603050405020304" pitchFamily="18" charset="0"/>
                <a:cs typeface="Times New Roman" panose="02020603050405020304" pitchFamily="18" charset="0"/>
              </a:rPr>
              <a:t>的替换</a:t>
            </a:r>
            <a:r>
              <a:rPr lang="en-US" altLang="zh-CN" sz="2000" b="1" dirty="0">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规则</a:t>
            </a:r>
            <a:r>
              <a:rPr lang="en-US" altLang="zh-CN" sz="2000" b="1" dirty="0">
                <a:latin typeface="Times New Roman" panose="02020603050405020304" pitchFamily="18" charset="0"/>
                <a:cs typeface="Times New Roman" panose="02020603050405020304" pitchFamily="18" charset="0"/>
              </a:rPr>
              <a:t>3</a:t>
            </a:r>
            <a:endParaRPr lang="en-US" altLang="zh-CN" sz="2000" b="1" dirty="0">
              <a:latin typeface="Times New Roman" panose="02020603050405020304" pitchFamily="18" charset="0"/>
              <a:cs typeface="Times New Roman" panose="02020603050405020304" pitchFamily="18" charset="0"/>
            </a:endParaRPr>
          </a:p>
        </p:txBody>
      </p:sp>
      <p:sp>
        <p:nvSpPr>
          <p:cNvPr id="26636" name="矩形标注 26635"/>
          <p:cNvSpPr>
            <a:spLocks noChangeArrowheads="1"/>
          </p:cNvSpPr>
          <p:nvPr/>
        </p:nvSpPr>
        <p:spPr bwMode="auto">
          <a:xfrm>
            <a:off x="4643438" y="2831829"/>
            <a:ext cx="4103688" cy="433387"/>
          </a:xfrm>
          <a:prstGeom prst="wedgeRectCallout">
            <a:avLst>
              <a:gd name="adj1" fmla="val -90542"/>
              <a:gd name="adj2" fmla="val 26190"/>
            </a:avLst>
          </a:prstGeom>
          <a:solidFill>
            <a:srgbClr val="2BE978"/>
          </a:solidFill>
          <a:ln w="9525" cap="rnd">
            <a:solidFill>
              <a:srgbClr val="000000"/>
            </a:solidFill>
            <a:prstDash val="sysDot"/>
            <a:miter lim="800000"/>
          </a:ln>
        </p:spPr>
        <p:txBody>
          <a:bodyPr/>
          <a:lstStyle/>
          <a:p>
            <a:pPr algn="ctr" eaLnBrk="0" hangingPunct="0"/>
            <a:r>
              <a:rPr lang="zh-CN" altLang="en-US" sz="2000" b="1" dirty="0">
                <a:latin typeface="Times New Roman" panose="02020603050405020304" pitchFamily="18" charset="0"/>
                <a:cs typeface="Times New Roman" panose="02020603050405020304" pitchFamily="18" charset="0"/>
              </a:rPr>
              <a:t>非递归调用和返回部分照搬</a:t>
            </a:r>
            <a:r>
              <a:rPr lang="en-US" altLang="zh-CN" sz="2000" b="1" dirty="0">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规则</a:t>
            </a:r>
            <a:r>
              <a:rPr lang="en-US" altLang="zh-CN" sz="2000" b="1" dirty="0">
                <a:latin typeface="Times New Roman" panose="02020603050405020304" pitchFamily="18" charset="0"/>
                <a:cs typeface="Times New Roman" panose="02020603050405020304" pitchFamily="18" charset="0"/>
              </a:rPr>
              <a:t>5</a:t>
            </a:r>
            <a:endParaRPr lang="en-US" altLang="zh-CN" sz="2000" b="1" dirty="0">
              <a:latin typeface="Times New Roman" panose="02020603050405020304" pitchFamily="18" charset="0"/>
              <a:cs typeface="Times New Roman" panose="02020603050405020304" pitchFamily="18" charset="0"/>
            </a:endParaRPr>
          </a:p>
        </p:txBody>
      </p:sp>
      <p:sp>
        <p:nvSpPr>
          <p:cNvPr id="26637" name="矩形标注 26636"/>
          <p:cNvSpPr>
            <a:spLocks noChangeArrowheads="1"/>
          </p:cNvSpPr>
          <p:nvPr/>
        </p:nvSpPr>
        <p:spPr bwMode="auto">
          <a:xfrm>
            <a:off x="4643438" y="4581525"/>
            <a:ext cx="4103688" cy="431800"/>
          </a:xfrm>
          <a:prstGeom prst="wedgeRectCallout">
            <a:avLst>
              <a:gd name="adj1" fmla="val -107694"/>
              <a:gd name="adj2" fmla="val 124634"/>
            </a:avLst>
          </a:prstGeom>
          <a:solidFill>
            <a:srgbClr val="00B0F0"/>
          </a:solidFill>
          <a:ln w="9525" cap="rnd">
            <a:solidFill>
              <a:srgbClr val="000000"/>
            </a:solidFill>
            <a:prstDash val="sysDot"/>
            <a:miter lim="800000"/>
          </a:ln>
        </p:spPr>
        <p:txBody>
          <a:bodyPr/>
          <a:lstStyle/>
          <a:p>
            <a:pPr algn="ctr" eaLnBrk="0" hangingPunct="0"/>
            <a:r>
              <a:rPr lang="zh-CN" altLang="en-US" sz="2000" b="1">
                <a:latin typeface="Times New Roman" panose="02020603050405020304" pitchFamily="18" charset="0"/>
                <a:cs typeface="Times New Roman" panose="02020603050405020304" pitchFamily="18" charset="0"/>
              </a:rPr>
              <a:t>返回部分的替换</a:t>
            </a:r>
            <a:r>
              <a:rPr lang="en-US" altLang="zh-CN" sz="2000" b="1">
                <a:latin typeface="Times New Roman" panose="02020603050405020304" pitchFamily="18" charset="0"/>
                <a:cs typeface="Times New Roman" panose="02020603050405020304" pitchFamily="18" charset="0"/>
              </a:rPr>
              <a:t>----</a:t>
            </a:r>
            <a:r>
              <a:rPr lang="zh-CN" altLang="en-US" sz="2000" b="1">
                <a:latin typeface="Times New Roman" panose="02020603050405020304" pitchFamily="18" charset="0"/>
                <a:cs typeface="Times New Roman" panose="02020603050405020304" pitchFamily="18" charset="0"/>
              </a:rPr>
              <a:t>规则</a:t>
            </a:r>
            <a:r>
              <a:rPr lang="en-US" altLang="zh-CN" sz="2000" b="1">
                <a:latin typeface="Times New Roman" panose="02020603050405020304" pitchFamily="18" charset="0"/>
                <a:cs typeface="Times New Roman" panose="02020603050405020304" pitchFamily="18" charset="0"/>
              </a:rPr>
              <a:t>4</a:t>
            </a:r>
            <a:endParaRPr lang="en-US" altLang="zh-CN" sz="2000" b="1">
              <a:latin typeface="Times New Roman" panose="02020603050405020304" pitchFamily="18" charset="0"/>
              <a:cs typeface="Times New Roman" panose="02020603050405020304" pitchFamily="18" charset="0"/>
            </a:endParaRPr>
          </a:p>
        </p:txBody>
      </p:sp>
      <p:grpSp>
        <p:nvGrpSpPr>
          <p:cNvPr id="16" name="组合 15"/>
          <p:cNvGrpSpPr/>
          <p:nvPr/>
        </p:nvGrpSpPr>
        <p:grpSpPr>
          <a:xfrm>
            <a:off x="541437" y="127832"/>
            <a:ext cx="7991003" cy="674160"/>
            <a:chOff x="999690" y="5042189"/>
            <a:chExt cx="8290830" cy="647731"/>
          </a:xfrm>
        </p:grpSpPr>
        <p:sp>
          <p:nvSpPr>
            <p:cNvPr id="17"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8"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19" name="图片 18"/>
            <p:cNvPicPr>
              <a:picLocks noChangeAspect="1"/>
            </p:cNvPicPr>
            <p:nvPr/>
          </p:nvPicPr>
          <p:blipFill>
            <a:blip r:embed="rId1" cstate="print"/>
            <a:stretch>
              <a:fillRect/>
            </a:stretch>
          </p:blipFill>
          <p:spPr>
            <a:xfrm>
              <a:off x="1199659" y="5205012"/>
              <a:ext cx="420013" cy="322083"/>
            </a:xfrm>
            <a:prstGeom prst="rect">
              <a:avLst/>
            </a:prstGeom>
          </p:spPr>
        </p:pic>
      </p:grpSp>
      <p:grpSp>
        <p:nvGrpSpPr>
          <p:cNvPr id="26" name="组合 25"/>
          <p:cNvGrpSpPr/>
          <p:nvPr/>
        </p:nvGrpSpPr>
        <p:grpSpPr>
          <a:xfrm>
            <a:off x="1547664" y="2924175"/>
            <a:ext cx="1440011" cy="1800969"/>
            <a:chOff x="1547664" y="2924175"/>
            <a:chExt cx="1440011" cy="1800969"/>
          </a:xfrm>
        </p:grpSpPr>
        <p:cxnSp>
          <p:nvCxnSpPr>
            <p:cNvPr id="7" name="直接连接符 6"/>
            <p:cNvCxnSpPr/>
            <p:nvPr/>
          </p:nvCxnSpPr>
          <p:spPr>
            <a:xfrm flipH="1">
              <a:off x="1763713" y="3284984"/>
              <a:ext cx="1223392" cy="0"/>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763713" y="3284538"/>
              <a:ext cx="0" cy="1080566"/>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grpSp>
          <p:nvGrpSpPr>
            <p:cNvPr id="25" name="组合 24"/>
            <p:cNvGrpSpPr/>
            <p:nvPr/>
          </p:nvGrpSpPr>
          <p:grpSpPr>
            <a:xfrm>
              <a:off x="1547664" y="2924175"/>
              <a:ext cx="1440011" cy="1800969"/>
              <a:chOff x="1547664" y="2924175"/>
              <a:chExt cx="1440011" cy="1800969"/>
            </a:xfrm>
          </p:grpSpPr>
          <p:cxnSp>
            <p:nvCxnSpPr>
              <p:cNvPr id="5" name="直接连接符 4"/>
              <p:cNvCxnSpPr/>
              <p:nvPr/>
            </p:nvCxnSpPr>
            <p:spPr>
              <a:xfrm flipH="1">
                <a:off x="2987105" y="2924175"/>
                <a:ext cx="570" cy="360363"/>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1547664" y="2924175"/>
                <a:ext cx="1439441" cy="1800969"/>
                <a:chOff x="1547664" y="2924175"/>
                <a:chExt cx="1439441" cy="1800969"/>
              </a:xfrm>
            </p:grpSpPr>
            <p:cxnSp>
              <p:nvCxnSpPr>
                <p:cNvPr id="3" name="直接连接符 2"/>
                <p:cNvCxnSpPr/>
                <p:nvPr/>
              </p:nvCxnSpPr>
              <p:spPr>
                <a:xfrm>
                  <a:off x="1547664" y="2924175"/>
                  <a:ext cx="1439441" cy="0"/>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763713" y="4365104"/>
                  <a:ext cx="1223392" cy="0"/>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2987105" y="4365104"/>
                  <a:ext cx="0" cy="360040"/>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1547664" y="4725144"/>
                  <a:ext cx="1439441" cy="0"/>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547664" y="2924175"/>
                  <a:ext cx="0" cy="1800969"/>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grpSp>
        </p:grp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blinds(horizontal)">
                                      <p:cBhvr>
                                        <p:cTn id="7" dur="500"/>
                                        <p:tgtEl>
                                          <p:spTgt spid="266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627">
                                            <p:txEl>
                                              <p:pRg st="1" end="1"/>
                                            </p:txEl>
                                          </p:spTgt>
                                        </p:tgtEl>
                                        <p:attrNameLst>
                                          <p:attrName>style.visibility</p:attrName>
                                        </p:attrNameLst>
                                      </p:cBhvr>
                                      <p:to>
                                        <p:strVal val="visible"/>
                                      </p:to>
                                    </p:set>
                                    <p:animEffect transition="in" filter="blinds(horizontal)">
                                      <p:cBhvr>
                                        <p:cTn id="12" dur="500"/>
                                        <p:tgtEl>
                                          <p:spTgt spid="266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633"/>
                                        </p:tgtEl>
                                        <p:attrNameLst>
                                          <p:attrName>style.visibility</p:attrName>
                                        </p:attrNameLst>
                                      </p:cBhvr>
                                      <p:to>
                                        <p:strVal val="visible"/>
                                      </p:to>
                                    </p:set>
                                    <p:animEffect transition="in" filter="blinds(horizontal)">
                                      <p:cBhvr>
                                        <p:cTn id="17" dur="500"/>
                                        <p:tgtEl>
                                          <p:spTgt spid="2663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6632"/>
                                        </p:tgtEl>
                                        <p:attrNameLst>
                                          <p:attrName>style.visibility</p:attrName>
                                        </p:attrNameLst>
                                      </p:cBhvr>
                                      <p:to>
                                        <p:strVal val="visible"/>
                                      </p:to>
                                    </p:set>
                                    <p:animEffect transition="in" filter="blinds(horizontal)">
                                      <p:cBhvr>
                                        <p:cTn id="22" dur="500"/>
                                        <p:tgtEl>
                                          <p:spTgt spid="2663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6634"/>
                                        </p:tgtEl>
                                        <p:attrNameLst>
                                          <p:attrName>style.visibility</p:attrName>
                                        </p:attrNameLst>
                                      </p:cBhvr>
                                      <p:to>
                                        <p:strVal val="visible"/>
                                      </p:to>
                                    </p:set>
                                    <p:animEffect transition="in" filter="blinds(horizontal)">
                                      <p:cBhvr>
                                        <p:cTn id="27" dur="500"/>
                                        <p:tgtEl>
                                          <p:spTgt spid="2663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6627">
                                            <p:txEl>
                                              <p:pRg st="12" end="12"/>
                                            </p:txEl>
                                          </p:spTgt>
                                        </p:tgtEl>
                                        <p:attrNameLst>
                                          <p:attrName>style.visibility</p:attrName>
                                        </p:attrNameLst>
                                      </p:cBhvr>
                                      <p:to>
                                        <p:strVal val="visible"/>
                                      </p:to>
                                    </p:set>
                                    <p:animEffect transition="in" filter="blinds(horizontal)">
                                      <p:cBhvr>
                                        <p:cTn id="32" dur="500"/>
                                        <p:tgtEl>
                                          <p:spTgt spid="26627">
                                            <p:txEl>
                                              <p:pRg st="12" end="1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6627">
                                            <p:txEl>
                                              <p:pRg st="13" end="13"/>
                                            </p:txEl>
                                          </p:spTgt>
                                        </p:tgtEl>
                                        <p:attrNameLst>
                                          <p:attrName>style.visibility</p:attrName>
                                        </p:attrNameLst>
                                      </p:cBhvr>
                                      <p:to>
                                        <p:strVal val="visible"/>
                                      </p:to>
                                    </p:set>
                                    <p:animEffect transition="in" filter="blinds(horizontal)">
                                      <p:cBhvr>
                                        <p:cTn id="37" dur="500"/>
                                        <p:tgtEl>
                                          <p:spTgt spid="26627">
                                            <p:txEl>
                                              <p:pRg st="13" end="1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6628"/>
                                        </p:tgtEl>
                                        <p:attrNameLst>
                                          <p:attrName>style.visibility</p:attrName>
                                        </p:attrNameLst>
                                      </p:cBhvr>
                                      <p:to>
                                        <p:strVal val="visible"/>
                                      </p:to>
                                    </p:set>
                                    <p:animEffect transition="in" filter="blinds(horizontal)">
                                      <p:cBhvr>
                                        <p:cTn id="42" dur="500"/>
                                        <p:tgtEl>
                                          <p:spTgt spid="26628"/>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6629"/>
                                        </p:tgtEl>
                                        <p:attrNameLst>
                                          <p:attrName>style.visibility</p:attrName>
                                        </p:attrNameLst>
                                      </p:cBhvr>
                                      <p:to>
                                        <p:strVal val="visible"/>
                                      </p:to>
                                    </p:set>
                                    <p:animEffect transition="in" filter="blinds(horizontal)">
                                      <p:cBhvr>
                                        <p:cTn id="47" dur="500"/>
                                        <p:tgtEl>
                                          <p:spTgt spid="26629"/>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6635"/>
                                        </p:tgtEl>
                                        <p:attrNameLst>
                                          <p:attrName>style.visibility</p:attrName>
                                        </p:attrNameLst>
                                      </p:cBhvr>
                                      <p:to>
                                        <p:strVal val="visible"/>
                                      </p:to>
                                    </p:set>
                                    <p:animEffect transition="in" filter="blinds(horizontal)">
                                      <p:cBhvr>
                                        <p:cTn id="52" dur="500"/>
                                        <p:tgtEl>
                                          <p:spTgt spid="26635"/>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26631"/>
                                        </p:tgtEl>
                                        <p:attrNameLst>
                                          <p:attrName>style.visibility</p:attrName>
                                        </p:attrNameLst>
                                      </p:cBhvr>
                                      <p:to>
                                        <p:strVal val="visible"/>
                                      </p:to>
                                    </p:set>
                                    <p:animEffect transition="in" filter="blinds(horizontal)">
                                      <p:cBhvr>
                                        <p:cTn id="57" dur="500"/>
                                        <p:tgtEl>
                                          <p:spTgt spid="26631"/>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6637"/>
                                        </p:tgtEl>
                                        <p:attrNameLst>
                                          <p:attrName>style.visibility</p:attrName>
                                        </p:attrNameLst>
                                      </p:cBhvr>
                                      <p:to>
                                        <p:strVal val="visible"/>
                                      </p:to>
                                    </p:set>
                                    <p:animEffect transition="in" filter="blinds(horizontal)">
                                      <p:cBhvr>
                                        <p:cTn id="62" dur="500"/>
                                        <p:tgtEl>
                                          <p:spTgt spid="26637"/>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26636"/>
                                        </p:tgtEl>
                                        <p:attrNameLst>
                                          <p:attrName>style.visibility</p:attrName>
                                        </p:attrNameLst>
                                      </p:cBhvr>
                                      <p:to>
                                        <p:strVal val="visible"/>
                                      </p:to>
                                    </p:set>
                                    <p:animEffect transition="in" filter="blinds(horizontal)">
                                      <p:cBhvr>
                                        <p:cTn id="71" dur="500"/>
                                        <p:tgtEl>
                                          <p:spTgt spid="266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uiExpand="1" build="p"/>
      <p:bldP spid="26629" grpId="0" animBg="1"/>
      <p:bldP spid="26632" grpId="0" animBg="1"/>
      <p:bldP spid="26633" grpId="0"/>
      <p:bldP spid="26634" grpId="0"/>
      <p:bldP spid="26635" grpId="0" animBg="1"/>
      <p:bldP spid="26636" grpId="0" animBg="1"/>
      <p:bldP spid="2663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文本占位符 27650"/>
          <p:cNvSpPr>
            <a:spLocks noGrp="1" noChangeArrowheads="1"/>
          </p:cNvSpPr>
          <p:nvPr>
            <p:ph idx="1"/>
          </p:nvPr>
        </p:nvSpPr>
        <p:spPr>
          <a:xfrm>
            <a:off x="457200" y="1017543"/>
            <a:ext cx="8229600" cy="4678451"/>
          </a:xfrm>
        </p:spPr>
        <p:txBody>
          <a:bodyPr/>
          <a:lstStyle/>
          <a:p>
            <a:pPr>
              <a:lnSpc>
                <a:spcPct val="80000"/>
              </a:lnSpc>
              <a:buFont typeface="Wingdings" panose="05000000000000000000" pitchFamily="2" charset="2"/>
              <a:buNone/>
            </a:pPr>
            <a:r>
              <a:rPr lang="zh-CN" altLang="en-US" sz="1800" dirty="0"/>
              <a:t>    </a:t>
            </a:r>
            <a:r>
              <a:rPr lang="zh-CN" altLang="en-US" sz="2400" dirty="0"/>
              <a:t>由此得结果如下</a:t>
            </a:r>
            <a:r>
              <a:rPr lang="en-US" altLang="zh-CN" sz="2400" dirty="0"/>
              <a:t>:</a:t>
            </a:r>
            <a:endParaRPr lang="en-US" altLang="zh-CN" sz="2400" dirty="0"/>
          </a:p>
          <a:p>
            <a:pPr>
              <a:lnSpc>
                <a:spcPct val="80000"/>
              </a:lnSpc>
              <a:buFont typeface="Wingdings" panose="05000000000000000000" pitchFamily="2" charset="2"/>
              <a:buNone/>
            </a:pPr>
            <a:r>
              <a:rPr lang="zh-CN" altLang="en-US" sz="1800" dirty="0"/>
              <a:t>       </a:t>
            </a:r>
            <a:r>
              <a:rPr lang="en-US" altLang="zh-CN" sz="1800" dirty="0">
                <a:solidFill>
                  <a:srgbClr val="0000FF"/>
                </a:solidFill>
              </a:rPr>
              <a:t>void</a:t>
            </a:r>
            <a:r>
              <a:rPr lang="en-US" altLang="zh-CN" sz="1800" dirty="0"/>
              <a:t>  PE(</a:t>
            </a:r>
            <a:r>
              <a:rPr lang="en-US" altLang="zh-CN" sz="1800" dirty="0" err="1">
                <a:solidFill>
                  <a:srgbClr val="0000FF"/>
                </a:solidFill>
              </a:rPr>
              <a:t>int</a:t>
            </a:r>
            <a:r>
              <a:rPr lang="en-US" altLang="zh-CN" sz="1800" dirty="0"/>
              <a:t> </a:t>
            </a:r>
            <a:r>
              <a:rPr lang="en-US" altLang="zh-CN" sz="1800" i="1" dirty="0"/>
              <a:t>n</a:t>
            </a:r>
            <a:r>
              <a:rPr lang="en-US" altLang="zh-CN" sz="1800" dirty="0"/>
              <a:t>) { </a:t>
            </a:r>
            <a:endParaRPr lang="en-US" altLang="zh-CN" sz="1800" dirty="0"/>
          </a:p>
          <a:p>
            <a:pPr>
              <a:lnSpc>
                <a:spcPct val="80000"/>
              </a:lnSpc>
              <a:buFont typeface="Wingdings" panose="05000000000000000000" pitchFamily="2" charset="2"/>
              <a:buNone/>
            </a:pPr>
            <a:endParaRPr lang="zh-CN" altLang="en-US" sz="1800" dirty="0"/>
          </a:p>
          <a:p>
            <a:pPr>
              <a:lnSpc>
                <a:spcPct val="80000"/>
              </a:lnSpc>
              <a:buFont typeface="Wingdings" panose="05000000000000000000" pitchFamily="2" charset="2"/>
              <a:buNone/>
            </a:pPr>
            <a:endParaRPr lang="zh-CN" altLang="en-US" sz="1800" dirty="0"/>
          </a:p>
          <a:p>
            <a:pPr>
              <a:lnSpc>
                <a:spcPct val="80000"/>
              </a:lnSpc>
              <a:buFont typeface="Wingdings" panose="05000000000000000000" pitchFamily="2" charset="2"/>
              <a:buNone/>
            </a:pPr>
            <a:endParaRPr lang="zh-CN" altLang="en-US" sz="1800" dirty="0"/>
          </a:p>
          <a:p>
            <a:pPr>
              <a:lnSpc>
                <a:spcPct val="80000"/>
              </a:lnSpc>
              <a:buFont typeface="Wingdings" panose="05000000000000000000" pitchFamily="2" charset="2"/>
              <a:buNone/>
            </a:pPr>
            <a:endParaRPr lang="zh-CN" altLang="en-US" sz="1800" dirty="0"/>
          </a:p>
          <a:p>
            <a:pPr>
              <a:lnSpc>
                <a:spcPct val="80000"/>
              </a:lnSpc>
              <a:buFont typeface="Wingdings" panose="05000000000000000000" pitchFamily="2" charset="2"/>
              <a:buNone/>
            </a:pPr>
            <a:endParaRPr lang="zh-CN" altLang="en-US" sz="1800" dirty="0"/>
          </a:p>
          <a:p>
            <a:pPr>
              <a:lnSpc>
                <a:spcPct val="80000"/>
              </a:lnSpc>
              <a:buFont typeface="Wingdings" panose="05000000000000000000" pitchFamily="2" charset="2"/>
              <a:buNone/>
            </a:pPr>
            <a:endParaRPr lang="zh-CN" altLang="en-US" sz="1800" dirty="0"/>
          </a:p>
          <a:p>
            <a:pPr>
              <a:lnSpc>
                <a:spcPct val="80000"/>
              </a:lnSpc>
              <a:buFont typeface="Wingdings" panose="05000000000000000000" pitchFamily="2" charset="2"/>
              <a:buNone/>
            </a:pPr>
            <a:endParaRPr lang="zh-CN" altLang="en-US" sz="1800" dirty="0"/>
          </a:p>
          <a:p>
            <a:pPr>
              <a:lnSpc>
                <a:spcPct val="80000"/>
              </a:lnSpc>
              <a:buFont typeface="Wingdings" panose="05000000000000000000" pitchFamily="2" charset="2"/>
              <a:buNone/>
            </a:pPr>
            <a:endParaRPr lang="zh-CN" altLang="en-US" sz="1800" dirty="0"/>
          </a:p>
          <a:p>
            <a:pPr>
              <a:lnSpc>
                <a:spcPct val="80000"/>
              </a:lnSpc>
              <a:buFont typeface="Wingdings" panose="05000000000000000000" pitchFamily="2" charset="2"/>
              <a:buNone/>
            </a:pPr>
            <a:endParaRPr lang="zh-CN" altLang="en-US" sz="1800" dirty="0"/>
          </a:p>
          <a:p>
            <a:pPr>
              <a:lnSpc>
                <a:spcPct val="80000"/>
              </a:lnSpc>
              <a:buFont typeface="Wingdings" panose="05000000000000000000" pitchFamily="2" charset="2"/>
              <a:buNone/>
            </a:pPr>
            <a:endParaRPr lang="zh-CN" altLang="en-US" sz="1800" dirty="0"/>
          </a:p>
          <a:p>
            <a:pPr>
              <a:lnSpc>
                <a:spcPct val="80000"/>
              </a:lnSpc>
              <a:buFont typeface="Wingdings" panose="05000000000000000000" pitchFamily="2" charset="2"/>
              <a:buNone/>
            </a:pPr>
            <a:r>
              <a:rPr lang="en-US" altLang="zh-CN" sz="1800" dirty="0"/>
              <a:t>       </a:t>
            </a:r>
            <a:endParaRPr lang="en-US" altLang="zh-CN" sz="1800" dirty="0"/>
          </a:p>
          <a:p>
            <a:pPr>
              <a:lnSpc>
                <a:spcPct val="80000"/>
              </a:lnSpc>
              <a:buFont typeface="Wingdings" panose="05000000000000000000" pitchFamily="2" charset="2"/>
              <a:buNone/>
            </a:pPr>
            <a:endParaRPr lang="en-US" altLang="zh-CN" sz="1800" dirty="0"/>
          </a:p>
          <a:p>
            <a:pPr>
              <a:lnSpc>
                <a:spcPct val="80000"/>
              </a:lnSpc>
              <a:buFont typeface="Wingdings" panose="05000000000000000000" pitchFamily="2" charset="2"/>
              <a:buNone/>
            </a:pPr>
            <a:endParaRPr lang="en-US" altLang="zh-CN" sz="1800" dirty="0"/>
          </a:p>
          <a:p>
            <a:pPr>
              <a:lnSpc>
                <a:spcPct val="80000"/>
              </a:lnSpc>
              <a:buFont typeface="Wingdings" panose="05000000000000000000" pitchFamily="2" charset="2"/>
              <a:buNone/>
            </a:pPr>
            <a:endParaRPr lang="en-US" altLang="zh-CN" sz="1800" dirty="0"/>
          </a:p>
          <a:p>
            <a:pPr>
              <a:lnSpc>
                <a:spcPct val="80000"/>
              </a:lnSpc>
              <a:buFont typeface="Wingdings" panose="05000000000000000000" pitchFamily="2" charset="2"/>
              <a:buNone/>
            </a:pPr>
            <a:endParaRPr lang="en-US" altLang="zh-CN" sz="1800" dirty="0"/>
          </a:p>
          <a:p>
            <a:pPr>
              <a:lnSpc>
                <a:spcPct val="80000"/>
              </a:lnSpc>
              <a:buFont typeface="Wingdings" panose="05000000000000000000" pitchFamily="2" charset="2"/>
              <a:buNone/>
            </a:pPr>
            <a:r>
              <a:rPr lang="en-US" altLang="zh-CN" sz="1800" dirty="0"/>
              <a:t>}</a:t>
            </a:r>
            <a:endParaRPr lang="en-US" altLang="zh-CN" sz="1800" dirty="0"/>
          </a:p>
          <a:p>
            <a:pPr>
              <a:lnSpc>
                <a:spcPct val="80000"/>
              </a:lnSpc>
              <a:buFont typeface="Wingdings" panose="05000000000000000000" pitchFamily="2" charset="2"/>
              <a:buNone/>
            </a:pPr>
            <a:endParaRPr lang="zh-CN" altLang="en-US" sz="1800" dirty="0"/>
          </a:p>
        </p:txBody>
      </p:sp>
      <p:sp>
        <p:nvSpPr>
          <p:cNvPr id="27652" name="矩形 27651"/>
          <p:cNvSpPr>
            <a:spLocks noChangeArrowheads="1"/>
          </p:cNvSpPr>
          <p:nvPr/>
        </p:nvSpPr>
        <p:spPr bwMode="auto">
          <a:xfrm>
            <a:off x="1763713" y="1773238"/>
            <a:ext cx="1223962" cy="288925"/>
          </a:xfrm>
          <a:prstGeom prst="rect">
            <a:avLst/>
          </a:prstGeom>
          <a:solidFill>
            <a:srgbClr val="FFFFFF"/>
          </a:solidFill>
          <a:ln w="19050">
            <a:solidFill>
              <a:srgbClr val="FFFF00"/>
            </a:solidFill>
            <a:miter lim="800000"/>
          </a:ln>
        </p:spPr>
        <p:txBody>
          <a:bodyPr wrap="none" anchor="ctr"/>
          <a:lstStyle/>
          <a:p>
            <a:pPr algn="ctr" eaLnBrk="0" hangingPunct="0"/>
            <a:r>
              <a:rPr lang="en-US" altLang="zh-CN" dirty="0">
                <a:latin typeface="Times New Roman" panose="02020603050405020304" pitchFamily="18" charset="0"/>
                <a:ea typeface="宋体" panose="02010600030101010101" pitchFamily="2" charset="-122"/>
              </a:rPr>
              <a:t>Stack </a:t>
            </a:r>
            <a:r>
              <a:rPr lang="en-US" altLang="zh-CN" i="1" dirty="0">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7653" name="矩形 27652"/>
          <p:cNvSpPr>
            <a:spLocks noChangeArrowheads="1"/>
          </p:cNvSpPr>
          <p:nvPr/>
        </p:nvSpPr>
        <p:spPr bwMode="auto">
          <a:xfrm>
            <a:off x="1763713" y="2133601"/>
            <a:ext cx="1222672" cy="250870"/>
          </a:xfrm>
          <a:prstGeom prst="rect">
            <a:avLst/>
          </a:prstGeom>
          <a:solidFill>
            <a:srgbClr val="FFFFFF"/>
          </a:solidFill>
          <a:ln w="19050">
            <a:solidFill>
              <a:srgbClr val="FFFF00"/>
            </a:solidFill>
            <a:miter lim="800000"/>
          </a:ln>
        </p:spPr>
        <p:txBody>
          <a:bodyPr wrap="none" anchor="ctr"/>
          <a:lstStyle/>
          <a:p>
            <a:pPr algn="ctr" eaLnBrk="0" hangingPunct="0"/>
            <a:r>
              <a:rPr lang="en-US" altLang="zh-CN" i="1" dirty="0">
                <a:latin typeface="Times New Roman" panose="02020603050405020304" pitchFamily="18" charset="0"/>
                <a:ea typeface="宋体" panose="02010600030101010101" pitchFamily="2" charset="-122"/>
              </a:rPr>
              <a:t>   L</a:t>
            </a:r>
            <a:r>
              <a:rPr lang="en-US" altLang="zh-CN" baseline="-25000" dirty="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7655" name="矩形 27654"/>
          <p:cNvSpPr>
            <a:spLocks noChangeArrowheads="1"/>
          </p:cNvSpPr>
          <p:nvPr/>
        </p:nvSpPr>
        <p:spPr bwMode="auto">
          <a:xfrm>
            <a:off x="1979091" y="2989844"/>
            <a:ext cx="2449513" cy="1079500"/>
          </a:xfrm>
          <a:prstGeom prst="rect">
            <a:avLst/>
          </a:prstGeom>
          <a:solidFill>
            <a:srgbClr val="FFFFFF"/>
          </a:solidFill>
          <a:ln w="19050">
            <a:solidFill>
              <a:schemeClr val="accent6">
                <a:lumMod val="75000"/>
              </a:schemeClr>
            </a:solidFill>
            <a:miter lim="800000"/>
          </a:ln>
        </p:spPr>
        <p:txBody>
          <a:bodyPr wrap="none" anchor="ctr"/>
          <a:lstStyle/>
          <a:p>
            <a:pPr algn="ctr" eaLnBrk="0" hangingPunct="0"/>
            <a:r>
              <a:rPr lang="en-US" altLang="zh-CN" dirty="0" err="1">
                <a:latin typeface="Times New Roman" panose="02020603050405020304" pitchFamily="18" charset="0"/>
                <a:ea typeface="宋体" panose="02010600030101010101" pitchFamily="2" charset="-122"/>
              </a:rPr>
              <a:t>s.Push</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L</a:t>
            </a:r>
            <a:r>
              <a:rPr lang="en-US" altLang="zh-CN" baseline="-25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algn="ctr" eaLnBrk="0" hangingPunct="0"/>
            <a:r>
              <a:rPr lang="zh-CN" altLang="en-US"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 = </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 - 1;          </a:t>
            </a:r>
            <a:endParaRPr lang="en-US" altLang="zh-CN" dirty="0">
              <a:latin typeface="Times New Roman" panose="02020603050405020304" pitchFamily="18" charset="0"/>
              <a:ea typeface="宋体" panose="02010600030101010101" pitchFamily="2" charset="-122"/>
            </a:endParaRPr>
          </a:p>
          <a:p>
            <a:pPr algn="ctr" eaLnBrk="0" hangingPunct="0"/>
            <a:r>
              <a:rPr lang="en-US" altLang="zh-CN" dirty="0" err="1">
                <a:latin typeface="Times New Roman" panose="02020603050405020304" pitchFamily="18" charset="0"/>
                <a:ea typeface="宋体" panose="02010600030101010101" pitchFamily="2" charset="-122"/>
              </a:rPr>
              <a:t>goto</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L</a:t>
            </a:r>
            <a:r>
              <a:rPr lang="en-US" altLang="zh-CN" baseline="-25000" dirty="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algn="ctr" eaLnBrk="0" hangingPunct="0"/>
            <a:r>
              <a:rPr lang="zh-CN" altLang="en-US"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L</a:t>
            </a:r>
            <a:r>
              <a:rPr lang="en-US" altLang="zh-CN" baseline="-25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7656" name="矩形 27655"/>
          <p:cNvSpPr>
            <a:spLocks noChangeArrowheads="1"/>
          </p:cNvSpPr>
          <p:nvPr/>
        </p:nvSpPr>
        <p:spPr bwMode="auto">
          <a:xfrm>
            <a:off x="1763689" y="4660712"/>
            <a:ext cx="2664915" cy="1081087"/>
          </a:xfrm>
          <a:prstGeom prst="rect">
            <a:avLst/>
          </a:prstGeom>
          <a:solidFill>
            <a:srgbClr val="FFFFFF"/>
          </a:solidFill>
          <a:ln w="19050">
            <a:solidFill>
              <a:srgbClr val="00B0F0"/>
            </a:solidFill>
            <a:miter lim="800000"/>
          </a:ln>
        </p:spPr>
        <p:txBody>
          <a:bodyPr wrap="none" anchor="ctr"/>
          <a:lstStyle/>
          <a:p>
            <a:pPr algn="ctr" eaLnBrk="0" hangingPunct="0"/>
            <a:r>
              <a:rPr lang="zh-CN" altLang="en-US" dirty="0">
                <a:solidFill>
                  <a:srgbClr val="0000FF"/>
                </a:solidFill>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if </a:t>
            </a:r>
            <a:r>
              <a:rPr lang="en-US" altLang="zh-CN" dirty="0">
                <a:latin typeface="Times New Roman" panose="02020603050405020304" pitchFamily="18" charset="0"/>
                <a:ea typeface="宋体" panose="02010600030101010101" pitchFamily="2" charset="-122"/>
              </a:rPr>
              <a:t>( !</a:t>
            </a:r>
            <a:r>
              <a:rPr lang="en-US" altLang="zh-CN" dirty="0" err="1">
                <a:latin typeface="Times New Roman" panose="02020603050405020304" pitchFamily="18" charset="0"/>
                <a:ea typeface="宋体" panose="02010600030101010101" pitchFamily="2" charset="-122"/>
              </a:rPr>
              <a:t>s.Empty</a:t>
            </a:r>
            <a:r>
              <a:rPr lang="en-US" altLang="zh-CN" dirty="0">
                <a:latin typeface="Times New Roman" panose="02020603050405020304" pitchFamily="18" charset="0"/>
                <a:ea typeface="宋体" panose="02010600030101010101" pitchFamily="2" charset="-122"/>
              </a:rPr>
              <a:t>() ) { </a:t>
            </a:r>
            <a:endParaRPr lang="en-US" altLang="zh-CN" dirty="0">
              <a:latin typeface="Times New Roman" panose="02020603050405020304" pitchFamily="18" charset="0"/>
              <a:ea typeface="宋体" panose="02010600030101010101" pitchFamily="2" charset="-122"/>
            </a:endParaRPr>
          </a:p>
          <a:p>
            <a:pPr algn="ctr" eaLnBrk="0" hangingPunct="0"/>
            <a:r>
              <a:rPr lang="zh-CN" altLang="en-US" dirty="0">
                <a:latin typeface="Times New Roman" panose="02020603050405020304" pitchFamily="18" charset="0"/>
                <a:ea typeface="宋体" panose="02010600030101010101" pitchFamily="2" charset="-122"/>
              </a:rPr>
              <a:t> </a:t>
            </a:r>
            <a:r>
              <a:rPr lang="en-US" altLang="zh-CN" i="1" dirty="0" err="1">
                <a:latin typeface="Times New Roman" panose="02020603050405020304" pitchFamily="18" charset="0"/>
                <a:ea typeface="宋体" panose="02010600030101010101" pitchFamily="2" charset="-122"/>
              </a:rPr>
              <a:t>s</a:t>
            </a:r>
            <a:r>
              <a:rPr lang="en-US" altLang="zh-CN" dirty="0" err="1">
                <a:latin typeface="Times New Roman" panose="02020603050405020304" pitchFamily="18" charset="0"/>
                <a:ea typeface="宋体" panose="02010600030101010101" pitchFamily="2" charset="-122"/>
              </a:rPr>
              <a:t>.Pop</a:t>
            </a:r>
            <a:r>
              <a:rPr lang="en-US" altLang="zh-CN" dirty="0">
                <a:latin typeface="Times New Roman" panose="02020603050405020304" pitchFamily="18" charset="0"/>
                <a:ea typeface="宋体" panose="02010600030101010101" pitchFamily="2" charset="-122"/>
              </a:rPr>
              <a:t> (</a:t>
            </a:r>
            <a:r>
              <a:rPr lang="en-US" altLang="zh-CN" i="1" dirty="0" err="1">
                <a:latin typeface="Times New Roman" panose="02020603050405020304" pitchFamily="18" charset="0"/>
                <a:ea typeface="宋体" panose="02010600030101010101" pitchFamily="2" charset="-122"/>
              </a:rPr>
              <a:t>n</a:t>
            </a:r>
            <a:r>
              <a:rPr lang="en-US" altLang="zh-CN" dirty="0" err="1">
                <a:latin typeface="Times New Roman" panose="02020603050405020304" pitchFamily="18" charset="0"/>
                <a:ea typeface="宋体" panose="02010600030101010101" pitchFamily="2" charset="-122"/>
              </a:rPr>
              <a:t>,</a:t>
            </a:r>
            <a:r>
              <a:rPr lang="en-US" altLang="zh-CN" i="1" dirty="0" err="1">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algn="ctr" eaLnBrk="0" hangingPunct="0"/>
            <a:r>
              <a:rPr lang="en-US" altLang="zh-CN" dirty="0" err="1">
                <a:latin typeface="Times New Roman" panose="02020603050405020304" pitchFamily="18" charset="0"/>
                <a:ea typeface="宋体" panose="02010600030101010101" pitchFamily="2" charset="-122"/>
              </a:rPr>
              <a:t>goto</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algn="ctr" eaLnBrk="0" hangingPunct="0"/>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7659" name="矩形 27658"/>
          <p:cNvSpPr>
            <a:spLocks noChangeArrowheads="1"/>
          </p:cNvSpPr>
          <p:nvPr/>
        </p:nvSpPr>
        <p:spPr bwMode="auto">
          <a:xfrm>
            <a:off x="5508625" y="1700213"/>
            <a:ext cx="8636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dirty="0">
                <a:latin typeface="Times New Roman" panose="02020603050405020304" pitchFamily="18" charset="0"/>
              </a:rPr>
              <a:t> </a:t>
            </a:r>
            <a:r>
              <a:rPr lang="en-US" altLang="zh-CN" dirty="0">
                <a:latin typeface="Times New Roman" panose="02020603050405020304" pitchFamily="18" charset="0"/>
              </a:rPr>
              <a:t>// </a:t>
            </a:r>
            <a:r>
              <a:rPr lang="zh-CN" altLang="en-US" dirty="0">
                <a:latin typeface="Times New Roman" panose="02020603050405020304" pitchFamily="18" charset="0"/>
              </a:rPr>
              <a:t>规则</a:t>
            </a:r>
            <a:r>
              <a:rPr lang="en-US" altLang="zh-CN" dirty="0">
                <a:latin typeface="Times New Roman" panose="02020603050405020304" pitchFamily="18" charset="0"/>
              </a:rPr>
              <a:t>1</a:t>
            </a:r>
            <a:r>
              <a:rPr lang="en-US" altLang="zh-CN"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7660" name="矩形 27659"/>
          <p:cNvSpPr>
            <a:spLocks noChangeArrowheads="1"/>
          </p:cNvSpPr>
          <p:nvPr/>
        </p:nvSpPr>
        <p:spPr bwMode="auto">
          <a:xfrm>
            <a:off x="5508625" y="1989138"/>
            <a:ext cx="8636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a:latin typeface="Times New Roman" panose="02020603050405020304" pitchFamily="18" charset="0"/>
              </a:rPr>
              <a:t> </a:t>
            </a:r>
            <a:r>
              <a:rPr lang="en-US" altLang="zh-CN">
                <a:latin typeface="Times New Roman" panose="02020603050405020304" pitchFamily="18" charset="0"/>
              </a:rPr>
              <a:t>// </a:t>
            </a:r>
            <a:r>
              <a:rPr lang="zh-CN" altLang="en-US">
                <a:latin typeface="Times New Roman" panose="02020603050405020304" pitchFamily="18" charset="0"/>
              </a:rPr>
              <a:t>规则</a:t>
            </a:r>
            <a:r>
              <a:rPr lang="en-US" altLang="zh-CN">
                <a:latin typeface="Times New Roman" panose="02020603050405020304" pitchFamily="18" charset="0"/>
              </a:rPr>
              <a:t>2</a:t>
            </a:r>
            <a:r>
              <a:rPr lang="en-US" altLang="zh-CN">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38924" name="矩形 27660"/>
          <p:cNvSpPr>
            <a:spLocks noChangeArrowheads="1"/>
          </p:cNvSpPr>
          <p:nvPr/>
        </p:nvSpPr>
        <p:spPr bwMode="auto">
          <a:xfrm>
            <a:off x="5485096" y="2401116"/>
            <a:ext cx="8636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dirty="0">
                <a:latin typeface="Times New Roman" panose="02020603050405020304" pitchFamily="18" charset="0"/>
              </a:rPr>
              <a:t> </a:t>
            </a:r>
            <a:r>
              <a:rPr lang="en-US" altLang="zh-CN" dirty="0">
                <a:latin typeface="Times New Roman" panose="02020603050405020304" pitchFamily="18" charset="0"/>
              </a:rPr>
              <a:t>// </a:t>
            </a:r>
            <a:r>
              <a:rPr lang="zh-CN" altLang="en-US" dirty="0">
                <a:latin typeface="Times New Roman" panose="02020603050405020304" pitchFamily="18" charset="0"/>
              </a:rPr>
              <a:t>规则</a:t>
            </a:r>
            <a:r>
              <a:rPr lang="en-US" altLang="zh-CN" dirty="0">
                <a:latin typeface="Times New Roman" panose="02020603050405020304" pitchFamily="18" charset="0"/>
              </a:rPr>
              <a:t>5</a:t>
            </a:r>
            <a:r>
              <a:rPr lang="en-US" altLang="zh-CN"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7662" name="矩形 27661"/>
          <p:cNvSpPr>
            <a:spLocks noChangeArrowheads="1"/>
          </p:cNvSpPr>
          <p:nvPr/>
        </p:nvSpPr>
        <p:spPr bwMode="auto">
          <a:xfrm>
            <a:off x="5508625" y="2997200"/>
            <a:ext cx="10795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a:latin typeface="Times New Roman" panose="02020603050405020304" pitchFamily="18" charset="0"/>
              </a:rPr>
              <a:t> </a:t>
            </a:r>
            <a:r>
              <a:rPr lang="en-US" altLang="zh-CN">
                <a:latin typeface="Times New Roman" panose="02020603050405020304" pitchFamily="18" charset="0"/>
              </a:rPr>
              <a:t>// </a:t>
            </a:r>
            <a:r>
              <a:rPr lang="zh-CN" altLang="en-US">
                <a:latin typeface="Times New Roman" panose="02020603050405020304" pitchFamily="18" charset="0"/>
              </a:rPr>
              <a:t>规则</a:t>
            </a:r>
            <a:r>
              <a:rPr lang="en-US" altLang="zh-CN">
                <a:latin typeface="Times New Roman" panose="02020603050405020304" pitchFamily="18" charset="0"/>
              </a:rPr>
              <a:t>3.a</a:t>
            </a:r>
            <a:r>
              <a:rPr lang="en-US" altLang="zh-CN">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27663" name="矩形 27662"/>
          <p:cNvSpPr>
            <a:spLocks noChangeArrowheads="1"/>
          </p:cNvSpPr>
          <p:nvPr/>
        </p:nvSpPr>
        <p:spPr bwMode="auto">
          <a:xfrm>
            <a:off x="5508625" y="3284538"/>
            <a:ext cx="1079500"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a:latin typeface="Times New Roman" panose="02020603050405020304" pitchFamily="18" charset="0"/>
              </a:rPr>
              <a:t>// </a:t>
            </a:r>
            <a:r>
              <a:rPr lang="zh-CN" altLang="en-US">
                <a:latin typeface="Times New Roman" panose="02020603050405020304" pitchFamily="18" charset="0"/>
              </a:rPr>
              <a:t>规则</a:t>
            </a:r>
            <a:r>
              <a:rPr lang="en-US" altLang="zh-CN">
                <a:latin typeface="Times New Roman" panose="02020603050405020304" pitchFamily="18" charset="0"/>
                <a:ea typeface="宋体" panose="02010600030101010101" pitchFamily="2" charset="-122"/>
              </a:rPr>
              <a:t>3.b</a:t>
            </a:r>
            <a:endParaRPr lang="zh-CN" altLang="en-US">
              <a:latin typeface="Times New Roman" panose="02020603050405020304" pitchFamily="18" charset="0"/>
              <a:ea typeface="宋体" panose="02010600030101010101" pitchFamily="2" charset="-122"/>
            </a:endParaRPr>
          </a:p>
        </p:txBody>
      </p:sp>
      <p:sp>
        <p:nvSpPr>
          <p:cNvPr id="27664" name="矩形 27663"/>
          <p:cNvSpPr>
            <a:spLocks noChangeArrowheads="1"/>
          </p:cNvSpPr>
          <p:nvPr/>
        </p:nvSpPr>
        <p:spPr bwMode="auto">
          <a:xfrm>
            <a:off x="5508625" y="3500438"/>
            <a:ext cx="10795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a:latin typeface="Times New Roman" panose="02020603050405020304" pitchFamily="18" charset="0"/>
              </a:rPr>
              <a:t> </a:t>
            </a:r>
            <a:r>
              <a:rPr lang="en-US" altLang="zh-CN">
                <a:latin typeface="Times New Roman" panose="02020603050405020304" pitchFamily="18" charset="0"/>
              </a:rPr>
              <a:t>// </a:t>
            </a:r>
            <a:r>
              <a:rPr lang="zh-CN" altLang="en-US">
                <a:latin typeface="Times New Roman" panose="02020603050405020304" pitchFamily="18" charset="0"/>
              </a:rPr>
              <a:t>规则</a:t>
            </a:r>
            <a:r>
              <a:rPr lang="en-US" altLang="zh-CN">
                <a:latin typeface="Times New Roman" panose="02020603050405020304" pitchFamily="18" charset="0"/>
              </a:rPr>
              <a:t>3.c</a:t>
            </a:r>
            <a:r>
              <a:rPr lang="en-US" altLang="zh-CN">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27665" name="矩形 27664"/>
          <p:cNvSpPr>
            <a:spLocks noChangeArrowheads="1"/>
          </p:cNvSpPr>
          <p:nvPr/>
        </p:nvSpPr>
        <p:spPr bwMode="auto">
          <a:xfrm>
            <a:off x="5508625" y="3789363"/>
            <a:ext cx="10795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a:latin typeface="Times New Roman" panose="02020603050405020304" pitchFamily="18" charset="0"/>
              </a:rPr>
              <a:t> </a:t>
            </a:r>
            <a:r>
              <a:rPr lang="en-US" altLang="zh-CN">
                <a:latin typeface="Times New Roman" panose="02020603050405020304" pitchFamily="18" charset="0"/>
              </a:rPr>
              <a:t>// </a:t>
            </a:r>
            <a:r>
              <a:rPr lang="zh-CN" altLang="en-US">
                <a:latin typeface="Times New Roman" panose="02020603050405020304" pitchFamily="18" charset="0"/>
              </a:rPr>
              <a:t>规则</a:t>
            </a:r>
            <a:r>
              <a:rPr lang="en-US" altLang="zh-CN">
                <a:latin typeface="Times New Roman" panose="02020603050405020304" pitchFamily="18" charset="0"/>
              </a:rPr>
              <a:t>3.d</a:t>
            </a:r>
            <a:r>
              <a:rPr lang="en-US" altLang="zh-CN">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27666" name="矩形 27665"/>
          <p:cNvSpPr>
            <a:spLocks noChangeArrowheads="1"/>
          </p:cNvSpPr>
          <p:nvPr/>
        </p:nvSpPr>
        <p:spPr bwMode="auto">
          <a:xfrm>
            <a:off x="5508625" y="4292600"/>
            <a:ext cx="8636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dirty="0">
                <a:latin typeface="Times New Roman" panose="02020603050405020304" pitchFamily="18" charset="0"/>
              </a:rPr>
              <a:t> </a:t>
            </a:r>
            <a:r>
              <a:rPr lang="en-US" altLang="zh-CN" dirty="0">
                <a:latin typeface="Times New Roman" panose="02020603050405020304" pitchFamily="18" charset="0"/>
              </a:rPr>
              <a:t>// </a:t>
            </a:r>
            <a:r>
              <a:rPr lang="zh-CN" altLang="en-US" dirty="0">
                <a:latin typeface="Times New Roman" panose="02020603050405020304" pitchFamily="18" charset="0"/>
              </a:rPr>
              <a:t>规则</a:t>
            </a:r>
            <a:r>
              <a:rPr lang="en-US" altLang="zh-CN" dirty="0">
                <a:latin typeface="Times New Roman" panose="02020603050405020304" pitchFamily="18" charset="0"/>
              </a:rPr>
              <a:t>5</a:t>
            </a:r>
            <a:r>
              <a:rPr lang="en-US" altLang="zh-CN"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7667" name="矩形 27666"/>
          <p:cNvSpPr>
            <a:spLocks noChangeArrowheads="1"/>
          </p:cNvSpPr>
          <p:nvPr/>
        </p:nvSpPr>
        <p:spPr bwMode="auto">
          <a:xfrm>
            <a:off x="5508625" y="4652963"/>
            <a:ext cx="8636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dirty="0">
                <a:latin typeface="Times New Roman" panose="02020603050405020304" pitchFamily="18" charset="0"/>
              </a:rPr>
              <a:t>   </a:t>
            </a:r>
            <a:r>
              <a:rPr lang="en-US" altLang="zh-CN" dirty="0">
                <a:latin typeface="Times New Roman" panose="02020603050405020304" pitchFamily="18" charset="0"/>
              </a:rPr>
              <a:t>// </a:t>
            </a:r>
            <a:r>
              <a:rPr lang="zh-CN" altLang="en-US" dirty="0">
                <a:latin typeface="Times New Roman" panose="02020603050405020304" pitchFamily="18" charset="0"/>
              </a:rPr>
              <a:t>规则</a:t>
            </a:r>
            <a:r>
              <a:rPr lang="en-US" altLang="zh-CN" dirty="0">
                <a:latin typeface="Times New Roman" panose="02020603050405020304" pitchFamily="18" charset="0"/>
              </a:rPr>
              <a:t>4.a</a:t>
            </a:r>
            <a:r>
              <a:rPr lang="en-US" altLang="zh-CN"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7668" name="矩形 27667"/>
          <p:cNvSpPr>
            <a:spLocks noChangeArrowheads="1"/>
          </p:cNvSpPr>
          <p:nvPr/>
        </p:nvSpPr>
        <p:spPr bwMode="auto">
          <a:xfrm>
            <a:off x="5508625" y="4941888"/>
            <a:ext cx="10080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a:latin typeface="Times New Roman" panose="02020603050405020304" pitchFamily="18" charset="0"/>
              </a:rPr>
              <a:t> </a:t>
            </a:r>
            <a:r>
              <a:rPr lang="en-US" altLang="zh-CN">
                <a:latin typeface="Times New Roman" panose="02020603050405020304" pitchFamily="18" charset="0"/>
              </a:rPr>
              <a:t>// </a:t>
            </a:r>
            <a:r>
              <a:rPr lang="zh-CN" altLang="en-US">
                <a:latin typeface="Times New Roman" panose="02020603050405020304" pitchFamily="18" charset="0"/>
              </a:rPr>
              <a:t>规则</a:t>
            </a:r>
            <a:r>
              <a:rPr lang="en-US" altLang="zh-CN">
                <a:latin typeface="Times New Roman" panose="02020603050405020304" pitchFamily="18" charset="0"/>
              </a:rPr>
              <a:t>4.b</a:t>
            </a:r>
            <a:r>
              <a:rPr lang="en-US" altLang="zh-CN">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27669" name="矩形 27668"/>
          <p:cNvSpPr>
            <a:spLocks noChangeArrowheads="1"/>
          </p:cNvSpPr>
          <p:nvPr/>
        </p:nvSpPr>
        <p:spPr bwMode="auto">
          <a:xfrm>
            <a:off x="5508625" y="5229225"/>
            <a:ext cx="1008063"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a:latin typeface="Times New Roman" panose="02020603050405020304" pitchFamily="18" charset="0"/>
              </a:rPr>
              <a:t> </a:t>
            </a:r>
            <a:r>
              <a:rPr lang="en-US" altLang="zh-CN">
                <a:latin typeface="Times New Roman" panose="02020603050405020304" pitchFamily="18" charset="0"/>
              </a:rPr>
              <a:t>// </a:t>
            </a:r>
            <a:r>
              <a:rPr lang="zh-CN" altLang="en-US">
                <a:latin typeface="Times New Roman" panose="02020603050405020304" pitchFamily="18" charset="0"/>
              </a:rPr>
              <a:t>规则</a:t>
            </a:r>
            <a:r>
              <a:rPr lang="en-US" altLang="zh-CN">
                <a:latin typeface="Times New Roman" panose="02020603050405020304" pitchFamily="18" charset="0"/>
              </a:rPr>
              <a:t>4.c</a:t>
            </a:r>
            <a:r>
              <a:rPr lang="en-US" altLang="zh-CN">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27670" name="矩形标注 27669"/>
          <p:cNvSpPr>
            <a:spLocks noChangeArrowheads="1"/>
          </p:cNvSpPr>
          <p:nvPr/>
        </p:nvSpPr>
        <p:spPr bwMode="auto">
          <a:xfrm>
            <a:off x="6553200" y="1078018"/>
            <a:ext cx="2305212" cy="616706"/>
          </a:xfrm>
          <a:prstGeom prst="wedgeRectCallout">
            <a:avLst>
              <a:gd name="adj1" fmla="val -204778"/>
              <a:gd name="adj2" fmla="val 68026"/>
            </a:avLst>
          </a:prstGeom>
          <a:solidFill>
            <a:srgbClr val="FFFF00"/>
          </a:solidFill>
          <a:ln w="9525" cap="rnd">
            <a:solidFill>
              <a:srgbClr val="000000"/>
            </a:solidFill>
            <a:prstDash val="sysDot"/>
            <a:miter lim="800000"/>
          </a:ln>
        </p:spPr>
        <p:txBody>
          <a:bodyPr/>
          <a:lstStyle/>
          <a:p>
            <a:pPr algn="just" eaLnBrk="0" hangingPunct="0"/>
            <a:r>
              <a:rPr lang="zh-CN" altLang="en-US" b="1" dirty="0">
                <a:latin typeface="Times New Roman" panose="02020603050405020304" pitchFamily="18" charset="0"/>
              </a:rPr>
              <a:t>初始化栈</a:t>
            </a:r>
            <a:r>
              <a:rPr lang="en-US" altLang="zh-CN" b="1" dirty="0">
                <a:latin typeface="Times New Roman" panose="02020603050405020304" pitchFamily="18" charset="0"/>
              </a:rPr>
              <a:t>-------</a:t>
            </a:r>
            <a:r>
              <a:rPr lang="zh-CN" altLang="en-US" b="1" dirty="0">
                <a:latin typeface="Times New Roman" panose="02020603050405020304" pitchFamily="18" charset="0"/>
              </a:rPr>
              <a:t>规则</a:t>
            </a:r>
            <a:r>
              <a:rPr lang="en-US" altLang="zh-CN" b="1" dirty="0">
                <a:latin typeface="Times New Roman" panose="02020603050405020304" pitchFamily="18" charset="0"/>
              </a:rPr>
              <a:t>1</a:t>
            </a:r>
            <a:endParaRPr lang="en-US" altLang="zh-CN" b="1" dirty="0">
              <a:latin typeface="Times New Roman" panose="02020603050405020304" pitchFamily="18" charset="0"/>
            </a:endParaRPr>
          </a:p>
          <a:p>
            <a:pPr algn="just" eaLnBrk="0" hangingPunct="0"/>
            <a:r>
              <a:rPr lang="zh-CN" altLang="en-US" b="1" dirty="0">
                <a:latin typeface="Times New Roman" panose="02020603050405020304" pitchFamily="18" charset="0"/>
              </a:rPr>
              <a:t>设入口标号</a:t>
            </a:r>
            <a:r>
              <a:rPr lang="en-US" altLang="zh-CN" b="1" dirty="0">
                <a:latin typeface="Times New Roman" panose="02020603050405020304" pitchFamily="18" charset="0"/>
              </a:rPr>
              <a:t>----</a:t>
            </a:r>
            <a:r>
              <a:rPr lang="zh-CN" altLang="en-US" b="1" dirty="0">
                <a:latin typeface="Times New Roman" panose="02020603050405020304" pitchFamily="18" charset="0"/>
              </a:rPr>
              <a:t>规则</a:t>
            </a:r>
            <a:r>
              <a:rPr lang="en-US" altLang="zh-CN" b="1" dirty="0">
                <a:latin typeface="Times New Roman" panose="02020603050405020304" pitchFamily="18" charset="0"/>
              </a:rPr>
              <a:t>2</a:t>
            </a:r>
            <a:endParaRPr lang="en-US" altLang="zh-CN" b="1" dirty="0">
              <a:latin typeface="Times New Roman" panose="02020603050405020304" pitchFamily="18" charset="0"/>
            </a:endParaRPr>
          </a:p>
        </p:txBody>
      </p:sp>
      <p:sp>
        <p:nvSpPr>
          <p:cNvPr id="27671" name="矩形标注 27670"/>
          <p:cNvSpPr>
            <a:spLocks noChangeArrowheads="1"/>
          </p:cNvSpPr>
          <p:nvPr/>
        </p:nvSpPr>
        <p:spPr bwMode="auto">
          <a:xfrm>
            <a:off x="6588125" y="3735482"/>
            <a:ext cx="2270287" cy="613404"/>
          </a:xfrm>
          <a:prstGeom prst="wedgeRectCallout">
            <a:avLst>
              <a:gd name="adj1" fmla="val -147956"/>
              <a:gd name="adj2" fmla="val 2087"/>
            </a:avLst>
          </a:prstGeom>
          <a:solidFill>
            <a:schemeClr val="accent6">
              <a:lumMod val="60000"/>
              <a:lumOff val="40000"/>
            </a:schemeClr>
          </a:solidFill>
          <a:ln w="9525" cap="rnd">
            <a:solidFill>
              <a:srgbClr val="000000"/>
            </a:solidFill>
            <a:prstDash val="sysDot"/>
            <a:miter lim="800000"/>
          </a:ln>
        </p:spPr>
        <p:txBody>
          <a:bodyPr/>
          <a:lstStyle/>
          <a:p>
            <a:pPr algn="just" eaLnBrk="0" hangingPunct="0"/>
            <a:r>
              <a:rPr lang="zh-CN" altLang="en-US" b="1" dirty="0">
                <a:latin typeface="Times New Roman" panose="02020603050405020304" pitchFamily="18" charset="0"/>
              </a:rPr>
              <a:t>递归调用</a:t>
            </a:r>
            <a:r>
              <a:rPr lang="en-US" altLang="zh-CN" b="1" dirty="0">
                <a:latin typeface="Times New Roman" panose="02020603050405020304" pitchFamily="18" charset="0"/>
              </a:rPr>
              <a:t>P(n-1)</a:t>
            </a:r>
            <a:r>
              <a:rPr lang="zh-CN" altLang="en-US" b="1" dirty="0">
                <a:latin typeface="Times New Roman" panose="02020603050405020304" pitchFamily="18" charset="0"/>
              </a:rPr>
              <a:t>的替换</a:t>
            </a:r>
            <a:r>
              <a:rPr lang="en-US" altLang="zh-CN" b="1" dirty="0">
                <a:latin typeface="Times New Roman" panose="02020603050405020304" pitchFamily="18" charset="0"/>
              </a:rPr>
              <a:t>----</a:t>
            </a:r>
            <a:r>
              <a:rPr lang="zh-CN" altLang="en-US" b="1" dirty="0">
                <a:latin typeface="Times New Roman" panose="02020603050405020304" pitchFamily="18" charset="0"/>
              </a:rPr>
              <a:t>规则</a:t>
            </a:r>
            <a:r>
              <a:rPr lang="en-US" altLang="zh-CN" b="1" dirty="0">
                <a:latin typeface="Times New Roman" panose="02020603050405020304" pitchFamily="18" charset="0"/>
              </a:rPr>
              <a:t>3</a:t>
            </a:r>
            <a:endParaRPr lang="en-US" altLang="zh-CN" b="1" dirty="0">
              <a:latin typeface="Times New Roman" panose="02020603050405020304" pitchFamily="18" charset="0"/>
            </a:endParaRPr>
          </a:p>
        </p:txBody>
      </p:sp>
      <p:sp>
        <p:nvSpPr>
          <p:cNvPr id="27672" name="矩形标注 27671"/>
          <p:cNvSpPr>
            <a:spLocks noChangeArrowheads="1"/>
          </p:cNvSpPr>
          <p:nvPr/>
        </p:nvSpPr>
        <p:spPr bwMode="auto">
          <a:xfrm>
            <a:off x="6575810" y="2277510"/>
            <a:ext cx="2282602" cy="648745"/>
          </a:xfrm>
          <a:prstGeom prst="wedgeRectCallout">
            <a:avLst>
              <a:gd name="adj1" fmla="val -208539"/>
              <a:gd name="adj2" fmla="val 38192"/>
            </a:avLst>
          </a:prstGeom>
          <a:solidFill>
            <a:srgbClr val="2BE978"/>
          </a:solidFill>
          <a:ln w="9525" cap="rnd">
            <a:solidFill>
              <a:srgbClr val="000000"/>
            </a:solidFill>
            <a:prstDash val="sysDot"/>
            <a:miter lim="800000"/>
          </a:ln>
        </p:spPr>
        <p:txBody>
          <a:bodyPr/>
          <a:lstStyle/>
          <a:p>
            <a:pPr algn="just" eaLnBrk="0" hangingPunct="0"/>
            <a:r>
              <a:rPr lang="zh-CN" altLang="en-US" b="1" dirty="0">
                <a:latin typeface="Times New Roman" panose="02020603050405020304" pitchFamily="18" charset="0"/>
              </a:rPr>
              <a:t>非递归调用和返回部分照搬</a:t>
            </a:r>
            <a:r>
              <a:rPr lang="en-US" altLang="zh-CN" b="1" dirty="0">
                <a:latin typeface="Times New Roman" panose="02020603050405020304" pitchFamily="18" charset="0"/>
              </a:rPr>
              <a:t>--</a:t>
            </a:r>
            <a:r>
              <a:rPr lang="zh-CN" altLang="en-US" b="1" dirty="0">
                <a:latin typeface="Times New Roman" panose="02020603050405020304" pitchFamily="18" charset="0"/>
              </a:rPr>
              <a:t>规则</a:t>
            </a:r>
            <a:r>
              <a:rPr lang="en-US" altLang="zh-CN" b="1" dirty="0">
                <a:latin typeface="Times New Roman" panose="02020603050405020304" pitchFamily="18" charset="0"/>
              </a:rPr>
              <a:t>5</a:t>
            </a:r>
            <a:endParaRPr lang="en-US" altLang="zh-CN" b="1" dirty="0">
              <a:latin typeface="Times New Roman" panose="02020603050405020304" pitchFamily="18" charset="0"/>
            </a:endParaRPr>
          </a:p>
        </p:txBody>
      </p:sp>
      <p:sp>
        <p:nvSpPr>
          <p:cNvPr id="27673" name="矩形标注 27672"/>
          <p:cNvSpPr>
            <a:spLocks noChangeArrowheads="1"/>
          </p:cNvSpPr>
          <p:nvPr/>
        </p:nvSpPr>
        <p:spPr bwMode="auto">
          <a:xfrm>
            <a:off x="6575810" y="5215881"/>
            <a:ext cx="2282602" cy="601363"/>
          </a:xfrm>
          <a:prstGeom prst="wedgeRectCallout">
            <a:avLst>
              <a:gd name="adj1" fmla="val -141793"/>
              <a:gd name="adj2" fmla="val 36295"/>
            </a:avLst>
          </a:prstGeom>
          <a:solidFill>
            <a:srgbClr val="00B0F0"/>
          </a:solidFill>
          <a:ln w="9525" cap="rnd">
            <a:solidFill>
              <a:srgbClr val="000000"/>
            </a:solidFill>
            <a:prstDash val="sysDot"/>
            <a:miter lim="800000"/>
          </a:ln>
        </p:spPr>
        <p:txBody>
          <a:bodyPr/>
          <a:lstStyle/>
          <a:p>
            <a:pPr algn="just" eaLnBrk="0" hangingPunct="0"/>
            <a:r>
              <a:rPr lang="zh-CN" altLang="en-US" b="1" dirty="0">
                <a:latin typeface="Times New Roman" panose="02020603050405020304" pitchFamily="18" charset="0"/>
              </a:rPr>
              <a:t>返回部分的替换</a:t>
            </a:r>
            <a:r>
              <a:rPr lang="en-US" altLang="zh-CN" b="1" dirty="0">
                <a:latin typeface="Times New Roman" panose="02020603050405020304" pitchFamily="18" charset="0"/>
              </a:rPr>
              <a:t>----</a:t>
            </a:r>
            <a:r>
              <a:rPr lang="zh-CN" altLang="en-US" b="1" dirty="0">
                <a:latin typeface="Times New Roman" panose="02020603050405020304" pitchFamily="18" charset="0"/>
              </a:rPr>
              <a:t>规则</a:t>
            </a:r>
            <a:r>
              <a:rPr lang="en-US" altLang="zh-CN" b="1" dirty="0">
                <a:latin typeface="Times New Roman" panose="02020603050405020304" pitchFamily="18" charset="0"/>
              </a:rPr>
              <a:t>4</a:t>
            </a:r>
            <a:endParaRPr lang="en-US" altLang="zh-CN" b="1" dirty="0">
              <a:latin typeface="Times New Roman" panose="02020603050405020304" pitchFamily="18" charset="0"/>
            </a:endParaRPr>
          </a:p>
        </p:txBody>
      </p:sp>
      <p:grpSp>
        <p:nvGrpSpPr>
          <p:cNvPr id="28" name="组合 27"/>
          <p:cNvGrpSpPr/>
          <p:nvPr/>
        </p:nvGrpSpPr>
        <p:grpSpPr>
          <a:xfrm>
            <a:off x="541437" y="127832"/>
            <a:ext cx="7991003" cy="674160"/>
            <a:chOff x="999690" y="5042189"/>
            <a:chExt cx="8290830" cy="647731"/>
          </a:xfrm>
        </p:grpSpPr>
        <p:sp>
          <p:nvSpPr>
            <p:cNvPr id="29"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latin typeface="Times New Roman" panose="02020603050405020304" pitchFamily="18" charset="0"/>
                <a:ea typeface="微软雅黑" panose="020B0503020204020204" pitchFamily="34" charset="-122"/>
              </a:endParaRPr>
            </a:p>
          </p:txBody>
        </p:sp>
        <p:sp>
          <p:nvSpPr>
            <p:cNvPr id="30"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31" name="图片 30"/>
            <p:cNvPicPr>
              <a:picLocks noChangeAspect="1"/>
            </p:cNvPicPr>
            <p:nvPr/>
          </p:nvPicPr>
          <p:blipFill>
            <a:blip r:embed="rId1" cstate="print"/>
            <a:stretch>
              <a:fillRect/>
            </a:stretch>
          </p:blipFill>
          <p:spPr>
            <a:xfrm>
              <a:off x="1199659" y="5205012"/>
              <a:ext cx="420013" cy="322083"/>
            </a:xfrm>
            <a:prstGeom prst="rect">
              <a:avLst/>
            </a:prstGeom>
          </p:spPr>
        </p:pic>
      </p:grpSp>
      <p:grpSp>
        <p:nvGrpSpPr>
          <p:cNvPr id="14" name="组合 13"/>
          <p:cNvGrpSpPr/>
          <p:nvPr/>
        </p:nvGrpSpPr>
        <p:grpSpPr>
          <a:xfrm>
            <a:off x="1687513" y="2476001"/>
            <a:ext cx="1580900" cy="2138907"/>
            <a:chOff x="1687513" y="2476001"/>
            <a:chExt cx="1580900" cy="2138907"/>
          </a:xfrm>
        </p:grpSpPr>
        <p:sp>
          <p:nvSpPr>
            <p:cNvPr id="27658" name="矩形 27657"/>
            <p:cNvSpPr>
              <a:spLocks noChangeArrowheads="1"/>
            </p:cNvSpPr>
            <p:nvPr/>
          </p:nvSpPr>
          <p:spPr bwMode="auto">
            <a:xfrm>
              <a:off x="2042863" y="4177119"/>
              <a:ext cx="12255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dirty="0" err="1">
                  <a:solidFill>
                    <a:srgbClr val="0000FF"/>
                  </a:solidFill>
                  <a:latin typeface="Times New Roman" panose="02020603050405020304" pitchFamily="18" charset="0"/>
                  <a:ea typeface="宋体" panose="02010600030101010101" pitchFamily="2" charset="-122"/>
                </a:rPr>
                <a:t>cout</a:t>
              </a:r>
              <a:r>
                <a:rPr lang="en-US" altLang="zh-CN" dirty="0">
                  <a:latin typeface="Times New Roman" panose="02020603050405020304" pitchFamily="18" charset="0"/>
                  <a:ea typeface="宋体" panose="02010600030101010101" pitchFamily="2" charset="-122"/>
                </a:rPr>
                <a:t>&lt;&lt;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grpSp>
          <p:nvGrpSpPr>
            <p:cNvPr id="13" name="组合 12"/>
            <p:cNvGrpSpPr/>
            <p:nvPr/>
          </p:nvGrpSpPr>
          <p:grpSpPr>
            <a:xfrm>
              <a:off x="1687513" y="2476001"/>
              <a:ext cx="1516336" cy="2138907"/>
              <a:chOff x="1687513" y="2476001"/>
              <a:chExt cx="1516336" cy="2138907"/>
            </a:xfrm>
          </p:grpSpPr>
          <p:sp>
            <p:nvSpPr>
              <p:cNvPr id="27657" name="矩形 27656"/>
              <p:cNvSpPr>
                <a:spLocks noChangeArrowheads="1"/>
              </p:cNvSpPr>
              <p:nvPr/>
            </p:nvSpPr>
            <p:spPr bwMode="auto">
              <a:xfrm>
                <a:off x="1687513" y="2476001"/>
                <a:ext cx="1295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dirty="0">
                    <a:solidFill>
                      <a:srgbClr val="0000FF"/>
                    </a:solidFill>
                    <a:latin typeface="Times New Roman" panose="02020603050405020304" pitchFamily="18" charset="0"/>
                    <a:ea typeface="宋体" panose="02010600030101010101" pitchFamily="2" charset="-122"/>
                  </a:rPr>
                  <a:t>if</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&gt;0){</a:t>
                </a:r>
                <a:endParaRPr lang="en-US" altLang="zh-CN" dirty="0">
                  <a:latin typeface="Times New Roman" panose="02020603050405020304" pitchFamily="18" charset="0"/>
                  <a:ea typeface="宋体" panose="02010600030101010101" pitchFamily="2" charset="-122"/>
                </a:endParaRPr>
              </a:p>
            </p:txBody>
          </p:sp>
          <p:grpSp>
            <p:nvGrpSpPr>
              <p:cNvPr id="32" name="组合 31"/>
              <p:cNvGrpSpPr/>
              <p:nvPr/>
            </p:nvGrpSpPr>
            <p:grpSpPr>
              <a:xfrm>
                <a:off x="1763688" y="2493963"/>
                <a:ext cx="1440161" cy="2120945"/>
                <a:chOff x="1764408" y="2924175"/>
                <a:chExt cx="1440161" cy="1800969"/>
              </a:xfrm>
            </p:grpSpPr>
            <p:cxnSp>
              <p:nvCxnSpPr>
                <p:cNvPr id="33" name="直接连接符 32"/>
                <p:cNvCxnSpPr/>
                <p:nvPr/>
              </p:nvCxnSpPr>
              <p:spPr>
                <a:xfrm flipH="1">
                  <a:off x="1908424" y="3240785"/>
                  <a:ext cx="1078681" cy="0"/>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1908424" y="3240785"/>
                  <a:ext cx="0" cy="1185447"/>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grpSp>
              <p:nvGrpSpPr>
                <p:cNvPr id="35" name="组合 34"/>
                <p:cNvGrpSpPr/>
                <p:nvPr/>
              </p:nvGrpSpPr>
              <p:grpSpPr>
                <a:xfrm>
                  <a:off x="1764408" y="2924175"/>
                  <a:ext cx="1440161" cy="1800969"/>
                  <a:chOff x="1764408" y="2924175"/>
                  <a:chExt cx="1440161" cy="1800969"/>
                </a:xfrm>
              </p:grpSpPr>
              <p:cxnSp>
                <p:nvCxnSpPr>
                  <p:cNvPr id="36" name="直接连接符 35"/>
                  <p:cNvCxnSpPr/>
                  <p:nvPr/>
                </p:nvCxnSpPr>
                <p:spPr>
                  <a:xfrm flipH="1">
                    <a:off x="2987974" y="2924175"/>
                    <a:ext cx="570" cy="316610"/>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grpSp>
                <p:nvGrpSpPr>
                  <p:cNvPr id="37" name="组合 36"/>
                  <p:cNvGrpSpPr/>
                  <p:nvPr/>
                </p:nvGrpSpPr>
                <p:grpSpPr>
                  <a:xfrm>
                    <a:off x="1764408" y="2924175"/>
                    <a:ext cx="1440161" cy="1800969"/>
                    <a:chOff x="1764408" y="2924175"/>
                    <a:chExt cx="1440161" cy="1800969"/>
                  </a:xfrm>
                </p:grpSpPr>
                <p:cxnSp>
                  <p:nvCxnSpPr>
                    <p:cNvPr id="38" name="直接连接符 37"/>
                    <p:cNvCxnSpPr/>
                    <p:nvPr/>
                  </p:nvCxnSpPr>
                  <p:spPr>
                    <a:xfrm>
                      <a:off x="1764408" y="2924175"/>
                      <a:ext cx="1222697" cy="0"/>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1908424" y="4426232"/>
                      <a:ext cx="1296144" cy="1"/>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3204568" y="4426232"/>
                      <a:ext cx="0" cy="298912"/>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1764408" y="4725144"/>
                      <a:ext cx="1440161" cy="0"/>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1764408" y="2924175"/>
                      <a:ext cx="0" cy="1800969"/>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grpSp>
            </p:grpSp>
          </p:grpSp>
        </p:grp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7670"/>
                                        </p:tgtEl>
                                        <p:attrNameLst>
                                          <p:attrName>style.visibility</p:attrName>
                                        </p:attrNameLst>
                                      </p:cBhvr>
                                      <p:to>
                                        <p:strVal val="visible"/>
                                      </p:to>
                                    </p:set>
                                    <p:animEffect transition="in" filter="blinds(horizontal)">
                                      <p:cBhvr>
                                        <p:cTn id="7" dur="500"/>
                                        <p:tgtEl>
                                          <p:spTgt spid="2767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652"/>
                                        </p:tgtEl>
                                        <p:attrNameLst>
                                          <p:attrName>style.visibility</p:attrName>
                                        </p:attrNameLst>
                                      </p:cBhvr>
                                      <p:to>
                                        <p:strVal val="visible"/>
                                      </p:to>
                                    </p:set>
                                    <p:animEffect transition="in" filter="blinds(horizontal)">
                                      <p:cBhvr>
                                        <p:cTn id="12" dur="500"/>
                                        <p:tgtEl>
                                          <p:spTgt spid="27652"/>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7653"/>
                                        </p:tgtEl>
                                        <p:attrNameLst>
                                          <p:attrName>style.visibility</p:attrName>
                                        </p:attrNameLst>
                                      </p:cBhvr>
                                      <p:to>
                                        <p:strVal val="visible"/>
                                      </p:to>
                                    </p:set>
                                    <p:animEffect transition="in" filter="blinds(horizontal)">
                                      <p:cBhvr>
                                        <p:cTn id="15" dur="500"/>
                                        <p:tgtEl>
                                          <p:spTgt spid="2765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7660"/>
                                        </p:tgtEl>
                                        <p:attrNameLst>
                                          <p:attrName>style.visibility</p:attrName>
                                        </p:attrNameLst>
                                      </p:cBhvr>
                                      <p:to>
                                        <p:strVal val="visible"/>
                                      </p:to>
                                    </p:set>
                                    <p:animEffect transition="in" filter="blinds(horizontal)">
                                      <p:cBhvr>
                                        <p:cTn id="20" dur="500"/>
                                        <p:tgtEl>
                                          <p:spTgt spid="27660"/>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7659"/>
                                        </p:tgtEl>
                                        <p:attrNameLst>
                                          <p:attrName>style.visibility</p:attrName>
                                        </p:attrNameLst>
                                      </p:cBhvr>
                                      <p:to>
                                        <p:strVal val="visible"/>
                                      </p:to>
                                    </p:set>
                                    <p:animEffect transition="in" filter="blinds(horizontal)">
                                      <p:cBhvr>
                                        <p:cTn id="23" dur="500"/>
                                        <p:tgtEl>
                                          <p:spTgt spid="27659"/>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767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8924"/>
                                        </p:tgtEl>
                                        <p:attrNameLst>
                                          <p:attrName>style.visibility</p:attrName>
                                        </p:attrNameLst>
                                      </p:cBhvr>
                                      <p:to>
                                        <p:strVal val="visible"/>
                                      </p:to>
                                    </p:set>
                                  </p:childTnLst>
                                </p:cTn>
                              </p:par>
                              <p:par>
                                <p:cTn id="36" presetID="3" presetClass="entr" presetSubtype="10" fill="hold" grpId="0" nodeType="withEffect">
                                  <p:stCondLst>
                                    <p:cond delay="0"/>
                                  </p:stCondLst>
                                  <p:childTnLst>
                                    <p:set>
                                      <p:cBhvr>
                                        <p:cTn id="37" dur="1" fill="hold">
                                          <p:stCondLst>
                                            <p:cond delay="0"/>
                                          </p:stCondLst>
                                        </p:cTn>
                                        <p:tgtEl>
                                          <p:spTgt spid="27666"/>
                                        </p:tgtEl>
                                        <p:attrNameLst>
                                          <p:attrName>style.visibility</p:attrName>
                                        </p:attrNameLst>
                                      </p:cBhvr>
                                      <p:to>
                                        <p:strVal val="visible"/>
                                      </p:to>
                                    </p:set>
                                    <p:animEffect transition="in" filter="blinds(horizontal)">
                                      <p:cBhvr>
                                        <p:cTn id="38" dur="500"/>
                                        <p:tgtEl>
                                          <p:spTgt spid="27666"/>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27671"/>
                                        </p:tgtEl>
                                        <p:attrNameLst>
                                          <p:attrName>style.visibility</p:attrName>
                                        </p:attrNameLst>
                                      </p:cBhvr>
                                      <p:to>
                                        <p:strVal val="visible"/>
                                      </p:to>
                                    </p:set>
                                    <p:animEffect transition="in" filter="blinds(horizontal)">
                                      <p:cBhvr>
                                        <p:cTn id="43" dur="500"/>
                                        <p:tgtEl>
                                          <p:spTgt spid="27671"/>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27655"/>
                                        </p:tgtEl>
                                        <p:attrNameLst>
                                          <p:attrName>style.visibility</p:attrName>
                                        </p:attrNameLst>
                                      </p:cBhvr>
                                      <p:to>
                                        <p:strVal val="visible"/>
                                      </p:to>
                                    </p:set>
                                    <p:animEffect transition="in" filter="blinds(horizontal)">
                                      <p:cBhvr>
                                        <p:cTn id="48" dur="500"/>
                                        <p:tgtEl>
                                          <p:spTgt spid="27655"/>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27662"/>
                                        </p:tgtEl>
                                        <p:attrNameLst>
                                          <p:attrName>style.visibility</p:attrName>
                                        </p:attrNameLst>
                                      </p:cBhvr>
                                      <p:to>
                                        <p:strVal val="visible"/>
                                      </p:to>
                                    </p:set>
                                    <p:animEffect transition="in" filter="blinds(horizontal)">
                                      <p:cBhvr>
                                        <p:cTn id="53" dur="500"/>
                                        <p:tgtEl>
                                          <p:spTgt spid="27662"/>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27663"/>
                                        </p:tgtEl>
                                        <p:attrNameLst>
                                          <p:attrName>style.visibility</p:attrName>
                                        </p:attrNameLst>
                                      </p:cBhvr>
                                      <p:to>
                                        <p:strVal val="visible"/>
                                      </p:to>
                                    </p:set>
                                    <p:animEffect transition="in" filter="blinds(horizontal)">
                                      <p:cBhvr>
                                        <p:cTn id="56" dur="500"/>
                                        <p:tgtEl>
                                          <p:spTgt spid="27663"/>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27664"/>
                                        </p:tgtEl>
                                        <p:attrNameLst>
                                          <p:attrName>style.visibility</p:attrName>
                                        </p:attrNameLst>
                                      </p:cBhvr>
                                      <p:to>
                                        <p:strVal val="visible"/>
                                      </p:to>
                                    </p:set>
                                    <p:animEffect transition="in" filter="blinds(horizontal)">
                                      <p:cBhvr>
                                        <p:cTn id="59" dur="500"/>
                                        <p:tgtEl>
                                          <p:spTgt spid="27664"/>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27665"/>
                                        </p:tgtEl>
                                        <p:attrNameLst>
                                          <p:attrName>style.visibility</p:attrName>
                                        </p:attrNameLst>
                                      </p:cBhvr>
                                      <p:to>
                                        <p:strVal val="visible"/>
                                      </p:to>
                                    </p:set>
                                    <p:animEffect transition="in" filter="blinds(horizontal)">
                                      <p:cBhvr>
                                        <p:cTn id="62" dur="500"/>
                                        <p:tgtEl>
                                          <p:spTgt spid="27665"/>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7673"/>
                                        </p:tgtEl>
                                        <p:attrNameLst>
                                          <p:attrName>style.visibility</p:attrName>
                                        </p:attrNameLst>
                                      </p:cBhvr>
                                      <p:to>
                                        <p:strVal val="visible"/>
                                      </p:to>
                                    </p:set>
                                    <p:animEffect transition="in" filter="blinds(horizontal)">
                                      <p:cBhvr>
                                        <p:cTn id="67" dur="500"/>
                                        <p:tgtEl>
                                          <p:spTgt spid="27673"/>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7656">
                                            <p:bg/>
                                          </p:spTgt>
                                        </p:tgtEl>
                                        <p:attrNameLst>
                                          <p:attrName>style.visibility</p:attrName>
                                        </p:attrNameLst>
                                      </p:cBhvr>
                                      <p:to>
                                        <p:strVal val="visible"/>
                                      </p:to>
                                    </p:set>
                                    <p:animEffect transition="in" filter="blinds(horizontal)">
                                      <p:cBhvr>
                                        <p:cTn id="72" dur="500"/>
                                        <p:tgtEl>
                                          <p:spTgt spid="27656">
                                            <p:bg/>
                                          </p:spTgt>
                                        </p:tgtEl>
                                      </p:cBhvr>
                                    </p:animEffect>
                                  </p:childTnLst>
                                </p:cTn>
                              </p:par>
                              <p:par>
                                <p:cTn id="73" presetID="1" presetClass="entr" presetSubtype="0" fill="hold" grpId="0" nodeType="withEffect">
                                  <p:stCondLst>
                                    <p:cond delay="0"/>
                                  </p:stCondLst>
                                  <p:childTnLst>
                                    <p:set>
                                      <p:cBhvr>
                                        <p:cTn id="74" dur="1" fill="hold">
                                          <p:stCondLst>
                                            <p:cond delay="0"/>
                                          </p:stCondLst>
                                        </p:cTn>
                                        <p:tgtEl>
                                          <p:spTgt spid="27656">
                                            <p:txEl>
                                              <p:pRg st="0" end="0"/>
                                            </p:txEl>
                                          </p:spTgt>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7656">
                                            <p:txEl>
                                              <p:pRg st="1" end="1"/>
                                            </p:txEl>
                                          </p:spTgt>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7656">
                                            <p:txEl>
                                              <p:pRg st="3" end="3"/>
                                            </p:txEl>
                                          </p:spTgt>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7656">
                                            <p:txEl>
                                              <p:pRg st="2" end="2"/>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27667"/>
                                        </p:tgtEl>
                                        <p:attrNameLst>
                                          <p:attrName>style.visibility</p:attrName>
                                        </p:attrNameLst>
                                      </p:cBhvr>
                                      <p:to>
                                        <p:strVal val="visible"/>
                                      </p:to>
                                    </p:set>
                                    <p:animEffect transition="in" filter="blinds(horizontal)">
                                      <p:cBhvr>
                                        <p:cTn id="85" dur="500"/>
                                        <p:tgtEl>
                                          <p:spTgt spid="27667"/>
                                        </p:tgtEl>
                                      </p:cBhvr>
                                    </p:animEffect>
                                  </p:childTnLst>
                                </p:cTn>
                              </p:par>
                              <p:par>
                                <p:cTn id="86" presetID="3" presetClass="entr" presetSubtype="10" fill="hold" grpId="0" nodeType="withEffect">
                                  <p:stCondLst>
                                    <p:cond delay="0"/>
                                  </p:stCondLst>
                                  <p:childTnLst>
                                    <p:set>
                                      <p:cBhvr>
                                        <p:cTn id="87" dur="1" fill="hold">
                                          <p:stCondLst>
                                            <p:cond delay="0"/>
                                          </p:stCondLst>
                                        </p:cTn>
                                        <p:tgtEl>
                                          <p:spTgt spid="27668"/>
                                        </p:tgtEl>
                                        <p:attrNameLst>
                                          <p:attrName>style.visibility</p:attrName>
                                        </p:attrNameLst>
                                      </p:cBhvr>
                                      <p:to>
                                        <p:strVal val="visible"/>
                                      </p:to>
                                    </p:set>
                                    <p:animEffect transition="in" filter="blinds(horizontal)">
                                      <p:cBhvr>
                                        <p:cTn id="88" dur="500"/>
                                        <p:tgtEl>
                                          <p:spTgt spid="27668"/>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27669"/>
                                        </p:tgtEl>
                                        <p:attrNameLst>
                                          <p:attrName>style.visibility</p:attrName>
                                        </p:attrNameLst>
                                      </p:cBhvr>
                                      <p:to>
                                        <p:strVal val="visible"/>
                                      </p:to>
                                    </p:set>
                                    <p:animEffect transition="in" filter="blinds(horizontal)">
                                      <p:cBhvr>
                                        <p:cTn id="91" dur="500"/>
                                        <p:tgtEl>
                                          <p:spTgt spid="276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animBg="1"/>
      <p:bldP spid="27653" grpId="0" animBg="1"/>
      <p:bldP spid="27655" grpId="0" animBg="1"/>
      <p:bldP spid="27656" grpId="0" animBg="1" uiExpand="1" build="allAtOnce"/>
      <p:bldP spid="27659" grpId="0"/>
      <p:bldP spid="27660" grpId="0"/>
      <p:bldP spid="38924" grpId="0"/>
      <p:bldP spid="27662" grpId="0"/>
      <p:bldP spid="27663" grpId="0"/>
      <p:bldP spid="27664" grpId="0"/>
      <p:bldP spid="27665" grpId="0"/>
      <p:bldP spid="27666" grpId="0"/>
      <p:bldP spid="27667" grpId="0"/>
      <p:bldP spid="27668" grpId="0"/>
      <p:bldP spid="27669" grpId="0"/>
      <p:bldP spid="27670" grpId="0" animBg="1"/>
      <p:bldP spid="27671" grpId="0" animBg="1"/>
      <p:bldP spid="27672" grpId="0" animBg="1"/>
      <p:bldP spid="2767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内容占位符 28674"/>
          <p:cNvSpPr>
            <a:spLocks noGrp="1" noChangeArrowheads="1"/>
          </p:cNvSpPr>
          <p:nvPr>
            <p:ph idx="1"/>
          </p:nvPr>
        </p:nvSpPr>
        <p:spPr>
          <a:xfrm>
            <a:off x="611188" y="1125538"/>
            <a:ext cx="7993062" cy="5111750"/>
          </a:xfrm>
        </p:spPr>
        <p:txBody>
          <a:bodyPr/>
          <a:lstStyle/>
          <a:p>
            <a:pPr>
              <a:lnSpc>
                <a:spcPct val="80000"/>
              </a:lnSpc>
              <a:buFont typeface="Wingdings" panose="05000000000000000000" pitchFamily="2" charset="2"/>
              <a:buNone/>
            </a:pPr>
            <a:r>
              <a:rPr lang="zh-CN" altLang="en-US" sz="2400" b="1" dirty="0"/>
              <a:t>对应的程序如下：</a:t>
            </a:r>
            <a:endParaRPr lang="zh-CN" altLang="en-US" sz="2400" b="1" dirty="0"/>
          </a:p>
          <a:p>
            <a:pPr>
              <a:lnSpc>
                <a:spcPct val="80000"/>
              </a:lnSpc>
              <a:buFont typeface="Wingdings" panose="05000000000000000000" pitchFamily="2" charset="2"/>
              <a:buNone/>
            </a:pPr>
            <a:r>
              <a:rPr lang="en-US" altLang="zh-CN" sz="1600" dirty="0">
                <a:solidFill>
                  <a:srgbClr val="0000FF"/>
                </a:solidFill>
              </a:rPr>
              <a:t>void</a:t>
            </a:r>
            <a:r>
              <a:rPr lang="en-US" altLang="zh-CN" sz="1600" dirty="0"/>
              <a:t>  PE(</a:t>
            </a:r>
            <a:r>
              <a:rPr lang="en-US" altLang="zh-CN" sz="1600" dirty="0" err="1">
                <a:solidFill>
                  <a:srgbClr val="0000FF"/>
                </a:solidFill>
              </a:rPr>
              <a:t>int</a:t>
            </a:r>
            <a:r>
              <a:rPr lang="en-US" altLang="zh-CN" sz="1600" dirty="0"/>
              <a:t> </a:t>
            </a:r>
            <a:r>
              <a:rPr lang="en-US" altLang="zh-CN" sz="1600" i="1" dirty="0"/>
              <a:t>n</a:t>
            </a:r>
            <a:r>
              <a:rPr lang="en-US" altLang="zh-CN" sz="1600" dirty="0"/>
              <a:t>){</a:t>
            </a:r>
            <a:endParaRPr lang="en-US" altLang="zh-CN" sz="1600" dirty="0"/>
          </a:p>
          <a:p>
            <a:pPr>
              <a:lnSpc>
                <a:spcPct val="80000"/>
              </a:lnSpc>
              <a:buFont typeface="Wingdings" panose="05000000000000000000" pitchFamily="2" charset="2"/>
              <a:buNone/>
            </a:pPr>
            <a:r>
              <a:rPr lang="en-US" altLang="zh-CN" sz="1800" dirty="0"/>
              <a:t>   Stack </a:t>
            </a:r>
            <a:r>
              <a:rPr lang="en-US" altLang="zh-CN" sz="1800" i="1" dirty="0"/>
              <a:t>s</a:t>
            </a:r>
            <a:r>
              <a:rPr lang="en-US" altLang="zh-CN" sz="1800" dirty="0"/>
              <a:t>;</a:t>
            </a:r>
            <a:endParaRPr lang="en-US" altLang="zh-CN" sz="1800" dirty="0"/>
          </a:p>
          <a:p>
            <a:pPr>
              <a:lnSpc>
                <a:spcPct val="80000"/>
              </a:lnSpc>
              <a:spcAft>
                <a:spcPts val="600"/>
              </a:spcAft>
              <a:buFont typeface="Wingdings" panose="05000000000000000000" pitchFamily="2" charset="2"/>
              <a:buNone/>
            </a:pPr>
            <a:r>
              <a:rPr lang="en-US" altLang="zh-CN" sz="1800" dirty="0"/>
              <a:t>   </a:t>
            </a:r>
            <a:r>
              <a:rPr lang="en-US" altLang="zh-CN" sz="1800" i="1" dirty="0"/>
              <a:t>L</a:t>
            </a:r>
            <a:r>
              <a:rPr lang="en-US" altLang="zh-CN" sz="1800" baseline="-25000" dirty="0"/>
              <a:t>0</a:t>
            </a:r>
            <a:r>
              <a:rPr lang="en-US" altLang="zh-CN" sz="1800" dirty="0"/>
              <a:t>:</a:t>
            </a:r>
            <a:endParaRPr lang="en-US" altLang="zh-CN" sz="1800" dirty="0"/>
          </a:p>
          <a:p>
            <a:pPr>
              <a:lnSpc>
                <a:spcPct val="80000"/>
              </a:lnSpc>
              <a:buFont typeface="Wingdings" panose="05000000000000000000" pitchFamily="2" charset="2"/>
              <a:buNone/>
            </a:pPr>
            <a:r>
              <a:rPr lang="en-US" altLang="zh-CN" sz="1800" dirty="0"/>
              <a:t>   </a:t>
            </a:r>
            <a:r>
              <a:rPr lang="en-US" altLang="zh-CN" sz="1800" dirty="0">
                <a:solidFill>
                  <a:srgbClr val="0000FF"/>
                </a:solidFill>
              </a:rPr>
              <a:t>if</a:t>
            </a:r>
            <a:r>
              <a:rPr lang="en-US" altLang="zh-CN" sz="1800" dirty="0"/>
              <a:t>(</a:t>
            </a:r>
            <a:r>
              <a:rPr lang="en-US" altLang="zh-CN" sz="1800" i="1" dirty="0"/>
              <a:t>n</a:t>
            </a:r>
            <a:r>
              <a:rPr lang="en-US" altLang="zh-CN" sz="1800" dirty="0"/>
              <a:t>&gt;0){</a:t>
            </a:r>
            <a:endParaRPr lang="en-US" altLang="zh-CN" sz="1800" dirty="0"/>
          </a:p>
          <a:p>
            <a:pPr>
              <a:lnSpc>
                <a:spcPct val="80000"/>
              </a:lnSpc>
              <a:buFont typeface="Wingdings" panose="05000000000000000000" pitchFamily="2" charset="2"/>
              <a:buNone/>
            </a:pPr>
            <a:r>
              <a:rPr lang="en-US" altLang="zh-CN" sz="1800" dirty="0"/>
              <a:t>        </a:t>
            </a:r>
            <a:r>
              <a:rPr lang="en-US" altLang="zh-CN" sz="1800" i="1" dirty="0" err="1"/>
              <a:t>s</a:t>
            </a:r>
            <a:r>
              <a:rPr lang="en-US" altLang="zh-CN" sz="1800" dirty="0" err="1"/>
              <a:t>.Push</a:t>
            </a:r>
            <a:r>
              <a:rPr lang="en-US" altLang="zh-CN" sz="1800" dirty="0"/>
              <a:t>( </a:t>
            </a:r>
            <a:r>
              <a:rPr lang="en-US" altLang="zh-CN" sz="1800" i="1" dirty="0"/>
              <a:t>n</a:t>
            </a:r>
            <a:r>
              <a:rPr lang="en-US" altLang="zh-CN" sz="1800" dirty="0"/>
              <a:t>, </a:t>
            </a:r>
            <a:r>
              <a:rPr lang="en-US" altLang="zh-CN" sz="1800" i="1" dirty="0"/>
              <a:t>L</a:t>
            </a:r>
            <a:r>
              <a:rPr lang="en-US" altLang="zh-CN" sz="1800" baseline="-25000" dirty="0"/>
              <a:t>1</a:t>
            </a:r>
            <a:r>
              <a:rPr lang="en-US" altLang="zh-CN" sz="1800" dirty="0"/>
              <a:t>); </a:t>
            </a:r>
            <a:endParaRPr lang="en-US" altLang="zh-CN" sz="1800" dirty="0"/>
          </a:p>
          <a:p>
            <a:pPr>
              <a:lnSpc>
                <a:spcPct val="80000"/>
              </a:lnSpc>
              <a:buFont typeface="Wingdings" panose="05000000000000000000" pitchFamily="2" charset="2"/>
              <a:buNone/>
            </a:pPr>
            <a:r>
              <a:rPr lang="zh-CN" altLang="en-US" sz="1800" dirty="0"/>
              <a:t>       </a:t>
            </a:r>
            <a:r>
              <a:rPr lang="en-US" altLang="zh-CN" sz="1800" i="1" dirty="0"/>
              <a:t>n</a:t>
            </a:r>
            <a:r>
              <a:rPr lang="en-US" altLang="zh-CN" sz="1800" dirty="0"/>
              <a:t> = </a:t>
            </a:r>
            <a:r>
              <a:rPr lang="en-US" altLang="zh-CN" sz="1800" i="1" dirty="0"/>
              <a:t>n</a:t>
            </a:r>
            <a:r>
              <a:rPr lang="en-US" altLang="zh-CN" sz="1800" dirty="0"/>
              <a:t> - 1;          </a:t>
            </a:r>
            <a:endParaRPr lang="en-US" altLang="zh-CN" sz="1800" dirty="0"/>
          </a:p>
          <a:p>
            <a:pPr>
              <a:lnSpc>
                <a:spcPct val="80000"/>
              </a:lnSpc>
              <a:buFont typeface="Wingdings" panose="05000000000000000000" pitchFamily="2" charset="2"/>
              <a:buNone/>
            </a:pPr>
            <a:r>
              <a:rPr lang="en-US" altLang="zh-CN" sz="1800" dirty="0"/>
              <a:t>       </a:t>
            </a:r>
            <a:r>
              <a:rPr lang="en-US" altLang="zh-CN" sz="1800" dirty="0" err="1">
                <a:solidFill>
                  <a:srgbClr val="0000FF"/>
                </a:solidFill>
              </a:rPr>
              <a:t>goto</a:t>
            </a:r>
            <a:r>
              <a:rPr lang="en-US" altLang="zh-CN" sz="1800" dirty="0"/>
              <a:t> </a:t>
            </a:r>
            <a:r>
              <a:rPr lang="en-US" altLang="zh-CN" sz="1800" i="1" dirty="0"/>
              <a:t>L</a:t>
            </a:r>
            <a:r>
              <a:rPr lang="en-US" altLang="zh-CN" sz="1800" baseline="-25000" dirty="0"/>
              <a:t>0</a:t>
            </a:r>
            <a:r>
              <a:rPr lang="en-US" altLang="zh-CN" sz="1800" dirty="0"/>
              <a:t>;          </a:t>
            </a:r>
            <a:endParaRPr lang="en-US" altLang="zh-CN" sz="1800" dirty="0"/>
          </a:p>
          <a:p>
            <a:pPr>
              <a:lnSpc>
                <a:spcPct val="80000"/>
              </a:lnSpc>
              <a:buFont typeface="Wingdings" panose="05000000000000000000" pitchFamily="2" charset="2"/>
              <a:buNone/>
            </a:pPr>
            <a:r>
              <a:rPr lang="zh-CN" altLang="en-US" sz="1800" dirty="0"/>
              <a:t>       </a:t>
            </a:r>
            <a:r>
              <a:rPr lang="en-US" altLang="zh-CN" sz="1800" i="1" dirty="0"/>
              <a:t>L</a:t>
            </a:r>
            <a:r>
              <a:rPr lang="en-US" altLang="zh-CN" sz="1800" baseline="-25000" dirty="0"/>
              <a:t>1</a:t>
            </a:r>
            <a:r>
              <a:rPr lang="en-US" altLang="zh-CN" sz="1800" dirty="0"/>
              <a:t>: </a:t>
            </a:r>
            <a:endParaRPr lang="en-US" altLang="zh-CN" sz="1800" dirty="0"/>
          </a:p>
          <a:p>
            <a:pPr>
              <a:lnSpc>
                <a:spcPct val="80000"/>
              </a:lnSpc>
              <a:buFont typeface="Wingdings" panose="05000000000000000000" pitchFamily="2" charset="2"/>
              <a:buNone/>
            </a:pPr>
            <a:r>
              <a:rPr lang="en-US" altLang="zh-CN" sz="1800" dirty="0"/>
              <a:t>        </a:t>
            </a:r>
            <a:r>
              <a:rPr lang="en-US" altLang="zh-CN" sz="1800" dirty="0" err="1">
                <a:solidFill>
                  <a:srgbClr val="0000FF"/>
                </a:solidFill>
              </a:rPr>
              <a:t>cout</a:t>
            </a:r>
            <a:r>
              <a:rPr lang="en-US" altLang="zh-CN" sz="1800" dirty="0"/>
              <a:t>&lt;&lt;</a:t>
            </a:r>
            <a:r>
              <a:rPr lang="en-US" altLang="zh-CN" sz="1800" i="1" dirty="0"/>
              <a:t>n</a:t>
            </a:r>
            <a:r>
              <a:rPr lang="en-US" altLang="zh-CN" sz="1800" dirty="0"/>
              <a:t>;}</a:t>
            </a:r>
            <a:endParaRPr lang="en-US" altLang="zh-CN" sz="1800" dirty="0"/>
          </a:p>
          <a:p>
            <a:pPr>
              <a:lnSpc>
                <a:spcPct val="80000"/>
              </a:lnSpc>
              <a:buFont typeface="Wingdings" panose="05000000000000000000" pitchFamily="2" charset="2"/>
              <a:buNone/>
            </a:pPr>
            <a:r>
              <a:rPr lang="en-US" altLang="zh-CN" sz="1800" dirty="0"/>
              <a:t>  </a:t>
            </a:r>
            <a:endParaRPr lang="en-US" altLang="zh-CN" sz="1800" dirty="0"/>
          </a:p>
          <a:p>
            <a:pPr>
              <a:lnSpc>
                <a:spcPct val="80000"/>
              </a:lnSpc>
              <a:buFont typeface="Wingdings" panose="05000000000000000000" pitchFamily="2" charset="2"/>
              <a:buNone/>
            </a:pPr>
            <a:r>
              <a:rPr lang="en-US" altLang="zh-CN" sz="1800" dirty="0"/>
              <a:t>  </a:t>
            </a:r>
            <a:r>
              <a:rPr lang="en-US" altLang="zh-CN" sz="1800" dirty="0">
                <a:solidFill>
                  <a:srgbClr val="0000FF"/>
                </a:solidFill>
              </a:rPr>
              <a:t> if </a:t>
            </a:r>
            <a:r>
              <a:rPr lang="en-US" altLang="zh-CN" sz="1800" dirty="0"/>
              <a:t>( !</a:t>
            </a:r>
            <a:r>
              <a:rPr lang="en-US" altLang="zh-CN" sz="1800" i="1" dirty="0" err="1"/>
              <a:t>s</a:t>
            </a:r>
            <a:r>
              <a:rPr lang="en-US" altLang="zh-CN" sz="1800" dirty="0" err="1"/>
              <a:t>.Empty</a:t>
            </a:r>
            <a:r>
              <a:rPr lang="en-US" altLang="zh-CN" sz="1800" dirty="0"/>
              <a:t>() ) </a:t>
            </a:r>
            <a:endParaRPr lang="en-US" altLang="zh-CN" sz="1800" dirty="0"/>
          </a:p>
          <a:p>
            <a:pPr>
              <a:lnSpc>
                <a:spcPct val="80000"/>
              </a:lnSpc>
              <a:buFont typeface="Wingdings" panose="05000000000000000000" pitchFamily="2" charset="2"/>
              <a:buNone/>
            </a:pPr>
            <a:r>
              <a:rPr lang="en-US" altLang="zh-CN" sz="1800" dirty="0"/>
              <a:t>   { </a:t>
            </a:r>
            <a:endParaRPr lang="en-US" altLang="zh-CN" sz="1800" dirty="0"/>
          </a:p>
          <a:p>
            <a:pPr>
              <a:lnSpc>
                <a:spcPct val="80000"/>
              </a:lnSpc>
              <a:buFont typeface="Wingdings" panose="05000000000000000000" pitchFamily="2" charset="2"/>
              <a:buNone/>
            </a:pPr>
            <a:r>
              <a:rPr lang="zh-CN" altLang="en-US" sz="1800" dirty="0"/>
              <a:t>        </a:t>
            </a:r>
            <a:r>
              <a:rPr lang="en-US" altLang="zh-CN" sz="1800" i="1" dirty="0" err="1"/>
              <a:t>s</a:t>
            </a:r>
            <a:r>
              <a:rPr lang="en-US" altLang="zh-CN" sz="1800" dirty="0" err="1"/>
              <a:t>.Pop</a:t>
            </a:r>
            <a:r>
              <a:rPr lang="en-US" altLang="zh-CN" sz="1800" dirty="0"/>
              <a:t> (</a:t>
            </a:r>
            <a:r>
              <a:rPr lang="en-US" altLang="zh-CN" sz="1800" i="1" dirty="0"/>
              <a:t>n</a:t>
            </a:r>
            <a:r>
              <a:rPr lang="en-US" altLang="zh-CN" sz="1800" dirty="0"/>
              <a:t>, </a:t>
            </a:r>
            <a:r>
              <a:rPr lang="en-US" altLang="zh-CN" sz="1800" i="1" dirty="0"/>
              <a:t>X</a:t>
            </a:r>
            <a:r>
              <a:rPr lang="en-US" altLang="zh-CN" sz="1800" dirty="0"/>
              <a:t>);        </a:t>
            </a:r>
            <a:endParaRPr lang="en-US" altLang="zh-CN" sz="1800" dirty="0"/>
          </a:p>
          <a:p>
            <a:pPr>
              <a:lnSpc>
                <a:spcPct val="80000"/>
              </a:lnSpc>
              <a:buFont typeface="Wingdings" panose="05000000000000000000" pitchFamily="2" charset="2"/>
              <a:buNone/>
            </a:pPr>
            <a:r>
              <a:rPr lang="en-US" altLang="zh-CN" sz="1800" dirty="0"/>
              <a:t>        </a:t>
            </a:r>
            <a:r>
              <a:rPr lang="en-US" altLang="zh-CN" sz="1800" dirty="0" err="1">
                <a:solidFill>
                  <a:srgbClr val="0000FF"/>
                </a:solidFill>
              </a:rPr>
              <a:t>goto</a:t>
            </a:r>
            <a:r>
              <a:rPr lang="en-US" altLang="zh-CN" sz="1800" dirty="0"/>
              <a:t> </a:t>
            </a:r>
            <a:r>
              <a:rPr lang="en-US" altLang="zh-CN" sz="1800" i="1" dirty="0"/>
              <a:t>X</a:t>
            </a:r>
            <a:r>
              <a:rPr lang="en-US" altLang="zh-CN" sz="1800" dirty="0"/>
              <a:t>;             </a:t>
            </a:r>
            <a:endParaRPr lang="en-US" altLang="zh-CN" sz="1800" dirty="0"/>
          </a:p>
          <a:p>
            <a:pPr>
              <a:lnSpc>
                <a:spcPct val="80000"/>
              </a:lnSpc>
              <a:buFont typeface="Wingdings" panose="05000000000000000000" pitchFamily="2" charset="2"/>
              <a:buNone/>
            </a:pPr>
            <a:r>
              <a:rPr lang="zh-CN" altLang="en-US" sz="1800" dirty="0"/>
              <a:t>  </a:t>
            </a:r>
            <a:r>
              <a:rPr lang="en-US" altLang="zh-CN" sz="1800" dirty="0"/>
              <a:t>}</a:t>
            </a:r>
            <a:endParaRPr lang="en-US" altLang="zh-CN" sz="1800" dirty="0"/>
          </a:p>
          <a:p>
            <a:pPr>
              <a:lnSpc>
                <a:spcPct val="80000"/>
              </a:lnSpc>
              <a:buFont typeface="Wingdings" panose="05000000000000000000" pitchFamily="2" charset="2"/>
              <a:buNone/>
            </a:pPr>
            <a:r>
              <a:rPr lang="en-US" altLang="zh-CN" sz="1800" dirty="0"/>
              <a:t>}</a:t>
            </a:r>
            <a:endParaRPr lang="zh-CN" altLang="en-US" sz="1800" dirty="0"/>
          </a:p>
        </p:txBody>
      </p:sp>
      <p:sp>
        <p:nvSpPr>
          <p:cNvPr id="28676" name="矩形 28675"/>
          <p:cNvSpPr>
            <a:spLocks noChangeArrowheads="1"/>
          </p:cNvSpPr>
          <p:nvPr/>
        </p:nvSpPr>
        <p:spPr bwMode="auto">
          <a:xfrm>
            <a:off x="1042988" y="2565400"/>
            <a:ext cx="1690874" cy="1079500"/>
          </a:xfrm>
          <a:prstGeom prst="rect">
            <a:avLst/>
          </a:prstGeom>
          <a:noFill/>
          <a:ln w="19050">
            <a:solidFill>
              <a:schemeClr val="accent2"/>
            </a:solidFill>
            <a:prstDash val="sysDot"/>
            <a:miter lim="800000"/>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8677" name="矩形 28676"/>
          <p:cNvSpPr>
            <a:spLocks noChangeArrowheads="1"/>
          </p:cNvSpPr>
          <p:nvPr/>
        </p:nvSpPr>
        <p:spPr bwMode="auto">
          <a:xfrm>
            <a:off x="684213" y="4184561"/>
            <a:ext cx="2049649" cy="1366838"/>
          </a:xfrm>
          <a:prstGeom prst="rect">
            <a:avLst/>
          </a:prstGeom>
          <a:noFill/>
          <a:ln w="19050">
            <a:solidFill>
              <a:srgbClr val="00B0F0"/>
            </a:solidFill>
            <a:prstDash val="sysDot"/>
            <a:miter lim="800000"/>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8679" name="矩形 28678"/>
          <p:cNvSpPr>
            <a:spLocks noChangeArrowheads="1"/>
          </p:cNvSpPr>
          <p:nvPr/>
        </p:nvSpPr>
        <p:spPr bwMode="auto">
          <a:xfrm>
            <a:off x="790412" y="1628775"/>
            <a:ext cx="1943450" cy="556786"/>
          </a:xfrm>
          <a:prstGeom prst="rect">
            <a:avLst/>
          </a:prstGeom>
          <a:noFill/>
          <a:ln w="19050">
            <a:solidFill>
              <a:srgbClr val="FFFF00"/>
            </a:solidFill>
            <a:prstDash val="sysDot"/>
            <a:miter lim="800000"/>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8680" name="矩形 28679"/>
          <p:cNvSpPr>
            <a:spLocks noChangeArrowheads="1"/>
          </p:cNvSpPr>
          <p:nvPr/>
        </p:nvSpPr>
        <p:spPr bwMode="auto">
          <a:xfrm>
            <a:off x="3492500" y="1125538"/>
            <a:ext cx="4895850"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Times New Roman" panose="02020603050405020304" pitchFamily="18" charset="0"/>
                <a:ea typeface="楷体_GB2312" pitchFamily="49" charset="-122"/>
              </a:defRPr>
            </a:lvl1pPr>
            <a:lvl2pPr marL="908050" indent="-436880">
              <a:defRPr>
                <a:solidFill>
                  <a:schemeClr val="tx1"/>
                </a:solidFill>
                <a:latin typeface="Times New Roman" panose="02020603050405020304" pitchFamily="18" charset="0"/>
                <a:ea typeface="楷体_GB2312" pitchFamily="49" charset="-122"/>
              </a:defRPr>
            </a:lvl2pPr>
            <a:lvl3pPr>
              <a:defRPr>
                <a:solidFill>
                  <a:schemeClr val="tx1"/>
                </a:solidFill>
                <a:latin typeface="Times New Roman" panose="02020603050405020304" pitchFamily="18" charset="0"/>
                <a:ea typeface="楷体_GB2312" pitchFamily="49" charset="-122"/>
              </a:defRPr>
            </a:lvl3pPr>
            <a:lvl4pPr>
              <a:defRPr>
                <a:solidFill>
                  <a:schemeClr val="tx1"/>
                </a:solidFill>
                <a:latin typeface="Times New Roman" panose="02020603050405020304" pitchFamily="18" charset="0"/>
                <a:ea typeface="楷体_GB2312" pitchFamily="49" charset="-122"/>
              </a:defRPr>
            </a:lvl4pPr>
            <a:lvl5pPr>
              <a:defRPr>
                <a:solidFill>
                  <a:schemeClr val="tx1"/>
                </a:solidFill>
                <a:latin typeface="Times New Roman" panose="02020603050405020304" pitchFamily="18" charset="0"/>
                <a:ea typeface="楷体_GB2312" pitchFamily="49"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9pPr>
          </a:lstStyle>
          <a:p>
            <a:pPr>
              <a:spcBef>
                <a:spcPct val="20000"/>
              </a:spcBef>
              <a:buClr>
                <a:srgbClr val="FF0000"/>
              </a:buClr>
              <a:buFont typeface="Wingdings" panose="05000000000000000000" pitchFamily="2" charset="2"/>
              <a:buChar char="p"/>
            </a:pPr>
            <a:r>
              <a:rPr lang="zh-CN" altLang="en-US" sz="2200" b="1" dirty="0">
                <a:solidFill>
                  <a:srgbClr val="FF0000"/>
                </a:solidFill>
                <a:ea typeface="仿宋" panose="02010609060101010101" pitchFamily="49" charset="-122"/>
              </a:rPr>
              <a:t>程序中的地址</a:t>
            </a:r>
            <a:r>
              <a:rPr lang="en-US" altLang="zh-CN" sz="2200" b="1" dirty="0">
                <a:solidFill>
                  <a:srgbClr val="FF0000"/>
                </a:solidFill>
                <a:ea typeface="仿宋" panose="02010609060101010101" pitchFamily="49" charset="-122"/>
              </a:rPr>
              <a:t>X</a:t>
            </a:r>
            <a:r>
              <a:rPr lang="zh-CN" altLang="en-US" sz="2200" b="1" dirty="0">
                <a:solidFill>
                  <a:srgbClr val="FF0000"/>
                </a:solidFill>
                <a:ea typeface="仿宋" panose="02010609060101010101" pitchFamily="49" charset="-122"/>
              </a:rPr>
              <a:t>代表什么？</a:t>
            </a:r>
            <a:endParaRPr lang="zh-CN" altLang="en-US" sz="2200" b="1" dirty="0">
              <a:solidFill>
                <a:srgbClr val="FF0000"/>
              </a:solidFill>
              <a:ea typeface="仿宋" panose="02010609060101010101" pitchFamily="49" charset="-122"/>
            </a:endParaRPr>
          </a:p>
          <a:p>
            <a:pPr marL="0" indent="0">
              <a:spcBef>
                <a:spcPct val="20000"/>
              </a:spcBef>
              <a:buClr>
                <a:srgbClr val="FF0000"/>
              </a:buClr>
            </a:pPr>
            <a:r>
              <a:rPr lang="zh-CN" altLang="en-US" sz="2200" b="1" dirty="0">
                <a:solidFill>
                  <a:srgbClr val="FF0000"/>
                </a:solidFill>
                <a:ea typeface="仿宋" panose="02010609060101010101" pitchFamily="49" charset="-122"/>
              </a:rPr>
              <a:t>       若不清楚，则无法转换。</a:t>
            </a:r>
            <a:endParaRPr lang="zh-CN" altLang="en-US" sz="2200" dirty="0">
              <a:solidFill>
                <a:srgbClr val="FF0000"/>
              </a:solidFill>
              <a:ea typeface="仿宋" panose="02010609060101010101" pitchFamily="49" charset="-122"/>
            </a:endParaRPr>
          </a:p>
          <a:p>
            <a:pPr>
              <a:spcBef>
                <a:spcPct val="20000"/>
              </a:spcBef>
              <a:buClr>
                <a:srgbClr val="FF0000"/>
              </a:buClr>
              <a:buFont typeface="Wingdings" panose="05000000000000000000" pitchFamily="2" charset="2"/>
              <a:buChar char="p"/>
            </a:pPr>
            <a:r>
              <a:rPr lang="zh-CN" altLang="en-US" sz="2200" b="1" dirty="0">
                <a:ea typeface="仿宋" panose="02010609060101010101" pitchFamily="49" charset="-122"/>
              </a:rPr>
              <a:t>对此稍作分析即可找到答案：</a:t>
            </a:r>
            <a:endParaRPr lang="zh-CN" altLang="en-US" sz="2200" b="1" dirty="0">
              <a:ea typeface="仿宋" panose="02010609060101010101" pitchFamily="49" charset="-122"/>
            </a:endParaRPr>
          </a:p>
          <a:p>
            <a:pPr lvl="1">
              <a:spcBef>
                <a:spcPct val="20000"/>
              </a:spcBef>
              <a:buClr>
                <a:srgbClr val="FF0000"/>
              </a:buClr>
              <a:buFont typeface="Arial" panose="020B0604020202020204" pitchFamily="34" charset="0"/>
              <a:buChar char="•"/>
            </a:pPr>
            <a:r>
              <a:rPr lang="zh-CN" altLang="en-US" sz="2200" b="1" i="1" dirty="0">
                <a:solidFill>
                  <a:srgbClr val="0000FF"/>
                </a:solidFill>
                <a:ea typeface="仿宋" panose="02010609060101010101" pitchFamily="49" charset="-122"/>
              </a:rPr>
              <a:t>Ｘ</a:t>
            </a:r>
            <a:r>
              <a:rPr lang="zh-CN" altLang="en-US" sz="2200" b="1" dirty="0">
                <a:solidFill>
                  <a:srgbClr val="0000FF"/>
                </a:solidFill>
                <a:ea typeface="仿宋" panose="02010609060101010101" pitchFamily="49" charset="-122"/>
              </a:rPr>
              <a:t>取自栈中，而所有入栈的地址只有一个值，即</a:t>
            </a:r>
            <a:r>
              <a:rPr lang="en-US" altLang="zh-CN" sz="2200" b="1" i="1" dirty="0">
                <a:solidFill>
                  <a:srgbClr val="0000FF"/>
                </a:solidFill>
                <a:ea typeface="仿宋" panose="02010609060101010101" pitchFamily="49" charset="-122"/>
              </a:rPr>
              <a:t>L</a:t>
            </a:r>
            <a:r>
              <a:rPr lang="en-US" altLang="zh-CN" sz="2200" b="1" i="1" baseline="-25000" dirty="0">
                <a:solidFill>
                  <a:srgbClr val="0000FF"/>
                </a:solidFill>
                <a:ea typeface="仿宋" panose="02010609060101010101" pitchFamily="49" charset="-122"/>
              </a:rPr>
              <a:t>1</a:t>
            </a:r>
            <a:r>
              <a:rPr lang="zh-CN" altLang="en-US" sz="2200" b="1" dirty="0">
                <a:solidFill>
                  <a:srgbClr val="0000FF"/>
                </a:solidFill>
                <a:ea typeface="仿宋" panose="02010609060101010101" pitchFamily="49" charset="-122"/>
              </a:rPr>
              <a:t>。</a:t>
            </a:r>
            <a:endParaRPr lang="zh-CN" altLang="en-US" sz="2200" b="1" dirty="0">
              <a:solidFill>
                <a:srgbClr val="0000FF"/>
              </a:solidFill>
              <a:ea typeface="仿宋" panose="02010609060101010101" pitchFamily="49" charset="-122"/>
            </a:endParaRPr>
          </a:p>
          <a:p>
            <a:pPr lvl="1">
              <a:spcBef>
                <a:spcPct val="20000"/>
              </a:spcBef>
              <a:buClr>
                <a:srgbClr val="FF0000"/>
              </a:buClr>
              <a:buFont typeface="Arial" panose="020B0604020202020204" pitchFamily="34" charset="0"/>
              <a:buChar char="•"/>
            </a:pPr>
            <a:r>
              <a:rPr lang="zh-CN" altLang="en-US" sz="2200" b="1" dirty="0">
                <a:solidFill>
                  <a:srgbClr val="0000FF"/>
                </a:solidFill>
                <a:ea typeface="仿宋" panose="02010609060101010101" pitchFamily="49" charset="-122"/>
              </a:rPr>
              <a:t>因此，即使这一地址不入栈也可知道其值。</a:t>
            </a:r>
            <a:endParaRPr lang="zh-CN" altLang="en-US" sz="2200" b="1" dirty="0">
              <a:solidFill>
                <a:srgbClr val="0000FF"/>
              </a:solidFill>
              <a:ea typeface="仿宋" panose="02010609060101010101" pitchFamily="49" charset="-122"/>
            </a:endParaRPr>
          </a:p>
          <a:p>
            <a:pPr>
              <a:spcBef>
                <a:spcPct val="20000"/>
              </a:spcBef>
              <a:buClr>
                <a:srgbClr val="FF0000"/>
              </a:buClr>
              <a:buFont typeface="Wingdings" panose="05000000000000000000" pitchFamily="2" charset="2"/>
              <a:buChar char="p"/>
            </a:pPr>
            <a:r>
              <a:rPr lang="zh-CN" altLang="en-US" sz="2200" b="1" dirty="0">
                <a:ea typeface="仿宋" panose="02010609060101010101" pitchFamily="49" charset="-122"/>
              </a:rPr>
              <a:t>由此得如下的简化规则。</a:t>
            </a:r>
            <a:endParaRPr lang="zh-CN" altLang="en-US" sz="2200" b="1" dirty="0">
              <a:ea typeface="仿宋" panose="02010609060101010101" pitchFamily="49" charset="-122"/>
            </a:endParaRPr>
          </a:p>
          <a:p>
            <a:pPr lvl="1">
              <a:spcBef>
                <a:spcPct val="20000"/>
              </a:spcBef>
              <a:buClr>
                <a:srgbClr val="FF0000"/>
              </a:buClr>
              <a:buFont typeface="Arial" panose="020B0604020202020204" pitchFamily="34" charset="0"/>
              <a:buChar char="•"/>
            </a:pPr>
            <a:r>
              <a:rPr lang="zh-CN" altLang="en-US" sz="2200" b="1" dirty="0">
                <a:solidFill>
                  <a:srgbClr val="FF0000"/>
                </a:solidFill>
                <a:ea typeface="仿宋" panose="02010609060101010101" pitchFamily="49" charset="-122"/>
              </a:rPr>
              <a:t>简化规则１</a:t>
            </a:r>
            <a:r>
              <a:rPr lang="zh-CN" altLang="en-US" sz="2200" dirty="0">
                <a:ea typeface="仿宋" panose="02010609060101010101" pitchFamily="49" charset="-122"/>
              </a:rPr>
              <a:t>：</a:t>
            </a:r>
            <a:r>
              <a:rPr lang="zh-CN" altLang="en-US" sz="2200" b="1" dirty="0">
                <a:ea typeface="仿宋" panose="02010609060101010101" pitchFamily="49" charset="-122"/>
              </a:rPr>
              <a:t>如果递归程序中只有一处递归调用，则在转换时，返回地址不必入栈。</a:t>
            </a:r>
            <a:endParaRPr lang="zh-CN" altLang="en-US" sz="2200" b="1" dirty="0">
              <a:ea typeface="仿宋" panose="02010609060101010101" pitchFamily="49" charset="-122"/>
            </a:endParaRPr>
          </a:p>
          <a:p>
            <a:pPr>
              <a:spcBef>
                <a:spcPct val="20000"/>
              </a:spcBef>
              <a:buClr>
                <a:srgbClr val="FF0000"/>
              </a:buClr>
              <a:buFont typeface="Wingdings" panose="05000000000000000000" pitchFamily="2" charset="2"/>
              <a:buChar char="p"/>
            </a:pPr>
            <a:r>
              <a:rPr lang="zh-CN" altLang="en-US" sz="2200" b="1" dirty="0">
                <a:ea typeface="仿宋" panose="02010609060101010101" pitchFamily="49" charset="-122"/>
              </a:rPr>
              <a:t>由此可简化程序，得到流程图及相应的程序。</a:t>
            </a:r>
            <a:r>
              <a:rPr lang="en-US" altLang="zh-CN" sz="2200" dirty="0">
                <a:ea typeface="仿宋" panose="02010609060101010101" pitchFamily="49" charset="-122"/>
              </a:rPr>
              <a:t>    </a:t>
            </a:r>
            <a:endParaRPr lang="zh-CN" altLang="en-US" sz="2200" dirty="0">
              <a:ea typeface="仿宋" panose="02010609060101010101" pitchFamily="49" charset="-122"/>
            </a:endParaRPr>
          </a:p>
        </p:txBody>
      </p:sp>
      <p:grpSp>
        <p:nvGrpSpPr>
          <p:cNvPr id="12" name="组合 11"/>
          <p:cNvGrpSpPr/>
          <p:nvPr/>
        </p:nvGrpSpPr>
        <p:grpSpPr>
          <a:xfrm>
            <a:off x="541437" y="127832"/>
            <a:ext cx="7991003" cy="674160"/>
            <a:chOff x="999690" y="5042189"/>
            <a:chExt cx="8290830" cy="647731"/>
          </a:xfrm>
        </p:grpSpPr>
        <p:sp>
          <p:nvSpPr>
            <p:cNvPr id="13"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4"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15" name="图片 14"/>
            <p:cNvPicPr>
              <a:picLocks noChangeAspect="1"/>
            </p:cNvPicPr>
            <p:nvPr/>
          </p:nvPicPr>
          <p:blipFill>
            <a:blip r:embed="rId1" cstate="print"/>
            <a:stretch>
              <a:fillRect/>
            </a:stretch>
          </p:blipFill>
          <p:spPr>
            <a:xfrm>
              <a:off x="1199659" y="5205012"/>
              <a:ext cx="420013" cy="322083"/>
            </a:xfrm>
            <a:prstGeom prst="rect">
              <a:avLst/>
            </a:prstGeom>
          </p:spPr>
        </p:pic>
      </p:grpSp>
      <p:grpSp>
        <p:nvGrpSpPr>
          <p:cNvPr id="18" name="组合 17"/>
          <p:cNvGrpSpPr/>
          <p:nvPr/>
        </p:nvGrpSpPr>
        <p:grpSpPr>
          <a:xfrm>
            <a:off x="719325" y="2241417"/>
            <a:ext cx="1516336" cy="1674221"/>
            <a:chOff x="1687513" y="2476001"/>
            <a:chExt cx="1516336" cy="1674221"/>
          </a:xfrm>
        </p:grpSpPr>
        <p:sp>
          <p:nvSpPr>
            <p:cNvPr id="19" name="矩形 18"/>
            <p:cNvSpPr>
              <a:spLocks noChangeArrowheads="1"/>
            </p:cNvSpPr>
            <p:nvPr/>
          </p:nvSpPr>
          <p:spPr bwMode="auto">
            <a:xfrm>
              <a:off x="1687513" y="2476001"/>
              <a:ext cx="1295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en-US" altLang="zh-CN" dirty="0">
                <a:latin typeface="Times New Roman" panose="02020603050405020304" pitchFamily="18" charset="0"/>
                <a:ea typeface="宋体" panose="02010600030101010101" pitchFamily="2" charset="-122"/>
              </a:endParaRPr>
            </a:p>
          </p:txBody>
        </p:sp>
        <p:grpSp>
          <p:nvGrpSpPr>
            <p:cNvPr id="20" name="组合 19"/>
            <p:cNvGrpSpPr/>
            <p:nvPr/>
          </p:nvGrpSpPr>
          <p:grpSpPr>
            <a:xfrm>
              <a:off x="1763688" y="2485098"/>
              <a:ext cx="1440161" cy="1665124"/>
              <a:chOff x="1764408" y="2916647"/>
              <a:chExt cx="1440161" cy="1413915"/>
            </a:xfrm>
          </p:grpSpPr>
          <p:cxnSp>
            <p:nvCxnSpPr>
              <p:cNvPr id="21" name="直接连接符 20"/>
              <p:cNvCxnSpPr/>
              <p:nvPr/>
            </p:nvCxnSpPr>
            <p:spPr>
              <a:xfrm flipH="1">
                <a:off x="1904669" y="3164856"/>
                <a:ext cx="810750" cy="3960"/>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899191" y="3164856"/>
                <a:ext cx="2801" cy="951681"/>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grpSp>
            <p:nvGrpSpPr>
              <p:cNvPr id="23" name="组合 22"/>
              <p:cNvGrpSpPr/>
              <p:nvPr/>
            </p:nvGrpSpPr>
            <p:grpSpPr>
              <a:xfrm>
                <a:off x="1764408" y="2916647"/>
                <a:ext cx="1440161" cy="1413915"/>
                <a:chOff x="1764408" y="2916647"/>
                <a:chExt cx="1440161" cy="1413915"/>
              </a:xfrm>
            </p:grpSpPr>
            <p:cxnSp>
              <p:nvCxnSpPr>
                <p:cNvPr id="24" name="直接连接符 23"/>
                <p:cNvCxnSpPr/>
                <p:nvPr/>
              </p:nvCxnSpPr>
              <p:spPr>
                <a:xfrm flipH="1">
                  <a:off x="2712822" y="2916647"/>
                  <a:ext cx="7793" cy="253769"/>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grpSp>
              <p:nvGrpSpPr>
                <p:cNvPr id="25" name="组合 24"/>
                <p:cNvGrpSpPr/>
                <p:nvPr/>
              </p:nvGrpSpPr>
              <p:grpSpPr>
                <a:xfrm>
                  <a:off x="1764408" y="2920408"/>
                  <a:ext cx="1440161" cy="1410154"/>
                  <a:chOff x="1764408" y="2920408"/>
                  <a:chExt cx="1440161" cy="1410154"/>
                </a:xfrm>
              </p:grpSpPr>
              <p:cxnSp>
                <p:nvCxnSpPr>
                  <p:cNvPr id="26" name="直接连接符 25"/>
                  <p:cNvCxnSpPr/>
                  <p:nvPr/>
                </p:nvCxnSpPr>
                <p:spPr>
                  <a:xfrm flipV="1">
                    <a:off x="1764408" y="2920408"/>
                    <a:ext cx="951011" cy="3768"/>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892315" y="4116537"/>
                    <a:ext cx="1296144" cy="1"/>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3195335" y="4114281"/>
                    <a:ext cx="6557" cy="216281"/>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764408" y="4330562"/>
                    <a:ext cx="1440161" cy="0"/>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1764408" y="2924175"/>
                    <a:ext cx="0" cy="1406387"/>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grpSp>
          </p:grpSp>
        </p:grp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Effect transition="in" filter="blinds(horizontal)">
                                      <p:cBhvr>
                                        <p:cTn id="7" dur="500"/>
                                        <p:tgtEl>
                                          <p:spTgt spid="286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675">
                                            <p:txEl>
                                              <p:pRg st="1" end="1"/>
                                            </p:txEl>
                                          </p:spTgt>
                                        </p:tgtEl>
                                        <p:attrNameLst>
                                          <p:attrName>style.visibility</p:attrName>
                                        </p:attrNameLst>
                                      </p:cBhvr>
                                      <p:to>
                                        <p:strVal val="visible"/>
                                      </p:to>
                                    </p:set>
                                    <p:animEffect transition="in" filter="blinds(horizontal)">
                                      <p:cBhvr>
                                        <p:cTn id="12" dur="500"/>
                                        <p:tgtEl>
                                          <p:spTgt spid="286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8675">
                                            <p:txEl>
                                              <p:pRg st="2" end="2"/>
                                            </p:txEl>
                                          </p:spTgt>
                                        </p:tgtEl>
                                        <p:attrNameLst>
                                          <p:attrName>style.visibility</p:attrName>
                                        </p:attrNameLst>
                                      </p:cBhvr>
                                      <p:to>
                                        <p:strVal val="visible"/>
                                      </p:to>
                                    </p:set>
                                    <p:animEffect transition="in" filter="blinds(horizontal)">
                                      <p:cBhvr>
                                        <p:cTn id="17" dur="500"/>
                                        <p:tgtEl>
                                          <p:spTgt spid="286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8675">
                                            <p:txEl>
                                              <p:pRg st="3" end="3"/>
                                            </p:txEl>
                                          </p:spTgt>
                                        </p:tgtEl>
                                        <p:attrNameLst>
                                          <p:attrName>style.visibility</p:attrName>
                                        </p:attrNameLst>
                                      </p:cBhvr>
                                      <p:to>
                                        <p:strVal val="visible"/>
                                      </p:to>
                                    </p:set>
                                    <p:animEffect transition="in" filter="blinds(horizontal)">
                                      <p:cBhvr>
                                        <p:cTn id="22" dur="500"/>
                                        <p:tgtEl>
                                          <p:spTgt spid="2867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8675">
                                            <p:txEl>
                                              <p:pRg st="4" end="4"/>
                                            </p:txEl>
                                          </p:spTgt>
                                        </p:tgtEl>
                                        <p:attrNameLst>
                                          <p:attrName>style.visibility</p:attrName>
                                        </p:attrNameLst>
                                      </p:cBhvr>
                                      <p:to>
                                        <p:strVal val="visible"/>
                                      </p:to>
                                    </p:set>
                                    <p:animEffect transition="in" filter="blinds(horizontal)">
                                      <p:cBhvr>
                                        <p:cTn id="27" dur="500"/>
                                        <p:tgtEl>
                                          <p:spTgt spid="2867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8675">
                                            <p:txEl>
                                              <p:pRg st="5" end="5"/>
                                            </p:txEl>
                                          </p:spTgt>
                                        </p:tgtEl>
                                        <p:attrNameLst>
                                          <p:attrName>style.visibility</p:attrName>
                                        </p:attrNameLst>
                                      </p:cBhvr>
                                      <p:to>
                                        <p:strVal val="visible"/>
                                      </p:to>
                                    </p:set>
                                    <p:animEffect transition="in" filter="blinds(horizontal)">
                                      <p:cBhvr>
                                        <p:cTn id="32" dur="500"/>
                                        <p:tgtEl>
                                          <p:spTgt spid="2867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8675">
                                            <p:txEl>
                                              <p:pRg st="6" end="6"/>
                                            </p:txEl>
                                          </p:spTgt>
                                        </p:tgtEl>
                                        <p:attrNameLst>
                                          <p:attrName>style.visibility</p:attrName>
                                        </p:attrNameLst>
                                      </p:cBhvr>
                                      <p:to>
                                        <p:strVal val="visible"/>
                                      </p:to>
                                    </p:set>
                                    <p:animEffect transition="in" filter="blinds(horizontal)">
                                      <p:cBhvr>
                                        <p:cTn id="37" dur="500"/>
                                        <p:tgtEl>
                                          <p:spTgt spid="2867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8675">
                                            <p:txEl>
                                              <p:pRg st="7" end="7"/>
                                            </p:txEl>
                                          </p:spTgt>
                                        </p:tgtEl>
                                        <p:attrNameLst>
                                          <p:attrName>style.visibility</p:attrName>
                                        </p:attrNameLst>
                                      </p:cBhvr>
                                      <p:to>
                                        <p:strVal val="visible"/>
                                      </p:to>
                                    </p:set>
                                    <p:animEffect transition="in" filter="blinds(horizontal)">
                                      <p:cBhvr>
                                        <p:cTn id="42" dur="500"/>
                                        <p:tgtEl>
                                          <p:spTgt spid="2867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8675">
                                            <p:txEl>
                                              <p:pRg st="8" end="8"/>
                                            </p:txEl>
                                          </p:spTgt>
                                        </p:tgtEl>
                                        <p:attrNameLst>
                                          <p:attrName>style.visibility</p:attrName>
                                        </p:attrNameLst>
                                      </p:cBhvr>
                                      <p:to>
                                        <p:strVal val="visible"/>
                                      </p:to>
                                    </p:set>
                                    <p:animEffect transition="in" filter="blinds(horizontal)">
                                      <p:cBhvr>
                                        <p:cTn id="47" dur="500"/>
                                        <p:tgtEl>
                                          <p:spTgt spid="2867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8675">
                                            <p:txEl>
                                              <p:pRg st="9" end="9"/>
                                            </p:txEl>
                                          </p:spTgt>
                                        </p:tgtEl>
                                        <p:attrNameLst>
                                          <p:attrName>style.visibility</p:attrName>
                                        </p:attrNameLst>
                                      </p:cBhvr>
                                      <p:to>
                                        <p:strVal val="visible"/>
                                      </p:to>
                                    </p:set>
                                    <p:animEffect transition="in" filter="blinds(horizontal)">
                                      <p:cBhvr>
                                        <p:cTn id="52" dur="500"/>
                                        <p:tgtEl>
                                          <p:spTgt spid="2867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8675">
                                            <p:txEl>
                                              <p:pRg st="10" end="10"/>
                                            </p:txEl>
                                          </p:spTgt>
                                        </p:tgtEl>
                                        <p:attrNameLst>
                                          <p:attrName>style.visibility</p:attrName>
                                        </p:attrNameLst>
                                      </p:cBhvr>
                                      <p:to>
                                        <p:strVal val="visible"/>
                                      </p:to>
                                    </p:set>
                                    <p:animEffect transition="in" filter="blinds(horizontal)">
                                      <p:cBhvr>
                                        <p:cTn id="57" dur="500"/>
                                        <p:tgtEl>
                                          <p:spTgt spid="28675">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8675">
                                            <p:txEl>
                                              <p:pRg st="11" end="11"/>
                                            </p:txEl>
                                          </p:spTgt>
                                        </p:tgtEl>
                                        <p:attrNameLst>
                                          <p:attrName>style.visibility</p:attrName>
                                        </p:attrNameLst>
                                      </p:cBhvr>
                                      <p:to>
                                        <p:strVal val="visible"/>
                                      </p:to>
                                    </p:set>
                                    <p:animEffect transition="in" filter="blinds(horizontal)">
                                      <p:cBhvr>
                                        <p:cTn id="62" dur="500"/>
                                        <p:tgtEl>
                                          <p:spTgt spid="28675">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8675">
                                            <p:txEl>
                                              <p:pRg st="12" end="12"/>
                                            </p:txEl>
                                          </p:spTgt>
                                        </p:tgtEl>
                                        <p:attrNameLst>
                                          <p:attrName>style.visibility</p:attrName>
                                        </p:attrNameLst>
                                      </p:cBhvr>
                                      <p:to>
                                        <p:strVal val="visible"/>
                                      </p:to>
                                    </p:set>
                                    <p:animEffect transition="in" filter="blinds(horizontal)">
                                      <p:cBhvr>
                                        <p:cTn id="67" dur="500"/>
                                        <p:tgtEl>
                                          <p:spTgt spid="28675">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8675">
                                            <p:txEl>
                                              <p:pRg st="13" end="13"/>
                                            </p:txEl>
                                          </p:spTgt>
                                        </p:tgtEl>
                                        <p:attrNameLst>
                                          <p:attrName>style.visibility</p:attrName>
                                        </p:attrNameLst>
                                      </p:cBhvr>
                                      <p:to>
                                        <p:strVal val="visible"/>
                                      </p:to>
                                    </p:set>
                                    <p:animEffect transition="in" filter="blinds(horizontal)">
                                      <p:cBhvr>
                                        <p:cTn id="72" dur="500"/>
                                        <p:tgtEl>
                                          <p:spTgt spid="28675">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8675">
                                            <p:txEl>
                                              <p:pRg st="14" end="14"/>
                                            </p:txEl>
                                          </p:spTgt>
                                        </p:tgtEl>
                                        <p:attrNameLst>
                                          <p:attrName>style.visibility</p:attrName>
                                        </p:attrNameLst>
                                      </p:cBhvr>
                                      <p:to>
                                        <p:strVal val="visible"/>
                                      </p:to>
                                    </p:set>
                                    <p:animEffect transition="in" filter="blinds(horizontal)">
                                      <p:cBhvr>
                                        <p:cTn id="77" dur="500"/>
                                        <p:tgtEl>
                                          <p:spTgt spid="28675">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8675">
                                            <p:txEl>
                                              <p:pRg st="15" end="15"/>
                                            </p:txEl>
                                          </p:spTgt>
                                        </p:tgtEl>
                                        <p:attrNameLst>
                                          <p:attrName>style.visibility</p:attrName>
                                        </p:attrNameLst>
                                      </p:cBhvr>
                                      <p:to>
                                        <p:strVal val="visible"/>
                                      </p:to>
                                    </p:set>
                                    <p:animEffect transition="in" filter="blinds(horizontal)">
                                      <p:cBhvr>
                                        <p:cTn id="82" dur="500"/>
                                        <p:tgtEl>
                                          <p:spTgt spid="28675">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8675">
                                            <p:txEl>
                                              <p:pRg st="16" end="16"/>
                                            </p:txEl>
                                          </p:spTgt>
                                        </p:tgtEl>
                                        <p:attrNameLst>
                                          <p:attrName>style.visibility</p:attrName>
                                        </p:attrNameLst>
                                      </p:cBhvr>
                                      <p:to>
                                        <p:strVal val="visible"/>
                                      </p:to>
                                    </p:set>
                                    <p:animEffect transition="in" filter="blinds(horizontal)">
                                      <p:cBhvr>
                                        <p:cTn id="87" dur="500"/>
                                        <p:tgtEl>
                                          <p:spTgt spid="28675">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28679"/>
                                        </p:tgtEl>
                                        <p:attrNameLst>
                                          <p:attrName>style.visibility</p:attrName>
                                        </p:attrNameLst>
                                      </p:cBhvr>
                                      <p:to>
                                        <p:strVal val="visible"/>
                                      </p:to>
                                    </p:set>
                                    <p:animEffect transition="in" filter="blinds(horizontal)">
                                      <p:cBhvr>
                                        <p:cTn id="92" dur="500"/>
                                        <p:tgtEl>
                                          <p:spTgt spid="28679"/>
                                        </p:tgtEl>
                                      </p:cBhvr>
                                    </p:animEffect>
                                  </p:childTnLst>
                                </p:cTn>
                              </p:par>
                              <p:par>
                                <p:cTn id="93" presetID="1" presetClass="entr" presetSubtype="0" fill="hold" nodeType="withEffect">
                                  <p:stCondLst>
                                    <p:cond delay="0"/>
                                  </p:stCondLst>
                                  <p:childTnLst>
                                    <p:set>
                                      <p:cBhvr>
                                        <p:cTn id="94" dur="1" fill="hold">
                                          <p:stCondLst>
                                            <p:cond delay="0"/>
                                          </p:stCondLst>
                                        </p:cTn>
                                        <p:tgtEl>
                                          <p:spTgt spid="18"/>
                                        </p:tgtEl>
                                        <p:attrNameLst>
                                          <p:attrName>style.visibility</p:attrName>
                                        </p:attrNameLst>
                                      </p:cBhvr>
                                      <p:to>
                                        <p:strVal val="visible"/>
                                      </p:to>
                                    </p:set>
                                  </p:childTnLst>
                                </p:cTn>
                              </p:par>
                              <p:par>
                                <p:cTn id="95" presetID="3" presetClass="entr" presetSubtype="10" fill="hold" nodeType="withEffect">
                                  <p:stCondLst>
                                    <p:cond delay="0"/>
                                  </p:stCondLst>
                                  <p:childTnLst>
                                    <p:set>
                                      <p:cBhvr>
                                        <p:cTn id="96" dur="1" fill="hold">
                                          <p:stCondLst>
                                            <p:cond delay="0"/>
                                          </p:stCondLst>
                                        </p:cTn>
                                        <p:tgtEl>
                                          <p:spTgt spid="28676"/>
                                        </p:tgtEl>
                                        <p:attrNameLst>
                                          <p:attrName>style.visibility</p:attrName>
                                        </p:attrNameLst>
                                      </p:cBhvr>
                                      <p:to>
                                        <p:strVal val="visible"/>
                                      </p:to>
                                    </p:set>
                                    <p:animEffect transition="in" filter="blinds(horizontal)">
                                      <p:cBhvr>
                                        <p:cTn id="97" dur="500"/>
                                        <p:tgtEl>
                                          <p:spTgt spid="28676"/>
                                        </p:tgtEl>
                                      </p:cBhvr>
                                    </p:animEffect>
                                  </p:childTnLst>
                                </p:cTn>
                              </p:par>
                              <p:par>
                                <p:cTn id="98" presetID="3" presetClass="entr" presetSubtype="10" fill="hold" nodeType="withEffect">
                                  <p:stCondLst>
                                    <p:cond delay="0"/>
                                  </p:stCondLst>
                                  <p:childTnLst>
                                    <p:set>
                                      <p:cBhvr>
                                        <p:cTn id="99" dur="1" fill="hold">
                                          <p:stCondLst>
                                            <p:cond delay="0"/>
                                          </p:stCondLst>
                                        </p:cTn>
                                        <p:tgtEl>
                                          <p:spTgt spid="28677"/>
                                        </p:tgtEl>
                                        <p:attrNameLst>
                                          <p:attrName>style.visibility</p:attrName>
                                        </p:attrNameLst>
                                      </p:cBhvr>
                                      <p:to>
                                        <p:strVal val="visible"/>
                                      </p:to>
                                    </p:set>
                                    <p:animEffect transition="in" filter="blinds(horizontal)">
                                      <p:cBhvr>
                                        <p:cTn id="100" dur="500"/>
                                        <p:tgtEl>
                                          <p:spTgt spid="28677"/>
                                        </p:tgtEl>
                                      </p:cBhvr>
                                    </p:animEffect>
                                  </p:child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nodeType="clickEffect">
                                  <p:stCondLst>
                                    <p:cond delay="0"/>
                                  </p:stCondLst>
                                  <p:childTnLst>
                                    <p:set>
                                      <p:cBhvr>
                                        <p:cTn id="104" dur="1" fill="hold">
                                          <p:stCondLst>
                                            <p:cond delay="0"/>
                                          </p:stCondLst>
                                        </p:cTn>
                                        <p:tgtEl>
                                          <p:spTgt spid="28680">
                                            <p:txEl>
                                              <p:pRg st="0" end="0"/>
                                            </p:txEl>
                                          </p:spTgt>
                                        </p:tgtEl>
                                        <p:attrNameLst>
                                          <p:attrName>style.visibility</p:attrName>
                                        </p:attrNameLst>
                                      </p:cBhvr>
                                      <p:to>
                                        <p:strVal val="visible"/>
                                      </p:to>
                                    </p:set>
                                    <p:animEffect transition="in" filter="blinds(horizontal)">
                                      <p:cBhvr>
                                        <p:cTn id="105" dur="500"/>
                                        <p:tgtEl>
                                          <p:spTgt spid="28680">
                                            <p:txEl>
                                              <p:pRg st="0" end="0"/>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3" presetClass="entr" presetSubtype="10" fill="hold" nodeType="clickEffect">
                                  <p:stCondLst>
                                    <p:cond delay="0"/>
                                  </p:stCondLst>
                                  <p:childTnLst>
                                    <p:set>
                                      <p:cBhvr>
                                        <p:cTn id="109" dur="1" fill="hold">
                                          <p:stCondLst>
                                            <p:cond delay="0"/>
                                          </p:stCondLst>
                                        </p:cTn>
                                        <p:tgtEl>
                                          <p:spTgt spid="28680">
                                            <p:txEl>
                                              <p:pRg st="1" end="1"/>
                                            </p:txEl>
                                          </p:spTgt>
                                        </p:tgtEl>
                                        <p:attrNameLst>
                                          <p:attrName>style.visibility</p:attrName>
                                        </p:attrNameLst>
                                      </p:cBhvr>
                                      <p:to>
                                        <p:strVal val="visible"/>
                                      </p:to>
                                    </p:set>
                                    <p:animEffect transition="in" filter="blinds(horizontal)">
                                      <p:cBhvr>
                                        <p:cTn id="110" dur="500"/>
                                        <p:tgtEl>
                                          <p:spTgt spid="28680">
                                            <p:txEl>
                                              <p:pRg st="1" end="1"/>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3" presetClass="entr" presetSubtype="10" fill="hold" nodeType="clickEffect">
                                  <p:stCondLst>
                                    <p:cond delay="0"/>
                                  </p:stCondLst>
                                  <p:childTnLst>
                                    <p:set>
                                      <p:cBhvr>
                                        <p:cTn id="114" dur="1" fill="hold">
                                          <p:stCondLst>
                                            <p:cond delay="0"/>
                                          </p:stCondLst>
                                        </p:cTn>
                                        <p:tgtEl>
                                          <p:spTgt spid="28680">
                                            <p:txEl>
                                              <p:pRg st="2" end="2"/>
                                            </p:txEl>
                                          </p:spTgt>
                                        </p:tgtEl>
                                        <p:attrNameLst>
                                          <p:attrName>style.visibility</p:attrName>
                                        </p:attrNameLst>
                                      </p:cBhvr>
                                      <p:to>
                                        <p:strVal val="visible"/>
                                      </p:to>
                                    </p:set>
                                    <p:animEffect transition="in" filter="blinds(horizontal)">
                                      <p:cBhvr>
                                        <p:cTn id="115" dur="500"/>
                                        <p:tgtEl>
                                          <p:spTgt spid="28680">
                                            <p:txEl>
                                              <p:pRg st="2" end="2"/>
                                            </p:txEl>
                                          </p:spTgt>
                                        </p:tgtEl>
                                      </p:cBhvr>
                                    </p:animEffect>
                                  </p:childTnLst>
                                </p:cTn>
                              </p:par>
                            </p:childTnLst>
                          </p:cTn>
                        </p:par>
                      </p:childTnLst>
                    </p:cTn>
                  </p:par>
                  <p:par>
                    <p:cTn id="116" fill="hold">
                      <p:stCondLst>
                        <p:cond delay="indefinite"/>
                      </p:stCondLst>
                      <p:childTnLst>
                        <p:par>
                          <p:cTn id="117" fill="hold">
                            <p:stCondLst>
                              <p:cond delay="0"/>
                            </p:stCondLst>
                            <p:childTnLst>
                              <p:par>
                                <p:cTn id="118" presetID="3" presetClass="entr" presetSubtype="10" fill="hold" nodeType="clickEffect">
                                  <p:stCondLst>
                                    <p:cond delay="0"/>
                                  </p:stCondLst>
                                  <p:childTnLst>
                                    <p:set>
                                      <p:cBhvr>
                                        <p:cTn id="119" dur="1" fill="hold">
                                          <p:stCondLst>
                                            <p:cond delay="0"/>
                                          </p:stCondLst>
                                        </p:cTn>
                                        <p:tgtEl>
                                          <p:spTgt spid="28680">
                                            <p:txEl>
                                              <p:pRg st="3" end="3"/>
                                            </p:txEl>
                                          </p:spTgt>
                                        </p:tgtEl>
                                        <p:attrNameLst>
                                          <p:attrName>style.visibility</p:attrName>
                                        </p:attrNameLst>
                                      </p:cBhvr>
                                      <p:to>
                                        <p:strVal val="visible"/>
                                      </p:to>
                                    </p:set>
                                    <p:animEffect transition="in" filter="blinds(horizontal)">
                                      <p:cBhvr>
                                        <p:cTn id="120" dur="500"/>
                                        <p:tgtEl>
                                          <p:spTgt spid="28680">
                                            <p:txEl>
                                              <p:pRg st="3" end="3"/>
                                            </p:txEl>
                                          </p:spTgt>
                                        </p:tgtEl>
                                      </p:cBhvr>
                                    </p:animEffect>
                                  </p:childTnLst>
                                </p:cTn>
                              </p:par>
                            </p:childTnLst>
                          </p:cTn>
                        </p:par>
                      </p:childTnLst>
                    </p:cTn>
                  </p:par>
                  <p:par>
                    <p:cTn id="121" fill="hold">
                      <p:stCondLst>
                        <p:cond delay="indefinite"/>
                      </p:stCondLst>
                      <p:childTnLst>
                        <p:par>
                          <p:cTn id="122" fill="hold">
                            <p:stCondLst>
                              <p:cond delay="0"/>
                            </p:stCondLst>
                            <p:childTnLst>
                              <p:par>
                                <p:cTn id="123" presetID="3" presetClass="entr" presetSubtype="10" fill="hold" nodeType="clickEffect">
                                  <p:stCondLst>
                                    <p:cond delay="0"/>
                                  </p:stCondLst>
                                  <p:childTnLst>
                                    <p:set>
                                      <p:cBhvr>
                                        <p:cTn id="124" dur="1" fill="hold">
                                          <p:stCondLst>
                                            <p:cond delay="0"/>
                                          </p:stCondLst>
                                        </p:cTn>
                                        <p:tgtEl>
                                          <p:spTgt spid="28680">
                                            <p:txEl>
                                              <p:pRg st="4" end="4"/>
                                            </p:txEl>
                                          </p:spTgt>
                                        </p:tgtEl>
                                        <p:attrNameLst>
                                          <p:attrName>style.visibility</p:attrName>
                                        </p:attrNameLst>
                                      </p:cBhvr>
                                      <p:to>
                                        <p:strVal val="visible"/>
                                      </p:to>
                                    </p:set>
                                    <p:animEffect transition="in" filter="blinds(horizontal)">
                                      <p:cBhvr>
                                        <p:cTn id="125" dur="500"/>
                                        <p:tgtEl>
                                          <p:spTgt spid="28680">
                                            <p:txEl>
                                              <p:pRg st="4" end="4"/>
                                            </p:txEl>
                                          </p:spTgt>
                                        </p:tgtEl>
                                      </p:cBhvr>
                                    </p:animEffect>
                                  </p:childTnLst>
                                </p:cTn>
                              </p:par>
                            </p:childTnLst>
                          </p:cTn>
                        </p:par>
                      </p:childTnLst>
                    </p:cTn>
                  </p:par>
                  <p:par>
                    <p:cTn id="126" fill="hold">
                      <p:stCondLst>
                        <p:cond delay="indefinite"/>
                      </p:stCondLst>
                      <p:childTnLst>
                        <p:par>
                          <p:cTn id="127" fill="hold">
                            <p:stCondLst>
                              <p:cond delay="0"/>
                            </p:stCondLst>
                            <p:childTnLst>
                              <p:par>
                                <p:cTn id="128" presetID="3" presetClass="entr" presetSubtype="10" fill="hold" nodeType="clickEffect">
                                  <p:stCondLst>
                                    <p:cond delay="0"/>
                                  </p:stCondLst>
                                  <p:childTnLst>
                                    <p:set>
                                      <p:cBhvr>
                                        <p:cTn id="129" dur="1" fill="hold">
                                          <p:stCondLst>
                                            <p:cond delay="0"/>
                                          </p:stCondLst>
                                        </p:cTn>
                                        <p:tgtEl>
                                          <p:spTgt spid="28680">
                                            <p:txEl>
                                              <p:pRg st="5" end="5"/>
                                            </p:txEl>
                                          </p:spTgt>
                                        </p:tgtEl>
                                        <p:attrNameLst>
                                          <p:attrName>style.visibility</p:attrName>
                                        </p:attrNameLst>
                                      </p:cBhvr>
                                      <p:to>
                                        <p:strVal val="visible"/>
                                      </p:to>
                                    </p:set>
                                    <p:animEffect transition="in" filter="blinds(horizontal)">
                                      <p:cBhvr>
                                        <p:cTn id="130" dur="500"/>
                                        <p:tgtEl>
                                          <p:spTgt spid="28680">
                                            <p:txEl>
                                              <p:pRg st="5" end="5"/>
                                            </p:txEl>
                                          </p:spTgt>
                                        </p:tgtEl>
                                      </p:cBhvr>
                                    </p:animEffect>
                                  </p:childTnLst>
                                </p:cTn>
                              </p:par>
                            </p:childTnLst>
                          </p:cTn>
                        </p:par>
                      </p:childTnLst>
                    </p:cTn>
                  </p:par>
                  <p:par>
                    <p:cTn id="131" fill="hold">
                      <p:stCondLst>
                        <p:cond delay="indefinite"/>
                      </p:stCondLst>
                      <p:childTnLst>
                        <p:par>
                          <p:cTn id="132" fill="hold">
                            <p:stCondLst>
                              <p:cond delay="0"/>
                            </p:stCondLst>
                            <p:childTnLst>
                              <p:par>
                                <p:cTn id="133" presetID="3" presetClass="entr" presetSubtype="10" fill="hold" nodeType="clickEffect">
                                  <p:stCondLst>
                                    <p:cond delay="0"/>
                                  </p:stCondLst>
                                  <p:childTnLst>
                                    <p:set>
                                      <p:cBhvr>
                                        <p:cTn id="134" dur="1" fill="hold">
                                          <p:stCondLst>
                                            <p:cond delay="0"/>
                                          </p:stCondLst>
                                        </p:cTn>
                                        <p:tgtEl>
                                          <p:spTgt spid="28680">
                                            <p:txEl>
                                              <p:pRg st="6" end="6"/>
                                            </p:txEl>
                                          </p:spTgt>
                                        </p:tgtEl>
                                        <p:attrNameLst>
                                          <p:attrName>style.visibility</p:attrName>
                                        </p:attrNameLst>
                                      </p:cBhvr>
                                      <p:to>
                                        <p:strVal val="visible"/>
                                      </p:to>
                                    </p:set>
                                    <p:animEffect transition="in" filter="blinds(horizontal)">
                                      <p:cBhvr>
                                        <p:cTn id="135" dur="500"/>
                                        <p:tgtEl>
                                          <p:spTgt spid="28680">
                                            <p:txEl>
                                              <p:pRg st="6" end="6"/>
                                            </p:txEl>
                                          </p:spTgt>
                                        </p:tgtEl>
                                      </p:cBhvr>
                                    </p:animEffect>
                                  </p:childTnLst>
                                </p:cTn>
                              </p:par>
                            </p:childTnLst>
                          </p:cTn>
                        </p:par>
                      </p:childTnLst>
                    </p:cTn>
                  </p:par>
                  <p:par>
                    <p:cTn id="136" fill="hold">
                      <p:stCondLst>
                        <p:cond delay="indefinite"/>
                      </p:stCondLst>
                      <p:childTnLst>
                        <p:par>
                          <p:cTn id="137" fill="hold">
                            <p:stCondLst>
                              <p:cond delay="0"/>
                            </p:stCondLst>
                            <p:childTnLst>
                              <p:par>
                                <p:cTn id="138" presetID="3" presetClass="entr" presetSubtype="10" fill="hold" nodeType="clickEffect">
                                  <p:stCondLst>
                                    <p:cond delay="0"/>
                                  </p:stCondLst>
                                  <p:childTnLst>
                                    <p:set>
                                      <p:cBhvr>
                                        <p:cTn id="139" dur="1" fill="hold">
                                          <p:stCondLst>
                                            <p:cond delay="0"/>
                                          </p:stCondLst>
                                        </p:cTn>
                                        <p:tgtEl>
                                          <p:spTgt spid="28680">
                                            <p:txEl>
                                              <p:pRg st="7" end="7"/>
                                            </p:txEl>
                                          </p:spTgt>
                                        </p:tgtEl>
                                        <p:attrNameLst>
                                          <p:attrName>style.visibility</p:attrName>
                                        </p:attrNameLst>
                                      </p:cBhvr>
                                      <p:to>
                                        <p:strVal val="visible"/>
                                      </p:to>
                                    </p:set>
                                    <p:animEffect transition="in" filter="blinds(horizontal)">
                                      <p:cBhvr>
                                        <p:cTn id="140" dur="500"/>
                                        <p:tgtEl>
                                          <p:spTgt spid="2868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内容占位符 29698"/>
          <p:cNvSpPr>
            <a:spLocks noGrp="1" noChangeArrowheads="1"/>
          </p:cNvSpPr>
          <p:nvPr>
            <p:ph idx="1"/>
          </p:nvPr>
        </p:nvSpPr>
        <p:spPr>
          <a:xfrm>
            <a:off x="314325" y="828856"/>
            <a:ext cx="8229600" cy="5628913"/>
          </a:xfrm>
        </p:spPr>
        <p:txBody>
          <a:bodyPr/>
          <a:lstStyle/>
          <a:p>
            <a:pPr>
              <a:lnSpc>
                <a:spcPct val="80000"/>
              </a:lnSpc>
              <a:buFont typeface="Wingdings" panose="05000000000000000000" pitchFamily="2" charset="2"/>
              <a:buNone/>
            </a:pPr>
            <a:r>
              <a:rPr lang="zh-CN" altLang="en-US" sz="2400" b="1" dirty="0">
                <a:solidFill>
                  <a:srgbClr val="FF0000"/>
                </a:solidFill>
              </a:rPr>
              <a:t>                                   </a:t>
            </a:r>
            <a:endParaRPr lang="en-US" altLang="zh-CN" sz="2400" b="1" dirty="0">
              <a:solidFill>
                <a:srgbClr val="FF0000"/>
              </a:solidFill>
            </a:endParaRPr>
          </a:p>
          <a:p>
            <a:pPr>
              <a:lnSpc>
                <a:spcPct val="80000"/>
              </a:lnSpc>
              <a:buFont typeface="Wingdings" panose="05000000000000000000" pitchFamily="2" charset="2"/>
              <a:buNone/>
            </a:pPr>
            <a:r>
              <a:rPr lang="en-US" altLang="zh-CN" sz="2400" b="1" dirty="0">
                <a:solidFill>
                  <a:srgbClr val="FF0000"/>
                </a:solidFill>
              </a:rPr>
              <a:t>                           </a:t>
            </a:r>
            <a:r>
              <a:rPr lang="zh-CN" altLang="en-US" sz="2400" b="1" dirty="0">
                <a:solidFill>
                  <a:srgbClr val="FF0000"/>
                </a:solidFill>
              </a:rPr>
              <a:t>流程图为</a:t>
            </a:r>
            <a:r>
              <a:rPr lang="zh-CN" altLang="en-US" sz="2800" b="1" dirty="0">
                <a:solidFill>
                  <a:srgbClr val="FF0000"/>
                </a:solidFill>
              </a:rPr>
              <a:t>：</a:t>
            </a:r>
            <a:endParaRPr lang="zh-CN" altLang="en-US" sz="2800" b="1" dirty="0">
              <a:solidFill>
                <a:srgbClr val="FF0000"/>
              </a:solidFill>
            </a:endParaRPr>
          </a:p>
          <a:p>
            <a:pPr>
              <a:lnSpc>
                <a:spcPct val="80000"/>
              </a:lnSpc>
              <a:buFont typeface="Wingdings" panose="05000000000000000000" pitchFamily="2" charset="2"/>
              <a:buNone/>
            </a:pPr>
            <a:r>
              <a:rPr lang="en-US" altLang="zh-CN" sz="1800" b="1" dirty="0">
                <a:solidFill>
                  <a:srgbClr val="0000FF"/>
                </a:solidFill>
              </a:rPr>
              <a:t>void</a:t>
            </a:r>
            <a:r>
              <a:rPr lang="en-US" altLang="zh-CN" sz="1800" b="1" dirty="0"/>
              <a:t>  PE(</a:t>
            </a:r>
            <a:r>
              <a:rPr lang="en-US" altLang="zh-CN" sz="1800" b="1" dirty="0" err="1">
                <a:solidFill>
                  <a:srgbClr val="0000FF"/>
                </a:solidFill>
              </a:rPr>
              <a:t>int</a:t>
            </a:r>
            <a:r>
              <a:rPr lang="en-US" altLang="zh-CN" sz="1800" b="1" dirty="0"/>
              <a:t> </a:t>
            </a:r>
            <a:r>
              <a:rPr lang="en-US" altLang="zh-CN" sz="1800" b="1" i="1" dirty="0"/>
              <a:t>n</a:t>
            </a:r>
            <a:r>
              <a:rPr lang="en-US" altLang="zh-CN" sz="1800" b="1" dirty="0"/>
              <a:t>){</a:t>
            </a:r>
            <a:endParaRPr lang="en-US" altLang="zh-CN" sz="1800" b="1" dirty="0"/>
          </a:p>
          <a:p>
            <a:pPr>
              <a:lnSpc>
                <a:spcPct val="80000"/>
              </a:lnSpc>
              <a:buFont typeface="Wingdings" panose="05000000000000000000" pitchFamily="2" charset="2"/>
              <a:buNone/>
            </a:pPr>
            <a:r>
              <a:rPr lang="en-US" altLang="zh-CN" sz="2000" b="1" dirty="0"/>
              <a:t>       Stack </a:t>
            </a:r>
            <a:r>
              <a:rPr lang="en-US" altLang="zh-CN" sz="2000" b="1" i="1" dirty="0"/>
              <a:t>s</a:t>
            </a:r>
            <a:r>
              <a:rPr lang="en-US" altLang="zh-CN" sz="2000" b="1" dirty="0"/>
              <a:t>;</a:t>
            </a:r>
            <a:endParaRPr lang="en-US" altLang="zh-CN" sz="2000" b="1" dirty="0"/>
          </a:p>
          <a:p>
            <a:pPr>
              <a:lnSpc>
                <a:spcPct val="80000"/>
              </a:lnSpc>
              <a:spcAft>
                <a:spcPts val="600"/>
              </a:spcAft>
              <a:buFont typeface="Wingdings" panose="05000000000000000000" pitchFamily="2" charset="2"/>
              <a:buNone/>
            </a:pPr>
            <a:r>
              <a:rPr lang="en-US" altLang="zh-CN" sz="2000" b="1" dirty="0"/>
              <a:t>       </a:t>
            </a:r>
            <a:r>
              <a:rPr lang="en-US" altLang="zh-CN" sz="2000" b="1" i="1" dirty="0"/>
              <a:t>L</a:t>
            </a:r>
            <a:r>
              <a:rPr lang="en-US" altLang="zh-CN" sz="2000" b="1" baseline="-25000" dirty="0"/>
              <a:t>0</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a:t>
            </a:r>
            <a:r>
              <a:rPr lang="en-US" altLang="zh-CN" sz="2000" b="1" i="1" dirty="0"/>
              <a:t>n</a:t>
            </a:r>
            <a:r>
              <a:rPr lang="en-US" altLang="zh-CN" sz="2000" b="1" dirty="0"/>
              <a:t>&gt;0){</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i="1" dirty="0" err="1"/>
              <a:t>s</a:t>
            </a:r>
            <a:r>
              <a:rPr lang="en-US" altLang="zh-CN" sz="2000" b="1" dirty="0" err="1"/>
              <a:t>.Push</a:t>
            </a:r>
            <a:r>
              <a:rPr lang="en-US" altLang="zh-CN" sz="2000" b="1" dirty="0"/>
              <a:t>( </a:t>
            </a:r>
            <a:r>
              <a:rPr lang="en-US" altLang="zh-CN" sz="2000" b="1" i="1" dirty="0"/>
              <a:t>n</a:t>
            </a:r>
            <a:r>
              <a:rPr lang="en-US" altLang="zh-CN" sz="2000" b="1" dirty="0"/>
              <a:t>, </a:t>
            </a:r>
            <a:r>
              <a:rPr lang="en-US" altLang="zh-CN" sz="2000" b="1" i="1" dirty="0"/>
              <a:t>L</a:t>
            </a:r>
            <a:r>
              <a:rPr lang="en-US" altLang="zh-CN" sz="2000" b="1" baseline="-25000" dirty="0"/>
              <a:t>1</a:t>
            </a:r>
            <a:r>
              <a:rPr lang="en-US" altLang="zh-CN" sz="2000" b="1" dirty="0"/>
              <a:t>); </a:t>
            </a:r>
            <a:endParaRPr lang="en-US" altLang="zh-CN" sz="2000" b="1" dirty="0"/>
          </a:p>
          <a:p>
            <a:pPr>
              <a:lnSpc>
                <a:spcPct val="80000"/>
              </a:lnSpc>
              <a:buFont typeface="Wingdings" panose="05000000000000000000" pitchFamily="2" charset="2"/>
              <a:buNone/>
            </a:pPr>
            <a:r>
              <a:rPr lang="zh-CN" altLang="en-US" sz="2000" b="1" dirty="0"/>
              <a:t>             </a:t>
            </a:r>
            <a:r>
              <a:rPr lang="en-US" altLang="zh-CN" sz="2000" b="1" i="1" dirty="0"/>
              <a:t>n</a:t>
            </a:r>
            <a:r>
              <a:rPr lang="en-US" altLang="zh-CN" sz="2000" b="1" dirty="0"/>
              <a:t> = </a:t>
            </a:r>
            <a:r>
              <a:rPr lang="en-US" altLang="zh-CN" sz="2000" b="1" i="1" dirty="0"/>
              <a:t>n</a:t>
            </a:r>
            <a:r>
              <a:rPr lang="en-US" altLang="zh-CN" sz="2000" b="1" dirty="0"/>
              <a:t> - 1;          </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dirty="0" err="1">
                <a:solidFill>
                  <a:srgbClr val="0000FF"/>
                </a:solidFill>
              </a:rPr>
              <a:t>goto</a:t>
            </a:r>
            <a:r>
              <a:rPr lang="en-US" altLang="zh-CN" sz="2000" b="1" dirty="0"/>
              <a:t> </a:t>
            </a:r>
            <a:r>
              <a:rPr lang="en-US" altLang="zh-CN" sz="2000" b="1" i="1" dirty="0"/>
              <a:t>L</a:t>
            </a:r>
            <a:r>
              <a:rPr lang="en-US" altLang="zh-CN" sz="2000" b="1" baseline="-25000" dirty="0"/>
              <a:t>0</a:t>
            </a:r>
            <a:r>
              <a:rPr lang="en-US" altLang="zh-CN" sz="2000" b="1" dirty="0"/>
              <a:t>;          </a:t>
            </a:r>
            <a:endParaRPr lang="en-US" altLang="zh-CN" sz="2000" b="1" dirty="0"/>
          </a:p>
          <a:p>
            <a:pPr>
              <a:lnSpc>
                <a:spcPct val="80000"/>
              </a:lnSpc>
              <a:buFont typeface="Wingdings" panose="05000000000000000000" pitchFamily="2" charset="2"/>
              <a:buNone/>
            </a:pPr>
            <a:r>
              <a:rPr lang="zh-CN" altLang="en-US" sz="2000" b="1" dirty="0"/>
              <a:t>             </a:t>
            </a:r>
            <a:r>
              <a:rPr lang="en-US" altLang="zh-CN" sz="2000" b="1" i="1" dirty="0"/>
              <a:t>L</a:t>
            </a:r>
            <a:r>
              <a:rPr lang="en-US" altLang="zh-CN" sz="2000" b="1" baseline="-25000" dirty="0"/>
              <a:t>1</a:t>
            </a:r>
            <a:r>
              <a:rPr lang="en-US" altLang="zh-CN" sz="2000" b="1" dirty="0"/>
              <a:t>: </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dirty="0" err="1">
                <a:solidFill>
                  <a:srgbClr val="0000FF"/>
                </a:solidFill>
              </a:rPr>
              <a:t>cout</a:t>
            </a:r>
            <a:r>
              <a:rPr lang="en-US" altLang="zh-CN" sz="2000" b="1" dirty="0"/>
              <a:t>&lt;&lt;</a:t>
            </a:r>
            <a:r>
              <a:rPr lang="en-US" altLang="zh-CN" sz="2000" b="1" i="1" dirty="0"/>
              <a:t>n</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  </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dirty="0">
                <a:solidFill>
                  <a:srgbClr val="0000FF"/>
                </a:solidFill>
              </a:rPr>
              <a:t> if </a:t>
            </a:r>
            <a:r>
              <a:rPr lang="en-US" altLang="zh-CN" sz="2000" b="1" dirty="0"/>
              <a:t>( !</a:t>
            </a:r>
            <a:r>
              <a:rPr lang="en-US" altLang="zh-CN" sz="2000" b="1" i="1" dirty="0" err="1"/>
              <a:t>s</a:t>
            </a:r>
            <a:r>
              <a:rPr lang="en-US" altLang="zh-CN" sz="2000" b="1" dirty="0" err="1"/>
              <a:t>.Empty</a:t>
            </a:r>
            <a:r>
              <a:rPr lang="en-US" altLang="zh-CN" sz="2000" b="1" dirty="0"/>
              <a:t>() ) {</a:t>
            </a:r>
            <a:endParaRPr lang="en-US" altLang="zh-CN" sz="2000" b="1" dirty="0"/>
          </a:p>
          <a:p>
            <a:pPr>
              <a:lnSpc>
                <a:spcPct val="80000"/>
              </a:lnSpc>
              <a:buFont typeface="Wingdings" panose="05000000000000000000" pitchFamily="2" charset="2"/>
              <a:buNone/>
            </a:pPr>
            <a:r>
              <a:rPr lang="en-US" altLang="zh-CN" sz="2000" b="1" dirty="0"/>
              <a:t>    </a:t>
            </a:r>
            <a:r>
              <a:rPr lang="zh-CN" altLang="en-US" sz="2000" b="1" dirty="0"/>
              <a:t>      </a:t>
            </a:r>
            <a:r>
              <a:rPr lang="en-US" altLang="zh-CN" sz="2000" b="1" i="1" dirty="0" err="1"/>
              <a:t>s</a:t>
            </a:r>
            <a:r>
              <a:rPr lang="en-US" altLang="zh-CN" sz="2000" b="1" dirty="0" err="1"/>
              <a:t>.Pop</a:t>
            </a:r>
            <a:r>
              <a:rPr lang="en-US" altLang="zh-CN" sz="2000" b="1" dirty="0"/>
              <a:t> (</a:t>
            </a:r>
            <a:r>
              <a:rPr lang="en-US" altLang="zh-CN" sz="2000" b="1" i="1" dirty="0"/>
              <a:t>n</a:t>
            </a:r>
            <a:r>
              <a:rPr lang="en-US" altLang="zh-CN" sz="2000" b="1" dirty="0"/>
              <a:t>, </a:t>
            </a:r>
            <a:r>
              <a:rPr lang="en-US" altLang="zh-CN" sz="2000" b="1" i="1" dirty="0"/>
              <a:t>X</a:t>
            </a:r>
            <a:r>
              <a:rPr lang="en-US" altLang="zh-CN" sz="2000" b="1" dirty="0"/>
              <a:t>);        </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dirty="0" err="1">
                <a:solidFill>
                  <a:srgbClr val="0000FF"/>
                </a:solidFill>
              </a:rPr>
              <a:t>goto</a:t>
            </a:r>
            <a:r>
              <a:rPr lang="en-US" altLang="zh-CN" sz="2000" b="1" dirty="0"/>
              <a:t> </a:t>
            </a:r>
            <a:r>
              <a:rPr lang="en-US" altLang="zh-CN" sz="2000" b="1" i="1" dirty="0"/>
              <a:t>X</a:t>
            </a:r>
            <a:r>
              <a:rPr lang="en-US" altLang="zh-CN" sz="2000" b="1" dirty="0"/>
              <a:t>;             </a:t>
            </a:r>
            <a:endParaRPr lang="en-US" altLang="zh-CN" sz="2000" b="1" dirty="0"/>
          </a:p>
          <a:p>
            <a:pPr>
              <a:lnSpc>
                <a:spcPct val="80000"/>
              </a:lnSpc>
              <a:buFont typeface="Wingdings" panose="05000000000000000000" pitchFamily="2" charset="2"/>
              <a:buNone/>
            </a:pPr>
            <a:r>
              <a:rPr lang="zh-CN" altLang="en-US" sz="2000" b="1" dirty="0"/>
              <a:t>  </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a:t>
            </a:r>
            <a:endParaRPr lang="zh-CN" altLang="en-US" sz="2000" b="1" dirty="0"/>
          </a:p>
        </p:txBody>
      </p:sp>
      <p:sp>
        <p:nvSpPr>
          <p:cNvPr id="29700" name="椭圆 29699"/>
          <p:cNvSpPr>
            <a:spLocks noChangeArrowheads="1"/>
          </p:cNvSpPr>
          <p:nvPr/>
        </p:nvSpPr>
        <p:spPr bwMode="auto">
          <a:xfrm>
            <a:off x="3983622" y="1556792"/>
            <a:ext cx="360363" cy="287337"/>
          </a:xfrm>
          <a:prstGeom prst="ellipse">
            <a:avLst/>
          </a:prstGeom>
          <a:solidFill>
            <a:srgbClr val="FFFF00"/>
          </a:solidFill>
          <a:ln w="9525">
            <a:solidFill>
              <a:srgbClr val="000000"/>
            </a:solidFill>
            <a:round/>
          </a:ln>
        </p:spPr>
        <p:txBody>
          <a:bodyPr/>
          <a:lstStyle/>
          <a:p>
            <a:pPr algn="ctr" eaLnBrk="0" hangingPunct="0"/>
            <a:endParaRPr lang="zh-CN" altLang="en-US">
              <a:latin typeface="Times New Roman" panose="02020603050405020304" pitchFamily="18" charset="0"/>
              <a:cs typeface="Times New Roman" panose="02020603050405020304" pitchFamily="18" charset="0"/>
            </a:endParaRPr>
          </a:p>
        </p:txBody>
      </p:sp>
      <p:sp>
        <p:nvSpPr>
          <p:cNvPr id="29701" name="矩形 29700"/>
          <p:cNvSpPr>
            <a:spLocks noChangeArrowheads="1"/>
          </p:cNvSpPr>
          <p:nvPr/>
        </p:nvSpPr>
        <p:spPr bwMode="auto">
          <a:xfrm>
            <a:off x="3680947" y="2207944"/>
            <a:ext cx="1024639" cy="36933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eaLnBrk="0" hangingPunct="0"/>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a:latin typeface="Times New Roman" panose="02020603050405020304" pitchFamily="18" charset="0"/>
                <a:ea typeface="宋体" panose="02010600030101010101" pitchFamily="2" charset="-122"/>
                <a:cs typeface="Times New Roman" panose="02020603050405020304" pitchFamily="18" charset="0"/>
              </a:rPr>
              <a:t>Stack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02" name="流程图: 决策 29701"/>
          <p:cNvSpPr>
            <a:spLocks noChangeArrowheads="1"/>
          </p:cNvSpPr>
          <p:nvPr/>
        </p:nvSpPr>
        <p:spPr bwMode="auto">
          <a:xfrm>
            <a:off x="3417422" y="3068092"/>
            <a:ext cx="1512887" cy="720725"/>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&gt;0;</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03" name="流程图: 过程 29702"/>
          <p:cNvSpPr>
            <a:spLocks noChangeArrowheads="1"/>
          </p:cNvSpPr>
          <p:nvPr/>
        </p:nvSpPr>
        <p:spPr bwMode="auto">
          <a:xfrm>
            <a:off x="3345984" y="4436517"/>
            <a:ext cx="1657350" cy="792162"/>
          </a:xfrm>
          <a:prstGeom prst="flowChartProcess">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.Push</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-1;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04" name="流程图: 决策 29703"/>
          <p:cNvSpPr>
            <a:spLocks noChangeArrowheads="1"/>
          </p:cNvSpPr>
          <p:nvPr/>
        </p:nvSpPr>
        <p:spPr bwMode="auto">
          <a:xfrm>
            <a:off x="5516225" y="2780754"/>
            <a:ext cx="2663825" cy="720725"/>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zh-CN" altLang="en-US" sz="16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1"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sz="1600" b="1" dirty="0" err="1">
                <a:latin typeface="Times New Roman" panose="02020603050405020304" pitchFamily="18" charset="0"/>
                <a:ea typeface="宋体" panose="02010600030101010101" pitchFamily="2" charset="-122"/>
                <a:cs typeface="Times New Roman" panose="02020603050405020304" pitchFamily="18" charset="0"/>
              </a:rPr>
              <a:t>.Empty</a:t>
            </a: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05" name="流程图: 过程 29704"/>
          <p:cNvSpPr>
            <a:spLocks noChangeArrowheads="1"/>
          </p:cNvSpPr>
          <p:nvPr/>
        </p:nvSpPr>
        <p:spPr bwMode="auto">
          <a:xfrm>
            <a:off x="5803563" y="4149179"/>
            <a:ext cx="2089150" cy="720725"/>
          </a:xfrm>
          <a:prstGeom prst="flowChartProcess">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.Pop</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 );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cout</a:t>
            </a:r>
            <a:r>
              <a:rPr lang="en-US" altLang="zh-CN" dirty="0">
                <a:latin typeface="Times New Roman" panose="02020603050405020304" pitchFamily="18" charset="0"/>
                <a:ea typeface="宋体" panose="02010600030101010101" pitchFamily="2" charset="-122"/>
                <a:cs typeface="Times New Roman" panose="02020603050405020304" pitchFamily="18" charset="0"/>
              </a:rPr>
              <a:t> &lt;&lt;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06" name="直接连接符 29705"/>
          <p:cNvSpPr>
            <a:spLocks noChangeShapeType="1"/>
          </p:cNvSpPr>
          <p:nvPr/>
        </p:nvSpPr>
        <p:spPr bwMode="auto">
          <a:xfrm>
            <a:off x="4166722" y="1844129"/>
            <a:ext cx="0" cy="3603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9707" name="直接连接符 29706"/>
          <p:cNvSpPr>
            <a:spLocks noChangeShapeType="1"/>
          </p:cNvSpPr>
          <p:nvPr/>
        </p:nvSpPr>
        <p:spPr bwMode="auto">
          <a:xfrm>
            <a:off x="4166722" y="2583904"/>
            <a:ext cx="0" cy="50323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9708" name="直接连接符 29707"/>
          <p:cNvSpPr>
            <a:spLocks noChangeShapeType="1"/>
          </p:cNvSpPr>
          <p:nvPr/>
        </p:nvSpPr>
        <p:spPr bwMode="auto">
          <a:xfrm>
            <a:off x="4181009" y="3788817"/>
            <a:ext cx="0" cy="6477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9710" name="直接连接符 29709"/>
          <p:cNvSpPr>
            <a:spLocks noChangeShapeType="1"/>
          </p:cNvSpPr>
          <p:nvPr/>
        </p:nvSpPr>
        <p:spPr bwMode="auto">
          <a:xfrm>
            <a:off x="4930309" y="3428454"/>
            <a:ext cx="2873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9711" name="直接连接符 29710"/>
          <p:cNvSpPr>
            <a:spLocks noChangeShapeType="1"/>
          </p:cNvSpPr>
          <p:nvPr/>
        </p:nvSpPr>
        <p:spPr bwMode="auto">
          <a:xfrm flipV="1">
            <a:off x="5217647" y="2275929"/>
            <a:ext cx="0" cy="11525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9712" name="直接连接符 29711"/>
          <p:cNvSpPr>
            <a:spLocks noChangeShapeType="1"/>
          </p:cNvSpPr>
          <p:nvPr/>
        </p:nvSpPr>
        <p:spPr bwMode="auto">
          <a:xfrm>
            <a:off x="5217647" y="2275929"/>
            <a:ext cx="163942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9713" name="直接连接符 29712"/>
          <p:cNvSpPr>
            <a:spLocks noChangeShapeType="1"/>
          </p:cNvSpPr>
          <p:nvPr/>
        </p:nvSpPr>
        <p:spPr bwMode="auto">
          <a:xfrm>
            <a:off x="6857075" y="2275929"/>
            <a:ext cx="0" cy="5048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9714" name="直接连接符 29713"/>
          <p:cNvSpPr>
            <a:spLocks noChangeShapeType="1"/>
          </p:cNvSpPr>
          <p:nvPr/>
        </p:nvSpPr>
        <p:spPr bwMode="auto">
          <a:xfrm>
            <a:off x="6884650" y="3499892"/>
            <a:ext cx="0" cy="64928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9715" name="矩形 29714"/>
          <p:cNvSpPr>
            <a:spLocks noChangeArrowheads="1"/>
          </p:cNvSpPr>
          <p:nvPr/>
        </p:nvSpPr>
        <p:spPr bwMode="auto">
          <a:xfrm>
            <a:off x="4785847" y="2996654"/>
            <a:ext cx="4318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N</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16" name="矩形 29715"/>
          <p:cNvSpPr>
            <a:spLocks noChangeArrowheads="1"/>
          </p:cNvSpPr>
          <p:nvPr/>
        </p:nvSpPr>
        <p:spPr bwMode="auto">
          <a:xfrm>
            <a:off x="4209584" y="3933279"/>
            <a:ext cx="433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Y</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17" name="矩形 29716"/>
          <p:cNvSpPr>
            <a:spLocks noChangeArrowheads="1"/>
          </p:cNvSpPr>
          <p:nvPr/>
        </p:nvSpPr>
        <p:spPr bwMode="auto">
          <a:xfrm>
            <a:off x="4065122" y="2636292"/>
            <a:ext cx="6477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0</a:t>
            </a:r>
            <a:endParaRPr lang="en-US" altLang="zh-CN"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18" name="矩形 29717"/>
          <p:cNvSpPr>
            <a:spLocks noChangeArrowheads="1"/>
          </p:cNvSpPr>
          <p:nvPr/>
        </p:nvSpPr>
        <p:spPr bwMode="auto">
          <a:xfrm>
            <a:off x="6452850" y="3644354"/>
            <a:ext cx="4318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N</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19" name="矩形 29718"/>
          <p:cNvSpPr>
            <a:spLocks noChangeArrowheads="1"/>
          </p:cNvSpPr>
          <p:nvPr/>
        </p:nvSpPr>
        <p:spPr bwMode="auto">
          <a:xfrm>
            <a:off x="8253075" y="2636292"/>
            <a:ext cx="433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Y</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20" name="椭圆 29719"/>
          <p:cNvSpPr>
            <a:spLocks noChangeArrowheads="1"/>
          </p:cNvSpPr>
          <p:nvPr/>
        </p:nvSpPr>
        <p:spPr bwMode="auto">
          <a:xfrm>
            <a:off x="8533705" y="2998242"/>
            <a:ext cx="358775" cy="287337"/>
          </a:xfrm>
          <a:prstGeom prst="ellipse">
            <a:avLst/>
          </a:prstGeom>
          <a:solidFill>
            <a:srgbClr val="FFFF00"/>
          </a:solidFill>
          <a:ln w="9525">
            <a:solidFill>
              <a:srgbClr val="000000"/>
            </a:solidFill>
            <a:round/>
          </a:ln>
        </p:spPr>
        <p:txBody>
          <a:bodyPr/>
          <a:lstStyle/>
          <a:p>
            <a:pPr algn="ctr" eaLnBrk="0" hangingPunct="0"/>
            <a:endParaRPr lang="zh-CN" altLang="en-US">
              <a:latin typeface="Times New Roman" panose="02020603050405020304" pitchFamily="18" charset="0"/>
              <a:cs typeface="Times New Roman" panose="02020603050405020304" pitchFamily="18" charset="0"/>
            </a:endParaRPr>
          </a:p>
        </p:txBody>
      </p:sp>
      <p:sp>
        <p:nvSpPr>
          <p:cNvPr id="29721" name="直接连接符 29720"/>
          <p:cNvSpPr>
            <a:spLocks noChangeShapeType="1"/>
          </p:cNvSpPr>
          <p:nvPr/>
        </p:nvSpPr>
        <p:spPr bwMode="auto">
          <a:xfrm>
            <a:off x="8175801" y="3141117"/>
            <a:ext cx="35877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nvGrpSpPr>
          <p:cNvPr id="29" name="组合 28"/>
          <p:cNvGrpSpPr/>
          <p:nvPr/>
        </p:nvGrpSpPr>
        <p:grpSpPr>
          <a:xfrm>
            <a:off x="541437" y="127832"/>
            <a:ext cx="7991003" cy="674160"/>
            <a:chOff x="999690" y="5042189"/>
            <a:chExt cx="8290830" cy="647731"/>
          </a:xfrm>
        </p:grpSpPr>
        <p:sp>
          <p:nvSpPr>
            <p:cNvPr id="30"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1"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32" name="图片 31"/>
            <p:cNvPicPr>
              <a:picLocks noChangeAspect="1"/>
            </p:cNvPicPr>
            <p:nvPr/>
          </p:nvPicPr>
          <p:blipFill>
            <a:blip r:embed="rId1" cstate="print"/>
            <a:stretch>
              <a:fillRect/>
            </a:stretch>
          </p:blipFill>
          <p:spPr>
            <a:xfrm>
              <a:off x="1199659" y="5205012"/>
              <a:ext cx="420013" cy="322083"/>
            </a:xfrm>
            <a:prstGeom prst="rect">
              <a:avLst/>
            </a:prstGeom>
          </p:spPr>
        </p:pic>
      </p:grpSp>
      <p:grpSp>
        <p:nvGrpSpPr>
          <p:cNvPr id="15" name="组合 14"/>
          <p:cNvGrpSpPr/>
          <p:nvPr/>
        </p:nvGrpSpPr>
        <p:grpSpPr>
          <a:xfrm>
            <a:off x="3221256" y="2778944"/>
            <a:ext cx="988328" cy="2738884"/>
            <a:chOff x="2555776" y="2922365"/>
            <a:chExt cx="1152624" cy="2738884"/>
          </a:xfrm>
        </p:grpSpPr>
        <p:cxnSp>
          <p:nvCxnSpPr>
            <p:cNvPr id="5" name="直接连接符 4"/>
            <p:cNvCxnSpPr/>
            <p:nvPr/>
          </p:nvCxnSpPr>
          <p:spPr>
            <a:xfrm>
              <a:off x="3708400" y="5373216"/>
              <a:ext cx="0" cy="2880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2555776" y="5661248"/>
              <a:ext cx="11526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2555776" y="2924175"/>
              <a:ext cx="0" cy="2737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2555776" y="2922365"/>
              <a:ext cx="1109762" cy="0"/>
            </a:xfrm>
            <a:prstGeom prst="line">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5435133" y="2526531"/>
            <a:ext cx="1465487" cy="2738884"/>
            <a:chOff x="5346015" y="2669952"/>
            <a:chExt cx="1537248" cy="2738884"/>
          </a:xfrm>
        </p:grpSpPr>
        <p:grpSp>
          <p:nvGrpSpPr>
            <p:cNvPr id="45" name="组合 44"/>
            <p:cNvGrpSpPr/>
            <p:nvPr/>
          </p:nvGrpSpPr>
          <p:grpSpPr>
            <a:xfrm>
              <a:off x="5346015" y="2669952"/>
              <a:ext cx="1537246" cy="2738884"/>
              <a:chOff x="2555776" y="2922365"/>
              <a:chExt cx="1167267" cy="2738884"/>
            </a:xfrm>
          </p:grpSpPr>
          <p:cxnSp>
            <p:nvCxnSpPr>
              <p:cNvPr id="47" name="直接连接符 46"/>
              <p:cNvCxnSpPr/>
              <p:nvPr/>
            </p:nvCxnSpPr>
            <p:spPr>
              <a:xfrm flipH="1">
                <a:off x="2555776" y="5661248"/>
                <a:ext cx="1167267"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V="1">
                <a:off x="2555776" y="2924175"/>
                <a:ext cx="0" cy="2737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2555776" y="2922365"/>
                <a:ext cx="1132584" cy="1810"/>
              </a:xfrm>
              <a:prstGeom prst="line">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cxnSp>
          <p:nvCxnSpPr>
            <p:cNvPr id="22" name="直接连接符 21"/>
            <p:cNvCxnSpPr/>
            <p:nvPr/>
          </p:nvCxnSpPr>
          <p:spPr>
            <a:xfrm flipV="1">
              <a:off x="6883263" y="5013326"/>
              <a:ext cx="0" cy="3955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Effect transition="in" filter="blinds(horizontal)">
                                      <p:cBhvr>
                                        <p:cTn id="7" dur="500"/>
                                        <p:tgtEl>
                                          <p:spTgt spid="296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9699">
                                            <p:txEl>
                                              <p:pRg st="1" end="1"/>
                                            </p:txEl>
                                          </p:spTgt>
                                        </p:tgtEl>
                                        <p:attrNameLst>
                                          <p:attrName>style.visibility</p:attrName>
                                        </p:attrNameLst>
                                      </p:cBhvr>
                                      <p:to>
                                        <p:strVal val="visible"/>
                                      </p:to>
                                    </p:set>
                                    <p:animEffect transition="in" filter="blinds(horizontal)">
                                      <p:cBhvr>
                                        <p:cTn id="12" dur="500"/>
                                        <p:tgtEl>
                                          <p:spTgt spid="296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9700"/>
                                        </p:tgtEl>
                                        <p:attrNameLst>
                                          <p:attrName>style.visibility</p:attrName>
                                        </p:attrNameLst>
                                      </p:cBhvr>
                                      <p:to>
                                        <p:strVal val="visible"/>
                                      </p:to>
                                    </p:set>
                                    <p:animEffect transition="in" filter="blinds(horizontal)">
                                      <p:cBhvr>
                                        <p:cTn id="17" dur="500"/>
                                        <p:tgtEl>
                                          <p:spTgt spid="29700"/>
                                        </p:tgtEl>
                                      </p:cBhvr>
                                    </p:animEffect>
                                  </p:childTnLst>
                                </p:cTn>
                              </p:par>
                              <p:par>
                                <p:cTn id="18" presetID="3" presetClass="entr" presetSubtype="10" fill="hold" nodeType="withEffect">
                                  <p:stCondLst>
                                    <p:cond delay="0"/>
                                  </p:stCondLst>
                                  <p:childTnLst>
                                    <p:set>
                                      <p:cBhvr>
                                        <p:cTn id="19" dur="1" fill="hold">
                                          <p:stCondLst>
                                            <p:cond delay="0"/>
                                          </p:stCondLst>
                                        </p:cTn>
                                        <p:tgtEl>
                                          <p:spTgt spid="29706"/>
                                        </p:tgtEl>
                                        <p:attrNameLst>
                                          <p:attrName>style.visibility</p:attrName>
                                        </p:attrNameLst>
                                      </p:cBhvr>
                                      <p:to>
                                        <p:strVal val="visible"/>
                                      </p:to>
                                    </p:set>
                                    <p:animEffect transition="in" filter="blinds(horizontal)">
                                      <p:cBhvr>
                                        <p:cTn id="20" dur="500"/>
                                        <p:tgtEl>
                                          <p:spTgt spid="29706"/>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9701"/>
                                        </p:tgtEl>
                                        <p:attrNameLst>
                                          <p:attrName>style.visibility</p:attrName>
                                        </p:attrNameLst>
                                      </p:cBhvr>
                                      <p:to>
                                        <p:strVal val="visible"/>
                                      </p:to>
                                    </p:set>
                                    <p:animEffect transition="in" filter="blinds(horizontal)">
                                      <p:cBhvr>
                                        <p:cTn id="25" dur="500"/>
                                        <p:tgtEl>
                                          <p:spTgt spid="29701"/>
                                        </p:tgtEl>
                                      </p:cBhvr>
                                    </p:animEffect>
                                  </p:childTnLst>
                                </p:cTn>
                              </p:par>
                              <p:par>
                                <p:cTn id="26" presetID="3" presetClass="entr" presetSubtype="10" fill="hold" nodeType="withEffect">
                                  <p:stCondLst>
                                    <p:cond delay="0"/>
                                  </p:stCondLst>
                                  <p:childTnLst>
                                    <p:set>
                                      <p:cBhvr>
                                        <p:cTn id="27" dur="1" fill="hold">
                                          <p:stCondLst>
                                            <p:cond delay="0"/>
                                          </p:stCondLst>
                                        </p:cTn>
                                        <p:tgtEl>
                                          <p:spTgt spid="29707"/>
                                        </p:tgtEl>
                                        <p:attrNameLst>
                                          <p:attrName>style.visibility</p:attrName>
                                        </p:attrNameLst>
                                      </p:cBhvr>
                                      <p:to>
                                        <p:strVal val="visible"/>
                                      </p:to>
                                    </p:set>
                                    <p:animEffect transition="in" filter="blinds(horizontal)">
                                      <p:cBhvr>
                                        <p:cTn id="28" dur="500"/>
                                        <p:tgtEl>
                                          <p:spTgt spid="29707"/>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29717"/>
                                        </p:tgtEl>
                                        <p:attrNameLst>
                                          <p:attrName>style.visibility</p:attrName>
                                        </p:attrNameLst>
                                      </p:cBhvr>
                                      <p:to>
                                        <p:strVal val="visible"/>
                                      </p:to>
                                    </p:set>
                                    <p:animEffect transition="in" filter="blinds(horizontal)">
                                      <p:cBhvr>
                                        <p:cTn id="31" dur="500"/>
                                        <p:tgtEl>
                                          <p:spTgt spid="29717"/>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9702"/>
                                        </p:tgtEl>
                                        <p:attrNameLst>
                                          <p:attrName>style.visibility</p:attrName>
                                        </p:attrNameLst>
                                      </p:cBhvr>
                                      <p:to>
                                        <p:strVal val="visible"/>
                                      </p:to>
                                    </p:set>
                                    <p:animEffect transition="in" filter="blinds(horizontal)">
                                      <p:cBhvr>
                                        <p:cTn id="36" dur="500"/>
                                        <p:tgtEl>
                                          <p:spTgt spid="29702"/>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29708"/>
                                        </p:tgtEl>
                                        <p:attrNameLst>
                                          <p:attrName>style.visibility</p:attrName>
                                        </p:attrNameLst>
                                      </p:cBhvr>
                                      <p:to>
                                        <p:strVal val="visible"/>
                                      </p:to>
                                    </p:set>
                                    <p:animEffect transition="in" filter="blinds(horizontal)">
                                      <p:cBhvr>
                                        <p:cTn id="41" dur="500"/>
                                        <p:tgtEl>
                                          <p:spTgt spid="29708"/>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29716"/>
                                        </p:tgtEl>
                                        <p:attrNameLst>
                                          <p:attrName>style.visibility</p:attrName>
                                        </p:attrNameLst>
                                      </p:cBhvr>
                                      <p:to>
                                        <p:strVal val="visible"/>
                                      </p:to>
                                    </p:set>
                                    <p:animEffect transition="in" filter="blinds(horizontal)">
                                      <p:cBhvr>
                                        <p:cTn id="44" dur="500"/>
                                        <p:tgtEl>
                                          <p:spTgt spid="29716"/>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29703"/>
                                        </p:tgtEl>
                                        <p:attrNameLst>
                                          <p:attrName>style.visibility</p:attrName>
                                        </p:attrNameLst>
                                      </p:cBhvr>
                                      <p:to>
                                        <p:strVal val="visible"/>
                                      </p:to>
                                    </p:set>
                                    <p:animEffect transition="in" filter="blinds(horizontal)">
                                      <p:cBhvr>
                                        <p:cTn id="49" dur="500"/>
                                        <p:tgtEl>
                                          <p:spTgt spid="29703"/>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15"/>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29715"/>
                                        </p:tgtEl>
                                        <p:attrNameLst>
                                          <p:attrName>style.visibility</p:attrName>
                                        </p:attrNameLst>
                                      </p:cBhvr>
                                      <p:to>
                                        <p:strVal val="visible"/>
                                      </p:to>
                                    </p:set>
                                    <p:animEffect transition="in" filter="blinds(horizontal)">
                                      <p:cBhvr>
                                        <p:cTn id="58" dur="500"/>
                                        <p:tgtEl>
                                          <p:spTgt spid="29715"/>
                                        </p:tgtEl>
                                      </p:cBhvr>
                                    </p:animEffect>
                                  </p:childTnLst>
                                </p:cTn>
                              </p:par>
                              <p:par>
                                <p:cTn id="59" presetID="3" presetClass="entr" presetSubtype="10" fill="hold" nodeType="withEffect">
                                  <p:stCondLst>
                                    <p:cond delay="0"/>
                                  </p:stCondLst>
                                  <p:childTnLst>
                                    <p:set>
                                      <p:cBhvr>
                                        <p:cTn id="60" dur="1" fill="hold">
                                          <p:stCondLst>
                                            <p:cond delay="0"/>
                                          </p:stCondLst>
                                        </p:cTn>
                                        <p:tgtEl>
                                          <p:spTgt spid="29712"/>
                                        </p:tgtEl>
                                        <p:attrNameLst>
                                          <p:attrName>style.visibility</p:attrName>
                                        </p:attrNameLst>
                                      </p:cBhvr>
                                      <p:to>
                                        <p:strVal val="visible"/>
                                      </p:to>
                                    </p:set>
                                    <p:animEffect transition="in" filter="blinds(horizontal)">
                                      <p:cBhvr>
                                        <p:cTn id="61" dur="500"/>
                                        <p:tgtEl>
                                          <p:spTgt spid="29712"/>
                                        </p:tgtEl>
                                      </p:cBhvr>
                                    </p:animEffect>
                                  </p:childTnLst>
                                </p:cTn>
                              </p:par>
                              <p:par>
                                <p:cTn id="62" presetID="3" presetClass="entr" presetSubtype="10" fill="hold" nodeType="withEffect">
                                  <p:stCondLst>
                                    <p:cond delay="0"/>
                                  </p:stCondLst>
                                  <p:childTnLst>
                                    <p:set>
                                      <p:cBhvr>
                                        <p:cTn id="63" dur="1" fill="hold">
                                          <p:stCondLst>
                                            <p:cond delay="0"/>
                                          </p:stCondLst>
                                        </p:cTn>
                                        <p:tgtEl>
                                          <p:spTgt spid="29711"/>
                                        </p:tgtEl>
                                        <p:attrNameLst>
                                          <p:attrName>style.visibility</p:attrName>
                                        </p:attrNameLst>
                                      </p:cBhvr>
                                      <p:to>
                                        <p:strVal val="visible"/>
                                      </p:to>
                                    </p:set>
                                    <p:animEffect transition="in" filter="blinds(horizontal)">
                                      <p:cBhvr>
                                        <p:cTn id="64" dur="500"/>
                                        <p:tgtEl>
                                          <p:spTgt spid="29711"/>
                                        </p:tgtEl>
                                      </p:cBhvr>
                                    </p:animEffect>
                                  </p:childTnLst>
                                </p:cTn>
                              </p:par>
                              <p:par>
                                <p:cTn id="65" presetID="3" presetClass="entr" presetSubtype="10" fill="hold" nodeType="withEffect">
                                  <p:stCondLst>
                                    <p:cond delay="0"/>
                                  </p:stCondLst>
                                  <p:childTnLst>
                                    <p:set>
                                      <p:cBhvr>
                                        <p:cTn id="66" dur="1" fill="hold">
                                          <p:stCondLst>
                                            <p:cond delay="0"/>
                                          </p:stCondLst>
                                        </p:cTn>
                                        <p:tgtEl>
                                          <p:spTgt spid="29710"/>
                                        </p:tgtEl>
                                        <p:attrNameLst>
                                          <p:attrName>style.visibility</p:attrName>
                                        </p:attrNameLst>
                                      </p:cBhvr>
                                      <p:to>
                                        <p:strVal val="visible"/>
                                      </p:to>
                                    </p:set>
                                    <p:animEffect transition="in" filter="blinds(horizontal)">
                                      <p:cBhvr>
                                        <p:cTn id="67" dur="500"/>
                                        <p:tgtEl>
                                          <p:spTgt spid="29710"/>
                                        </p:tgtEl>
                                      </p:cBhvr>
                                    </p:animEffect>
                                  </p:childTnLst>
                                </p:cTn>
                              </p:par>
                              <p:par>
                                <p:cTn id="68" presetID="3" presetClass="entr" presetSubtype="10" fill="hold" nodeType="withEffect">
                                  <p:stCondLst>
                                    <p:cond delay="0"/>
                                  </p:stCondLst>
                                  <p:childTnLst>
                                    <p:set>
                                      <p:cBhvr>
                                        <p:cTn id="69" dur="1" fill="hold">
                                          <p:stCondLst>
                                            <p:cond delay="0"/>
                                          </p:stCondLst>
                                        </p:cTn>
                                        <p:tgtEl>
                                          <p:spTgt spid="29713"/>
                                        </p:tgtEl>
                                        <p:attrNameLst>
                                          <p:attrName>style.visibility</p:attrName>
                                        </p:attrNameLst>
                                      </p:cBhvr>
                                      <p:to>
                                        <p:strVal val="visible"/>
                                      </p:to>
                                    </p:set>
                                    <p:animEffect transition="in" filter="blinds(horizontal)">
                                      <p:cBhvr>
                                        <p:cTn id="70" dur="500"/>
                                        <p:tgtEl>
                                          <p:spTgt spid="29713"/>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29704"/>
                                        </p:tgtEl>
                                        <p:attrNameLst>
                                          <p:attrName>style.visibility</p:attrName>
                                        </p:attrNameLst>
                                      </p:cBhvr>
                                      <p:to>
                                        <p:strVal val="visible"/>
                                      </p:to>
                                    </p:set>
                                    <p:animEffect transition="in" filter="blinds(horizontal)">
                                      <p:cBhvr>
                                        <p:cTn id="75" dur="500"/>
                                        <p:tgtEl>
                                          <p:spTgt spid="29704"/>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nodeType="clickEffect">
                                  <p:stCondLst>
                                    <p:cond delay="0"/>
                                  </p:stCondLst>
                                  <p:childTnLst>
                                    <p:set>
                                      <p:cBhvr>
                                        <p:cTn id="79" dur="1" fill="hold">
                                          <p:stCondLst>
                                            <p:cond delay="0"/>
                                          </p:stCondLst>
                                        </p:cTn>
                                        <p:tgtEl>
                                          <p:spTgt spid="29714"/>
                                        </p:tgtEl>
                                        <p:attrNameLst>
                                          <p:attrName>style.visibility</p:attrName>
                                        </p:attrNameLst>
                                      </p:cBhvr>
                                      <p:to>
                                        <p:strVal val="visible"/>
                                      </p:to>
                                    </p:set>
                                    <p:animEffect transition="in" filter="blinds(horizontal)">
                                      <p:cBhvr>
                                        <p:cTn id="80" dur="500"/>
                                        <p:tgtEl>
                                          <p:spTgt spid="29714"/>
                                        </p:tgtEl>
                                      </p:cBhvr>
                                    </p:animEffect>
                                  </p:childTnLst>
                                </p:cTn>
                              </p:par>
                              <p:par>
                                <p:cTn id="81" presetID="3" presetClass="entr" presetSubtype="10" fill="hold" grpId="0" nodeType="withEffect">
                                  <p:stCondLst>
                                    <p:cond delay="0"/>
                                  </p:stCondLst>
                                  <p:childTnLst>
                                    <p:set>
                                      <p:cBhvr>
                                        <p:cTn id="82" dur="1" fill="hold">
                                          <p:stCondLst>
                                            <p:cond delay="0"/>
                                          </p:stCondLst>
                                        </p:cTn>
                                        <p:tgtEl>
                                          <p:spTgt spid="29718"/>
                                        </p:tgtEl>
                                        <p:attrNameLst>
                                          <p:attrName>style.visibility</p:attrName>
                                        </p:attrNameLst>
                                      </p:cBhvr>
                                      <p:to>
                                        <p:strVal val="visible"/>
                                      </p:to>
                                    </p:set>
                                    <p:animEffect transition="in" filter="blinds(horizontal)">
                                      <p:cBhvr>
                                        <p:cTn id="83" dur="500"/>
                                        <p:tgtEl>
                                          <p:spTgt spid="29718"/>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29705"/>
                                        </p:tgtEl>
                                        <p:attrNameLst>
                                          <p:attrName>style.visibility</p:attrName>
                                        </p:attrNameLst>
                                      </p:cBhvr>
                                      <p:to>
                                        <p:strVal val="visible"/>
                                      </p:to>
                                    </p:set>
                                    <p:animEffect transition="in" filter="blinds(horizontal)">
                                      <p:cBhvr>
                                        <p:cTn id="88" dur="500"/>
                                        <p:tgtEl>
                                          <p:spTgt spid="29705"/>
                                        </p:tgtEl>
                                      </p:cBhvr>
                                    </p:animEffec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26"/>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29721"/>
                                        </p:tgtEl>
                                        <p:attrNameLst>
                                          <p:attrName>style.visibility</p:attrName>
                                        </p:attrNameLst>
                                      </p:cBhvr>
                                      <p:to>
                                        <p:strVal val="visible"/>
                                      </p:to>
                                    </p:set>
                                    <p:animEffect transition="in" filter="blinds(horizontal)">
                                      <p:cBhvr>
                                        <p:cTn id="97" dur="500"/>
                                        <p:tgtEl>
                                          <p:spTgt spid="29721"/>
                                        </p:tgtEl>
                                      </p:cBhvr>
                                    </p:animEffect>
                                  </p:childTnLst>
                                </p:cTn>
                              </p:par>
                              <p:par>
                                <p:cTn id="98" presetID="3" presetClass="entr" presetSubtype="10" fill="hold" grpId="0" nodeType="withEffect">
                                  <p:stCondLst>
                                    <p:cond delay="0"/>
                                  </p:stCondLst>
                                  <p:childTnLst>
                                    <p:set>
                                      <p:cBhvr>
                                        <p:cTn id="99" dur="1" fill="hold">
                                          <p:stCondLst>
                                            <p:cond delay="0"/>
                                          </p:stCondLst>
                                        </p:cTn>
                                        <p:tgtEl>
                                          <p:spTgt spid="29719"/>
                                        </p:tgtEl>
                                        <p:attrNameLst>
                                          <p:attrName>style.visibility</p:attrName>
                                        </p:attrNameLst>
                                      </p:cBhvr>
                                      <p:to>
                                        <p:strVal val="visible"/>
                                      </p:to>
                                    </p:set>
                                    <p:animEffect transition="in" filter="blinds(horizontal)">
                                      <p:cBhvr>
                                        <p:cTn id="100" dur="500"/>
                                        <p:tgtEl>
                                          <p:spTgt spid="29719"/>
                                        </p:tgtEl>
                                      </p:cBhvr>
                                    </p:animEffect>
                                  </p:childTnLst>
                                </p:cTn>
                              </p:par>
                              <p:par>
                                <p:cTn id="101" presetID="3" presetClass="entr" presetSubtype="10" fill="hold" nodeType="withEffect">
                                  <p:stCondLst>
                                    <p:cond delay="0"/>
                                  </p:stCondLst>
                                  <p:childTnLst>
                                    <p:set>
                                      <p:cBhvr>
                                        <p:cTn id="102" dur="1" fill="hold">
                                          <p:stCondLst>
                                            <p:cond delay="0"/>
                                          </p:stCondLst>
                                        </p:cTn>
                                        <p:tgtEl>
                                          <p:spTgt spid="29720"/>
                                        </p:tgtEl>
                                        <p:attrNameLst>
                                          <p:attrName>style.visibility</p:attrName>
                                        </p:attrNameLst>
                                      </p:cBhvr>
                                      <p:to>
                                        <p:strVal val="visible"/>
                                      </p:to>
                                    </p:set>
                                    <p:animEffect transition="in" filter="blinds(horizontal)">
                                      <p:cBhvr>
                                        <p:cTn id="103" dur="500"/>
                                        <p:tgtEl>
                                          <p:spTgt spid="297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uiExpand="1" build="p"/>
      <p:bldP spid="29701" grpId="0" animBg="1"/>
      <p:bldP spid="29702" grpId="0" animBg="1"/>
      <p:bldP spid="29703" grpId="0" animBg="1"/>
      <p:bldP spid="29704" grpId="0" animBg="1"/>
      <p:bldP spid="29705" grpId="0" animBg="1"/>
      <p:bldP spid="29715" grpId="0"/>
      <p:bldP spid="29716" grpId="0"/>
      <p:bldP spid="29717" grpId="0"/>
      <p:bldP spid="29718" grpId="0"/>
      <p:bldP spid="2971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内容占位符 30722"/>
          <p:cNvSpPr>
            <a:spLocks noGrp="1" noChangeArrowheads="1"/>
          </p:cNvSpPr>
          <p:nvPr>
            <p:ph idx="1"/>
          </p:nvPr>
        </p:nvSpPr>
        <p:spPr>
          <a:xfrm>
            <a:off x="0" y="1056136"/>
            <a:ext cx="8229600" cy="4678451"/>
          </a:xfrm>
        </p:spPr>
        <p:txBody>
          <a:bodyPr/>
          <a:lstStyle/>
          <a:p>
            <a:pPr lvl="1">
              <a:lnSpc>
                <a:spcPct val="80000"/>
              </a:lnSpc>
              <a:buFont typeface="Wingdings" panose="05000000000000000000" pitchFamily="2" charset="2"/>
              <a:buNone/>
            </a:pPr>
            <a:r>
              <a:rPr lang="zh-CN" altLang="en-US" sz="2400" b="1" dirty="0"/>
              <a:t>由此流程图得程序如下</a:t>
            </a:r>
            <a:r>
              <a:rPr lang="en-US" altLang="zh-CN" sz="2400" b="1" dirty="0"/>
              <a:t>:</a:t>
            </a:r>
            <a:endParaRPr lang="en-US" altLang="zh-CN" sz="2400" b="1" dirty="0"/>
          </a:p>
          <a:p>
            <a:pPr lvl="1">
              <a:lnSpc>
                <a:spcPct val="80000"/>
              </a:lnSpc>
              <a:buFont typeface="Wingdings" panose="05000000000000000000" pitchFamily="2" charset="2"/>
              <a:buNone/>
            </a:pPr>
            <a:r>
              <a:rPr lang="en-US" altLang="zh-CN" sz="2000" dirty="0"/>
              <a:t> </a:t>
            </a:r>
            <a:r>
              <a:rPr lang="en-US" altLang="zh-CN" sz="2000" b="1" dirty="0">
                <a:solidFill>
                  <a:srgbClr val="0000FF"/>
                </a:solidFill>
              </a:rPr>
              <a:t>void</a:t>
            </a:r>
            <a:r>
              <a:rPr lang="en-US" altLang="zh-CN" sz="2000" b="1" dirty="0"/>
              <a:t>  PE( </a:t>
            </a:r>
            <a:r>
              <a:rPr lang="en-US" altLang="zh-CN" sz="2000" b="1" dirty="0" err="1">
                <a:solidFill>
                  <a:srgbClr val="0000FF"/>
                </a:solidFill>
              </a:rPr>
              <a:t>int</a:t>
            </a:r>
            <a:r>
              <a:rPr lang="en-US" altLang="zh-CN" sz="2000" b="1" dirty="0"/>
              <a:t> </a:t>
            </a:r>
            <a:r>
              <a:rPr lang="en-US" altLang="zh-CN" sz="2000" b="1" i="1" dirty="0"/>
              <a:t>n</a:t>
            </a:r>
            <a:r>
              <a:rPr lang="en-US" altLang="zh-CN" sz="2000" b="1" dirty="0"/>
              <a:t> )</a:t>
            </a:r>
            <a:endParaRPr lang="en-US" altLang="zh-CN" sz="2000" b="1" dirty="0"/>
          </a:p>
          <a:p>
            <a:pPr lvl="1">
              <a:lnSpc>
                <a:spcPct val="80000"/>
              </a:lnSpc>
              <a:buFont typeface="Wingdings" panose="05000000000000000000" pitchFamily="2" charset="2"/>
              <a:buNone/>
            </a:pPr>
            <a:r>
              <a:rPr lang="en-US" altLang="zh-CN" sz="2000" b="1" dirty="0"/>
              <a:t> {</a:t>
            </a:r>
            <a:endParaRPr lang="en-US" altLang="zh-CN" sz="2000" b="1" dirty="0"/>
          </a:p>
          <a:p>
            <a:pPr lvl="1">
              <a:lnSpc>
                <a:spcPct val="80000"/>
              </a:lnSpc>
              <a:buFont typeface="Wingdings" panose="05000000000000000000" pitchFamily="2" charset="2"/>
              <a:buNone/>
            </a:pPr>
            <a:r>
              <a:rPr lang="en-US" altLang="zh-CN" sz="2000" b="1" dirty="0"/>
              <a:t>    Stack </a:t>
            </a:r>
            <a:r>
              <a:rPr lang="en-US" altLang="zh-CN" sz="2000" b="1" i="1" dirty="0"/>
              <a:t>s</a:t>
            </a:r>
            <a:r>
              <a:rPr lang="en-US" altLang="zh-CN" sz="2000" b="1" dirty="0"/>
              <a:t> ;</a:t>
            </a:r>
            <a:endParaRPr lang="en-US" altLang="zh-CN" sz="2000" b="1" dirty="0"/>
          </a:p>
          <a:p>
            <a:pPr lvl="1">
              <a:lnSpc>
                <a:spcPct val="80000"/>
              </a:lnSpc>
              <a:buFont typeface="Wingdings" panose="05000000000000000000" pitchFamily="2" charset="2"/>
              <a:buNone/>
            </a:pPr>
            <a:r>
              <a:rPr lang="en-US" altLang="zh-CN" sz="2000" b="1" dirty="0"/>
              <a:t>    </a:t>
            </a:r>
            <a:r>
              <a:rPr lang="en-US" altLang="zh-CN" sz="2000" b="1" dirty="0">
                <a:solidFill>
                  <a:srgbClr val="0000FF"/>
                </a:solidFill>
              </a:rPr>
              <a:t>while</a:t>
            </a:r>
            <a:r>
              <a:rPr lang="en-US" altLang="zh-CN" sz="2000" b="1" dirty="0"/>
              <a:t> (</a:t>
            </a:r>
            <a:r>
              <a:rPr lang="en-US" altLang="zh-CN" sz="2000" b="1" i="1" dirty="0"/>
              <a:t> n </a:t>
            </a:r>
            <a:r>
              <a:rPr lang="en-US" altLang="zh-CN" sz="2000" b="1" dirty="0"/>
              <a:t>&gt; 0 )</a:t>
            </a:r>
            <a:endParaRPr lang="en-US" altLang="zh-CN" sz="2000" b="1" dirty="0"/>
          </a:p>
          <a:p>
            <a:pPr lvl="1">
              <a:lnSpc>
                <a:spcPct val="80000"/>
              </a:lnSpc>
              <a:buFont typeface="Wingdings" panose="05000000000000000000" pitchFamily="2" charset="2"/>
              <a:buNone/>
            </a:pPr>
            <a:r>
              <a:rPr lang="en-US" altLang="zh-CN" sz="2000" b="1" dirty="0"/>
              <a:t>     {  </a:t>
            </a:r>
            <a:endParaRPr lang="en-US" altLang="zh-CN" sz="2000" b="1" dirty="0"/>
          </a:p>
          <a:p>
            <a:pPr lvl="1">
              <a:lnSpc>
                <a:spcPct val="80000"/>
              </a:lnSpc>
              <a:buFont typeface="Wingdings" panose="05000000000000000000" pitchFamily="2" charset="2"/>
              <a:buNone/>
            </a:pPr>
            <a:r>
              <a:rPr lang="en-US" altLang="zh-CN" sz="2000" b="1" dirty="0"/>
              <a:t>         </a:t>
            </a:r>
            <a:r>
              <a:rPr lang="en-US" altLang="zh-CN" sz="2000" b="1" i="1" dirty="0" err="1"/>
              <a:t>s</a:t>
            </a:r>
            <a:r>
              <a:rPr lang="en-US" altLang="zh-CN" sz="2000" b="1" dirty="0" err="1"/>
              <a:t>.Push</a:t>
            </a:r>
            <a:r>
              <a:rPr lang="en-US" altLang="zh-CN" sz="2000" b="1" dirty="0"/>
              <a:t> ( </a:t>
            </a:r>
            <a:r>
              <a:rPr lang="en-US" altLang="zh-CN" sz="2000" b="1" i="1" dirty="0"/>
              <a:t>n</a:t>
            </a:r>
            <a:r>
              <a:rPr lang="en-US" altLang="zh-CN" sz="2000" b="1" dirty="0"/>
              <a:t> );</a:t>
            </a:r>
            <a:endParaRPr lang="en-US" altLang="zh-CN" sz="2000" b="1" dirty="0"/>
          </a:p>
          <a:p>
            <a:pPr lvl="1">
              <a:lnSpc>
                <a:spcPct val="80000"/>
              </a:lnSpc>
              <a:buFont typeface="Wingdings" panose="05000000000000000000" pitchFamily="2" charset="2"/>
              <a:buNone/>
            </a:pPr>
            <a:r>
              <a:rPr lang="en-US" altLang="zh-CN" sz="2000" b="1" dirty="0"/>
              <a:t>         </a:t>
            </a:r>
            <a:r>
              <a:rPr lang="en-US" altLang="zh-CN" sz="2000" b="1" i="1" dirty="0"/>
              <a:t>n</a:t>
            </a:r>
            <a:r>
              <a:rPr lang="en-US" altLang="zh-CN" sz="2000" b="1" dirty="0"/>
              <a:t> = </a:t>
            </a:r>
            <a:r>
              <a:rPr lang="en-US" altLang="zh-CN" sz="2000" b="1" i="1" dirty="0"/>
              <a:t>n</a:t>
            </a:r>
            <a:r>
              <a:rPr lang="en-US" altLang="zh-CN" sz="2000" b="1" dirty="0"/>
              <a:t> - 1;</a:t>
            </a:r>
            <a:endParaRPr lang="en-US" altLang="zh-CN" sz="2000" b="1" dirty="0"/>
          </a:p>
          <a:p>
            <a:pPr lvl="1">
              <a:lnSpc>
                <a:spcPct val="80000"/>
              </a:lnSpc>
              <a:buFont typeface="Wingdings" panose="05000000000000000000" pitchFamily="2" charset="2"/>
              <a:buNone/>
            </a:pPr>
            <a:r>
              <a:rPr lang="en-US" altLang="zh-CN" sz="2000" b="1" dirty="0"/>
              <a:t>      }</a:t>
            </a:r>
            <a:endParaRPr lang="en-US" altLang="zh-CN" sz="2000" b="1" dirty="0"/>
          </a:p>
          <a:p>
            <a:pPr lvl="1">
              <a:lnSpc>
                <a:spcPct val="80000"/>
              </a:lnSpc>
              <a:buFont typeface="Wingdings" panose="05000000000000000000" pitchFamily="2" charset="2"/>
              <a:buNone/>
            </a:pPr>
            <a:r>
              <a:rPr lang="en-US" altLang="zh-CN" sz="2000" b="1" dirty="0"/>
              <a:t>     </a:t>
            </a:r>
            <a:r>
              <a:rPr lang="en-US" altLang="zh-CN" sz="2000" b="1" dirty="0">
                <a:solidFill>
                  <a:srgbClr val="0000FF"/>
                </a:solidFill>
              </a:rPr>
              <a:t>while</a:t>
            </a:r>
            <a:r>
              <a:rPr lang="en-US" altLang="zh-CN" sz="2000" b="1" dirty="0"/>
              <a:t> (!</a:t>
            </a:r>
            <a:r>
              <a:rPr lang="en-US" altLang="zh-CN" sz="2000" b="1" i="1" dirty="0" err="1"/>
              <a:t>s</a:t>
            </a:r>
            <a:r>
              <a:rPr lang="en-US" altLang="zh-CN" sz="2000" b="1" dirty="0" err="1"/>
              <a:t>.Empty</a:t>
            </a:r>
            <a:r>
              <a:rPr lang="en-US" altLang="zh-CN" sz="2000" b="1" dirty="0"/>
              <a:t>( ) )</a:t>
            </a:r>
            <a:endParaRPr lang="en-US" altLang="zh-CN" sz="2000" b="1" dirty="0"/>
          </a:p>
          <a:p>
            <a:pPr lvl="1">
              <a:lnSpc>
                <a:spcPct val="80000"/>
              </a:lnSpc>
              <a:buFont typeface="Wingdings" panose="05000000000000000000" pitchFamily="2" charset="2"/>
              <a:buNone/>
            </a:pPr>
            <a:r>
              <a:rPr lang="en-US" altLang="zh-CN" sz="2000" b="1" dirty="0"/>
              <a:t>      {</a:t>
            </a:r>
            <a:endParaRPr lang="en-US" altLang="zh-CN" sz="2000" b="1" dirty="0"/>
          </a:p>
          <a:p>
            <a:pPr lvl="1">
              <a:lnSpc>
                <a:spcPct val="80000"/>
              </a:lnSpc>
              <a:buFont typeface="Wingdings" panose="05000000000000000000" pitchFamily="2" charset="2"/>
              <a:buNone/>
            </a:pPr>
            <a:r>
              <a:rPr lang="en-US" altLang="zh-CN" sz="2000" b="1" dirty="0"/>
              <a:t>           </a:t>
            </a:r>
            <a:r>
              <a:rPr lang="fr-FR" altLang="en-US" sz="2000" b="1" i="1" dirty="0"/>
              <a:t>s</a:t>
            </a:r>
            <a:r>
              <a:rPr lang="fr-FR" altLang="en-US" sz="2000" b="1" dirty="0"/>
              <a:t>.Pop ( </a:t>
            </a:r>
            <a:r>
              <a:rPr lang="fr-FR" altLang="en-US" sz="2000" b="1" i="1" dirty="0"/>
              <a:t>n</a:t>
            </a:r>
            <a:r>
              <a:rPr lang="fr-FR" altLang="en-US" sz="2000" b="1" dirty="0"/>
              <a:t> );</a:t>
            </a:r>
            <a:endParaRPr lang="fr-FR" altLang="en-US" sz="2000" b="1" dirty="0"/>
          </a:p>
          <a:p>
            <a:pPr lvl="1">
              <a:lnSpc>
                <a:spcPct val="80000"/>
              </a:lnSpc>
              <a:buFont typeface="Wingdings" panose="05000000000000000000" pitchFamily="2" charset="2"/>
              <a:buNone/>
            </a:pPr>
            <a:r>
              <a:rPr lang="fr-FR" altLang="en-US" sz="2000" b="1" dirty="0"/>
              <a:t>           </a:t>
            </a:r>
            <a:r>
              <a:rPr lang="fr-FR" altLang="en-US" sz="2000" b="1" dirty="0">
                <a:solidFill>
                  <a:srgbClr val="0000FF"/>
                </a:solidFill>
              </a:rPr>
              <a:t>cout</a:t>
            </a:r>
            <a:r>
              <a:rPr lang="fr-FR" altLang="en-US" sz="2000" b="1" dirty="0"/>
              <a:t> &lt;&lt; </a:t>
            </a:r>
            <a:r>
              <a:rPr lang="fr-FR" altLang="en-US" sz="2000" b="1" i="1" dirty="0"/>
              <a:t>n</a:t>
            </a:r>
            <a:r>
              <a:rPr lang="fr-FR" altLang="en-US" sz="2000" b="1" dirty="0"/>
              <a:t>;</a:t>
            </a:r>
            <a:endParaRPr lang="fr-FR" altLang="en-US" sz="2000" b="1" dirty="0"/>
          </a:p>
          <a:p>
            <a:pPr lvl="1">
              <a:lnSpc>
                <a:spcPct val="80000"/>
              </a:lnSpc>
              <a:buFont typeface="Wingdings" panose="05000000000000000000" pitchFamily="2" charset="2"/>
              <a:buNone/>
            </a:pPr>
            <a:r>
              <a:rPr lang="fr-FR" altLang="en-US" sz="2000" b="1" dirty="0"/>
              <a:t>      </a:t>
            </a:r>
            <a:r>
              <a:rPr lang="en-US" altLang="zh-CN" sz="2000" b="1" dirty="0"/>
              <a:t>} </a:t>
            </a:r>
            <a:endParaRPr lang="en-US" altLang="zh-CN" sz="2000" b="1" dirty="0"/>
          </a:p>
          <a:p>
            <a:pPr lvl="1">
              <a:lnSpc>
                <a:spcPct val="80000"/>
              </a:lnSpc>
              <a:buFont typeface="Wingdings" panose="05000000000000000000" pitchFamily="2" charset="2"/>
              <a:buNone/>
            </a:pPr>
            <a:r>
              <a:rPr lang="en-US" altLang="zh-CN" sz="2000" b="1" dirty="0"/>
              <a:t> } </a:t>
            </a:r>
            <a:endParaRPr lang="zh-CN" altLang="en-US" sz="2000" b="1" dirty="0"/>
          </a:p>
        </p:txBody>
      </p:sp>
      <p:grpSp>
        <p:nvGrpSpPr>
          <p:cNvPr id="29" name="组合 28"/>
          <p:cNvGrpSpPr/>
          <p:nvPr/>
        </p:nvGrpSpPr>
        <p:grpSpPr>
          <a:xfrm>
            <a:off x="541437" y="127832"/>
            <a:ext cx="7991003" cy="674160"/>
            <a:chOff x="999690" y="5042189"/>
            <a:chExt cx="8290830" cy="647731"/>
          </a:xfrm>
        </p:grpSpPr>
        <p:sp>
          <p:nvSpPr>
            <p:cNvPr id="30"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1"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32" name="图片 31"/>
            <p:cNvPicPr>
              <a:picLocks noChangeAspect="1"/>
            </p:cNvPicPr>
            <p:nvPr/>
          </p:nvPicPr>
          <p:blipFill>
            <a:blip r:embed="rId1" cstate="print"/>
            <a:stretch>
              <a:fillRect/>
            </a:stretch>
          </p:blipFill>
          <p:spPr>
            <a:xfrm>
              <a:off x="1199659" y="5205012"/>
              <a:ext cx="420013" cy="322083"/>
            </a:xfrm>
            <a:prstGeom prst="rect">
              <a:avLst/>
            </a:prstGeom>
          </p:spPr>
        </p:pic>
      </p:grpSp>
      <p:grpSp>
        <p:nvGrpSpPr>
          <p:cNvPr id="3" name="组合 2"/>
          <p:cNvGrpSpPr/>
          <p:nvPr/>
        </p:nvGrpSpPr>
        <p:grpSpPr>
          <a:xfrm>
            <a:off x="2915816" y="1268760"/>
            <a:ext cx="6088869" cy="3961036"/>
            <a:chOff x="2555776" y="1700213"/>
            <a:chExt cx="6088869" cy="3961036"/>
          </a:xfrm>
        </p:grpSpPr>
        <p:sp>
          <p:nvSpPr>
            <p:cNvPr id="65" name="椭圆 64"/>
            <p:cNvSpPr>
              <a:spLocks noChangeArrowheads="1"/>
            </p:cNvSpPr>
            <p:nvPr/>
          </p:nvSpPr>
          <p:spPr bwMode="auto">
            <a:xfrm>
              <a:off x="3482438" y="1700213"/>
              <a:ext cx="360363" cy="287337"/>
            </a:xfrm>
            <a:prstGeom prst="ellipse">
              <a:avLst/>
            </a:prstGeom>
            <a:solidFill>
              <a:srgbClr val="FFFF00"/>
            </a:solidFill>
            <a:ln w="9525">
              <a:solidFill>
                <a:srgbClr val="000000"/>
              </a:solidFill>
              <a:round/>
            </a:ln>
          </p:spPr>
          <p:txBody>
            <a:bodyPr/>
            <a:lstStyle/>
            <a:p>
              <a:pPr algn="ctr" eaLnBrk="0" hangingPunct="0"/>
              <a:endParaRPr lang="zh-CN" altLang="en-US">
                <a:latin typeface="Times New Roman" panose="02020603050405020304" pitchFamily="18" charset="0"/>
                <a:cs typeface="Times New Roman" panose="02020603050405020304" pitchFamily="18" charset="0"/>
              </a:endParaRPr>
            </a:p>
          </p:txBody>
        </p:sp>
        <p:sp>
          <p:nvSpPr>
            <p:cNvPr id="66" name="矩形 65"/>
            <p:cNvSpPr>
              <a:spLocks noChangeArrowheads="1"/>
            </p:cNvSpPr>
            <p:nvPr/>
          </p:nvSpPr>
          <p:spPr bwMode="auto">
            <a:xfrm>
              <a:off x="3179763" y="2351365"/>
              <a:ext cx="1024639" cy="36933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eaLnBrk="0" hangingPunct="0"/>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a:latin typeface="Times New Roman" panose="02020603050405020304" pitchFamily="18" charset="0"/>
                  <a:ea typeface="宋体" panose="02010600030101010101" pitchFamily="2" charset="-122"/>
                  <a:cs typeface="Times New Roman" panose="02020603050405020304" pitchFamily="18" charset="0"/>
                </a:rPr>
                <a:t>Stack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 name="流程图: 决策 66"/>
            <p:cNvSpPr>
              <a:spLocks noChangeArrowheads="1"/>
            </p:cNvSpPr>
            <p:nvPr/>
          </p:nvSpPr>
          <p:spPr bwMode="auto">
            <a:xfrm>
              <a:off x="2916238" y="3211513"/>
              <a:ext cx="1512887" cy="720725"/>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&gt;0;</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8" name="流程图: 过程 67"/>
            <p:cNvSpPr>
              <a:spLocks noChangeArrowheads="1"/>
            </p:cNvSpPr>
            <p:nvPr/>
          </p:nvSpPr>
          <p:spPr bwMode="auto">
            <a:xfrm>
              <a:off x="2844800" y="4579938"/>
              <a:ext cx="1657350" cy="792162"/>
            </a:xfrm>
            <a:prstGeom prst="flowChartProcess">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.Push</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-1;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 name="流程图: 决策 68"/>
            <p:cNvSpPr>
              <a:spLocks noChangeArrowheads="1"/>
            </p:cNvSpPr>
            <p:nvPr/>
          </p:nvSpPr>
          <p:spPr bwMode="auto">
            <a:xfrm>
              <a:off x="5508626" y="2924175"/>
              <a:ext cx="2453558" cy="720725"/>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zh-CN" altLang="en-US" sz="16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1"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sz="1600" b="1" dirty="0" err="1">
                  <a:latin typeface="Times New Roman" panose="02020603050405020304" pitchFamily="18" charset="0"/>
                  <a:ea typeface="宋体" panose="02010600030101010101" pitchFamily="2" charset="-122"/>
                  <a:cs typeface="Times New Roman" panose="02020603050405020304" pitchFamily="18" charset="0"/>
                </a:rPr>
                <a:t>.Empty</a:t>
              </a: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0" name="流程图: 过程 69"/>
            <p:cNvSpPr>
              <a:spLocks noChangeArrowheads="1"/>
            </p:cNvSpPr>
            <p:nvPr/>
          </p:nvSpPr>
          <p:spPr bwMode="auto">
            <a:xfrm>
              <a:off x="5795963" y="4292600"/>
              <a:ext cx="2089150" cy="720725"/>
            </a:xfrm>
            <a:prstGeom prst="flowChartProcess">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.Pop</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 );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cout</a:t>
              </a:r>
              <a:r>
                <a:rPr lang="en-US" altLang="zh-CN" dirty="0">
                  <a:latin typeface="Times New Roman" panose="02020603050405020304" pitchFamily="18" charset="0"/>
                  <a:ea typeface="宋体" panose="02010600030101010101" pitchFamily="2" charset="-122"/>
                  <a:cs typeface="Times New Roman" panose="02020603050405020304" pitchFamily="18" charset="0"/>
                </a:rPr>
                <a:t> &lt;&lt;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1" name="直接连接符 70"/>
            <p:cNvSpPr>
              <a:spLocks noChangeShapeType="1"/>
            </p:cNvSpPr>
            <p:nvPr/>
          </p:nvSpPr>
          <p:spPr bwMode="auto">
            <a:xfrm>
              <a:off x="3665538" y="1987550"/>
              <a:ext cx="0" cy="3603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2" name="直接连接符 71"/>
            <p:cNvSpPr>
              <a:spLocks noChangeShapeType="1"/>
            </p:cNvSpPr>
            <p:nvPr/>
          </p:nvSpPr>
          <p:spPr bwMode="auto">
            <a:xfrm>
              <a:off x="3665538" y="2727325"/>
              <a:ext cx="0" cy="50323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3" name="直接连接符 72"/>
            <p:cNvSpPr>
              <a:spLocks noChangeShapeType="1"/>
            </p:cNvSpPr>
            <p:nvPr/>
          </p:nvSpPr>
          <p:spPr bwMode="auto">
            <a:xfrm>
              <a:off x="3679825" y="3932238"/>
              <a:ext cx="0" cy="6477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4" name="直接连接符 73"/>
            <p:cNvSpPr>
              <a:spLocks noChangeShapeType="1"/>
            </p:cNvSpPr>
            <p:nvPr/>
          </p:nvSpPr>
          <p:spPr bwMode="auto">
            <a:xfrm>
              <a:off x="4429125" y="3571875"/>
              <a:ext cx="2873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5" name="直接连接符 74"/>
            <p:cNvSpPr>
              <a:spLocks noChangeShapeType="1"/>
            </p:cNvSpPr>
            <p:nvPr/>
          </p:nvSpPr>
          <p:spPr bwMode="auto">
            <a:xfrm flipV="1">
              <a:off x="4716463" y="2419350"/>
              <a:ext cx="0" cy="11525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6" name="直接连接符 75"/>
            <p:cNvSpPr>
              <a:spLocks noChangeShapeType="1"/>
            </p:cNvSpPr>
            <p:nvPr/>
          </p:nvSpPr>
          <p:spPr bwMode="auto">
            <a:xfrm>
              <a:off x="4716463" y="2419350"/>
              <a:ext cx="208756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7" name="直接连接符 76"/>
            <p:cNvSpPr>
              <a:spLocks noChangeShapeType="1"/>
            </p:cNvSpPr>
            <p:nvPr/>
          </p:nvSpPr>
          <p:spPr bwMode="auto">
            <a:xfrm>
              <a:off x="6804025" y="2419350"/>
              <a:ext cx="0" cy="5048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8" name="直接连接符 77"/>
            <p:cNvSpPr>
              <a:spLocks noChangeShapeType="1"/>
            </p:cNvSpPr>
            <p:nvPr/>
          </p:nvSpPr>
          <p:spPr bwMode="auto">
            <a:xfrm>
              <a:off x="6877050" y="3643313"/>
              <a:ext cx="0" cy="64928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9" name="矩形 78"/>
            <p:cNvSpPr>
              <a:spLocks noChangeArrowheads="1"/>
            </p:cNvSpPr>
            <p:nvPr/>
          </p:nvSpPr>
          <p:spPr bwMode="auto">
            <a:xfrm>
              <a:off x="4284663" y="3140075"/>
              <a:ext cx="4318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N</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80" name="矩形 79"/>
            <p:cNvSpPr>
              <a:spLocks noChangeArrowheads="1"/>
            </p:cNvSpPr>
            <p:nvPr/>
          </p:nvSpPr>
          <p:spPr bwMode="auto">
            <a:xfrm>
              <a:off x="3708400" y="4076700"/>
              <a:ext cx="433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Y</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81" name="矩形 80"/>
            <p:cNvSpPr>
              <a:spLocks noChangeArrowheads="1"/>
            </p:cNvSpPr>
            <p:nvPr/>
          </p:nvSpPr>
          <p:spPr bwMode="auto">
            <a:xfrm>
              <a:off x="3563938" y="2779713"/>
              <a:ext cx="6477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0</a:t>
              </a:r>
              <a:endParaRPr lang="en-US" altLang="zh-CN"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2" name="矩形 81"/>
            <p:cNvSpPr>
              <a:spLocks noChangeArrowheads="1"/>
            </p:cNvSpPr>
            <p:nvPr/>
          </p:nvSpPr>
          <p:spPr bwMode="auto">
            <a:xfrm>
              <a:off x="6445250" y="3787775"/>
              <a:ext cx="4318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N</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83" name="矩形 82"/>
            <p:cNvSpPr>
              <a:spLocks noChangeArrowheads="1"/>
            </p:cNvSpPr>
            <p:nvPr/>
          </p:nvSpPr>
          <p:spPr bwMode="auto">
            <a:xfrm>
              <a:off x="7863742" y="2924175"/>
              <a:ext cx="433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dirty="0">
                  <a:latin typeface="Times New Roman" panose="02020603050405020304" pitchFamily="18" charset="0"/>
                  <a:ea typeface="宋体" panose="02010600030101010101" pitchFamily="2" charset="-122"/>
                  <a:cs typeface="Times New Roman" panose="02020603050405020304" pitchFamily="18" charset="0"/>
                </a:rPr>
                <a:t>Y</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4" name="椭圆 83"/>
            <p:cNvSpPr>
              <a:spLocks noChangeArrowheads="1"/>
            </p:cNvSpPr>
            <p:nvPr/>
          </p:nvSpPr>
          <p:spPr bwMode="auto">
            <a:xfrm>
              <a:off x="8285870" y="3141663"/>
              <a:ext cx="358775" cy="287337"/>
            </a:xfrm>
            <a:prstGeom prst="ellipse">
              <a:avLst/>
            </a:prstGeom>
            <a:solidFill>
              <a:srgbClr val="FFFF00"/>
            </a:solidFill>
            <a:ln w="9525">
              <a:solidFill>
                <a:srgbClr val="000000"/>
              </a:solidFill>
              <a:round/>
            </a:ln>
          </p:spPr>
          <p:txBody>
            <a:bodyPr/>
            <a:lstStyle/>
            <a:p>
              <a:pPr algn="ctr" eaLnBrk="0" hangingPunct="0"/>
              <a:endParaRPr lang="zh-CN" altLang="en-US">
                <a:latin typeface="Times New Roman" panose="02020603050405020304" pitchFamily="18" charset="0"/>
                <a:cs typeface="Times New Roman" panose="02020603050405020304" pitchFamily="18" charset="0"/>
              </a:endParaRPr>
            </a:p>
          </p:txBody>
        </p:sp>
        <p:sp>
          <p:nvSpPr>
            <p:cNvPr id="85" name="直接连接符 84"/>
            <p:cNvSpPr>
              <a:spLocks noChangeShapeType="1"/>
            </p:cNvSpPr>
            <p:nvPr/>
          </p:nvSpPr>
          <p:spPr bwMode="auto">
            <a:xfrm>
              <a:off x="7927966" y="3284538"/>
              <a:ext cx="35877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nvGrpSpPr>
            <p:cNvPr id="86" name="组合 85"/>
            <p:cNvGrpSpPr/>
            <p:nvPr/>
          </p:nvGrpSpPr>
          <p:grpSpPr>
            <a:xfrm>
              <a:off x="2555776" y="2922365"/>
              <a:ext cx="1152624" cy="2738884"/>
              <a:chOff x="2555776" y="2922365"/>
              <a:chExt cx="1152624" cy="2738884"/>
            </a:xfrm>
          </p:grpSpPr>
          <p:cxnSp>
            <p:nvCxnSpPr>
              <p:cNvPr id="87" name="直接连接符 86"/>
              <p:cNvCxnSpPr/>
              <p:nvPr/>
            </p:nvCxnSpPr>
            <p:spPr>
              <a:xfrm>
                <a:off x="3708400" y="5373216"/>
                <a:ext cx="0" cy="2880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2555776" y="5661248"/>
                <a:ext cx="11526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V="1">
                <a:off x="2555776" y="2924175"/>
                <a:ext cx="0" cy="2737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2555776" y="2922365"/>
                <a:ext cx="1109762" cy="0"/>
              </a:xfrm>
              <a:prstGeom prst="line">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grpSp>
          <p:nvGrpSpPr>
            <p:cNvPr id="91" name="组合 90"/>
            <p:cNvGrpSpPr/>
            <p:nvPr/>
          </p:nvGrpSpPr>
          <p:grpSpPr>
            <a:xfrm>
              <a:off x="5346016" y="2669952"/>
              <a:ext cx="1746264" cy="2738884"/>
              <a:chOff x="5346016" y="2669952"/>
              <a:chExt cx="1746264" cy="2738884"/>
            </a:xfrm>
          </p:grpSpPr>
          <p:grpSp>
            <p:nvGrpSpPr>
              <p:cNvPr id="92" name="组合 91"/>
              <p:cNvGrpSpPr/>
              <p:nvPr/>
            </p:nvGrpSpPr>
            <p:grpSpPr>
              <a:xfrm>
                <a:off x="5346016" y="2669952"/>
                <a:ext cx="1746264" cy="2738884"/>
                <a:chOff x="2555776" y="2922365"/>
                <a:chExt cx="1325979" cy="2738884"/>
              </a:xfrm>
            </p:grpSpPr>
            <p:cxnSp>
              <p:nvCxnSpPr>
                <p:cNvPr id="94" name="直接连接符 93"/>
                <p:cNvCxnSpPr/>
                <p:nvPr/>
              </p:nvCxnSpPr>
              <p:spPr>
                <a:xfrm flipH="1" flipV="1">
                  <a:off x="2555776" y="5661248"/>
                  <a:ext cx="132597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V="1">
                  <a:off x="2555776" y="2924175"/>
                  <a:ext cx="0" cy="2737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a:off x="2555776" y="2922365"/>
                  <a:ext cx="1109762" cy="0"/>
                </a:xfrm>
                <a:prstGeom prst="line">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cxnSp>
            <p:nvCxnSpPr>
              <p:cNvPr id="93" name="直接连接符 92"/>
              <p:cNvCxnSpPr/>
              <p:nvPr/>
            </p:nvCxnSpPr>
            <p:spPr>
              <a:xfrm flipV="1">
                <a:off x="7092280" y="5013326"/>
                <a:ext cx="0" cy="3955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Effect transition="in" filter="blinds(horizontal)">
                                      <p:cBhvr>
                                        <p:cTn id="7" dur="500"/>
                                        <p:tgtEl>
                                          <p:spTgt spid="307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723">
                                            <p:txEl>
                                              <p:pRg st="1" end="1"/>
                                            </p:txEl>
                                          </p:spTgt>
                                        </p:tgtEl>
                                        <p:attrNameLst>
                                          <p:attrName>style.visibility</p:attrName>
                                        </p:attrNameLst>
                                      </p:cBhvr>
                                      <p:to>
                                        <p:strVal val="visible"/>
                                      </p:to>
                                    </p:set>
                                    <p:animEffect transition="in" filter="blinds(horizontal)">
                                      <p:cBhvr>
                                        <p:cTn id="12" dur="500"/>
                                        <p:tgtEl>
                                          <p:spTgt spid="307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0723">
                                            <p:txEl>
                                              <p:pRg st="2" end="2"/>
                                            </p:txEl>
                                          </p:spTgt>
                                        </p:tgtEl>
                                        <p:attrNameLst>
                                          <p:attrName>style.visibility</p:attrName>
                                        </p:attrNameLst>
                                      </p:cBhvr>
                                      <p:to>
                                        <p:strVal val="visible"/>
                                      </p:to>
                                    </p:set>
                                    <p:animEffect transition="in" filter="blinds(horizontal)">
                                      <p:cBhvr>
                                        <p:cTn id="17" dur="500"/>
                                        <p:tgtEl>
                                          <p:spTgt spid="307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0723">
                                            <p:txEl>
                                              <p:pRg st="3" end="3"/>
                                            </p:txEl>
                                          </p:spTgt>
                                        </p:tgtEl>
                                        <p:attrNameLst>
                                          <p:attrName>style.visibility</p:attrName>
                                        </p:attrNameLst>
                                      </p:cBhvr>
                                      <p:to>
                                        <p:strVal val="visible"/>
                                      </p:to>
                                    </p:set>
                                    <p:animEffect transition="in" filter="blinds(horizontal)">
                                      <p:cBhvr>
                                        <p:cTn id="22" dur="500"/>
                                        <p:tgtEl>
                                          <p:spTgt spid="307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0723">
                                            <p:txEl>
                                              <p:pRg st="4" end="4"/>
                                            </p:txEl>
                                          </p:spTgt>
                                        </p:tgtEl>
                                        <p:attrNameLst>
                                          <p:attrName>style.visibility</p:attrName>
                                        </p:attrNameLst>
                                      </p:cBhvr>
                                      <p:to>
                                        <p:strVal val="visible"/>
                                      </p:to>
                                    </p:set>
                                    <p:animEffect transition="in" filter="blinds(horizontal)">
                                      <p:cBhvr>
                                        <p:cTn id="27" dur="500"/>
                                        <p:tgtEl>
                                          <p:spTgt spid="3072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0723">
                                            <p:txEl>
                                              <p:pRg st="5" end="5"/>
                                            </p:txEl>
                                          </p:spTgt>
                                        </p:tgtEl>
                                        <p:attrNameLst>
                                          <p:attrName>style.visibility</p:attrName>
                                        </p:attrNameLst>
                                      </p:cBhvr>
                                      <p:to>
                                        <p:strVal val="visible"/>
                                      </p:to>
                                    </p:set>
                                    <p:animEffect transition="in" filter="blinds(horizontal)">
                                      <p:cBhvr>
                                        <p:cTn id="32" dur="500"/>
                                        <p:tgtEl>
                                          <p:spTgt spid="3072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0723">
                                            <p:txEl>
                                              <p:pRg st="6" end="6"/>
                                            </p:txEl>
                                          </p:spTgt>
                                        </p:tgtEl>
                                        <p:attrNameLst>
                                          <p:attrName>style.visibility</p:attrName>
                                        </p:attrNameLst>
                                      </p:cBhvr>
                                      <p:to>
                                        <p:strVal val="visible"/>
                                      </p:to>
                                    </p:set>
                                    <p:animEffect transition="in" filter="blinds(horizontal)">
                                      <p:cBhvr>
                                        <p:cTn id="37" dur="500"/>
                                        <p:tgtEl>
                                          <p:spTgt spid="3072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0723">
                                            <p:txEl>
                                              <p:pRg st="7" end="7"/>
                                            </p:txEl>
                                          </p:spTgt>
                                        </p:tgtEl>
                                        <p:attrNameLst>
                                          <p:attrName>style.visibility</p:attrName>
                                        </p:attrNameLst>
                                      </p:cBhvr>
                                      <p:to>
                                        <p:strVal val="visible"/>
                                      </p:to>
                                    </p:set>
                                    <p:animEffect transition="in" filter="blinds(horizontal)">
                                      <p:cBhvr>
                                        <p:cTn id="42" dur="500"/>
                                        <p:tgtEl>
                                          <p:spTgt spid="3072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0723">
                                            <p:txEl>
                                              <p:pRg st="8" end="8"/>
                                            </p:txEl>
                                          </p:spTgt>
                                        </p:tgtEl>
                                        <p:attrNameLst>
                                          <p:attrName>style.visibility</p:attrName>
                                        </p:attrNameLst>
                                      </p:cBhvr>
                                      <p:to>
                                        <p:strVal val="visible"/>
                                      </p:to>
                                    </p:set>
                                    <p:animEffect transition="in" filter="blinds(horizontal)">
                                      <p:cBhvr>
                                        <p:cTn id="47" dur="500"/>
                                        <p:tgtEl>
                                          <p:spTgt spid="3072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0723">
                                            <p:txEl>
                                              <p:pRg st="9" end="9"/>
                                            </p:txEl>
                                          </p:spTgt>
                                        </p:tgtEl>
                                        <p:attrNameLst>
                                          <p:attrName>style.visibility</p:attrName>
                                        </p:attrNameLst>
                                      </p:cBhvr>
                                      <p:to>
                                        <p:strVal val="visible"/>
                                      </p:to>
                                    </p:set>
                                    <p:animEffect transition="in" filter="blinds(horizontal)">
                                      <p:cBhvr>
                                        <p:cTn id="52" dur="500"/>
                                        <p:tgtEl>
                                          <p:spTgt spid="3072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0723">
                                            <p:txEl>
                                              <p:pRg st="10" end="10"/>
                                            </p:txEl>
                                          </p:spTgt>
                                        </p:tgtEl>
                                        <p:attrNameLst>
                                          <p:attrName>style.visibility</p:attrName>
                                        </p:attrNameLst>
                                      </p:cBhvr>
                                      <p:to>
                                        <p:strVal val="visible"/>
                                      </p:to>
                                    </p:set>
                                    <p:animEffect transition="in" filter="blinds(horizontal)">
                                      <p:cBhvr>
                                        <p:cTn id="57" dur="500"/>
                                        <p:tgtEl>
                                          <p:spTgt spid="3072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0723">
                                            <p:txEl>
                                              <p:pRg st="11" end="11"/>
                                            </p:txEl>
                                          </p:spTgt>
                                        </p:tgtEl>
                                        <p:attrNameLst>
                                          <p:attrName>style.visibility</p:attrName>
                                        </p:attrNameLst>
                                      </p:cBhvr>
                                      <p:to>
                                        <p:strVal val="visible"/>
                                      </p:to>
                                    </p:set>
                                    <p:animEffect transition="in" filter="blinds(horizontal)">
                                      <p:cBhvr>
                                        <p:cTn id="62" dur="500"/>
                                        <p:tgtEl>
                                          <p:spTgt spid="3072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0723">
                                            <p:txEl>
                                              <p:pRg st="12" end="12"/>
                                            </p:txEl>
                                          </p:spTgt>
                                        </p:tgtEl>
                                        <p:attrNameLst>
                                          <p:attrName>style.visibility</p:attrName>
                                        </p:attrNameLst>
                                      </p:cBhvr>
                                      <p:to>
                                        <p:strVal val="visible"/>
                                      </p:to>
                                    </p:set>
                                    <p:animEffect transition="in" filter="blinds(horizontal)">
                                      <p:cBhvr>
                                        <p:cTn id="67" dur="500"/>
                                        <p:tgtEl>
                                          <p:spTgt spid="3072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30723">
                                            <p:txEl>
                                              <p:pRg st="13" end="13"/>
                                            </p:txEl>
                                          </p:spTgt>
                                        </p:tgtEl>
                                        <p:attrNameLst>
                                          <p:attrName>style.visibility</p:attrName>
                                        </p:attrNameLst>
                                      </p:cBhvr>
                                      <p:to>
                                        <p:strVal val="visible"/>
                                      </p:to>
                                    </p:set>
                                    <p:animEffect transition="in" filter="blinds(horizontal)">
                                      <p:cBhvr>
                                        <p:cTn id="72" dur="500"/>
                                        <p:tgtEl>
                                          <p:spTgt spid="3072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30723">
                                            <p:txEl>
                                              <p:pRg st="14" end="14"/>
                                            </p:txEl>
                                          </p:spTgt>
                                        </p:tgtEl>
                                        <p:attrNameLst>
                                          <p:attrName>style.visibility</p:attrName>
                                        </p:attrNameLst>
                                      </p:cBhvr>
                                      <p:to>
                                        <p:strVal val="visible"/>
                                      </p:to>
                                    </p:set>
                                    <p:animEffect transition="in" filter="blinds(horizontal)">
                                      <p:cBhvr>
                                        <p:cTn id="77" dur="500"/>
                                        <p:tgtEl>
                                          <p:spTgt spid="3072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内容占位符 31746"/>
          <p:cNvSpPr>
            <a:spLocks noGrp="1" noChangeArrowheads="1"/>
          </p:cNvSpPr>
          <p:nvPr>
            <p:ph idx="1"/>
          </p:nvPr>
        </p:nvSpPr>
        <p:spPr>
          <a:xfrm>
            <a:off x="457200" y="1016749"/>
            <a:ext cx="8229600" cy="4678451"/>
          </a:xfrm>
        </p:spPr>
        <p:txBody>
          <a:bodyPr/>
          <a:lstStyle/>
          <a:p>
            <a:pPr>
              <a:buClr>
                <a:srgbClr val="FF0000"/>
              </a:buClr>
              <a:buFont typeface="Wingdings" panose="05000000000000000000" pitchFamily="2" charset="2"/>
              <a:buChar char="ü"/>
            </a:pPr>
            <a:r>
              <a:rPr lang="zh-CN" altLang="en-US" sz="2400" b="1" dirty="0"/>
              <a:t>例：将下面递归程序转换为等价的非递归程序。</a:t>
            </a:r>
            <a:endParaRPr lang="zh-CN" altLang="en-US" sz="2400" b="1" dirty="0"/>
          </a:p>
          <a:p>
            <a:pPr lvl="2">
              <a:buFont typeface="Wingdings" panose="05000000000000000000" pitchFamily="2" charset="2"/>
              <a:buNone/>
            </a:pPr>
            <a:r>
              <a:rPr lang="en-US" altLang="zh-CN" sz="2000" b="1" dirty="0">
                <a:solidFill>
                  <a:srgbClr val="0000FF"/>
                </a:solidFill>
              </a:rPr>
              <a:t>void</a:t>
            </a:r>
            <a:r>
              <a:rPr lang="en-US" altLang="zh-CN" sz="2000" b="1" dirty="0"/>
              <a:t>  P(</a:t>
            </a:r>
            <a:r>
              <a:rPr lang="en-US" altLang="zh-CN" sz="2000" b="1" dirty="0" err="1">
                <a:solidFill>
                  <a:srgbClr val="0000FF"/>
                </a:solidFill>
              </a:rPr>
              <a:t>int</a:t>
            </a:r>
            <a:r>
              <a:rPr lang="en-US" altLang="zh-CN" sz="2000" b="1" dirty="0"/>
              <a:t> </a:t>
            </a:r>
            <a:r>
              <a:rPr lang="en-US" altLang="zh-CN" sz="2000" b="1" i="1" dirty="0"/>
              <a:t>n</a:t>
            </a:r>
            <a:r>
              <a:rPr lang="en-US" altLang="zh-CN" sz="2000" b="1" dirty="0"/>
              <a:t> ){</a:t>
            </a:r>
            <a:endParaRPr lang="en-US" altLang="zh-CN" sz="2000" b="1" dirty="0"/>
          </a:p>
          <a:p>
            <a:pPr lvl="2">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 ( </a:t>
            </a:r>
            <a:r>
              <a:rPr lang="en-US" altLang="zh-CN" sz="2000" b="1" i="1" dirty="0"/>
              <a:t>n</a:t>
            </a:r>
            <a:r>
              <a:rPr lang="en-US" altLang="zh-CN" sz="2000" b="1" dirty="0"/>
              <a:t> &gt; 0 ){</a:t>
            </a:r>
            <a:endParaRPr lang="en-US" altLang="zh-CN" sz="2000" b="1" dirty="0"/>
          </a:p>
          <a:p>
            <a:pPr lvl="2">
              <a:buFont typeface="Wingdings" panose="05000000000000000000" pitchFamily="2" charset="2"/>
              <a:buNone/>
            </a:pPr>
            <a:r>
              <a:rPr lang="en-US" altLang="zh-CN" sz="2000" b="1" dirty="0"/>
              <a:t>         </a:t>
            </a:r>
            <a:r>
              <a:rPr lang="en-US" altLang="zh-CN" sz="2000" b="1" dirty="0" err="1">
                <a:solidFill>
                  <a:srgbClr val="0000FF"/>
                </a:solidFill>
              </a:rPr>
              <a:t>cout</a:t>
            </a:r>
            <a:r>
              <a:rPr lang="en-US" altLang="zh-CN" sz="2000" b="1" dirty="0"/>
              <a:t> &lt;&lt; </a:t>
            </a:r>
            <a:r>
              <a:rPr lang="en-US" altLang="zh-CN" sz="2000" b="1" i="1" dirty="0"/>
              <a:t>n</a:t>
            </a:r>
            <a:r>
              <a:rPr lang="en-US" altLang="zh-CN" sz="2000" b="1" dirty="0"/>
              <a:t>;</a:t>
            </a:r>
            <a:endParaRPr lang="en-US" altLang="zh-CN" sz="2000" b="1" dirty="0"/>
          </a:p>
          <a:p>
            <a:pPr lvl="2">
              <a:buFont typeface="Wingdings" panose="05000000000000000000" pitchFamily="2" charset="2"/>
              <a:buNone/>
            </a:pPr>
            <a:r>
              <a:rPr lang="en-US" altLang="zh-CN" sz="2000" b="1" dirty="0"/>
              <a:t>         P( </a:t>
            </a:r>
            <a:r>
              <a:rPr lang="en-US" altLang="zh-CN" sz="2000" b="1" i="1" dirty="0"/>
              <a:t>n</a:t>
            </a:r>
            <a:r>
              <a:rPr lang="en-US" altLang="zh-CN" sz="2000" b="1" dirty="0"/>
              <a:t> – 1 );</a:t>
            </a:r>
            <a:endParaRPr lang="en-US" altLang="zh-CN" sz="2000" b="1" dirty="0"/>
          </a:p>
          <a:p>
            <a:pPr lvl="2">
              <a:buFont typeface="Wingdings" panose="05000000000000000000" pitchFamily="2" charset="2"/>
              <a:buNone/>
            </a:pPr>
            <a:r>
              <a:rPr lang="en-US" altLang="zh-CN" sz="2000" b="1" dirty="0"/>
              <a:t>      }</a:t>
            </a:r>
            <a:endParaRPr lang="en-US" altLang="zh-CN" sz="2000" b="1" dirty="0"/>
          </a:p>
          <a:p>
            <a:pPr lvl="2">
              <a:buFont typeface="Wingdings" panose="05000000000000000000" pitchFamily="2" charset="2"/>
              <a:buNone/>
            </a:pPr>
            <a:r>
              <a:rPr lang="en-US" altLang="zh-CN" sz="2000" b="1" dirty="0"/>
              <a:t> } </a:t>
            </a:r>
            <a:endParaRPr lang="en-US" altLang="zh-CN" sz="2000" b="1" dirty="0"/>
          </a:p>
          <a:p>
            <a:pPr lvl="2">
              <a:buFont typeface="Wingdings" panose="05000000000000000000" pitchFamily="2" charset="2"/>
              <a:buNone/>
            </a:pPr>
            <a:endParaRPr lang="en-US" altLang="zh-CN" sz="2000" b="1" dirty="0"/>
          </a:p>
          <a:p>
            <a:pPr>
              <a:buFont typeface="Wingdings" panose="05000000000000000000" pitchFamily="2" charset="2"/>
              <a:buNone/>
            </a:pPr>
            <a:r>
              <a:rPr lang="zh-CN" altLang="en-US" sz="2000" b="1" dirty="0"/>
              <a:t>解</a:t>
            </a:r>
            <a:r>
              <a:rPr lang="en-US" altLang="zh-CN" sz="2000" b="1" dirty="0"/>
              <a:t>: </a:t>
            </a:r>
            <a:r>
              <a:rPr lang="zh-CN" altLang="en-US" sz="2000" b="1" dirty="0"/>
              <a:t>按转换规则及简化规则</a:t>
            </a:r>
            <a:endParaRPr lang="zh-CN" altLang="en-US" sz="2000" b="1" dirty="0"/>
          </a:p>
          <a:p>
            <a:pPr>
              <a:buFont typeface="Wingdings" panose="05000000000000000000" pitchFamily="2" charset="2"/>
              <a:buNone/>
            </a:pPr>
            <a:r>
              <a:rPr lang="zh-CN" altLang="en-US" sz="2000" b="1" dirty="0"/>
              <a:t>      进行转换细节不再赘述，</a:t>
            </a:r>
            <a:endParaRPr lang="zh-CN" altLang="en-US" sz="2000" b="1" dirty="0"/>
          </a:p>
          <a:p>
            <a:pPr>
              <a:buFont typeface="Wingdings" panose="05000000000000000000" pitchFamily="2" charset="2"/>
              <a:buNone/>
            </a:pPr>
            <a:r>
              <a:rPr lang="zh-CN" altLang="en-US" sz="2000" b="1" dirty="0"/>
              <a:t>      结果如右图所式</a:t>
            </a:r>
            <a:r>
              <a:rPr lang="en-US" altLang="zh-CN" sz="2000" b="1" dirty="0"/>
              <a:t>:</a:t>
            </a:r>
            <a:endParaRPr lang="en-US" altLang="zh-CN" sz="2000" b="1" dirty="0"/>
          </a:p>
          <a:p>
            <a:pPr lvl="2">
              <a:buFont typeface="Wingdings" panose="05000000000000000000" pitchFamily="2" charset="2"/>
              <a:buNone/>
            </a:pPr>
            <a:r>
              <a:rPr lang="zh-CN" altLang="en-US" sz="1800" dirty="0"/>
              <a:t>  </a:t>
            </a:r>
            <a:endParaRPr lang="zh-CN" altLang="en-US" sz="1800" dirty="0"/>
          </a:p>
        </p:txBody>
      </p:sp>
      <p:sp>
        <p:nvSpPr>
          <p:cNvPr id="31748" name="矩形 31747"/>
          <p:cNvSpPr>
            <a:spLocks noChangeArrowheads="1"/>
          </p:cNvSpPr>
          <p:nvPr/>
        </p:nvSpPr>
        <p:spPr bwMode="auto">
          <a:xfrm>
            <a:off x="3779838" y="1557338"/>
            <a:ext cx="5184775" cy="489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Times New Roman" panose="02020603050405020304" pitchFamily="18" charset="0"/>
                <a:ea typeface="楷体_GB2312" pitchFamily="49" charset="-122"/>
              </a:defRPr>
            </a:lvl1pPr>
            <a:lvl2pPr>
              <a:defRPr>
                <a:solidFill>
                  <a:schemeClr val="tx1"/>
                </a:solidFill>
                <a:latin typeface="Times New Roman" panose="02020603050405020304" pitchFamily="18" charset="0"/>
                <a:ea typeface="楷体_GB2312" pitchFamily="49" charset="-122"/>
              </a:defRPr>
            </a:lvl2pPr>
            <a:lvl3pPr>
              <a:defRPr>
                <a:solidFill>
                  <a:schemeClr val="tx1"/>
                </a:solidFill>
                <a:latin typeface="Times New Roman" panose="02020603050405020304" pitchFamily="18" charset="0"/>
                <a:ea typeface="楷体_GB2312" pitchFamily="49" charset="-122"/>
              </a:defRPr>
            </a:lvl3pPr>
            <a:lvl4pPr>
              <a:defRPr>
                <a:solidFill>
                  <a:schemeClr val="tx1"/>
                </a:solidFill>
                <a:latin typeface="Times New Roman" panose="02020603050405020304" pitchFamily="18" charset="0"/>
                <a:ea typeface="楷体_GB2312" pitchFamily="49" charset="-122"/>
              </a:defRPr>
            </a:lvl4pPr>
            <a:lvl5pPr>
              <a:defRPr>
                <a:solidFill>
                  <a:schemeClr val="tx1"/>
                </a:solidFill>
                <a:latin typeface="Times New Roman" panose="02020603050405020304" pitchFamily="18" charset="0"/>
                <a:ea typeface="楷体_GB2312" pitchFamily="49"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9pPr>
          </a:lstStyle>
          <a:p>
            <a:pPr>
              <a:spcBef>
                <a:spcPct val="20000"/>
              </a:spcBef>
              <a:buClr>
                <a:schemeClr val="accent2"/>
              </a:buClr>
              <a:buFont typeface="Wingdings" panose="05000000000000000000" pitchFamily="2" charset="2"/>
              <a:buNone/>
            </a:pPr>
            <a:r>
              <a:rPr lang="en-US" altLang="zh-CN" b="1" dirty="0">
                <a:solidFill>
                  <a:srgbClr val="0000FF"/>
                </a:solidFill>
              </a:rPr>
              <a:t>void</a:t>
            </a:r>
            <a:r>
              <a:rPr lang="en-US" altLang="zh-CN" b="1" dirty="0"/>
              <a:t>  PE(</a:t>
            </a:r>
            <a:r>
              <a:rPr lang="en-US" altLang="zh-CN" b="1" i="1" dirty="0" err="1"/>
              <a:t>int</a:t>
            </a:r>
            <a:r>
              <a:rPr lang="en-US" altLang="zh-CN" b="1" dirty="0"/>
              <a:t> </a:t>
            </a:r>
            <a:r>
              <a:rPr lang="en-US" altLang="zh-CN" b="1" i="1" dirty="0"/>
              <a:t>n</a:t>
            </a:r>
            <a:r>
              <a:rPr lang="en-US" altLang="zh-CN" b="1" dirty="0"/>
              <a:t>)</a:t>
            </a:r>
            <a:endParaRPr lang="en-US" altLang="zh-CN" b="1" dirty="0"/>
          </a:p>
          <a:p>
            <a:pPr>
              <a:spcBef>
                <a:spcPct val="20000"/>
              </a:spcBef>
              <a:buClr>
                <a:schemeClr val="accent2"/>
              </a:buClr>
              <a:buFont typeface="Wingdings" panose="05000000000000000000" pitchFamily="2" charset="2"/>
              <a:buNone/>
            </a:pPr>
            <a:r>
              <a:rPr lang="en-US" altLang="zh-CN" b="1" dirty="0"/>
              <a:t>      {   Stack </a:t>
            </a:r>
            <a:r>
              <a:rPr lang="en-US" altLang="zh-CN" b="1" i="1" dirty="0"/>
              <a:t>s</a:t>
            </a:r>
            <a:r>
              <a:rPr lang="en-US" altLang="zh-CN" b="1" dirty="0"/>
              <a:t>;                   // </a:t>
            </a:r>
            <a:r>
              <a:rPr lang="zh-CN" altLang="en-US" b="1" dirty="0"/>
              <a:t>规则</a:t>
            </a:r>
            <a:r>
              <a:rPr lang="en-US" altLang="zh-CN" b="1" dirty="0"/>
              <a:t>1</a:t>
            </a:r>
            <a:endParaRPr lang="en-US" altLang="zh-CN" b="1" dirty="0"/>
          </a:p>
          <a:p>
            <a:pPr>
              <a:spcBef>
                <a:spcPct val="20000"/>
              </a:spcBef>
              <a:buClr>
                <a:schemeClr val="accent2"/>
              </a:buClr>
              <a:buFont typeface="Wingdings" panose="05000000000000000000" pitchFamily="2" charset="2"/>
              <a:buNone/>
            </a:pPr>
            <a:r>
              <a:rPr lang="en-US" altLang="zh-CN" b="1" dirty="0"/>
              <a:t>          </a:t>
            </a:r>
            <a:r>
              <a:rPr lang="en-US" altLang="zh-CN" b="1" i="1" dirty="0"/>
              <a:t>L</a:t>
            </a:r>
            <a:r>
              <a:rPr lang="en-US" altLang="zh-CN" b="1" baseline="-25000" dirty="0"/>
              <a:t>0</a:t>
            </a:r>
            <a:r>
              <a:rPr lang="en-US" altLang="zh-CN" b="1" dirty="0"/>
              <a:t>:                              // </a:t>
            </a:r>
            <a:r>
              <a:rPr lang="zh-CN" altLang="en-US" b="1" dirty="0"/>
              <a:t>规则</a:t>
            </a:r>
            <a:r>
              <a:rPr lang="en-US" altLang="zh-CN" b="1" dirty="0"/>
              <a:t>2 </a:t>
            </a:r>
            <a:endParaRPr lang="en-US" altLang="zh-CN" b="1" dirty="0"/>
          </a:p>
          <a:p>
            <a:pPr>
              <a:spcBef>
                <a:spcPct val="20000"/>
              </a:spcBef>
              <a:buClr>
                <a:schemeClr val="accent2"/>
              </a:buClr>
              <a:buFont typeface="Wingdings" panose="05000000000000000000" pitchFamily="2" charset="2"/>
              <a:buNone/>
            </a:pPr>
            <a:r>
              <a:rPr lang="en-US" altLang="zh-CN" b="1" dirty="0"/>
              <a:t>            </a:t>
            </a:r>
            <a:r>
              <a:rPr lang="en-US" altLang="zh-CN" b="1" dirty="0">
                <a:solidFill>
                  <a:srgbClr val="0000FF"/>
                </a:solidFill>
              </a:rPr>
              <a:t>if</a:t>
            </a:r>
            <a:r>
              <a:rPr lang="en-US" altLang="zh-CN" b="1" dirty="0"/>
              <a:t> (</a:t>
            </a:r>
            <a:r>
              <a:rPr lang="en-US" altLang="zh-CN" b="1" i="1" dirty="0"/>
              <a:t>n</a:t>
            </a:r>
            <a:r>
              <a:rPr lang="en-US" altLang="zh-CN" b="1" dirty="0"/>
              <a:t>&gt;0 )                      // </a:t>
            </a:r>
            <a:r>
              <a:rPr lang="zh-CN" altLang="en-US" b="1" dirty="0"/>
              <a:t>规则</a:t>
            </a:r>
            <a:r>
              <a:rPr lang="en-US" altLang="zh-CN" b="1" dirty="0"/>
              <a:t>5</a:t>
            </a:r>
            <a:endParaRPr lang="en-US" altLang="zh-CN" b="1" dirty="0"/>
          </a:p>
          <a:p>
            <a:pPr>
              <a:spcBef>
                <a:spcPct val="20000"/>
              </a:spcBef>
              <a:buClr>
                <a:schemeClr val="accent2"/>
              </a:buClr>
              <a:buFont typeface="Wingdings" panose="05000000000000000000" pitchFamily="2" charset="2"/>
              <a:buNone/>
            </a:pPr>
            <a:r>
              <a:rPr lang="en-US" altLang="zh-CN" b="1" dirty="0"/>
              <a:t>              {   </a:t>
            </a:r>
            <a:r>
              <a:rPr lang="en-US" altLang="zh-CN" b="1" dirty="0" err="1"/>
              <a:t>cout</a:t>
            </a:r>
            <a:r>
              <a:rPr lang="en-US" altLang="zh-CN" b="1" dirty="0"/>
              <a:t>&lt;&lt;</a:t>
            </a:r>
            <a:r>
              <a:rPr lang="en-US" altLang="zh-CN" b="1" i="1" dirty="0"/>
              <a:t>n</a:t>
            </a:r>
            <a:r>
              <a:rPr lang="en-US" altLang="zh-CN" b="1" dirty="0"/>
              <a:t>;             // </a:t>
            </a:r>
            <a:r>
              <a:rPr lang="zh-CN" altLang="en-US" b="1" dirty="0"/>
              <a:t>规则</a:t>
            </a:r>
            <a:r>
              <a:rPr lang="en-US" altLang="zh-CN" b="1" dirty="0"/>
              <a:t>5 </a:t>
            </a:r>
            <a:endParaRPr lang="en-US" altLang="zh-CN" b="1" dirty="0"/>
          </a:p>
          <a:p>
            <a:pPr>
              <a:spcBef>
                <a:spcPct val="20000"/>
              </a:spcBef>
              <a:buClr>
                <a:schemeClr val="accent2"/>
              </a:buClr>
              <a:buFont typeface="Wingdings" panose="05000000000000000000" pitchFamily="2" charset="2"/>
              <a:buNone/>
            </a:pPr>
            <a:r>
              <a:rPr lang="en-US" altLang="zh-CN" b="1" dirty="0"/>
              <a:t>                  </a:t>
            </a:r>
            <a:r>
              <a:rPr lang="en-US" altLang="zh-CN" b="1" i="1" dirty="0" err="1"/>
              <a:t>s</a:t>
            </a:r>
            <a:r>
              <a:rPr lang="en-US" altLang="zh-CN" b="1" dirty="0" err="1"/>
              <a:t>.Push</a:t>
            </a:r>
            <a:r>
              <a:rPr lang="en-US" altLang="zh-CN" b="1" dirty="0"/>
              <a:t>(</a:t>
            </a:r>
            <a:r>
              <a:rPr lang="en-US" altLang="zh-CN" b="1" i="1" dirty="0"/>
              <a:t>n</a:t>
            </a:r>
            <a:r>
              <a:rPr lang="en-US" altLang="zh-CN" b="1" dirty="0"/>
              <a:t>);              // </a:t>
            </a:r>
            <a:r>
              <a:rPr lang="zh-CN" altLang="en-US" b="1" dirty="0"/>
              <a:t>规则</a:t>
            </a:r>
            <a:r>
              <a:rPr lang="en-US" altLang="zh-CN" b="1" dirty="0"/>
              <a:t>3.a </a:t>
            </a:r>
            <a:endParaRPr lang="en-US" altLang="zh-CN" b="1" dirty="0"/>
          </a:p>
          <a:p>
            <a:pPr>
              <a:spcBef>
                <a:spcPct val="20000"/>
              </a:spcBef>
              <a:buClr>
                <a:schemeClr val="accent2"/>
              </a:buClr>
              <a:buFont typeface="Wingdings" panose="05000000000000000000" pitchFamily="2" charset="2"/>
              <a:buNone/>
            </a:pPr>
            <a:r>
              <a:rPr lang="en-US" altLang="zh-CN" b="1" dirty="0"/>
              <a:t>                  </a:t>
            </a:r>
            <a:r>
              <a:rPr lang="en-US" altLang="zh-CN" b="1" i="1" dirty="0"/>
              <a:t>n</a:t>
            </a:r>
            <a:r>
              <a:rPr lang="en-US" altLang="zh-CN" b="1" dirty="0"/>
              <a:t>=</a:t>
            </a:r>
            <a:r>
              <a:rPr lang="en-US" altLang="zh-CN" b="1" i="1" dirty="0"/>
              <a:t>n</a:t>
            </a:r>
            <a:r>
              <a:rPr lang="en-US" altLang="zh-CN" b="1" dirty="0"/>
              <a:t>-1;                    // </a:t>
            </a:r>
            <a:r>
              <a:rPr lang="zh-CN" altLang="en-US" b="1" dirty="0"/>
              <a:t>规则</a:t>
            </a:r>
            <a:r>
              <a:rPr lang="en-US" altLang="zh-CN" b="1" dirty="0"/>
              <a:t>3.b</a:t>
            </a:r>
            <a:endParaRPr lang="en-US" altLang="zh-CN" b="1" dirty="0"/>
          </a:p>
          <a:p>
            <a:pPr>
              <a:spcBef>
                <a:spcPct val="20000"/>
              </a:spcBef>
              <a:buClr>
                <a:schemeClr val="accent2"/>
              </a:buClr>
              <a:buFont typeface="Wingdings" panose="05000000000000000000" pitchFamily="2" charset="2"/>
              <a:buNone/>
            </a:pPr>
            <a:r>
              <a:rPr lang="en-US" altLang="zh-CN" b="1" dirty="0"/>
              <a:t>                  </a:t>
            </a:r>
            <a:r>
              <a:rPr lang="en-US" altLang="zh-CN" b="1" dirty="0" err="1"/>
              <a:t>goto</a:t>
            </a:r>
            <a:r>
              <a:rPr lang="en-US" altLang="zh-CN" b="1" dirty="0"/>
              <a:t> </a:t>
            </a:r>
            <a:r>
              <a:rPr lang="en-US" altLang="zh-CN" b="1" i="1" dirty="0"/>
              <a:t>L</a:t>
            </a:r>
            <a:r>
              <a:rPr lang="en-US" altLang="zh-CN" b="1" baseline="-25000" dirty="0"/>
              <a:t>0</a:t>
            </a:r>
            <a:r>
              <a:rPr lang="en-US" altLang="zh-CN" b="1" dirty="0"/>
              <a:t>;                  // </a:t>
            </a:r>
            <a:r>
              <a:rPr lang="zh-CN" altLang="en-US" b="1" dirty="0"/>
              <a:t>规则</a:t>
            </a:r>
            <a:r>
              <a:rPr lang="en-US" altLang="zh-CN" b="1" dirty="0"/>
              <a:t>3.c </a:t>
            </a:r>
            <a:endParaRPr lang="en-US" altLang="zh-CN" b="1" dirty="0"/>
          </a:p>
          <a:p>
            <a:pPr>
              <a:spcBef>
                <a:spcPct val="20000"/>
              </a:spcBef>
              <a:buClr>
                <a:schemeClr val="accent2"/>
              </a:buClr>
              <a:buFont typeface="Wingdings" panose="05000000000000000000" pitchFamily="2" charset="2"/>
              <a:buNone/>
            </a:pPr>
            <a:r>
              <a:rPr lang="en-US" altLang="zh-CN" b="1" dirty="0"/>
              <a:t>                  </a:t>
            </a:r>
            <a:r>
              <a:rPr lang="en-US" altLang="zh-CN" b="1" i="1" dirty="0"/>
              <a:t>L</a:t>
            </a:r>
            <a:r>
              <a:rPr lang="en-US" altLang="zh-CN" b="1" baseline="-25000" dirty="0"/>
              <a:t>1</a:t>
            </a:r>
            <a:r>
              <a:rPr lang="en-US" altLang="zh-CN" b="1" dirty="0"/>
              <a:t>:                          // </a:t>
            </a:r>
            <a:r>
              <a:rPr lang="zh-CN" altLang="en-US" b="1" dirty="0"/>
              <a:t>规则</a:t>
            </a:r>
            <a:r>
              <a:rPr lang="en-US" altLang="zh-CN" b="1" dirty="0"/>
              <a:t>3.d </a:t>
            </a:r>
            <a:endParaRPr lang="en-US" altLang="zh-CN" b="1" dirty="0"/>
          </a:p>
          <a:p>
            <a:pPr>
              <a:spcBef>
                <a:spcPct val="20000"/>
              </a:spcBef>
              <a:buClr>
                <a:schemeClr val="accent2"/>
              </a:buClr>
              <a:buFont typeface="Wingdings" panose="05000000000000000000" pitchFamily="2" charset="2"/>
              <a:buNone/>
            </a:pPr>
            <a:r>
              <a:rPr lang="en-US" altLang="zh-CN" b="1" dirty="0"/>
              <a:t>              } </a:t>
            </a:r>
            <a:endParaRPr lang="en-US" altLang="zh-CN" b="1" dirty="0"/>
          </a:p>
          <a:p>
            <a:pPr>
              <a:spcBef>
                <a:spcPct val="20000"/>
              </a:spcBef>
              <a:buClr>
                <a:schemeClr val="accent2"/>
              </a:buClr>
              <a:buFont typeface="Wingdings" panose="05000000000000000000" pitchFamily="2" charset="2"/>
              <a:buNone/>
            </a:pPr>
            <a:r>
              <a:rPr lang="en-US" altLang="zh-CN" b="1" dirty="0"/>
              <a:t>          </a:t>
            </a:r>
            <a:r>
              <a:rPr lang="en-US" altLang="zh-CN" b="1" dirty="0">
                <a:solidFill>
                  <a:srgbClr val="0000FF"/>
                </a:solidFill>
              </a:rPr>
              <a:t>if</a:t>
            </a:r>
            <a:r>
              <a:rPr lang="en-US" altLang="zh-CN" b="1" dirty="0"/>
              <a:t> (!</a:t>
            </a:r>
            <a:r>
              <a:rPr lang="en-US" altLang="zh-CN" b="1" i="1" dirty="0"/>
              <a:t> </a:t>
            </a:r>
            <a:r>
              <a:rPr lang="en-US" altLang="zh-CN" b="1" i="1" dirty="0" err="1"/>
              <a:t>s</a:t>
            </a:r>
            <a:r>
              <a:rPr lang="en-US" altLang="zh-CN" b="1" dirty="0" err="1"/>
              <a:t>.Empty</a:t>
            </a:r>
            <a:r>
              <a:rPr lang="en-US" altLang="zh-CN" b="1" dirty="0"/>
              <a:t>() )             // </a:t>
            </a:r>
            <a:r>
              <a:rPr lang="zh-CN" altLang="en-US" b="1" dirty="0"/>
              <a:t>规则</a:t>
            </a:r>
            <a:r>
              <a:rPr lang="en-US" altLang="zh-CN" b="1" dirty="0"/>
              <a:t>4 </a:t>
            </a:r>
            <a:endParaRPr lang="en-US" altLang="zh-CN" b="1" dirty="0"/>
          </a:p>
          <a:p>
            <a:pPr>
              <a:spcBef>
                <a:spcPct val="20000"/>
              </a:spcBef>
              <a:buClr>
                <a:schemeClr val="accent2"/>
              </a:buClr>
              <a:buFont typeface="Wingdings" panose="05000000000000000000" pitchFamily="2" charset="2"/>
              <a:buNone/>
            </a:pPr>
            <a:r>
              <a:rPr lang="en-US" altLang="zh-CN" b="1" dirty="0"/>
              <a:t>            {  </a:t>
            </a:r>
            <a:r>
              <a:rPr lang="en-US" altLang="zh-CN" b="1" dirty="0" err="1"/>
              <a:t>s.Pop</a:t>
            </a:r>
            <a:r>
              <a:rPr lang="en-US" altLang="zh-CN" b="1" dirty="0"/>
              <a:t>(</a:t>
            </a:r>
            <a:r>
              <a:rPr lang="en-US" altLang="zh-CN" b="1" i="1" dirty="0"/>
              <a:t>n</a:t>
            </a:r>
            <a:r>
              <a:rPr lang="en-US" altLang="zh-CN" b="1" dirty="0"/>
              <a:t>);                  // </a:t>
            </a:r>
            <a:r>
              <a:rPr lang="zh-CN" altLang="en-US" b="1" dirty="0"/>
              <a:t>规则</a:t>
            </a:r>
            <a:r>
              <a:rPr lang="en-US" altLang="zh-CN" b="1" dirty="0"/>
              <a:t>4.b </a:t>
            </a:r>
            <a:endParaRPr lang="en-US" altLang="zh-CN" b="1" dirty="0"/>
          </a:p>
          <a:p>
            <a:pPr>
              <a:spcBef>
                <a:spcPct val="20000"/>
              </a:spcBef>
              <a:buClr>
                <a:schemeClr val="accent2"/>
              </a:buClr>
              <a:buFont typeface="Wingdings" panose="05000000000000000000" pitchFamily="2" charset="2"/>
              <a:buNone/>
            </a:pPr>
            <a:r>
              <a:rPr lang="en-US" altLang="zh-CN" b="1" dirty="0"/>
              <a:t>                </a:t>
            </a:r>
            <a:r>
              <a:rPr lang="en-US" altLang="zh-CN" b="1" dirty="0" err="1"/>
              <a:t>goto</a:t>
            </a:r>
            <a:r>
              <a:rPr lang="en-US" altLang="zh-CN" b="1" dirty="0"/>
              <a:t> </a:t>
            </a:r>
            <a:r>
              <a:rPr lang="en-US" altLang="zh-CN" b="1" i="1" dirty="0"/>
              <a:t>L</a:t>
            </a:r>
            <a:r>
              <a:rPr lang="en-US" altLang="zh-CN" b="1" baseline="-25000" dirty="0"/>
              <a:t>1</a:t>
            </a:r>
            <a:r>
              <a:rPr lang="en-US" altLang="zh-CN" b="1" dirty="0"/>
              <a:t>;                    // </a:t>
            </a:r>
            <a:r>
              <a:rPr lang="zh-CN" altLang="en-US" b="1" dirty="0"/>
              <a:t>规则</a:t>
            </a:r>
            <a:r>
              <a:rPr lang="en-US" altLang="zh-CN" b="1" dirty="0"/>
              <a:t>4.c</a:t>
            </a:r>
            <a:endParaRPr lang="en-US" altLang="zh-CN" b="1" dirty="0"/>
          </a:p>
          <a:p>
            <a:pPr>
              <a:spcBef>
                <a:spcPct val="20000"/>
              </a:spcBef>
              <a:buClr>
                <a:schemeClr val="accent2"/>
              </a:buClr>
              <a:buFont typeface="Wingdings" panose="05000000000000000000" pitchFamily="2" charset="2"/>
              <a:buNone/>
            </a:pPr>
            <a:r>
              <a:rPr lang="en-US" altLang="zh-CN" b="1" dirty="0"/>
              <a:t>            } </a:t>
            </a:r>
            <a:endParaRPr lang="en-US" altLang="zh-CN" b="1" dirty="0"/>
          </a:p>
          <a:p>
            <a:pPr>
              <a:spcBef>
                <a:spcPct val="20000"/>
              </a:spcBef>
              <a:buClr>
                <a:schemeClr val="accent2"/>
              </a:buClr>
              <a:buFont typeface="Wingdings" panose="05000000000000000000" pitchFamily="2" charset="2"/>
              <a:buNone/>
            </a:pPr>
            <a:r>
              <a:rPr lang="en-US" altLang="zh-CN" b="1" dirty="0"/>
              <a:t>      } </a:t>
            </a:r>
            <a:endParaRPr lang="zh-CN" altLang="en-US" b="1" dirty="0"/>
          </a:p>
        </p:txBody>
      </p:sp>
      <p:sp>
        <p:nvSpPr>
          <p:cNvPr id="31749" name="矩形 31748"/>
          <p:cNvSpPr>
            <a:spLocks noChangeArrowheads="1"/>
          </p:cNvSpPr>
          <p:nvPr/>
        </p:nvSpPr>
        <p:spPr bwMode="auto">
          <a:xfrm>
            <a:off x="4644009" y="3261108"/>
            <a:ext cx="3094138" cy="1243294"/>
          </a:xfrm>
          <a:prstGeom prst="rect">
            <a:avLst/>
          </a:prstGeom>
          <a:noFill/>
          <a:ln w="15875">
            <a:solidFill>
              <a:schemeClr val="accent6">
                <a:lumMod val="75000"/>
              </a:schemeClr>
            </a:solidFill>
            <a:prstDash val="sysDot"/>
            <a:miter lim="800000"/>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31750" name="矩形 31749"/>
          <p:cNvSpPr>
            <a:spLocks noChangeArrowheads="1"/>
          </p:cNvSpPr>
          <p:nvPr/>
        </p:nvSpPr>
        <p:spPr bwMode="auto">
          <a:xfrm>
            <a:off x="4415507" y="4924989"/>
            <a:ext cx="3322640" cy="1286338"/>
          </a:xfrm>
          <a:prstGeom prst="rect">
            <a:avLst/>
          </a:prstGeom>
          <a:noFill/>
          <a:ln w="15875">
            <a:solidFill>
              <a:srgbClr val="00B0F0"/>
            </a:solidFill>
            <a:prstDash val="sysDot"/>
            <a:miter lim="800000"/>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31752" name="矩形 31751"/>
          <p:cNvSpPr>
            <a:spLocks noChangeArrowheads="1"/>
          </p:cNvSpPr>
          <p:nvPr/>
        </p:nvSpPr>
        <p:spPr bwMode="auto">
          <a:xfrm>
            <a:off x="4356100" y="1989138"/>
            <a:ext cx="3025775" cy="257175"/>
          </a:xfrm>
          <a:prstGeom prst="rect">
            <a:avLst/>
          </a:prstGeom>
          <a:noFill/>
          <a:ln w="15875">
            <a:solidFill>
              <a:srgbClr val="FFFF00"/>
            </a:solidFill>
            <a:prstDash val="sysDot"/>
            <a:miter lim="800000"/>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31753" name="矩形 31752"/>
          <p:cNvSpPr>
            <a:spLocks noChangeArrowheads="1"/>
          </p:cNvSpPr>
          <p:nvPr/>
        </p:nvSpPr>
        <p:spPr bwMode="auto">
          <a:xfrm>
            <a:off x="4356125" y="2276475"/>
            <a:ext cx="3024187" cy="258763"/>
          </a:xfrm>
          <a:prstGeom prst="rect">
            <a:avLst/>
          </a:prstGeom>
          <a:noFill/>
          <a:ln w="15875">
            <a:solidFill>
              <a:srgbClr val="FFFF00"/>
            </a:solidFill>
            <a:prstDash val="sysDot"/>
            <a:miter lim="800000"/>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31754" name="矩形 31753"/>
          <p:cNvSpPr>
            <a:spLocks noChangeArrowheads="1"/>
          </p:cNvSpPr>
          <p:nvPr/>
        </p:nvSpPr>
        <p:spPr bwMode="auto">
          <a:xfrm>
            <a:off x="3779838" y="1484313"/>
            <a:ext cx="4968875" cy="5040312"/>
          </a:xfrm>
          <a:prstGeom prst="rect">
            <a:avLst/>
          </a:prstGeom>
          <a:noFill/>
          <a:ln w="9525">
            <a:solidFill>
              <a:schemeClr val="accent2"/>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grpSp>
        <p:nvGrpSpPr>
          <p:cNvPr id="13" name="组合 12"/>
          <p:cNvGrpSpPr/>
          <p:nvPr/>
        </p:nvGrpSpPr>
        <p:grpSpPr>
          <a:xfrm>
            <a:off x="541437" y="127832"/>
            <a:ext cx="7991003" cy="674160"/>
            <a:chOff x="999690" y="5042189"/>
            <a:chExt cx="8290830" cy="647731"/>
          </a:xfrm>
        </p:grpSpPr>
        <p:sp>
          <p:nvSpPr>
            <p:cNvPr id="14"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16" name="图片 15"/>
            <p:cNvPicPr>
              <a:picLocks noChangeAspect="1"/>
            </p:cNvPicPr>
            <p:nvPr/>
          </p:nvPicPr>
          <p:blipFill>
            <a:blip r:embed="rId1" cstate="print"/>
            <a:stretch>
              <a:fillRect/>
            </a:stretch>
          </p:blipFill>
          <p:spPr>
            <a:xfrm>
              <a:off x="1199659" y="5205012"/>
              <a:ext cx="420013" cy="322083"/>
            </a:xfrm>
            <a:prstGeom prst="rect">
              <a:avLst/>
            </a:prstGeom>
          </p:spPr>
        </p:pic>
      </p:grpSp>
      <p:grpSp>
        <p:nvGrpSpPr>
          <p:cNvPr id="17" name="组合 16"/>
          <p:cNvGrpSpPr/>
          <p:nvPr/>
        </p:nvGrpSpPr>
        <p:grpSpPr>
          <a:xfrm>
            <a:off x="4339332" y="2594806"/>
            <a:ext cx="3055625" cy="2274354"/>
            <a:chOff x="1687513" y="2476000"/>
            <a:chExt cx="3055625" cy="2174910"/>
          </a:xfrm>
        </p:grpSpPr>
        <p:sp>
          <p:nvSpPr>
            <p:cNvPr id="18" name="矩形 17"/>
            <p:cNvSpPr>
              <a:spLocks noChangeArrowheads="1"/>
            </p:cNvSpPr>
            <p:nvPr/>
          </p:nvSpPr>
          <p:spPr bwMode="auto">
            <a:xfrm>
              <a:off x="1687513" y="2476001"/>
              <a:ext cx="1295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en-US" altLang="zh-CN" dirty="0">
                <a:latin typeface="Times New Roman" panose="02020603050405020304" pitchFamily="18" charset="0"/>
                <a:ea typeface="宋体" panose="02010600030101010101" pitchFamily="2" charset="-122"/>
              </a:endParaRPr>
            </a:p>
          </p:txBody>
        </p:sp>
        <p:grpSp>
          <p:nvGrpSpPr>
            <p:cNvPr id="19" name="组合 18"/>
            <p:cNvGrpSpPr/>
            <p:nvPr/>
          </p:nvGrpSpPr>
          <p:grpSpPr>
            <a:xfrm>
              <a:off x="1763688" y="2476000"/>
              <a:ext cx="2979450" cy="2174910"/>
              <a:chOff x="1764408" y="2908922"/>
              <a:chExt cx="2979450" cy="1846793"/>
            </a:xfrm>
          </p:grpSpPr>
          <p:cxnSp>
            <p:nvCxnSpPr>
              <p:cNvPr id="20" name="直接连接符 19"/>
              <p:cNvCxnSpPr/>
              <p:nvPr/>
            </p:nvCxnSpPr>
            <p:spPr>
              <a:xfrm flipH="1" flipV="1">
                <a:off x="1904669" y="3425249"/>
                <a:ext cx="2831395" cy="2194"/>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1920901" y="3425249"/>
                <a:ext cx="2" cy="1095856"/>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grpSp>
            <p:nvGrpSpPr>
              <p:cNvPr id="22" name="组合 21"/>
              <p:cNvGrpSpPr/>
              <p:nvPr/>
            </p:nvGrpSpPr>
            <p:grpSpPr>
              <a:xfrm>
                <a:off x="1764408" y="2908922"/>
                <a:ext cx="2979450" cy="1846793"/>
                <a:chOff x="1764408" y="2908922"/>
                <a:chExt cx="2979450" cy="1846793"/>
              </a:xfrm>
            </p:grpSpPr>
            <p:cxnSp>
              <p:nvCxnSpPr>
                <p:cNvPr id="23" name="直接连接符 22"/>
                <p:cNvCxnSpPr/>
                <p:nvPr/>
              </p:nvCxnSpPr>
              <p:spPr>
                <a:xfrm flipH="1">
                  <a:off x="4743857" y="2917241"/>
                  <a:ext cx="1" cy="508008"/>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1764408" y="2908922"/>
                  <a:ext cx="2979449" cy="1846793"/>
                  <a:chOff x="1764408" y="2908922"/>
                  <a:chExt cx="2979449" cy="1846793"/>
                </a:xfrm>
              </p:grpSpPr>
              <p:cxnSp>
                <p:nvCxnSpPr>
                  <p:cNvPr id="25" name="直接连接符 24"/>
                  <p:cNvCxnSpPr/>
                  <p:nvPr/>
                </p:nvCxnSpPr>
                <p:spPr>
                  <a:xfrm flipV="1">
                    <a:off x="1764408" y="2908922"/>
                    <a:ext cx="2979449" cy="15255"/>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V="1">
                    <a:off x="1892315" y="4517293"/>
                    <a:ext cx="1324804" cy="4537"/>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3195335" y="4539434"/>
                    <a:ext cx="6557" cy="216281"/>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764408" y="4755715"/>
                    <a:ext cx="1440161" cy="0"/>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1764408" y="2924175"/>
                    <a:ext cx="0" cy="1831540"/>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grpSp>
          </p:grpSp>
        </p:grp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blinds(horizontal)">
                                      <p:cBhvr>
                                        <p:cTn id="7" dur="500"/>
                                        <p:tgtEl>
                                          <p:spTgt spid="317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1747">
                                            <p:txEl>
                                              <p:pRg st="1" end="1"/>
                                            </p:txEl>
                                          </p:spTgt>
                                        </p:tgtEl>
                                        <p:attrNameLst>
                                          <p:attrName>style.visibility</p:attrName>
                                        </p:attrNameLst>
                                      </p:cBhvr>
                                      <p:to>
                                        <p:strVal val="visible"/>
                                      </p:to>
                                    </p:set>
                                    <p:animEffect transition="in" filter="blinds(horizontal)">
                                      <p:cBhvr>
                                        <p:cTn id="12" dur="500"/>
                                        <p:tgtEl>
                                          <p:spTgt spid="31747">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1747">
                                            <p:txEl>
                                              <p:pRg st="2" end="2"/>
                                            </p:txEl>
                                          </p:spTgt>
                                        </p:tgtEl>
                                        <p:attrNameLst>
                                          <p:attrName>style.visibility</p:attrName>
                                        </p:attrNameLst>
                                      </p:cBhvr>
                                      <p:to>
                                        <p:strVal val="visible"/>
                                      </p:to>
                                    </p:set>
                                    <p:animEffect transition="in" filter="blinds(horizontal)">
                                      <p:cBhvr>
                                        <p:cTn id="15" dur="500"/>
                                        <p:tgtEl>
                                          <p:spTgt spid="31747">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1747">
                                            <p:txEl>
                                              <p:pRg st="3" end="3"/>
                                            </p:txEl>
                                          </p:spTgt>
                                        </p:tgtEl>
                                        <p:attrNameLst>
                                          <p:attrName>style.visibility</p:attrName>
                                        </p:attrNameLst>
                                      </p:cBhvr>
                                      <p:to>
                                        <p:strVal val="visible"/>
                                      </p:to>
                                    </p:set>
                                    <p:animEffect transition="in" filter="blinds(horizontal)">
                                      <p:cBhvr>
                                        <p:cTn id="18" dur="500"/>
                                        <p:tgtEl>
                                          <p:spTgt spid="31747">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1747">
                                            <p:txEl>
                                              <p:pRg st="4" end="4"/>
                                            </p:txEl>
                                          </p:spTgt>
                                        </p:tgtEl>
                                        <p:attrNameLst>
                                          <p:attrName>style.visibility</p:attrName>
                                        </p:attrNameLst>
                                      </p:cBhvr>
                                      <p:to>
                                        <p:strVal val="visible"/>
                                      </p:to>
                                    </p:set>
                                    <p:animEffect transition="in" filter="blinds(horizontal)">
                                      <p:cBhvr>
                                        <p:cTn id="21" dur="500"/>
                                        <p:tgtEl>
                                          <p:spTgt spid="31747">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1747">
                                            <p:txEl>
                                              <p:pRg st="5" end="5"/>
                                            </p:txEl>
                                          </p:spTgt>
                                        </p:tgtEl>
                                        <p:attrNameLst>
                                          <p:attrName>style.visibility</p:attrName>
                                        </p:attrNameLst>
                                      </p:cBhvr>
                                      <p:to>
                                        <p:strVal val="visible"/>
                                      </p:to>
                                    </p:set>
                                    <p:animEffect transition="in" filter="blinds(horizontal)">
                                      <p:cBhvr>
                                        <p:cTn id="24" dur="500"/>
                                        <p:tgtEl>
                                          <p:spTgt spid="31747">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31747">
                                            <p:txEl>
                                              <p:pRg st="6" end="6"/>
                                            </p:txEl>
                                          </p:spTgt>
                                        </p:tgtEl>
                                        <p:attrNameLst>
                                          <p:attrName>style.visibility</p:attrName>
                                        </p:attrNameLst>
                                      </p:cBhvr>
                                      <p:to>
                                        <p:strVal val="visible"/>
                                      </p:to>
                                    </p:set>
                                    <p:animEffect transition="in" filter="blinds(horizontal)">
                                      <p:cBhvr>
                                        <p:cTn id="27" dur="500"/>
                                        <p:tgtEl>
                                          <p:spTgt spid="3174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1747">
                                            <p:txEl>
                                              <p:pRg st="8" end="8"/>
                                            </p:txEl>
                                          </p:spTgt>
                                        </p:tgtEl>
                                        <p:attrNameLst>
                                          <p:attrName>style.visibility</p:attrName>
                                        </p:attrNameLst>
                                      </p:cBhvr>
                                      <p:to>
                                        <p:strVal val="visible"/>
                                      </p:to>
                                    </p:set>
                                    <p:animEffect transition="in" filter="blinds(horizontal)">
                                      <p:cBhvr>
                                        <p:cTn id="32" dur="500"/>
                                        <p:tgtEl>
                                          <p:spTgt spid="31747">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1747">
                                            <p:txEl>
                                              <p:pRg st="9" end="9"/>
                                            </p:txEl>
                                          </p:spTgt>
                                        </p:tgtEl>
                                        <p:attrNameLst>
                                          <p:attrName>style.visibility</p:attrName>
                                        </p:attrNameLst>
                                      </p:cBhvr>
                                      <p:to>
                                        <p:strVal val="visible"/>
                                      </p:to>
                                    </p:set>
                                    <p:animEffect transition="in" filter="blinds(horizontal)">
                                      <p:cBhvr>
                                        <p:cTn id="37" dur="500"/>
                                        <p:tgtEl>
                                          <p:spTgt spid="31747">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1747">
                                            <p:txEl>
                                              <p:pRg st="10" end="10"/>
                                            </p:txEl>
                                          </p:spTgt>
                                        </p:tgtEl>
                                        <p:attrNameLst>
                                          <p:attrName>style.visibility</p:attrName>
                                        </p:attrNameLst>
                                      </p:cBhvr>
                                      <p:to>
                                        <p:strVal val="visible"/>
                                      </p:to>
                                    </p:set>
                                    <p:animEffect transition="in" filter="blinds(horizontal)">
                                      <p:cBhvr>
                                        <p:cTn id="42" dur="500"/>
                                        <p:tgtEl>
                                          <p:spTgt spid="31747">
                                            <p:txEl>
                                              <p:pRg st="10" end="10"/>
                                            </p:txEl>
                                          </p:spTgt>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31747">
                                            <p:txEl>
                                              <p:pRg st="11" end="11"/>
                                            </p:txEl>
                                          </p:spTgt>
                                        </p:tgtEl>
                                        <p:attrNameLst>
                                          <p:attrName>style.visibility</p:attrName>
                                        </p:attrNameLst>
                                      </p:cBhvr>
                                      <p:to>
                                        <p:strVal val="visible"/>
                                      </p:to>
                                    </p:set>
                                    <p:animEffect transition="in" filter="blinds(horizontal)">
                                      <p:cBhvr>
                                        <p:cTn id="45" dur="500"/>
                                        <p:tgtEl>
                                          <p:spTgt spid="31747">
                                            <p:txEl>
                                              <p:pRg st="11" end="1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31754"/>
                                        </p:tgtEl>
                                        <p:attrNameLst>
                                          <p:attrName>style.visibility</p:attrName>
                                        </p:attrNameLst>
                                      </p:cBhvr>
                                      <p:to>
                                        <p:strVal val="visible"/>
                                      </p:to>
                                    </p:set>
                                    <p:animEffect transition="in" filter="blinds(horizontal)">
                                      <p:cBhvr>
                                        <p:cTn id="50" dur="500"/>
                                        <p:tgtEl>
                                          <p:spTgt spid="31754"/>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31748">
                                            <p:txEl>
                                              <p:pRg st="0" end="0"/>
                                            </p:txEl>
                                          </p:spTgt>
                                        </p:tgtEl>
                                        <p:attrNameLst>
                                          <p:attrName>style.visibility</p:attrName>
                                        </p:attrNameLst>
                                      </p:cBhvr>
                                      <p:to>
                                        <p:strVal val="visible"/>
                                      </p:to>
                                    </p:set>
                                    <p:animEffect transition="in" filter="blinds(horizontal)">
                                      <p:cBhvr>
                                        <p:cTn id="55" dur="500"/>
                                        <p:tgtEl>
                                          <p:spTgt spid="31748">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31748">
                                            <p:txEl>
                                              <p:pRg st="1" end="1"/>
                                            </p:txEl>
                                          </p:spTgt>
                                        </p:tgtEl>
                                        <p:attrNameLst>
                                          <p:attrName>style.visibility</p:attrName>
                                        </p:attrNameLst>
                                      </p:cBhvr>
                                      <p:to>
                                        <p:strVal val="visible"/>
                                      </p:to>
                                    </p:set>
                                    <p:animEffect transition="in" filter="blinds(horizontal)">
                                      <p:cBhvr>
                                        <p:cTn id="60" dur="500"/>
                                        <p:tgtEl>
                                          <p:spTgt spid="31748">
                                            <p:txEl>
                                              <p:pRg st="1" end="1"/>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31752"/>
                                        </p:tgtEl>
                                        <p:attrNameLst>
                                          <p:attrName>style.visibility</p:attrName>
                                        </p:attrNameLst>
                                      </p:cBhvr>
                                      <p:to>
                                        <p:strVal val="visible"/>
                                      </p:to>
                                    </p:set>
                                    <p:animEffect transition="in" filter="blinds(horizontal)">
                                      <p:cBhvr>
                                        <p:cTn id="65" dur="500"/>
                                        <p:tgtEl>
                                          <p:spTgt spid="31752"/>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31748">
                                            <p:txEl>
                                              <p:pRg st="2" end="2"/>
                                            </p:txEl>
                                          </p:spTgt>
                                        </p:tgtEl>
                                        <p:attrNameLst>
                                          <p:attrName>style.visibility</p:attrName>
                                        </p:attrNameLst>
                                      </p:cBhvr>
                                      <p:to>
                                        <p:strVal val="visible"/>
                                      </p:to>
                                    </p:set>
                                    <p:animEffect transition="in" filter="blinds(horizontal)">
                                      <p:cBhvr>
                                        <p:cTn id="70" dur="500"/>
                                        <p:tgtEl>
                                          <p:spTgt spid="31748">
                                            <p:txEl>
                                              <p:pRg st="2" end="2"/>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nodeType="clickEffect">
                                  <p:stCondLst>
                                    <p:cond delay="0"/>
                                  </p:stCondLst>
                                  <p:childTnLst>
                                    <p:set>
                                      <p:cBhvr>
                                        <p:cTn id="74" dur="1" fill="hold">
                                          <p:stCondLst>
                                            <p:cond delay="0"/>
                                          </p:stCondLst>
                                        </p:cTn>
                                        <p:tgtEl>
                                          <p:spTgt spid="31753"/>
                                        </p:tgtEl>
                                        <p:attrNameLst>
                                          <p:attrName>style.visibility</p:attrName>
                                        </p:attrNameLst>
                                      </p:cBhvr>
                                      <p:to>
                                        <p:strVal val="visible"/>
                                      </p:to>
                                    </p:set>
                                    <p:animEffect transition="in" filter="blinds(horizontal)">
                                      <p:cBhvr>
                                        <p:cTn id="75" dur="500"/>
                                        <p:tgtEl>
                                          <p:spTgt spid="31753"/>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nodeType="clickEffect">
                                  <p:stCondLst>
                                    <p:cond delay="0"/>
                                  </p:stCondLst>
                                  <p:childTnLst>
                                    <p:set>
                                      <p:cBhvr>
                                        <p:cTn id="79" dur="1" fill="hold">
                                          <p:stCondLst>
                                            <p:cond delay="0"/>
                                          </p:stCondLst>
                                        </p:cTn>
                                        <p:tgtEl>
                                          <p:spTgt spid="31748">
                                            <p:txEl>
                                              <p:pRg st="3" end="3"/>
                                            </p:txEl>
                                          </p:spTgt>
                                        </p:tgtEl>
                                        <p:attrNameLst>
                                          <p:attrName>style.visibility</p:attrName>
                                        </p:attrNameLst>
                                      </p:cBhvr>
                                      <p:to>
                                        <p:strVal val="visible"/>
                                      </p:to>
                                    </p:set>
                                    <p:animEffect transition="in" filter="blinds(horizontal)">
                                      <p:cBhvr>
                                        <p:cTn id="80" dur="500"/>
                                        <p:tgtEl>
                                          <p:spTgt spid="31748">
                                            <p:txEl>
                                              <p:pRg st="3" end="3"/>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nodeType="clickEffect">
                                  <p:stCondLst>
                                    <p:cond delay="0"/>
                                  </p:stCondLst>
                                  <p:childTnLst>
                                    <p:set>
                                      <p:cBhvr>
                                        <p:cTn id="84" dur="1" fill="hold">
                                          <p:stCondLst>
                                            <p:cond delay="0"/>
                                          </p:stCondLst>
                                        </p:cTn>
                                        <p:tgtEl>
                                          <p:spTgt spid="31748">
                                            <p:txEl>
                                              <p:pRg st="4" end="4"/>
                                            </p:txEl>
                                          </p:spTgt>
                                        </p:tgtEl>
                                        <p:attrNameLst>
                                          <p:attrName>style.visibility</p:attrName>
                                        </p:attrNameLst>
                                      </p:cBhvr>
                                      <p:to>
                                        <p:strVal val="visible"/>
                                      </p:to>
                                    </p:set>
                                    <p:animEffect transition="in" filter="blinds(horizontal)">
                                      <p:cBhvr>
                                        <p:cTn id="85" dur="500"/>
                                        <p:tgtEl>
                                          <p:spTgt spid="31748">
                                            <p:txEl>
                                              <p:pRg st="4" end="4"/>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nodeType="clickEffect">
                                  <p:stCondLst>
                                    <p:cond delay="0"/>
                                  </p:stCondLst>
                                  <p:childTnLst>
                                    <p:set>
                                      <p:cBhvr>
                                        <p:cTn id="89" dur="1" fill="hold">
                                          <p:stCondLst>
                                            <p:cond delay="0"/>
                                          </p:stCondLst>
                                        </p:cTn>
                                        <p:tgtEl>
                                          <p:spTgt spid="31748">
                                            <p:txEl>
                                              <p:pRg st="5" end="5"/>
                                            </p:txEl>
                                          </p:spTgt>
                                        </p:tgtEl>
                                        <p:attrNameLst>
                                          <p:attrName>style.visibility</p:attrName>
                                        </p:attrNameLst>
                                      </p:cBhvr>
                                      <p:to>
                                        <p:strVal val="visible"/>
                                      </p:to>
                                    </p:set>
                                    <p:animEffect transition="in" filter="blinds(horizontal)">
                                      <p:cBhvr>
                                        <p:cTn id="90" dur="500"/>
                                        <p:tgtEl>
                                          <p:spTgt spid="31748">
                                            <p:txEl>
                                              <p:pRg st="5" end="5"/>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nodeType="clickEffect">
                                  <p:stCondLst>
                                    <p:cond delay="0"/>
                                  </p:stCondLst>
                                  <p:childTnLst>
                                    <p:set>
                                      <p:cBhvr>
                                        <p:cTn id="94" dur="1" fill="hold">
                                          <p:stCondLst>
                                            <p:cond delay="0"/>
                                          </p:stCondLst>
                                        </p:cTn>
                                        <p:tgtEl>
                                          <p:spTgt spid="31748">
                                            <p:txEl>
                                              <p:pRg st="6" end="6"/>
                                            </p:txEl>
                                          </p:spTgt>
                                        </p:tgtEl>
                                        <p:attrNameLst>
                                          <p:attrName>style.visibility</p:attrName>
                                        </p:attrNameLst>
                                      </p:cBhvr>
                                      <p:to>
                                        <p:strVal val="visible"/>
                                      </p:to>
                                    </p:set>
                                    <p:animEffect transition="in" filter="blinds(horizontal)">
                                      <p:cBhvr>
                                        <p:cTn id="95" dur="500"/>
                                        <p:tgtEl>
                                          <p:spTgt spid="31748">
                                            <p:txEl>
                                              <p:pRg st="6" end="6"/>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nodeType="clickEffect">
                                  <p:stCondLst>
                                    <p:cond delay="0"/>
                                  </p:stCondLst>
                                  <p:childTnLst>
                                    <p:set>
                                      <p:cBhvr>
                                        <p:cTn id="99" dur="1" fill="hold">
                                          <p:stCondLst>
                                            <p:cond delay="0"/>
                                          </p:stCondLst>
                                        </p:cTn>
                                        <p:tgtEl>
                                          <p:spTgt spid="31748">
                                            <p:txEl>
                                              <p:pRg st="7" end="7"/>
                                            </p:txEl>
                                          </p:spTgt>
                                        </p:tgtEl>
                                        <p:attrNameLst>
                                          <p:attrName>style.visibility</p:attrName>
                                        </p:attrNameLst>
                                      </p:cBhvr>
                                      <p:to>
                                        <p:strVal val="visible"/>
                                      </p:to>
                                    </p:set>
                                    <p:animEffect transition="in" filter="blinds(horizontal)">
                                      <p:cBhvr>
                                        <p:cTn id="100" dur="500"/>
                                        <p:tgtEl>
                                          <p:spTgt spid="31748">
                                            <p:txEl>
                                              <p:pRg st="7" end="7"/>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nodeType="clickEffect">
                                  <p:stCondLst>
                                    <p:cond delay="0"/>
                                  </p:stCondLst>
                                  <p:childTnLst>
                                    <p:set>
                                      <p:cBhvr>
                                        <p:cTn id="104" dur="1" fill="hold">
                                          <p:stCondLst>
                                            <p:cond delay="0"/>
                                          </p:stCondLst>
                                        </p:cTn>
                                        <p:tgtEl>
                                          <p:spTgt spid="31748">
                                            <p:txEl>
                                              <p:pRg st="8" end="8"/>
                                            </p:txEl>
                                          </p:spTgt>
                                        </p:tgtEl>
                                        <p:attrNameLst>
                                          <p:attrName>style.visibility</p:attrName>
                                        </p:attrNameLst>
                                      </p:cBhvr>
                                      <p:to>
                                        <p:strVal val="visible"/>
                                      </p:to>
                                    </p:set>
                                    <p:animEffect transition="in" filter="blinds(horizontal)">
                                      <p:cBhvr>
                                        <p:cTn id="105" dur="500"/>
                                        <p:tgtEl>
                                          <p:spTgt spid="31748">
                                            <p:txEl>
                                              <p:pRg st="8" end="8"/>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3" presetClass="entr" presetSubtype="10" fill="hold" nodeType="clickEffect">
                                  <p:stCondLst>
                                    <p:cond delay="0"/>
                                  </p:stCondLst>
                                  <p:childTnLst>
                                    <p:set>
                                      <p:cBhvr>
                                        <p:cTn id="109" dur="1" fill="hold">
                                          <p:stCondLst>
                                            <p:cond delay="0"/>
                                          </p:stCondLst>
                                        </p:cTn>
                                        <p:tgtEl>
                                          <p:spTgt spid="31748">
                                            <p:txEl>
                                              <p:pRg st="9" end="9"/>
                                            </p:txEl>
                                          </p:spTgt>
                                        </p:tgtEl>
                                        <p:attrNameLst>
                                          <p:attrName>style.visibility</p:attrName>
                                        </p:attrNameLst>
                                      </p:cBhvr>
                                      <p:to>
                                        <p:strVal val="visible"/>
                                      </p:to>
                                    </p:set>
                                    <p:animEffect transition="in" filter="blinds(horizontal)">
                                      <p:cBhvr>
                                        <p:cTn id="110" dur="500"/>
                                        <p:tgtEl>
                                          <p:spTgt spid="31748">
                                            <p:txEl>
                                              <p:pRg st="9" end="9"/>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3" presetClass="entr" presetSubtype="10" fill="hold" nodeType="clickEffect">
                                  <p:stCondLst>
                                    <p:cond delay="0"/>
                                  </p:stCondLst>
                                  <p:childTnLst>
                                    <p:set>
                                      <p:cBhvr>
                                        <p:cTn id="114" dur="1" fill="hold">
                                          <p:stCondLst>
                                            <p:cond delay="0"/>
                                          </p:stCondLst>
                                        </p:cTn>
                                        <p:tgtEl>
                                          <p:spTgt spid="31748">
                                            <p:txEl>
                                              <p:pRg st="10" end="10"/>
                                            </p:txEl>
                                          </p:spTgt>
                                        </p:tgtEl>
                                        <p:attrNameLst>
                                          <p:attrName>style.visibility</p:attrName>
                                        </p:attrNameLst>
                                      </p:cBhvr>
                                      <p:to>
                                        <p:strVal val="visible"/>
                                      </p:to>
                                    </p:set>
                                    <p:animEffect transition="in" filter="blinds(horizontal)">
                                      <p:cBhvr>
                                        <p:cTn id="115" dur="500"/>
                                        <p:tgtEl>
                                          <p:spTgt spid="31748">
                                            <p:txEl>
                                              <p:pRg st="10" end="10"/>
                                            </p:txEl>
                                          </p:spTgt>
                                        </p:tgtEl>
                                      </p:cBhvr>
                                    </p:animEffect>
                                  </p:childTnLst>
                                </p:cTn>
                              </p:par>
                            </p:childTnLst>
                          </p:cTn>
                        </p:par>
                      </p:childTnLst>
                    </p:cTn>
                  </p:par>
                  <p:par>
                    <p:cTn id="116" fill="hold">
                      <p:stCondLst>
                        <p:cond delay="indefinite"/>
                      </p:stCondLst>
                      <p:childTnLst>
                        <p:par>
                          <p:cTn id="117" fill="hold">
                            <p:stCondLst>
                              <p:cond delay="0"/>
                            </p:stCondLst>
                            <p:childTnLst>
                              <p:par>
                                <p:cTn id="118" presetID="3" presetClass="entr" presetSubtype="10" fill="hold" nodeType="clickEffect">
                                  <p:stCondLst>
                                    <p:cond delay="0"/>
                                  </p:stCondLst>
                                  <p:childTnLst>
                                    <p:set>
                                      <p:cBhvr>
                                        <p:cTn id="119" dur="1" fill="hold">
                                          <p:stCondLst>
                                            <p:cond delay="0"/>
                                          </p:stCondLst>
                                        </p:cTn>
                                        <p:tgtEl>
                                          <p:spTgt spid="31748">
                                            <p:txEl>
                                              <p:pRg st="11" end="11"/>
                                            </p:txEl>
                                          </p:spTgt>
                                        </p:tgtEl>
                                        <p:attrNameLst>
                                          <p:attrName>style.visibility</p:attrName>
                                        </p:attrNameLst>
                                      </p:cBhvr>
                                      <p:to>
                                        <p:strVal val="visible"/>
                                      </p:to>
                                    </p:set>
                                    <p:animEffect transition="in" filter="blinds(horizontal)">
                                      <p:cBhvr>
                                        <p:cTn id="120" dur="500"/>
                                        <p:tgtEl>
                                          <p:spTgt spid="31748">
                                            <p:txEl>
                                              <p:pRg st="11" end="11"/>
                                            </p:txEl>
                                          </p:spTgt>
                                        </p:tgtEl>
                                      </p:cBhvr>
                                    </p:animEffect>
                                  </p:childTnLst>
                                </p:cTn>
                              </p:par>
                            </p:childTnLst>
                          </p:cTn>
                        </p:par>
                      </p:childTnLst>
                    </p:cTn>
                  </p:par>
                  <p:par>
                    <p:cTn id="121" fill="hold">
                      <p:stCondLst>
                        <p:cond delay="indefinite"/>
                      </p:stCondLst>
                      <p:childTnLst>
                        <p:par>
                          <p:cTn id="122" fill="hold">
                            <p:stCondLst>
                              <p:cond delay="0"/>
                            </p:stCondLst>
                            <p:childTnLst>
                              <p:par>
                                <p:cTn id="123" presetID="3" presetClass="entr" presetSubtype="10" fill="hold" nodeType="clickEffect">
                                  <p:stCondLst>
                                    <p:cond delay="0"/>
                                  </p:stCondLst>
                                  <p:childTnLst>
                                    <p:set>
                                      <p:cBhvr>
                                        <p:cTn id="124" dur="1" fill="hold">
                                          <p:stCondLst>
                                            <p:cond delay="0"/>
                                          </p:stCondLst>
                                        </p:cTn>
                                        <p:tgtEl>
                                          <p:spTgt spid="31748">
                                            <p:txEl>
                                              <p:pRg st="12" end="12"/>
                                            </p:txEl>
                                          </p:spTgt>
                                        </p:tgtEl>
                                        <p:attrNameLst>
                                          <p:attrName>style.visibility</p:attrName>
                                        </p:attrNameLst>
                                      </p:cBhvr>
                                      <p:to>
                                        <p:strVal val="visible"/>
                                      </p:to>
                                    </p:set>
                                    <p:animEffect transition="in" filter="blinds(horizontal)">
                                      <p:cBhvr>
                                        <p:cTn id="125" dur="500"/>
                                        <p:tgtEl>
                                          <p:spTgt spid="31748">
                                            <p:txEl>
                                              <p:pRg st="12" end="12"/>
                                            </p:txEl>
                                          </p:spTgt>
                                        </p:tgtEl>
                                      </p:cBhvr>
                                    </p:animEffect>
                                  </p:childTnLst>
                                </p:cTn>
                              </p:par>
                            </p:childTnLst>
                          </p:cTn>
                        </p:par>
                      </p:childTnLst>
                    </p:cTn>
                  </p:par>
                  <p:par>
                    <p:cTn id="126" fill="hold">
                      <p:stCondLst>
                        <p:cond delay="indefinite"/>
                      </p:stCondLst>
                      <p:childTnLst>
                        <p:par>
                          <p:cTn id="127" fill="hold">
                            <p:stCondLst>
                              <p:cond delay="0"/>
                            </p:stCondLst>
                            <p:childTnLst>
                              <p:par>
                                <p:cTn id="128" presetID="3" presetClass="entr" presetSubtype="10" fill="hold" nodeType="clickEffect">
                                  <p:stCondLst>
                                    <p:cond delay="0"/>
                                  </p:stCondLst>
                                  <p:childTnLst>
                                    <p:set>
                                      <p:cBhvr>
                                        <p:cTn id="129" dur="1" fill="hold">
                                          <p:stCondLst>
                                            <p:cond delay="0"/>
                                          </p:stCondLst>
                                        </p:cTn>
                                        <p:tgtEl>
                                          <p:spTgt spid="31748">
                                            <p:txEl>
                                              <p:pRg st="13" end="13"/>
                                            </p:txEl>
                                          </p:spTgt>
                                        </p:tgtEl>
                                        <p:attrNameLst>
                                          <p:attrName>style.visibility</p:attrName>
                                        </p:attrNameLst>
                                      </p:cBhvr>
                                      <p:to>
                                        <p:strVal val="visible"/>
                                      </p:to>
                                    </p:set>
                                    <p:animEffect transition="in" filter="blinds(horizontal)">
                                      <p:cBhvr>
                                        <p:cTn id="130" dur="500"/>
                                        <p:tgtEl>
                                          <p:spTgt spid="31748">
                                            <p:txEl>
                                              <p:pRg st="13" end="13"/>
                                            </p:txEl>
                                          </p:spTgt>
                                        </p:tgtEl>
                                      </p:cBhvr>
                                    </p:animEffect>
                                  </p:childTnLst>
                                </p:cTn>
                              </p:par>
                            </p:childTnLst>
                          </p:cTn>
                        </p:par>
                      </p:childTnLst>
                    </p:cTn>
                  </p:par>
                  <p:par>
                    <p:cTn id="131" fill="hold">
                      <p:stCondLst>
                        <p:cond delay="indefinite"/>
                      </p:stCondLst>
                      <p:childTnLst>
                        <p:par>
                          <p:cTn id="132" fill="hold">
                            <p:stCondLst>
                              <p:cond delay="0"/>
                            </p:stCondLst>
                            <p:childTnLst>
                              <p:par>
                                <p:cTn id="133" presetID="3" presetClass="entr" presetSubtype="10" fill="hold" nodeType="clickEffect">
                                  <p:stCondLst>
                                    <p:cond delay="0"/>
                                  </p:stCondLst>
                                  <p:childTnLst>
                                    <p:set>
                                      <p:cBhvr>
                                        <p:cTn id="134" dur="1" fill="hold">
                                          <p:stCondLst>
                                            <p:cond delay="0"/>
                                          </p:stCondLst>
                                        </p:cTn>
                                        <p:tgtEl>
                                          <p:spTgt spid="31748">
                                            <p:txEl>
                                              <p:pRg st="14" end="14"/>
                                            </p:txEl>
                                          </p:spTgt>
                                        </p:tgtEl>
                                        <p:attrNameLst>
                                          <p:attrName>style.visibility</p:attrName>
                                        </p:attrNameLst>
                                      </p:cBhvr>
                                      <p:to>
                                        <p:strVal val="visible"/>
                                      </p:to>
                                    </p:set>
                                    <p:animEffect transition="in" filter="blinds(horizontal)">
                                      <p:cBhvr>
                                        <p:cTn id="135" dur="500"/>
                                        <p:tgtEl>
                                          <p:spTgt spid="31748">
                                            <p:txEl>
                                              <p:pRg st="14" end="14"/>
                                            </p:txEl>
                                          </p:spTgt>
                                        </p:tgtEl>
                                      </p:cBhvr>
                                    </p:animEffect>
                                  </p:childTnLst>
                                </p:cTn>
                              </p:par>
                            </p:childTnLst>
                          </p:cTn>
                        </p:par>
                      </p:childTnLst>
                    </p:cTn>
                  </p:par>
                  <p:par>
                    <p:cTn id="136" fill="hold">
                      <p:stCondLst>
                        <p:cond delay="indefinite"/>
                      </p:stCondLst>
                      <p:childTnLst>
                        <p:par>
                          <p:cTn id="137" fill="hold">
                            <p:stCondLst>
                              <p:cond delay="0"/>
                            </p:stCondLst>
                            <p:childTnLst>
                              <p:par>
                                <p:cTn id="138" presetID="3" presetClass="entr" presetSubtype="10" fill="hold" nodeType="clickEffect">
                                  <p:stCondLst>
                                    <p:cond delay="0"/>
                                  </p:stCondLst>
                                  <p:childTnLst>
                                    <p:set>
                                      <p:cBhvr>
                                        <p:cTn id="139" dur="1" fill="hold">
                                          <p:stCondLst>
                                            <p:cond delay="0"/>
                                          </p:stCondLst>
                                        </p:cTn>
                                        <p:tgtEl>
                                          <p:spTgt spid="31749"/>
                                        </p:tgtEl>
                                        <p:attrNameLst>
                                          <p:attrName>style.visibility</p:attrName>
                                        </p:attrNameLst>
                                      </p:cBhvr>
                                      <p:to>
                                        <p:strVal val="visible"/>
                                      </p:to>
                                    </p:set>
                                    <p:animEffect transition="in" filter="blinds(horizontal)">
                                      <p:cBhvr>
                                        <p:cTn id="140" dur="500"/>
                                        <p:tgtEl>
                                          <p:spTgt spid="31749"/>
                                        </p:tgtEl>
                                      </p:cBhvr>
                                    </p:animEffect>
                                  </p:childTnLst>
                                </p:cTn>
                              </p:par>
                            </p:childTnLst>
                          </p:cTn>
                        </p:par>
                      </p:childTnLst>
                    </p:cTn>
                  </p:par>
                  <p:par>
                    <p:cTn id="141" fill="hold">
                      <p:stCondLst>
                        <p:cond delay="indefinite"/>
                      </p:stCondLst>
                      <p:childTnLst>
                        <p:par>
                          <p:cTn id="142" fill="hold">
                            <p:stCondLst>
                              <p:cond delay="0"/>
                            </p:stCondLst>
                            <p:childTnLst>
                              <p:par>
                                <p:cTn id="143" presetID="3" presetClass="entr" presetSubtype="10" fill="hold" nodeType="clickEffect">
                                  <p:stCondLst>
                                    <p:cond delay="0"/>
                                  </p:stCondLst>
                                  <p:childTnLst>
                                    <p:set>
                                      <p:cBhvr>
                                        <p:cTn id="144" dur="1" fill="hold">
                                          <p:stCondLst>
                                            <p:cond delay="0"/>
                                          </p:stCondLst>
                                        </p:cTn>
                                        <p:tgtEl>
                                          <p:spTgt spid="31750"/>
                                        </p:tgtEl>
                                        <p:attrNameLst>
                                          <p:attrName>style.visibility</p:attrName>
                                        </p:attrNameLst>
                                      </p:cBhvr>
                                      <p:to>
                                        <p:strVal val="visible"/>
                                      </p:to>
                                    </p:set>
                                    <p:animEffect transition="in" filter="blinds(horizontal)">
                                      <p:cBhvr>
                                        <p:cTn id="145" dur="500"/>
                                        <p:tgtEl>
                                          <p:spTgt spid="31750"/>
                                        </p:tgtEl>
                                      </p:cBhvr>
                                    </p:animEffect>
                                  </p:childTnLst>
                                </p:cTn>
                              </p:par>
                              <p:par>
                                <p:cTn id="146" presetID="1" presetClass="entr" presetSubtype="0" fill="hold" nodeType="withEffect">
                                  <p:stCondLst>
                                    <p:cond delay="0"/>
                                  </p:stCondLst>
                                  <p:childTnLst>
                                    <p:set>
                                      <p:cBhvr>
                                        <p:cTn id="147"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内容占位符 32770"/>
          <p:cNvSpPr>
            <a:spLocks noGrp="1" noChangeArrowheads="1"/>
          </p:cNvSpPr>
          <p:nvPr>
            <p:ph idx="1"/>
          </p:nvPr>
        </p:nvSpPr>
        <p:spPr>
          <a:xfrm>
            <a:off x="457200" y="1196753"/>
            <a:ext cx="8229600" cy="4896544"/>
          </a:xfrm>
        </p:spPr>
        <p:txBody>
          <a:bodyPr/>
          <a:lstStyle/>
          <a:p>
            <a:pPr>
              <a:buFont typeface="Wingdings" panose="05000000000000000000" pitchFamily="2" charset="2"/>
              <a:buNone/>
            </a:pPr>
            <a:r>
              <a:rPr lang="en-US" altLang="zh-CN" sz="1800" b="1" dirty="0">
                <a:solidFill>
                  <a:srgbClr val="0000FF"/>
                </a:solidFill>
              </a:rPr>
              <a:t>void</a:t>
            </a:r>
            <a:r>
              <a:rPr lang="en-US" altLang="zh-CN" sz="1800" b="1" dirty="0"/>
              <a:t>  PE(</a:t>
            </a:r>
            <a:r>
              <a:rPr lang="en-US" altLang="zh-CN" sz="1800" b="1" dirty="0" err="1">
                <a:solidFill>
                  <a:srgbClr val="0000FF"/>
                </a:solidFill>
              </a:rPr>
              <a:t>int</a:t>
            </a:r>
            <a:r>
              <a:rPr lang="en-US" altLang="zh-CN" sz="1800" b="1" dirty="0"/>
              <a:t> </a:t>
            </a:r>
            <a:r>
              <a:rPr lang="zh-CN" altLang="en-US" sz="1800" b="1" i="1" dirty="0"/>
              <a:t>n</a:t>
            </a:r>
            <a:r>
              <a:rPr lang="en-US" altLang="zh-CN" sz="1800" b="1" dirty="0"/>
              <a:t>)</a:t>
            </a:r>
            <a:endParaRPr lang="en-US" altLang="zh-CN" sz="1800" b="1" dirty="0"/>
          </a:p>
          <a:p>
            <a:pPr>
              <a:buFont typeface="Wingdings" panose="05000000000000000000" pitchFamily="2" charset="2"/>
              <a:buNone/>
            </a:pPr>
            <a:r>
              <a:rPr lang="en-US" altLang="zh-CN" sz="1800" b="1" dirty="0"/>
              <a:t> {   Stack s;                    </a:t>
            </a:r>
            <a:endParaRPr lang="en-US" altLang="zh-CN" sz="1800" b="1" dirty="0"/>
          </a:p>
          <a:p>
            <a:pPr>
              <a:buFont typeface="Wingdings" panose="05000000000000000000" pitchFamily="2" charset="2"/>
              <a:buNone/>
            </a:pPr>
            <a:r>
              <a:rPr lang="en-US" altLang="zh-CN" sz="1800" b="1" dirty="0"/>
              <a:t>     </a:t>
            </a:r>
            <a:r>
              <a:rPr lang="en-US" altLang="zh-CN" sz="1800" b="1" i="1" dirty="0"/>
              <a:t>L</a:t>
            </a:r>
            <a:r>
              <a:rPr lang="en-US" altLang="zh-CN" sz="1800" b="1" baseline="-25000" dirty="0"/>
              <a:t>0 </a:t>
            </a:r>
            <a:r>
              <a:rPr lang="en-US" altLang="zh-CN" sz="1800" b="1" dirty="0"/>
              <a:t>:                               </a:t>
            </a:r>
            <a:endParaRPr lang="en-US" altLang="zh-CN" sz="1800" b="1" dirty="0"/>
          </a:p>
          <a:p>
            <a:pPr>
              <a:buFont typeface="Wingdings" panose="05000000000000000000" pitchFamily="2" charset="2"/>
              <a:buNone/>
            </a:pPr>
            <a:r>
              <a:rPr lang="en-US" altLang="zh-CN" sz="1800" b="1" dirty="0"/>
              <a:t>     </a:t>
            </a:r>
            <a:r>
              <a:rPr lang="en-US" altLang="zh-CN" sz="1800" b="1" dirty="0">
                <a:solidFill>
                  <a:srgbClr val="0000FF"/>
                </a:solidFill>
              </a:rPr>
              <a:t>if</a:t>
            </a:r>
            <a:r>
              <a:rPr lang="en-US" altLang="zh-CN" sz="1800" b="1" dirty="0"/>
              <a:t> (</a:t>
            </a:r>
            <a:r>
              <a:rPr lang="en-US" altLang="zh-CN" sz="1800" b="1" i="1" dirty="0"/>
              <a:t>n</a:t>
            </a:r>
            <a:r>
              <a:rPr lang="en-US" altLang="zh-CN" sz="1800" b="1" dirty="0"/>
              <a:t>&gt;0 )                       </a:t>
            </a:r>
            <a:endParaRPr lang="en-US" altLang="zh-CN" sz="1800" b="1" dirty="0"/>
          </a:p>
          <a:p>
            <a:pPr>
              <a:buFont typeface="Wingdings" panose="05000000000000000000" pitchFamily="2" charset="2"/>
              <a:buNone/>
            </a:pPr>
            <a:r>
              <a:rPr lang="en-US" altLang="zh-CN" sz="1800" b="1" dirty="0"/>
              <a:t>     {   </a:t>
            </a:r>
            <a:r>
              <a:rPr lang="en-US" altLang="zh-CN" sz="1800" b="1" dirty="0" err="1">
                <a:solidFill>
                  <a:srgbClr val="0000FF"/>
                </a:solidFill>
              </a:rPr>
              <a:t>cout</a:t>
            </a:r>
            <a:r>
              <a:rPr lang="en-US" altLang="zh-CN" sz="1800" b="1" dirty="0"/>
              <a:t>&lt;&lt;</a:t>
            </a:r>
            <a:r>
              <a:rPr lang="en-US" altLang="zh-CN" sz="1800" b="1" i="1" dirty="0"/>
              <a:t>n</a:t>
            </a:r>
            <a:r>
              <a:rPr lang="en-US" altLang="zh-CN" sz="1800" b="1" dirty="0"/>
              <a:t>;                   </a:t>
            </a:r>
            <a:endParaRPr lang="en-US" altLang="zh-CN" sz="1800" b="1" dirty="0"/>
          </a:p>
          <a:p>
            <a:pPr>
              <a:buFont typeface="Wingdings" panose="05000000000000000000" pitchFamily="2" charset="2"/>
              <a:buNone/>
            </a:pPr>
            <a:r>
              <a:rPr lang="en-US" altLang="zh-CN" sz="1800" b="1" dirty="0"/>
              <a:t>          </a:t>
            </a:r>
            <a:r>
              <a:rPr lang="en-US" altLang="zh-CN" sz="1800" b="1" i="1" dirty="0" err="1"/>
              <a:t>s</a:t>
            </a:r>
            <a:r>
              <a:rPr lang="en-US" altLang="zh-CN" sz="1800" b="1" dirty="0" err="1"/>
              <a:t>.Push</a:t>
            </a:r>
            <a:r>
              <a:rPr lang="en-US" altLang="zh-CN" sz="1800" b="1" dirty="0"/>
              <a:t>(</a:t>
            </a:r>
            <a:r>
              <a:rPr lang="en-US" altLang="zh-CN" sz="1800" b="1" i="1" dirty="0"/>
              <a:t>n</a:t>
            </a:r>
            <a:r>
              <a:rPr lang="en-US" altLang="zh-CN" sz="1800" b="1" dirty="0"/>
              <a:t>);           </a:t>
            </a:r>
            <a:endParaRPr lang="en-US" altLang="zh-CN" sz="1800" b="1" dirty="0"/>
          </a:p>
          <a:p>
            <a:pPr>
              <a:buFont typeface="Wingdings" panose="05000000000000000000" pitchFamily="2" charset="2"/>
              <a:buNone/>
            </a:pPr>
            <a:r>
              <a:rPr lang="en-US" altLang="zh-CN" sz="1800" b="1" dirty="0"/>
              <a:t>          </a:t>
            </a:r>
            <a:r>
              <a:rPr lang="en-US" altLang="zh-CN" sz="1800" b="1" i="1" dirty="0"/>
              <a:t>n</a:t>
            </a:r>
            <a:r>
              <a:rPr lang="en-US" altLang="zh-CN" sz="1800" b="1" dirty="0"/>
              <a:t>=</a:t>
            </a:r>
            <a:r>
              <a:rPr lang="en-US" altLang="zh-CN" sz="1800" b="1" i="1" dirty="0"/>
              <a:t>n</a:t>
            </a:r>
            <a:r>
              <a:rPr lang="en-US" altLang="zh-CN" sz="1800" b="1" dirty="0"/>
              <a:t>-1;                     </a:t>
            </a:r>
            <a:endParaRPr lang="en-US" altLang="zh-CN" sz="1800" b="1" dirty="0"/>
          </a:p>
          <a:p>
            <a:pPr>
              <a:buFont typeface="Wingdings" panose="05000000000000000000" pitchFamily="2" charset="2"/>
              <a:buNone/>
            </a:pPr>
            <a:r>
              <a:rPr lang="en-US" altLang="zh-CN" sz="1800" b="1" dirty="0"/>
              <a:t>         </a:t>
            </a:r>
            <a:r>
              <a:rPr lang="en-US" altLang="zh-CN" sz="1800" b="1" dirty="0" err="1"/>
              <a:t>goto</a:t>
            </a:r>
            <a:r>
              <a:rPr lang="en-US" altLang="zh-CN" sz="1800" b="1" dirty="0"/>
              <a:t> </a:t>
            </a:r>
            <a:r>
              <a:rPr lang="en-US" altLang="zh-CN" sz="1800" b="1" i="1" dirty="0"/>
              <a:t>L</a:t>
            </a:r>
            <a:r>
              <a:rPr lang="en-US" altLang="zh-CN" sz="1800" b="1" baseline="-25000" dirty="0"/>
              <a:t>0 </a:t>
            </a:r>
            <a:r>
              <a:rPr lang="en-US" altLang="zh-CN" sz="1800" b="1" dirty="0"/>
              <a:t>;                   </a:t>
            </a:r>
            <a:endParaRPr lang="en-US" altLang="zh-CN" sz="1800" b="1" dirty="0"/>
          </a:p>
          <a:p>
            <a:pPr>
              <a:buFont typeface="Wingdings" panose="05000000000000000000" pitchFamily="2" charset="2"/>
              <a:buNone/>
            </a:pPr>
            <a:r>
              <a:rPr lang="en-US" altLang="zh-CN" sz="1800" b="1" dirty="0"/>
              <a:t>         </a:t>
            </a:r>
            <a:r>
              <a:rPr lang="en-US" altLang="zh-CN" sz="1800" b="1" i="1" dirty="0"/>
              <a:t>L</a:t>
            </a:r>
            <a:r>
              <a:rPr lang="en-US" altLang="zh-CN" sz="1800" b="1" baseline="-25000" dirty="0"/>
              <a:t>1</a:t>
            </a:r>
            <a:r>
              <a:rPr lang="en-US" altLang="zh-CN" sz="1800" b="1" dirty="0"/>
              <a:t>:                          </a:t>
            </a:r>
            <a:endParaRPr lang="en-US" altLang="zh-CN" sz="1800" b="1" dirty="0"/>
          </a:p>
          <a:p>
            <a:pPr>
              <a:buFont typeface="Wingdings" panose="05000000000000000000" pitchFamily="2" charset="2"/>
              <a:buNone/>
            </a:pPr>
            <a:r>
              <a:rPr lang="en-US" altLang="zh-CN" sz="1800" b="1" dirty="0"/>
              <a:t>     } </a:t>
            </a:r>
            <a:endParaRPr lang="en-US" altLang="zh-CN" sz="1800" b="1" dirty="0"/>
          </a:p>
          <a:p>
            <a:pPr>
              <a:buFont typeface="Wingdings" panose="05000000000000000000" pitchFamily="2" charset="2"/>
              <a:buNone/>
            </a:pPr>
            <a:r>
              <a:rPr lang="en-US" altLang="zh-CN" sz="1800" b="1" dirty="0"/>
              <a:t>    </a:t>
            </a:r>
            <a:r>
              <a:rPr lang="en-US" altLang="zh-CN" sz="1800" b="1" dirty="0">
                <a:solidFill>
                  <a:srgbClr val="0000FF"/>
                </a:solidFill>
              </a:rPr>
              <a:t> if </a:t>
            </a:r>
            <a:r>
              <a:rPr lang="en-US" altLang="zh-CN" sz="1800" b="1" dirty="0"/>
              <a:t>(!</a:t>
            </a:r>
            <a:r>
              <a:rPr lang="en-US" altLang="zh-CN" sz="1800" b="1" dirty="0" err="1"/>
              <a:t>s.Empty</a:t>
            </a:r>
            <a:r>
              <a:rPr lang="en-US" altLang="zh-CN" sz="1800" b="1" dirty="0"/>
              <a:t>() )              </a:t>
            </a:r>
            <a:endParaRPr lang="en-US" altLang="zh-CN" sz="1800" b="1" dirty="0"/>
          </a:p>
          <a:p>
            <a:pPr>
              <a:buFont typeface="Wingdings" panose="05000000000000000000" pitchFamily="2" charset="2"/>
              <a:buNone/>
            </a:pPr>
            <a:r>
              <a:rPr lang="en-US" altLang="zh-CN" sz="1800" b="1" dirty="0"/>
              <a:t>     {  </a:t>
            </a:r>
            <a:r>
              <a:rPr lang="en-US" altLang="zh-CN" sz="1800" b="1" dirty="0" err="1"/>
              <a:t>s.Pop</a:t>
            </a:r>
            <a:r>
              <a:rPr lang="en-US" altLang="zh-CN" sz="1800" b="1" dirty="0"/>
              <a:t>(</a:t>
            </a:r>
            <a:r>
              <a:rPr lang="en-US" altLang="zh-CN" sz="1800" i="1" dirty="0"/>
              <a:t>n</a:t>
            </a:r>
            <a:r>
              <a:rPr lang="en-US" altLang="zh-CN" sz="1800" b="1" dirty="0"/>
              <a:t>);               </a:t>
            </a:r>
            <a:endParaRPr lang="en-US" altLang="zh-CN" sz="1800" b="1" dirty="0"/>
          </a:p>
          <a:p>
            <a:pPr>
              <a:buFont typeface="Wingdings" panose="05000000000000000000" pitchFamily="2" charset="2"/>
              <a:buNone/>
            </a:pPr>
            <a:r>
              <a:rPr lang="en-US" altLang="zh-CN" sz="1800" b="1" dirty="0"/>
              <a:t>         </a:t>
            </a:r>
            <a:r>
              <a:rPr lang="en-US" altLang="zh-CN" sz="1800" b="1" dirty="0" err="1"/>
              <a:t>goto</a:t>
            </a:r>
            <a:r>
              <a:rPr lang="en-US" altLang="zh-CN" sz="1800" b="1" dirty="0"/>
              <a:t> </a:t>
            </a:r>
            <a:r>
              <a:rPr lang="en-US" altLang="zh-CN" sz="1800" b="1" i="1" dirty="0"/>
              <a:t>L</a:t>
            </a:r>
            <a:r>
              <a:rPr lang="en-US" altLang="zh-CN" sz="1800" b="1" baseline="-25000" dirty="0"/>
              <a:t>1</a:t>
            </a:r>
            <a:r>
              <a:rPr lang="en-US" altLang="zh-CN" sz="1800" b="1" dirty="0"/>
              <a:t>;                   </a:t>
            </a:r>
            <a:endParaRPr lang="en-US" altLang="zh-CN" sz="1800" b="1" dirty="0"/>
          </a:p>
          <a:p>
            <a:pPr>
              <a:buFont typeface="Wingdings" panose="05000000000000000000" pitchFamily="2" charset="2"/>
              <a:buNone/>
            </a:pPr>
            <a:r>
              <a:rPr lang="en-US" altLang="zh-CN" sz="1800" b="1" dirty="0"/>
              <a:t>    } </a:t>
            </a:r>
            <a:endParaRPr lang="en-US" altLang="zh-CN" sz="1800" b="1" dirty="0"/>
          </a:p>
          <a:p>
            <a:pPr>
              <a:buFont typeface="Wingdings" panose="05000000000000000000" pitchFamily="2" charset="2"/>
              <a:buNone/>
            </a:pPr>
            <a:r>
              <a:rPr lang="en-US" altLang="zh-CN" sz="1800" b="1" dirty="0"/>
              <a:t>} </a:t>
            </a:r>
            <a:endParaRPr lang="zh-CN" altLang="en-US" b="1" dirty="0"/>
          </a:p>
        </p:txBody>
      </p:sp>
      <p:sp>
        <p:nvSpPr>
          <p:cNvPr id="32795" name="燕尾形箭头 32794"/>
          <p:cNvSpPr>
            <a:spLocks noChangeArrowheads="1"/>
          </p:cNvSpPr>
          <p:nvPr/>
        </p:nvSpPr>
        <p:spPr bwMode="auto">
          <a:xfrm>
            <a:off x="2268538" y="1916113"/>
            <a:ext cx="1008062" cy="288925"/>
          </a:xfrm>
          <a:prstGeom prst="notchedRightArrow">
            <a:avLst>
              <a:gd name="adj1" fmla="val 50000"/>
              <a:gd name="adj2" fmla="val 87128"/>
            </a:avLst>
          </a:prstGeom>
          <a:solidFill>
            <a:schemeClr val="accent2"/>
          </a:solidFill>
          <a:ln w="9525">
            <a:solidFill>
              <a:schemeClr val="tx1"/>
            </a:solidFill>
            <a:miter lim="800000"/>
          </a:ln>
        </p:spPr>
        <p:txBody>
          <a:bodyPr/>
          <a:lstStyle/>
          <a:p>
            <a:pPr algn="ctr" eaLnBrk="0" hangingPunct="0"/>
            <a:endParaRPr lang="zh-CN" altLang="en-US"/>
          </a:p>
        </p:txBody>
      </p:sp>
      <p:grpSp>
        <p:nvGrpSpPr>
          <p:cNvPr id="30" name="组合 29"/>
          <p:cNvGrpSpPr/>
          <p:nvPr/>
        </p:nvGrpSpPr>
        <p:grpSpPr>
          <a:xfrm>
            <a:off x="541437" y="127832"/>
            <a:ext cx="7991003" cy="674160"/>
            <a:chOff x="999690" y="5042189"/>
            <a:chExt cx="8290830" cy="647731"/>
          </a:xfrm>
        </p:grpSpPr>
        <p:sp>
          <p:nvSpPr>
            <p:cNvPr id="31"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2"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33" name="图片 32"/>
            <p:cNvPicPr>
              <a:picLocks noChangeAspect="1"/>
            </p:cNvPicPr>
            <p:nvPr/>
          </p:nvPicPr>
          <p:blipFill>
            <a:blip r:embed="rId1" cstate="print"/>
            <a:stretch>
              <a:fillRect/>
            </a:stretch>
          </p:blipFill>
          <p:spPr>
            <a:xfrm>
              <a:off x="1199659" y="5205012"/>
              <a:ext cx="420013" cy="322083"/>
            </a:xfrm>
            <a:prstGeom prst="rect">
              <a:avLst/>
            </a:prstGeom>
          </p:spPr>
        </p:pic>
      </p:grpSp>
      <p:sp>
        <p:nvSpPr>
          <p:cNvPr id="34" name="椭圆 33"/>
          <p:cNvSpPr>
            <a:spLocks noChangeArrowheads="1"/>
          </p:cNvSpPr>
          <p:nvPr/>
        </p:nvSpPr>
        <p:spPr bwMode="auto">
          <a:xfrm>
            <a:off x="3884840" y="1448594"/>
            <a:ext cx="360363" cy="287337"/>
          </a:xfrm>
          <a:prstGeom prst="ellipse">
            <a:avLst/>
          </a:prstGeom>
          <a:solidFill>
            <a:srgbClr val="FFFF00"/>
          </a:solidFill>
          <a:ln w="9525">
            <a:solidFill>
              <a:srgbClr val="000000"/>
            </a:solidFill>
            <a:round/>
          </a:ln>
        </p:spPr>
        <p:txBody>
          <a:bodyPr/>
          <a:lstStyle/>
          <a:p>
            <a:pPr algn="ctr" eaLnBrk="0" hangingPunct="0"/>
            <a:endParaRPr lang="zh-CN" altLang="en-US">
              <a:latin typeface="Times New Roman" panose="02020603050405020304" pitchFamily="18" charset="0"/>
              <a:cs typeface="Times New Roman" panose="02020603050405020304" pitchFamily="18" charset="0"/>
            </a:endParaRPr>
          </a:p>
        </p:txBody>
      </p:sp>
      <p:sp>
        <p:nvSpPr>
          <p:cNvPr id="35" name="矩形 34"/>
          <p:cNvSpPr>
            <a:spLocks noChangeArrowheads="1"/>
          </p:cNvSpPr>
          <p:nvPr/>
        </p:nvSpPr>
        <p:spPr bwMode="auto">
          <a:xfrm>
            <a:off x="3582165" y="2099746"/>
            <a:ext cx="1024639" cy="36933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eaLnBrk="0" hangingPunct="0"/>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a:latin typeface="Times New Roman" panose="02020603050405020304" pitchFamily="18" charset="0"/>
                <a:ea typeface="宋体" panose="02010600030101010101" pitchFamily="2" charset="-122"/>
                <a:cs typeface="Times New Roman" panose="02020603050405020304" pitchFamily="18" charset="0"/>
              </a:rPr>
              <a:t>Stack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 name="流程图: 决策 35"/>
          <p:cNvSpPr>
            <a:spLocks noChangeArrowheads="1"/>
          </p:cNvSpPr>
          <p:nvPr/>
        </p:nvSpPr>
        <p:spPr bwMode="auto">
          <a:xfrm>
            <a:off x="3318640" y="2959894"/>
            <a:ext cx="1512887" cy="720725"/>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&gt;0;</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流程图: 过程 36"/>
          <p:cNvSpPr>
            <a:spLocks noChangeArrowheads="1"/>
          </p:cNvSpPr>
          <p:nvPr/>
        </p:nvSpPr>
        <p:spPr bwMode="auto">
          <a:xfrm>
            <a:off x="3247202" y="4328319"/>
            <a:ext cx="1657350" cy="877832"/>
          </a:xfrm>
          <a:prstGeom prst="flowChartProcess">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en-US" altLang="zh-CN" dirty="0" err="1">
                <a:latin typeface="Times New Roman" panose="02020603050405020304" pitchFamily="18" charset="0"/>
                <a:ea typeface="宋体" panose="02010600030101010101" pitchFamily="2" charset="-122"/>
                <a:cs typeface="Times New Roman" panose="02020603050405020304" pitchFamily="18" charset="0"/>
              </a:rPr>
              <a:t>cout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&lt;&lt;n;</a:t>
            </a:r>
            <a:endParaRPr lang="en-US" altLang="zh-CN" i="1"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.Push</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-1;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8" name="流程图: 决策 37"/>
          <p:cNvSpPr>
            <a:spLocks noChangeArrowheads="1"/>
          </p:cNvSpPr>
          <p:nvPr/>
        </p:nvSpPr>
        <p:spPr bwMode="auto">
          <a:xfrm>
            <a:off x="5417443" y="2672556"/>
            <a:ext cx="2663825" cy="720725"/>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zh-CN" altLang="en-US" sz="16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1"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sz="1600" b="1" dirty="0" err="1">
                <a:latin typeface="Times New Roman" panose="02020603050405020304" pitchFamily="18" charset="0"/>
                <a:ea typeface="宋体" panose="02010600030101010101" pitchFamily="2" charset="-122"/>
                <a:cs typeface="Times New Roman" panose="02020603050405020304" pitchFamily="18" charset="0"/>
              </a:rPr>
              <a:t>.Empty</a:t>
            </a: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9" name="流程图: 过程 38"/>
          <p:cNvSpPr>
            <a:spLocks noChangeArrowheads="1"/>
          </p:cNvSpPr>
          <p:nvPr/>
        </p:nvSpPr>
        <p:spPr bwMode="auto">
          <a:xfrm>
            <a:off x="5704781" y="4040981"/>
            <a:ext cx="2089150" cy="720725"/>
          </a:xfrm>
          <a:prstGeom prst="flowChartProcess">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.Pop</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 );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 name="直接连接符 39"/>
          <p:cNvSpPr>
            <a:spLocks noChangeShapeType="1"/>
          </p:cNvSpPr>
          <p:nvPr/>
        </p:nvSpPr>
        <p:spPr bwMode="auto">
          <a:xfrm>
            <a:off x="4067940" y="1735931"/>
            <a:ext cx="0" cy="3603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1" name="直接连接符 40"/>
          <p:cNvSpPr>
            <a:spLocks noChangeShapeType="1"/>
          </p:cNvSpPr>
          <p:nvPr/>
        </p:nvSpPr>
        <p:spPr bwMode="auto">
          <a:xfrm>
            <a:off x="4067940" y="2475706"/>
            <a:ext cx="0" cy="50323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2" name="直接连接符 41"/>
          <p:cNvSpPr>
            <a:spLocks noChangeShapeType="1"/>
          </p:cNvSpPr>
          <p:nvPr/>
        </p:nvSpPr>
        <p:spPr bwMode="auto">
          <a:xfrm>
            <a:off x="4082227" y="3680619"/>
            <a:ext cx="0" cy="6477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3" name="直接连接符 42"/>
          <p:cNvSpPr>
            <a:spLocks noChangeShapeType="1"/>
          </p:cNvSpPr>
          <p:nvPr/>
        </p:nvSpPr>
        <p:spPr bwMode="auto">
          <a:xfrm>
            <a:off x="4831527" y="3320256"/>
            <a:ext cx="2873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4" name="直接连接符 43"/>
          <p:cNvSpPr>
            <a:spLocks noChangeShapeType="1"/>
          </p:cNvSpPr>
          <p:nvPr/>
        </p:nvSpPr>
        <p:spPr bwMode="auto">
          <a:xfrm flipV="1">
            <a:off x="5118865" y="2167731"/>
            <a:ext cx="0" cy="11525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5" name="直接连接符 44"/>
          <p:cNvSpPr>
            <a:spLocks noChangeShapeType="1"/>
          </p:cNvSpPr>
          <p:nvPr/>
        </p:nvSpPr>
        <p:spPr bwMode="auto">
          <a:xfrm>
            <a:off x="5118865" y="2167731"/>
            <a:ext cx="163942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6" name="直接连接符 45"/>
          <p:cNvSpPr>
            <a:spLocks noChangeShapeType="1"/>
          </p:cNvSpPr>
          <p:nvPr/>
        </p:nvSpPr>
        <p:spPr bwMode="auto">
          <a:xfrm>
            <a:off x="6758293" y="2167731"/>
            <a:ext cx="0" cy="5048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7" name="直接连接符 46"/>
          <p:cNvSpPr>
            <a:spLocks noChangeShapeType="1"/>
          </p:cNvSpPr>
          <p:nvPr/>
        </p:nvSpPr>
        <p:spPr bwMode="auto">
          <a:xfrm>
            <a:off x="6785868" y="3391694"/>
            <a:ext cx="0" cy="64928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8" name="矩形 47"/>
          <p:cNvSpPr>
            <a:spLocks noChangeArrowheads="1"/>
          </p:cNvSpPr>
          <p:nvPr/>
        </p:nvSpPr>
        <p:spPr bwMode="auto">
          <a:xfrm>
            <a:off x="4687065" y="2888456"/>
            <a:ext cx="4318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N</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49" name="矩形 48"/>
          <p:cNvSpPr>
            <a:spLocks noChangeArrowheads="1"/>
          </p:cNvSpPr>
          <p:nvPr/>
        </p:nvSpPr>
        <p:spPr bwMode="auto">
          <a:xfrm>
            <a:off x="4110802" y="3825081"/>
            <a:ext cx="433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Y</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50" name="矩形 49"/>
          <p:cNvSpPr>
            <a:spLocks noChangeArrowheads="1"/>
          </p:cNvSpPr>
          <p:nvPr/>
        </p:nvSpPr>
        <p:spPr bwMode="auto">
          <a:xfrm>
            <a:off x="3966340" y="2528094"/>
            <a:ext cx="6477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0</a:t>
            </a:r>
            <a:endParaRPr lang="en-US" altLang="zh-CN"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1" name="矩形 50"/>
          <p:cNvSpPr>
            <a:spLocks noChangeArrowheads="1"/>
          </p:cNvSpPr>
          <p:nvPr/>
        </p:nvSpPr>
        <p:spPr bwMode="auto">
          <a:xfrm>
            <a:off x="6354068" y="3536156"/>
            <a:ext cx="4318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N</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52" name="矩形 51"/>
          <p:cNvSpPr>
            <a:spLocks noChangeArrowheads="1"/>
          </p:cNvSpPr>
          <p:nvPr/>
        </p:nvSpPr>
        <p:spPr bwMode="auto">
          <a:xfrm>
            <a:off x="8154293" y="2528094"/>
            <a:ext cx="433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Y</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53" name="椭圆 52"/>
          <p:cNvSpPr>
            <a:spLocks noChangeArrowheads="1"/>
          </p:cNvSpPr>
          <p:nvPr/>
        </p:nvSpPr>
        <p:spPr bwMode="auto">
          <a:xfrm>
            <a:off x="8434923" y="2890044"/>
            <a:ext cx="358775" cy="287337"/>
          </a:xfrm>
          <a:prstGeom prst="ellipse">
            <a:avLst/>
          </a:prstGeom>
          <a:solidFill>
            <a:srgbClr val="FFFF00"/>
          </a:solidFill>
          <a:ln w="9525">
            <a:solidFill>
              <a:srgbClr val="000000"/>
            </a:solidFill>
            <a:round/>
          </a:ln>
        </p:spPr>
        <p:txBody>
          <a:bodyPr/>
          <a:lstStyle/>
          <a:p>
            <a:pPr algn="ctr" eaLnBrk="0" hangingPunct="0"/>
            <a:endParaRPr lang="zh-CN" altLang="en-US">
              <a:latin typeface="Times New Roman" panose="02020603050405020304" pitchFamily="18" charset="0"/>
              <a:cs typeface="Times New Roman" panose="02020603050405020304" pitchFamily="18" charset="0"/>
            </a:endParaRPr>
          </a:p>
        </p:txBody>
      </p:sp>
      <p:sp>
        <p:nvSpPr>
          <p:cNvPr id="54" name="直接连接符 53"/>
          <p:cNvSpPr>
            <a:spLocks noChangeShapeType="1"/>
          </p:cNvSpPr>
          <p:nvPr/>
        </p:nvSpPr>
        <p:spPr bwMode="auto">
          <a:xfrm>
            <a:off x="8077019" y="3032919"/>
            <a:ext cx="35877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nvGrpSpPr>
          <p:cNvPr id="55" name="组合 54"/>
          <p:cNvGrpSpPr/>
          <p:nvPr/>
        </p:nvGrpSpPr>
        <p:grpSpPr>
          <a:xfrm>
            <a:off x="3122475" y="2672556"/>
            <a:ext cx="989129" cy="2745644"/>
            <a:chOff x="2555776" y="2922365"/>
            <a:chExt cx="1153558" cy="2745644"/>
          </a:xfrm>
        </p:grpSpPr>
        <p:cxnSp>
          <p:nvCxnSpPr>
            <p:cNvPr id="56" name="直接连接符 55"/>
            <p:cNvCxnSpPr/>
            <p:nvPr/>
          </p:nvCxnSpPr>
          <p:spPr>
            <a:xfrm>
              <a:off x="3709334" y="5455960"/>
              <a:ext cx="0" cy="2120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2555776" y="5661248"/>
              <a:ext cx="11526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V="1">
              <a:off x="2555776" y="2924175"/>
              <a:ext cx="0" cy="2737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2555776" y="2922365"/>
              <a:ext cx="1109762" cy="0"/>
            </a:xfrm>
            <a:prstGeom prst="line">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grpSp>
        <p:nvGrpSpPr>
          <p:cNvPr id="60" name="组合 59"/>
          <p:cNvGrpSpPr/>
          <p:nvPr/>
        </p:nvGrpSpPr>
        <p:grpSpPr>
          <a:xfrm>
            <a:off x="5336351" y="2418333"/>
            <a:ext cx="1465487" cy="2738884"/>
            <a:chOff x="5346015" y="2669952"/>
            <a:chExt cx="1537248" cy="2738884"/>
          </a:xfrm>
        </p:grpSpPr>
        <p:grpSp>
          <p:nvGrpSpPr>
            <p:cNvPr id="61" name="组合 60"/>
            <p:cNvGrpSpPr/>
            <p:nvPr/>
          </p:nvGrpSpPr>
          <p:grpSpPr>
            <a:xfrm>
              <a:off x="5346015" y="2669952"/>
              <a:ext cx="1537246" cy="2738884"/>
              <a:chOff x="2555776" y="2922365"/>
              <a:chExt cx="1167267" cy="2738884"/>
            </a:xfrm>
          </p:grpSpPr>
          <p:cxnSp>
            <p:nvCxnSpPr>
              <p:cNvPr id="63" name="直接连接符 62"/>
              <p:cNvCxnSpPr/>
              <p:nvPr/>
            </p:nvCxnSpPr>
            <p:spPr>
              <a:xfrm flipH="1">
                <a:off x="2555776" y="5661248"/>
                <a:ext cx="1167267"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V="1">
                <a:off x="2555776" y="2924175"/>
                <a:ext cx="0" cy="2737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2555776" y="2922365"/>
                <a:ext cx="1132584" cy="1810"/>
              </a:xfrm>
              <a:prstGeom prst="line">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cxnSp>
          <p:nvCxnSpPr>
            <p:cNvPr id="62" name="直接连接符 61"/>
            <p:cNvCxnSpPr/>
            <p:nvPr/>
          </p:nvCxnSpPr>
          <p:spPr>
            <a:xfrm flipV="1">
              <a:off x="6883263" y="5013326"/>
              <a:ext cx="0" cy="3955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blinds(horizontal)">
                                      <p:cBhvr>
                                        <p:cTn id="7" dur="500"/>
                                        <p:tgtEl>
                                          <p:spTgt spid="327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771">
                                            <p:txEl>
                                              <p:pRg st="1" end="1"/>
                                            </p:txEl>
                                          </p:spTgt>
                                        </p:tgtEl>
                                        <p:attrNameLst>
                                          <p:attrName>style.visibility</p:attrName>
                                        </p:attrNameLst>
                                      </p:cBhvr>
                                      <p:to>
                                        <p:strVal val="visible"/>
                                      </p:to>
                                    </p:set>
                                    <p:animEffect transition="in" filter="blinds(horizontal)">
                                      <p:cBhvr>
                                        <p:cTn id="12" dur="500"/>
                                        <p:tgtEl>
                                          <p:spTgt spid="327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2771">
                                            <p:txEl>
                                              <p:pRg st="2" end="2"/>
                                            </p:txEl>
                                          </p:spTgt>
                                        </p:tgtEl>
                                        <p:attrNameLst>
                                          <p:attrName>style.visibility</p:attrName>
                                        </p:attrNameLst>
                                      </p:cBhvr>
                                      <p:to>
                                        <p:strVal val="visible"/>
                                      </p:to>
                                    </p:set>
                                    <p:animEffect transition="in" filter="blinds(horizontal)">
                                      <p:cBhvr>
                                        <p:cTn id="17" dur="500"/>
                                        <p:tgtEl>
                                          <p:spTgt spid="327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2771">
                                            <p:txEl>
                                              <p:pRg st="3" end="3"/>
                                            </p:txEl>
                                          </p:spTgt>
                                        </p:tgtEl>
                                        <p:attrNameLst>
                                          <p:attrName>style.visibility</p:attrName>
                                        </p:attrNameLst>
                                      </p:cBhvr>
                                      <p:to>
                                        <p:strVal val="visible"/>
                                      </p:to>
                                    </p:set>
                                    <p:animEffect transition="in" filter="blinds(horizontal)">
                                      <p:cBhvr>
                                        <p:cTn id="22" dur="500"/>
                                        <p:tgtEl>
                                          <p:spTgt spid="327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2771">
                                            <p:txEl>
                                              <p:pRg st="4" end="4"/>
                                            </p:txEl>
                                          </p:spTgt>
                                        </p:tgtEl>
                                        <p:attrNameLst>
                                          <p:attrName>style.visibility</p:attrName>
                                        </p:attrNameLst>
                                      </p:cBhvr>
                                      <p:to>
                                        <p:strVal val="visible"/>
                                      </p:to>
                                    </p:set>
                                    <p:animEffect transition="in" filter="blinds(horizontal)">
                                      <p:cBhvr>
                                        <p:cTn id="27" dur="500"/>
                                        <p:tgtEl>
                                          <p:spTgt spid="3277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2771">
                                            <p:txEl>
                                              <p:pRg st="5" end="5"/>
                                            </p:txEl>
                                          </p:spTgt>
                                        </p:tgtEl>
                                        <p:attrNameLst>
                                          <p:attrName>style.visibility</p:attrName>
                                        </p:attrNameLst>
                                      </p:cBhvr>
                                      <p:to>
                                        <p:strVal val="visible"/>
                                      </p:to>
                                    </p:set>
                                    <p:animEffect transition="in" filter="blinds(horizontal)">
                                      <p:cBhvr>
                                        <p:cTn id="32" dur="500"/>
                                        <p:tgtEl>
                                          <p:spTgt spid="3277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2771">
                                            <p:txEl>
                                              <p:pRg st="6" end="6"/>
                                            </p:txEl>
                                          </p:spTgt>
                                        </p:tgtEl>
                                        <p:attrNameLst>
                                          <p:attrName>style.visibility</p:attrName>
                                        </p:attrNameLst>
                                      </p:cBhvr>
                                      <p:to>
                                        <p:strVal val="visible"/>
                                      </p:to>
                                    </p:set>
                                    <p:animEffect transition="in" filter="blinds(horizontal)">
                                      <p:cBhvr>
                                        <p:cTn id="37" dur="500"/>
                                        <p:tgtEl>
                                          <p:spTgt spid="3277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2771">
                                            <p:txEl>
                                              <p:pRg st="7" end="7"/>
                                            </p:txEl>
                                          </p:spTgt>
                                        </p:tgtEl>
                                        <p:attrNameLst>
                                          <p:attrName>style.visibility</p:attrName>
                                        </p:attrNameLst>
                                      </p:cBhvr>
                                      <p:to>
                                        <p:strVal val="visible"/>
                                      </p:to>
                                    </p:set>
                                    <p:animEffect transition="in" filter="blinds(horizontal)">
                                      <p:cBhvr>
                                        <p:cTn id="42" dur="500"/>
                                        <p:tgtEl>
                                          <p:spTgt spid="3277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2771">
                                            <p:txEl>
                                              <p:pRg st="8" end="8"/>
                                            </p:txEl>
                                          </p:spTgt>
                                        </p:tgtEl>
                                        <p:attrNameLst>
                                          <p:attrName>style.visibility</p:attrName>
                                        </p:attrNameLst>
                                      </p:cBhvr>
                                      <p:to>
                                        <p:strVal val="visible"/>
                                      </p:to>
                                    </p:set>
                                    <p:animEffect transition="in" filter="blinds(horizontal)">
                                      <p:cBhvr>
                                        <p:cTn id="47" dur="500"/>
                                        <p:tgtEl>
                                          <p:spTgt spid="3277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2771">
                                            <p:txEl>
                                              <p:pRg st="9" end="9"/>
                                            </p:txEl>
                                          </p:spTgt>
                                        </p:tgtEl>
                                        <p:attrNameLst>
                                          <p:attrName>style.visibility</p:attrName>
                                        </p:attrNameLst>
                                      </p:cBhvr>
                                      <p:to>
                                        <p:strVal val="visible"/>
                                      </p:to>
                                    </p:set>
                                    <p:animEffect transition="in" filter="blinds(horizontal)">
                                      <p:cBhvr>
                                        <p:cTn id="52" dur="500"/>
                                        <p:tgtEl>
                                          <p:spTgt spid="3277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2771">
                                            <p:txEl>
                                              <p:pRg st="10" end="10"/>
                                            </p:txEl>
                                          </p:spTgt>
                                        </p:tgtEl>
                                        <p:attrNameLst>
                                          <p:attrName>style.visibility</p:attrName>
                                        </p:attrNameLst>
                                      </p:cBhvr>
                                      <p:to>
                                        <p:strVal val="visible"/>
                                      </p:to>
                                    </p:set>
                                    <p:animEffect transition="in" filter="blinds(horizontal)">
                                      <p:cBhvr>
                                        <p:cTn id="57" dur="500"/>
                                        <p:tgtEl>
                                          <p:spTgt spid="32771">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2771">
                                            <p:txEl>
                                              <p:pRg st="11" end="11"/>
                                            </p:txEl>
                                          </p:spTgt>
                                        </p:tgtEl>
                                        <p:attrNameLst>
                                          <p:attrName>style.visibility</p:attrName>
                                        </p:attrNameLst>
                                      </p:cBhvr>
                                      <p:to>
                                        <p:strVal val="visible"/>
                                      </p:to>
                                    </p:set>
                                    <p:animEffect transition="in" filter="blinds(horizontal)">
                                      <p:cBhvr>
                                        <p:cTn id="62" dur="500"/>
                                        <p:tgtEl>
                                          <p:spTgt spid="32771">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2771">
                                            <p:txEl>
                                              <p:pRg st="12" end="12"/>
                                            </p:txEl>
                                          </p:spTgt>
                                        </p:tgtEl>
                                        <p:attrNameLst>
                                          <p:attrName>style.visibility</p:attrName>
                                        </p:attrNameLst>
                                      </p:cBhvr>
                                      <p:to>
                                        <p:strVal val="visible"/>
                                      </p:to>
                                    </p:set>
                                    <p:animEffect transition="in" filter="blinds(horizontal)">
                                      <p:cBhvr>
                                        <p:cTn id="67" dur="500"/>
                                        <p:tgtEl>
                                          <p:spTgt spid="32771">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32771">
                                            <p:txEl>
                                              <p:pRg st="13" end="13"/>
                                            </p:txEl>
                                          </p:spTgt>
                                        </p:tgtEl>
                                        <p:attrNameLst>
                                          <p:attrName>style.visibility</p:attrName>
                                        </p:attrNameLst>
                                      </p:cBhvr>
                                      <p:to>
                                        <p:strVal val="visible"/>
                                      </p:to>
                                    </p:set>
                                    <p:animEffect transition="in" filter="blinds(horizontal)">
                                      <p:cBhvr>
                                        <p:cTn id="72" dur="500"/>
                                        <p:tgtEl>
                                          <p:spTgt spid="32771">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32771">
                                            <p:txEl>
                                              <p:pRg st="14" end="14"/>
                                            </p:txEl>
                                          </p:spTgt>
                                        </p:tgtEl>
                                        <p:attrNameLst>
                                          <p:attrName>style.visibility</p:attrName>
                                        </p:attrNameLst>
                                      </p:cBhvr>
                                      <p:to>
                                        <p:strVal val="visible"/>
                                      </p:to>
                                    </p:set>
                                    <p:animEffect transition="in" filter="blinds(horizontal)">
                                      <p:cBhvr>
                                        <p:cTn id="77" dur="500"/>
                                        <p:tgtEl>
                                          <p:spTgt spid="32771">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32795"/>
                                        </p:tgtEl>
                                        <p:attrNameLst>
                                          <p:attrName>style.visibility</p:attrName>
                                        </p:attrNameLst>
                                      </p:cBhvr>
                                      <p:to>
                                        <p:strVal val="visible"/>
                                      </p:to>
                                    </p:set>
                                    <p:animEffect transition="in" filter="blinds(horizontal)">
                                      <p:cBhvr>
                                        <p:cTn id="82" dur="500"/>
                                        <p:tgtEl>
                                          <p:spTgt spid="32795"/>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34"/>
                                        </p:tgtEl>
                                        <p:attrNameLst>
                                          <p:attrName>style.visibility</p:attrName>
                                        </p:attrNameLst>
                                      </p:cBhvr>
                                      <p:to>
                                        <p:strVal val="visible"/>
                                      </p:to>
                                    </p:set>
                                    <p:animEffect transition="in" filter="blinds(horizontal)">
                                      <p:cBhvr>
                                        <p:cTn id="87" dur="500"/>
                                        <p:tgtEl>
                                          <p:spTgt spid="34"/>
                                        </p:tgtEl>
                                      </p:cBhvr>
                                    </p:animEffect>
                                  </p:childTnLst>
                                </p:cTn>
                              </p:par>
                              <p:par>
                                <p:cTn id="88" presetID="3" presetClass="entr" presetSubtype="10" fill="hold" nodeType="withEffect">
                                  <p:stCondLst>
                                    <p:cond delay="0"/>
                                  </p:stCondLst>
                                  <p:childTnLst>
                                    <p:set>
                                      <p:cBhvr>
                                        <p:cTn id="89" dur="1" fill="hold">
                                          <p:stCondLst>
                                            <p:cond delay="0"/>
                                          </p:stCondLst>
                                        </p:cTn>
                                        <p:tgtEl>
                                          <p:spTgt spid="40"/>
                                        </p:tgtEl>
                                        <p:attrNameLst>
                                          <p:attrName>style.visibility</p:attrName>
                                        </p:attrNameLst>
                                      </p:cBhvr>
                                      <p:to>
                                        <p:strVal val="visible"/>
                                      </p:to>
                                    </p:set>
                                    <p:animEffect transition="in" filter="blinds(horizontal)">
                                      <p:cBhvr>
                                        <p:cTn id="90" dur="500"/>
                                        <p:tgtEl>
                                          <p:spTgt spid="40"/>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blinds(horizontal)">
                                      <p:cBhvr>
                                        <p:cTn id="95" dur="500"/>
                                        <p:tgtEl>
                                          <p:spTgt spid="35"/>
                                        </p:tgtEl>
                                      </p:cBhvr>
                                    </p:animEffect>
                                  </p:childTnLst>
                                </p:cTn>
                              </p:par>
                              <p:par>
                                <p:cTn id="96" presetID="3" presetClass="entr" presetSubtype="10" fill="hold" nodeType="withEffect">
                                  <p:stCondLst>
                                    <p:cond delay="0"/>
                                  </p:stCondLst>
                                  <p:childTnLst>
                                    <p:set>
                                      <p:cBhvr>
                                        <p:cTn id="97" dur="1" fill="hold">
                                          <p:stCondLst>
                                            <p:cond delay="0"/>
                                          </p:stCondLst>
                                        </p:cTn>
                                        <p:tgtEl>
                                          <p:spTgt spid="41"/>
                                        </p:tgtEl>
                                        <p:attrNameLst>
                                          <p:attrName>style.visibility</p:attrName>
                                        </p:attrNameLst>
                                      </p:cBhvr>
                                      <p:to>
                                        <p:strVal val="visible"/>
                                      </p:to>
                                    </p:set>
                                    <p:animEffect transition="in" filter="blinds(horizontal)">
                                      <p:cBhvr>
                                        <p:cTn id="98" dur="500"/>
                                        <p:tgtEl>
                                          <p:spTgt spid="41"/>
                                        </p:tgtEl>
                                      </p:cBhvr>
                                    </p:animEffect>
                                  </p:childTnLst>
                                </p:cTn>
                              </p:par>
                              <p:par>
                                <p:cTn id="99" presetID="3" presetClass="entr" presetSubtype="10" fill="hold" grpId="0" nodeType="withEffect">
                                  <p:stCondLst>
                                    <p:cond delay="0"/>
                                  </p:stCondLst>
                                  <p:childTnLst>
                                    <p:set>
                                      <p:cBhvr>
                                        <p:cTn id="100" dur="1" fill="hold">
                                          <p:stCondLst>
                                            <p:cond delay="0"/>
                                          </p:stCondLst>
                                        </p:cTn>
                                        <p:tgtEl>
                                          <p:spTgt spid="50"/>
                                        </p:tgtEl>
                                        <p:attrNameLst>
                                          <p:attrName>style.visibility</p:attrName>
                                        </p:attrNameLst>
                                      </p:cBhvr>
                                      <p:to>
                                        <p:strVal val="visible"/>
                                      </p:to>
                                    </p:set>
                                    <p:animEffect transition="in" filter="blinds(horizontal)">
                                      <p:cBhvr>
                                        <p:cTn id="101" dur="500"/>
                                        <p:tgtEl>
                                          <p:spTgt spid="50"/>
                                        </p:tgtEl>
                                      </p:cBhvr>
                                    </p:animEffect>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grpId="0" nodeType="clickEffect">
                                  <p:stCondLst>
                                    <p:cond delay="0"/>
                                  </p:stCondLst>
                                  <p:childTnLst>
                                    <p:set>
                                      <p:cBhvr>
                                        <p:cTn id="105" dur="1" fill="hold">
                                          <p:stCondLst>
                                            <p:cond delay="0"/>
                                          </p:stCondLst>
                                        </p:cTn>
                                        <p:tgtEl>
                                          <p:spTgt spid="36"/>
                                        </p:tgtEl>
                                        <p:attrNameLst>
                                          <p:attrName>style.visibility</p:attrName>
                                        </p:attrNameLst>
                                      </p:cBhvr>
                                      <p:to>
                                        <p:strVal val="visible"/>
                                      </p:to>
                                    </p:set>
                                    <p:animEffect transition="in" filter="blinds(horizontal)">
                                      <p:cBhvr>
                                        <p:cTn id="106" dur="500"/>
                                        <p:tgtEl>
                                          <p:spTgt spid="36"/>
                                        </p:tgtEl>
                                      </p:cBhvr>
                                    </p:animEffect>
                                  </p:childTnLst>
                                </p:cTn>
                              </p:par>
                            </p:childTnLst>
                          </p:cTn>
                        </p:par>
                      </p:childTnLst>
                    </p:cTn>
                  </p:par>
                  <p:par>
                    <p:cTn id="107" fill="hold">
                      <p:stCondLst>
                        <p:cond delay="indefinite"/>
                      </p:stCondLst>
                      <p:childTnLst>
                        <p:par>
                          <p:cTn id="108" fill="hold">
                            <p:stCondLst>
                              <p:cond delay="0"/>
                            </p:stCondLst>
                            <p:childTnLst>
                              <p:par>
                                <p:cTn id="109" presetID="3" presetClass="entr" presetSubtype="10" fill="hold" nodeType="clickEffect">
                                  <p:stCondLst>
                                    <p:cond delay="0"/>
                                  </p:stCondLst>
                                  <p:childTnLst>
                                    <p:set>
                                      <p:cBhvr>
                                        <p:cTn id="110" dur="1" fill="hold">
                                          <p:stCondLst>
                                            <p:cond delay="0"/>
                                          </p:stCondLst>
                                        </p:cTn>
                                        <p:tgtEl>
                                          <p:spTgt spid="42"/>
                                        </p:tgtEl>
                                        <p:attrNameLst>
                                          <p:attrName>style.visibility</p:attrName>
                                        </p:attrNameLst>
                                      </p:cBhvr>
                                      <p:to>
                                        <p:strVal val="visible"/>
                                      </p:to>
                                    </p:set>
                                    <p:animEffect transition="in" filter="blinds(horizontal)">
                                      <p:cBhvr>
                                        <p:cTn id="111" dur="500"/>
                                        <p:tgtEl>
                                          <p:spTgt spid="42"/>
                                        </p:tgtEl>
                                      </p:cBhvr>
                                    </p:animEffect>
                                  </p:childTnLst>
                                </p:cTn>
                              </p:par>
                              <p:par>
                                <p:cTn id="112" presetID="3" presetClass="entr" presetSubtype="10" fill="hold" grpId="0" nodeType="withEffect">
                                  <p:stCondLst>
                                    <p:cond delay="0"/>
                                  </p:stCondLst>
                                  <p:childTnLst>
                                    <p:set>
                                      <p:cBhvr>
                                        <p:cTn id="113" dur="1" fill="hold">
                                          <p:stCondLst>
                                            <p:cond delay="0"/>
                                          </p:stCondLst>
                                        </p:cTn>
                                        <p:tgtEl>
                                          <p:spTgt spid="49"/>
                                        </p:tgtEl>
                                        <p:attrNameLst>
                                          <p:attrName>style.visibility</p:attrName>
                                        </p:attrNameLst>
                                      </p:cBhvr>
                                      <p:to>
                                        <p:strVal val="visible"/>
                                      </p:to>
                                    </p:set>
                                    <p:animEffect transition="in" filter="blinds(horizontal)">
                                      <p:cBhvr>
                                        <p:cTn id="114" dur="500"/>
                                        <p:tgtEl>
                                          <p:spTgt spid="49"/>
                                        </p:tgtEl>
                                      </p:cBhvr>
                                    </p:animEffect>
                                  </p:childTnLst>
                                </p:cTn>
                              </p:par>
                            </p:childTnLst>
                          </p:cTn>
                        </p:par>
                      </p:childTnLst>
                    </p:cTn>
                  </p:par>
                  <p:par>
                    <p:cTn id="115" fill="hold">
                      <p:stCondLst>
                        <p:cond delay="indefinite"/>
                      </p:stCondLst>
                      <p:childTnLst>
                        <p:par>
                          <p:cTn id="116" fill="hold">
                            <p:stCondLst>
                              <p:cond delay="0"/>
                            </p:stCondLst>
                            <p:childTnLst>
                              <p:par>
                                <p:cTn id="117" presetID="3" presetClass="entr" presetSubtype="10" fill="hold" grpId="0" nodeType="clickEffect">
                                  <p:stCondLst>
                                    <p:cond delay="0"/>
                                  </p:stCondLst>
                                  <p:childTnLst>
                                    <p:set>
                                      <p:cBhvr>
                                        <p:cTn id="118" dur="1" fill="hold">
                                          <p:stCondLst>
                                            <p:cond delay="0"/>
                                          </p:stCondLst>
                                        </p:cTn>
                                        <p:tgtEl>
                                          <p:spTgt spid="37"/>
                                        </p:tgtEl>
                                        <p:attrNameLst>
                                          <p:attrName>style.visibility</p:attrName>
                                        </p:attrNameLst>
                                      </p:cBhvr>
                                      <p:to>
                                        <p:strVal val="visible"/>
                                      </p:to>
                                    </p:set>
                                    <p:animEffect transition="in" filter="blinds(horizontal)">
                                      <p:cBhvr>
                                        <p:cTn id="119" dur="500"/>
                                        <p:tgtEl>
                                          <p:spTgt spid="37"/>
                                        </p:tgtEl>
                                      </p:cBhvr>
                                    </p:animEffec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nodeType="clickEffect">
                                  <p:stCondLst>
                                    <p:cond delay="0"/>
                                  </p:stCondLst>
                                  <p:childTnLst>
                                    <p:set>
                                      <p:cBhvr>
                                        <p:cTn id="123" dur="1" fill="hold">
                                          <p:stCondLst>
                                            <p:cond delay="0"/>
                                          </p:stCondLst>
                                        </p:cTn>
                                        <p:tgtEl>
                                          <p:spTgt spid="55"/>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3" presetClass="entr" presetSubtype="10" fill="hold" grpId="0" nodeType="clickEffect">
                                  <p:stCondLst>
                                    <p:cond delay="0"/>
                                  </p:stCondLst>
                                  <p:childTnLst>
                                    <p:set>
                                      <p:cBhvr>
                                        <p:cTn id="127" dur="1" fill="hold">
                                          <p:stCondLst>
                                            <p:cond delay="0"/>
                                          </p:stCondLst>
                                        </p:cTn>
                                        <p:tgtEl>
                                          <p:spTgt spid="48"/>
                                        </p:tgtEl>
                                        <p:attrNameLst>
                                          <p:attrName>style.visibility</p:attrName>
                                        </p:attrNameLst>
                                      </p:cBhvr>
                                      <p:to>
                                        <p:strVal val="visible"/>
                                      </p:to>
                                    </p:set>
                                    <p:animEffect transition="in" filter="blinds(horizontal)">
                                      <p:cBhvr>
                                        <p:cTn id="128" dur="500"/>
                                        <p:tgtEl>
                                          <p:spTgt spid="48"/>
                                        </p:tgtEl>
                                      </p:cBhvr>
                                    </p:animEffect>
                                  </p:childTnLst>
                                </p:cTn>
                              </p:par>
                              <p:par>
                                <p:cTn id="129" presetID="3" presetClass="entr" presetSubtype="10" fill="hold" nodeType="withEffect">
                                  <p:stCondLst>
                                    <p:cond delay="0"/>
                                  </p:stCondLst>
                                  <p:childTnLst>
                                    <p:set>
                                      <p:cBhvr>
                                        <p:cTn id="130" dur="1" fill="hold">
                                          <p:stCondLst>
                                            <p:cond delay="0"/>
                                          </p:stCondLst>
                                        </p:cTn>
                                        <p:tgtEl>
                                          <p:spTgt spid="45"/>
                                        </p:tgtEl>
                                        <p:attrNameLst>
                                          <p:attrName>style.visibility</p:attrName>
                                        </p:attrNameLst>
                                      </p:cBhvr>
                                      <p:to>
                                        <p:strVal val="visible"/>
                                      </p:to>
                                    </p:set>
                                    <p:animEffect transition="in" filter="blinds(horizontal)">
                                      <p:cBhvr>
                                        <p:cTn id="131" dur="500"/>
                                        <p:tgtEl>
                                          <p:spTgt spid="45"/>
                                        </p:tgtEl>
                                      </p:cBhvr>
                                    </p:animEffect>
                                  </p:childTnLst>
                                </p:cTn>
                              </p:par>
                              <p:par>
                                <p:cTn id="132" presetID="3" presetClass="entr" presetSubtype="10" fill="hold" nodeType="withEffect">
                                  <p:stCondLst>
                                    <p:cond delay="0"/>
                                  </p:stCondLst>
                                  <p:childTnLst>
                                    <p:set>
                                      <p:cBhvr>
                                        <p:cTn id="133" dur="1" fill="hold">
                                          <p:stCondLst>
                                            <p:cond delay="0"/>
                                          </p:stCondLst>
                                        </p:cTn>
                                        <p:tgtEl>
                                          <p:spTgt spid="44"/>
                                        </p:tgtEl>
                                        <p:attrNameLst>
                                          <p:attrName>style.visibility</p:attrName>
                                        </p:attrNameLst>
                                      </p:cBhvr>
                                      <p:to>
                                        <p:strVal val="visible"/>
                                      </p:to>
                                    </p:set>
                                    <p:animEffect transition="in" filter="blinds(horizontal)">
                                      <p:cBhvr>
                                        <p:cTn id="134" dur="500"/>
                                        <p:tgtEl>
                                          <p:spTgt spid="44"/>
                                        </p:tgtEl>
                                      </p:cBhvr>
                                    </p:animEffect>
                                  </p:childTnLst>
                                </p:cTn>
                              </p:par>
                              <p:par>
                                <p:cTn id="135" presetID="3" presetClass="entr" presetSubtype="10" fill="hold" nodeType="withEffect">
                                  <p:stCondLst>
                                    <p:cond delay="0"/>
                                  </p:stCondLst>
                                  <p:childTnLst>
                                    <p:set>
                                      <p:cBhvr>
                                        <p:cTn id="136" dur="1" fill="hold">
                                          <p:stCondLst>
                                            <p:cond delay="0"/>
                                          </p:stCondLst>
                                        </p:cTn>
                                        <p:tgtEl>
                                          <p:spTgt spid="43"/>
                                        </p:tgtEl>
                                        <p:attrNameLst>
                                          <p:attrName>style.visibility</p:attrName>
                                        </p:attrNameLst>
                                      </p:cBhvr>
                                      <p:to>
                                        <p:strVal val="visible"/>
                                      </p:to>
                                    </p:set>
                                    <p:animEffect transition="in" filter="blinds(horizontal)">
                                      <p:cBhvr>
                                        <p:cTn id="137" dur="500"/>
                                        <p:tgtEl>
                                          <p:spTgt spid="43"/>
                                        </p:tgtEl>
                                      </p:cBhvr>
                                    </p:animEffect>
                                  </p:childTnLst>
                                </p:cTn>
                              </p:par>
                              <p:par>
                                <p:cTn id="138" presetID="3" presetClass="entr" presetSubtype="10" fill="hold" nodeType="withEffect">
                                  <p:stCondLst>
                                    <p:cond delay="0"/>
                                  </p:stCondLst>
                                  <p:childTnLst>
                                    <p:set>
                                      <p:cBhvr>
                                        <p:cTn id="139" dur="1" fill="hold">
                                          <p:stCondLst>
                                            <p:cond delay="0"/>
                                          </p:stCondLst>
                                        </p:cTn>
                                        <p:tgtEl>
                                          <p:spTgt spid="46"/>
                                        </p:tgtEl>
                                        <p:attrNameLst>
                                          <p:attrName>style.visibility</p:attrName>
                                        </p:attrNameLst>
                                      </p:cBhvr>
                                      <p:to>
                                        <p:strVal val="visible"/>
                                      </p:to>
                                    </p:set>
                                    <p:animEffect transition="in" filter="blinds(horizontal)">
                                      <p:cBhvr>
                                        <p:cTn id="140" dur="500"/>
                                        <p:tgtEl>
                                          <p:spTgt spid="46"/>
                                        </p:tgtEl>
                                      </p:cBhvr>
                                    </p:animEffect>
                                  </p:childTnLst>
                                </p:cTn>
                              </p:par>
                            </p:childTnLst>
                          </p:cTn>
                        </p:par>
                      </p:childTnLst>
                    </p:cTn>
                  </p:par>
                  <p:par>
                    <p:cTn id="141" fill="hold">
                      <p:stCondLst>
                        <p:cond delay="indefinite"/>
                      </p:stCondLst>
                      <p:childTnLst>
                        <p:par>
                          <p:cTn id="142" fill="hold">
                            <p:stCondLst>
                              <p:cond delay="0"/>
                            </p:stCondLst>
                            <p:childTnLst>
                              <p:par>
                                <p:cTn id="143" presetID="3" presetClass="entr" presetSubtype="10" fill="hold" grpId="0" nodeType="clickEffect">
                                  <p:stCondLst>
                                    <p:cond delay="0"/>
                                  </p:stCondLst>
                                  <p:childTnLst>
                                    <p:set>
                                      <p:cBhvr>
                                        <p:cTn id="144" dur="1" fill="hold">
                                          <p:stCondLst>
                                            <p:cond delay="0"/>
                                          </p:stCondLst>
                                        </p:cTn>
                                        <p:tgtEl>
                                          <p:spTgt spid="38"/>
                                        </p:tgtEl>
                                        <p:attrNameLst>
                                          <p:attrName>style.visibility</p:attrName>
                                        </p:attrNameLst>
                                      </p:cBhvr>
                                      <p:to>
                                        <p:strVal val="visible"/>
                                      </p:to>
                                    </p:set>
                                    <p:animEffect transition="in" filter="blinds(horizontal)">
                                      <p:cBhvr>
                                        <p:cTn id="145" dur="500"/>
                                        <p:tgtEl>
                                          <p:spTgt spid="38"/>
                                        </p:tgtEl>
                                      </p:cBhvr>
                                    </p:animEffect>
                                  </p:childTnLst>
                                </p:cTn>
                              </p:par>
                            </p:childTnLst>
                          </p:cTn>
                        </p:par>
                      </p:childTnLst>
                    </p:cTn>
                  </p:par>
                  <p:par>
                    <p:cTn id="146" fill="hold">
                      <p:stCondLst>
                        <p:cond delay="indefinite"/>
                      </p:stCondLst>
                      <p:childTnLst>
                        <p:par>
                          <p:cTn id="147" fill="hold">
                            <p:stCondLst>
                              <p:cond delay="0"/>
                            </p:stCondLst>
                            <p:childTnLst>
                              <p:par>
                                <p:cTn id="148" presetID="3" presetClass="entr" presetSubtype="10" fill="hold" nodeType="clickEffect">
                                  <p:stCondLst>
                                    <p:cond delay="0"/>
                                  </p:stCondLst>
                                  <p:childTnLst>
                                    <p:set>
                                      <p:cBhvr>
                                        <p:cTn id="149" dur="1" fill="hold">
                                          <p:stCondLst>
                                            <p:cond delay="0"/>
                                          </p:stCondLst>
                                        </p:cTn>
                                        <p:tgtEl>
                                          <p:spTgt spid="47"/>
                                        </p:tgtEl>
                                        <p:attrNameLst>
                                          <p:attrName>style.visibility</p:attrName>
                                        </p:attrNameLst>
                                      </p:cBhvr>
                                      <p:to>
                                        <p:strVal val="visible"/>
                                      </p:to>
                                    </p:set>
                                    <p:animEffect transition="in" filter="blinds(horizontal)">
                                      <p:cBhvr>
                                        <p:cTn id="150" dur="500"/>
                                        <p:tgtEl>
                                          <p:spTgt spid="47"/>
                                        </p:tgtEl>
                                      </p:cBhvr>
                                    </p:animEffect>
                                  </p:childTnLst>
                                </p:cTn>
                              </p:par>
                              <p:par>
                                <p:cTn id="151" presetID="3" presetClass="entr" presetSubtype="10" fill="hold" grpId="0" nodeType="withEffect">
                                  <p:stCondLst>
                                    <p:cond delay="0"/>
                                  </p:stCondLst>
                                  <p:childTnLst>
                                    <p:set>
                                      <p:cBhvr>
                                        <p:cTn id="152" dur="1" fill="hold">
                                          <p:stCondLst>
                                            <p:cond delay="0"/>
                                          </p:stCondLst>
                                        </p:cTn>
                                        <p:tgtEl>
                                          <p:spTgt spid="51"/>
                                        </p:tgtEl>
                                        <p:attrNameLst>
                                          <p:attrName>style.visibility</p:attrName>
                                        </p:attrNameLst>
                                      </p:cBhvr>
                                      <p:to>
                                        <p:strVal val="visible"/>
                                      </p:to>
                                    </p:set>
                                    <p:animEffect transition="in" filter="blinds(horizontal)">
                                      <p:cBhvr>
                                        <p:cTn id="153" dur="500"/>
                                        <p:tgtEl>
                                          <p:spTgt spid="51"/>
                                        </p:tgtEl>
                                      </p:cBhvr>
                                    </p:animEffect>
                                  </p:childTnLst>
                                </p:cTn>
                              </p:par>
                            </p:childTnLst>
                          </p:cTn>
                        </p:par>
                      </p:childTnLst>
                    </p:cTn>
                  </p:par>
                  <p:par>
                    <p:cTn id="154" fill="hold">
                      <p:stCondLst>
                        <p:cond delay="indefinite"/>
                      </p:stCondLst>
                      <p:childTnLst>
                        <p:par>
                          <p:cTn id="155" fill="hold">
                            <p:stCondLst>
                              <p:cond delay="0"/>
                            </p:stCondLst>
                            <p:childTnLst>
                              <p:par>
                                <p:cTn id="156" presetID="3" presetClass="entr" presetSubtype="10" fill="hold" grpId="0" nodeType="clickEffect">
                                  <p:stCondLst>
                                    <p:cond delay="0"/>
                                  </p:stCondLst>
                                  <p:childTnLst>
                                    <p:set>
                                      <p:cBhvr>
                                        <p:cTn id="157" dur="1" fill="hold">
                                          <p:stCondLst>
                                            <p:cond delay="0"/>
                                          </p:stCondLst>
                                        </p:cTn>
                                        <p:tgtEl>
                                          <p:spTgt spid="39"/>
                                        </p:tgtEl>
                                        <p:attrNameLst>
                                          <p:attrName>style.visibility</p:attrName>
                                        </p:attrNameLst>
                                      </p:cBhvr>
                                      <p:to>
                                        <p:strVal val="visible"/>
                                      </p:to>
                                    </p:set>
                                    <p:animEffect transition="in" filter="blinds(horizontal)">
                                      <p:cBhvr>
                                        <p:cTn id="158" dur="500"/>
                                        <p:tgtEl>
                                          <p:spTgt spid="39"/>
                                        </p:tgtEl>
                                      </p:cBhvr>
                                    </p:animEffec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60"/>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3" presetClass="entr" presetSubtype="10" fill="hold" nodeType="clickEffect">
                                  <p:stCondLst>
                                    <p:cond delay="0"/>
                                  </p:stCondLst>
                                  <p:childTnLst>
                                    <p:set>
                                      <p:cBhvr>
                                        <p:cTn id="166" dur="1" fill="hold">
                                          <p:stCondLst>
                                            <p:cond delay="0"/>
                                          </p:stCondLst>
                                        </p:cTn>
                                        <p:tgtEl>
                                          <p:spTgt spid="54"/>
                                        </p:tgtEl>
                                        <p:attrNameLst>
                                          <p:attrName>style.visibility</p:attrName>
                                        </p:attrNameLst>
                                      </p:cBhvr>
                                      <p:to>
                                        <p:strVal val="visible"/>
                                      </p:to>
                                    </p:set>
                                    <p:animEffect transition="in" filter="blinds(horizontal)">
                                      <p:cBhvr>
                                        <p:cTn id="167" dur="500"/>
                                        <p:tgtEl>
                                          <p:spTgt spid="54"/>
                                        </p:tgtEl>
                                      </p:cBhvr>
                                    </p:animEffect>
                                  </p:childTnLst>
                                </p:cTn>
                              </p:par>
                              <p:par>
                                <p:cTn id="168" presetID="3" presetClass="entr" presetSubtype="10" fill="hold" grpId="0" nodeType="withEffect">
                                  <p:stCondLst>
                                    <p:cond delay="0"/>
                                  </p:stCondLst>
                                  <p:childTnLst>
                                    <p:set>
                                      <p:cBhvr>
                                        <p:cTn id="169" dur="1" fill="hold">
                                          <p:stCondLst>
                                            <p:cond delay="0"/>
                                          </p:stCondLst>
                                        </p:cTn>
                                        <p:tgtEl>
                                          <p:spTgt spid="52"/>
                                        </p:tgtEl>
                                        <p:attrNameLst>
                                          <p:attrName>style.visibility</p:attrName>
                                        </p:attrNameLst>
                                      </p:cBhvr>
                                      <p:to>
                                        <p:strVal val="visible"/>
                                      </p:to>
                                    </p:set>
                                    <p:animEffect transition="in" filter="blinds(horizontal)">
                                      <p:cBhvr>
                                        <p:cTn id="170" dur="500"/>
                                        <p:tgtEl>
                                          <p:spTgt spid="52"/>
                                        </p:tgtEl>
                                      </p:cBhvr>
                                    </p:animEffect>
                                  </p:childTnLst>
                                </p:cTn>
                              </p:par>
                              <p:par>
                                <p:cTn id="171" presetID="3" presetClass="entr" presetSubtype="10" fill="hold" nodeType="withEffect">
                                  <p:stCondLst>
                                    <p:cond delay="0"/>
                                  </p:stCondLst>
                                  <p:childTnLst>
                                    <p:set>
                                      <p:cBhvr>
                                        <p:cTn id="172" dur="1" fill="hold">
                                          <p:stCondLst>
                                            <p:cond delay="0"/>
                                          </p:stCondLst>
                                        </p:cTn>
                                        <p:tgtEl>
                                          <p:spTgt spid="53"/>
                                        </p:tgtEl>
                                        <p:attrNameLst>
                                          <p:attrName>style.visibility</p:attrName>
                                        </p:attrNameLst>
                                      </p:cBhvr>
                                      <p:to>
                                        <p:strVal val="visible"/>
                                      </p:to>
                                    </p:set>
                                    <p:animEffect transition="in" filter="blinds(horizontal)">
                                      <p:cBhvr>
                                        <p:cTn id="173"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uiExpand="1" build="p"/>
      <p:bldP spid="35" grpId="0" animBg="1"/>
      <p:bldP spid="36" grpId="0" animBg="1"/>
      <p:bldP spid="37" grpId="0" animBg="1"/>
      <p:bldP spid="38" grpId="0" animBg="1"/>
      <p:bldP spid="39" grpId="0" animBg="1"/>
      <p:bldP spid="48" grpId="0"/>
      <p:bldP spid="49" grpId="0"/>
      <p:bldP spid="50" grpId="0"/>
      <p:bldP spid="51" grpId="0"/>
      <p:bldP spid="5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内容占位符 33794"/>
          <p:cNvSpPr>
            <a:spLocks noGrp="1" noChangeArrowheads="1"/>
          </p:cNvSpPr>
          <p:nvPr>
            <p:ph idx="1"/>
          </p:nvPr>
        </p:nvSpPr>
        <p:spPr>
          <a:xfrm>
            <a:off x="1190684" y="1193324"/>
            <a:ext cx="8229600" cy="4678451"/>
          </a:xfrm>
        </p:spPr>
        <p:txBody>
          <a:bodyPr/>
          <a:lstStyle/>
          <a:p>
            <a:pPr>
              <a:buFont typeface="Wingdings" panose="05000000000000000000" pitchFamily="2" charset="2"/>
              <a:buNone/>
            </a:pPr>
            <a:r>
              <a:rPr lang="zh-CN" altLang="en-US" sz="1800" dirty="0"/>
              <a:t>                                                                                 </a:t>
            </a:r>
            <a:r>
              <a:rPr lang="zh-CN" altLang="en-US" sz="1800" b="1" dirty="0"/>
              <a:t>由此流程图得程序如下</a:t>
            </a:r>
            <a:r>
              <a:rPr lang="en-US" altLang="zh-CN" sz="1800" b="1" dirty="0"/>
              <a:t>:</a:t>
            </a:r>
            <a:endParaRPr lang="en-US" altLang="zh-CN" sz="1800" b="1" dirty="0"/>
          </a:p>
          <a:p>
            <a:pPr lvl="2">
              <a:buFont typeface="Wingdings" panose="05000000000000000000" pitchFamily="2" charset="2"/>
              <a:buNone/>
            </a:pPr>
            <a:r>
              <a:rPr lang="en-US" altLang="zh-CN" sz="1800" b="1" dirty="0"/>
              <a:t>                                                                      </a:t>
            </a:r>
            <a:r>
              <a:rPr lang="en-US" altLang="zh-CN" sz="1800" b="1" dirty="0">
                <a:solidFill>
                  <a:srgbClr val="0000FF"/>
                </a:solidFill>
              </a:rPr>
              <a:t>void</a:t>
            </a:r>
            <a:r>
              <a:rPr lang="en-US" altLang="zh-CN" sz="1800" b="1" dirty="0"/>
              <a:t>  PE(</a:t>
            </a:r>
            <a:r>
              <a:rPr lang="en-US" altLang="zh-CN" sz="1800" b="1" dirty="0" err="1">
                <a:solidFill>
                  <a:srgbClr val="0000FF"/>
                </a:solidFill>
              </a:rPr>
              <a:t>int</a:t>
            </a:r>
            <a:r>
              <a:rPr lang="en-US" altLang="zh-CN" sz="1800" b="1" dirty="0"/>
              <a:t> </a:t>
            </a:r>
            <a:r>
              <a:rPr lang="en-US" altLang="zh-CN" sz="1800" b="1" i="1" dirty="0"/>
              <a:t>n</a:t>
            </a:r>
            <a:r>
              <a:rPr lang="en-US" altLang="zh-CN" sz="1800" b="1" dirty="0"/>
              <a:t>) </a:t>
            </a:r>
            <a:endParaRPr lang="en-US" altLang="zh-CN" sz="1800" b="1" dirty="0"/>
          </a:p>
          <a:p>
            <a:pPr lvl="2">
              <a:buFont typeface="Wingdings" panose="05000000000000000000" pitchFamily="2" charset="2"/>
              <a:buNone/>
            </a:pPr>
            <a:r>
              <a:rPr lang="en-US" altLang="zh-CN" sz="1800" b="1" dirty="0"/>
              <a:t>                                                                      {</a:t>
            </a:r>
            <a:endParaRPr lang="en-US" altLang="zh-CN" sz="1800" b="1" dirty="0"/>
          </a:p>
          <a:p>
            <a:pPr lvl="2">
              <a:buFont typeface="Wingdings" panose="05000000000000000000" pitchFamily="2" charset="2"/>
              <a:buNone/>
            </a:pPr>
            <a:r>
              <a:rPr lang="en-US" altLang="zh-CN" sz="1800" b="1" dirty="0"/>
              <a:t>                                                                          Stack </a:t>
            </a:r>
            <a:r>
              <a:rPr lang="en-US" altLang="zh-CN" sz="1800" b="1" i="1" dirty="0"/>
              <a:t>s</a:t>
            </a:r>
            <a:r>
              <a:rPr lang="en-US" altLang="zh-CN" sz="1800" b="1" dirty="0"/>
              <a:t>;</a:t>
            </a:r>
            <a:endParaRPr lang="en-US" altLang="zh-CN" sz="1800" b="1" dirty="0"/>
          </a:p>
          <a:p>
            <a:pPr lvl="2">
              <a:buFont typeface="Wingdings" panose="05000000000000000000" pitchFamily="2" charset="2"/>
              <a:buNone/>
            </a:pPr>
            <a:r>
              <a:rPr lang="en-US" altLang="zh-CN" sz="1800" b="1" dirty="0"/>
              <a:t>                                                                          </a:t>
            </a:r>
            <a:r>
              <a:rPr lang="en-US" altLang="zh-CN" sz="1800" b="1" dirty="0">
                <a:solidFill>
                  <a:srgbClr val="0000FF"/>
                </a:solidFill>
              </a:rPr>
              <a:t>while</a:t>
            </a:r>
            <a:r>
              <a:rPr lang="en-US" altLang="zh-CN" sz="1800" b="1" dirty="0"/>
              <a:t> ( </a:t>
            </a:r>
            <a:r>
              <a:rPr lang="en-US" altLang="zh-CN" sz="1800" b="1" i="1" dirty="0"/>
              <a:t>n</a:t>
            </a:r>
            <a:r>
              <a:rPr lang="en-US" altLang="zh-CN" sz="1800" b="1" dirty="0"/>
              <a:t> &gt; 0 )</a:t>
            </a:r>
            <a:endParaRPr lang="en-US" altLang="zh-CN" sz="1800" b="1" dirty="0"/>
          </a:p>
          <a:p>
            <a:pPr lvl="2">
              <a:buFont typeface="Wingdings" panose="05000000000000000000" pitchFamily="2" charset="2"/>
              <a:buNone/>
            </a:pPr>
            <a:r>
              <a:rPr lang="en-US" altLang="zh-CN" sz="1800" b="1" dirty="0"/>
              <a:t>                                                                           {   </a:t>
            </a:r>
            <a:r>
              <a:rPr lang="en-US" altLang="zh-CN" sz="1800" b="1" dirty="0" err="1">
                <a:solidFill>
                  <a:srgbClr val="0000FF"/>
                </a:solidFill>
              </a:rPr>
              <a:t>cout</a:t>
            </a:r>
            <a:r>
              <a:rPr lang="en-US" altLang="zh-CN" sz="1800" b="1" dirty="0"/>
              <a:t> &lt;&lt; </a:t>
            </a:r>
            <a:r>
              <a:rPr lang="en-US" altLang="zh-CN" sz="1800" b="1" i="1" dirty="0"/>
              <a:t>n</a:t>
            </a:r>
            <a:r>
              <a:rPr lang="en-US" altLang="zh-CN" sz="1800" b="1" dirty="0"/>
              <a:t>;</a:t>
            </a:r>
            <a:endParaRPr lang="en-US" altLang="zh-CN" sz="1800" b="1" dirty="0"/>
          </a:p>
          <a:p>
            <a:pPr lvl="2">
              <a:buFont typeface="Wingdings" panose="05000000000000000000" pitchFamily="2" charset="2"/>
              <a:buNone/>
            </a:pPr>
            <a:r>
              <a:rPr lang="en-US" altLang="zh-CN" sz="1800" b="1" dirty="0"/>
              <a:t>                                                                                </a:t>
            </a:r>
            <a:r>
              <a:rPr lang="en-US" altLang="zh-CN" sz="1800" b="1" i="1" dirty="0" err="1"/>
              <a:t>s</a:t>
            </a:r>
            <a:r>
              <a:rPr lang="en-US" altLang="zh-CN" sz="1800" b="1" dirty="0" err="1"/>
              <a:t>.Push</a:t>
            </a:r>
            <a:r>
              <a:rPr lang="en-US" altLang="zh-CN" sz="1800" b="1" dirty="0"/>
              <a:t> (</a:t>
            </a:r>
            <a:r>
              <a:rPr lang="en-US" altLang="zh-CN" sz="1800" b="1" i="1" dirty="0"/>
              <a:t>n</a:t>
            </a:r>
            <a:r>
              <a:rPr lang="en-US" altLang="zh-CN" sz="1800" b="1" dirty="0"/>
              <a:t>); </a:t>
            </a:r>
            <a:endParaRPr lang="en-US" altLang="zh-CN" sz="1800" b="1" dirty="0"/>
          </a:p>
          <a:p>
            <a:pPr lvl="2">
              <a:buFont typeface="Wingdings" panose="05000000000000000000" pitchFamily="2" charset="2"/>
              <a:buNone/>
            </a:pPr>
            <a:r>
              <a:rPr lang="en-US" altLang="zh-CN" sz="1800" b="1" dirty="0"/>
              <a:t>                                                                                </a:t>
            </a:r>
            <a:r>
              <a:rPr lang="en-US" altLang="zh-CN" sz="1800" b="1" i="1" dirty="0"/>
              <a:t>n</a:t>
            </a:r>
            <a:r>
              <a:rPr lang="en-US" altLang="zh-CN" sz="1800" b="1" dirty="0"/>
              <a:t> = </a:t>
            </a:r>
            <a:r>
              <a:rPr lang="en-US" altLang="zh-CN" sz="1800" b="1" i="1" dirty="0"/>
              <a:t>n</a:t>
            </a:r>
            <a:r>
              <a:rPr lang="en-US" altLang="zh-CN" sz="1800" b="1" dirty="0"/>
              <a:t> - 1;</a:t>
            </a:r>
            <a:endParaRPr lang="en-US" altLang="zh-CN" sz="1800" b="1" dirty="0"/>
          </a:p>
          <a:p>
            <a:pPr lvl="2">
              <a:buFont typeface="Wingdings" panose="05000000000000000000" pitchFamily="2" charset="2"/>
              <a:buNone/>
            </a:pPr>
            <a:r>
              <a:rPr lang="en-US" altLang="zh-CN" sz="1800" b="1" dirty="0"/>
              <a:t>                                                                           } </a:t>
            </a:r>
            <a:endParaRPr lang="en-US" altLang="zh-CN" sz="1800" b="1" dirty="0"/>
          </a:p>
          <a:p>
            <a:pPr lvl="2">
              <a:buFont typeface="Wingdings" panose="05000000000000000000" pitchFamily="2" charset="2"/>
              <a:buNone/>
            </a:pPr>
            <a:r>
              <a:rPr lang="en-US" altLang="zh-CN" sz="1800" b="1" dirty="0"/>
              <a:t>                                                                           </a:t>
            </a:r>
            <a:r>
              <a:rPr lang="en-US" altLang="zh-CN" sz="1800" b="1" dirty="0">
                <a:solidFill>
                  <a:srgbClr val="0000FF"/>
                </a:solidFill>
              </a:rPr>
              <a:t>while</a:t>
            </a:r>
            <a:r>
              <a:rPr lang="en-US" altLang="zh-CN" sz="1800" b="1" dirty="0"/>
              <a:t> ( !</a:t>
            </a:r>
            <a:r>
              <a:rPr lang="en-US" altLang="zh-CN" sz="1800" b="1" i="1" dirty="0" err="1"/>
              <a:t>s</a:t>
            </a:r>
            <a:r>
              <a:rPr lang="en-US" altLang="zh-CN" sz="1800" b="1" dirty="0" err="1"/>
              <a:t>.Empty</a:t>
            </a:r>
            <a:r>
              <a:rPr lang="en-US" altLang="zh-CN" sz="1800" b="1" dirty="0"/>
              <a:t>( ) )</a:t>
            </a:r>
            <a:endParaRPr lang="en-US" altLang="zh-CN" sz="1800" b="1" dirty="0"/>
          </a:p>
          <a:p>
            <a:pPr lvl="2">
              <a:buFont typeface="Wingdings" panose="05000000000000000000" pitchFamily="2" charset="2"/>
              <a:buNone/>
            </a:pPr>
            <a:r>
              <a:rPr lang="en-US" altLang="zh-CN" sz="1800" b="1" dirty="0"/>
              <a:t>                                                                                  </a:t>
            </a:r>
            <a:r>
              <a:rPr lang="en-US" altLang="zh-CN" sz="1800" b="1" i="1" dirty="0" err="1"/>
              <a:t>s</a:t>
            </a:r>
            <a:r>
              <a:rPr lang="en-US" altLang="zh-CN" sz="1800" b="1" dirty="0" err="1"/>
              <a:t>.Pop</a:t>
            </a:r>
            <a:r>
              <a:rPr lang="en-US" altLang="zh-CN" sz="1800" b="1" dirty="0"/>
              <a:t>(</a:t>
            </a:r>
            <a:r>
              <a:rPr lang="en-US" altLang="zh-CN" sz="1800" b="1" i="1" dirty="0"/>
              <a:t>n</a:t>
            </a:r>
            <a:r>
              <a:rPr lang="en-US" altLang="zh-CN" sz="1800" b="1" dirty="0"/>
              <a:t>);</a:t>
            </a:r>
            <a:endParaRPr lang="en-US" altLang="zh-CN" sz="1800" b="1" dirty="0"/>
          </a:p>
          <a:p>
            <a:pPr lvl="2">
              <a:buFont typeface="Wingdings" panose="05000000000000000000" pitchFamily="2" charset="2"/>
              <a:buNone/>
            </a:pPr>
            <a:r>
              <a:rPr lang="en-US" altLang="zh-CN" sz="1800" b="1" dirty="0"/>
              <a:t>                                                                       }</a:t>
            </a:r>
            <a:endParaRPr lang="en-US" altLang="zh-CN" sz="1800" b="1" dirty="0"/>
          </a:p>
          <a:p>
            <a:pPr>
              <a:buFont typeface="Wingdings" panose="05000000000000000000" pitchFamily="2" charset="2"/>
              <a:buNone/>
            </a:pPr>
            <a:r>
              <a:rPr lang="zh-CN" altLang="en-US" sz="1800" b="1" dirty="0"/>
              <a:t> 观察一下流程图及程序</a:t>
            </a:r>
            <a:r>
              <a:rPr lang="en-US" altLang="zh-CN" sz="1800" b="1" dirty="0"/>
              <a:t>, </a:t>
            </a:r>
            <a:r>
              <a:rPr lang="zh-CN" altLang="en-US" sz="1800" b="1" dirty="0"/>
              <a:t>可以</a:t>
            </a:r>
            <a:r>
              <a:rPr lang="zh-CN" altLang="en-US" sz="1800" b="1" dirty="0">
                <a:solidFill>
                  <a:srgbClr val="FF0000"/>
                </a:solidFill>
              </a:rPr>
              <a:t>发现</a:t>
            </a:r>
            <a:r>
              <a:rPr lang="zh-CN" altLang="en-US" sz="1800" b="1" dirty="0"/>
              <a:t>：</a:t>
            </a:r>
            <a:endParaRPr lang="zh-CN" altLang="en-US" sz="1800" b="1" dirty="0"/>
          </a:p>
          <a:p>
            <a:pPr>
              <a:buFont typeface="Wingdings" panose="05000000000000000000" pitchFamily="2" charset="2"/>
              <a:buNone/>
            </a:pPr>
            <a:r>
              <a:rPr lang="zh-CN" altLang="en-US" sz="1800" b="1" dirty="0">
                <a:solidFill>
                  <a:schemeClr val="tx2"/>
                </a:solidFill>
              </a:rPr>
              <a:t>最后的退栈操作所退出的数据根本没有使用就丢掉了</a:t>
            </a:r>
            <a:r>
              <a:rPr lang="en-US" altLang="zh-CN" sz="1800" b="1" dirty="0">
                <a:solidFill>
                  <a:schemeClr val="tx2"/>
                </a:solidFill>
              </a:rPr>
              <a:t>, </a:t>
            </a:r>
            <a:endParaRPr lang="en-US" altLang="zh-CN" sz="1800" b="1" dirty="0">
              <a:solidFill>
                <a:schemeClr val="tx2"/>
              </a:solidFill>
            </a:endParaRPr>
          </a:p>
          <a:p>
            <a:pPr>
              <a:buFont typeface="Wingdings" panose="05000000000000000000" pitchFamily="2" charset="2"/>
              <a:buNone/>
            </a:pPr>
            <a:r>
              <a:rPr lang="zh-CN" altLang="en-US" sz="1800" b="1" dirty="0">
                <a:solidFill>
                  <a:schemeClr val="tx2"/>
                </a:solidFill>
              </a:rPr>
              <a:t>这说明所保存的这些数据是无用的。由此讨论可得关于</a:t>
            </a:r>
            <a:r>
              <a:rPr lang="zh-CN" altLang="en-US" sz="1800" b="1" dirty="0">
                <a:solidFill>
                  <a:srgbClr val="FF0000"/>
                </a:solidFill>
              </a:rPr>
              <a:t>尾递归</a:t>
            </a:r>
            <a:r>
              <a:rPr lang="zh-CN" altLang="en-US" sz="1800" b="1" dirty="0">
                <a:solidFill>
                  <a:schemeClr val="tx2"/>
                </a:solidFill>
              </a:rPr>
              <a:t>的简化规则。</a:t>
            </a:r>
            <a:endParaRPr lang="zh-CN" altLang="en-US" sz="2000" b="1" dirty="0">
              <a:solidFill>
                <a:schemeClr val="tx2"/>
              </a:solidFill>
            </a:endParaRPr>
          </a:p>
        </p:txBody>
      </p:sp>
      <p:grpSp>
        <p:nvGrpSpPr>
          <p:cNvPr id="29" name="组合 28"/>
          <p:cNvGrpSpPr/>
          <p:nvPr/>
        </p:nvGrpSpPr>
        <p:grpSpPr>
          <a:xfrm>
            <a:off x="541437" y="127832"/>
            <a:ext cx="7991003" cy="674160"/>
            <a:chOff x="999690" y="5042189"/>
            <a:chExt cx="8290830" cy="647731"/>
          </a:xfrm>
        </p:grpSpPr>
        <p:sp>
          <p:nvSpPr>
            <p:cNvPr id="30"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1"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32" name="图片 31"/>
            <p:cNvPicPr>
              <a:picLocks noChangeAspect="1"/>
            </p:cNvPicPr>
            <p:nvPr/>
          </p:nvPicPr>
          <p:blipFill>
            <a:blip r:embed="rId1" cstate="print"/>
            <a:stretch>
              <a:fillRect/>
            </a:stretch>
          </p:blipFill>
          <p:spPr>
            <a:xfrm>
              <a:off x="1199659" y="5205012"/>
              <a:ext cx="420013" cy="322083"/>
            </a:xfrm>
            <a:prstGeom prst="rect">
              <a:avLst/>
            </a:prstGeom>
          </p:spPr>
        </p:pic>
      </p:grpSp>
      <p:sp>
        <p:nvSpPr>
          <p:cNvPr id="33" name="灯片编号占位符 1"/>
          <p:cNvSpPr>
            <a:spLocks noGrp="1" noChangeArrowheads="1"/>
          </p:cNvSpPr>
          <p:nvPr>
            <p:ph type="sldNum" sz="quarter" idx="4294967295"/>
          </p:nvPr>
        </p:nvSpPr>
        <p:spPr bwMode="auto">
          <a:xfrm>
            <a:off x="3720510" y="2616592"/>
            <a:ext cx="2133600" cy="22671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C8194BF8-5EA1-4A25-85BE-C07108FF9753}" type="slidenum">
              <a:rPr lang="zh-CN" altLang="en-US" smtClean="0">
                <a:latin typeface="Verdana" panose="020B0604030504040204" pitchFamily="34" charset="0"/>
              </a:rPr>
            </a:fld>
            <a:endParaRPr lang="zh-CN" altLang="en-US">
              <a:latin typeface="Verdana" panose="020B0604030504040204" pitchFamily="34" charset="0"/>
            </a:endParaRPr>
          </a:p>
        </p:txBody>
      </p:sp>
      <p:sp>
        <p:nvSpPr>
          <p:cNvPr id="34" name="椭圆 33"/>
          <p:cNvSpPr>
            <a:spLocks noChangeArrowheads="1"/>
          </p:cNvSpPr>
          <p:nvPr/>
        </p:nvSpPr>
        <p:spPr bwMode="auto">
          <a:xfrm>
            <a:off x="1036849" y="1049656"/>
            <a:ext cx="360363" cy="287337"/>
          </a:xfrm>
          <a:prstGeom prst="ellipse">
            <a:avLst/>
          </a:prstGeom>
          <a:solidFill>
            <a:srgbClr val="FFFF00"/>
          </a:solidFill>
          <a:ln w="9525">
            <a:solidFill>
              <a:srgbClr val="000000"/>
            </a:solidFill>
            <a:round/>
          </a:ln>
        </p:spPr>
        <p:txBody>
          <a:bodyPr/>
          <a:lstStyle/>
          <a:p>
            <a:pPr algn="ctr" eaLnBrk="0" hangingPunct="0"/>
            <a:endParaRPr lang="zh-CN" altLang="en-US">
              <a:latin typeface="Times New Roman" panose="02020603050405020304" pitchFamily="18" charset="0"/>
              <a:cs typeface="Times New Roman" panose="02020603050405020304" pitchFamily="18" charset="0"/>
            </a:endParaRPr>
          </a:p>
        </p:txBody>
      </p:sp>
      <p:sp>
        <p:nvSpPr>
          <p:cNvPr id="35" name="矩形 34"/>
          <p:cNvSpPr>
            <a:spLocks noChangeArrowheads="1"/>
          </p:cNvSpPr>
          <p:nvPr/>
        </p:nvSpPr>
        <p:spPr bwMode="auto">
          <a:xfrm>
            <a:off x="734174" y="1700808"/>
            <a:ext cx="1024639" cy="36933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eaLnBrk="0" hangingPunct="0"/>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a:latin typeface="Times New Roman" panose="02020603050405020304" pitchFamily="18" charset="0"/>
                <a:ea typeface="宋体" panose="02010600030101010101" pitchFamily="2" charset="-122"/>
                <a:cs typeface="Times New Roman" panose="02020603050405020304" pitchFamily="18" charset="0"/>
              </a:rPr>
              <a:t>Stack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 name="流程图: 决策 35"/>
          <p:cNvSpPr>
            <a:spLocks noChangeArrowheads="1"/>
          </p:cNvSpPr>
          <p:nvPr/>
        </p:nvSpPr>
        <p:spPr bwMode="auto">
          <a:xfrm>
            <a:off x="470649" y="2560956"/>
            <a:ext cx="1512887" cy="720725"/>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&gt;0;</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流程图: 过程 36"/>
          <p:cNvSpPr>
            <a:spLocks noChangeArrowheads="1"/>
          </p:cNvSpPr>
          <p:nvPr/>
        </p:nvSpPr>
        <p:spPr bwMode="auto">
          <a:xfrm>
            <a:off x="399211" y="3929381"/>
            <a:ext cx="1657350" cy="877832"/>
          </a:xfrm>
          <a:prstGeom prst="flowChartProcess">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en-US" altLang="zh-CN" dirty="0" err="1">
                <a:latin typeface="Times New Roman" panose="02020603050405020304" pitchFamily="18" charset="0"/>
                <a:ea typeface="宋体" panose="02010600030101010101" pitchFamily="2" charset="-122"/>
                <a:cs typeface="Times New Roman" panose="02020603050405020304" pitchFamily="18" charset="0"/>
              </a:rPr>
              <a:t>cout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&lt;&lt;n;</a:t>
            </a:r>
            <a:endParaRPr lang="en-US" altLang="zh-CN" i="1"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.Push</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-1;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8" name="流程图: 决策 37"/>
          <p:cNvSpPr>
            <a:spLocks noChangeArrowheads="1"/>
          </p:cNvSpPr>
          <p:nvPr/>
        </p:nvSpPr>
        <p:spPr bwMode="auto">
          <a:xfrm>
            <a:off x="2569452" y="2273618"/>
            <a:ext cx="2663825" cy="720725"/>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zh-CN" altLang="en-US" sz="16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1"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sz="1600" b="1" dirty="0" err="1">
                <a:latin typeface="Times New Roman" panose="02020603050405020304" pitchFamily="18" charset="0"/>
                <a:ea typeface="宋体" panose="02010600030101010101" pitchFamily="2" charset="-122"/>
                <a:cs typeface="Times New Roman" panose="02020603050405020304" pitchFamily="18" charset="0"/>
              </a:rPr>
              <a:t>.Empty</a:t>
            </a: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9" name="流程图: 过程 38"/>
          <p:cNvSpPr>
            <a:spLocks noChangeArrowheads="1"/>
          </p:cNvSpPr>
          <p:nvPr/>
        </p:nvSpPr>
        <p:spPr bwMode="auto">
          <a:xfrm>
            <a:off x="2856790" y="3642043"/>
            <a:ext cx="2089150" cy="720725"/>
          </a:xfrm>
          <a:prstGeom prst="flowChartProcess">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.Pop</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 );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 name="直接连接符 39"/>
          <p:cNvSpPr>
            <a:spLocks noChangeShapeType="1"/>
          </p:cNvSpPr>
          <p:nvPr/>
        </p:nvSpPr>
        <p:spPr bwMode="auto">
          <a:xfrm>
            <a:off x="1219949" y="1336993"/>
            <a:ext cx="0" cy="3603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1" name="直接连接符 40"/>
          <p:cNvSpPr>
            <a:spLocks noChangeShapeType="1"/>
          </p:cNvSpPr>
          <p:nvPr/>
        </p:nvSpPr>
        <p:spPr bwMode="auto">
          <a:xfrm>
            <a:off x="1219949" y="2076768"/>
            <a:ext cx="0" cy="50323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2" name="直接连接符 41"/>
          <p:cNvSpPr>
            <a:spLocks noChangeShapeType="1"/>
          </p:cNvSpPr>
          <p:nvPr/>
        </p:nvSpPr>
        <p:spPr bwMode="auto">
          <a:xfrm>
            <a:off x="1234236" y="3281681"/>
            <a:ext cx="0" cy="6477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3" name="直接连接符 42"/>
          <p:cNvSpPr>
            <a:spLocks noChangeShapeType="1"/>
          </p:cNvSpPr>
          <p:nvPr/>
        </p:nvSpPr>
        <p:spPr bwMode="auto">
          <a:xfrm>
            <a:off x="1983536" y="2921318"/>
            <a:ext cx="2873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4" name="直接连接符 43"/>
          <p:cNvSpPr>
            <a:spLocks noChangeShapeType="1"/>
          </p:cNvSpPr>
          <p:nvPr/>
        </p:nvSpPr>
        <p:spPr bwMode="auto">
          <a:xfrm flipV="1">
            <a:off x="2270874" y="1768793"/>
            <a:ext cx="0" cy="11525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5" name="直接连接符 44"/>
          <p:cNvSpPr>
            <a:spLocks noChangeShapeType="1"/>
          </p:cNvSpPr>
          <p:nvPr/>
        </p:nvSpPr>
        <p:spPr bwMode="auto">
          <a:xfrm>
            <a:off x="2270874" y="1768793"/>
            <a:ext cx="163942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6" name="直接连接符 45"/>
          <p:cNvSpPr>
            <a:spLocks noChangeShapeType="1"/>
          </p:cNvSpPr>
          <p:nvPr/>
        </p:nvSpPr>
        <p:spPr bwMode="auto">
          <a:xfrm>
            <a:off x="3910302" y="1768793"/>
            <a:ext cx="0" cy="5048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7" name="直接连接符 46"/>
          <p:cNvSpPr>
            <a:spLocks noChangeShapeType="1"/>
          </p:cNvSpPr>
          <p:nvPr/>
        </p:nvSpPr>
        <p:spPr bwMode="auto">
          <a:xfrm>
            <a:off x="3937877" y="2992756"/>
            <a:ext cx="0" cy="64928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8" name="矩形 47"/>
          <p:cNvSpPr>
            <a:spLocks noChangeArrowheads="1"/>
          </p:cNvSpPr>
          <p:nvPr/>
        </p:nvSpPr>
        <p:spPr bwMode="auto">
          <a:xfrm>
            <a:off x="1839074" y="2489518"/>
            <a:ext cx="4318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N</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49" name="矩形 48"/>
          <p:cNvSpPr>
            <a:spLocks noChangeArrowheads="1"/>
          </p:cNvSpPr>
          <p:nvPr/>
        </p:nvSpPr>
        <p:spPr bwMode="auto">
          <a:xfrm>
            <a:off x="1262811" y="3426143"/>
            <a:ext cx="433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Y</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50" name="矩形 49"/>
          <p:cNvSpPr>
            <a:spLocks noChangeArrowheads="1"/>
          </p:cNvSpPr>
          <p:nvPr/>
        </p:nvSpPr>
        <p:spPr bwMode="auto">
          <a:xfrm>
            <a:off x="1118349" y="2129156"/>
            <a:ext cx="6477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0</a:t>
            </a:r>
            <a:endParaRPr lang="en-US" altLang="zh-CN"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1" name="矩形 50"/>
          <p:cNvSpPr>
            <a:spLocks noChangeArrowheads="1"/>
          </p:cNvSpPr>
          <p:nvPr/>
        </p:nvSpPr>
        <p:spPr bwMode="auto">
          <a:xfrm>
            <a:off x="3506077" y="3137218"/>
            <a:ext cx="4318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N</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52" name="矩形 51"/>
          <p:cNvSpPr>
            <a:spLocks noChangeArrowheads="1"/>
          </p:cNvSpPr>
          <p:nvPr/>
        </p:nvSpPr>
        <p:spPr bwMode="auto">
          <a:xfrm>
            <a:off x="5143223" y="2580006"/>
            <a:ext cx="433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dirty="0">
                <a:latin typeface="Times New Roman" panose="02020603050405020304" pitchFamily="18" charset="0"/>
                <a:ea typeface="宋体" panose="02010600030101010101" pitchFamily="2" charset="-122"/>
                <a:cs typeface="Times New Roman" panose="02020603050405020304" pitchFamily="18" charset="0"/>
              </a:rPr>
              <a:t>Y</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3" name="椭圆 52"/>
          <p:cNvSpPr>
            <a:spLocks noChangeArrowheads="1"/>
          </p:cNvSpPr>
          <p:nvPr/>
        </p:nvSpPr>
        <p:spPr bwMode="auto">
          <a:xfrm>
            <a:off x="5586932" y="2491106"/>
            <a:ext cx="358775" cy="287337"/>
          </a:xfrm>
          <a:prstGeom prst="ellipse">
            <a:avLst/>
          </a:prstGeom>
          <a:solidFill>
            <a:srgbClr val="FFFF00"/>
          </a:solidFill>
          <a:ln w="9525">
            <a:solidFill>
              <a:srgbClr val="000000"/>
            </a:solidFill>
            <a:round/>
          </a:ln>
        </p:spPr>
        <p:txBody>
          <a:bodyPr/>
          <a:lstStyle/>
          <a:p>
            <a:pPr algn="ctr" eaLnBrk="0" hangingPunct="0"/>
            <a:endParaRPr lang="zh-CN" altLang="en-US">
              <a:latin typeface="Times New Roman" panose="02020603050405020304" pitchFamily="18" charset="0"/>
              <a:cs typeface="Times New Roman" panose="02020603050405020304" pitchFamily="18" charset="0"/>
            </a:endParaRPr>
          </a:p>
        </p:txBody>
      </p:sp>
      <p:sp>
        <p:nvSpPr>
          <p:cNvPr id="54" name="直接连接符 53"/>
          <p:cNvSpPr>
            <a:spLocks noChangeShapeType="1"/>
          </p:cNvSpPr>
          <p:nvPr/>
        </p:nvSpPr>
        <p:spPr bwMode="auto">
          <a:xfrm>
            <a:off x="5229028" y="2633981"/>
            <a:ext cx="35877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nvGrpSpPr>
          <p:cNvPr id="6" name="组合 5"/>
          <p:cNvGrpSpPr/>
          <p:nvPr/>
        </p:nvGrpSpPr>
        <p:grpSpPr>
          <a:xfrm>
            <a:off x="274484" y="2273618"/>
            <a:ext cx="989129" cy="2745644"/>
            <a:chOff x="274484" y="2273618"/>
            <a:chExt cx="989129" cy="2745644"/>
          </a:xfrm>
        </p:grpSpPr>
        <p:cxnSp>
          <p:nvCxnSpPr>
            <p:cNvPr id="56" name="直接连接符 55"/>
            <p:cNvCxnSpPr/>
            <p:nvPr/>
          </p:nvCxnSpPr>
          <p:spPr>
            <a:xfrm>
              <a:off x="1263613" y="4807213"/>
              <a:ext cx="0" cy="2120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274484" y="5012501"/>
              <a:ext cx="98832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V="1">
              <a:off x="274484" y="2275428"/>
              <a:ext cx="0" cy="2737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274484" y="2273618"/>
              <a:ext cx="951576" cy="0"/>
            </a:xfrm>
            <a:prstGeom prst="line">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grpSp>
        <p:nvGrpSpPr>
          <p:cNvPr id="7" name="组合 6"/>
          <p:cNvGrpSpPr/>
          <p:nvPr/>
        </p:nvGrpSpPr>
        <p:grpSpPr>
          <a:xfrm>
            <a:off x="2488360" y="2019395"/>
            <a:ext cx="1465485" cy="2738884"/>
            <a:chOff x="2488360" y="2019395"/>
            <a:chExt cx="1465485" cy="2738884"/>
          </a:xfrm>
        </p:grpSpPr>
        <p:cxnSp>
          <p:nvCxnSpPr>
            <p:cNvPr id="63" name="直接连接符 62"/>
            <p:cNvCxnSpPr/>
            <p:nvPr/>
          </p:nvCxnSpPr>
          <p:spPr>
            <a:xfrm flipH="1">
              <a:off x="2488360" y="4758278"/>
              <a:ext cx="1465485"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V="1">
              <a:off x="2488360" y="2021205"/>
              <a:ext cx="0" cy="2737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2488360" y="2019395"/>
              <a:ext cx="1421941" cy="1810"/>
            </a:xfrm>
            <a:prstGeom prst="line">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cxnSp>
        <p:nvCxnSpPr>
          <p:cNvPr id="62" name="直接连接符 61"/>
          <p:cNvCxnSpPr/>
          <p:nvPr/>
        </p:nvCxnSpPr>
        <p:spPr>
          <a:xfrm flipV="1">
            <a:off x="3953847" y="4362769"/>
            <a:ext cx="0" cy="3955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33795">
                                            <p:txEl>
                                              <p:pRg st="0" end="0"/>
                                            </p:txEl>
                                          </p:spTgt>
                                        </p:tgtEl>
                                        <p:attrNameLst>
                                          <p:attrName>style.visibility</p:attrName>
                                        </p:attrNameLst>
                                      </p:cBhvr>
                                      <p:to>
                                        <p:strVal val="visible"/>
                                      </p:to>
                                    </p:set>
                                    <p:animEffect transition="in" filter="blinds(horizontal)">
                                      <p:cBhvr>
                                        <p:cTn id="59" dur="500"/>
                                        <p:tgtEl>
                                          <p:spTgt spid="33795">
                                            <p:txEl>
                                              <p:pRg st="0" end="0"/>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33795">
                                            <p:txEl>
                                              <p:pRg st="1" end="1"/>
                                            </p:txEl>
                                          </p:spTgt>
                                        </p:tgtEl>
                                        <p:attrNameLst>
                                          <p:attrName>style.visibility</p:attrName>
                                        </p:attrNameLst>
                                      </p:cBhvr>
                                      <p:to>
                                        <p:strVal val="visible"/>
                                      </p:to>
                                    </p:set>
                                    <p:animEffect transition="in" filter="blinds(horizontal)">
                                      <p:cBhvr>
                                        <p:cTn id="64" dur="500"/>
                                        <p:tgtEl>
                                          <p:spTgt spid="33795">
                                            <p:txEl>
                                              <p:pRg st="1" end="1"/>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33795">
                                            <p:txEl>
                                              <p:pRg st="2" end="2"/>
                                            </p:txEl>
                                          </p:spTgt>
                                        </p:tgtEl>
                                        <p:attrNameLst>
                                          <p:attrName>style.visibility</p:attrName>
                                        </p:attrNameLst>
                                      </p:cBhvr>
                                      <p:to>
                                        <p:strVal val="visible"/>
                                      </p:to>
                                    </p:set>
                                    <p:animEffect transition="in" filter="blinds(horizontal)">
                                      <p:cBhvr>
                                        <p:cTn id="69" dur="500"/>
                                        <p:tgtEl>
                                          <p:spTgt spid="33795">
                                            <p:txEl>
                                              <p:pRg st="2" end="2"/>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33795">
                                            <p:txEl>
                                              <p:pRg st="3" end="3"/>
                                            </p:txEl>
                                          </p:spTgt>
                                        </p:tgtEl>
                                        <p:attrNameLst>
                                          <p:attrName>style.visibility</p:attrName>
                                        </p:attrNameLst>
                                      </p:cBhvr>
                                      <p:to>
                                        <p:strVal val="visible"/>
                                      </p:to>
                                    </p:set>
                                    <p:animEffect transition="in" filter="blinds(horizontal)">
                                      <p:cBhvr>
                                        <p:cTn id="74" dur="500"/>
                                        <p:tgtEl>
                                          <p:spTgt spid="33795">
                                            <p:txEl>
                                              <p:pRg st="3" end="3"/>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33795">
                                            <p:txEl>
                                              <p:pRg st="4" end="4"/>
                                            </p:txEl>
                                          </p:spTgt>
                                        </p:tgtEl>
                                        <p:attrNameLst>
                                          <p:attrName>style.visibility</p:attrName>
                                        </p:attrNameLst>
                                      </p:cBhvr>
                                      <p:to>
                                        <p:strVal val="visible"/>
                                      </p:to>
                                    </p:set>
                                    <p:animEffect transition="in" filter="blinds(horizontal)">
                                      <p:cBhvr>
                                        <p:cTn id="79" dur="500"/>
                                        <p:tgtEl>
                                          <p:spTgt spid="33795">
                                            <p:txEl>
                                              <p:pRg st="4" end="4"/>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33795">
                                            <p:txEl>
                                              <p:pRg st="5" end="5"/>
                                            </p:txEl>
                                          </p:spTgt>
                                        </p:tgtEl>
                                        <p:attrNameLst>
                                          <p:attrName>style.visibility</p:attrName>
                                        </p:attrNameLst>
                                      </p:cBhvr>
                                      <p:to>
                                        <p:strVal val="visible"/>
                                      </p:to>
                                    </p:set>
                                    <p:animEffect transition="in" filter="blinds(horizontal)">
                                      <p:cBhvr>
                                        <p:cTn id="84" dur="500"/>
                                        <p:tgtEl>
                                          <p:spTgt spid="33795">
                                            <p:txEl>
                                              <p:pRg st="5" end="5"/>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33795">
                                            <p:txEl>
                                              <p:pRg st="6" end="6"/>
                                            </p:txEl>
                                          </p:spTgt>
                                        </p:tgtEl>
                                        <p:attrNameLst>
                                          <p:attrName>style.visibility</p:attrName>
                                        </p:attrNameLst>
                                      </p:cBhvr>
                                      <p:to>
                                        <p:strVal val="visible"/>
                                      </p:to>
                                    </p:set>
                                    <p:animEffect transition="in" filter="blinds(horizontal)">
                                      <p:cBhvr>
                                        <p:cTn id="89" dur="500"/>
                                        <p:tgtEl>
                                          <p:spTgt spid="33795">
                                            <p:txEl>
                                              <p:pRg st="6" end="6"/>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grpId="0" nodeType="clickEffect">
                                  <p:stCondLst>
                                    <p:cond delay="0"/>
                                  </p:stCondLst>
                                  <p:childTnLst>
                                    <p:set>
                                      <p:cBhvr>
                                        <p:cTn id="93" dur="1" fill="hold">
                                          <p:stCondLst>
                                            <p:cond delay="0"/>
                                          </p:stCondLst>
                                        </p:cTn>
                                        <p:tgtEl>
                                          <p:spTgt spid="33795">
                                            <p:txEl>
                                              <p:pRg st="7" end="7"/>
                                            </p:txEl>
                                          </p:spTgt>
                                        </p:tgtEl>
                                        <p:attrNameLst>
                                          <p:attrName>style.visibility</p:attrName>
                                        </p:attrNameLst>
                                      </p:cBhvr>
                                      <p:to>
                                        <p:strVal val="visible"/>
                                      </p:to>
                                    </p:set>
                                    <p:animEffect transition="in" filter="blinds(horizontal)">
                                      <p:cBhvr>
                                        <p:cTn id="94" dur="500"/>
                                        <p:tgtEl>
                                          <p:spTgt spid="33795">
                                            <p:txEl>
                                              <p:pRg st="7" end="7"/>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33795">
                                            <p:txEl>
                                              <p:pRg st="8" end="8"/>
                                            </p:txEl>
                                          </p:spTgt>
                                        </p:tgtEl>
                                        <p:attrNameLst>
                                          <p:attrName>style.visibility</p:attrName>
                                        </p:attrNameLst>
                                      </p:cBhvr>
                                      <p:to>
                                        <p:strVal val="visible"/>
                                      </p:to>
                                    </p:set>
                                    <p:animEffect transition="in" filter="blinds(horizontal)">
                                      <p:cBhvr>
                                        <p:cTn id="99" dur="500"/>
                                        <p:tgtEl>
                                          <p:spTgt spid="33795">
                                            <p:txEl>
                                              <p:pRg st="8" end="8"/>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3" presetClass="entr" presetSubtype="10" fill="hold" grpId="0" nodeType="clickEffect">
                                  <p:stCondLst>
                                    <p:cond delay="0"/>
                                  </p:stCondLst>
                                  <p:childTnLst>
                                    <p:set>
                                      <p:cBhvr>
                                        <p:cTn id="103" dur="1" fill="hold">
                                          <p:stCondLst>
                                            <p:cond delay="0"/>
                                          </p:stCondLst>
                                        </p:cTn>
                                        <p:tgtEl>
                                          <p:spTgt spid="33795">
                                            <p:txEl>
                                              <p:pRg st="9" end="9"/>
                                            </p:txEl>
                                          </p:spTgt>
                                        </p:tgtEl>
                                        <p:attrNameLst>
                                          <p:attrName>style.visibility</p:attrName>
                                        </p:attrNameLst>
                                      </p:cBhvr>
                                      <p:to>
                                        <p:strVal val="visible"/>
                                      </p:to>
                                    </p:set>
                                    <p:animEffect transition="in" filter="blinds(horizontal)">
                                      <p:cBhvr>
                                        <p:cTn id="104" dur="500"/>
                                        <p:tgtEl>
                                          <p:spTgt spid="33795">
                                            <p:txEl>
                                              <p:pRg st="9" end="9"/>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3" presetClass="entr" presetSubtype="10" fill="hold" grpId="0" nodeType="clickEffect">
                                  <p:stCondLst>
                                    <p:cond delay="0"/>
                                  </p:stCondLst>
                                  <p:childTnLst>
                                    <p:set>
                                      <p:cBhvr>
                                        <p:cTn id="108" dur="1" fill="hold">
                                          <p:stCondLst>
                                            <p:cond delay="0"/>
                                          </p:stCondLst>
                                        </p:cTn>
                                        <p:tgtEl>
                                          <p:spTgt spid="33795">
                                            <p:txEl>
                                              <p:pRg st="10" end="10"/>
                                            </p:txEl>
                                          </p:spTgt>
                                        </p:tgtEl>
                                        <p:attrNameLst>
                                          <p:attrName>style.visibility</p:attrName>
                                        </p:attrNameLst>
                                      </p:cBhvr>
                                      <p:to>
                                        <p:strVal val="visible"/>
                                      </p:to>
                                    </p:set>
                                    <p:animEffect transition="in" filter="blinds(horizontal)">
                                      <p:cBhvr>
                                        <p:cTn id="109" dur="500"/>
                                        <p:tgtEl>
                                          <p:spTgt spid="33795">
                                            <p:txEl>
                                              <p:pRg st="10" end="10"/>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3" presetClass="entr" presetSubtype="10" fill="hold" grpId="0" nodeType="clickEffect">
                                  <p:stCondLst>
                                    <p:cond delay="0"/>
                                  </p:stCondLst>
                                  <p:childTnLst>
                                    <p:set>
                                      <p:cBhvr>
                                        <p:cTn id="113" dur="1" fill="hold">
                                          <p:stCondLst>
                                            <p:cond delay="0"/>
                                          </p:stCondLst>
                                        </p:cTn>
                                        <p:tgtEl>
                                          <p:spTgt spid="33795">
                                            <p:txEl>
                                              <p:pRg st="11" end="11"/>
                                            </p:txEl>
                                          </p:spTgt>
                                        </p:tgtEl>
                                        <p:attrNameLst>
                                          <p:attrName>style.visibility</p:attrName>
                                        </p:attrNameLst>
                                      </p:cBhvr>
                                      <p:to>
                                        <p:strVal val="visible"/>
                                      </p:to>
                                    </p:set>
                                    <p:animEffect transition="in" filter="blinds(horizontal)">
                                      <p:cBhvr>
                                        <p:cTn id="114" dur="500"/>
                                        <p:tgtEl>
                                          <p:spTgt spid="33795">
                                            <p:txEl>
                                              <p:pRg st="11" end="11"/>
                                            </p:txEl>
                                          </p:spTgt>
                                        </p:tgtEl>
                                      </p:cBhvr>
                                    </p:animEffect>
                                  </p:childTnLst>
                                </p:cTn>
                              </p:par>
                            </p:childTnLst>
                          </p:cTn>
                        </p:par>
                      </p:childTnLst>
                    </p:cTn>
                  </p:par>
                  <p:par>
                    <p:cTn id="115" fill="hold">
                      <p:stCondLst>
                        <p:cond delay="indefinite"/>
                      </p:stCondLst>
                      <p:childTnLst>
                        <p:par>
                          <p:cTn id="116" fill="hold">
                            <p:stCondLst>
                              <p:cond delay="0"/>
                            </p:stCondLst>
                            <p:childTnLst>
                              <p:par>
                                <p:cTn id="117" presetID="3" presetClass="entr" presetSubtype="10" fill="hold" grpId="0" nodeType="clickEffect">
                                  <p:stCondLst>
                                    <p:cond delay="0"/>
                                  </p:stCondLst>
                                  <p:childTnLst>
                                    <p:set>
                                      <p:cBhvr>
                                        <p:cTn id="118" dur="1" fill="hold">
                                          <p:stCondLst>
                                            <p:cond delay="0"/>
                                          </p:stCondLst>
                                        </p:cTn>
                                        <p:tgtEl>
                                          <p:spTgt spid="33795">
                                            <p:txEl>
                                              <p:pRg st="12" end="12"/>
                                            </p:txEl>
                                          </p:spTgt>
                                        </p:tgtEl>
                                        <p:attrNameLst>
                                          <p:attrName>style.visibility</p:attrName>
                                        </p:attrNameLst>
                                      </p:cBhvr>
                                      <p:to>
                                        <p:strVal val="visible"/>
                                      </p:to>
                                    </p:set>
                                    <p:animEffect transition="in" filter="blinds(horizontal)">
                                      <p:cBhvr>
                                        <p:cTn id="119" dur="500"/>
                                        <p:tgtEl>
                                          <p:spTgt spid="33795">
                                            <p:txEl>
                                              <p:pRg st="12" end="12"/>
                                            </p:txEl>
                                          </p:spTgt>
                                        </p:tgtEl>
                                      </p:cBhvr>
                                    </p:animEffect>
                                  </p:childTnLst>
                                </p:cTn>
                              </p:par>
                            </p:childTnLst>
                          </p:cTn>
                        </p:par>
                      </p:childTnLst>
                    </p:cTn>
                  </p:par>
                  <p:par>
                    <p:cTn id="120" fill="hold">
                      <p:stCondLst>
                        <p:cond delay="indefinite"/>
                      </p:stCondLst>
                      <p:childTnLst>
                        <p:par>
                          <p:cTn id="121" fill="hold">
                            <p:stCondLst>
                              <p:cond delay="0"/>
                            </p:stCondLst>
                            <p:childTnLst>
                              <p:par>
                                <p:cTn id="122" presetID="3" presetClass="entr" presetSubtype="10" fill="hold" grpId="0" nodeType="clickEffect">
                                  <p:stCondLst>
                                    <p:cond delay="0"/>
                                  </p:stCondLst>
                                  <p:childTnLst>
                                    <p:set>
                                      <p:cBhvr>
                                        <p:cTn id="123" dur="1" fill="hold">
                                          <p:stCondLst>
                                            <p:cond delay="0"/>
                                          </p:stCondLst>
                                        </p:cTn>
                                        <p:tgtEl>
                                          <p:spTgt spid="33795">
                                            <p:txEl>
                                              <p:pRg st="13" end="13"/>
                                            </p:txEl>
                                          </p:spTgt>
                                        </p:tgtEl>
                                        <p:attrNameLst>
                                          <p:attrName>style.visibility</p:attrName>
                                        </p:attrNameLst>
                                      </p:cBhvr>
                                      <p:to>
                                        <p:strVal val="visible"/>
                                      </p:to>
                                    </p:set>
                                    <p:animEffect transition="in" filter="blinds(horizontal)">
                                      <p:cBhvr>
                                        <p:cTn id="124" dur="500"/>
                                        <p:tgtEl>
                                          <p:spTgt spid="33795">
                                            <p:txEl>
                                              <p:pRg st="13" end="13"/>
                                            </p:txEl>
                                          </p:spTgt>
                                        </p:tgtEl>
                                      </p:cBhvr>
                                    </p:animEffect>
                                  </p:childTnLst>
                                </p:cTn>
                              </p:par>
                            </p:childTnLst>
                          </p:cTn>
                        </p:par>
                      </p:childTnLst>
                    </p:cTn>
                  </p:par>
                  <p:par>
                    <p:cTn id="125" fill="hold">
                      <p:stCondLst>
                        <p:cond delay="indefinite"/>
                      </p:stCondLst>
                      <p:childTnLst>
                        <p:par>
                          <p:cTn id="126" fill="hold">
                            <p:stCondLst>
                              <p:cond delay="0"/>
                            </p:stCondLst>
                            <p:childTnLst>
                              <p:par>
                                <p:cTn id="127" presetID="3" presetClass="entr" presetSubtype="10" fill="hold" grpId="0" nodeType="clickEffect">
                                  <p:stCondLst>
                                    <p:cond delay="0"/>
                                  </p:stCondLst>
                                  <p:childTnLst>
                                    <p:set>
                                      <p:cBhvr>
                                        <p:cTn id="128" dur="1" fill="hold">
                                          <p:stCondLst>
                                            <p:cond delay="0"/>
                                          </p:stCondLst>
                                        </p:cTn>
                                        <p:tgtEl>
                                          <p:spTgt spid="33795">
                                            <p:txEl>
                                              <p:pRg st="14" end="14"/>
                                            </p:txEl>
                                          </p:spTgt>
                                        </p:tgtEl>
                                        <p:attrNameLst>
                                          <p:attrName>style.visibility</p:attrName>
                                        </p:attrNameLst>
                                      </p:cBhvr>
                                      <p:to>
                                        <p:strVal val="visible"/>
                                      </p:to>
                                    </p:set>
                                    <p:animEffect transition="in" filter="blinds(horizontal)">
                                      <p:cBhvr>
                                        <p:cTn id="129" dur="500"/>
                                        <p:tgtEl>
                                          <p:spTgt spid="33795">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uiExpand="1" build="p"/>
      <p:bldP spid="33" grpId="0"/>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p:bldP spid="49" grpId="0"/>
      <p:bldP spid="50" grpId="0"/>
      <p:bldP spid="51" grpId="0"/>
      <p:bldP spid="52" grpId="0"/>
      <p:bldP spid="53" grpId="0" animBg="1"/>
      <p:bldP spid="5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34818"/>
          <p:cNvSpPr>
            <a:spLocks noGrp="1" noChangeArrowheads="1"/>
          </p:cNvSpPr>
          <p:nvPr>
            <p:ph idx="1"/>
          </p:nvPr>
        </p:nvSpPr>
        <p:spPr>
          <a:xfrm>
            <a:off x="457200" y="1052736"/>
            <a:ext cx="8229600" cy="4678451"/>
          </a:xfrm>
        </p:spPr>
        <p:txBody>
          <a:bodyPr/>
          <a:lstStyle/>
          <a:p>
            <a:pPr>
              <a:buClr>
                <a:srgbClr val="FF0000"/>
              </a:buClr>
              <a:buFont typeface="Wingdings" panose="05000000000000000000" pitchFamily="2" charset="2"/>
              <a:buChar char="n"/>
            </a:pPr>
            <a:r>
              <a:rPr lang="zh-CN" altLang="en-US" sz="2000" b="1" dirty="0">
                <a:solidFill>
                  <a:srgbClr val="FF0000"/>
                </a:solidFill>
              </a:rPr>
              <a:t>简化规则</a:t>
            </a:r>
            <a:r>
              <a:rPr lang="en-US" altLang="zh-CN" sz="2000" dirty="0">
                <a:solidFill>
                  <a:srgbClr val="FF0000"/>
                </a:solidFill>
              </a:rPr>
              <a:t>2</a:t>
            </a:r>
            <a:r>
              <a:rPr lang="zh-CN" altLang="en-US" sz="2000" dirty="0"/>
              <a:t>：</a:t>
            </a:r>
            <a:r>
              <a:rPr lang="zh-CN" altLang="en-US" sz="2000" b="1" dirty="0"/>
              <a:t>在模拟尾递归调用时，不必执行入栈操作</a:t>
            </a:r>
            <a:r>
              <a:rPr lang="zh-CN" altLang="en-US" sz="2200" b="1" dirty="0"/>
              <a:t>。</a:t>
            </a:r>
            <a:endParaRPr lang="zh-CN" altLang="en-US" sz="2000" b="1" dirty="0"/>
          </a:p>
          <a:p>
            <a:pPr>
              <a:buFont typeface="Wingdings" panose="05000000000000000000" pitchFamily="2" charset="2"/>
              <a:buNone/>
            </a:pPr>
            <a:r>
              <a:rPr lang="zh-CN" altLang="en-US" sz="2000" b="1" dirty="0"/>
              <a:t>        下面用简化规则</a:t>
            </a:r>
            <a:r>
              <a:rPr lang="en-US" altLang="zh-CN" sz="2000" b="1" dirty="0"/>
              <a:t>2</a:t>
            </a:r>
            <a:r>
              <a:rPr lang="zh-CN" altLang="en-US" sz="2000" b="1" dirty="0"/>
              <a:t>重新模拟上例程序。</a:t>
            </a:r>
            <a:endParaRPr lang="zh-CN" altLang="en-US" sz="2000" b="1" dirty="0"/>
          </a:p>
          <a:p>
            <a:pPr>
              <a:buFont typeface="Wingdings" panose="05000000000000000000" pitchFamily="2" charset="2"/>
              <a:buNone/>
            </a:pPr>
            <a:r>
              <a:rPr lang="zh-CN" altLang="en-US" sz="2000" b="1" dirty="0"/>
              <a:t>        由于仅有这一个尾递归，不必执行入栈操作，因而不需要用到栈。 </a:t>
            </a:r>
            <a:endParaRPr lang="en-US" altLang="zh-CN" sz="2000" b="1" dirty="0"/>
          </a:p>
          <a:p>
            <a:pPr>
              <a:buFont typeface="Wingdings" panose="05000000000000000000" pitchFamily="2" charset="2"/>
              <a:buNone/>
            </a:pPr>
            <a:r>
              <a:rPr lang="en-US" altLang="zh-CN" sz="2000" b="1" dirty="0"/>
              <a:t>         </a:t>
            </a:r>
            <a:r>
              <a:rPr lang="zh-CN" altLang="en-US" sz="2000" b="1" dirty="0"/>
              <a:t>转换结果如下：</a:t>
            </a:r>
            <a:endParaRPr lang="zh-CN" altLang="en-US" sz="2000" b="1" dirty="0"/>
          </a:p>
          <a:p>
            <a:pPr>
              <a:buFont typeface="Wingdings" panose="05000000000000000000" pitchFamily="2" charset="2"/>
              <a:buNone/>
            </a:pPr>
            <a:r>
              <a:rPr lang="zh-CN" altLang="en-US" sz="2000" b="1" dirty="0"/>
              <a:t>        </a:t>
            </a:r>
            <a:r>
              <a:rPr lang="en-US" altLang="zh-CN" sz="2000" b="1" dirty="0">
                <a:solidFill>
                  <a:srgbClr val="0000FF"/>
                </a:solidFill>
              </a:rPr>
              <a:t>void</a:t>
            </a:r>
            <a:r>
              <a:rPr lang="en-US" altLang="zh-CN" sz="2000" b="1" dirty="0"/>
              <a:t>  PE(</a:t>
            </a:r>
            <a:r>
              <a:rPr lang="en-US" altLang="zh-CN" sz="2000" b="1" dirty="0" err="1">
                <a:solidFill>
                  <a:srgbClr val="0000FF"/>
                </a:solidFill>
              </a:rPr>
              <a:t>int</a:t>
            </a:r>
            <a:r>
              <a:rPr lang="en-US" altLang="zh-CN" sz="2000" b="1" dirty="0"/>
              <a:t> </a:t>
            </a:r>
            <a:r>
              <a:rPr lang="en-US" altLang="zh-CN" sz="2000" b="1" i="1" dirty="0"/>
              <a:t>n</a:t>
            </a:r>
            <a:r>
              <a:rPr lang="en-US" altLang="zh-CN" sz="2000" b="1" dirty="0"/>
              <a:t>) {</a:t>
            </a:r>
            <a:endParaRPr lang="en-US" altLang="zh-CN" sz="2000" b="1" dirty="0"/>
          </a:p>
          <a:p>
            <a:pPr>
              <a:buFont typeface="Wingdings" panose="05000000000000000000" pitchFamily="2" charset="2"/>
              <a:buNone/>
            </a:pPr>
            <a:r>
              <a:rPr lang="en-US" altLang="zh-CN" sz="2000" b="1" dirty="0"/>
              <a:t>            </a:t>
            </a:r>
            <a:r>
              <a:rPr lang="en-US" altLang="zh-CN" sz="2000" b="1" i="1" dirty="0"/>
              <a:t>L</a:t>
            </a:r>
            <a:r>
              <a:rPr lang="en-US" altLang="zh-CN" sz="2000" b="1" baseline="-25000" dirty="0"/>
              <a:t>0 </a:t>
            </a:r>
            <a:r>
              <a:rPr lang="en-US" altLang="zh-CN" sz="2000" b="1" dirty="0"/>
              <a:t>:                             // </a:t>
            </a:r>
            <a:r>
              <a:rPr lang="zh-CN" altLang="en-US" sz="2000" b="1" dirty="0"/>
              <a:t>规则</a:t>
            </a:r>
            <a:r>
              <a:rPr lang="en-US" altLang="zh-CN" sz="2000" b="1" dirty="0"/>
              <a:t>2</a:t>
            </a:r>
            <a:endParaRPr lang="en-US" altLang="zh-CN" sz="2000" b="1" dirty="0"/>
          </a:p>
          <a:p>
            <a:pPr>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 ( </a:t>
            </a:r>
            <a:r>
              <a:rPr lang="en-US" altLang="zh-CN" sz="2000" b="1" i="1" dirty="0"/>
              <a:t>n</a:t>
            </a:r>
            <a:r>
              <a:rPr lang="en-US" altLang="zh-CN" sz="2000" b="1" dirty="0"/>
              <a:t> &gt; 0 ) {               // </a:t>
            </a:r>
            <a:r>
              <a:rPr lang="zh-CN" altLang="en-US" sz="2000" b="1" dirty="0"/>
              <a:t>规则</a:t>
            </a:r>
            <a:r>
              <a:rPr lang="en-US" altLang="zh-CN" sz="2000" b="1" dirty="0"/>
              <a:t>5 </a:t>
            </a:r>
            <a:endParaRPr lang="en-US" altLang="zh-CN" sz="2000" b="1" dirty="0"/>
          </a:p>
          <a:p>
            <a:pPr>
              <a:buFont typeface="Wingdings" panose="05000000000000000000" pitchFamily="2" charset="2"/>
              <a:buNone/>
            </a:pPr>
            <a:r>
              <a:rPr lang="en-US" altLang="zh-CN" sz="2000" b="1" dirty="0"/>
              <a:t>               </a:t>
            </a:r>
            <a:r>
              <a:rPr lang="en-US" altLang="zh-CN" sz="2000" b="1" dirty="0" err="1">
                <a:solidFill>
                  <a:srgbClr val="0000FF"/>
                </a:solidFill>
              </a:rPr>
              <a:t>cout</a:t>
            </a:r>
            <a:r>
              <a:rPr lang="en-US" altLang="zh-CN" sz="2000" b="1" dirty="0">
                <a:solidFill>
                  <a:srgbClr val="0000FF"/>
                </a:solidFill>
              </a:rPr>
              <a:t> </a:t>
            </a:r>
            <a:r>
              <a:rPr lang="en-US" altLang="zh-CN" sz="2000" b="1" dirty="0"/>
              <a:t>&lt;&lt; n;              // </a:t>
            </a:r>
            <a:r>
              <a:rPr lang="zh-CN" altLang="en-US" sz="2000" b="1" dirty="0"/>
              <a:t>规则</a:t>
            </a:r>
            <a:r>
              <a:rPr lang="en-US" altLang="zh-CN" sz="2000" b="1" dirty="0"/>
              <a:t>5 </a:t>
            </a:r>
            <a:endParaRPr lang="en-US" altLang="zh-CN" sz="2000" b="1" dirty="0"/>
          </a:p>
          <a:p>
            <a:pPr>
              <a:buFont typeface="Wingdings" panose="05000000000000000000" pitchFamily="2" charset="2"/>
              <a:buNone/>
            </a:pPr>
            <a:r>
              <a:rPr lang="en-US" altLang="zh-CN" sz="2000" b="1" dirty="0"/>
              <a:t>               </a:t>
            </a:r>
            <a:r>
              <a:rPr lang="en-US" altLang="zh-CN" sz="2000" b="1" i="1" dirty="0" err="1"/>
              <a:t>s</a:t>
            </a:r>
            <a:r>
              <a:rPr lang="en-US" altLang="zh-CN" sz="2000" b="1" dirty="0" err="1"/>
              <a:t>.Push</a:t>
            </a:r>
            <a:r>
              <a:rPr lang="en-US" altLang="zh-CN" sz="2000" b="1" dirty="0"/>
              <a:t> (</a:t>
            </a:r>
            <a:r>
              <a:rPr lang="en-US" altLang="zh-CN" sz="2000" b="1" i="1" dirty="0"/>
              <a:t>n</a:t>
            </a:r>
            <a:r>
              <a:rPr lang="en-US" altLang="zh-CN" sz="2000" b="1" dirty="0"/>
              <a:t>);             // </a:t>
            </a:r>
            <a:r>
              <a:rPr lang="zh-CN" altLang="en-US" sz="2000" b="1" dirty="0"/>
              <a:t>简化规则</a:t>
            </a:r>
            <a:r>
              <a:rPr lang="en-US" altLang="zh-CN" sz="2000" b="1" dirty="0"/>
              <a:t>2 </a:t>
            </a:r>
            <a:endParaRPr lang="en-US" altLang="zh-CN" sz="2000" b="1" dirty="0"/>
          </a:p>
          <a:p>
            <a:pPr>
              <a:buFont typeface="Wingdings" panose="05000000000000000000" pitchFamily="2" charset="2"/>
              <a:buNone/>
            </a:pPr>
            <a:r>
              <a:rPr lang="en-US" altLang="zh-CN" sz="2000" b="1" dirty="0"/>
              <a:t>               </a:t>
            </a:r>
            <a:r>
              <a:rPr lang="en-US" altLang="zh-CN" sz="2000" b="1" i="1" dirty="0"/>
              <a:t>n</a:t>
            </a:r>
            <a:r>
              <a:rPr lang="en-US" altLang="zh-CN" sz="2000" b="1" dirty="0"/>
              <a:t> = </a:t>
            </a:r>
            <a:r>
              <a:rPr lang="en-US" altLang="zh-CN" sz="2000" b="1" i="1" dirty="0"/>
              <a:t>n</a:t>
            </a:r>
            <a:r>
              <a:rPr lang="en-US" altLang="zh-CN" sz="2000" b="1" dirty="0"/>
              <a:t> - 1;                // </a:t>
            </a:r>
            <a:r>
              <a:rPr lang="zh-CN" altLang="en-US" sz="2000" b="1" dirty="0"/>
              <a:t>规则</a:t>
            </a:r>
            <a:r>
              <a:rPr lang="en-US" altLang="zh-CN" sz="2000" b="1" dirty="0"/>
              <a:t>3.b</a:t>
            </a:r>
            <a:endParaRPr lang="en-US" altLang="zh-CN" sz="2000" b="1" dirty="0"/>
          </a:p>
          <a:p>
            <a:pPr>
              <a:buFont typeface="Wingdings" panose="05000000000000000000" pitchFamily="2" charset="2"/>
              <a:buNone/>
            </a:pPr>
            <a:r>
              <a:rPr lang="en-US" altLang="zh-CN" sz="2000" b="1" dirty="0"/>
              <a:t>               </a:t>
            </a:r>
            <a:r>
              <a:rPr lang="en-US" altLang="zh-CN" sz="2000" b="1" dirty="0" err="1"/>
              <a:t>goto</a:t>
            </a:r>
            <a:r>
              <a:rPr lang="en-US" altLang="zh-CN" sz="2000" b="1" dirty="0"/>
              <a:t> </a:t>
            </a:r>
            <a:r>
              <a:rPr lang="en-US" altLang="zh-CN" sz="2000" b="1" i="1" dirty="0"/>
              <a:t>L</a:t>
            </a:r>
            <a:r>
              <a:rPr lang="en-US" altLang="zh-CN" sz="2000" b="1" baseline="-25000" dirty="0"/>
              <a:t>0 </a:t>
            </a:r>
            <a:r>
              <a:rPr lang="en-US" altLang="zh-CN" sz="2000" b="1" dirty="0"/>
              <a:t>;                 // </a:t>
            </a:r>
            <a:r>
              <a:rPr lang="zh-CN" altLang="en-US" sz="2000" b="1" dirty="0"/>
              <a:t>规则</a:t>
            </a:r>
            <a:r>
              <a:rPr lang="en-US" altLang="zh-CN" sz="2000" b="1" dirty="0"/>
              <a:t>3.c </a:t>
            </a:r>
            <a:endParaRPr lang="en-US" altLang="zh-CN" sz="2000" b="1" dirty="0"/>
          </a:p>
          <a:p>
            <a:pPr>
              <a:buFont typeface="Wingdings" panose="05000000000000000000" pitchFamily="2" charset="2"/>
              <a:buNone/>
            </a:pPr>
            <a:r>
              <a:rPr lang="en-US" altLang="zh-CN" sz="2000" b="1" dirty="0"/>
              <a:t>           } </a:t>
            </a:r>
            <a:endParaRPr lang="en-US" altLang="zh-CN" sz="2000" b="1" dirty="0"/>
          </a:p>
          <a:p>
            <a:pPr>
              <a:buFont typeface="Wingdings" panose="05000000000000000000" pitchFamily="2" charset="2"/>
              <a:buNone/>
            </a:pPr>
            <a:r>
              <a:rPr lang="en-US" altLang="zh-CN" sz="2000" b="1" dirty="0"/>
              <a:t>       }</a:t>
            </a:r>
            <a:endParaRPr lang="zh-CN" altLang="en-US" sz="2000" b="1" dirty="0"/>
          </a:p>
        </p:txBody>
      </p:sp>
      <p:grpSp>
        <p:nvGrpSpPr>
          <p:cNvPr id="6" name="组合 5"/>
          <p:cNvGrpSpPr/>
          <p:nvPr/>
        </p:nvGrpSpPr>
        <p:grpSpPr>
          <a:xfrm>
            <a:off x="541437" y="127832"/>
            <a:ext cx="7991003" cy="674160"/>
            <a:chOff x="999690" y="5042189"/>
            <a:chExt cx="8290830" cy="647731"/>
          </a:xfrm>
        </p:grpSpPr>
        <p:sp>
          <p:nvSpPr>
            <p:cNvPr id="7"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9" name="图片 8"/>
            <p:cNvPicPr>
              <a:picLocks noChangeAspect="1"/>
            </p:cNvPicPr>
            <p:nvPr/>
          </p:nvPicPr>
          <p:blipFill>
            <a:blip r:embed="rId1" cstate="print"/>
            <a:stretch>
              <a:fillRect/>
            </a:stretch>
          </p:blipFill>
          <p:spPr>
            <a:xfrm>
              <a:off x="1199659" y="5205012"/>
              <a:ext cx="420013" cy="322083"/>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blinds(horizontal)">
                                      <p:cBhvr>
                                        <p:cTn id="7" dur="500"/>
                                        <p:tgtEl>
                                          <p:spTgt spid="348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4819">
                                            <p:txEl>
                                              <p:pRg st="1" end="1"/>
                                            </p:txEl>
                                          </p:spTgt>
                                        </p:tgtEl>
                                        <p:attrNameLst>
                                          <p:attrName>style.visibility</p:attrName>
                                        </p:attrNameLst>
                                      </p:cBhvr>
                                      <p:to>
                                        <p:strVal val="visible"/>
                                      </p:to>
                                    </p:set>
                                    <p:animEffect transition="in" filter="blinds(horizontal)">
                                      <p:cBhvr>
                                        <p:cTn id="12" dur="500"/>
                                        <p:tgtEl>
                                          <p:spTgt spid="348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4819">
                                            <p:txEl>
                                              <p:pRg st="2" end="2"/>
                                            </p:txEl>
                                          </p:spTgt>
                                        </p:tgtEl>
                                        <p:attrNameLst>
                                          <p:attrName>style.visibility</p:attrName>
                                        </p:attrNameLst>
                                      </p:cBhvr>
                                      <p:to>
                                        <p:strVal val="visible"/>
                                      </p:to>
                                    </p:set>
                                    <p:animEffect transition="in" filter="blinds(horizontal)">
                                      <p:cBhvr>
                                        <p:cTn id="17" dur="500"/>
                                        <p:tgtEl>
                                          <p:spTgt spid="348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4819">
                                            <p:txEl>
                                              <p:pRg st="3" end="3"/>
                                            </p:txEl>
                                          </p:spTgt>
                                        </p:tgtEl>
                                        <p:attrNameLst>
                                          <p:attrName>style.visibility</p:attrName>
                                        </p:attrNameLst>
                                      </p:cBhvr>
                                      <p:to>
                                        <p:strVal val="visible"/>
                                      </p:to>
                                    </p:set>
                                    <p:animEffect transition="in" filter="blinds(horizontal)">
                                      <p:cBhvr>
                                        <p:cTn id="22" dur="500"/>
                                        <p:tgtEl>
                                          <p:spTgt spid="348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4819">
                                            <p:txEl>
                                              <p:pRg st="4" end="4"/>
                                            </p:txEl>
                                          </p:spTgt>
                                        </p:tgtEl>
                                        <p:attrNameLst>
                                          <p:attrName>style.visibility</p:attrName>
                                        </p:attrNameLst>
                                      </p:cBhvr>
                                      <p:to>
                                        <p:strVal val="visible"/>
                                      </p:to>
                                    </p:set>
                                    <p:animEffect transition="in" filter="blinds(horizontal)">
                                      <p:cBhvr>
                                        <p:cTn id="27" dur="500"/>
                                        <p:tgtEl>
                                          <p:spTgt spid="3481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4819">
                                            <p:txEl>
                                              <p:pRg st="5" end="5"/>
                                            </p:txEl>
                                          </p:spTgt>
                                        </p:tgtEl>
                                        <p:attrNameLst>
                                          <p:attrName>style.visibility</p:attrName>
                                        </p:attrNameLst>
                                      </p:cBhvr>
                                      <p:to>
                                        <p:strVal val="visible"/>
                                      </p:to>
                                    </p:set>
                                    <p:animEffect transition="in" filter="blinds(horizontal)">
                                      <p:cBhvr>
                                        <p:cTn id="32" dur="500"/>
                                        <p:tgtEl>
                                          <p:spTgt spid="3481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4819">
                                            <p:txEl>
                                              <p:pRg st="6" end="6"/>
                                            </p:txEl>
                                          </p:spTgt>
                                        </p:tgtEl>
                                        <p:attrNameLst>
                                          <p:attrName>style.visibility</p:attrName>
                                        </p:attrNameLst>
                                      </p:cBhvr>
                                      <p:to>
                                        <p:strVal val="visible"/>
                                      </p:to>
                                    </p:set>
                                    <p:animEffect transition="in" filter="blinds(horizontal)">
                                      <p:cBhvr>
                                        <p:cTn id="37" dur="500"/>
                                        <p:tgtEl>
                                          <p:spTgt spid="3481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4819">
                                            <p:txEl>
                                              <p:pRg st="7" end="7"/>
                                            </p:txEl>
                                          </p:spTgt>
                                        </p:tgtEl>
                                        <p:attrNameLst>
                                          <p:attrName>style.visibility</p:attrName>
                                        </p:attrNameLst>
                                      </p:cBhvr>
                                      <p:to>
                                        <p:strVal val="visible"/>
                                      </p:to>
                                    </p:set>
                                    <p:animEffect transition="in" filter="blinds(horizontal)">
                                      <p:cBhvr>
                                        <p:cTn id="42" dur="500"/>
                                        <p:tgtEl>
                                          <p:spTgt spid="3481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4819">
                                            <p:txEl>
                                              <p:pRg st="8" end="8"/>
                                            </p:txEl>
                                          </p:spTgt>
                                        </p:tgtEl>
                                        <p:attrNameLst>
                                          <p:attrName>style.visibility</p:attrName>
                                        </p:attrNameLst>
                                      </p:cBhvr>
                                      <p:to>
                                        <p:strVal val="visible"/>
                                      </p:to>
                                    </p:set>
                                    <p:animEffect transition="in" filter="blinds(horizontal)">
                                      <p:cBhvr>
                                        <p:cTn id="47" dur="500"/>
                                        <p:tgtEl>
                                          <p:spTgt spid="3481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4819">
                                            <p:txEl>
                                              <p:pRg st="9" end="9"/>
                                            </p:txEl>
                                          </p:spTgt>
                                        </p:tgtEl>
                                        <p:attrNameLst>
                                          <p:attrName>style.visibility</p:attrName>
                                        </p:attrNameLst>
                                      </p:cBhvr>
                                      <p:to>
                                        <p:strVal val="visible"/>
                                      </p:to>
                                    </p:set>
                                    <p:animEffect transition="in" filter="blinds(horizontal)">
                                      <p:cBhvr>
                                        <p:cTn id="52" dur="500"/>
                                        <p:tgtEl>
                                          <p:spTgt spid="34819">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4819">
                                            <p:txEl>
                                              <p:pRg st="10" end="10"/>
                                            </p:txEl>
                                          </p:spTgt>
                                        </p:tgtEl>
                                        <p:attrNameLst>
                                          <p:attrName>style.visibility</p:attrName>
                                        </p:attrNameLst>
                                      </p:cBhvr>
                                      <p:to>
                                        <p:strVal val="visible"/>
                                      </p:to>
                                    </p:set>
                                    <p:animEffect transition="in" filter="blinds(horizontal)">
                                      <p:cBhvr>
                                        <p:cTn id="57" dur="500"/>
                                        <p:tgtEl>
                                          <p:spTgt spid="34819">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4819">
                                            <p:txEl>
                                              <p:pRg st="11" end="11"/>
                                            </p:txEl>
                                          </p:spTgt>
                                        </p:tgtEl>
                                        <p:attrNameLst>
                                          <p:attrName>style.visibility</p:attrName>
                                        </p:attrNameLst>
                                      </p:cBhvr>
                                      <p:to>
                                        <p:strVal val="visible"/>
                                      </p:to>
                                    </p:set>
                                    <p:animEffect transition="in" filter="blinds(horizontal)">
                                      <p:cBhvr>
                                        <p:cTn id="62" dur="500"/>
                                        <p:tgtEl>
                                          <p:spTgt spid="34819">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4819">
                                            <p:txEl>
                                              <p:pRg st="12" end="12"/>
                                            </p:txEl>
                                          </p:spTgt>
                                        </p:tgtEl>
                                        <p:attrNameLst>
                                          <p:attrName>style.visibility</p:attrName>
                                        </p:attrNameLst>
                                      </p:cBhvr>
                                      <p:to>
                                        <p:strVal val="visible"/>
                                      </p:to>
                                    </p:set>
                                    <p:animEffect transition="in" filter="blinds(horizontal)">
                                      <p:cBhvr>
                                        <p:cTn id="67" dur="500"/>
                                        <p:tgtEl>
                                          <p:spTgt spid="34819">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内容占位符 35842"/>
          <p:cNvSpPr>
            <a:spLocks noGrp="1" noChangeArrowheads="1"/>
          </p:cNvSpPr>
          <p:nvPr>
            <p:ph idx="1"/>
          </p:nvPr>
        </p:nvSpPr>
        <p:spPr/>
        <p:txBody>
          <a:bodyPr/>
          <a:lstStyle/>
          <a:p>
            <a:pPr>
              <a:buClr>
                <a:srgbClr val="FF0000"/>
              </a:buClr>
              <a:buFont typeface="Wingdings" panose="05000000000000000000" pitchFamily="2" charset="2"/>
              <a:buChar char="n"/>
            </a:pPr>
            <a:r>
              <a:rPr lang="zh-CN" altLang="en-US" sz="2400" b="1" dirty="0"/>
              <a:t>流程图：</a:t>
            </a:r>
            <a:r>
              <a:rPr lang="zh-CN" altLang="en-US" sz="2800" b="1" dirty="0"/>
              <a:t>  </a:t>
            </a:r>
            <a:endParaRPr lang="zh-CN" altLang="en-US" sz="2800" b="1" dirty="0"/>
          </a:p>
          <a:p>
            <a:pPr>
              <a:buFont typeface="Wingdings" panose="05000000000000000000" pitchFamily="2" charset="2"/>
              <a:buNone/>
            </a:pPr>
            <a:r>
              <a:rPr lang="zh-CN" altLang="en-US" sz="2400" dirty="0"/>
              <a:t>  </a:t>
            </a:r>
            <a:endParaRPr lang="zh-CN" altLang="en-US" sz="2400" dirty="0"/>
          </a:p>
          <a:p>
            <a:pPr>
              <a:buFont typeface="Wingdings" panose="05000000000000000000" pitchFamily="2" charset="2"/>
              <a:buNone/>
            </a:pPr>
            <a:r>
              <a:rPr lang="zh-CN" altLang="en-US" sz="2000" dirty="0"/>
              <a:t>    </a:t>
            </a:r>
            <a:endParaRPr lang="zh-CN" altLang="en-US" sz="2000" dirty="0"/>
          </a:p>
          <a:p>
            <a:pPr>
              <a:buFont typeface="Wingdings" panose="05000000000000000000" pitchFamily="2" charset="2"/>
              <a:buNone/>
            </a:pPr>
            <a:r>
              <a:rPr lang="zh-CN" altLang="en-US" sz="2000" dirty="0"/>
              <a:t>         由此得程序如下：</a:t>
            </a:r>
            <a:endParaRPr lang="zh-CN" altLang="en-US" sz="2000" dirty="0"/>
          </a:p>
          <a:p>
            <a:pPr>
              <a:buFont typeface="Wingdings" panose="05000000000000000000" pitchFamily="2" charset="2"/>
              <a:buNone/>
            </a:pPr>
            <a:r>
              <a:rPr lang="zh-CN" altLang="en-US" sz="2000" dirty="0"/>
              <a:t>          </a:t>
            </a:r>
            <a:r>
              <a:rPr lang="en-US" altLang="zh-CN" sz="2000" dirty="0">
                <a:solidFill>
                  <a:srgbClr val="0000FF"/>
                </a:solidFill>
              </a:rPr>
              <a:t>void</a:t>
            </a:r>
            <a:r>
              <a:rPr lang="en-US" altLang="zh-CN" sz="2000" dirty="0"/>
              <a:t>  PE(</a:t>
            </a:r>
            <a:r>
              <a:rPr lang="en-US" altLang="zh-CN" sz="2000" dirty="0" err="1">
                <a:solidFill>
                  <a:srgbClr val="0000FF"/>
                </a:solidFill>
              </a:rPr>
              <a:t>int</a:t>
            </a:r>
            <a:r>
              <a:rPr lang="en-US" altLang="zh-CN" sz="2000" dirty="0"/>
              <a:t> </a:t>
            </a:r>
            <a:r>
              <a:rPr lang="en-US" altLang="zh-CN" sz="2000" i="1" dirty="0"/>
              <a:t>n</a:t>
            </a:r>
            <a:r>
              <a:rPr lang="en-US" altLang="zh-CN" sz="2000" dirty="0"/>
              <a:t>) {   </a:t>
            </a:r>
            <a:endParaRPr lang="en-US" altLang="zh-CN" sz="2000" dirty="0"/>
          </a:p>
          <a:p>
            <a:pPr>
              <a:buFont typeface="Wingdings" panose="05000000000000000000" pitchFamily="2" charset="2"/>
              <a:buNone/>
            </a:pPr>
            <a:r>
              <a:rPr lang="en-US" altLang="zh-CN" sz="2000" dirty="0"/>
              <a:t>               </a:t>
            </a:r>
            <a:r>
              <a:rPr lang="en-US" altLang="zh-CN" sz="2000" dirty="0">
                <a:solidFill>
                  <a:srgbClr val="0000FF"/>
                </a:solidFill>
              </a:rPr>
              <a:t>while</a:t>
            </a:r>
            <a:r>
              <a:rPr lang="en-US" altLang="zh-CN" sz="2000" dirty="0"/>
              <a:t> ( </a:t>
            </a:r>
            <a:r>
              <a:rPr lang="en-US" altLang="zh-CN" sz="2000" i="1" dirty="0"/>
              <a:t>n</a:t>
            </a:r>
            <a:r>
              <a:rPr lang="en-US" altLang="zh-CN" sz="2000" dirty="0"/>
              <a:t> &gt; 0 ) {                </a:t>
            </a:r>
            <a:endParaRPr lang="en-US" altLang="zh-CN" sz="2000" dirty="0"/>
          </a:p>
          <a:p>
            <a:pPr>
              <a:buFont typeface="Wingdings" panose="05000000000000000000" pitchFamily="2" charset="2"/>
              <a:buNone/>
            </a:pPr>
            <a:r>
              <a:rPr lang="en-US" altLang="zh-CN" sz="2000" dirty="0"/>
              <a:t>                      </a:t>
            </a:r>
            <a:r>
              <a:rPr lang="en-US" altLang="zh-CN" sz="2000" dirty="0" err="1">
                <a:solidFill>
                  <a:srgbClr val="0000FF"/>
                </a:solidFill>
              </a:rPr>
              <a:t>cout</a:t>
            </a:r>
            <a:r>
              <a:rPr lang="en-US" altLang="zh-CN" sz="2000" dirty="0"/>
              <a:t> &lt;&lt; </a:t>
            </a:r>
            <a:r>
              <a:rPr lang="en-US" altLang="zh-CN" sz="2000" i="1" dirty="0"/>
              <a:t>n</a:t>
            </a:r>
            <a:r>
              <a:rPr lang="en-US" altLang="zh-CN" sz="2000" dirty="0"/>
              <a:t>;</a:t>
            </a:r>
            <a:endParaRPr lang="en-US" altLang="zh-CN" sz="2000" dirty="0"/>
          </a:p>
          <a:p>
            <a:pPr>
              <a:buFont typeface="Wingdings" panose="05000000000000000000" pitchFamily="2" charset="2"/>
              <a:buNone/>
            </a:pPr>
            <a:r>
              <a:rPr lang="en-US" altLang="zh-CN" sz="2000" dirty="0"/>
              <a:t>                      </a:t>
            </a:r>
            <a:r>
              <a:rPr lang="en-US" altLang="zh-CN" sz="2000" i="1" dirty="0"/>
              <a:t>n</a:t>
            </a:r>
            <a:r>
              <a:rPr lang="en-US" altLang="zh-CN" sz="2000" dirty="0"/>
              <a:t> = </a:t>
            </a:r>
            <a:r>
              <a:rPr lang="en-US" altLang="zh-CN" sz="2000" i="1" dirty="0"/>
              <a:t>n</a:t>
            </a:r>
            <a:r>
              <a:rPr lang="en-US" altLang="zh-CN" sz="2000" dirty="0"/>
              <a:t> - 1;            </a:t>
            </a:r>
            <a:endParaRPr lang="en-US" altLang="zh-CN" sz="2000" dirty="0"/>
          </a:p>
          <a:p>
            <a:pPr>
              <a:buFont typeface="Wingdings" panose="05000000000000000000" pitchFamily="2" charset="2"/>
              <a:buNone/>
            </a:pPr>
            <a:r>
              <a:rPr lang="en-US" altLang="zh-CN" sz="2000" dirty="0"/>
              <a:t>              } </a:t>
            </a:r>
            <a:endParaRPr lang="en-US" altLang="zh-CN" sz="2000" dirty="0"/>
          </a:p>
          <a:p>
            <a:pPr>
              <a:buFont typeface="Wingdings" panose="05000000000000000000" pitchFamily="2" charset="2"/>
              <a:buNone/>
            </a:pPr>
            <a:r>
              <a:rPr lang="en-US" altLang="zh-CN" sz="2000" dirty="0"/>
              <a:t>         } </a:t>
            </a:r>
            <a:endParaRPr lang="zh-CN" altLang="en-US" sz="2000" dirty="0"/>
          </a:p>
        </p:txBody>
      </p:sp>
      <p:sp>
        <p:nvSpPr>
          <p:cNvPr id="35844" name="椭圆 35843"/>
          <p:cNvSpPr>
            <a:spLocks noChangeArrowheads="1"/>
          </p:cNvSpPr>
          <p:nvPr/>
        </p:nvSpPr>
        <p:spPr bwMode="auto">
          <a:xfrm>
            <a:off x="5917278" y="1773238"/>
            <a:ext cx="358775" cy="288925"/>
          </a:xfrm>
          <a:prstGeom prst="ellipse">
            <a:avLst/>
          </a:prstGeom>
          <a:solidFill>
            <a:srgbClr val="FFFF00"/>
          </a:solidFill>
          <a:ln w="9525">
            <a:solidFill>
              <a:schemeClr val="tx1"/>
            </a:solidFill>
            <a:round/>
          </a:ln>
        </p:spPr>
        <p:txBody>
          <a:bodyPr/>
          <a:lstStyle/>
          <a:p>
            <a:pPr algn="ctr" eaLnBrk="0" hangingPunct="0"/>
            <a:endParaRPr lang="zh-CN" altLang="en-US">
              <a:latin typeface="Times New Roman" panose="02020603050405020304" pitchFamily="18" charset="0"/>
              <a:cs typeface="Times New Roman" panose="02020603050405020304" pitchFamily="18" charset="0"/>
            </a:endParaRPr>
          </a:p>
        </p:txBody>
      </p:sp>
      <p:sp>
        <p:nvSpPr>
          <p:cNvPr id="35845" name="流程图: 决策 35844"/>
          <p:cNvSpPr>
            <a:spLocks noChangeArrowheads="1"/>
          </p:cNvSpPr>
          <p:nvPr/>
        </p:nvSpPr>
        <p:spPr bwMode="auto">
          <a:xfrm>
            <a:off x="4932363" y="2565400"/>
            <a:ext cx="2160587" cy="865188"/>
          </a:xfrm>
          <a:prstGeom prst="flowChartDecision">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&gt;0</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46" name="矩形 35845"/>
          <p:cNvSpPr>
            <a:spLocks noChangeArrowheads="1"/>
          </p:cNvSpPr>
          <p:nvPr/>
        </p:nvSpPr>
        <p:spPr bwMode="auto">
          <a:xfrm>
            <a:off x="5003800" y="4076699"/>
            <a:ext cx="2016125" cy="9366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dirty="0" err="1">
                <a:latin typeface="Times New Roman" panose="02020603050405020304" pitchFamily="18" charset="0"/>
                <a:ea typeface="宋体" panose="02010600030101010101" pitchFamily="2" charset="-122"/>
                <a:cs typeface="Times New Roman" panose="02020603050405020304" pitchFamily="18" charset="0"/>
              </a:rPr>
              <a:t>cout</a:t>
            </a:r>
            <a:r>
              <a:rPr lang="en-US" altLang="zh-CN" dirty="0">
                <a:latin typeface="Times New Roman" panose="02020603050405020304" pitchFamily="18" charset="0"/>
                <a:ea typeface="宋体" panose="02010600030101010101" pitchFamily="2" charset="-122"/>
                <a:cs typeface="Times New Roman" panose="02020603050405020304" pitchFamily="18" charset="0"/>
              </a:rPr>
              <a:t>&lt;&lt;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47" name="直接连接符 35846"/>
          <p:cNvSpPr>
            <a:spLocks noChangeShapeType="1"/>
          </p:cNvSpPr>
          <p:nvPr/>
        </p:nvSpPr>
        <p:spPr bwMode="auto">
          <a:xfrm>
            <a:off x="6084888" y="2060575"/>
            <a:ext cx="0" cy="5048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5848" name="直接连接符 35847"/>
          <p:cNvSpPr>
            <a:spLocks noChangeShapeType="1"/>
          </p:cNvSpPr>
          <p:nvPr/>
        </p:nvSpPr>
        <p:spPr bwMode="auto">
          <a:xfrm>
            <a:off x="6011863" y="3429000"/>
            <a:ext cx="0" cy="6477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5849" name="直接连接符 35848"/>
          <p:cNvSpPr>
            <a:spLocks noChangeShapeType="1"/>
          </p:cNvSpPr>
          <p:nvPr/>
        </p:nvSpPr>
        <p:spPr bwMode="auto">
          <a:xfrm>
            <a:off x="6011863" y="5013325"/>
            <a:ext cx="0" cy="431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5850" name="直接连接符 35849"/>
          <p:cNvSpPr>
            <a:spLocks noChangeShapeType="1"/>
          </p:cNvSpPr>
          <p:nvPr/>
        </p:nvSpPr>
        <p:spPr bwMode="auto">
          <a:xfrm flipH="1">
            <a:off x="4356100" y="5445125"/>
            <a:ext cx="1655763"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5851" name="直接连接符 35850"/>
          <p:cNvSpPr>
            <a:spLocks noChangeShapeType="1"/>
          </p:cNvSpPr>
          <p:nvPr/>
        </p:nvSpPr>
        <p:spPr bwMode="auto">
          <a:xfrm flipV="1">
            <a:off x="4356100" y="2349500"/>
            <a:ext cx="0" cy="30956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5852" name="直接连接符 35851"/>
          <p:cNvSpPr>
            <a:spLocks noChangeShapeType="1"/>
          </p:cNvSpPr>
          <p:nvPr/>
        </p:nvSpPr>
        <p:spPr bwMode="auto">
          <a:xfrm>
            <a:off x="4356100" y="2349500"/>
            <a:ext cx="17287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5853" name="直接连接符 35852"/>
          <p:cNvSpPr>
            <a:spLocks noChangeShapeType="1"/>
          </p:cNvSpPr>
          <p:nvPr/>
        </p:nvSpPr>
        <p:spPr bwMode="auto">
          <a:xfrm>
            <a:off x="7092950" y="2997200"/>
            <a:ext cx="93503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5854" name="椭圆 35853"/>
          <p:cNvSpPr>
            <a:spLocks noChangeArrowheads="1"/>
          </p:cNvSpPr>
          <p:nvPr/>
        </p:nvSpPr>
        <p:spPr bwMode="auto">
          <a:xfrm>
            <a:off x="8027988" y="2852738"/>
            <a:ext cx="358775" cy="288925"/>
          </a:xfrm>
          <a:prstGeom prst="ellipse">
            <a:avLst/>
          </a:prstGeom>
          <a:solidFill>
            <a:srgbClr val="FFFF00"/>
          </a:solidFill>
          <a:ln w="9525">
            <a:solidFill>
              <a:schemeClr val="tx1"/>
            </a:solidFill>
            <a:round/>
          </a:ln>
        </p:spPr>
        <p:txBody>
          <a:bodyPr/>
          <a:lstStyle/>
          <a:p>
            <a:pPr algn="ctr" eaLnBrk="0" hangingPunct="0"/>
            <a:endParaRPr lang="zh-CN" altLang="en-US">
              <a:latin typeface="Times New Roman" panose="02020603050405020304" pitchFamily="18" charset="0"/>
              <a:cs typeface="Times New Roman" panose="02020603050405020304" pitchFamily="18" charset="0"/>
            </a:endParaRPr>
          </a:p>
        </p:txBody>
      </p:sp>
      <p:sp>
        <p:nvSpPr>
          <p:cNvPr id="35855" name="矩形 35854"/>
          <p:cNvSpPr>
            <a:spLocks noChangeArrowheads="1"/>
          </p:cNvSpPr>
          <p:nvPr/>
        </p:nvSpPr>
        <p:spPr bwMode="auto">
          <a:xfrm>
            <a:off x="5867400" y="1989138"/>
            <a:ext cx="7921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56" name="矩形 35855"/>
          <p:cNvSpPr>
            <a:spLocks noChangeArrowheads="1"/>
          </p:cNvSpPr>
          <p:nvPr/>
        </p:nvSpPr>
        <p:spPr bwMode="auto">
          <a:xfrm>
            <a:off x="7235825" y="2565400"/>
            <a:ext cx="5048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N</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57" name="矩形 35856"/>
          <p:cNvSpPr>
            <a:spLocks noChangeArrowheads="1"/>
          </p:cNvSpPr>
          <p:nvPr/>
        </p:nvSpPr>
        <p:spPr bwMode="auto">
          <a:xfrm>
            <a:off x="5867400" y="3429000"/>
            <a:ext cx="57626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Y</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0" name="组合 19"/>
          <p:cNvGrpSpPr/>
          <p:nvPr/>
        </p:nvGrpSpPr>
        <p:grpSpPr>
          <a:xfrm>
            <a:off x="541437" y="127832"/>
            <a:ext cx="7991003" cy="674160"/>
            <a:chOff x="999690" y="5042189"/>
            <a:chExt cx="8290830" cy="647731"/>
          </a:xfrm>
        </p:grpSpPr>
        <p:sp>
          <p:nvSpPr>
            <p:cNvPr id="21"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2"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23" name="图片 22"/>
            <p:cNvPicPr>
              <a:picLocks noChangeAspect="1"/>
            </p:cNvPicPr>
            <p:nvPr/>
          </p:nvPicPr>
          <p:blipFill>
            <a:blip r:embed="rId1" cstate="print"/>
            <a:stretch>
              <a:fillRect/>
            </a:stretch>
          </p:blipFill>
          <p:spPr>
            <a:xfrm>
              <a:off x="1199659" y="5205012"/>
              <a:ext cx="420013" cy="322083"/>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blinds(horizontal)">
                                      <p:cBhvr>
                                        <p:cTn id="7" dur="500"/>
                                        <p:tgtEl>
                                          <p:spTgt spid="358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843">
                                            <p:txEl>
                                              <p:pRg st="1" end="1"/>
                                            </p:txEl>
                                          </p:spTgt>
                                        </p:tgtEl>
                                        <p:attrNameLst>
                                          <p:attrName>style.visibility</p:attrName>
                                        </p:attrNameLst>
                                      </p:cBhvr>
                                      <p:to>
                                        <p:strVal val="visible"/>
                                      </p:to>
                                    </p:set>
                                    <p:animEffect transition="in" filter="blinds(horizontal)">
                                      <p:cBhvr>
                                        <p:cTn id="12" dur="500"/>
                                        <p:tgtEl>
                                          <p:spTgt spid="358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5843">
                                            <p:txEl>
                                              <p:pRg st="2" end="2"/>
                                            </p:txEl>
                                          </p:spTgt>
                                        </p:tgtEl>
                                        <p:attrNameLst>
                                          <p:attrName>style.visibility</p:attrName>
                                        </p:attrNameLst>
                                      </p:cBhvr>
                                      <p:to>
                                        <p:strVal val="visible"/>
                                      </p:to>
                                    </p:set>
                                    <p:animEffect transition="in" filter="blinds(horizontal)">
                                      <p:cBhvr>
                                        <p:cTn id="17" dur="500"/>
                                        <p:tgtEl>
                                          <p:spTgt spid="358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5844"/>
                                        </p:tgtEl>
                                        <p:attrNameLst>
                                          <p:attrName>style.visibility</p:attrName>
                                        </p:attrNameLst>
                                      </p:cBhvr>
                                      <p:to>
                                        <p:strVal val="visible"/>
                                      </p:to>
                                    </p:set>
                                    <p:animEffect transition="in" filter="blinds(horizontal)">
                                      <p:cBhvr>
                                        <p:cTn id="22" dur="500"/>
                                        <p:tgtEl>
                                          <p:spTgt spid="35844"/>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35845"/>
                                        </p:tgtEl>
                                        <p:attrNameLst>
                                          <p:attrName>style.visibility</p:attrName>
                                        </p:attrNameLst>
                                      </p:cBhvr>
                                      <p:to>
                                        <p:strVal val="visible"/>
                                      </p:to>
                                    </p:set>
                                    <p:animEffect transition="in" filter="blinds(horizontal)">
                                      <p:cBhvr>
                                        <p:cTn id="25" dur="500"/>
                                        <p:tgtEl>
                                          <p:spTgt spid="35845"/>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35846"/>
                                        </p:tgtEl>
                                        <p:attrNameLst>
                                          <p:attrName>style.visibility</p:attrName>
                                        </p:attrNameLst>
                                      </p:cBhvr>
                                      <p:to>
                                        <p:strVal val="visible"/>
                                      </p:to>
                                    </p:set>
                                    <p:animEffect transition="in" filter="blinds(horizontal)">
                                      <p:cBhvr>
                                        <p:cTn id="28" dur="500"/>
                                        <p:tgtEl>
                                          <p:spTgt spid="35846"/>
                                        </p:tgtEl>
                                      </p:cBhvr>
                                    </p:animEffect>
                                  </p:childTnLst>
                                </p:cTn>
                              </p:par>
                              <p:par>
                                <p:cTn id="29" presetID="3" presetClass="entr" presetSubtype="10" fill="hold" nodeType="withEffect">
                                  <p:stCondLst>
                                    <p:cond delay="0"/>
                                  </p:stCondLst>
                                  <p:childTnLst>
                                    <p:set>
                                      <p:cBhvr>
                                        <p:cTn id="30" dur="1" fill="hold">
                                          <p:stCondLst>
                                            <p:cond delay="0"/>
                                          </p:stCondLst>
                                        </p:cTn>
                                        <p:tgtEl>
                                          <p:spTgt spid="35847"/>
                                        </p:tgtEl>
                                        <p:attrNameLst>
                                          <p:attrName>style.visibility</p:attrName>
                                        </p:attrNameLst>
                                      </p:cBhvr>
                                      <p:to>
                                        <p:strVal val="visible"/>
                                      </p:to>
                                    </p:set>
                                    <p:animEffect transition="in" filter="blinds(horizontal)">
                                      <p:cBhvr>
                                        <p:cTn id="31" dur="500"/>
                                        <p:tgtEl>
                                          <p:spTgt spid="35847"/>
                                        </p:tgtEl>
                                      </p:cBhvr>
                                    </p:animEffect>
                                  </p:childTnLst>
                                </p:cTn>
                              </p:par>
                              <p:par>
                                <p:cTn id="32" presetID="3" presetClass="entr" presetSubtype="10" fill="hold" nodeType="withEffect">
                                  <p:stCondLst>
                                    <p:cond delay="0"/>
                                  </p:stCondLst>
                                  <p:childTnLst>
                                    <p:set>
                                      <p:cBhvr>
                                        <p:cTn id="33" dur="1" fill="hold">
                                          <p:stCondLst>
                                            <p:cond delay="0"/>
                                          </p:stCondLst>
                                        </p:cTn>
                                        <p:tgtEl>
                                          <p:spTgt spid="35848"/>
                                        </p:tgtEl>
                                        <p:attrNameLst>
                                          <p:attrName>style.visibility</p:attrName>
                                        </p:attrNameLst>
                                      </p:cBhvr>
                                      <p:to>
                                        <p:strVal val="visible"/>
                                      </p:to>
                                    </p:set>
                                    <p:animEffect transition="in" filter="blinds(horizontal)">
                                      <p:cBhvr>
                                        <p:cTn id="34" dur="500"/>
                                        <p:tgtEl>
                                          <p:spTgt spid="35848"/>
                                        </p:tgtEl>
                                      </p:cBhvr>
                                    </p:animEffect>
                                  </p:childTnLst>
                                </p:cTn>
                              </p:par>
                              <p:par>
                                <p:cTn id="35" presetID="3" presetClass="entr" presetSubtype="10" fill="hold" nodeType="withEffect">
                                  <p:stCondLst>
                                    <p:cond delay="0"/>
                                  </p:stCondLst>
                                  <p:childTnLst>
                                    <p:set>
                                      <p:cBhvr>
                                        <p:cTn id="36" dur="1" fill="hold">
                                          <p:stCondLst>
                                            <p:cond delay="0"/>
                                          </p:stCondLst>
                                        </p:cTn>
                                        <p:tgtEl>
                                          <p:spTgt spid="35849"/>
                                        </p:tgtEl>
                                        <p:attrNameLst>
                                          <p:attrName>style.visibility</p:attrName>
                                        </p:attrNameLst>
                                      </p:cBhvr>
                                      <p:to>
                                        <p:strVal val="visible"/>
                                      </p:to>
                                    </p:set>
                                    <p:animEffect transition="in" filter="blinds(horizontal)">
                                      <p:cBhvr>
                                        <p:cTn id="37" dur="500"/>
                                        <p:tgtEl>
                                          <p:spTgt spid="35849"/>
                                        </p:tgtEl>
                                      </p:cBhvr>
                                    </p:animEffect>
                                  </p:childTnLst>
                                </p:cTn>
                              </p:par>
                              <p:par>
                                <p:cTn id="38" presetID="3" presetClass="entr" presetSubtype="10" fill="hold" nodeType="withEffect">
                                  <p:stCondLst>
                                    <p:cond delay="0"/>
                                  </p:stCondLst>
                                  <p:childTnLst>
                                    <p:set>
                                      <p:cBhvr>
                                        <p:cTn id="39" dur="1" fill="hold">
                                          <p:stCondLst>
                                            <p:cond delay="0"/>
                                          </p:stCondLst>
                                        </p:cTn>
                                        <p:tgtEl>
                                          <p:spTgt spid="35850"/>
                                        </p:tgtEl>
                                        <p:attrNameLst>
                                          <p:attrName>style.visibility</p:attrName>
                                        </p:attrNameLst>
                                      </p:cBhvr>
                                      <p:to>
                                        <p:strVal val="visible"/>
                                      </p:to>
                                    </p:set>
                                    <p:animEffect transition="in" filter="blinds(horizontal)">
                                      <p:cBhvr>
                                        <p:cTn id="40" dur="500"/>
                                        <p:tgtEl>
                                          <p:spTgt spid="35850"/>
                                        </p:tgtEl>
                                      </p:cBhvr>
                                    </p:animEffect>
                                  </p:childTnLst>
                                </p:cTn>
                              </p:par>
                              <p:par>
                                <p:cTn id="41" presetID="3" presetClass="entr" presetSubtype="10" fill="hold" nodeType="withEffect">
                                  <p:stCondLst>
                                    <p:cond delay="0"/>
                                  </p:stCondLst>
                                  <p:childTnLst>
                                    <p:set>
                                      <p:cBhvr>
                                        <p:cTn id="42" dur="1" fill="hold">
                                          <p:stCondLst>
                                            <p:cond delay="0"/>
                                          </p:stCondLst>
                                        </p:cTn>
                                        <p:tgtEl>
                                          <p:spTgt spid="35851"/>
                                        </p:tgtEl>
                                        <p:attrNameLst>
                                          <p:attrName>style.visibility</p:attrName>
                                        </p:attrNameLst>
                                      </p:cBhvr>
                                      <p:to>
                                        <p:strVal val="visible"/>
                                      </p:to>
                                    </p:set>
                                    <p:animEffect transition="in" filter="blinds(horizontal)">
                                      <p:cBhvr>
                                        <p:cTn id="43" dur="500"/>
                                        <p:tgtEl>
                                          <p:spTgt spid="35851"/>
                                        </p:tgtEl>
                                      </p:cBhvr>
                                    </p:animEffect>
                                  </p:childTnLst>
                                </p:cTn>
                              </p:par>
                              <p:par>
                                <p:cTn id="44" presetID="3" presetClass="entr" presetSubtype="10" fill="hold" nodeType="withEffect">
                                  <p:stCondLst>
                                    <p:cond delay="0"/>
                                  </p:stCondLst>
                                  <p:childTnLst>
                                    <p:set>
                                      <p:cBhvr>
                                        <p:cTn id="45" dur="1" fill="hold">
                                          <p:stCondLst>
                                            <p:cond delay="0"/>
                                          </p:stCondLst>
                                        </p:cTn>
                                        <p:tgtEl>
                                          <p:spTgt spid="35852"/>
                                        </p:tgtEl>
                                        <p:attrNameLst>
                                          <p:attrName>style.visibility</p:attrName>
                                        </p:attrNameLst>
                                      </p:cBhvr>
                                      <p:to>
                                        <p:strVal val="visible"/>
                                      </p:to>
                                    </p:set>
                                    <p:animEffect transition="in" filter="blinds(horizontal)">
                                      <p:cBhvr>
                                        <p:cTn id="46" dur="500"/>
                                        <p:tgtEl>
                                          <p:spTgt spid="35852"/>
                                        </p:tgtEl>
                                      </p:cBhvr>
                                    </p:animEffect>
                                  </p:childTnLst>
                                </p:cTn>
                              </p:par>
                              <p:par>
                                <p:cTn id="47" presetID="3" presetClass="entr" presetSubtype="10" fill="hold" nodeType="withEffect">
                                  <p:stCondLst>
                                    <p:cond delay="0"/>
                                  </p:stCondLst>
                                  <p:childTnLst>
                                    <p:set>
                                      <p:cBhvr>
                                        <p:cTn id="48" dur="1" fill="hold">
                                          <p:stCondLst>
                                            <p:cond delay="0"/>
                                          </p:stCondLst>
                                        </p:cTn>
                                        <p:tgtEl>
                                          <p:spTgt spid="35853"/>
                                        </p:tgtEl>
                                        <p:attrNameLst>
                                          <p:attrName>style.visibility</p:attrName>
                                        </p:attrNameLst>
                                      </p:cBhvr>
                                      <p:to>
                                        <p:strVal val="visible"/>
                                      </p:to>
                                    </p:set>
                                    <p:animEffect transition="in" filter="blinds(horizontal)">
                                      <p:cBhvr>
                                        <p:cTn id="49" dur="500"/>
                                        <p:tgtEl>
                                          <p:spTgt spid="35853"/>
                                        </p:tgtEl>
                                      </p:cBhvr>
                                    </p:animEffect>
                                  </p:childTnLst>
                                </p:cTn>
                              </p:par>
                              <p:par>
                                <p:cTn id="50" presetID="3" presetClass="entr" presetSubtype="10" fill="hold" nodeType="withEffect">
                                  <p:stCondLst>
                                    <p:cond delay="0"/>
                                  </p:stCondLst>
                                  <p:childTnLst>
                                    <p:set>
                                      <p:cBhvr>
                                        <p:cTn id="51" dur="1" fill="hold">
                                          <p:stCondLst>
                                            <p:cond delay="0"/>
                                          </p:stCondLst>
                                        </p:cTn>
                                        <p:tgtEl>
                                          <p:spTgt spid="35854"/>
                                        </p:tgtEl>
                                        <p:attrNameLst>
                                          <p:attrName>style.visibility</p:attrName>
                                        </p:attrNameLst>
                                      </p:cBhvr>
                                      <p:to>
                                        <p:strVal val="visible"/>
                                      </p:to>
                                    </p:set>
                                    <p:animEffect transition="in" filter="blinds(horizontal)">
                                      <p:cBhvr>
                                        <p:cTn id="52" dur="500"/>
                                        <p:tgtEl>
                                          <p:spTgt spid="35854"/>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35855"/>
                                        </p:tgtEl>
                                        <p:attrNameLst>
                                          <p:attrName>style.visibility</p:attrName>
                                        </p:attrNameLst>
                                      </p:cBhvr>
                                      <p:to>
                                        <p:strVal val="visible"/>
                                      </p:to>
                                    </p:set>
                                    <p:animEffect transition="in" filter="blinds(horizontal)">
                                      <p:cBhvr>
                                        <p:cTn id="55" dur="500"/>
                                        <p:tgtEl>
                                          <p:spTgt spid="35855"/>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35856"/>
                                        </p:tgtEl>
                                        <p:attrNameLst>
                                          <p:attrName>style.visibility</p:attrName>
                                        </p:attrNameLst>
                                      </p:cBhvr>
                                      <p:to>
                                        <p:strVal val="visible"/>
                                      </p:to>
                                    </p:set>
                                    <p:animEffect transition="in" filter="blinds(horizontal)">
                                      <p:cBhvr>
                                        <p:cTn id="58" dur="500"/>
                                        <p:tgtEl>
                                          <p:spTgt spid="35856"/>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35857"/>
                                        </p:tgtEl>
                                        <p:attrNameLst>
                                          <p:attrName>style.visibility</p:attrName>
                                        </p:attrNameLst>
                                      </p:cBhvr>
                                      <p:to>
                                        <p:strVal val="visible"/>
                                      </p:to>
                                    </p:set>
                                    <p:animEffect transition="in" filter="blinds(horizontal)">
                                      <p:cBhvr>
                                        <p:cTn id="61" dur="500"/>
                                        <p:tgtEl>
                                          <p:spTgt spid="35857"/>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35843">
                                            <p:txEl>
                                              <p:pRg st="3" end="3"/>
                                            </p:txEl>
                                          </p:spTgt>
                                        </p:tgtEl>
                                        <p:attrNameLst>
                                          <p:attrName>style.visibility</p:attrName>
                                        </p:attrNameLst>
                                      </p:cBhvr>
                                      <p:to>
                                        <p:strVal val="visible"/>
                                      </p:to>
                                    </p:set>
                                    <p:animEffect transition="in" filter="blinds(horizontal)">
                                      <p:cBhvr>
                                        <p:cTn id="66" dur="500"/>
                                        <p:tgtEl>
                                          <p:spTgt spid="35843">
                                            <p:txEl>
                                              <p:pRg st="3" end="3"/>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35843">
                                            <p:txEl>
                                              <p:pRg st="4" end="4"/>
                                            </p:txEl>
                                          </p:spTgt>
                                        </p:tgtEl>
                                        <p:attrNameLst>
                                          <p:attrName>style.visibility</p:attrName>
                                        </p:attrNameLst>
                                      </p:cBhvr>
                                      <p:to>
                                        <p:strVal val="visible"/>
                                      </p:to>
                                    </p:set>
                                    <p:animEffect transition="in" filter="blinds(horizontal)">
                                      <p:cBhvr>
                                        <p:cTn id="71" dur="500"/>
                                        <p:tgtEl>
                                          <p:spTgt spid="35843">
                                            <p:txEl>
                                              <p:pRg st="4" end="4"/>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35843">
                                            <p:txEl>
                                              <p:pRg st="5" end="5"/>
                                            </p:txEl>
                                          </p:spTgt>
                                        </p:tgtEl>
                                        <p:attrNameLst>
                                          <p:attrName>style.visibility</p:attrName>
                                        </p:attrNameLst>
                                      </p:cBhvr>
                                      <p:to>
                                        <p:strVal val="visible"/>
                                      </p:to>
                                    </p:set>
                                    <p:animEffect transition="in" filter="blinds(horizontal)">
                                      <p:cBhvr>
                                        <p:cTn id="76" dur="500"/>
                                        <p:tgtEl>
                                          <p:spTgt spid="35843">
                                            <p:txEl>
                                              <p:pRg st="5" end="5"/>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35843">
                                            <p:txEl>
                                              <p:pRg st="6" end="6"/>
                                            </p:txEl>
                                          </p:spTgt>
                                        </p:tgtEl>
                                        <p:attrNameLst>
                                          <p:attrName>style.visibility</p:attrName>
                                        </p:attrNameLst>
                                      </p:cBhvr>
                                      <p:to>
                                        <p:strVal val="visible"/>
                                      </p:to>
                                    </p:set>
                                    <p:animEffect transition="in" filter="blinds(horizontal)">
                                      <p:cBhvr>
                                        <p:cTn id="81" dur="500"/>
                                        <p:tgtEl>
                                          <p:spTgt spid="35843">
                                            <p:txEl>
                                              <p:pRg st="6" end="6"/>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35843">
                                            <p:txEl>
                                              <p:pRg st="7" end="7"/>
                                            </p:txEl>
                                          </p:spTgt>
                                        </p:tgtEl>
                                        <p:attrNameLst>
                                          <p:attrName>style.visibility</p:attrName>
                                        </p:attrNameLst>
                                      </p:cBhvr>
                                      <p:to>
                                        <p:strVal val="visible"/>
                                      </p:to>
                                    </p:set>
                                    <p:animEffect transition="in" filter="blinds(horizontal)">
                                      <p:cBhvr>
                                        <p:cTn id="86" dur="500"/>
                                        <p:tgtEl>
                                          <p:spTgt spid="35843">
                                            <p:txEl>
                                              <p:pRg st="7" end="7"/>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35843">
                                            <p:txEl>
                                              <p:pRg st="8" end="8"/>
                                            </p:txEl>
                                          </p:spTgt>
                                        </p:tgtEl>
                                        <p:attrNameLst>
                                          <p:attrName>style.visibility</p:attrName>
                                        </p:attrNameLst>
                                      </p:cBhvr>
                                      <p:to>
                                        <p:strVal val="visible"/>
                                      </p:to>
                                    </p:set>
                                    <p:animEffect transition="in" filter="blinds(horizontal)">
                                      <p:cBhvr>
                                        <p:cTn id="91" dur="500"/>
                                        <p:tgtEl>
                                          <p:spTgt spid="35843">
                                            <p:txEl>
                                              <p:pRg st="8" end="8"/>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35843">
                                            <p:txEl>
                                              <p:pRg st="9" end="9"/>
                                            </p:txEl>
                                          </p:spTgt>
                                        </p:tgtEl>
                                        <p:attrNameLst>
                                          <p:attrName>style.visibility</p:attrName>
                                        </p:attrNameLst>
                                      </p:cBhvr>
                                      <p:to>
                                        <p:strVal val="visible"/>
                                      </p:to>
                                    </p:set>
                                    <p:animEffect transition="in" filter="blinds(horizontal)">
                                      <p:cBhvr>
                                        <p:cTn id="96" dur="500"/>
                                        <p:tgtEl>
                                          <p:spTgt spid="3584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uiExpand="1" build="p"/>
      <p:bldP spid="35845" grpId="0" animBg="1"/>
      <p:bldP spid="35846" grpId="0" animBg="1"/>
      <p:bldP spid="35855" grpId="0"/>
      <p:bldP spid="35856" grpId="0"/>
      <p:bldP spid="3585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a:latin typeface="Times New Roman" panose="02020603050405020304" pitchFamily="18" charset="0"/>
                <a:sym typeface="+mn-ea"/>
              </a:rPr>
              <a:t>7.7 </a:t>
            </a:r>
            <a:r>
              <a:rPr lang="zh-CN" altLang="en-US" dirty="0">
                <a:latin typeface="Times New Roman" panose="02020603050405020304" pitchFamily="18" charset="0"/>
                <a:sym typeface="+mn-ea"/>
              </a:rPr>
              <a:t>递归技术应用</a:t>
            </a:r>
            <a:endParaRPr lang="zh-CN" altLang="en-US"/>
          </a:p>
        </p:txBody>
      </p:sp>
      <p:sp>
        <p:nvSpPr>
          <p:cNvPr id="3" name="内容占位符 2"/>
          <p:cNvSpPr>
            <a:spLocks noGrp="1"/>
          </p:cNvSpPr>
          <p:nvPr>
            <p:ph idx="1"/>
          </p:nvPr>
        </p:nvSpPr>
        <p:spPr>
          <a:xfrm>
            <a:off x="457200" y="1118870"/>
            <a:ext cx="8229600" cy="4974590"/>
          </a:xfrm>
        </p:spPr>
        <p:txBody>
          <a:bodyPr/>
          <a:p>
            <a:pPr>
              <a:buFont typeface="Wingdings" panose="05000000000000000000" charset="0"/>
              <a:buChar char="Ø"/>
            </a:pPr>
            <a:r>
              <a:rPr lang="en-US" altLang="zh-CN" b="1" dirty="0">
                <a:sym typeface="+mn-ea"/>
              </a:rPr>
              <a:t>7.7.1 </a:t>
            </a:r>
            <a:r>
              <a:rPr lang="zh-CN" altLang="en-US" b="1" dirty="0">
                <a:sym typeface="+mn-ea"/>
              </a:rPr>
              <a:t>递归算法设计举例</a:t>
            </a:r>
            <a:endParaRPr lang="zh-CN" altLang="en-US" b="1" dirty="0"/>
          </a:p>
          <a:p>
            <a:pPr marL="0" indent="0" eaLnBrk="1" latinLnBrk="0" hangingPunct="1">
              <a:spcBef>
                <a:spcPts val="0"/>
              </a:spcBef>
              <a:buNone/>
            </a:pPr>
            <a:r>
              <a:rPr lang="zh-CN" altLang="en-US" sz="1600"/>
              <a:t>对刚开始设计递归算法的初学者来说，自然会疑惑：</a:t>
            </a:r>
            <a:endParaRPr lang="zh-CN" altLang="en-US" sz="1600"/>
          </a:p>
          <a:p>
            <a:pPr marL="457200" lvl="1" indent="0" eaLnBrk="1" latinLnBrk="0" hangingPunct="1">
              <a:spcBef>
                <a:spcPts val="0"/>
              </a:spcBef>
              <a:buNone/>
            </a:pPr>
            <a:r>
              <a:rPr lang="zh-CN" altLang="en-US" sz="1600"/>
              <a:t>什么样的问题的求解方法可以采用递归方式来？</a:t>
            </a:r>
            <a:endParaRPr lang="zh-CN" altLang="en-US" sz="1600"/>
          </a:p>
          <a:p>
            <a:pPr marL="0" indent="0" eaLnBrk="1" latinLnBrk="0" hangingPunct="1">
              <a:spcBef>
                <a:spcPts val="0"/>
              </a:spcBef>
              <a:buNone/>
            </a:pPr>
            <a:r>
              <a:rPr lang="zh-CN" altLang="en-US" sz="1600"/>
              <a:t>下面先通过几个例子来体会一下。</a:t>
            </a:r>
            <a:endParaRPr lang="zh-CN" altLang="en-US" sz="1600"/>
          </a:p>
          <a:p>
            <a:pPr marL="0" indent="0" eaLnBrk="1" latinLnBrk="0" hangingPunct="1">
              <a:spcBef>
                <a:spcPts val="0"/>
              </a:spcBef>
              <a:buNone/>
            </a:pPr>
            <a:r>
              <a:rPr lang="zh-CN" altLang="en-US" sz="1600" b="1"/>
              <a:t>（</a:t>
            </a:r>
            <a:r>
              <a:rPr lang="en-US" altLang="zh-CN" sz="1600" b="1"/>
              <a:t>1</a:t>
            </a:r>
            <a:r>
              <a:rPr lang="zh-CN" altLang="en-US" sz="1600" b="1"/>
              <a:t>）递归算法示例</a:t>
            </a:r>
            <a:endParaRPr lang="zh-CN" altLang="en-US" sz="1600" b="1"/>
          </a:p>
          <a:p>
            <a:pPr marL="0" indent="0" eaLnBrk="1" latinLnBrk="0" hangingPunct="1">
              <a:spcBef>
                <a:spcPts val="0"/>
              </a:spcBef>
              <a:buNone/>
            </a:pPr>
            <a:r>
              <a:rPr lang="zh-CN" altLang="en-US" sz="1600"/>
              <a:t>例1 阶乘n!的定义如下：</a:t>
            </a:r>
            <a:endParaRPr lang="zh-CN" altLang="en-US" sz="1600"/>
          </a:p>
          <a:p>
            <a:pPr marL="0" indent="0" eaLnBrk="1" latinLnBrk="0" hangingPunct="1">
              <a:spcBef>
                <a:spcPts val="0"/>
              </a:spcBef>
              <a:buNone/>
            </a:pPr>
            <a:r>
              <a:rPr lang="zh-CN" altLang="en-US" sz="1600"/>
              <a:t>          </a:t>
            </a:r>
            <a:r>
              <a:rPr lang="en-US" altLang="zh-CN" sz="1600"/>
              <a:t>     </a:t>
            </a:r>
            <a:r>
              <a:rPr lang="zh-CN" altLang="en-US" sz="1600"/>
              <a:t>   </a:t>
            </a:r>
            <a:r>
              <a:rPr lang="en-US" altLang="zh-CN" sz="1600"/>
              <a:t> </a:t>
            </a:r>
            <a:r>
              <a:rPr lang="zh-CN" altLang="en-US" sz="1600"/>
              <a:t>1    </a:t>
            </a:r>
            <a:r>
              <a:rPr lang="en-US" altLang="zh-CN" sz="1600"/>
              <a:t>    </a:t>
            </a:r>
            <a:r>
              <a:rPr lang="zh-CN" altLang="en-US" sz="1600"/>
              <a:t>     n=0</a:t>
            </a:r>
            <a:endParaRPr lang="zh-CN" altLang="en-US" sz="1600"/>
          </a:p>
          <a:p>
            <a:pPr marL="0" indent="0" eaLnBrk="1" latinLnBrk="0" hangingPunct="1">
              <a:spcBef>
                <a:spcPts val="0"/>
              </a:spcBef>
              <a:buNone/>
            </a:pPr>
            <a:r>
              <a:rPr lang="zh-CN" altLang="en-US" sz="1600"/>
              <a:t>      n！=</a:t>
            </a:r>
            <a:endParaRPr lang="zh-CN" altLang="en-US" sz="1600"/>
          </a:p>
          <a:p>
            <a:pPr marL="0" indent="0" eaLnBrk="1" latinLnBrk="0" hangingPunct="1">
              <a:spcBef>
                <a:spcPts val="0"/>
              </a:spcBef>
              <a:buNone/>
            </a:pPr>
            <a:r>
              <a:rPr lang="zh-CN" altLang="en-US" sz="1600"/>
              <a:t>         </a:t>
            </a:r>
            <a:r>
              <a:rPr lang="en-US" altLang="zh-CN" sz="1600"/>
              <a:t>      </a:t>
            </a:r>
            <a:r>
              <a:rPr lang="zh-CN" altLang="en-US" sz="1600"/>
              <a:t>    n*(n-1)!   n&gt;0</a:t>
            </a:r>
            <a:endParaRPr lang="zh-CN" altLang="en-US" sz="1600"/>
          </a:p>
          <a:p>
            <a:pPr marL="0" indent="0" eaLnBrk="1" latinLnBrk="0" hangingPunct="1">
              <a:spcBef>
                <a:spcPts val="0"/>
              </a:spcBef>
              <a:buNone/>
            </a:pPr>
            <a:r>
              <a:rPr lang="en-US" altLang="zh-CN" sz="1600"/>
              <a:t>  </a:t>
            </a:r>
            <a:r>
              <a:rPr lang="zh-CN" altLang="en-US" sz="1600"/>
              <a:t>在阶乘n！的定义中就明确采用了递归定义方式，</a:t>
            </a:r>
            <a:endParaRPr lang="zh-CN" altLang="en-US" sz="1600"/>
          </a:p>
          <a:p>
            <a:pPr marL="0" indent="0" eaLnBrk="1" latinLnBrk="0" hangingPunct="1">
              <a:spcBef>
                <a:spcPts val="0"/>
              </a:spcBef>
              <a:buNone/>
            </a:pPr>
            <a:r>
              <a:rPr lang="zh-CN" altLang="en-US" sz="1600"/>
              <a:t> </a:t>
            </a:r>
            <a:r>
              <a:rPr lang="en-US" altLang="zh-CN" sz="1600"/>
              <a:t>        </a:t>
            </a:r>
            <a:r>
              <a:rPr lang="zh-CN" altLang="en-US" sz="1600"/>
              <a:t>因此，对应的求阶乘的递归函数如下：</a:t>
            </a:r>
            <a:endParaRPr lang="zh-CN" altLang="en-US" sz="1600"/>
          </a:p>
          <a:p>
            <a:pPr marL="0" indent="0" eaLnBrk="1" latinLnBrk="0" hangingPunct="1">
              <a:spcBef>
                <a:spcPts val="0"/>
              </a:spcBef>
              <a:buNone/>
            </a:pPr>
            <a:r>
              <a:rPr lang="zh-CN" altLang="en-US" sz="1600"/>
              <a:t> int Fact ( int n ) </a:t>
            </a:r>
            <a:endParaRPr lang="zh-CN" altLang="en-US" sz="1600"/>
          </a:p>
          <a:p>
            <a:pPr marL="0" indent="0" eaLnBrk="1" latinLnBrk="0" hangingPunct="1">
              <a:spcBef>
                <a:spcPts val="0"/>
              </a:spcBef>
              <a:buNone/>
            </a:pPr>
            <a:r>
              <a:rPr lang="zh-CN" altLang="en-US" sz="1600"/>
              <a:t> {                              </a:t>
            </a:r>
            <a:endParaRPr lang="zh-CN" altLang="en-US" sz="1600"/>
          </a:p>
          <a:p>
            <a:pPr marL="0" indent="0" eaLnBrk="1" latinLnBrk="0" hangingPunct="1">
              <a:spcBef>
                <a:spcPts val="0"/>
              </a:spcBef>
              <a:buNone/>
            </a:pPr>
            <a:r>
              <a:rPr lang="zh-CN" altLang="en-US" sz="1600"/>
              <a:t>         if ( n == 0 ) </a:t>
            </a:r>
            <a:endParaRPr lang="zh-CN" altLang="en-US" sz="1600"/>
          </a:p>
          <a:p>
            <a:pPr marL="0" indent="0" eaLnBrk="1" latinLnBrk="0" hangingPunct="1">
              <a:spcBef>
                <a:spcPts val="0"/>
              </a:spcBef>
              <a:buNone/>
            </a:pPr>
            <a:r>
              <a:rPr lang="zh-CN" altLang="en-US" sz="1600"/>
              <a:t>             return 1;                        </a:t>
            </a:r>
            <a:endParaRPr lang="zh-CN" altLang="en-US" sz="1600"/>
          </a:p>
          <a:p>
            <a:pPr marL="0" indent="0" eaLnBrk="1" latinLnBrk="0" hangingPunct="1">
              <a:spcBef>
                <a:spcPts val="0"/>
              </a:spcBef>
              <a:buNone/>
            </a:pPr>
            <a:r>
              <a:rPr lang="zh-CN" altLang="en-US" sz="1600"/>
              <a:t>        else </a:t>
            </a:r>
            <a:endParaRPr lang="zh-CN" altLang="en-US" sz="1600"/>
          </a:p>
          <a:p>
            <a:pPr marL="0" indent="0" eaLnBrk="1" latinLnBrk="0" hangingPunct="1">
              <a:spcBef>
                <a:spcPts val="0"/>
              </a:spcBef>
              <a:buNone/>
            </a:pPr>
            <a:r>
              <a:rPr lang="zh-CN" altLang="en-US" sz="1600"/>
              <a:t>             return n * Fact( n – 1 );                 </a:t>
            </a:r>
            <a:endParaRPr lang="zh-CN" altLang="en-US" sz="1600"/>
          </a:p>
          <a:p>
            <a:pPr marL="0" indent="0" eaLnBrk="1" latinLnBrk="0" hangingPunct="1">
              <a:spcBef>
                <a:spcPts val="0"/>
              </a:spcBef>
              <a:buNone/>
            </a:pPr>
            <a:r>
              <a:rPr lang="zh-CN" altLang="en-US" sz="1600"/>
              <a:t>   } </a:t>
            </a:r>
            <a:endParaRPr lang="zh-CN" altLang="en-US" sz="1600"/>
          </a:p>
        </p:txBody>
      </p:sp>
      <p:sp>
        <p:nvSpPr>
          <p:cNvPr id="4" name="页脚占位符 3"/>
          <p:cNvSpPr>
            <a:spLocks noGrp="1"/>
          </p:cNvSpPr>
          <p:nvPr>
            <p:ph type="ftr" sz="quarter" idx="3"/>
          </p:nvPr>
        </p:nvSpPr>
        <p:spPr/>
        <p:txBody>
          <a:bodyPr/>
          <a:p>
            <a:pPr>
              <a:defRPr/>
            </a:pPr>
            <a:endParaRPr lang="zh-CN" altLang="en-US" dirty="0"/>
          </a:p>
        </p:txBody>
      </p:sp>
      <p:sp>
        <p:nvSpPr>
          <p:cNvPr id="1073743036" name="左大括号 1073743035"/>
          <p:cNvSpPr/>
          <p:nvPr/>
        </p:nvSpPr>
        <p:spPr>
          <a:xfrm>
            <a:off x="1331278" y="3068955"/>
            <a:ext cx="90805" cy="361950"/>
          </a:xfrm>
          <a:prstGeom prst="leftBrace">
            <a:avLst>
              <a:gd name="adj1" fmla="val 33216"/>
              <a:gd name="adj2" fmla="val 50000"/>
            </a:avLst>
          </a:prstGeom>
          <a:noFill/>
          <a:ln w="9525" cap="flat" cmpd="sng">
            <a:solidFill>
              <a:srgbClr val="000000"/>
            </a:solidFill>
            <a:prstDash val="solid"/>
            <a:headEnd type="none" w="med" len="med"/>
            <a:tailEnd type="none" w="med" len="med"/>
          </a:ln>
        </p:spPr>
        <p:txBody>
          <a:bodyPr/>
          <a:p>
            <a:endParaRPr lang="zh-CN" altLang="en-US"/>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blinds(horizontal)">
                                      <p:cBhvr>
                                        <p:cTn id="32" dur="500"/>
                                        <p:tgtEl>
                                          <p:spTgt spid="3">
                                            <p:txEl>
                                              <p:pRg st="7" end="7"/>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073743036"/>
                                        </p:tgtEl>
                                        <p:attrNameLst>
                                          <p:attrName>style.visibility</p:attrName>
                                        </p:attrNameLst>
                                      </p:cBhvr>
                                      <p:to>
                                        <p:strVal val="visible"/>
                                      </p:to>
                                    </p:set>
                                    <p:animEffect transition="in" filter="blinds(horizontal)">
                                      <p:cBhvr>
                                        <p:cTn id="35" dur="500"/>
                                        <p:tgtEl>
                                          <p:spTgt spid="1073743036"/>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animEffect transition="in" filter="blinds(horizontal)">
                                      <p:cBhvr>
                                        <p:cTn id="40" dur="500"/>
                                        <p:tgtEl>
                                          <p:spTgt spid="3">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blinds(horizontal)">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3">
                                            <p:txEl>
                                              <p:pRg st="9" end="9"/>
                                            </p:txEl>
                                          </p:spTgt>
                                        </p:tgtEl>
                                        <p:attrNameLst>
                                          <p:attrName>style.visibility</p:attrName>
                                        </p:attrNameLst>
                                      </p:cBhvr>
                                      <p:to>
                                        <p:strVal val="visible"/>
                                      </p:to>
                                    </p:set>
                                    <p:animEffect transition="in" filter="blinds(horizontal)">
                                      <p:cBhvr>
                                        <p:cTn id="50" dur="500"/>
                                        <p:tgtEl>
                                          <p:spTgt spid="3">
                                            <p:txEl>
                                              <p:pRg st="9" end="9"/>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Effect transition="in" filter="blinds(horizontal)">
                                      <p:cBhvr>
                                        <p:cTn id="55" dur="500"/>
                                        <p:tgtEl>
                                          <p:spTgt spid="3">
                                            <p:txEl>
                                              <p:pRg st="10" end="1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3">
                                            <p:txEl>
                                              <p:pRg st="11" end="11"/>
                                            </p:txEl>
                                          </p:spTgt>
                                        </p:tgtEl>
                                        <p:attrNameLst>
                                          <p:attrName>style.visibility</p:attrName>
                                        </p:attrNameLst>
                                      </p:cBhvr>
                                      <p:to>
                                        <p:strVal val="visible"/>
                                      </p:to>
                                    </p:set>
                                    <p:animEffect transition="in" filter="blinds(horizontal)">
                                      <p:cBhvr>
                                        <p:cTn id="60" dur="500"/>
                                        <p:tgtEl>
                                          <p:spTgt spid="3">
                                            <p:txEl>
                                              <p:pRg st="11" end="11"/>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3">
                                            <p:txEl>
                                              <p:pRg st="12" end="12"/>
                                            </p:txEl>
                                          </p:spTgt>
                                        </p:tgtEl>
                                        <p:attrNameLst>
                                          <p:attrName>style.visibility</p:attrName>
                                        </p:attrNameLst>
                                      </p:cBhvr>
                                      <p:to>
                                        <p:strVal val="visible"/>
                                      </p:to>
                                    </p:set>
                                    <p:animEffect transition="in" filter="blinds(horizontal)">
                                      <p:cBhvr>
                                        <p:cTn id="65" dur="500"/>
                                        <p:tgtEl>
                                          <p:spTgt spid="3">
                                            <p:txEl>
                                              <p:pRg st="12" end="12"/>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3">
                                            <p:txEl>
                                              <p:pRg st="13" end="13"/>
                                            </p:txEl>
                                          </p:spTgt>
                                        </p:tgtEl>
                                        <p:attrNameLst>
                                          <p:attrName>style.visibility</p:attrName>
                                        </p:attrNameLst>
                                      </p:cBhvr>
                                      <p:to>
                                        <p:strVal val="visible"/>
                                      </p:to>
                                    </p:set>
                                    <p:animEffect transition="in" filter="blinds(horizontal)">
                                      <p:cBhvr>
                                        <p:cTn id="70" dur="500"/>
                                        <p:tgtEl>
                                          <p:spTgt spid="3">
                                            <p:txEl>
                                              <p:pRg st="13" end="13"/>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nodeType="clickEffect">
                                  <p:stCondLst>
                                    <p:cond delay="0"/>
                                  </p:stCondLst>
                                  <p:childTnLst>
                                    <p:set>
                                      <p:cBhvr>
                                        <p:cTn id="74" dur="1" fill="hold">
                                          <p:stCondLst>
                                            <p:cond delay="0"/>
                                          </p:stCondLst>
                                        </p:cTn>
                                        <p:tgtEl>
                                          <p:spTgt spid="3">
                                            <p:txEl>
                                              <p:pRg st="14" end="14"/>
                                            </p:txEl>
                                          </p:spTgt>
                                        </p:tgtEl>
                                        <p:attrNameLst>
                                          <p:attrName>style.visibility</p:attrName>
                                        </p:attrNameLst>
                                      </p:cBhvr>
                                      <p:to>
                                        <p:strVal val="visible"/>
                                      </p:to>
                                    </p:set>
                                    <p:animEffect transition="in" filter="blinds(horizontal)">
                                      <p:cBhvr>
                                        <p:cTn id="75" dur="500"/>
                                        <p:tgtEl>
                                          <p:spTgt spid="3">
                                            <p:txEl>
                                              <p:pRg st="14" end="14"/>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nodeType="clickEffect">
                                  <p:stCondLst>
                                    <p:cond delay="0"/>
                                  </p:stCondLst>
                                  <p:childTnLst>
                                    <p:set>
                                      <p:cBhvr>
                                        <p:cTn id="79" dur="1" fill="hold">
                                          <p:stCondLst>
                                            <p:cond delay="0"/>
                                          </p:stCondLst>
                                        </p:cTn>
                                        <p:tgtEl>
                                          <p:spTgt spid="3">
                                            <p:txEl>
                                              <p:pRg st="15" end="15"/>
                                            </p:txEl>
                                          </p:spTgt>
                                        </p:tgtEl>
                                        <p:attrNameLst>
                                          <p:attrName>style.visibility</p:attrName>
                                        </p:attrNameLst>
                                      </p:cBhvr>
                                      <p:to>
                                        <p:strVal val="visible"/>
                                      </p:to>
                                    </p:set>
                                    <p:animEffect transition="in" filter="blinds(horizontal)">
                                      <p:cBhvr>
                                        <p:cTn id="80" dur="500"/>
                                        <p:tgtEl>
                                          <p:spTgt spid="3">
                                            <p:txEl>
                                              <p:pRg st="15" end="15"/>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nodeType="clickEffect">
                                  <p:stCondLst>
                                    <p:cond delay="0"/>
                                  </p:stCondLst>
                                  <p:childTnLst>
                                    <p:set>
                                      <p:cBhvr>
                                        <p:cTn id="84" dur="1" fill="hold">
                                          <p:stCondLst>
                                            <p:cond delay="0"/>
                                          </p:stCondLst>
                                        </p:cTn>
                                        <p:tgtEl>
                                          <p:spTgt spid="3">
                                            <p:txEl>
                                              <p:pRg st="16" end="16"/>
                                            </p:txEl>
                                          </p:spTgt>
                                        </p:tgtEl>
                                        <p:attrNameLst>
                                          <p:attrName>style.visibility</p:attrName>
                                        </p:attrNameLst>
                                      </p:cBhvr>
                                      <p:to>
                                        <p:strVal val="visible"/>
                                      </p:to>
                                    </p:set>
                                    <p:animEffect transition="in" filter="blinds(horizontal)">
                                      <p:cBhvr>
                                        <p:cTn id="85" dur="500"/>
                                        <p:tgtEl>
                                          <p:spTgt spid="3">
                                            <p:txEl>
                                              <p:pRg st="16" end="16"/>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nodeType="clickEffect">
                                  <p:stCondLst>
                                    <p:cond delay="0"/>
                                  </p:stCondLst>
                                  <p:childTnLst>
                                    <p:set>
                                      <p:cBhvr>
                                        <p:cTn id="89" dur="1" fill="hold">
                                          <p:stCondLst>
                                            <p:cond delay="0"/>
                                          </p:stCondLst>
                                        </p:cTn>
                                        <p:tgtEl>
                                          <p:spTgt spid="3">
                                            <p:txEl>
                                              <p:pRg st="17" end="17"/>
                                            </p:txEl>
                                          </p:spTgt>
                                        </p:tgtEl>
                                        <p:attrNameLst>
                                          <p:attrName>style.visibility</p:attrName>
                                        </p:attrNameLst>
                                      </p:cBhvr>
                                      <p:to>
                                        <p:strVal val="visible"/>
                                      </p:to>
                                    </p:set>
                                    <p:animEffect transition="in" filter="blinds(horizontal)">
                                      <p:cBhvr>
                                        <p:cTn id="90" dur="500"/>
                                        <p:tgtEl>
                                          <p:spTgt spid="3">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374303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a:sym typeface="+mn-ea"/>
              </a:rPr>
              <a:t>7.7.1 </a:t>
            </a:r>
            <a:r>
              <a:rPr lang="zh-CN" altLang="en-US" dirty="0">
                <a:sym typeface="+mn-ea"/>
              </a:rPr>
              <a:t>递归算法设计举例</a:t>
            </a:r>
            <a:endParaRPr lang="zh-CN" altLang="en-US"/>
          </a:p>
        </p:txBody>
      </p:sp>
      <p:sp>
        <p:nvSpPr>
          <p:cNvPr id="3" name="内容占位符 2"/>
          <p:cNvSpPr>
            <a:spLocks noGrp="1"/>
          </p:cNvSpPr>
          <p:nvPr>
            <p:ph idx="1"/>
          </p:nvPr>
        </p:nvSpPr>
        <p:spPr>
          <a:xfrm>
            <a:off x="457200" y="1202055"/>
            <a:ext cx="8229600" cy="4891405"/>
          </a:xfrm>
        </p:spPr>
        <p:txBody>
          <a:bodyPr/>
          <a:p>
            <a:pPr marL="0" indent="0">
              <a:buNone/>
            </a:pPr>
            <a:r>
              <a:rPr lang="zh-CN" altLang="en-US" sz="1600" b="1">
                <a:solidFill>
                  <a:srgbClr val="FF0000"/>
                </a:solidFill>
              </a:rPr>
              <a:t>例2</a:t>
            </a:r>
            <a:r>
              <a:rPr lang="zh-CN" altLang="en-US" sz="1600"/>
              <a:t>  设计出求两个自然数m和n的最大公因子的辗转相除法的递归函数。</a:t>
            </a:r>
            <a:endParaRPr lang="zh-CN" altLang="en-US" sz="1600"/>
          </a:p>
          <a:p>
            <a:pPr marL="0" indent="0">
              <a:buNone/>
            </a:pPr>
            <a:r>
              <a:rPr lang="zh-CN" altLang="en-US" sz="1600"/>
              <a:t>如前所述，辗转相除法表达了：两个整数的最大公因子的求解，可以等价地转换为两个更小的整数的最大公因子的求解，这种等价转换可以重复进行，直到其中一个整数为0为止。此时，另一个非0的整数就是所求出的最大公因子。</a:t>
            </a:r>
            <a:endParaRPr lang="zh-CN" altLang="en-US" sz="1600"/>
          </a:p>
          <a:p>
            <a:pPr marL="0" indent="0">
              <a:buNone/>
            </a:pPr>
            <a:r>
              <a:rPr lang="zh-CN" altLang="en-US" sz="1600"/>
              <a:t>例如，（1000，360）的求解过程如下：</a:t>
            </a:r>
            <a:endParaRPr lang="zh-CN" altLang="en-US" sz="1600"/>
          </a:p>
          <a:p>
            <a:pPr marL="0" indent="0">
              <a:buNone/>
            </a:pPr>
            <a:r>
              <a:rPr lang="zh-CN" altLang="en-US" sz="1600"/>
              <a:t>（1000，360）</a:t>
            </a:r>
            <a:endParaRPr lang="zh-CN" altLang="en-US" sz="1600"/>
          </a:p>
          <a:p>
            <a:pPr marL="0" indent="0">
              <a:buNone/>
            </a:pPr>
            <a:r>
              <a:rPr lang="zh-CN" altLang="en-US" sz="1600"/>
              <a:t>             （360，280）</a:t>
            </a:r>
            <a:endParaRPr lang="zh-CN" altLang="en-US" sz="1600"/>
          </a:p>
          <a:p>
            <a:pPr marL="0" indent="0">
              <a:buNone/>
            </a:pPr>
            <a:r>
              <a:rPr lang="zh-CN" altLang="en-US" sz="1600"/>
              <a:t>                        （280，80）</a:t>
            </a:r>
            <a:endParaRPr lang="zh-CN" altLang="en-US" sz="1600"/>
          </a:p>
          <a:p>
            <a:pPr marL="0" indent="0">
              <a:buNone/>
            </a:pPr>
            <a:r>
              <a:rPr lang="zh-CN" altLang="en-US" sz="1600"/>
              <a:t>                                  （80，40）</a:t>
            </a:r>
            <a:endParaRPr lang="zh-CN" altLang="en-US" sz="1600"/>
          </a:p>
          <a:p>
            <a:pPr marL="0" indent="0">
              <a:buNone/>
            </a:pPr>
            <a:r>
              <a:rPr lang="zh-CN" altLang="en-US" sz="1600"/>
              <a:t>                                            （40，0）  直接得到解40</a:t>
            </a:r>
            <a:endParaRPr lang="zh-CN" altLang="en-US" sz="1600"/>
          </a:p>
          <a:p>
            <a:pPr marL="0" indent="0">
              <a:buNone/>
            </a:pPr>
            <a:r>
              <a:rPr lang="zh-CN" altLang="en-US" sz="1600"/>
              <a:t>其对应的递归函数：</a:t>
            </a:r>
            <a:endParaRPr lang="zh-CN" altLang="en-US" sz="1600"/>
          </a:p>
          <a:p>
            <a:pPr marL="0" indent="0">
              <a:buNone/>
            </a:pPr>
            <a:r>
              <a:rPr lang="zh-CN" altLang="en-US" sz="1600"/>
              <a:t>int hcf(int m, int n)</a:t>
            </a:r>
            <a:endParaRPr lang="zh-CN" altLang="en-US" sz="1600"/>
          </a:p>
          <a:p>
            <a:pPr marL="0" indent="0">
              <a:buNone/>
            </a:pPr>
            <a:r>
              <a:rPr lang="zh-CN" altLang="en-US" sz="1600"/>
              <a:t>{</a:t>
            </a:r>
            <a:endParaRPr lang="zh-CN" altLang="en-US" sz="1600"/>
          </a:p>
          <a:p>
            <a:pPr marL="0" indent="0">
              <a:buNone/>
            </a:pPr>
            <a:r>
              <a:rPr lang="zh-CN" altLang="en-US" sz="1600"/>
              <a:t>　  if (n==0) </a:t>
            </a:r>
            <a:endParaRPr lang="zh-CN" altLang="en-US" sz="1600"/>
          </a:p>
          <a:p>
            <a:pPr marL="0" indent="0">
              <a:buNone/>
            </a:pPr>
            <a:r>
              <a:rPr lang="zh-CN" altLang="en-US" sz="1600"/>
              <a:t>       return m;</a:t>
            </a:r>
            <a:endParaRPr lang="zh-CN" altLang="en-US" sz="1600"/>
          </a:p>
          <a:p>
            <a:pPr marL="0" indent="0">
              <a:buNone/>
            </a:pPr>
            <a:r>
              <a:rPr lang="zh-CN" altLang="en-US" sz="1600"/>
              <a:t>  　else    return hcf(n, m % n);</a:t>
            </a:r>
            <a:endParaRPr lang="zh-CN" altLang="en-US" sz="1600"/>
          </a:p>
          <a:p>
            <a:pPr marL="0" indent="0">
              <a:buNone/>
            </a:pPr>
            <a:r>
              <a:rPr lang="zh-CN" altLang="en-US" sz="1600"/>
              <a:t>} </a:t>
            </a:r>
            <a:endParaRPr lang="zh-CN" altLang="en-US" sz="1600"/>
          </a:p>
        </p:txBody>
      </p:sp>
      <p:sp>
        <p:nvSpPr>
          <p:cNvPr id="4" name="页脚占位符 3"/>
          <p:cNvSpPr>
            <a:spLocks noGrp="1"/>
          </p:cNvSpPr>
          <p:nvPr>
            <p:ph type="ftr" sz="quarter" idx="3"/>
          </p:nvPr>
        </p:nvSpPr>
        <p:spPr/>
        <p:txBody>
          <a:bodyPr/>
          <a:p>
            <a:pPr>
              <a:defRPr/>
            </a:pPr>
            <a:endParaRPr lang="zh-CN" altLang="en-US" dirty="0"/>
          </a:p>
        </p:txBody>
      </p:sp>
      <p:sp>
        <p:nvSpPr>
          <p:cNvPr id="1073743024" name="矩形 1073743023"/>
          <p:cNvSpPr/>
          <p:nvPr/>
        </p:nvSpPr>
        <p:spPr>
          <a:xfrm>
            <a:off x="923290" y="2637155"/>
            <a:ext cx="1206500" cy="129540"/>
          </a:xfrm>
          <a:prstGeom prst="rect">
            <a:avLst/>
          </a:prstGeom>
          <a:noFill/>
          <a:ln w="9525" cap="flat" cmpd="sng">
            <a:solidFill>
              <a:srgbClr val="000000"/>
            </a:solidFill>
            <a:prstDash val="dash"/>
            <a:miter/>
            <a:headEnd type="none" w="med" len="med"/>
            <a:tailEnd type="none" w="med" len="med"/>
          </a:ln>
        </p:spPr>
        <p:txBody>
          <a:bodyPr/>
          <a:p>
            <a:endParaRPr lang="zh-CN" altLang="en-US"/>
          </a:p>
        </p:txBody>
      </p:sp>
      <p:sp>
        <p:nvSpPr>
          <p:cNvPr id="1073743025" name="任意多边形 1073743024"/>
          <p:cNvSpPr/>
          <p:nvPr/>
        </p:nvSpPr>
        <p:spPr>
          <a:xfrm flipH="1">
            <a:off x="1164590" y="2925445"/>
            <a:ext cx="438150" cy="177800"/>
          </a:xfrm>
          <a:custGeom>
            <a:avLst/>
            <a:gdLst>
              <a:gd name="txL" fmla="*/ 3085 w 21600"/>
              <a:gd name="txT" fmla="*/ 12343 h 21600"/>
              <a:gd name="txR" fmla="*/ 18514 w 21600"/>
              <a:gd name="txB" fmla="*/ 18514 h 21600"/>
            </a:gdLst>
            <a:ahLst/>
            <a:cxnLst>
              <a:cxn ang="270">
                <a:pos x="15428" y="0"/>
              </a:cxn>
              <a:cxn ang="180">
                <a:pos x="9257" y="6171"/>
              </a:cxn>
              <a:cxn ang="270">
                <a:pos x="6171" y="9257"/>
              </a:cxn>
              <a:cxn ang="180">
                <a:pos x="0" y="15428"/>
              </a:cxn>
              <a:cxn ang="90">
                <a:pos x="6171" y="21600"/>
              </a:cxn>
              <a:cxn ang="90">
                <a:pos x="12342" y="18514"/>
              </a:cxn>
              <a:cxn ang="0">
                <a:pos x="18514" y="12342"/>
              </a:cxn>
              <a:cxn ang="0">
                <a:pos x="21600" y="6171"/>
              </a:cxn>
            </a:cxnLst>
            <a:rect l="txL" t="txT" r="txR" b="txB"/>
            <a:pathLst>
              <a:path w="21600" h="21600">
                <a:moveTo>
                  <a:pt x="15428" y="0"/>
                </a:moveTo>
                <a:lnTo>
                  <a:pt x="9257" y="6171"/>
                </a:lnTo>
                <a:lnTo>
                  <a:pt x="12343" y="6171"/>
                </a:lnTo>
                <a:lnTo>
                  <a:pt x="12343" y="12343"/>
                </a:lnTo>
                <a:lnTo>
                  <a:pt x="6171" y="12343"/>
                </a:lnTo>
                <a:lnTo>
                  <a:pt x="6171" y="9257"/>
                </a:lnTo>
                <a:lnTo>
                  <a:pt x="0" y="15428"/>
                </a:lnTo>
                <a:lnTo>
                  <a:pt x="6171" y="21600"/>
                </a:lnTo>
                <a:lnTo>
                  <a:pt x="6171" y="18514"/>
                </a:lnTo>
                <a:lnTo>
                  <a:pt x="18514" y="18514"/>
                </a:lnTo>
                <a:lnTo>
                  <a:pt x="18514" y="6171"/>
                </a:lnTo>
                <a:lnTo>
                  <a:pt x="21600" y="6171"/>
                </a:lnTo>
                <a:close/>
              </a:path>
            </a:pathLst>
          </a:custGeom>
          <a:solidFill>
            <a:srgbClr val="FFFFFF"/>
          </a:solidFill>
          <a:ln w="9525" cap="flat" cmpd="sng">
            <a:solidFill>
              <a:srgbClr val="000000"/>
            </a:solidFill>
            <a:prstDash val="solid"/>
            <a:miter/>
            <a:headEnd type="none" w="med" len="med"/>
            <a:tailEnd type="none" w="med" len="med"/>
          </a:ln>
        </p:spPr>
        <p:txBody>
          <a:bodyPr/>
          <a:p>
            <a:endParaRPr lang="zh-CN" altLang="en-US"/>
          </a:p>
        </p:txBody>
      </p:sp>
      <p:sp>
        <p:nvSpPr>
          <p:cNvPr id="1073743026" name="矩形 1073743025"/>
          <p:cNvSpPr/>
          <p:nvPr/>
        </p:nvSpPr>
        <p:spPr>
          <a:xfrm>
            <a:off x="1691640" y="2942590"/>
            <a:ext cx="1080770" cy="152400"/>
          </a:xfrm>
          <a:prstGeom prst="rect">
            <a:avLst/>
          </a:prstGeom>
          <a:noFill/>
          <a:ln w="9525" cap="flat" cmpd="sng">
            <a:solidFill>
              <a:srgbClr val="000000"/>
            </a:solidFill>
            <a:prstDash val="dash"/>
            <a:miter/>
            <a:headEnd type="none" w="med" len="med"/>
            <a:tailEnd type="none" w="med" len="med"/>
          </a:ln>
        </p:spPr>
        <p:txBody>
          <a:bodyPr/>
          <a:p>
            <a:endParaRPr lang="zh-CN" altLang="en-US"/>
          </a:p>
        </p:txBody>
      </p:sp>
      <p:sp>
        <p:nvSpPr>
          <p:cNvPr id="1073743027" name="任意多边形 1073743026"/>
          <p:cNvSpPr/>
          <p:nvPr/>
        </p:nvSpPr>
        <p:spPr>
          <a:xfrm flipH="1">
            <a:off x="1758315" y="3227705"/>
            <a:ext cx="438150" cy="177800"/>
          </a:xfrm>
          <a:custGeom>
            <a:avLst/>
            <a:gdLst>
              <a:gd name="txL" fmla="*/ 3085 w 21600"/>
              <a:gd name="txT" fmla="*/ 12343 h 21600"/>
              <a:gd name="txR" fmla="*/ 18514 w 21600"/>
              <a:gd name="txB" fmla="*/ 18514 h 21600"/>
            </a:gdLst>
            <a:ahLst/>
            <a:cxnLst>
              <a:cxn ang="270">
                <a:pos x="15428" y="0"/>
              </a:cxn>
              <a:cxn ang="180">
                <a:pos x="9257" y="6171"/>
              </a:cxn>
              <a:cxn ang="270">
                <a:pos x="6171" y="9257"/>
              </a:cxn>
              <a:cxn ang="180">
                <a:pos x="0" y="15428"/>
              </a:cxn>
              <a:cxn ang="90">
                <a:pos x="6171" y="21600"/>
              </a:cxn>
              <a:cxn ang="90">
                <a:pos x="12342" y="18514"/>
              </a:cxn>
              <a:cxn ang="0">
                <a:pos x="18514" y="12342"/>
              </a:cxn>
              <a:cxn ang="0">
                <a:pos x="21600" y="6171"/>
              </a:cxn>
            </a:cxnLst>
            <a:rect l="txL" t="txT" r="txR" b="txB"/>
            <a:pathLst>
              <a:path w="21600" h="21600">
                <a:moveTo>
                  <a:pt x="15428" y="0"/>
                </a:moveTo>
                <a:lnTo>
                  <a:pt x="9257" y="6171"/>
                </a:lnTo>
                <a:lnTo>
                  <a:pt x="12343" y="6171"/>
                </a:lnTo>
                <a:lnTo>
                  <a:pt x="12343" y="12343"/>
                </a:lnTo>
                <a:lnTo>
                  <a:pt x="6171" y="12343"/>
                </a:lnTo>
                <a:lnTo>
                  <a:pt x="6171" y="9257"/>
                </a:lnTo>
                <a:lnTo>
                  <a:pt x="0" y="15428"/>
                </a:lnTo>
                <a:lnTo>
                  <a:pt x="6171" y="21600"/>
                </a:lnTo>
                <a:lnTo>
                  <a:pt x="6171" y="18514"/>
                </a:lnTo>
                <a:lnTo>
                  <a:pt x="18514" y="18514"/>
                </a:lnTo>
                <a:lnTo>
                  <a:pt x="18514" y="6171"/>
                </a:lnTo>
                <a:lnTo>
                  <a:pt x="21600" y="6171"/>
                </a:lnTo>
                <a:close/>
              </a:path>
            </a:pathLst>
          </a:custGeom>
          <a:solidFill>
            <a:srgbClr val="FFFFFF"/>
          </a:solidFill>
          <a:ln w="9525" cap="flat" cmpd="sng">
            <a:solidFill>
              <a:srgbClr val="000000"/>
            </a:solidFill>
            <a:prstDash val="solid"/>
            <a:miter/>
            <a:headEnd type="none" w="med" len="med"/>
            <a:tailEnd type="none" w="med" len="med"/>
          </a:ln>
        </p:spPr>
        <p:txBody>
          <a:bodyPr/>
          <a:p>
            <a:endParaRPr lang="zh-CN" altLang="en-US"/>
          </a:p>
        </p:txBody>
      </p:sp>
      <p:sp>
        <p:nvSpPr>
          <p:cNvPr id="1073743028" name="矩形 1073743027"/>
          <p:cNvSpPr/>
          <p:nvPr/>
        </p:nvSpPr>
        <p:spPr>
          <a:xfrm>
            <a:off x="2196465" y="3215005"/>
            <a:ext cx="1007745" cy="198755"/>
          </a:xfrm>
          <a:prstGeom prst="rect">
            <a:avLst/>
          </a:prstGeom>
          <a:noFill/>
          <a:ln w="9525" cap="flat" cmpd="sng">
            <a:solidFill>
              <a:srgbClr val="000000"/>
            </a:solidFill>
            <a:prstDash val="dash"/>
            <a:miter/>
            <a:headEnd type="none" w="med" len="med"/>
            <a:tailEnd type="none" w="med" len="med"/>
          </a:ln>
        </p:spPr>
        <p:txBody>
          <a:bodyPr/>
          <a:p>
            <a:endParaRPr lang="zh-CN" altLang="en-US"/>
          </a:p>
        </p:txBody>
      </p:sp>
      <p:sp>
        <p:nvSpPr>
          <p:cNvPr id="1073743029" name="任意多边形 1073743028"/>
          <p:cNvSpPr/>
          <p:nvPr/>
        </p:nvSpPr>
        <p:spPr>
          <a:xfrm flipH="1">
            <a:off x="2261870" y="3501390"/>
            <a:ext cx="438150" cy="177800"/>
          </a:xfrm>
          <a:custGeom>
            <a:avLst/>
            <a:gdLst>
              <a:gd name="txL" fmla="*/ 3085 w 21600"/>
              <a:gd name="txT" fmla="*/ 12343 h 21600"/>
              <a:gd name="txR" fmla="*/ 18514 w 21600"/>
              <a:gd name="txB" fmla="*/ 18514 h 21600"/>
            </a:gdLst>
            <a:ahLst/>
            <a:cxnLst>
              <a:cxn ang="270">
                <a:pos x="15428" y="0"/>
              </a:cxn>
              <a:cxn ang="180">
                <a:pos x="9257" y="6171"/>
              </a:cxn>
              <a:cxn ang="270">
                <a:pos x="6171" y="9257"/>
              </a:cxn>
              <a:cxn ang="180">
                <a:pos x="0" y="15428"/>
              </a:cxn>
              <a:cxn ang="90">
                <a:pos x="6171" y="21600"/>
              </a:cxn>
              <a:cxn ang="90">
                <a:pos x="12342" y="18514"/>
              </a:cxn>
              <a:cxn ang="0">
                <a:pos x="18514" y="12342"/>
              </a:cxn>
              <a:cxn ang="0">
                <a:pos x="21600" y="6171"/>
              </a:cxn>
            </a:cxnLst>
            <a:rect l="txL" t="txT" r="txR" b="txB"/>
            <a:pathLst>
              <a:path w="21600" h="21600">
                <a:moveTo>
                  <a:pt x="15428" y="0"/>
                </a:moveTo>
                <a:lnTo>
                  <a:pt x="9257" y="6171"/>
                </a:lnTo>
                <a:lnTo>
                  <a:pt x="12343" y="6171"/>
                </a:lnTo>
                <a:lnTo>
                  <a:pt x="12343" y="12343"/>
                </a:lnTo>
                <a:lnTo>
                  <a:pt x="6171" y="12343"/>
                </a:lnTo>
                <a:lnTo>
                  <a:pt x="6171" y="9257"/>
                </a:lnTo>
                <a:lnTo>
                  <a:pt x="0" y="15428"/>
                </a:lnTo>
                <a:lnTo>
                  <a:pt x="6171" y="21600"/>
                </a:lnTo>
                <a:lnTo>
                  <a:pt x="6171" y="18514"/>
                </a:lnTo>
                <a:lnTo>
                  <a:pt x="18514" y="18514"/>
                </a:lnTo>
                <a:lnTo>
                  <a:pt x="18514" y="6171"/>
                </a:lnTo>
                <a:lnTo>
                  <a:pt x="21600" y="6171"/>
                </a:lnTo>
                <a:close/>
              </a:path>
            </a:pathLst>
          </a:custGeom>
          <a:solidFill>
            <a:srgbClr val="FFFFFF"/>
          </a:solidFill>
          <a:ln w="9525" cap="flat" cmpd="sng">
            <a:solidFill>
              <a:srgbClr val="000000"/>
            </a:solidFill>
            <a:prstDash val="solid"/>
            <a:miter/>
            <a:headEnd type="none" w="med" len="med"/>
            <a:tailEnd type="none" w="med" len="med"/>
          </a:ln>
        </p:spPr>
        <p:txBody>
          <a:bodyPr/>
          <a:p>
            <a:endParaRPr lang="zh-CN" altLang="en-US"/>
          </a:p>
        </p:txBody>
      </p:sp>
      <p:sp>
        <p:nvSpPr>
          <p:cNvPr id="1073743030" name="矩形 1073743029"/>
          <p:cNvSpPr/>
          <p:nvPr/>
        </p:nvSpPr>
        <p:spPr>
          <a:xfrm>
            <a:off x="2700020" y="3558540"/>
            <a:ext cx="850900" cy="152400"/>
          </a:xfrm>
          <a:prstGeom prst="rect">
            <a:avLst/>
          </a:prstGeom>
          <a:noFill/>
          <a:ln w="9525" cap="flat" cmpd="sng">
            <a:solidFill>
              <a:srgbClr val="000000"/>
            </a:solidFill>
            <a:prstDash val="dash"/>
            <a:miter/>
            <a:headEnd type="none" w="med" len="med"/>
            <a:tailEnd type="none" w="med" len="med"/>
          </a:ln>
        </p:spPr>
        <p:txBody>
          <a:bodyPr/>
          <a:p>
            <a:endParaRPr lang="zh-CN" altLang="en-US"/>
          </a:p>
        </p:txBody>
      </p:sp>
      <p:sp>
        <p:nvSpPr>
          <p:cNvPr id="1073743031" name="任意多边形 1073743030"/>
          <p:cNvSpPr/>
          <p:nvPr/>
        </p:nvSpPr>
        <p:spPr>
          <a:xfrm flipH="1">
            <a:off x="2807970" y="3804920"/>
            <a:ext cx="438150" cy="177800"/>
          </a:xfrm>
          <a:custGeom>
            <a:avLst/>
            <a:gdLst>
              <a:gd name="txL" fmla="*/ 3085 w 21600"/>
              <a:gd name="txT" fmla="*/ 12343 h 21600"/>
              <a:gd name="txR" fmla="*/ 18514 w 21600"/>
              <a:gd name="txB" fmla="*/ 18514 h 21600"/>
            </a:gdLst>
            <a:ahLst/>
            <a:cxnLst>
              <a:cxn ang="270">
                <a:pos x="15428" y="0"/>
              </a:cxn>
              <a:cxn ang="180">
                <a:pos x="9257" y="6171"/>
              </a:cxn>
              <a:cxn ang="270">
                <a:pos x="6171" y="9257"/>
              </a:cxn>
              <a:cxn ang="180">
                <a:pos x="0" y="15428"/>
              </a:cxn>
              <a:cxn ang="90">
                <a:pos x="6171" y="21600"/>
              </a:cxn>
              <a:cxn ang="90">
                <a:pos x="12342" y="18514"/>
              </a:cxn>
              <a:cxn ang="0">
                <a:pos x="18514" y="12342"/>
              </a:cxn>
              <a:cxn ang="0">
                <a:pos x="21600" y="6171"/>
              </a:cxn>
            </a:cxnLst>
            <a:rect l="txL" t="txT" r="txR" b="txB"/>
            <a:pathLst>
              <a:path w="21600" h="21600">
                <a:moveTo>
                  <a:pt x="15428" y="0"/>
                </a:moveTo>
                <a:lnTo>
                  <a:pt x="9257" y="6171"/>
                </a:lnTo>
                <a:lnTo>
                  <a:pt x="12343" y="6171"/>
                </a:lnTo>
                <a:lnTo>
                  <a:pt x="12343" y="12343"/>
                </a:lnTo>
                <a:lnTo>
                  <a:pt x="6171" y="12343"/>
                </a:lnTo>
                <a:lnTo>
                  <a:pt x="6171" y="9257"/>
                </a:lnTo>
                <a:lnTo>
                  <a:pt x="0" y="15428"/>
                </a:lnTo>
                <a:lnTo>
                  <a:pt x="6171" y="21600"/>
                </a:lnTo>
                <a:lnTo>
                  <a:pt x="6171" y="18514"/>
                </a:lnTo>
                <a:lnTo>
                  <a:pt x="18514" y="18514"/>
                </a:lnTo>
                <a:lnTo>
                  <a:pt x="18514" y="6171"/>
                </a:lnTo>
                <a:lnTo>
                  <a:pt x="21600" y="6171"/>
                </a:lnTo>
                <a:close/>
              </a:path>
            </a:pathLst>
          </a:custGeom>
          <a:solidFill>
            <a:srgbClr val="FFFFFF"/>
          </a:solidFill>
          <a:ln w="9525" cap="flat" cmpd="sng">
            <a:solidFill>
              <a:srgbClr val="000000"/>
            </a:solidFill>
            <a:prstDash val="solid"/>
            <a:miter/>
            <a:headEnd type="none" w="med" len="med"/>
            <a:tailEnd type="none" w="med" len="med"/>
          </a:ln>
        </p:spPr>
        <p:txBody>
          <a:bodyPr/>
          <a:p>
            <a:endParaRPr lang="zh-CN" altLang="en-US"/>
          </a:p>
        </p:txBody>
      </p:sp>
      <p:sp>
        <p:nvSpPr>
          <p:cNvPr id="1073743032" name="矩形 1073743031"/>
          <p:cNvSpPr/>
          <p:nvPr/>
        </p:nvSpPr>
        <p:spPr>
          <a:xfrm>
            <a:off x="3347720" y="3789045"/>
            <a:ext cx="742950" cy="152400"/>
          </a:xfrm>
          <a:prstGeom prst="rect">
            <a:avLst/>
          </a:prstGeom>
          <a:noFill/>
          <a:ln w="9525" cap="flat" cmpd="sng">
            <a:solidFill>
              <a:srgbClr val="000000"/>
            </a:solidFill>
            <a:prstDash val="dash"/>
            <a:miter/>
            <a:headEnd type="none" w="med" len="med"/>
            <a:tailEnd type="none" w="med" len="med"/>
          </a:ln>
        </p:spPr>
        <p:txBody>
          <a:bodyPr/>
          <a:p>
            <a:endParaRPr lang="zh-CN" altLang="en-US"/>
          </a:p>
        </p:txBody>
      </p:sp>
      <p:sp>
        <p:nvSpPr>
          <p:cNvPr id="5" name="文本框 4"/>
          <p:cNvSpPr txBox="1"/>
          <p:nvPr/>
        </p:nvSpPr>
        <p:spPr>
          <a:xfrm>
            <a:off x="4356100" y="4220845"/>
            <a:ext cx="4142105" cy="1553845"/>
          </a:xfrm>
          <a:prstGeom prst="rect">
            <a:avLst/>
          </a:prstGeom>
          <a:noFill/>
        </p:spPr>
        <p:txBody>
          <a:bodyPr wrap="square" rtlCol="0">
            <a:noAutofit/>
          </a:bodyPr>
          <a:p>
            <a:r>
              <a:rPr lang="zh-CN" altLang="en-US" sz="1600"/>
              <a:t>由示例可以看出，递归算法的主要特点：</a:t>
            </a:r>
            <a:endParaRPr lang="zh-CN" altLang="en-US" sz="1600"/>
          </a:p>
          <a:p>
            <a:r>
              <a:rPr lang="zh-CN" altLang="en-US" sz="1600"/>
              <a:t>问题求解分解为若干子问题，适当综合子问题的解可以实现原问题的求解;</a:t>
            </a:r>
            <a:endParaRPr lang="zh-CN" altLang="en-US" sz="1600"/>
          </a:p>
          <a:p>
            <a:r>
              <a:rPr lang="zh-CN" altLang="en-US" sz="1600"/>
              <a:t>各子问题的求解方式与原问题的求解方式相同，因而可以采用递归调用方式来实现。</a:t>
            </a:r>
            <a:endParaRPr lang="zh-CN" altLang="en-US" sz="160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73743024"/>
                                        </p:tgtEl>
                                        <p:attrNameLst>
                                          <p:attrName>style.visibility</p:attrName>
                                        </p:attrNameLst>
                                      </p:cBhvr>
                                      <p:to>
                                        <p:strVal val="visible"/>
                                      </p:to>
                                    </p:set>
                                    <p:animEffect transition="in" filter="blinds(horizontal)">
                                      <p:cBhvr>
                                        <p:cTn id="27" dur="500"/>
                                        <p:tgtEl>
                                          <p:spTgt spid="1073743024"/>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073743025"/>
                                        </p:tgtEl>
                                        <p:attrNameLst>
                                          <p:attrName>style.visibility</p:attrName>
                                        </p:attrNameLst>
                                      </p:cBhvr>
                                      <p:to>
                                        <p:strVal val="visible"/>
                                      </p:to>
                                    </p:set>
                                    <p:animEffect transition="in" filter="blinds(horizontal)">
                                      <p:cBhvr>
                                        <p:cTn id="30" dur="500"/>
                                        <p:tgtEl>
                                          <p:spTgt spid="1073743025"/>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blinds(horizontal)">
                                      <p:cBhvr>
                                        <p:cTn id="35" dur="500"/>
                                        <p:tgtEl>
                                          <p:spTgt spid="3">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073743026"/>
                                        </p:tgtEl>
                                        <p:attrNameLst>
                                          <p:attrName>style.visibility</p:attrName>
                                        </p:attrNameLst>
                                      </p:cBhvr>
                                      <p:to>
                                        <p:strVal val="visible"/>
                                      </p:to>
                                    </p:set>
                                    <p:animEffect transition="in" filter="blinds(horizontal)">
                                      <p:cBhvr>
                                        <p:cTn id="40" dur="500"/>
                                        <p:tgtEl>
                                          <p:spTgt spid="1073743026"/>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073743027"/>
                                        </p:tgtEl>
                                        <p:attrNameLst>
                                          <p:attrName>style.visibility</p:attrName>
                                        </p:attrNameLst>
                                      </p:cBhvr>
                                      <p:to>
                                        <p:strVal val="visible"/>
                                      </p:to>
                                    </p:set>
                                    <p:animEffect transition="in" filter="blinds(horizontal)">
                                      <p:cBhvr>
                                        <p:cTn id="45" dur="500"/>
                                        <p:tgtEl>
                                          <p:spTgt spid="1073743027"/>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073743028"/>
                                        </p:tgtEl>
                                        <p:attrNameLst>
                                          <p:attrName>style.visibility</p:attrName>
                                        </p:attrNameLst>
                                      </p:cBhvr>
                                      <p:to>
                                        <p:strVal val="visible"/>
                                      </p:to>
                                    </p:set>
                                    <p:animEffect transition="in" filter="blinds(horizontal)">
                                      <p:cBhvr>
                                        <p:cTn id="50" dur="500"/>
                                        <p:tgtEl>
                                          <p:spTgt spid="1073743028"/>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073743029"/>
                                        </p:tgtEl>
                                        <p:attrNameLst>
                                          <p:attrName>style.visibility</p:attrName>
                                        </p:attrNameLst>
                                      </p:cBhvr>
                                      <p:to>
                                        <p:strVal val="visible"/>
                                      </p:to>
                                    </p:set>
                                    <p:animEffect transition="in" filter="blinds(horizontal)">
                                      <p:cBhvr>
                                        <p:cTn id="55" dur="500"/>
                                        <p:tgtEl>
                                          <p:spTgt spid="1073743029"/>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3">
                                            <p:txEl>
                                              <p:pRg st="5" end="5"/>
                                            </p:txEl>
                                          </p:spTgt>
                                        </p:tgtEl>
                                        <p:attrNameLst>
                                          <p:attrName>style.visibility</p:attrName>
                                        </p:attrNameLst>
                                      </p:cBhvr>
                                      <p:to>
                                        <p:strVal val="visible"/>
                                      </p:to>
                                    </p:set>
                                    <p:animEffect transition="in" filter="blinds(horizontal)">
                                      <p:cBhvr>
                                        <p:cTn id="60" dur="500"/>
                                        <p:tgtEl>
                                          <p:spTgt spid="3">
                                            <p:txEl>
                                              <p:pRg st="5" end="5"/>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1073743030"/>
                                        </p:tgtEl>
                                        <p:attrNameLst>
                                          <p:attrName>style.visibility</p:attrName>
                                        </p:attrNameLst>
                                      </p:cBhvr>
                                      <p:to>
                                        <p:strVal val="visible"/>
                                      </p:to>
                                    </p:set>
                                    <p:animEffect transition="in" filter="blinds(horizontal)">
                                      <p:cBhvr>
                                        <p:cTn id="65" dur="500"/>
                                        <p:tgtEl>
                                          <p:spTgt spid="1073743030"/>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1073743031"/>
                                        </p:tgtEl>
                                        <p:attrNameLst>
                                          <p:attrName>style.visibility</p:attrName>
                                        </p:attrNameLst>
                                      </p:cBhvr>
                                      <p:to>
                                        <p:strVal val="visible"/>
                                      </p:to>
                                    </p:set>
                                    <p:animEffect transition="in" filter="blinds(horizontal)">
                                      <p:cBhvr>
                                        <p:cTn id="70" dur="500"/>
                                        <p:tgtEl>
                                          <p:spTgt spid="1073743031"/>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3">
                                            <p:txEl>
                                              <p:pRg st="6" end="6"/>
                                            </p:txEl>
                                          </p:spTgt>
                                        </p:tgtEl>
                                        <p:attrNameLst>
                                          <p:attrName>style.visibility</p:attrName>
                                        </p:attrNameLst>
                                      </p:cBhvr>
                                      <p:to>
                                        <p:strVal val="visible"/>
                                      </p:to>
                                    </p:set>
                                    <p:animEffect transition="in" filter="blinds(horizontal)">
                                      <p:cBhvr>
                                        <p:cTn id="75" dur="500"/>
                                        <p:tgtEl>
                                          <p:spTgt spid="3">
                                            <p:txEl>
                                              <p:pRg st="6" end="6"/>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grpId="0" nodeType="clickEffect">
                                  <p:stCondLst>
                                    <p:cond delay="0"/>
                                  </p:stCondLst>
                                  <p:childTnLst>
                                    <p:set>
                                      <p:cBhvr>
                                        <p:cTn id="79" dur="1" fill="hold">
                                          <p:stCondLst>
                                            <p:cond delay="0"/>
                                          </p:stCondLst>
                                        </p:cTn>
                                        <p:tgtEl>
                                          <p:spTgt spid="1073743032"/>
                                        </p:tgtEl>
                                        <p:attrNameLst>
                                          <p:attrName>style.visibility</p:attrName>
                                        </p:attrNameLst>
                                      </p:cBhvr>
                                      <p:to>
                                        <p:strVal val="visible"/>
                                      </p:to>
                                    </p:set>
                                    <p:animEffect transition="in" filter="blinds(horizontal)">
                                      <p:cBhvr>
                                        <p:cTn id="80" dur="500"/>
                                        <p:tgtEl>
                                          <p:spTgt spid="1073743032"/>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3">
                                            <p:txEl>
                                              <p:pRg st="7" end="7"/>
                                            </p:txEl>
                                          </p:spTgt>
                                        </p:tgtEl>
                                        <p:attrNameLst>
                                          <p:attrName>style.visibility</p:attrName>
                                        </p:attrNameLst>
                                      </p:cBhvr>
                                      <p:to>
                                        <p:strVal val="visible"/>
                                      </p:to>
                                    </p:set>
                                    <p:animEffect transition="in" filter="blinds(horizontal)">
                                      <p:cBhvr>
                                        <p:cTn id="85" dur="500"/>
                                        <p:tgtEl>
                                          <p:spTgt spid="3">
                                            <p:txEl>
                                              <p:pRg st="7" end="7"/>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grpId="0" nodeType="clickEffect">
                                  <p:stCondLst>
                                    <p:cond delay="0"/>
                                  </p:stCondLst>
                                  <p:childTnLst>
                                    <p:set>
                                      <p:cBhvr>
                                        <p:cTn id="89" dur="1" fill="hold">
                                          <p:stCondLst>
                                            <p:cond delay="0"/>
                                          </p:stCondLst>
                                        </p:cTn>
                                        <p:tgtEl>
                                          <p:spTgt spid="3">
                                            <p:txEl>
                                              <p:pRg st="8" end="8"/>
                                            </p:txEl>
                                          </p:spTgt>
                                        </p:tgtEl>
                                        <p:attrNameLst>
                                          <p:attrName>style.visibility</p:attrName>
                                        </p:attrNameLst>
                                      </p:cBhvr>
                                      <p:to>
                                        <p:strVal val="visible"/>
                                      </p:to>
                                    </p:set>
                                    <p:animEffect transition="in" filter="blinds(horizontal)">
                                      <p:cBhvr>
                                        <p:cTn id="90" dur="500"/>
                                        <p:tgtEl>
                                          <p:spTgt spid="3">
                                            <p:txEl>
                                              <p:pRg st="8" end="8"/>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3">
                                            <p:txEl>
                                              <p:pRg st="9" end="9"/>
                                            </p:txEl>
                                          </p:spTgt>
                                        </p:tgtEl>
                                        <p:attrNameLst>
                                          <p:attrName>style.visibility</p:attrName>
                                        </p:attrNameLst>
                                      </p:cBhvr>
                                      <p:to>
                                        <p:strVal val="visible"/>
                                      </p:to>
                                    </p:set>
                                    <p:animEffect transition="in" filter="blinds(horizontal)">
                                      <p:cBhvr>
                                        <p:cTn id="95" dur="500"/>
                                        <p:tgtEl>
                                          <p:spTgt spid="3">
                                            <p:txEl>
                                              <p:pRg st="9" end="9"/>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grpId="0" nodeType="clickEffect">
                                  <p:stCondLst>
                                    <p:cond delay="0"/>
                                  </p:stCondLst>
                                  <p:childTnLst>
                                    <p:set>
                                      <p:cBhvr>
                                        <p:cTn id="99" dur="1" fill="hold">
                                          <p:stCondLst>
                                            <p:cond delay="0"/>
                                          </p:stCondLst>
                                        </p:cTn>
                                        <p:tgtEl>
                                          <p:spTgt spid="3">
                                            <p:txEl>
                                              <p:pRg st="10" end="10"/>
                                            </p:txEl>
                                          </p:spTgt>
                                        </p:tgtEl>
                                        <p:attrNameLst>
                                          <p:attrName>style.visibility</p:attrName>
                                        </p:attrNameLst>
                                      </p:cBhvr>
                                      <p:to>
                                        <p:strVal val="visible"/>
                                      </p:to>
                                    </p:set>
                                    <p:animEffect transition="in" filter="blinds(horizontal)">
                                      <p:cBhvr>
                                        <p:cTn id="100" dur="500"/>
                                        <p:tgtEl>
                                          <p:spTgt spid="3">
                                            <p:txEl>
                                              <p:pRg st="10" end="10"/>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grpId="0" nodeType="clickEffect">
                                  <p:stCondLst>
                                    <p:cond delay="0"/>
                                  </p:stCondLst>
                                  <p:childTnLst>
                                    <p:set>
                                      <p:cBhvr>
                                        <p:cTn id="104" dur="1" fill="hold">
                                          <p:stCondLst>
                                            <p:cond delay="0"/>
                                          </p:stCondLst>
                                        </p:cTn>
                                        <p:tgtEl>
                                          <p:spTgt spid="3">
                                            <p:txEl>
                                              <p:pRg st="11" end="11"/>
                                            </p:txEl>
                                          </p:spTgt>
                                        </p:tgtEl>
                                        <p:attrNameLst>
                                          <p:attrName>style.visibility</p:attrName>
                                        </p:attrNameLst>
                                      </p:cBhvr>
                                      <p:to>
                                        <p:strVal val="visible"/>
                                      </p:to>
                                    </p:set>
                                    <p:animEffect transition="in" filter="blinds(horizontal)">
                                      <p:cBhvr>
                                        <p:cTn id="105" dur="500"/>
                                        <p:tgtEl>
                                          <p:spTgt spid="3">
                                            <p:txEl>
                                              <p:pRg st="11" end="11"/>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3" presetClass="entr" presetSubtype="10" fill="hold" grpId="0" nodeType="clickEffect">
                                  <p:stCondLst>
                                    <p:cond delay="0"/>
                                  </p:stCondLst>
                                  <p:childTnLst>
                                    <p:set>
                                      <p:cBhvr>
                                        <p:cTn id="109" dur="1" fill="hold">
                                          <p:stCondLst>
                                            <p:cond delay="0"/>
                                          </p:stCondLst>
                                        </p:cTn>
                                        <p:tgtEl>
                                          <p:spTgt spid="3">
                                            <p:txEl>
                                              <p:pRg st="12" end="12"/>
                                            </p:txEl>
                                          </p:spTgt>
                                        </p:tgtEl>
                                        <p:attrNameLst>
                                          <p:attrName>style.visibility</p:attrName>
                                        </p:attrNameLst>
                                      </p:cBhvr>
                                      <p:to>
                                        <p:strVal val="visible"/>
                                      </p:to>
                                    </p:set>
                                    <p:animEffect transition="in" filter="blinds(horizontal)">
                                      <p:cBhvr>
                                        <p:cTn id="110" dur="500"/>
                                        <p:tgtEl>
                                          <p:spTgt spid="3">
                                            <p:txEl>
                                              <p:pRg st="12" end="12"/>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3" presetClass="entr" presetSubtype="10" fill="hold" grpId="0" nodeType="clickEffect">
                                  <p:stCondLst>
                                    <p:cond delay="0"/>
                                  </p:stCondLst>
                                  <p:childTnLst>
                                    <p:set>
                                      <p:cBhvr>
                                        <p:cTn id="114" dur="1" fill="hold">
                                          <p:stCondLst>
                                            <p:cond delay="0"/>
                                          </p:stCondLst>
                                        </p:cTn>
                                        <p:tgtEl>
                                          <p:spTgt spid="3">
                                            <p:txEl>
                                              <p:pRg st="13" end="13"/>
                                            </p:txEl>
                                          </p:spTgt>
                                        </p:tgtEl>
                                        <p:attrNameLst>
                                          <p:attrName>style.visibility</p:attrName>
                                        </p:attrNameLst>
                                      </p:cBhvr>
                                      <p:to>
                                        <p:strVal val="visible"/>
                                      </p:to>
                                    </p:set>
                                    <p:animEffect transition="in" filter="blinds(horizontal)">
                                      <p:cBhvr>
                                        <p:cTn id="115" dur="500"/>
                                        <p:tgtEl>
                                          <p:spTgt spid="3">
                                            <p:txEl>
                                              <p:pRg st="13" end="13"/>
                                            </p:txEl>
                                          </p:spTgt>
                                        </p:tgtEl>
                                      </p:cBhvr>
                                    </p:animEffect>
                                  </p:childTnLst>
                                </p:cTn>
                              </p:par>
                            </p:childTnLst>
                          </p:cTn>
                        </p:par>
                      </p:childTnLst>
                    </p:cTn>
                  </p:par>
                  <p:par>
                    <p:cTn id="116" fill="hold">
                      <p:stCondLst>
                        <p:cond delay="indefinite"/>
                      </p:stCondLst>
                      <p:childTnLst>
                        <p:par>
                          <p:cTn id="117" fill="hold">
                            <p:stCondLst>
                              <p:cond delay="0"/>
                            </p:stCondLst>
                            <p:childTnLst>
                              <p:par>
                                <p:cTn id="118" presetID="3" presetClass="entr" presetSubtype="10" fill="hold" grpId="0" nodeType="clickEffect">
                                  <p:stCondLst>
                                    <p:cond delay="0"/>
                                  </p:stCondLst>
                                  <p:childTnLst>
                                    <p:set>
                                      <p:cBhvr>
                                        <p:cTn id="119" dur="1" fill="hold">
                                          <p:stCondLst>
                                            <p:cond delay="0"/>
                                          </p:stCondLst>
                                        </p:cTn>
                                        <p:tgtEl>
                                          <p:spTgt spid="3">
                                            <p:txEl>
                                              <p:pRg st="14" end="14"/>
                                            </p:txEl>
                                          </p:spTgt>
                                        </p:tgtEl>
                                        <p:attrNameLst>
                                          <p:attrName>style.visibility</p:attrName>
                                        </p:attrNameLst>
                                      </p:cBhvr>
                                      <p:to>
                                        <p:strVal val="visible"/>
                                      </p:to>
                                    </p:set>
                                    <p:animEffect transition="in" filter="blinds(horizontal)">
                                      <p:cBhvr>
                                        <p:cTn id="120" dur="500"/>
                                        <p:tgtEl>
                                          <p:spTgt spid="3">
                                            <p:txEl>
                                              <p:pRg st="14" end="14"/>
                                            </p:txEl>
                                          </p:spTgt>
                                        </p:tgtEl>
                                      </p:cBhvr>
                                    </p:animEffect>
                                  </p:childTnLst>
                                </p:cTn>
                              </p:par>
                            </p:childTnLst>
                          </p:cTn>
                        </p:par>
                      </p:childTnLst>
                    </p:cTn>
                  </p:par>
                  <p:par>
                    <p:cTn id="121" fill="hold">
                      <p:stCondLst>
                        <p:cond delay="indefinite"/>
                      </p:stCondLst>
                      <p:childTnLst>
                        <p:par>
                          <p:cTn id="122" fill="hold">
                            <p:stCondLst>
                              <p:cond delay="0"/>
                            </p:stCondLst>
                            <p:childTnLst>
                              <p:par>
                                <p:cTn id="123" presetID="3" presetClass="entr" presetSubtype="10" fill="hold" grpId="0" nodeType="clickEffect">
                                  <p:stCondLst>
                                    <p:cond delay="0"/>
                                  </p:stCondLst>
                                  <p:childTnLst>
                                    <p:set>
                                      <p:cBhvr>
                                        <p:cTn id="124" dur="1" fill="hold">
                                          <p:stCondLst>
                                            <p:cond delay="0"/>
                                          </p:stCondLst>
                                        </p:cTn>
                                        <p:tgtEl>
                                          <p:spTgt spid="5"/>
                                        </p:tgtEl>
                                        <p:attrNameLst>
                                          <p:attrName>style.visibility</p:attrName>
                                        </p:attrNameLst>
                                      </p:cBhvr>
                                      <p:to>
                                        <p:strVal val="visible"/>
                                      </p:to>
                                    </p:set>
                                    <p:animEffect transition="in" filter="blinds(horizontal)">
                                      <p:cBhvr>
                                        <p:cTn id="1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73743024" grpId="0" animBg="1"/>
      <p:bldP spid="1073743025" grpId="0" animBg="1"/>
      <p:bldP spid="1073743026" grpId="0" animBg="1"/>
      <p:bldP spid="1073743027" grpId="0" animBg="1"/>
      <p:bldP spid="1073743028" grpId="0" animBg="1"/>
      <p:bldP spid="1073743029" grpId="0" animBg="1"/>
      <p:bldP spid="1073743030" grpId="0" animBg="1"/>
      <p:bldP spid="1073743031" grpId="0" animBg="1"/>
      <p:bldP spid="1073743032" grpId="0" animBg="1"/>
      <p:bldP spid="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内容占位符 36866"/>
          <p:cNvSpPr>
            <a:spLocks noGrp="1" noChangeArrowheads="1"/>
          </p:cNvSpPr>
          <p:nvPr>
            <p:ph idx="1"/>
          </p:nvPr>
        </p:nvSpPr>
        <p:spPr>
          <a:xfrm>
            <a:off x="543510" y="980728"/>
            <a:ext cx="8229600" cy="4678451"/>
          </a:xfrm>
        </p:spPr>
        <p:txBody>
          <a:bodyPr/>
          <a:lstStyle/>
          <a:p>
            <a:pPr>
              <a:lnSpc>
                <a:spcPct val="90000"/>
              </a:lnSpc>
              <a:buClr>
                <a:srgbClr val="FF0000"/>
              </a:buClr>
              <a:buFont typeface="Wingdings" panose="05000000000000000000" pitchFamily="2" charset="2"/>
              <a:buChar char="Ø"/>
            </a:pPr>
            <a:r>
              <a:rPr lang="en-US" altLang="zh-CN" sz="2400" b="1" dirty="0"/>
              <a:t>7.7.2 </a:t>
            </a:r>
            <a:r>
              <a:rPr lang="zh-CN" altLang="en-US" sz="2400" b="1" dirty="0"/>
              <a:t>递归算法设计要点</a:t>
            </a:r>
            <a:endParaRPr lang="zh-CN" altLang="en-US" sz="2400" b="1" dirty="0"/>
          </a:p>
          <a:p>
            <a:pPr marL="0" indent="0" eaLnBrk="1" hangingPunct="1">
              <a:lnSpc>
                <a:spcPct val="90000"/>
              </a:lnSpc>
              <a:buFont typeface="Wingdings" panose="05000000000000000000" pitchFamily="2" charset="2"/>
              <a:buNone/>
              <a:defRPr/>
            </a:pPr>
            <a:r>
              <a:rPr lang="zh-CN" altLang="en-US" sz="2400" b="1" dirty="0">
                <a:solidFill>
                  <a:srgbClr val="0000FF"/>
                </a:solidFill>
                <a:latin typeface="宋体" panose="02010600030101010101" pitchFamily="2" charset="-122"/>
                <a:ea typeface="宋体" panose="02010600030101010101" pitchFamily="2" charset="-122"/>
              </a:rPr>
              <a:t>  </a:t>
            </a:r>
            <a:r>
              <a:rPr lang="zh-CN" altLang="en-US" sz="2400" b="1" dirty="0">
                <a:solidFill>
                  <a:srgbClr val="0000FF"/>
                </a:solidFill>
                <a:ea typeface="宋体" panose="02010600030101010101" pitchFamily="2" charset="-122"/>
              </a:rPr>
              <a:t>（</a:t>
            </a:r>
            <a:r>
              <a:rPr lang="en-US" altLang="zh-CN" sz="2400" b="1" dirty="0">
                <a:solidFill>
                  <a:srgbClr val="0000FF"/>
                </a:solidFill>
                <a:ea typeface="宋体" panose="02010600030101010101" pitchFamily="2" charset="-122"/>
              </a:rPr>
              <a:t>1</a:t>
            </a:r>
            <a:r>
              <a:rPr lang="zh-CN" altLang="en-US" sz="2400" b="1" dirty="0">
                <a:solidFill>
                  <a:srgbClr val="0000FF"/>
                </a:solidFill>
                <a:ea typeface="宋体" panose="02010600030101010101" pitchFamily="2" charset="-122"/>
              </a:rPr>
              <a:t>）分治法与递归</a:t>
            </a:r>
            <a:endParaRPr lang="en-US" altLang="zh-CN" sz="2400" b="1" dirty="0">
              <a:solidFill>
                <a:srgbClr val="0000FF"/>
              </a:solidFill>
              <a:ea typeface="宋体" panose="02010600030101010101" pitchFamily="2" charset="-122"/>
            </a:endParaRPr>
          </a:p>
          <a:p>
            <a:pPr lvl="1">
              <a:spcBef>
                <a:spcPts val="1200"/>
              </a:spcBef>
              <a:buClr>
                <a:srgbClr val="FF0000"/>
              </a:buClr>
              <a:defRPr/>
            </a:pPr>
            <a:r>
              <a:rPr lang="zh-CN" altLang="en-US" sz="2200" dirty="0"/>
              <a:t>递归算法设计，与</a:t>
            </a:r>
            <a:r>
              <a:rPr lang="zh-CN" altLang="en-US" sz="2200" b="1" dirty="0">
                <a:solidFill>
                  <a:srgbClr val="FF0000"/>
                </a:solidFill>
              </a:rPr>
              <a:t>分而治之法</a:t>
            </a:r>
            <a:r>
              <a:rPr lang="zh-CN" altLang="en-US" sz="2200" dirty="0"/>
              <a:t>密切相关的算法设计技术：</a:t>
            </a:r>
            <a:endParaRPr lang="en-US" altLang="zh-CN" sz="2200" dirty="0"/>
          </a:p>
          <a:p>
            <a:pPr lvl="1">
              <a:spcBef>
                <a:spcPts val="1200"/>
              </a:spcBef>
              <a:defRPr/>
            </a:pPr>
            <a:r>
              <a:rPr lang="zh-CN" altLang="en-US" sz="2200" dirty="0">
                <a:solidFill>
                  <a:srgbClr val="FF0000"/>
                </a:solidFill>
              </a:rPr>
              <a:t>分治法</a:t>
            </a:r>
            <a:r>
              <a:rPr lang="en-US" altLang="zh-CN" sz="2200" dirty="0"/>
              <a:t>(</a:t>
            </a:r>
            <a:r>
              <a:rPr lang="en-US" altLang="zh-CN" sz="2200" dirty="0">
                <a:solidFill>
                  <a:srgbClr val="0000FF"/>
                </a:solidFill>
              </a:rPr>
              <a:t>Divide-and-conquer</a:t>
            </a:r>
            <a:r>
              <a:rPr lang="en-US" altLang="zh-CN" sz="2200" dirty="0"/>
              <a:t>)</a:t>
            </a:r>
            <a:r>
              <a:rPr lang="zh-CN" altLang="en-US" sz="2200" dirty="0"/>
              <a:t>：</a:t>
            </a:r>
            <a:endParaRPr lang="en-US" altLang="zh-CN" sz="2200" dirty="0"/>
          </a:p>
          <a:p>
            <a:pPr lvl="1">
              <a:spcBef>
                <a:spcPts val="1200"/>
              </a:spcBef>
              <a:buClr>
                <a:srgbClr val="FF0000"/>
              </a:buClr>
              <a:defRPr/>
            </a:pPr>
            <a:r>
              <a:rPr lang="zh-CN" altLang="en-US" sz="2200" dirty="0"/>
              <a:t>许多问题的求解技术可以这样进行：</a:t>
            </a:r>
            <a:endParaRPr lang="zh-CN" altLang="en-US" sz="2200" dirty="0"/>
          </a:p>
          <a:p>
            <a:pPr lvl="2">
              <a:spcBef>
                <a:spcPts val="1200"/>
              </a:spcBef>
              <a:buClr>
                <a:srgbClr val="FF0000"/>
              </a:buClr>
              <a:defRPr/>
            </a:pPr>
            <a:r>
              <a:rPr lang="zh-CN" altLang="en-US" sz="2200" dirty="0"/>
              <a:t>原问题可以分解为若干子问题分别进行求解，</a:t>
            </a:r>
            <a:endParaRPr lang="zh-CN" altLang="en-US" sz="2200" dirty="0"/>
          </a:p>
          <a:p>
            <a:pPr lvl="2">
              <a:spcBef>
                <a:spcPts val="1200"/>
              </a:spcBef>
              <a:buClr>
                <a:srgbClr val="FF0000"/>
              </a:buClr>
              <a:defRPr/>
            </a:pPr>
            <a:r>
              <a:rPr lang="zh-CN" altLang="en-US" sz="2200" dirty="0"/>
              <a:t>适当综合子问题的解，可以得到原问题的解。</a:t>
            </a:r>
            <a:endParaRPr lang="zh-CN" altLang="en-US" sz="2200" dirty="0"/>
          </a:p>
          <a:p>
            <a:pPr lvl="2">
              <a:spcBef>
                <a:spcPts val="1200"/>
              </a:spcBef>
              <a:buClr>
                <a:srgbClr val="FF0000"/>
              </a:buClr>
              <a:defRPr/>
            </a:pPr>
            <a:r>
              <a:rPr lang="zh-CN" altLang="en-US" sz="2200" dirty="0"/>
              <a:t>其中，在许多情况下，各子问题得求解方法与原问题的求解方法类似，因而可以采用</a:t>
            </a:r>
            <a:r>
              <a:rPr lang="zh-CN" altLang="en-US" sz="2200" dirty="0">
                <a:solidFill>
                  <a:srgbClr val="FF0000"/>
                </a:solidFill>
              </a:rPr>
              <a:t>递归</a:t>
            </a:r>
            <a:r>
              <a:rPr lang="zh-CN" altLang="en-US" sz="2200" dirty="0"/>
              <a:t>技术来实现。</a:t>
            </a:r>
            <a:endParaRPr lang="zh-CN" altLang="en-US" sz="2200" dirty="0"/>
          </a:p>
        </p:txBody>
      </p:sp>
      <p:grpSp>
        <p:nvGrpSpPr>
          <p:cNvPr id="6" name="组合 5"/>
          <p:cNvGrpSpPr/>
          <p:nvPr/>
        </p:nvGrpSpPr>
        <p:grpSpPr>
          <a:xfrm>
            <a:off x="-612576" y="116632"/>
            <a:ext cx="7416824" cy="648129"/>
            <a:chOff x="-180528" y="5152869"/>
            <a:chExt cx="7243325" cy="526322"/>
          </a:xfrm>
        </p:grpSpPr>
        <p:grpSp>
          <p:nvGrpSpPr>
            <p:cNvPr id="7" name="组合 6"/>
            <p:cNvGrpSpPr/>
            <p:nvPr/>
          </p:nvGrpSpPr>
          <p:grpSpPr>
            <a:xfrm>
              <a:off x="-180528" y="5152869"/>
              <a:ext cx="7243325" cy="526322"/>
              <a:chOff x="-240188" y="5778644"/>
              <a:chExt cx="7889473" cy="68920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867">
                                            <p:txEl>
                                              <p:pRg st="1" end="1"/>
                                            </p:txEl>
                                          </p:spTgt>
                                        </p:tgtEl>
                                        <p:attrNameLst>
                                          <p:attrName>style.visibility</p:attrName>
                                        </p:attrNameLst>
                                      </p:cBhvr>
                                      <p:to>
                                        <p:strVal val="visible"/>
                                      </p:to>
                                    </p:set>
                                    <p:animEffect transition="in" filter="blinds(horizontal)">
                                      <p:cBhvr>
                                        <p:cTn id="7" dur="500"/>
                                        <p:tgtEl>
                                          <p:spTgt spid="3686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6867">
                                            <p:txEl>
                                              <p:pRg st="2" end="2"/>
                                            </p:txEl>
                                          </p:spTgt>
                                        </p:tgtEl>
                                        <p:attrNameLst>
                                          <p:attrName>style.visibility</p:attrName>
                                        </p:attrNameLst>
                                      </p:cBhvr>
                                      <p:to>
                                        <p:strVal val="visible"/>
                                      </p:to>
                                    </p:set>
                                    <p:animEffect transition="in" filter="blinds(horizontal)">
                                      <p:cBhvr>
                                        <p:cTn id="12" dur="500"/>
                                        <p:tgtEl>
                                          <p:spTgt spid="3686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6867">
                                            <p:txEl>
                                              <p:pRg st="3" end="3"/>
                                            </p:txEl>
                                          </p:spTgt>
                                        </p:tgtEl>
                                        <p:attrNameLst>
                                          <p:attrName>style.visibility</p:attrName>
                                        </p:attrNameLst>
                                      </p:cBhvr>
                                      <p:to>
                                        <p:strVal val="visible"/>
                                      </p:to>
                                    </p:set>
                                    <p:animEffect transition="in" filter="blinds(horizontal)">
                                      <p:cBhvr>
                                        <p:cTn id="17" dur="500"/>
                                        <p:tgtEl>
                                          <p:spTgt spid="3686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6867">
                                            <p:txEl>
                                              <p:pRg st="4" end="4"/>
                                            </p:txEl>
                                          </p:spTgt>
                                        </p:tgtEl>
                                        <p:attrNameLst>
                                          <p:attrName>style.visibility</p:attrName>
                                        </p:attrNameLst>
                                      </p:cBhvr>
                                      <p:to>
                                        <p:strVal val="visible"/>
                                      </p:to>
                                    </p:set>
                                    <p:animEffect transition="in" filter="blinds(horizontal)">
                                      <p:cBhvr>
                                        <p:cTn id="22" dur="500"/>
                                        <p:tgtEl>
                                          <p:spTgt spid="3686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6867">
                                            <p:txEl>
                                              <p:pRg st="5" end="5"/>
                                            </p:txEl>
                                          </p:spTgt>
                                        </p:tgtEl>
                                        <p:attrNameLst>
                                          <p:attrName>style.visibility</p:attrName>
                                        </p:attrNameLst>
                                      </p:cBhvr>
                                      <p:to>
                                        <p:strVal val="visible"/>
                                      </p:to>
                                    </p:set>
                                    <p:animEffect transition="in" filter="blinds(horizontal)">
                                      <p:cBhvr>
                                        <p:cTn id="27" dur="500"/>
                                        <p:tgtEl>
                                          <p:spTgt spid="3686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6867">
                                            <p:txEl>
                                              <p:pRg st="6" end="6"/>
                                            </p:txEl>
                                          </p:spTgt>
                                        </p:tgtEl>
                                        <p:attrNameLst>
                                          <p:attrName>style.visibility</p:attrName>
                                        </p:attrNameLst>
                                      </p:cBhvr>
                                      <p:to>
                                        <p:strVal val="visible"/>
                                      </p:to>
                                    </p:set>
                                    <p:animEffect transition="in" filter="blinds(horizontal)">
                                      <p:cBhvr>
                                        <p:cTn id="32" dur="500"/>
                                        <p:tgtEl>
                                          <p:spTgt spid="3686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6867">
                                            <p:txEl>
                                              <p:pRg st="7" end="7"/>
                                            </p:txEl>
                                          </p:spTgt>
                                        </p:tgtEl>
                                        <p:attrNameLst>
                                          <p:attrName>style.visibility</p:attrName>
                                        </p:attrNameLst>
                                      </p:cBhvr>
                                      <p:to>
                                        <p:strVal val="visible"/>
                                      </p:to>
                                    </p:set>
                                    <p:animEffect transition="in" filter="blinds(horizontal)">
                                      <p:cBhvr>
                                        <p:cTn id="37" dur="500"/>
                                        <p:tgtEl>
                                          <p:spTgt spid="3686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内容占位符 36866"/>
          <p:cNvSpPr>
            <a:spLocks noGrp="1" noChangeArrowheads="1"/>
          </p:cNvSpPr>
          <p:nvPr>
            <p:ph idx="1"/>
          </p:nvPr>
        </p:nvSpPr>
        <p:spPr>
          <a:xfrm>
            <a:off x="395536" y="1052736"/>
            <a:ext cx="8229600" cy="4678451"/>
          </a:xfrm>
        </p:spPr>
        <p:txBody>
          <a:bodyPr/>
          <a:lstStyle/>
          <a:p>
            <a:pPr eaLnBrk="1" hangingPunct="1">
              <a:lnSpc>
                <a:spcPct val="90000"/>
              </a:lnSpc>
              <a:buClr>
                <a:srgbClr val="FF0000"/>
              </a:buClr>
              <a:buFont typeface="Wingdings" panose="05000000000000000000" pitchFamily="2" charset="2"/>
              <a:buChar char="Ø"/>
            </a:pPr>
            <a:r>
              <a:rPr lang="en-US" altLang="zh-CN" sz="2800" b="1" dirty="0"/>
              <a:t>7.7.2 </a:t>
            </a:r>
            <a:r>
              <a:rPr lang="zh-CN" altLang="en-US" sz="2800" b="1" dirty="0"/>
              <a:t>递归算法设计要点</a:t>
            </a:r>
            <a:endParaRPr lang="zh-CN" altLang="en-US" sz="2800" b="1" dirty="0"/>
          </a:p>
          <a:p>
            <a:pPr lvl="1">
              <a:spcBef>
                <a:spcPts val="1200"/>
              </a:spcBef>
              <a:buClr>
                <a:srgbClr val="FF0000"/>
              </a:buClr>
              <a:defRPr/>
            </a:pPr>
            <a:r>
              <a:rPr lang="zh-CN" altLang="en-US" sz="2000" b="1" dirty="0"/>
              <a:t>分治法在每一层递归上都有</a:t>
            </a:r>
            <a:r>
              <a:rPr lang="en-US" altLang="zh-CN" sz="2000" b="1" dirty="0"/>
              <a:t>3</a:t>
            </a:r>
            <a:r>
              <a:rPr lang="zh-CN" altLang="en-US" sz="2000" b="1" dirty="0"/>
              <a:t>个</a:t>
            </a:r>
            <a:r>
              <a:rPr lang="zh-CN" altLang="en-US" sz="2000" b="1" dirty="0">
                <a:solidFill>
                  <a:srgbClr val="FF0000"/>
                </a:solidFill>
              </a:rPr>
              <a:t>步骤</a:t>
            </a:r>
            <a:r>
              <a:rPr lang="zh-CN" altLang="en-US" sz="2000" b="1" dirty="0"/>
              <a:t>：</a:t>
            </a:r>
            <a:endParaRPr lang="zh-CN" altLang="en-US" sz="2000" b="1" dirty="0"/>
          </a:p>
          <a:p>
            <a:pPr lvl="2">
              <a:spcBef>
                <a:spcPts val="1200"/>
              </a:spcBef>
              <a:defRPr/>
            </a:pPr>
            <a:r>
              <a:rPr lang="zh-CN" altLang="en-US" sz="2000" b="1" dirty="0">
                <a:solidFill>
                  <a:srgbClr val="FF0000"/>
                </a:solidFill>
              </a:rPr>
              <a:t>分解</a:t>
            </a:r>
            <a:r>
              <a:rPr lang="en-US" altLang="zh-CN" sz="2000" b="1" dirty="0"/>
              <a:t>(</a:t>
            </a:r>
            <a:r>
              <a:rPr lang="en-US" altLang="zh-CN" sz="2000" b="1" dirty="0" err="1">
                <a:solidFill>
                  <a:srgbClr val="0000FF"/>
                </a:solidFill>
              </a:rPr>
              <a:t>Devide</a:t>
            </a:r>
            <a:r>
              <a:rPr lang="en-US" altLang="zh-CN" sz="2000" b="1" dirty="0"/>
              <a:t>)</a:t>
            </a:r>
            <a:r>
              <a:rPr lang="zh-CN" altLang="en-US" sz="2000" b="1" dirty="0"/>
              <a:t>：将原问题分解成一系列子问题；</a:t>
            </a:r>
            <a:endParaRPr lang="zh-CN" altLang="en-US" sz="2000" b="1" dirty="0"/>
          </a:p>
          <a:p>
            <a:pPr lvl="2">
              <a:spcBef>
                <a:spcPts val="1200"/>
              </a:spcBef>
              <a:defRPr/>
            </a:pPr>
            <a:r>
              <a:rPr lang="zh-CN" altLang="en-US" sz="2000" b="1" dirty="0">
                <a:solidFill>
                  <a:srgbClr val="FF0000"/>
                </a:solidFill>
              </a:rPr>
              <a:t>求解</a:t>
            </a:r>
            <a:r>
              <a:rPr lang="en-US" altLang="zh-CN" sz="2000" b="1" dirty="0"/>
              <a:t>(</a:t>
            </a:r>
            <a:r>
              <a:rPr lang="en-US" altLang="zh-CN" sz="2000" b="1" dirty="0">
                <a:solidFill>
                  <a:srgbClr val="0000FF"/>
                </a:solidFill>
              </a:rPr>
              <a:t>Conquer</a:t>
            </a:r>
            <a:r>
              <a:rPr lang="en-US" altLang="zh-CN" sz="2000" b="1" dirty="0"/>
              <a:t>)</a:t>
            </a:r>
            <a:r>
              <a:rPr lang="zh-CN" altLang="en-US" sz="2000" b="1" dirty="0"/>
              <a:t>：递归地求解各子问题，若子问题“足够小”  </a:t>
            </a:r>
            <a:endParaRPr lang="en-US" altLang="zh-CN" sz="2000" b="1" dirty="0"/>
          </a:p>
          <a:p>
            <a:pPr marL="914400" lvl="2" indent="0">
              <a:spcBef>
                <a:spcPts val="1200"/>
              </a:spcBef>
              <a:buNone/>
              <a:defRPr/>
            </a:pPr>
            <a:r>
              <a:rPr lang="en-US" altLang="zh-CN" sz="2000" b="1" dirty="0"/>
              <a:t>                                (</a:t>
            </a:r>
            <a:r>
              <a:rPr lang="zh-CN" altLang="en-US" sz="2000" b="1" dirty="0"/>
              <a:t>递归出口</a:t>
            </a:r>
            <a:r>
              <a:rPr lang="en-US" altLang="zh-CN" sz="2000" b="1" dirty="0"/>
              <a:t>)</a:t>
            </a:r>
            <a:r>
              <a:rPr lang="zh-CN" altLang="en-US" sz="2000" b="1" dirty="0"/>
              <a:t>，则直接求解。</a:t>
            </a:r>
            <a:endParaRPr lang="zh-CN" altLang="en-US" sz="2000" b="1" dirty="0"/>
          </a:p>
          <a:p>
            <a:pPr lvl="2">
              <a:spcBef>
                <a:spcPts val="1200"/>
              </a:spcBef>
              <a:defRPr/>
            </a:pPr>
            <a:r>
              <a:rPr lang="zh-CN" altLang="en-US" sz="2000" b="1" dirty="0">
                <a:solidFill>
                  <a:srgbClr val="FF0000"/>
                </a:solidFill>
              </a:rPr>
              <a:t>合并</a:t>
            </a:r>
            <a:r>
              <a:rPr lang="en-US" altLang="zh-CN" sz="2000" b="1" dirty="0"/>
              <a:t>(</a:t>
            </a:r>
            <a:r>
              <a:rPr lang="en-US" altLang="zh-CN" sz="2000" b="1" dirty="0">
                <a:solidFill>
                  <a:srgbClr val="0000FF"/>
                </a:solidFill>
              </a:rPr>
              <a:t>Combine</a:t>
            </a:r>
            <a:r>
              <a:rPr lang="en-US" altLang="zh-CN" sz="2000" b="1" dirty="0"/>
              <a:t>)</a:t>
            </a:r>
            <a:r>
              <a:rPr lang="zh-CN" altLang="en-US" sz="2000" b="1" dirty="0"/>
              <a:t>：合并子问题的解，以求解原问题的解。</a:t>
            </a:r>
            <a:endParaRPr lang="zh-CN" altLang="en-US" sz="2000" b="1" dirty="0"/>
          </a:p>
          <a:p>
            <a:pPr lvl="1">
              <a:lnSpc>
                <a:spcPct val="90000"/>
              </a:lnSpc>
              <a:spcBef>
                <a:spcPts val="1200"/>
              </a:spcBef>
              <a:buClr>
                <a:srgbClr val="FF0000"/>
              </a:buClr>
              <a:buFont typeface="Wingdings" panose="05000000000000000000" pitchFamily="2" charset="2"/>
              <a:buChar char="ü"/>
            </a:pPr>
            <a:endParaRPr lang="en-US" altLang="zh-CN" sz="2000" b="1" dirty="0"/>
          </a:p>
          <a:p>
            <a:pPr lvl="1">
              <a:lnSpc>
                <a:spcPct val="90000"/>
              </a:lnSpc>
              <a:spcBef>
                <a:spcPts val="1200"/>
              </a:spcBef>
              <a:buClr>
                <a:srgbClr val="FF0000"/>
              </a:buClr>
              <a:buFont typeface="Wingdings" panose="05000000000000000000" pitchFamily="2" charset="2"/>
              <a:buChar char="ü"/>
            </a:pPr>
            <a:r>
              <a:rPr lang="zh-CN" altLang="en-US" sz="2200" b="1" dirty="0"/>
              <a:t>例如，归并排序（</a:t>
            </a:r>
            <a:r>
              <a:rPr lang="en-US" altLang="zh-CN" sz="2200" b="1" dirty="0">
                <a:solidFill>
                  <a:srgbClr val="0000FF"/>
                </a:solidFill>
              </a:rPr>
              <a:t>merge sort</a:t>
            </a:r>
            <a:r>
              <a:rPr lang="zh-CN" altLang="en-US" sz="2200" b="1" dirty="0"/>
              <a:t>）的操作：</a:t>
            </a:r>
            <a:endParaRPr lang="zh-CN" altLang="en-US" sz="2200" b="1" dirty="0"/>
          </a:p>
          <a:p>
            <a:pPr lvl="2">
              <a:lnSpc>
                <a:spcPct val="90000"/>
              </a:lnSpc>
              <a:spcBef>
                <a:spcPts val="1200"/>
              </a:spcBef>
            </a:pPr>
            <a:r>
              <a:rPr lang="zh-CN" altLang="en-US" sz="2200" b="1" dirty="0">
                <a:solidFill>
                  <a:srgbClr val="FF0000"/>
                </a:solidFill>
              </a:rPr>
              <a:t>分解</a:t>
            </a:r>
            <a:r>
              <a:rPr lang="zh-CN" altLang="en-US" sz="2200" b="1" dirty="0"/>
              <a:t>：分解数组为两个</a:t>
            </a:r>
            <a:r>
              <a:rPr lang="en-US" altLang="zh-CN" sz="2200" b="1" i="1" dirty="0"/>
              <a:t>n</a:t>
            </a:r>
            <a:r>
              <a:rPr lang="en-US" altLang="zh-CN" sz="2200" b="1" dirty="0"/>
              <a:t>/2</a:t>
            </a:r>
            <a:r>
              <a:rPr lang="zh-CN" altLang="en-US" sz="2200" b="1" dirty="0"/>
              <a:t>规模的数组；</a:t>
            </a:r>
            <a:endParaRPr lang="zh-CN" altLang="en-US" sz="2200" b="1" dirty="0"/>
          </a:p>
          <a:p>
            <a:pPr lvl="2">
              <a:lnSpc>
                <a:spcPct val="90000"/>
              </a:lnSpc>
              <a:spcBef>
                <a:spcPts val="1200"/>
              </a:spcBef>
            </a:pPr>
            <a:r>
              <a:rPr lang="zh-CN" altLang="en-US" sz="2200" b="1" dirty="0">
                <a:solidFill>
                  <a:srgbClr val="FF0000"/>
                </a:solidFill>
              </a:rPr>
              <a:t>求解</a:t>
            </a:r>
            <a:r>
              <a:rPr lang="zh-CN" altLang="en-US" sz="2200" b="1" dirty="0"/>
              <a:t>：对两个子序列分别采用归并排序进行求解；</a:t>
            </a:r>
            <a:endParaRPr lang="zh-CN" altLang="en-US" sz="2200" b="1" dirty="0"/>
          </a:p>
          <a:p>
            <a:pPr lvl="2">
              <a:lnSpc>
                <a:spcPct val="90000"/>
              </a:lnSpc>
              <a:spcBef>
                <a:spcPts val="1200"/>
              </a:spcBef>
            </a:pPr>
            <a:r>
              <a:rPr lang="zh-CN" altLang="en-US" sz="2200" b="1" dirty="0">
                <a:solidFill>
                  <a:srgbClr val="FF0000"/>
                </a:solidFill>
              </a:rPr>
              <a:t>合并</a:t>
            </a:r>
            <a:r>
              <a:rPr lang="zh-CN" altLang="en-US" sz="2200" b="1" dirty="0"/>
              <a:t>：合并两个已排序子序列，得到排序结果。</a:t>
            </a:r>
            <a:endParaRPr lang="zh-CN" altLang="en-US" sz="2200" b="1" dirty="0"/>
          </a:p>
          <a:p>
            <a:pPr eaLnBrk="1" hangingPunct="1">
              <a:lnSpc>
                <a:spcPct val="90000"/>
              </a:lnSpc>
            </a:pPr>
            <a:endParaRPr lang="zh-CN" altLang="en-US" sz="1800" dirty="0">
              <a:latin typeface="宋体" panose="02010600030101010101" pitchFamily="2" charset="-122"/>
              <a:ea typeface="宋体" panose="02010600030101010101" pitchFamily="2" charset="-122"/>
            </a:endParaRPr>
          </a:p>
        </p:txBody>
      </p:sp>
      <p:grpSp>
        <p:nvGrpSpPr>
          <p:cNvPr id="6" name="组合 5"/>
          <p:cNvGrpSpPr/>
          <p:nvPr/>
        </p:nvGrpSpPr>
        <p:grpSpPr>
          <a:xfrm>
            <a:off x="-612576" y="116632"/>
            <a:ext cx="7416824" cy="648129"/>
            <a:chOff x="-180528" y="5152869"/>
            <a:chExt cx="7243325" cy="526322"/>
          </a:xfrm>
        </p:grpSpPr>
        <p:grpSp>
          <p:nvGrpSpPr>
            <p:cNvPr id="7" name="组合 6"/>
            <p:cNvGrpSpPr/>
            <p:nvPr/>
          </p:nvGrpSpPr>
          <p:grpSpPr>
            <a:xfrm>
              <a:off x="-180528" y="5152869"/>
              <a:ext cx="7243325" cy="526322"/>
              <a:chOff x="-240188" y="5778644"/>
              <a:chExt cx="7889473" cy="68920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867">
                                            <p:txEl>
                                              <p:pRg st="1" end="1"/>
                                            </p:txEl>
                                          </p:spTgt>
                                        </p:tgtEl>
                                        <p:attrNameLst>
                                          <p:attrName>style.visibility</p:attrName>
                                        </p:attrNameLst>
                                      </p:cBhvr>
                                      <p:to>
                                        <p:strVal val="visible"/>
                                      </p:to>
                                    </p:set>
                                    <p:animEffect transition="in" filter="blinds(horizontal)">
                                      <p:cBhvr>
                                        <p:cTn id="7" dur="500"/>
                                        <p:tgtEl>
                                          <p:spTgt spid="3686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6867">
                                            <p:txEl>
                                              <p:pRg st="2" end="2"/>
                                            </p:txEl>
                                          </p:spTgt>
                                        </p:tgtEl>
                                        <p:attrNameLst>
                                          <p:attrName>style.visibility</p:attrName>
                                        </p:attrNameLst>
                                      </p:cBhvr>
                                      <p:to>
                                        <p:strVal val="visible"/>
                                      </p:to>
                                    </p:set>
                                    <p:animEffect transition="in" filter="blinds(horizontal)">
                                      <p:cBhvr>
                                        <p:cTn id="12" dur="500"/>
                                        <p:tgtEl>
                                          <p:spTgt spid="3686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6867">
                                            <p:txEl>
                                              <p:pRg st="3" end="3"/>
                                            </p:txEl>
                                          </p:spTgt>
                                        </p:tgtEl>
                                        <p:attrNameLst>
                                          <p:attrName>style.visibility</p:attrName>
                                        </p:attrNameLst>
                                      </p:cBhvr>
                                      <p:to>
                                        <p:strVal val="visible"/>
                                      </p:to>
                                    </p:set>
                                    <p:animEffect transition="in" filter="blinds(horizontal)">
                                      <p:cBhvr>
                                        <p:cTn id="17" dur="500"/>
                                        <p:tgtEl>
                                          <p:spTgt spid="3686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6867">
                                            <p:txEl>
                                              <p:pRg st="4" end="4"/>
                                            </p:txEl>
                                          </p:spTgt>
                                        </p:tgtEl>
                                        <p:attrNameLst>
                                          <p:attrName>style.visibility</p:attrName>
                                        </p:attrNameLst>
                                      </p:cBhvr>
                                      <p:to>
                                        <p:strVal val="visible"/>
                                      </p:to>
                                    </p:set>
                                    <p:animEffect transition="in" filter="blinds(horizontal)">
                                      <p:cBhvr>
                                        <p:cTn id="22" dur="500"/>
                                        <p:tgtEl>
                                          <p:spTgt spid="3686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6867">
                                            <p:txEl>
                                              <p:pRg st="5" end="5"/>
                                            </p:txEl>
                                          </p:spTgt>
                                        </p:tgtEl>
                                        <p:attrNameLst>
                                          <p:attrName>style.visibility</p:attrName>
                                        </p:attrNameLst>
                                      </p:cBhvr>
                                      <p:to>
                                        <p:strVal val="visible"/>
                                      </p:to>
                                    </p:set>
                                    <p:animEffect transition="in" filter="blinds(horizontal)">
                                      <p:cBhvr>
                                        <p:cTn id="27" dur="500"/>
                                        <p:tgtEl>
                                          <p:spTgt spid="3686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6867">
                                            <p:txEl>
                                              <p:pRg st="7" end="7"/>
                                            </p:txEl>
                                          </p:spTgt>
                                        </p:tgtEl>
                                        <p:attrNameLst>
                                          <p:attrName>style.visibility</p:attrName>
                                        </p:attrNameLst>
                                      </p:cBhvr>
                                      <p:to>
                                        <p:strVal val="visible"/>
                                      </p:to>
                                    </p:set>
                                    <p:animEffect transition="in" filter="blinds(horizontal)">
                                      <p:cBhvr>
                                        <p:cTn id="32" dur="500"/>
                                        <p:tgtEl>
                                          <p:spTgt spid="36867">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6867">
                                            <p:txEl>
                                              <p:pRg st="8" end="8"/>
                                            </p:txEl>
                                          </p:spTgt>
                                        </p:tgtEl>
                                        <p:attrNameLst>
                                          <p:attrName>style.visibility</p:attrName>
                                        </p:attrNameLst>
                                      </p:cBhvr>
                                      <p:to>
                                        <p:strVal val="visible"/>
                                      </p:to>
                                    </p:set>
                                    <p:animEffect transition="in" filter="blinds(horizontal)">
                                      <p:cBhvr>
                                        <p:cTn id="37" dur="500"/>
                                        <p:tgtEl>
                                          <p:spTgt spid="36867">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6867">
                                            <p:txEl>
                                              <p:pRg st="9" end="9"/>
                                            </p:txEl>
                                          </p:spTgt>
                                        </p:tgtEl>
                                        <p:attrNameLst>
                                          <p:attrName>style.visibility</p:attrName>
                                        </p:attrNameLst>
                                      </p:cBhvr>
                                      <p:to>
                                        <p:strVal val="visible"/>
                                      </p:to>
                                    </p:set>
                                    <p:animEffect transition="in" filter="blinds(horizontal)">
                                      <p:cBhvr>
                                        <p:cTn id="42" dur="500"/>
                                        <p:tgtEl>
                                          <p:spTgt spid="36867">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6867">
                                            <p:txEl>
                                              <p:pRg st="10" end="10"/>
                                            </p:txEl>
                                          </p:spTgt>
                                        </p:tgtEl>
                                        <p:attrNameLst>
                                          <p:attrName>style.visibility</p:attrName>
                                        </p:attrNameLst>
                                      </p:cBhvr>
                                      <p:to>
                                        <p:strVal val="visible"/>
                                      </p:to>
                                    </p:set>
                                    <p:animEffect transition="in" filter="blinds(horizontal)">
                                      <p:cBhvr>
                                        <p:cTn id="47" dur="500"/>
                                        <p:tgtEl>
                                          <p:spTgt spid="3686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a:sym typeface="+mn-ea"/>
              </a:rPr>
              <a:t>7.7.2 </a:t>
            </a:r>
            <a:r>
              <a:rPr lang="zh-CN" altLang="en-US" dirty="0">
                <a:sym typeface="+mn-ea"/>
              </a:rPr>
              <a:t>递归算法设计举例</a:t>
            </a:r>
            <a:endParaRPr lang="zh-CN" altLang="en-US"/>
          </a:p>
        </p:txBody>
      </p:sp>
      <p:sp>
        <p:nvSpPr>
          <p:cNvPr id="3" name="内容占位符 2"/>
          <p:cNvSpPr>
            <a:spLocks noGrp="1"/>
          </p:cNvSpPr>
          <p:nvPr>
            <p:ph idx="1"/>
          </p:nvPr>
        </p:nvSpPr>
        <p:spPr>
          <a:xfrm>
            <a:off x="457200" y="1172845"/>
            <a:ext cx="8229600" cy="4920615"/>
          </a:xfrm>
        </p:spPr>
        <p:txBody>
          <a:bodyPr/>
          <a:p>
            <a:pPr marL="0" indent="0">
              <a:buNone/>
            </a:pPr>
            <a:r>
              <a:rPr lang="zh-CN" altLang="en-US" sz="2400" b="1" dirty="0">
                <a:solidFill>
                  <a:srgbClr val="0000FF"/>
                </a:solidFill>
                <a:ea typeface="宋体" panose="02010600030101010101" pitchFamily="2" charset="-122"/>
              </a:rPr>
              <a:t>（2）分治法递归算法设计要点</a:t>
            </a:r>
            <a:endParaRPr lang="zh-CN" altLang="en-US" sz="2400" b="1" dirty="0">
              <a:solidFill>
                <a:srgbClr val="0000FF"/>
              </a:solidFill>
              <a:ea typeface="宋体" panose="02010600030101010101" pitchFamily="2" charset="-122"/>
            </a:endParaRPr>
          </a:p>
          <a:p>
            <a:pPr marL="0" indent="0">
              <a:buNone/>
            </a:pPr>
            <a:r>
              <a:rPr lang="zh-CN" altLang="en-US" sz="2000"/>
              <a:t>在采用分治法设计和实现递归算法时，很自然地需要考虑分解、求解、合并等相关问题的设计和实现，以及由此而得到的相应的递归算法。</a:t>
            </a:r>
            <a:endParaRPr lang="zh-CN" altLang="en-US" sz="2000"/>
          </a:p>
          <a:p>
            <a:pPr marL="0" indent="0">
              <a:buNone/>
            </a:pPr>
            <a:r>
              <a:rPr lang="zh-CN" altLang="en-US" sz="2000"/>
              <a:t>对此，提出如下基本建议：</a:t>
            </a:r>
            <a:endParaRPr lang="zh-CN" altLang="en-US" sz="2000"/>
          </a:p>
          <a:p>
            <a:pPr marL="0" indent="0">
              <a:buNone/>
            </a:pPr>
            <a:r>
              <a:rPr lang="zh-CN" altLang="en-US" sz="2000" b="1">
                <a:solidFill>
                  <a:srgbClr val="FF0000"/>
                </a:solidFill>
              </a:rPr>
              <a:t>1）问题分解</a:t>
            </a:r>
            <a:r>
              <a:rPr lang="zh-CN" altLang="en-US" sz="2000"/>
              <a:t>：每个子问题的应当满足如下</a:t>
            </a:r>
            <a:r>
              <a:rPr lang="zh-CN" altLang="en-US" sz="2000" b="1">
                <a:solidFill>
                  <a:srgbClr val="FF0000"/>
                </a:solidFill>
              </a:rPr>
              <a:t>基本要求</a:t>
            </a:r>
            <a:r>
              <a:rPr lang="zh-CN" altLang="en-US" sz="2000"/>
              <a:t>：</a:t>
            </a:r>
            <a:endParaRPr lang="zh-CN" altLang="en-US" sz="2000"/>
          </a:p>
          <a:p>
            <a:pPr marL="0" indent="0">
              <a:buNone/>
            </a:pPr>
            <a:r>
              <a:rPr lang="zh-CN" altLang="en-US" sz="2000"/>
              <a:t>子问题求解方式与原问题求解方式相同，仅仅是求解区域（参数）不同</a:t>
            </a:r>
            <a:endParaRPr lang="zh-CN" altLang="en-US" sz="2000"/>
          </a:p>
          <a:p>
            <a:pPr marL="0" indent="0">
              <a:buNone/>
            </a:pPr>
            <a:r>
              <a:rPr lang="zh-CN" altLang="en-US" sz="2000"/>
              <a:t> </a:t>
            </a:r>
            <a:r>
              <a:rPr lang="en-US" altLang="zh-CN" sz="2000"/>
              <a:t>      </a:t>
            </a:r>
            <a:r>
              <a:rPr lang="zh-CN" altLang="en-US" sz="2000"/>
              <a:t>----因而可以采用递归来实现子问题的求解；</a:t>
            </a:r>
            <a:endParaRPr lang="zh-CN" altLang="en-US" sz="2000"/>
          </a:p>
          <a:p>
            <a:pPr marL="0" indent="0">
              <a:buNone/>
            </a:pPr>
            <a:r>
              <a:rPr lang="zh-CN" altLang="en-US" sz="2000"/>
              <a:t>子问题的求解区域（参数）向更接近于递归出口的方向变化，从而可以通过反复调用以到达递归出口，来实现原始解；</a:t>
            </a:r>
            <a:endParaRPr lang="zh-CN" altLang="en-US" sz="2000"/>
          </a:p>
          <a:p>
            <a:pPr marL="0" indent="0">
              <a:buNone/>
            </a:pPr>
            <a:r>
              <a:rPr lang="zh-CN" altLang="en-US" sz="2000"/>
              <a:t>然而，下面的示例将表明，针对具体问题，可能会有不同的分解方式，并进而会有相应的求解算法，且性能方面也可能差异较大。</a:t>
            </a:r>
            <a:endParaRPr lang="zh-CN" altLang="en-US" sz="2000"/>
          </a:p>
        </p:txBody>
      </p:sp>
      <p:sp>
        <p:nvSpPr>
          <p:cNvPr id="4" name="页脚占位符 3"/>
          <p:cNvSpPr>
            <a:spLocks noGrp="1"/>
          </p:cNvSpPr>
          <p:nvPr>
            <p:ph type="ftr" sz="quarter" idx="3"/>
          </p:nvPr>
        </p:nvSpPr>
        <p:spPr/>
        <p:txBody>
          <a:bodyPr/>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a:sym typeface="+mn-ea"/>
              </a:rPr>
              <a:t>7.7.2 </a:t>
            </a:r>
            <a:r>
              <a:rPr lang="zh-CN" altLang="en-US" dirty="0">
                <a:sym typeface="+mn-ea"/>
              </a:rPr>
              <a:t>递归算法设计举例</a:t>
            </a:r>
            <a:endParaRPr lang="zh-CN" altLang="en-US"/>
          </a:p>
        </p:txBody>
      </p:sp>
      <p:sp>
        <p:nvSpPr>
          <p:cNvPr id="3" name="内容占位符 2"/>
          <p:cNvSpPr>
            <a:spLocks noGrp="1"/>
          </p:cNvSpPr>
          <p:nvPr>
            <p:ph idx="1"/>
          </p:nvPr>
        </p:nvSpPr>
        <p:spPr/>
        <p:txBody>
          <a:bodyPr/>
          <a:p>
            <a:pPr marL="0" indent="0">
              <a:buNone/>
            </a:pPr>
            <a:r>
              <a:rPr lang="zh-CN" altLang="en-US" sz="2400" b="1" dirty="0">
                <a:solidFill>
                  <a:srgbClr val="0000FF"/>
                </a:solidFill>
                <a:ea typeface="宋体" panose="02010600030101010101" pitchFamily="2" charset="-122"/>
              </a:rPr>
              <a:t>（2）分治法递归算法设计要点</a:t>
            </a:r>
            <a:endParaRPr lang="zh-CN" altLang="en-US" sz="2400" b="1" dirty="0">
              <a:solidFill>
                <a:srgbClr val="0000FF"/>
              </a:solidFill>
              <a:ea typeface="宋体" panose="02010600030101010101" pitchFamily="2" charset="-122"/>
            </a:endParaRPr>
          </a:p>
          <a:p>
            <a:pPr marL="0" indent="0">
              <a:buNone/>
            </a:pPr>
            <a:r>
              <a:rPr lang="zh-CN" altLang="en-US" sz="1800" b="1">
                <a:solidFill>
                  <a:srgbClr val="FF0000"/>
                </a:solidFill>
              </a:rPr>
              <a:t>2）合并</a:t>
            </a:r>
            <a:r>
              <a:rPr lang="zh-CN" altLang="en-US" sz="1800"/>
              <a:t>：如何合并子问题的解以得到原问题的解？许多初学者对此可能容易陷入算法执行过程的细节而导致理不清头绪。基本建议：</a:t>
            </a:r>
            <a:endParaRPr lang="zh-CN" altLang="en-US" sz="1800"/>
          </a:p>
          <a:p>
            <a:pPr lvl="1"/>
            <a:r>
              <a:rPr lang="zh-CN" altLang="en-US" sz="1575" b="1">
                <a:solidFill>
                  <a:srgbClr val="FF0000"/>
                </a:solidFill>
              </a:rPr>
              <a:t>基于子问题的求解正确</a:t>
            </a:r>
            <a:r>
              <a:rPr lang="zh-CN" altLang="en-US" sz="1575"/>
              <a:t>，也就是假设对子问题的递归调用能得到正确的解，基于此来考虑当前问题的求解（进一步对应原问题的求解）：</a:t>
            </a:r>
            <a:endParaRPr lang="zh-CN" altLang="en-US" sz="1575"/>
          </a:p>
          <a:p>
            <a:pPr lvl="1"/>
            <a:r>
              <a:rPr lang="zh-CN" altLang="en-US" sz="1575"/>
              <a:t>如何调用各子问题，如何组织子问题的解来得到原问题的解。</a:t>
            </a:r>
            <a:endParaRPr lang="zh-CN" altLang="en-US" sz="1575"/>
          </a:p>
          <a:p>
            <a:pPr lvl="1"/>
            <a:r>
              <a:rPr lang="zh-CN" altLang="en-US" sz="1575"/>
              <a:t>对初学者来说，特别要注意：既不要重复求解，也不能遗漏、添加解。</a:t>
            </a:r>
            <a:endParaRPr lang="zh-CN" altLang="en-US" sz="1575"/>
          </a:p>
          <a:p>
            <a:pPr marL="0" indent="0">
              <a:buNone/>
            </a:pPr>
            <a:r>
              <a:rPr lang="zh-CN" altLang="en-US" sz="1800" b="1">
                <a:solidFill>
                  <a:srgbClr val="FF0000"/>
                </a:solidFill>
              </a:rPr>
              <a:t>3）递归算法描述</a:t>
            </a:r>
            <a:r>
              <a:rPr lang="zh-CN" altLang="en-US" sz="1800"/>
              <a:t>：许多初学者在表述递归算法时也是容易陷入算法执行过程的细节而导致不敢写。基本建议是，针对给定参数的不同状态，分情况描述：</a:t>
            </a:r>
            <a:endParaRPr lang="zh-CN" altLang="en-US" sz="1800"/>
          </a:p>
          <a:p>
            <a:pPr lvl="1"/>
            <a:r>
              <a:rPr lang="zh-CN" altLang="en-US" sz="1575"/>
              <a:t>针对求解状态是递归出口时的求解；</a:t>
            </a:r>
            <a:endParaRPr lang="zh-CN" altLang="en-US" sz="1575"/>
          </a:p>
          <a:p>
            <a:pPr lvl="1"/>
            <a:r>
              <a:rPr lang="zh-CN" altLang="en-US" sz="1575"/>
              <a:t>否则，基于子问题的求解正确（也就是递归调用能得到正确的解），来考虑当前问题的求解（进一步对应原始问题的求解）：如何调用各子问题，如何组织子问题的解来得到原问题的解。</a:t>
            </a:r>
            <a:endParaRPr lang="zh-CN" altLang="en-US" sz="1575"/>
          </a:p>
          <a:p>
            <a:pPr lvl="1"/>
            <a:r>
              <a:rPr lang="zh-CN" altLang="en-US" sz="1575"/>
              <a:t>特别要注意，这一求解描述适用于递归调用的每一层，因而称为“递归不变式”。</a:t>
            </a:r>
            <a:endParaRPr lang="zh-CN" altLang="en-US" sz="1575"/>
          </a:p>
        </p:txBody>
      </p:sp>
      <p:sp>
        <p:nvSpPr>
          <p:cNvPr id="4" name="页脚占位符 3"/>
          <p:cNvSpPr>
            <a:spLocks noGrp="1"/>
          </p:cNvSpPr>
          <p:nvPr>
            <p:ph type="ftr" sz="quarter" idx="3"/>
          </p:nvPr>
        </p:nvSpPr>
        <p:spPr/>
        <p:txBody>
          <a:bodyPr/>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a:sym typeface="+mn-ea"/>
              </a:rPr>
              <a:t>7.7.2 </a:t>
            </a:r>
            <a:r>
              <a:rPr lang="zh-CN" altLang="en-US" dirty="0">
                <a:sym typeface="+mn-ea"/>
              </a:rPr>
              <a:t>递归算法设计举例</a:t>
            </a:r>
            <a:endParaRPr lang="zh-CN" altLang="en-US"/>
          </a:p>
        </p:txBody>
      </p:sp>
      <p:sp>
        <p:nvSpPr>
          <p:cNvPr id="3" name="内容占位符 2"/>
          <p:cNvSpPr>
            <a:spLocks noGrp="1"/>
          </p:cNvSpPr>
          <p:nvPr>
            <p:ph idx="1"/>
          </p:nvPr>
        </p:nvSpPr>
        <p:spPr/>
        <p:txBody>
          <a:bodyPr/>
          <a:p>
            <a:pPr marL="0" indent="0">
              <a:buNone/>
            </a:pPr>
            <a:r>
              <a:rPr lang="zh-CN" altLang="en-US" sz="2000" b="1" dirty="0">
                <a:solidFill>
                  <a:srgbClr val="0000FF"/>
                </a:solidFill>
                <a:ea typeface="宋体" panose="02010600030101010101" pitchFamily="2" charset="-122"/>
              </a:rPr>
              <a:t>（2）分治法递归算法设计要点</a:t>
            </a:r>
            <a:endParaRPr lang="zh-CN" altLang="en-US" sz="2000" b="1" dirty="0">
              <a:solidFill>
                <a:srgbClr val="0000FF"/>
              </a:solidFill>
              <a:ea typeface="宋体" panose="02010600030101010101" pitchFamily="2" charset="-122"/>
            </a:endParaRPr>
          </a:p>
          <a:p>
            <a:pPr marL="0" indent="0">
              <a:buNone/>
            </a:pPr>
            <a:r>
              <a:rPr lang="zh-CN" altLang="en-US" sz="2000"/>
              <a:t>例如，求最大公因子的函数</a:t>
            </a:r>
            <a:endParaRPr lang="zh-CN" altLang="en-US" sz="2000"/>
          </a:p>
          <a:p>
            <a:pPr marL="0" indent="0">
              <a:buNone/>
            </a:pPr>
            <a:r>
              <a:rPr lang="zh-CN" altLang="en-US" sz="2000"/>
              <a:t>int hcf(int m,int n){</a:t>
            </a:r>
            <a:endParaRPr lang="zh-CN" altLang="en-US" sz="2000"/>
          </a:p>
          <a:p>
            <a:pPr marL="0" indent="0">
              <a:buNone/>
            </a:pPr>
            <a:r>
              <a:rPr lang="zh-CN" altLang="en-US" sz="2000"/>
              <a:t>  if  (n==0) </a:t>
            </a:r>
            <a:endParaRPr lang="zh-CN" altLang="en-US" sz="2000"/>
          </a:p>
          <a:p>
            <a:pPr marL="0" indent="0">
              <a:buNone/>
            </a:pPr>
            <a:r>
              <a:rPr lang="zh-CN" altLang="en-US" sz="2000"/>
              <a:t>       return m;             //针对求解状态是递归出口时的求解</a:t>
            </a:r>
            <a:endParaRPr lang="zh-CN" altLang="en-US" sz="2000"/>
          </a:p>
          <a:p>
            <a:pPr marL="0" indent="0">
              <a:buNone/>
            </a:pPr>
            <a:r>
              <a:rPr lang="zh-CN" altLang="en-US" sz="2000"/>
              <a:t>    else  return hcf(n, m %n);  //由递归调用所得到的结果作为本层函数的解</a:t>
            </a:r>
            <a:endParaRPr lang="zh-CN" altLang="en-US" sz="2000"/>
          </a:p>
          <a:p>
            <a:pPr marL="0" indent="0">
              <a:buNone/>
            </a:pPr>
            <a:r>
              <a:rPr lang="zh-CN" altLang="en-US" sz="2000"/>
              <a:t>}</a:t>
            </a:r>
            <a:endParaRPr lang="zh-CN" altLang="en-US" sz="2000"/>
          </a:p>
          <a:p>
            <a:pPr marL="0" indent="0">
              <a:buNone/>
            </a:pPr>
            <a:r>
              <a:rPr lang="zh-CN" altLang="en-US" sz="2000"/>
              <a:t>从此描述可见，好像只是针对当前“一层”来描述的。</a:t>
            </a:r>
            <a:endParaRPr lang="zh-CN" altLang="en-US" sz="2000"/>
          </a:p>
          <a:p>
            <a:pPr marL="0" indent="0">
              <a:buNone/>
            </a:pPr>
            <a:r>
              <a:rPr lang="zh-CN" altLang="en-US" sz="2000"/>
              <a:t>但这个描述对相关参数的每一层都管用。</a:t>
            </a:r>
            <a:endParaRPr lang="zh-CN" altLang="en-US" sz="2000"/>
          </a:p>
          <a:p>
            <a:pPr marL="0" indent="0">
              <a:buNone/>
            </a:pPr>
            <a:r>
              <a:rPr lang="zh-CN" altLang="en-US" sz="2000"/>
              <a:t>这就构成了此问题求解的</a:t>
            </a:r>
            <a:r>
              <a:rPr lang="zh-CN" altLang="en-US" sz="2000" b="1">
                <a:solidFill>
                  <a:srgbClr val="FF0000"/>
                </a:solidFill>
              </a:rPr>
              <a:t>递归不变式</a:t>
            </a:r>
            <a:r>
              <a:rPr lang="zh-CN" altLang="en-US" sz="2000"/>
              <a:t>。</a:t>
            </a:r>
            <a:endParaRPr lang="zh-CN" altLang="en-US" sz="2000"/>
          </a:p>
        </p:txBody>
      </p:sp>
      <p:sp>
        <p:nvSpPr>
          <p:cNvPr id="4" name="页脚占位符 3"/>
          <p:cNvSpPr>
            <a:spLocks noGrp="1"/>
          </p:cNvSpPr>
          <p:nvPr>
            <p:ph type="ftr" sz="quarter" idx="3"/>
          </p:nvPr>
        </p:nvSpPr>
        <p:spPr/>
        <p:txBody>
          <a:bodyPr/>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7987" y="1512515"/>
            <a:ext cx="8229600" cy="4678451"/>
          </a:xfrm>
          <a:ln>
            <a:miter/>
          </a:ln>
        </p:spPr>
        <p:txBody>
          <a:bodyPr/>
          <a:lstStyle/>
          <a:p>
            <a:pPr>
              <a:buClr>
                <a:srgbClr val="FF0000"/>
              </a:buClr>
              <a:buFont typeface="Wingdings" panose="05000000000000000000" pitchFamily="2" charset="2"/>
              <a:buChar char="ü"/>
              <a:defRPr/>
            </a:pPr>
            <a:r>
              <a:rPr lang="zh-CN" altLang="en-US" sz="2000" noProof="1">
                <a:solidFill>
                  <a:srgbClr val="FF0000"/>
                </a:solidFill>
              </a:rPr>
              <a:t>例: 八皇后问题</a:t>
            </a:r>
            <a:r>
              <a:rPr lang="zh-CN" altLang="en-US" sz="2000" noProof="1"/>
              <a:t>：设计算法在国际象棋棋盘上放置八个皇后, 以使其中任意两个不能互相吃掉对方。</a:t>
            </a:r>
            <a:endParaRPr lang="zh-CN" altLang="en-US" sz="2000" noProof="1"/>
          </a:p>
          <a:p>
            <a:pPr lvl="1" indent="-436245">
              <a:buClr>
                <a:srgbClr val="FF0000"/>
              </a:buClr>
              <a:defRPr/>
            </a:pPr>
            <a:r>
              <a:rPr lang="zh-CN" altLang="en-US" sz="1865" noProof="1"/>
              <a:t>解：由国际象棋的规则可知，在棋盘的每行、每列及每条对角线上只能放置一个棋子方能满足上述条件。</a:t>
            </a:r>
            <a:endParaRPr lang="zh-CN" altLang="en-US" sz="1865" noProof="1"/>
          </a:p>
          <a:p>
            <a:pPr lvl="1" indent="-436245">
              <a:buClr>
                <a:srgbClr val="FF0000"/>
              </a:buClr>
              <a:defRPr/>
            </a:pPr>
            <a:r>
              <a:rPr lang="zh-CN" altLang="en-US" sz="1865" noProof="1"/>
              <a:t>因此，本题可这样进行：依次在每行（列）中试探着找一个合适的位置来放置棋子（此处不妨逐列试探），要求能和已放置的棋子相容，然后再继续往下搜索。</a:t>
            </a:r>
            <a:endParaRPr lang="zh-CN" altLang="en-US" sz="1865" noProof="1"/>
          </a:p>
          <a:p>
            <a:pPr lvl="1" indent="-436245">
              <a:buClr>
                <a:srgbClr val="FF0000"/>
              </a:buClr>
              <a:defRPr/>
            </a:pPr>
            <a:r>
              <a:rPr lang="zh-CN" altLang="en-US" sz="1865" noProof="1"/>
              <a:t>若本列没有合适的位置，则说明其前面的放置方法不合适，因而需要重新放置，即需要将原来所放的棋子去掉，再重新往下试探。</a:t>
            </a:r>
            <a:endParaRPr lang="zh-CN" altLang="en-US" sz="1865" noProof="1"/>
          </a:p>
          <a:p>
            <a:pPr lvl="1" indent="-436245">
              <a:buClr>
                <a:srgbClr val="FF0000"/>
              </a:buClr>
              <a:defRPr/>
            </a:pPr>
            <a:r>
              <a:rPr lang="zh-CN" altLang="en-US" sz="1865" noProof="1"/>
              <a:t>去掉的次序按照最后试探的棋子最先去掉的原则进行（类似于图的深度遍历算法中的回溯）。</a:t>
            </a:r>
            <a:endParaRPr lang="zh-CN" altLang="en-US" sz="1865" noProof="1"/>
          </a:p>
          <a:p>
            <a:pPr lvl="1" indent="-436245">
              <a:buClr>
                <a:srgbClr val="FF0000"/>
              </a:buClr>
              <a:defRPr/>
            </a:pPr>
            <a:r>
              <a:rPr lang="zh-CN" altLang="en-US" sz="1865" noProof="1"/>
              <a:t>重复这一操作过程，直到所放棋子满足条件为止。</a:t>
            </a:r>
            <a:endParaRPr lang="zh-CN" altLang="en-US" sz="1865" noProof="1"/>
          </a:p>
        </p:txBody>
      </p:sp>
      <p:grpSp>
        <p:nvGrpSpPr>
          <p:cNvPr id="5" name="组合 4"/>
          <p:cNvGrpSpPr/>
          <p:nvPr/>
        </p:nvGrpSpPr>
        <p:grpSpPr>
          <a:xfrm>
            <a:off x="-612576" y="116632"/>
            <a:ext cx="7416824" cy="648129"/>
            <a:chOff x="-180528" y="5152869"/>
            <a:chExt cx="7243325" cy="526322"/>
          </a:xfrm>
        </p:grpSpPr>
        <p:grpSp>
          <p:nvGrpSpPr>
            <p:cNvPr id="6" name="组合 5"/>
            <p:cNvGrpSpPr/>
            <p:nvPr/>
          </p:nvGrpSpPr>
          <p:grpSpPr>
            <a:xfrm>
              <a:off x="-180528" y="5152869"/>
              <a:ext cx="7243325" cy="526322"/>
              <a:chOff x="-240188" y="5778644"/>
              <a:chExt cx="7889473" cy="689206"/>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4" name="矩形 3"/>
          <p:cNvSpPr/>
          <p:nvPr/>
        </p:nvSpPr>
        <p:spPr>
          <a:xfrm>
            <a:off x="507987" y="1032384"/>
            <a:ext cx="4254691" cy="480131"/>
          </a:xfrm>
          <a:prstGeom prst="rect">
            <a:avLst/>
          </a:prstGeom>
        </p:spPr>
        <p:txBody>
          <a:bodyPr wrap="none">
            <a:spAutoFit/>
          </a:bodyPr>
          <a:lstStyle/>
          <a:p>
            <a:pPr>
              <a:lnSpc>
                <a:spcPct val="90000"/>
              </a:lnSpc>
              <a:buClr>
                <a:srgbClr val="FF0000"/>
              </a:buClr>
              <a:buFont typeface="Wingdings" panose="05000000000000000000" pitchFamily="2" charset="2"/>
              <a:buChar char="Ø"/>
            </a:pPr>
            <a:r>
              <a:rPr lang="en-US" altLang="zh-CN" sz="2800" b="1" dirty="0"/>
              <a:t>7.7.2 </a:t>
            </a:r>
            <a:r>
              <a:rPr lang="zh-CN" altLang="en-US" sz="2800" b="1" dirty="0"/>
              <a:t>递归算法设计举例</a:t>
            </a:r>
            <a:endParaRPr lang="zh-CN" altLang="en-US" sz="2800" b="1" dirty="0"/>
          </a:p>
        </p:txBody>
      </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linds(horizontal)">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blinds(horizontal)">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blinds(horizontal)">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blinds(horizontal)">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blinds(horizontal)">
                                      <p:cBhvr>
                                        <p:cTn id="31" dur="500"/>
                                        <p:tgtEl>
                                          <p:spTgt spid="3">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blinds(horizontal)">
                                      <p:cBhvr>
                                        <p:cTn id="3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noChangeArrowheads="1"/>
          </p:cNvSpPr>
          <p:nvPr>
            <p:ph idx="1"/>
          </p:nvPr>
        </p:nvSpPr>
        <p:spPr>
          <a:xfrm>
            <a:off x="467544" y="980728"/>
            <a:ext cx="8229600" cy="5112568"/>
          </a:xfrm>
        </p:spPr>
        <p:txBody>
          <a:bodyPr/>
          <a:lstStyle/>
          <a:p>
            <a:pPr>
              <a:spcBef>
                <a:spcPts val="0"/>
              </a:spcBef>
              <a:buClr>
                <a:srgbClr val="FF0000"/>
              </a:buClr>
              <a:buFont typeface="Wingdings" panose="05000000000000000000" pitchFamily="2" charset="2"/>
              <a:buChar char="n"/>
              <a:defRPr/>
            </a:pPr>
            <a:r>
              <a:rPr lang="zh-CN" altLang="en-US" sz="2400" b="1" noProof="1"/>
              <a:t>由此可知，本题算法可用递归方式来描述。算法所需的参数如下：</a:t>
            </a:r>
            <a:endParaRPr lang="zh-CN" altLang="en-US" sz="2400" b="1" noProof="1"/>
          </a:p>
          <a:p>
            <a:pPr marL="307975" lvl="1" indent="0">
              <a:spcBef>
                <a:spcPts val="0"/>
              </a:spcBef>
              <a:buClr>
                <a:srgbClr val="FF0000"/>
              </a:buClr>
              <a:buNone/>
              <a:defRPr/>
            </a:pPr>
            <a:r>
              <a:rPr lang="zh-CN" altLang="en-US" sz="2400" b="1" noProof="1"/>
              <a:t>      (1) 当前正在试探的列号（不妨用</a:t>
            </a:r>
            <a:r>
              <a:rPr lang="en-US" altLang="zh-CN" sz="2400" b="1" i="1" dirty="0"/>
              <a:t>j</a:t>
            </a:r>
            <a:r>
              <a:rPr lang="zh-CN" altLang="en-US" sz="2400" b="1" i="1" noProof="1">
                <a:cs typeface="Times New Roman" panose="02020603050405020304" pitchFamily="18" charset="0"/>
              </a:rPr>
              <a:t> </a:t>
            </a:r>
            <a:r>
              <a:rPr lang="zh-CN" altLang="en-US" sz="2400" b="1" noProof="1"/>
              <a:t>表示）；</a:t>
            </a:r>
            <a:endParaRPr lang="zh-CN" altLang="en-US" sz="2400" b="1" noProof="1"/>
          </a:p>
          <a:p>
            <a:pPr marL="307975" lvl="1" indent="0">
              <a:spcBef>
                <a:spcPts val="0"/>
              </a:spcBef>
              <a:buClr>
                <a:srgbClr val="FF0000"/>
              </a:buClr>
              <a:buNone/>
              <a:defRPr/>
            </a:pPr>
            <a:r>
              <a:rPr lang="zh-CN" altLang="en-US" sz="2400" b="1" noProof="1"/>
              <a:t>      (2) 已经存放的各棋子；</a:t>
            </a:r>
            <a:endParaRPr lang="zh-CN" altLang="en-US" sz="2400" b="1" noProof="1"/>
          </a:p>
          <a:p>
            <a:pPr marL="307975" lvl="1" indent="0">
              <a:spcBef>
                <a:spcPts val="0"/>
              </a:spcBef>
              <a:buClr>
                <a:srgbClr val="FF0000"/>
              </a:buClr>
              <a:buNone/>
              <a:defRPr/>
            </a:pPr>
            <a:r>
              <a:rPr lang="zh-CN" altLang="en-US" sz="2400" b="1" noProof="1"/>
              <a:t>      (3) 考虑到通用性, 将棋盘的行列数ｎ作为一参数。</a:t>
            </a:r>
            <a:endParaRPr lang="zh-CN" altLang="en-US" sz="2400" b="1" noProof="1"/>
          </a:p>
          <a:p>
            <a:pPr lvl="1" indent="-434975">
              <a:spcBef>
                <a:spcPts val="0"/>
              </a:spcBef>
              <a:buClr>
                <a:srgbClr val="FF0000"/>
              </a:buClr>
              <a:buFont typeface="Wingdings" panose="05000000000000000000" pitchFamily="2" charset="2"/>
              <a:buChar char="l"/>
              <a:defRPr/>
            </a:pPr>
            <a:r>
              <a:rPr lang="zh-CN" altLang="en-US" sz="2400" b="1" noProof="1"/>
              <a:t>算法简单描述如下：</a:t>
            </a:r>
            <a:endParaRPr lang="zh-CN" altLang="en-US" sz="2400" b="1" noProof="1"/>
          </a:p>
          <a:p>
            <a:pPr lvl="1" indent="-434975">
              <a:spcBef>
                <a:spcPts val="0"/>
              </a:spcBef>
              <a:buClr>
                <a:srgbClr val="FF0000"/>
              </a:buClr>
              <a:defRPr/>
            </a:pPr>
            <a:r>
              <a:rPr lang="zh-CN" altLang="en-US" sz="2400" b="1" noProof="1"/>
              <a:t>若</a:t>
            </a:r>
            <a:r>
              <a:rPr lang="en-US" altLang="zh-CN" sz="2400" b="1" i="1" dirty="0"/>
              <a:t>j </a:t>
            </a:r>
            <a:r>
              <a:rPr lang="zh-CN" altLang="en-US" sz="2400" b="1" noProof="1"/>
              <a:t>＞８（更一般地为</a:t>
            </a:r>
            <a:r>
              <a:rPr lang="en-US" altLang="zh-CN" sz="2400" b="1" i="1" dirty="0"/>
              <a:t>n </a:t>
            </a:r>
            <a:r>
              <a:rPr lang="zh-CN" altLang="en-US" sz="2400" b="1" noProof="1"/>
              <a:t>），说明已经找到了一种合适的放置方法，则要输出；</a:t>
            </a:r>
            <a:endParaRPr lang="zh-CN" altLang="en-US" sz="2400" b="1" noProof="1"/>
          </a:p>
          <a:p>
            <a:pPr lvl="1" indent="-434975">
              <a:spcBef>
                <a:spcPts val="0"/>
              </a:spcBef>
              <a:buClr>
                <a:srgbClr val="FF0000"/>
              </a:buClr>
              <a:defRPr/>
            </a:pPr>
            <a:r>
              <a:rPr lang="zh-CN" altLang="en-US" sz="2400" b="1" noProof="1"/>
              <a:t>否则，在第ｊ列中进行试探：</a:t>
            </a:r>
            <a:endParaRPr lang="zh-CN" altLang="en-US" sz="2400" b="1" noProof="1"/>
          </a:p>
          <a:p>
            <a:pPr lvl="2" indent="-393700">
              <a:spcBef>
                <a:spcPts val="0"/>
              </a:spcBef>
              <a:buClr>
                <a:srgbClr val="FF0000"/>
              </a:buClr>
              <a:defRPr/>
            </a:pPr>
            <a:r>
              <a:rPr lang="zh-CN" altLang="en-US" b="1" noProof="1"/>
              <a:t>若找到了合适的位置，可继续其后面的试探，否则回溯。</a:t>
            </a:r>
            <a:endParaRPr lang="en-US" altLang="zh-CN" b="1" noProof="1"/>
          </a:p>
          <a:p>
            <a:pPr lvl="2" indent="-393700">
              <a:defRPr/>
            </a:pPr>
            <a:endParaRPr lang="zh-CN" altLang="en-US" sz="1800" noProof="1">
              <a:latin typeface="宋体" panose="02010600030101010101" pitchFamily="2" charset="-122"/>
              <a:ea typeface="宋体" panose="02010600030101010101" pitchFamily="2" charset="-122"/>
            </a:endParaRPr>
          </a:p>
        </p:txBody>
      </p:sp>
      <p:grpSp>
        <p:nvGrpSpPr>
          <p:cNvPr id="5" name="组合 4"/>
          <p:cNvGrpSpPr/>
          <p:nvPr/>
        </p:nvGrpSpPr>
        <p:grpSpPr>
          <a:xfrm>
            <a:off x="-612576" y="116632"/>
            <a:ext cx="7416824" cy="648129"/>
            <a:chOff x="-180528" y="5152869"/>
            <a:chExt cx="7243325" cy="526322"/>
          </a:xfrm>
        </p:grpSpPr>
        <p:grpSp>
          <p:nvGrpSpPr>
            <p:cNvPr id="6" name="组合 5"/>
            <p:cNvGrpSpPr/>
            <p:nvPr/>
          </p:nvGrpSpPr>
          <p:grpSpPr>
            <a:xfrm>
              <a:off x="-180528" y="5152869"/>
              <a:ext cx="7243325" cy="526322"/>
              <a:chOff x="-240188" y="5778644"/>
              <a:chExt cx="7889473" cy="689206"/>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noChangeArrowheads="1"/>
          </p:cNvSpPr>
          <p:nvPr>
            <p:ph idx="1"/>
          </p:nvPr>
        </p:nvSpPr>
        <p:spPr>
          <a:xfrm>
            <a:off x="467544" y="980728"/>
            <a:ext cx="8229600" cy="5112568"/>
          </a:xfrm>
        </p:spPr>
        <p:txBody>
          <a:bodyPr/>
          <a:lstStyle/>
          <a:p>
            <a:pPr>
              <a:spcBef>
                <a:spcPts val="1200"/>
              </a:spcBef>
              <a:buClr>
                <a:srgbClr val="FF0000"/>
              </a:buClr>
              <a:buFont typeface="Wingdings" panose="05000000000000000000" pitchFamily="2" charset="2"/>
              <a:buChar char="n"/>
              <a:defRPr/>
            </a:pPr>
            <a:r>
              <a:rPr lang="zh-CN" altLang="en-US" sz="2400" noProof="1"/>
              <a:t>在实现时，需要注意以下问题的解决：</a:t>
            </a:r>
            <a:endParaRPr lang="zh-CN" altLang="en-US" sz="2400" noProof="1"/>
          </a:p>
          <a:p>
            <a:pPr marL="306705" lvl="1" indent="0">
              <a:spcBef>
                <a:spcPts val="1200"/>
              </a:spcBef>
              <a:buClr>
                <a:srgbClr val="FF0000"/>
              </a:buClr>
              <a:buNone/>
              <a:defRPr/>
            </a:pPr>
            <a:r>
              <a:rPr lang="zh-CN" altLang="en-US" sz="2400" noProof="1"/>
              <a:t>      (1) 如何表示棋盘中放置的棋子；</a:t>
            </a:r>
            <a:endParaRPr lang="zh-CN" altLang="en-US" sz="2400" noProof="1"/>
          </a:p>
          <a:p>
            <a:pPr marL="306705" lvl="1" indent="0">
              <a:spcBef>
                <a:spcPts val="1200"/>
              </a:spcBef>
              <a:buClr>
                <a:srgbClr val="FF0000"/>
              </a:buClr>
              <a:buNone/>
              <a:defRPr/>
            </a:pPr>
            <a:r>
              <a:rPr lang="zh-CN" altLang="en-US" sz="2400" noProof="1"/>
              <a:t>      (2) 某位置能放置一个棋子的条件；</a:t>
            </a:r>
            <a:endParaRPr lang="zh-CN" altLang="en-US" sz="2400" noProof="1"/>
          </a:p>
          <a:p>
            <a:pPr marL="306705" lvl="1" indent="0">
              <a:spcBef>
                <a:spcPts val="1200"/>
              </a:spcBef>
              <a:buClr>
                <a:srgbClr val="FF0000"/>
              </a:buClr>
              <a:buNone/>
              <a:defRPr/>
            </a:pPr>
            <a:r>
              <a:rPr lang="zh-CN" altLang="en-US" sz="2400" noProof="1"/>
              <a:t>      (3) 前面的放置不行时，如何重新放置；</a:t>
            </a:r>
            <a:endParaRPr lang="zh-CN" altLang="en-US" sz="2400" noProof="1"/>
          </a:p>
          <a:p>
            <a:pPr lvl="1" indent="-436245">
              <a:spcBef>
                <a:spcPts val="1200"/>
              </a:spcBef>
              <a:buClr>
                <a:srgbClr val="FF0000"/>
              </a:buClr>
              <a:defRPr/>
            </a:pPr>
            <a:r>
              <a:rPr lang="zh-CN" altLang="en-US" sz="2400" noProof="1"/>
              <a:t>对第一个问题，最简单最直接的表示方法是用一个二维数组表示棋盘，这样在棋盘上放置一个棋子时，需在二维数组对应的位置上赋一个合适的值。</a:t>
            </a:r>
            <a:endParaRPr lang="zh-CN" altLang="en-US" sz="2400" noProof="1"/>
          </a:p>
          <a:p>
            <a:pPr lvl="1" indent="-436245">
              <a:spcBef>
                <a:spcPts val="1200"/>
              </a:spcBef>
              <a:buClr>
                <a:srgbClr val="FF0000"/>
              </a:buClr>
              <a:defRPr/>
            </a:pPr>
            <a:r>
              <a:rPr lang="zh-CN" altLang="en-US" sz="2400" noProof="1"/>
              <a:t>这种表示方法虽然直观，但较浪费时间和空间，因而不采用。</a:t>
            </a:r>
            <a:endParaRPr lang="zh-CN" altLang="en-US" sz="2400" noProof="1"/>
          </a:p>
          <a:p>
            <a:pPr lvl="2" indent="-393700">
              <a:spcBef>
                <a:spcPts val="1200"/>
              </a:spcBef>
              <a:defRPr/>
            </a:pPr>
            <a:endParaRPr lang="zh-CN" altLang="en-US" noProof="1">
              <a:latin typeface="宋体" panose="02010600030101010101" pitchFamily="2" charset="-122"/>
              <a:ea typeface="宋体" panose="02010600030101010101" pitchFamily="2" charset="-122"/>
            </a:endParaRPr>
          </a:p>
        </p:txBody>
      </p:sp>
      <p:grpSp>
        <p:nvGrpSpPr>
          <p:cNvPr id="5" name="组合 4"/>
          <p:cNvGrpSpPr/>
          <p:nvPr/>
        </p:nvGrpSpPr>
        <p:grpSpPr>
          <a:xfrm>
            <a:off x="-612576" y="116632"/>
            <a:ext cx="7416824" cy="648129"/>
            <a:chOff x="-180528" y="5152869"/>
            <a:chExt cx="7243325" cy="526322"/>
          </a:xfrm>
        </p:grpSpPr>
        <p:grpSp>
          <p:nvGrpSpPr>
            <p:cNvPr id="6" name="组合 5"/>
            <p:cNvGrpSpPr/>
            <p:nvPr/>
          </p:nvGrpSpPr>
          <p:grpSpPr>
            <a:xfrm>
              <a:off x="-180528" y="5152869"/>
              <a:ext cx="7243325" cy="526322"/>
              <a:chOff x="-240188" y="5778644"/>
              <a:chExt cx="7889473" cy="689206"/>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50620" y="1051719"/>
            <a:ext cx="8207375" cy="4681537"/>
          </a:xfrm>
          <a:ln>
            <a:miter/>
          </a:ln>
        </p:spPr>
        <p:txBody>
          <a:bodyPr/>
          <a:lstStyle/>
          <a:p>
            <a:pPr>
              <a:buClr>
                <a:srgbClr val="FF0000"/>
              </a:buClr>
              <a:buFont typeface="Wingdings" panose="05000000000000000000" pitchFamily="2" charset="2"/>
              <a:buChar char="n"/>
              <a:defRPr/>
            </a:pPr>
            <a:r>
              <a:rPr lang="zh-CN" altLang="en-US" sz="2000" noProof="1"/>
              <a:t>另一种方法是利用本题的解的特点：由于每行、列及对角线上只能有一个棋子，因而对每列来说只需记录该列中的棋子所在的行号，因而用一维数组即可。如下面棋盘中的所放棋子及表示如下：</a:t>
            </a:r>
            <a:endParaRPr lang="zh-CN" altLang="en-US" sz="2000" noProof="1"/>
          </a:p>
          <a:p>
            <a:pPr>
              <a:defRPr/>
            </a:pPr>
            <a:endParaRPr lang="zh-CN" altLang="en-US" sz="2000" noProof="1"/>
          </a:p>
          <a:p>
            <a:pPr>
              <a:defRPr/>
            </a:pPr>
            <a:endParaRPr lang="zh-CN" altLang="en-US" sz="2000" noProof="1"/>
          </a:p>
          <a:p>
            <a:pPr>
              <a:defRPr/>
            </a:pPr>
            <a:endParaRPr lang="zh-CN" altLang="en-US" sz="2000" noProof="1"/>
          </a:p>
          <a:p>
            <a:pPr>
              <a:defRPr/>
            </a:pPr>
            <a:endParaRPr lang="zh-CN" altLang="en-US" sz="2000" noProof="1"/>
          </a:p>
          <a:p>
            <a:pPr>
              <a:defRPr/>
            </a:pPr>
            <a:endParaRPr lang="zh-CN" altLang="en-US" sz="2000" noProof="1"/>
          </a:p>
          <a:p>
            <a:pPr>
              <a:defRPr/>
            </a:pPr>
            <a:endParaRPr lang="en-US" altLang="zh-CN" sz="2000" noProof="1"/>
          </a:p>
          <a:p>
            <a:pPr>
              <a:spcBef>
                <a:spcPts val="0"/>
              </a:spcBef>
              <a:defRPr/>
            </a:pPr>
            <a:endParaRPr lang="zh-CN" altLang="en-US" sz="2000" noProof="1"/>
          </a:p>
          <a:p>
            <a:pPr marL="0" indent="0" algn="ctr">
              <a:buFont typeface="Wingdings" panose="05000000000000000000" pitchFamily="2" charset="2"/>
              <a:buNone/>
              <a:defRPr/>
            </a:pPr>
            <a:r>
              <a:rPr lang="zh-CN" altLang="en-US" sz="2000" noProof="1"/>
              <a:t> (1，5，8，6，3，7，2，4)</a:t>
            </a:r>
            <a:endParaRPr lang="en-US" altLang="zh-CN" sz="2000" noProof="1"/>
          </a:p>
          <a:p>
            <a:pPr marL="0" indent="0" algn="ctr">
              <a:buFont typeface="Wingdings" panose="05000000000000000000" pitchFamily="2" charset="2"/>
              <a:buNone/>
              <a:defRPr/>
            </a:pPr>
            <a:r>
              <a:rPr lang="zh-CN" altLang="en-US" sz="2000" b="1" noProof="1">
                <a:solidFill>
                  <a:srgbClr val="0000FF"/>
                </a:solidFill>
              </a:rPr>
              <a:t>八皇后问题表示示例</a:t>
            </a:r>
            <a:endParaRPr lang="zh-CN" altLang="en-US" sz="2000" b="1" noProof="1">
              <a:solidFill>
                <a:srgbClr val="0000FF"/>
              </a:solidFill>
            </a:endParaRPr>
          </a:p>
          <a:p>
            <a:pPr>
              <a:buClr>
                <a:srgbClr val="FF0000"/>
              </a:buClr>
              <a:defRPr/>
            </a:pPr>
            <a:r>
              <a:rPr lang="zh-CN" altLang="en-US" sz="2000" noProof="1"/>
              <a:t>在这种表示下，某位置（</a:t>
            </a:r>
            <a:r>
              <a:rPr lang="zh-CN" altLang="en-US" sz="2000" i="1" noProof="1"/>
              <a:t>i</a:t>
            </a:r>
            <a:r>
              <a:rPr lang="zh-CN" altLang="en-US" sz="2000" noProof="1"/>
              <a:t>, </a:t>
            </a:r>
            <a:r>
              <a:rPr lang="zh-CN" altLang="en-US" sz="2000" i="1" noProof="1"/>
              <a:t>j</a:t>
            </a:r>
            <a:r>
              <a:rPr lang="zh-CN" altLang="en-US" sz="2000" noProof="1"/>
              <a:t>）是否可以放置棋子的条件取决于其前面各列的棋子的位置。</a:t>
            </a:r>
            <a:endParaRPr lang="zh-CN" altLang="en-US" sz="2000" noProof="1"/>
          </a:p>
        </p:txBody>
      </p:sp>
      <p:graphicFrame>
        <p:nvGraphicFramePr>
          <p:cNvPr id="2" name="表格 -1"/>
          <p:cNvGraphicFramePr/>
          <p:nvPr/>
        </p:nvGraphicFramePr>
        <p:xfrm>
          <a:off x="3348038" y="2452688"/>
          <a:ext cx="2016125" cy="1952624"/>
        </p:xfrm>
        <a:graphic>
          <a:graphicData uri="http://schemas.openxmlformats.org/drawingml/2006/table">
            <a:tbl>
              <a:tblPr firstRow="1" bandRow="1">
                <a:tableStyleId>{5940675A-B579-460E-94D1-54222C63F5DA}</a:tableStyleId>
              </a:tblPr>
              <a:tblGrid>
                <a:gridCol w="252413"/>
                <a:gridCol w="252412"/>
                <a:gridCol w="250825"/>
                <a:gridCol w="252413"/>
                <a:gridCol w="252412"/>
                <a:gridCol w="252730"/>
                <a:gridCol w="252095"/>
                <a:gridCol w="250825"/>
              </a:tblGrid>
              <a:tr h="244078">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Q</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B050"/>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r>
              <a:tr h="244078">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Q</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B050"/>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r>
              <a:tr h="244078">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Q</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B050"/>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r>
              <a:tr h="244078">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Q</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B050"/>
                    </a:solidFill>
                  </a:tcPr>
                </a:tc>
              </a:tr>
              <a:tr h="244078">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Q</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B050"/>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r>
              <a:tr h="244078">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Q</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B050"/>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r>
              <a:tr h="244078">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Q</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B050"/>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r>
              <a:tr h="244078">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Q</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B050"/>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endParaRPr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r>
            </a:tbl>
          </a:graphicData>
        </a:graphic>
      </p:graphicFrame>
      <p:sp>
        <p:nvSpPr>
          <p:cNvPr id="4" name="椭圆 3"/>
          <p:cNvSpPr/>
          <p:nvPr/>
        </p:nvSpPr>
        <p:spPr>
          <a:xfrm>
            <a:off x="3581400" y="3392488"/>
            <a:ext cx="287338" cy="360362"/>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 name="椭圆 7"/>
          <p:cNvSpPr/>
          <p:nvPr/>
        </p:nvSpPr>
        <p:spPr>
          <a:xfrm>
            <a:off x="3535363" y="4476750"/>
            <a:ext cx="333375" cy="39608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矩形 6"/>
          <p:cNvSpPr/>
          <p:nvPr/>
        </p:nvSpPr>
        <p:spPr>
          <a:xfrm>
            <a:off x="1222375" y="3645024"/>
            <a:ext cx="1727200" cy="64807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ln w="0"/>
                <a:solidFill>
                  <a:schemeClr val="tx1"/>
                </a:solidFill>
                <a:effectLst>
                  <a:outerShdw blurRad="38100" dist="19050" dir="2700000" algn="tl" rotWithShape="0">
                    <a:schemeClr val="dk1">
                      <a:alpha val="40000"/>
                    </a:schemeClr>
                  </a:outerShdw>
                </a:effectLst>
              </a:rPr>
              <a:t>对应第</a:t>
            </a:r>
            <a:r>
              <a:rPr lang="en-US" altLang="zh-CN" dirty="0">
                <a:ln w="0"/>
                <a:solidFill>
                  <a:schemeClr val="tx1"/>
                </a:solidFill>
                <a:effectLst>
                  <a:outerShdw blurRad="38100" dist="19050" dir="2700000" algn="tl" rotWithShape="0">
                    <a:schemeClr val="dk1">
                      <a:alpha val="40000"/>
                    </a:schemeClr>
                  </a:outerShdw>
                </a:effectLst>
              </a:rPr>
              <a:t>2</a:t>
            </a:r>
            <a:r>
              <a:rPr lang="zh-CN" altLang="en-US" dirty="0">
                <a:ln w="0"/>
                <a:solidFill>
                  <a:schemeClr val="tx1"/>
                </a:solidFill>
                <a:effectLst>
                  <a:outerShdw blurRad="38100" dist="19050" dir="2700000" algn="tl" rotWithShape="0">
                    <a:schemeClr val="dk1">
                      <a:alpha val="40000"/>
                    </a:schemeClr>
                  </a:outerShdw>
                </a:effectLst>
              </a:rPr>
              <a:t>列第</a:t>
            </a:r>
            <a:r>
              <a:rPr lang="en-US" altLang="zh-CN" dirty="0">
                <a:ln w="0"/>
                <a:solidFill>
                  <a:schemeClr val="tx1"/>
                </a:solidFill>
                <a:effectLst>
                  <a:outerShdw blurRad="38100" dist="19050" dir="2700000" algn="tl" rotWithShape="0">
                    <a:schemeClr val="dk1">
                      <a:alpha val="40000"/>
                    </a:schemeClr>
                  </a:outerShdw>
                </a:effectLst>
              </a:rPr>
              <a:t>5</a:t>
            </a:r>
            <a:r>
              <a:rPr lang="zh-CN" altLang="en-US" dirty="0">
                <a:ln w="0"/>
                <a:solidFill>
                  <a:schemeClr val="tx1"/>
                </a:solidFill>
                <a:effectLst>
                  <a:outerShdw blurRad="38100" dist="19050" dir="2700000" algn="tl" rotWithShape="0">
                    <a:schemeClr val="dk1">
                      <a:alpha val="40000"/>
                    </a:schemeClr>
                  </a:outerShdw>
                </a:effectLst>
              </a:rPr>
              <a:t>行一个棋子</a:t>
            </a:r>
            <a:endParaRPr lang="zh-CN" altLang="en-US" dirty="0">
              <a:ln w="0"/>
              <a:solidFill>
                <a:schemeClr val="tx1"/>
              </a:solidFill>
              <a:effectLst>
                <a:outerShdw blurRad="38100" dist="19050" dir="2700000" algn="tl" rotWithShape="0">
                  <a:schemeClr val="dk1">
                    <a:alpha val="40000"/>
                  </a:schemeClr>
                </a:outerShdw>
              </a:effectLst>
            </a:endParaRPr>
          </a:p>
        </p:txBody>
      </p:sp>
      <p:cxnSp>
        <p:nvCxnSpPr>
          <p:cNvPr id="10" name="直接连接符 9"/>
          <p:cNvCxnSpPr>
            <a:endCxn id="4" idx="2"/>
          </p:cNvCxnSpPr>
          <p:nvPr/>
        </p:nvCxnSpPr>
        <p:spPr>
          <a:xfrm flipV="1">
            <a:off x="2949575" y="3572669"/>
            <a:ext cx="631825" cy="723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endCxn id="8" idx="1"/>
          </p:cNvCxnSpPr>
          <p:nvPr/>
        </p:nvCxnSpPr>
        <p:spPr>
          <a:xfrm>
            <a:off x="2949575" y="4293096"/>
            <a:ext cx="634610" cy="241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612576" y="116632"/>
            <a:ext cx="7416824" cy="648129"/>
            <a:chOff x="-180528" y="5152869"/>
            <a:chExt cx="7243325" cy="526322"/>
          </a:xfrm>
        </p:grpSpPr>
        <p:grpSp>
          <p:nvGrpSpPr>
            <p:cNvPr id="13" name="组合 12"/>
            <p:cNvGrpSpPr/>
            <p:nvPr/>
          </p:nvGrpSpPr>
          <p:grpSpPr>
            <a:xfrm>
              <a:off x="-180528" y="5152869"/>
              <a:ext cx="7243325" cy="526322"/>
              <a:chOff x="-240188" y="5778644"/>
              <a:chExt cx="7889473" cy="689206"/>
            </a:xfrm>
          </p:grpSpPr>
          <p:sp>
            <p:nvSpPr>
              <p:cNvPr id="15"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6"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5" name="页脚占位符 4"/>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animEffect transition="in" filter="blinds(horizontal)">
                                      <p:cBhvr>
                                        <p:cTn id="17" dur="500"/>
                                        <p:tgtEl>
                                          <p:spTgt spid="3">
                                            <p:txEl>
                                              <p:pRg st="8"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9" end="9"/>
                                            </p:txEl>
                                          </p:spTgt>
                                        </p:tgtEl>
                                        <p:attrNameLst>
                                          <p:attrName>style.visibility</p:attrName>
                                        </p:attrNameLst>
                                      </p:cBhvr>
                                      <p:to>
                                        <p:strVal val="visible"/>
                                      </p:to>
                                    </p:set>
                                    <p:animEffect transition="in" filter="blinds(horizontal)">
                                      <p:cBhvr>
                                        <p:cTn id="22" dur="500"/>
                                        <p:tgtEl>
                                          <p:spTgt spid="3">
                                            <p:txEl>
                                              <p:pRg st="9"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Effect transition="in" filter="blinds(horizontal)">
                                      <p:cBhvr>
                                        <p:cTn id="39"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8" grpId="0" animBg="1"/>
      <p:bldP spid="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80728"/>
            <a:ext cx="8207375" cy="5091478"/>
          </a:xfrm>
          <a:ln>
            <a:miter/>
          </a:ln>
        </p:spPr>
        <p:txBody>
          <a:bodyPr/>
          <a:lstStyle/>
          <a:p>
            <a:pPr>
              <a:spcBef>
                <a:spcPts val="0"/>
              </a:spcBef>
              <a:buClr>
                <a:srgbClr val="FF0000"/>
              </a:buClr>
              <a:defRPr/>
            </a:pPr>
            <a:r>
              <a:rPr lang="zh-CN" altLang="en-US" sz="1800" b="1" noProof="1"/>
              <a:t>在放置一个棋子后，继续后面的试探；</a:t>
            </a:r>
            <a:endParaRPr lang="zh-CN" altLang="en-US" sz="1800" b="1" noProof="1"/>
          </a:p>
          <a:p>
            <a:pPr>
              <a:spcBef>
                <a:spcPts val="0"/>
              </a:spcBef>
              <a:buClr>
                <a:srgbClr val="FF0000"/>
              </a:buClr>
              <a:defRPr/>
            </a:pPr>
            <a:r>
              <a:rPr lang="zh-CN" altLang="en-US" sz="1800" b="1" noProof="1"/>
              <a:t>若不行，则从本列中的下一行继续试探；</a:t>
            </a:r>
            <a:endParaRPr lang="zh-CN" altLang="en-US" sz="1800" b="1" noProof="1"/>
          </a:p>
          <a:p>
            <a:pPr>
              <a:spcBef>
                <a:spcPts val="0"/>
              </a:spcBef>
              <a:buClr>
                <a:srgbClr val="FF0000"/>
              </a:buClr>
              <a:defRPr/>
            </a:pPr>
            <a:r>
              <a:rPr lang="zh-CN" altLang="en-US" sz="1800" b="1" noProof="1"/>
              <a:t>若整个一列均不行，则要回溯到前面一列重新试探。</a:t>
            </a:r>
            <a:endParaRPr lang="zh-CN" altLang="en-US" sz="1800" b="1" noProof="1"/>
          </a:p>
          <a:p>
            <a:pPr>
              <a:spcBef>
                <a:spcPts val="0"/>
              </a:spcBef>
              <a:buClr>
                <a:srgbClr val="FF0000"/>
              </a:buClr>
              <a:defRPr/>
            </a:pPr>
            <a:r>
              <a:rPr lang="zh-CN" altLang="en-US" sz="1800" noProof="1"/>
              <a:t>算法如下：</a:t>
            </a:r>
            <a:endParaRPr lang="zh-CN" altLang="en-US" sz="1800" noProof="1"/>
          </a:p>
          <a:p>
            <a:pPr marL="0" indent="0">
              <a:spcBef>
                <a:spcPts val="0"/>
              </a:spcBef>
              <a:buFont typeface="Wingdings" panose="05000000000000000000" pitchFamily="2" charset="2"/>
              <a:buNone/>
              <a:defRPr/>
            </a:pPr>
            <a:r>
              <a:rPr lang="zh-CN" altLang="en-US" sz="2000" noProof="1"/>
              <a:t> </a:t>
            </a:r>
            <a:r>
              <a:rPr lang="zh-CN" altLang="en-US" sz="1600" noProof="1"/>
              <a:t>     </a:t>
            </a:r>
            <a:r>
              <a:rPr lang="zh-CN" altLang="en-US" sz="1600" noProof="1">
                <a:solidFill>
                  <a:srgbClr val="0000FF"/>
                </a:solidFill>
              </a:rPr>
              <a:t>Bool</a:t>
            </a:r>
            <a:r>
              <a:rPr lang="zh-CN" altLang="en-US" sz="1600" noProof="1"/>
              <a:t>  Ok(int a[]</a:t>
            </a:r>
            <a:r>
              <a:rPr lang="en-US" altLang="zh-CN" sz="1600" noProof="1"/>
              <a:t>,</a:t>
            </a:r>
            <a:r>
              <a:rPr lang="zh-CN" altLang="en-US" sz="1600" noProof="1"/>
              <a:t> int i, int j)</a:t>
            </a:r>
            <a:r>
              <a:rPr lang="en-US" altLang="zh-CN" sz="1600" noProof="1"/>
              <a:t>{</a:t>
            </a:r>
            <a:r>
              <a:rPr lang="zh-CN" altLang="en-US" sz="1600" noProof="1"/>
              <a:t>          // 检查在(i, j)上是否可以放置棋子</a:t>
            </a:r>
            <a:endParaRPr lang="zh-CN" altLang="en-US" sz="1600" noProof="1"/>
          </a:p>
          <a:p>
            <a:pPr marL="0" indent="0">
              <a:spcBef>
                <a:spcPts val="0"/>
              </a:spcBef>
              <a:buFont typeface="Wingdings" panose="05000000000000000000" pitchFamily="2" charset="2"/>
              <a:buNone/>
              <a:defRPr/>
            </a:pPr>
            <a:r>
              <a:rPr lang="zh-CN" altLang="en-US" sz="1600" noProof="1"/>
              <a:t>       </a:t>
            </a:r>
            <a:r>
              <a:rPr lang="en-US" altLang="zh-CN" sz="1600" noProof="1">
                <a:solidFill>
                  <a:srgbClr val="0000FF"/>
                </a:solidFill>
              </a:rPr>
              <a:t>     </a:t>
            </a:r>
            <a:r>
              <a:rPr lang="zh-CN" altLang="en-US" sz="1600" noProof="1">
                <a:solidFill>
                  <a:srgbClr val="0000FF"/>
                </a:solidFill>
              </a:rPr>
              <a:t>int</a:t>
            </a:r>
            <a:r>
              <a:rPr lang="zh-CN" altLang="en-US" sz="1600" noProof="1"/>
              <a:t> </a:t>
            </a:r>
            <a:r>
              <a:rPr lang="zh-CN" altLang="en-US" sz="1600" i="1" noProof="1"/>
              <a:t>j</a:t>
            </a:r>
            <a:r>
              <a:rPr lang="zh-CN" altLang="en-US" sz="1600" baseline="-25000" noProof="1"/>
              <a:t>1</a:t>
            </a:r>
            <a:r>
              <a:rPr lang="zh-CN" altLang="en-US" sz="1600" noProof="1"/>
              <a:t>, </a:t>
            </a:r>
            <a:r>
              <a:rPr lang="zh-CN" altLang="en-US" sz="1600" i="1" noProof="1"/>
              <a:t>i</a:t>
            </a:r>
            <a:r>
              <a:rPr lang="zh-CN" altLang="en-US" sz="1600" baseline="-25000" noProof="1"/>
              <a:t>1</a:t>
            </a:r>
            <a:r>
              <a:rPr lang="zh-CN" altLang="en-US" sz="1600" noProof="1"/>
              <a:t>;  </a:t>
            </a:r>
            <a:r>
              <a:rPr lang="zh-CN" altLang="en-US" sz="1600" noProof="1">
                <a:solidFill>
                  <a:srgbClr val="0000FF"/>
                </a:solidFill>
              </a:rPr>
              <a:t>Bool</a:t>
            </a:r>
            <a:r>
              <a:rPr lang="zh-CN" altLang="en-US" sz="1600" noProof="1"/>
              <a:t> Ok1;</a:t>
            </a:r>
            <a:endParaRPr lang="zh-CN" altLang="en-US" sz="1600" noProof="1"/>
          </a:p>
          <a:p>
            <a:pPr marL="0" indent="0">
              <a:spcBef>
                <a:spcPts val="0"/>
              </a:spcBef>
              <a:buFont typeface="Wingdings" panose="05000000000000000000" pitchFamily="2" charset="2"/>
              <a:buNone/>
              <a:defRPr/>
            </a:pPr>
            <a:r>
              <a:rPr lang="zh-CN" altLang="en-US" sz="1600" noProof="1"/>
              <a:t>             </a:t>
            </a:r>
            <a:r>
              <a:rPr lang="zh-CN" altLang="en-US" sz="1600" i="1" noProof="1"/>
              <a:t>j</a:t>
            </a:r>
            <a:r>
              <a:rPr lang="zh-CN" altLang="en-US" sz="1600" baseline="-25000" noProof="1"/>
              <a:t>1 </a:t>
            </a:r>
            <a:r>
              <a:rPr lang="zh-CN" altLang="en-US" sz="1600" noProof="1"/>
              <a:t>=j; </a:t>
            </a:r>
            <a:r>
              <a:rPr lang="zh-CN" altLang="en-US" sz="1600" i="1" noProof="1"/>
              <a:t>i</a:t>
            </a:r>
            <a:r>
              <a:rPr lang="zh-CN" altLang="en-US" sz="1600" baseline="-25000" noProof="1"/>
              <a:t>1 </a:t>
            </a:r>
            <a:r>
              <a:rPr lang="zh-CN" altLang="en-US" sz="1600" noProof="1"/>
              <a:t>=i; Ok</a:t>
            </a:r>
            <a:r>
              <a:rPr lang="zh-CN" altLang="en-US" sz="1600" baseline="-25000" noProof="1"/>
              <a:t>1 </a:t>
            </a:r>
            <a:r>
              <a:rPr lang="zh-CN" altLang="en-US" sz="1600" noProof="1"/>
              <a:t>=true;              // 检查在第i行上是否可以放置</a:t>
            </a:r>
            <a:endParaRPr lang="zh-CN" altLang="en-US" sz="1600" noProof="1"/>
          </a:p>
          <a:p>
            <a:pPr marL="0" indent="0">
              <a:spcBef>
                <a:spcPts val="0"/>
              </a:spcBef>
              <a:buFont typeface="Wingdings" panose="05000000000000000000" pitchFamily="2" charset="2"/>
              <a:buNone/>
              <a:defRPr/>
            </a:pPr>
            <a:r>
              <a:rPr lang="zh-CN" altLang="en-US" sz="1600" noProof="1"/>
              <a:t>            </a:t>
            </a:r>
            <a:r>
              <a:rPr lang="zh-CN" altLang="en-US" sz="1600" noProof="1">
                <a:solidFill>
                  <a:srgbClr val="0000FF"/>
                </a:solidFill>
              </a:rPr>
              <a:t>while</a:t>
            </a:r>
            <a:r>
              <a:rPr lang="zh-CN" altLang="en-US" sz="1600" noProof="1"/>
              <a:t> (</a:t>
            </a:r>
            <a:r>
              <a:rPr lang="zh-CN" altLang="en-US" sz="1600" i="1" noProof="1"/>
              <a:t>j</a:t>
            </a:r>
            <a:r>
              <a:rPr lang="zh-CN" altLang="en-US" sz="1600" baseline="-25000" noProof="1"/>
              <a:t>1 </a:t>
            </a:r>
            <a:r>
              <a:rPr lang="zh-CN" altLang="en-US" sz="1600" noProof="1"/>
              <a:t>&gt;1 &amp;&amp; Ok</a:t>
            </a:r>
            <a:r>
              <a:rPr lang="zh-CN" altLang="en-US" sz="1600" baseline="-25000" noProof="1"/>
              <a:t>1</a:t>
            </a:r>
            <a:r>
              <a:rPr lang="zh-CN" altLang="en-US" sz="1600" noProof="1"/>
              <a:t>) </a:t>
            </a:r>
            <a:r>
              <a:rPr lang="en-US" altLang="zh-CN" sz="1600" noProof="1"/>
              <a:t>{</a:t>
            </a:r>
            <a:endParaRPr lang="zh-CN" altLang="en-US" sz="1600" noProof="1"/>
          </a:p>
          <a:p>
            <a:pPr marL="0" indent="0">
              <a:spcBef>
                <a:spcPts val="0"/>
              </a:spcBef>
              <a:buFont typeface="Wingdings" panose="05000000000000000000" pitchFamily="2" charset="2"/>
              <a:buNone/>
              <a:defRPr/>
            </a:pPr>
            <a:r>
              <a:rPr lang="zh-CN" altLang="en-US" sz="1600" noProof="1"/>
              <a:t>                      </a:t>
            </a:r>
            <a:r>
              <a:rPr lang="zh-CN" altLang="en-US" sz="1600" i="1" noProof="1"/>
              <a:t>j</a:t>
            </a:r>
            <a:r>
              <a:rPr lang="zh-CN" altLang="en-US" sz="1600" baseline="-25000" noProof="1"/>
              <a:t>1 </a:t>
            </a:r>
            <a:r>
              <a:rPr lang="zh-CN" altLang="en-US" sz="1600" noProof="1"/>
              <a:t>--; Ok</a:t>
            </a:r>
            <a:r>
              <a:rPr lang="zh-CN" altLang="en-US" sz="1600" baseline="-25000" noProof="1"/>
              <a:t>1 </a:t>
            </a:r>
            <a:r>
              <a:rPr lang="zh-CN" altLang="en-US" sz="1600" noProof="1"/>
              <a:t>=a[</a:t>
            </a:r>
            <a:r>
              <a:rPr lang="zh-CN" altLang="en-US" sz="1600" i="1" noProof="1"/>
              <a:t>j</a:t>
            </a:r>
            <a:r>
              <a:rPr lang="zh-CN" altLang="en-US" sz="1600" baseline="-25000" noProof="1"/>
              <a:t>1</a:t>
            </a:r>
            <a:r>
              <a:rPr lang="zh-CN" altLang="en-US" sz="1600" noProof="1"/>
              <a:t>]!=i; </a:t>
            </a:r>
            <a:endParaRPr lang="en-US" altLang="zh-CN" sz="1600" noProof="1"/>
          </a:p>
          <a:p>
            <a:pPr marL="0" indent="0">
              <a:spcBef>
                <a:spcPts val="0"/>
              </a:spcBef>
              <a:buFont typeface="Wingdings" panose="05000000000000000000" pitchFamily="2" charset="2"/>
              <a:buNone/>
              <a:defRPr/>
            </a:pPr>
            <a:r>
              <a:rPr lang="en-US" altLang="zh-CN" sz="1600" noProof="1"/>
              <a:t>             </a:t>
            </a:r>
            <a:r>
              <a:rPr lang="zh-CN" altLang="en-US" sz="1600" noProof="1"/>
              <a:t>} </a:t>
            </a:r>
            <a:endParaRPr lang="zh-CN" altLang="en-US" sz="1600" noProof="1"/>
          </a:p>
          <a:p>
            <a:pPr marL="0" indent="0">
              <a:spcBef>
                <a:spcPts val="0"/>
              </a:spcBef>
              <a:buFont typeface="Wingdings" panose="05000000000000000000" pitchFamily="2" charset="2"/>
              <a:buNone/>
              <a:defRPr/>
            </a:pPr>
            <a:r>
              <a:rPr lang="zh-CN" altLang="en-US" sz="1600" noProof="1"/>
              <a:t>             j1=j; i1=i;                              //  检查在对角线上是否可以放置</a:t>
            </a:r>
            <a:endParaRPr lang="zh-CN" altLang="en-US" sz="1600" noProof="1"/>
          </a:p>
          <a:p>
            <a:pPr marL="0" indent="0">
              <a:spcBef>
                <a:spcPts val="0"/>
              </a:spcBef>
              <a:buFont typeface="Wingdings" panose="05000000000000000000" pitchFamily="2" charset="2"/>
              <a:buNone/>
              <a:defRPr/>
            </a:pPr>
            <a:r>
              <a:rPr lang="zh-CN" altLang="en-US" sz="1600" noProof="1"/>
              <a:t>             </a:t>
            </a:r>
            <a:r>
              <a:rPr lang="zh-CN" altLang="en-US" sz="1600" noProof="1">
                <a:solidFill>
                  <a:srgbClr val="0000FF"/>
                </a:solidFill>
              </a:rPr>
              <a:t>while</a:t>
            </a:r>
            <a:r>
              <a:rPr lang="zh-CN" altLang="en-US" sz="1600" noProof="1"/>
              <a:t> (</a:t>
            </a:r>
            <a:r>
              <a:rPr lang="zh-CN" altLang="en-US" sz="1600" i="1" noProof="1"/>
              <a:t>j</a:t>
            </a:r>
            <a:r>
              <a:rPr lang="zh-CN" altLang="en-US" sz="1600" baseline="-25000" noProof="1"/>
              <a:t>1 </a:t>
            </a:r>
            <a:r>
              <a:rPr lang="zh-CN" altLang="en-US" sz="1600" noProof="1"/>
              <a:t>&gt;1 &amp;&amp; </a:t>
            </a:r>
            <a:r>
              <a:rPr lang="zh-CN" altLang="en-US" sz="1600" i="1" noProof="1"/>
              <a:t>i</a:t>
            </a:r>
            <a:r>
              <a:rPr lang="zh-CN" altLang="en-US" sz="1600" baseline="-25000" noProof="1"/>
              <a:t>1 </a:t>
            </a:r>
            <a:r>
              <a:rPr lang="zh-CN" altLang="en-US" sz="1600" noProof="1"/>
              <a:t>&gt;1 &amp;&amp; Ok1)</a:t>
            </a:r>
            <a:r>
              <a:rPr lang="en-US" altLang="zh-CN" sz="1600" noProof="1"/>
              <a:t>{</a:t>
            </a:r>
            <a:endParaRPr lang="zh-CN" altLang="en-US" sz="1600" noProof="1"/>
          </a:p>
          <a:p>
            <a:pPr marL="0" indent="0">
              <a:spcBef>
                <a:spcPts val="0"/>
              </a:spcBef>
              <a:buFont typeface="Wingdings" panose="05000000000000000000" pitchFamily="2" charset="2"/>
              <a:buNone/>
              <a:defRPr/>
            </a:pPr>
            <a:r>
              <a:rPr lang="zh-CN" altLang="en-US" sz="1600" noProof="1"/>
              <a:t>                        </a:t>
            </a:r>
            <a:r>
              <a:rPr lang="zh-CN" altLang="en-US" sz="1600" i="1" noProof="1"/>
              <a:t>j</a:t>
            </a:r>
            <a:r>
              <a:rPr lang="zh-CN" altLang="en-US" sz="1600" baseline="-25000" noProof="1"/>
              <a:t>1 </a:t>
            </a:r>
            <a:r>
              <a:rPr lang="zh-CN" altLang="en-US" sz="1600" noProof="1"/>
              <a:t>--; </a:t>
            </a:r>
            <a:r>
              <a:rPr lang="zh-CN" altLang="en-US" sz="1600" i="1" noProof="1"/>
              <a:t>i</a:t>
            </a:r>
            <a:r>
              <a:rPr lang="zh-CN" altLang="en-US" sz="1600" baseline="-25000" noProof="1"/>
              <a:t>1 </a:t>
            </a:r>
            <a:r>
              <a:rPr lang="zh-CN" altLang="en-US" sz="1600" noProof="1"/>
              <a:t>--; Ok</a:t>
            </a:r>
            <a:r>
              <a:rPr lang="zh-CN" altLang="en-US" sz="1600" baseline="-25000" noProof="1"/>
              <a:t>1 </a:t>
            </a:r>
            <a:r>
              <a:rPr lang="zh-CN" altLang="en-US" sz="1600" noProof="1"/>
              <a:t>=a[</a:t>
            </a:r>
            <a:r>
              <a:rPr lang="zh-CN" altLang="en-US" sz="1600" i="1" noProof="1"/>
              <a:t>j</a:t>
            </a:r>
            <a:r>
              <a:rPr lang="zh-CN" altLang="en-US" sz="1600" baseline="-25000" noProof="1"/>
              <a:t>1</a:t>
            </a:r>
            <a:r>
              <a:rPr lang="zh-CN" altLang="en-US" sz="1600" noProof="1"/>
              <a:t>]!=i1; </a:t>
            </a:r>
            <a:endParaRPr lang="en-US" altLang="zh-CN" sz="1600" noProof="1"/>
          </a:p>
          <a:p>
            <a:pPr marL="0" indent="0">
              <a:spcBef>
                <a:spcPts val="0"/>
              </a:spcBef>
              <a:buFont typeface="Wingdings" panose="05000000000000000000" pitchFamily="2" charset="2"/>
              <a:buNone/>
              <a:defRPr/>
            </a:pPr>
            <a:r>
              <a:rPr lang="en-US" altLang="zh-CN" sz="1600" noProof="1"/>
              <a:t>             </a:t>
            </a:r>
            <a:r>
              <a:rPr lang="zh-CN" altLang="en-US" sz="1600" noProof="1"/>
              <a:t>}</a:t>
            </a:r>
            <a:endParaRPr lang="zh-CN" altLang="en-US" sz="1600" noProof="1"/>
          </a:p>
          <a:p>
            <a:pPr marL="0" indent="0">
              <a:spcBef>
                <a:spcPts val="0"/>
              </a:spcBef>
              <a:buFont typeface="Wingdings" panose="05000000000000000000" pitchFamily="2" charset="2"/>
              <a:buNone/>
              <a:defRPr/>
            </a:pPr>
            <a:r>
              <a:rPr lang="zh-CN" altLang="en-US" sz="1600" noProof="1"/>
              <a:t>             j1=j; </a:t>
            </a:r>
            <a:r>
              <a:rPr lang="zh-CN" altLang="en-US" sz="1600" i="1" noProof="1"/>
              <a:t>i</a:t>
            </a:r>
            <a:r>
              <a:rPr lang="zh-CN" altLang="en-US" sz="1600" baseline="-25000" noProof="1"/>
              <a:t>1 </a:t>
            </a:r>
            <a:r>
              <a:rPr lang="zh-CN" altLang="en-US" sz="1600" noProof="1"/>
              <a:t>=i;                      // 检查在另一对角线上是否可以放置          </a:t>
            </a:r>
            <a:endParaRPr lang="zh-CN" altLang="en-US" sz="1600" noProof="1"/>
          </a:p>
          <a:p>
            <a:pPr marL="0" indent="0">
              <a:spcBef>
                <a:spcPts val="0"/>
              </a:spcBef>
              <a:buFont typeface="Wingdings" panose="05000000000000000000" pitchFamily="2" charset="2"/>
              <a:buNone/>
              <a:defRPr/>
            </a:pPr>
            <a:r>
              <a:rPr lang="zh-CN" altLang="en-US" sz="1600" noProof="1"/>
              <a:t>            </a:t>
            </a:r>
            <a:r>
              <a:rPr lang="zh-CN" altLang="en-US" sz="1600" noProof="1">
                <a:solidFill>
                  <a:srgbClr val="0000FF"/>
                </a:solidFill>
              </a:rPr>
              <a:t>while</a:t>
            </a:r>
            <a:r>
              <a:rPr lang="zh-CN" altLang="en-US" sz="1600" noProof="1"/>
              <a:t> (</a:t>
            </a:r>
            <a:r>
              <a:rPr lang="zh-CN" altLang="en-US" sz="1600" i="1" noProof="1"/>
              <a:t>j</a:t>
            </a:r>
            <a:r>
              <a:rPr lang="zh-CN" altLang="en-US" sz="1600" baseline="-25000" noProof="1"/>
              <a:t>1 </a:t>
            </a:r>
            <a:r>
              <a:rPr lang="zh-CN" altLang="en-US" sz="1600" noProof="1"/>
              <a:t>&gt;1 &amp;&amp; </a:t>
            </a:r>
            <a:r>
              <a:rPr lang="zh-CN" altLang="en-US" sz="1600" i="1" noProof="1"/>
              <a:t>i</a:t>
            </a:r>
            <a:r>
              <a:rPr lang="zh-CN" altLang="en-US" sz="1600" baseline="-25000" noProof="1"/>
              <a:t>1 </a:t>
            </a:r>
            <a:r>
              <a:rPr lang="zh-CN" altLang="en-US" sz="1600" noProof="1"/>
              <a:t>&lt;</a:t>
            </a:r>
            <a:r>
              <a:rPr lang="zh-CN" altLang="en-US" sz="1600" i="1" noProof="1"/>
              <a:t>n</a:t>
            </a:r>
            <a:r>
              <a:rPr lang="zh-CN" altLang="en-US" sz="1600" noProof="1"/>
              <a:t> &amp;&amp; Ok</a:t>
            </a:r>
            <a:r>
              <a:rPr lang="zh-CN" altLang="en-US" sz="1600" baseline="-25000" noProof="1"/>
              <a:t>1</a:t>
            </a:r>
            <a:r>
              <a:rPr lang="zh-CN" altLang="en-US" sz="1600" noProof="1"/>
              <a:t>)</a:t>
            </a:r>
            <a:r>
              <a:rPr lang="en-US" altLang="zh-CN" sz="1600" noProof="1"/>
              <a:t>{</a:t>
            </a:r>
            <a:endParaRPr lang="zh-CN" altLang="en-US" sz="1600" noProof="1"/>
          </a:p>
          <a:p>
            <a:pPr marL="0" indent="0">
              <a:spcBef>
                <a:spcPts val="0"/>
              </a:spcBef>
              <a:buFont typeface="Wingdings" panose="05000000000000000000" pitchFamily="2" charset="2"/>
              <a:buNone/>
              <a:defRPr/>
            </a:pPr>
            <a:r>
              <a:rPr lang="zh-CN" altLang="en-US" sz="1600" noProof="1"/>
              <a:t>                      </a:t>
            </a:r>
            <a:r>
              <a:rPr lang="zh-CN" altLang="en-US" sz="1600" i="1" noProof="1"/>
              <a:t>j</a:t>
            </a:r>
            <a:r>
              <a:rPr lang="zh-CN" altLang="en-US" sz="1600" baseline="-25000" noProof="1"/>
              <a:t>1 </a:t>
            </a:r>
            <a:r>
              <a:rPr lang="zh-CN" altLang="en-US" sz="1600" noProof="1"/>
              <a:t>--; </a:t>
            </a:r>
            <a:r>
              <a:rPr lang="zh-CN" altLang="en-US" sz="1600" i="1" noProof="1"/>
              <a:t>i</a:t>
            </a:r>
            <a:r>
              <a:rPr lang="zh-CN" altLang="en-US" sz="1600" baseline="-25000" noProof="1"/>
              <a:t>1 </a:t>
            </a:r>
            <a:r>
              <a:rPr lang="zh-CN" altLang="en-US" sz="1600" noProof="1"/>
              <a:t>++; Ok</a:t>
            </a:r>
            <a:r>
              <a:rPr lang="zh-CN" altLang="en-US" sz="1600" baseline="-25000" noProof="1"/>
              <a:t>1 </a:t>
            </a:r>
            <a:r>
              <a:rPr lang="zh-CN" altLang="en-US" sz="1600" noProof="1"/>
              <a:t>=a[</a:t>
            </a:r>
            <a:r>
              <a:rPr lang="zh-CN" altLang="en-US" sz="1600" i="1" noProof="1"/>
              <a:t>j</a:t>
            </a:r>
            <a:r>
              <a:rPr lang="zh-CN" altLang="en-US" sz="1600" baseline="-25000" noProof="1"/>
              <a:t>1</a:t>
            </a:r>
            <a:r>
              <a:rPr lang="zh-CN" altLang="en-US" sz="1600" noProof="1"/>
              <a:t>]!=</a:t>
            </a:r>
            <a:r>
              <a:rPr lang="zh-CN" altLang="en-US" sz="1600" i="1" noProof="1"/>
              <a:t> i</a:t>
            </a:r>
            <a:r>
              <a:rPr lang="zh-CN" altLang="en-US" sz="1600" baseline="-25000" noProof="1"/>
              <a:t>1</a:t>
            </a:r>
            <a:r>
              <a:rPr lang="zh-CN" altLang="en-US" sz="1600" noProof="1"/>
              <a:t>; </a:t>
            </a:r>
            <a:endParaRPr lang="en-US" altLang="zh-CN" sz="1600" noProof="1"/>
          </a:p>
          <a:p>
            <a:pPr marL="0" indent="0">
              <a:spcBef>
                <a:spcPts val="0"/>
              </a:spcBef>
              <a:buFont typeface="Wingdings" panose="05000000000000000000" pitchFamily="2" charset="2"/>
              <a:buNone/>
              <a:defRPr/>
            </a:pPr>
            <a:r>
              <a:rPr lang="en-US" altLang="zh-CN" sz="1600" noProof="1"/>
              <a:t>            </a:t>
            </a:r>
            <a:r>
              <a:rPr lang="zh-CN" altLang="en-US" sz="1600" noProof="1"/>
              <a:t>} </a:t>
            </a:r>
            <a:endParaRPr lang="zh-CN" altLang="en-US" sz="1600" noProof="1"/>
          </a:p>
          <a:p>
            <a:pPr marL="0" indent="0">
              <a:spcBef>
                <a:spcPts val="0"/>
              </a:spcBef>
              <a:buFont typeface="Wingdings" panose="05000000000000000000" pitchFamily="2" charset="2"/>
              <a:buNone/>
              <a:defRPr/>
            </a:pPr>
            <a:r>
              <a:rPr lang="zh-CN" altLang="en-US" sz="1600" noProof="1"/>
              <a:t>            return Ok</a:t>
            </a:r>
            <a:r>
              <a:rPr lang="zh-CN" altLang="en-US" sz="1600" baseline="-25000" noProof="1"/>
              <a:t>1</a:t>
            </a:r>
            <a:r>
              <a:rPr lang="zh-CN" altLang="en-US" sz="1600" noProof="1"/>
              <a:t>;</a:t>
            </a:r>
            <a:endParaRPr lang="zh-CN" altLang="en-US" sz="1600" noProof="1"/>
          </a:p>
          <a:p>
            <a:pPr marL="0" indent="0">
              <a:buFont typeface="Wingdings" panose="05000000000000000000" pitchFamily="2" charset="2"/>
              <a:buNone/>
              <a:defRPr/>
            </a:pPr>
            <a:r>
              <a:rPr lang="zh-CN" altLang="en-US" sz="1600" noProof="1"/>
              <a:t>        } </a:t>
            </a:r>
            <a:endParaRPr lang="zh-CN" altLang="en-US" sz="1600" noProof="1"/>
          </a:p>
        </p:txBody>
      </p:sp>
      <p:grpSp>
        <p:nvGrpSpPr>
          <p:cNvPr id="5" name="组合 4"/>
          <p:cNvGrpSpPr/>
          <p:nvPr/>
        </p:nvGrpSpPr>
        <p:grpSpPr>
          <a:xfrm>
            <a:off x="-612576" y="116632"/>
            <a:ext cx="7416824" cy="648129"/>
            <a:chOff x="-180528" y="5152869"/>
            <a:chExt cx="7243325" cy="526322"/>
          </a:xfrm>
        </p:grpSpPr>
        <p:grpSp>
          <p:nvGrpSpPr>
            <p:cNvPr id="6" name="组合 5"/>
            <p:cNvGrpSpPr/>
            <p:nvPr/>
          </p:nvGrpSpPr>
          <p:grpSpPr>
            <a:xfrm>
              <a:off x="-180528" y="5152869"/>
              <a:ext cx="7243325" cy="526322"/>
              <a:chOff x="-240188" y="5778644"/>
              <a:chExt cx="7889473" cy="689206"/>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blinds(horizontal)">
                                      <p:cBhvr>
                                        <p:cTn id="67" dur="5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blinds(horizontal)">
                                      <p:cBhvr>
                                        <p:cTn id="72" dur="5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blinds(horizontal)">
                                      <p:cBhvr>
                                        <p:cTn id="77" dur="500"/>
                                        <p:tgtEl>
                                          <p:spTgt spid="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3">
                                            <p:txEl>
                                              <p:pRg st="15" end="15"/>
                                            </p:txEl>
                                          </p:spTgt>
                                        </p:tgtEl>
                                        <p:attrNameLst>
                                          <p:attrName>style.visibility</p:attrName>
                                        </p:attrNameLst>
                                      </p:cBhvr>
                                      <p:to>
                                        <p:strVal val="visible"/>
                                      </p:to>
                                    </p:set>
                                    <p:animEffect transition="in" filter="blinds(horizontal)">
                                      <p:cBhvr>
                                        <p:cTn id="82" dur="500"/>
                                        <p:tgtEl>
                                          <p:spTgt spid="3">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3">
                                            <p:txEl>
                                              <p:pRg st="16" end="16"/>
                                            </p:txEl>
                                          </p:spTgt>
                                        </p:tgtEl>
                                        <p:attrNameLst>
                                          <p:attrName>style.visibility</p:attrName>
                                        </p:attrNameLst>
                                      </p:cBhvr>
                                      <p:to>
                                        <p:strVal val="visible"/>
                                      </p:to>
                                    </p:set>
                                    <p:animEffect transition="in" filter="blinds(horizontal)">
                                      <p:cBhvr>
                                        <p:cTn id="87" dur="500"/>
                                        <p:tgtEl>
                                          <p:spTgt spid="3">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3">
                                            <p:txEl>
                                              <p:pRg st="17" end="17"/>
                                            </p:txEl>
                                          </p:spTgt>
                                        </p:tgtEl>
                                        <p:attrNameLst>
                                          <p:attrName>style.visibility</p:attrName>
                                        </p:attrNameLst>
                                      </p:cBhvr>
                                      <p:to>
                                        <p:strVal val="visible"/>
                                      </p:to>
                                    </p:set>
                                    <p:animEffect transition="in" filter="blinds(horizontal)">
                                      <p:cBhvr>
                                        <p:cTn id="92" dur="500"/>
                                        <p:tgtEl>
                                          <p:spTgt spid="3">
                                            <p:txEl>
                                              <p:pRg st="17" end="1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3">
                                            <p:txEl>
                                              <p:pRg st="18" end="18"/>
                                            </p:txEl>
                                          </p:spTgt>
                                        </p:tgtEl>
                                        <p:attrNameLst>
                                          <p:attrName>style.visibility</p:attrName>
                                        </p:attrNameLst>
                                      </p:cBhvr>
                                      <p:to>
                                        <p:strVal val="visible"/>
                                      </p:to>
                                    </p:set>
                                    <p:animEffect transition="in" filter="blinds(horizontal)">
                                      <p:cBhvr>
                                        <p:cTn id="97" dur="500"/>
                                        <p:tgtEl>
                                          <p:spTgt spid="3">
                                            <p:txEl>
                                              <p:pRg st="18" end="18"/>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3">
                                            <p:txEl>
                                              <p:pRg st="19" end="19"/>
                                            </p:txEl>
                                          </p:spTgt>
                                        </p:tgtEl>
                                        <p:attrNameLst>
                                          <p:attrName>style.visibility</p:attrName>
                                        </p:attrNameLst>
                                      </p:cBhvr>
                                      <p:to>
                                        <p:strVal val="visible"/>
                                      </p:to>
                                    </p:set>
                                    <p:animEffect transition="in" filter="blinds(horizontal)">
                                      <p:cBhvr>
                                        <p:cTn id="102" dur="500"/>
                                        <p:tgtEl>
                                          <p:spTgt spid="3">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noChangeArrowheads="1"/>
          </p:cNvSpPr>
          <p:nvPr>
            <p:ph idx="1"/>
          </p:nvPr>
        </p:nvSpPr>
        <p:spPr>
          <a:xfrm>
            <a:off x="457200" y="1124745"/>
            <a:ext cx="8229600" cy="4968552"/>
          </a:xfrm>
        </p:spPr>
        <p:txBody>
          <a:bodyPr/>
          <a:lstStyle/>
          <a:p>
            <a:pPr marL="0" indent="0">
              <a:buFont typeface="Wingdings" panose="05000000000000000000" pitchFamily="2" charset="2"/>
              <a:buNone/>
            </a:pPr>
            <a:r>
              <a:rPr lang="zh-CN" altLang="en-US" sz="1800" dirty="0">
                <a:solidFill>
                  <a:srgbClr val="0000FF"/>
                </a:solidFill>
              </a:rPr>
              <a:t>void</a:t>
            </a:r>
            <a:r>
              <a:rPr lang="zh-CN" altLang="en-US" sz="1800" dirty="0"/>
              <a:t> </a:t>
            </a:r>
            <a:r>
              <a:rPr lang="en-US" altLang="zh-CN" sz="1800" dirty="0"/>
              <a:t>Q</a:t>
            </a:r>
            <a:r>
              <a:rPr lang="zh-CN" altLang="en-US" sz="1800" dirty="0"/>
              <a:t>ueen(</a:t>
            </a:r>
            <a:r>
              <a:rPr lang="zh-CN" altLang="en-US" sz="1800" dirty="0">
                <a:solidFill>
                  <a:srgbClr val="0000FF"/>
                </a:solidFill>
              </a:rPr>
              <a:t>int</a:t>
            </a:r>
            <a:r>
              <a:rPr lang="zh-CN" altLang="en-US" sz="1800" dirty="0"/>
              <a:t> a[]</a:t>
            </a:r>
            <a:r>
              <a:rPr lang="en-US" altLang="zh-CN" sz="1800" dirty="0"/>
              <a:t>,</a:t>
            </a:r>
            <a:r>
              <a:rPr lang="zh-CN" altLang="en-US" sz="1800" dirty="0"/>
              <a:t> </a:t>
            </a:r>
            <a:r>
              <a:rPr lang="zh-CN" altLang="en-US" sz="1800" dirty="0">
                <a:solidFill>
                  <a:srgbClr val="0000FF"/>
                </a:solidFill>
              </a:rPr>
              <a:t>int</a:t>
            </a:r>
            <a:r>
              <a:rPr lang="zh-CN" altLang="en-US" sz="1800" dirty="0"/>
              <a:t> </a:t>
            </a:r>
            <a:r>
              <a:rPr lang="zh-CN" altLang="en-US" sz="1800" i="1" dirty="0"/>
              <a:t>j</a:t>
            </a:r>
            <a:r>
              <a:rPr lang="zh-CN" altLang="en-US" sz="1800" dirty="0"/>
              <a:t>, </a:t>
            </a:r>
            <a:r>
              <a:rPr lang="zh-CN" altLang="en-US" sz="1800" dirty="0">
                <a:solidFill>
                  <a:srgbClr val="0000FF"/>
                </a:solidFill>
              </a:rPr>
              <a:t>int</a:t>
            </a:r>
            <a:r>
              <a:rPr lang="zh-CN" altLang="en-US" sz="1800" dirty="0"/>
              <a:t> </a:t>
            </a:r>
            <a:r>
              <a:rPr lang="zh-CN" altLang="en-US" sz="1800" i="1" dirty="0"/>
              <a:t>n</a:t>
            </a:r>
            <a:r>
              <a:rPr lang="zh-CN" altLang="en-US" sz="1800" dirty="0"/>
              <a:t>)</a:t>
            </a:r>
            <a:r>
              <a:rPr lang="en-US" altLang="zh-CN" sz="1800" dirty="0"/>
              <a:t>{            </a:t>
            </a:r>
            <a:r>
              <a:rPr lang="zh-CN" altLang="en-US" sz="1800" dirty="0"/>
              <a:t>// 从第</a:t>
            </a:r>
            <a:r>
              <a:rPr lang="zh-CN" altLang="en-US" sz="1800" i="1" dirty="0"/>
              <a:t>j</a:t>
            </a:r>
            <a:r>
              <a:rPr lang="zh-CN" altLang="en-US" sz="1800" dirty="0"/>
              <a:t>列开始逐个试探 </a:t>
            </a:r>
            <a:endParaRPr lang="zh-CN" altLang="en-US" sz="1800" dirty="0"/>
          </a:p>
          <a:p>
            <a:pPr marL="0" indent="0">
              <a:buFont typeface="Wingdings" panose="05000000000000000000" pitchFamily="2" charset="2"/>
              <a:buNone/>
            </a:pPr>
            <a:r>
              <a:rPr lang="zh-CN" altLang="en-US" sz="1800" dirty="0"/>
              <a:t>        </a:t>
            </a:r>
            <a:r>
              <a:rPr lang="zh-CN" altLang="en-US" sz="1800" dirty="0">
                <a:solidFill>
                  <a:srgbClr val="0000FF"/>
                </a:solidFill>
              </a:rPr>
              <a:t>int</a:t>
            </a:r>
            <a:r>
              <a:rPr lang="zh-CN" altLang="en-US" sz="1800" dirty="0"/>
              <a:t> </a:t>
            </a:r>
            <a:r>
              <a:rPr lang="zh-CN" altLang="en-US" sz="1800" i="1" dirty="0"/>
              <a:t>i</a:t>
            </a:r>
            <a:r>
              <a:rPr lang="zh-CN" altLang="en-US" sz="1800" dirty="0"/>
              <a:t>;</a:t>
            </a:r>
            <a:endParaRPr lang="zh-CN" altLang="en-US" sz="1800" dirty="0"/>
          </a:p>
          <a:p>
            <a:pPr marL="0" indent="0">
              <a:buFont typeface="Wingdings" panose="05000000000000000000" pitchFamily="2" charset="2"/>
              <a:buNone/>
            </a:pPr>
            <a:r>
              <a:rPr lang="zh-CN" altLang="en-US" sz="1800" dirty="0"/>
              <a:t>        </a:t>
            </a:r>
            <a:r>
              <a:rPr lang="zh-CN" altLang="en-US" sz="1800" dirty="0">
                <a:solidFill>
                  <a:srgbClr val="0000FF"/>
                </a:solidFill>
              </a:rPr>
              <a:t>if</a:t>
            </a:r>
            <a:r>
              <a:rPr lang="zh-CN" altLang="en-US" sz="1800" dirty="0"/>
              <a:t> (</a:t>
            </a:r>
            <a:r>
              <a:rPr lang="zh-CN" altLang="en-US" sz="1800" i="1" dirty="0"/>
              <a:t>j</a:t>
            </a:r>
            <a:r>
              <a:rPr lang="zh-CN" altLang="en-US" sz="1800" dirty="0"/>
              <a:t>&gt;</a:t>
            </a:r>
            <a:r>
              <a:rPr lang="zh-CN" altLang="en-US" sz="1800" i="1" dirty="0"/>
              <a:t>n</a:t>
            </a:r>
            <a:r>
              <a:rPr lang="zh-CN" altLang="en-US" sz="1800" dirty="0"/>
              <a:t>) </a:t>
            </a:r>
            <a:r>
              <a:rPr lang="en-US" altLang="zh-CN" sz="1800" dirty="0"/>
              <a:t>P</a:t>
            </a:r>
            <a:r>
              <a:rPr lang="zh-CN" altLang="en-US" sz="1800" dirty="0"/>
              <a:t>rint(a);                            //  输出结果  </a:t>
            </a:r>
            <a:endParaRPr lang="zh-CN" altLang="en-US" sz="1800" dirty="0"/>
          </a:p>
          <a:p>
            <a:pPr marL="0" indent="0">
              <a:buFont typeface="Wingdings" panose="05000000000000000000" pitchFamily="2" charset="2"/>
              <a:buNone/>
            </a:pPr>
            <a:r>
              <a:rPr lang="zh-CN" altLang="en-US" sz="1800" dirty="0"/>
              <a:t>        </a:t>
            </a:r>
            <a:r>
              <a:rPr lang="zh-CN" altLang="en-US" sz="1800" dirty="0">
                <a:solidFill>
                  <a:srgbClr val="0000FF"/>
                </a:solidFill>
              </a:rPr>
              <a:t>else  for </a:t>
            </a:r>
            <a:r>
              <a:rPr lang="zh-CN" altLang="en-US" sz="1800" dirty="0"/>
              <a:t>(</a:t>
            </a:r>
            <a:r>
              <a:rPr lang="zh-CN" altLang="en-US" sz="1800" i="1" dirty="0"/>
              <a:t>i</a:t>
            </a:r>
            <a:r>
              <a:rPr lang="zh-CN" altLang="en-US" sz="1800" dirty="0"/>
              <a:t>=1; </a:t>
            </a:r>
            <a:r>
              <a:rPr lang="zh-CN" altLang="en-US" sz="1800" i="1" dirty="0"/>
              <a:t>i</a:t>
            </a:r>
            <a:r>
              <a:rPr lang="zh-CN" altLang="en-US" sz="1800" dirty="0" smtClean="0"/>
              <a:t>&lt;</a:t>
            </a:r>
            <a:r>
              <a:rPr lang="en-US" altLang="zh-CN" sz="1800" dirty="0" smtClean="0"/>
              <a:t>=</a:t>
            </a:r>
            <a:r>
              <a:rPr lang="zh-CN" altLang="en-US" sz="1800" i="1" dirty="0" smtClean="0"/>
              <a:t>n</a:t>
            </a:r>
            <a:r>
              <a:rPr lang="zh-CN" altLang="en-US" sz="1800" dirty="0"/>
              <a:t>; </a:t>
            </a:r>
            <a:r>
              <a:rPr lang="zh-CN" altLang="en-US" sz="1800" i="1" dirty="0"/>
              <a:t>i</a:t>
            </a:r>
            <a:r>
              <a:rPr lang="zh-CN" altLang="en-US" sz="1800" dirty="0"/>
              <a:t>++)</a:t>
            </a:r>
            <a:r>
              <a:rPr lang="en-US" altLang="zh-CN" sz="1800" dirty="0"/>
              <a:t>{</a:t>
            </a:r>
            <a:endParaRPr lang="zh-CN" altLang="en-US" sz="1800" dirty="0"/>
          </a:p>
          <a:p>
            <a:pPr marL="0" indent="0">
              <a:buFont typeface="Wingdings" panose="05000000000000000000" pitchFamily="2" charset="2"/>
              <a:buNone/>
            </a:pPr>
            <a:r>
              <a:rPr lang="zh-CN" altLang="en-US" sz="1800" dirty="0"/>
              <a:t>                      </a:t>
            </a:r>
            <a:r>
              <a:rPr lang="zh-CN" altLang="en-US" sz="1800" dirty="0">
                <a:solidFill>
                  <a:srgbClr val="0000FF"/>
                </a:solidFill>
              </a:rPr>
              <a:t>if</a:t>
            </a:r>
            <a:r>
              <a:rPr lang="zh-CN" altLang="en-US" sz="1800" dirty="0"/>
              <a:t> (Ok(a, </a:t>
            </a:r>
            <a:r>
              <a:rPr lang="zh-CN" altLang="en-US" sz="1800" i="1" dirty="0"/>
              <a:t>i</a:t>
            </a:r>
            <a:r>
              <a:rPr lang="zh-CN" altLang="en-US" sz="1800" dirty="0"/>
              <a:t>, </a:t>
            </a:r>
            <a:r>
              <a:rPr lang="zh-CN" altLang="en-US" sz="1800" i="1" dirty="0"/>
              <a:t>j</a:t>
            </a:r>
            <a:r>
              <a:rPr lang="zh-CN" altLang="en-US" sz="1800" dirty="0"/>
              <a:t>)) </a:t>
            </a:r>
            <a:r>
              <a:rPr lang="en-US" altLang="zh-CN" sz="1800" dirty="0"/>
              <a:t>{</a:t>
            </a:r>
            <a:r>
              <a:rPr lang="zh-CN" altLang="en-US" sz="1800" dirty="0"/>
              <a:t>               //  检查在(</a:t>
            </a:r>
            <a:r>
              <a:rPr lang="zh-CN" altLang="en-US" sz="1800" i="1" dirty="0"/>
              <a:t>i</a:t>
            </a:r>
            <a:r>
              <a:rPr lang="zh-CN" altLang="en-US" sz="1800" dirty="0"/>
              <a:t>, </a:t>
            </a:r>
            <a:r>
              <a:rPr lang="zh-CN" altLang="en-US" sz="1800" i="1" dirty="0"/>
              <a:t>j</a:t>
            </a:r>
            <a:r>
              <a:rPr lang="zh-CN" altLang="en-US" sz="1800" dirty="0"/>
              <a:t>)上是否可以放置  </a:t>
            </a:r>
            <a:endParaRPr lang="zh-CN" altLang="en-US" sz="1800" dirty="0"/>
          </a:p>
          <a:p>
            <a:pPr marL="0" indent="0">
              <a:buFont typeface="Wingdings" panose="05000000000000000000" pitchFamily="2" charset="2"/>
              <a:buNone/>
            </a:pPr>
            <a:r>
              <a:rPr lang="zh-CN" altLang="en-US" sz="1800" dirty="0"/>
              <a:t>                           a[</a:t>
            </a:r>
            <a:r>
              <a:rPr lang="zh-CN" altLang="en-US" sz="1800" i="1" dirty="0"/>
              <a:t>j</a:t>
            </a:r>
            <a:r>
              <a:rPr lang="zh-CN" altLang="en-US" sz="1800" dirty="0"/>
              <a:t>]=</a:t>
            </a:r>
            <a:r>
              <a:rPr lang="zh-CN" altLang="en-US" sz="1800" i="1" dirty="0"/>
              <a:t>i</a:t>
            </a:r>
            <a:r>
              <a:rPr lang="zh-CN" altLang="en-US" sz="1800" dirty="0"/>
              <a:t>;                        //  在(</a:t>
            </a:r>
            <a:r>
              <a:rPr lang="zh-CN" altLang="en-US" sz="1800" i="1" dirty="0"/>
              <a:t>i</a:t>
            </a:r>
            <a:r>
              <a:rPr lang="zh-CN" altLang="en-US" sz="1800" dirty="0"/>
              <a:t>, </a:t>
            </a:r>
            <a:r>
              <a:rPr lang="zh-CN" altLang="en-US" sz="1800" i="1" dirty="0"/>
              <a:t>j</a:t>
            </a:r>
            <a:r>
              <a:rPr lang="zh-CN" altLang="en-US" sz="1800" dirty="0"/>
              <a:t>)上放置一个棋子  </a:t>
            </a:r>
            <a:endParaRPr lang="zh-CN" altLang="en-US" sz="1800" dirty="0"/>
          </a:p>
          <a:p>
            <a:pPr marL="0" indent="0">
              <a:buFont typeface="Wingdings" panose="05000000000000000000" pitchFamily="2" charset="2"/>
              <a:buNone/>
            </a:pPr>
            <a:r>
              <a:rPr lang="zh-CN" altLang="en-US" sz="1800" dirty="0"/>
              <a:t>                           </a:t>
            </a:r>
            <a:r>
              <a:rPr lang="en-US" altLang="zh-CN" sz="1800" dirty="0"/>
              <a:t>Q</a:t>
            </a:r>
            <a:r>
              <a:rPr lang="zh-CN" altLang="en-US" sz="1800" dirty="0"/>
              <a:t>ueen(a, </a:t>
            </a:r>
            <a:r>
              <a:rPr lang="zh-CN" altLang="en-US" sz="1800" i="1" dirty="0"/>
              <a:t>j</a:t>
            </a:r>
            <a:r>
              <a:rPr lang="zh-CN" altLang="en-US" sz="1800" dirty="0"/>
              <a:t>+1, </a:t>
            </a:r>
            <a:r>
              <a:rPr lang="zh-CN" altLang="en-US" sz="1800" i="1" dirty="0"/>
              <a:t>n</a:t>
            </a:r>
            <a:r>
              <a:rPr lang="zh-CN" altLang="en-US" sz="1800" dirty="0"/>
              <a:t>);       //  继续往后试探   </a:t>
            </a:r>
            <a:endParaRPr lang="zh-CN" altLang="en-US" sz="1800" dirty="0"/>
          </a:p>
          <a:p>
            <a:pPr marL="0" indent="0">
              <a:buFont typeface="Wingdings" panose="05000000000000000000" pitchFamily="2" charset="2"/>
              <a:buNone/>
            </a:pPr>
            <a:r>
              <a:rPr lang="zh-CN" altLang="en-US" sz="1800" dirty="0"/>
              <a:t>                     } </a:t>
            </a:r>
            <a:endParaRPr lang="en-US" altLang="zh-CN" sz="1800" dirty="0"/>
          </a:p>
          <a:p>
            <a:pPr marL="0" indent="0">
              <a:buFont typeface="Wingdings" panose="05000000000000000000" pitchFamily="2" charset="2"/>
              <a:buNone/>
            </a:pPr>
            <a:r>
              <a:rPr lang="en-US" altLang="zh-CN" sz="1800" dirty="0"/>
              <a:t>                 }</a:t>
            </a:r>
            <a:endParaRPr lang="zh-CN" altLang="en-US" sz="1800" i="1" dirty="0"/>
          </a:p>
          <a:p>
            <a:pPr marL="0" indent="0">
              <a:buFont typeface="Wingdings" panose="05000000000000000000" pitchFamily="2" charset="2"/>
              <a:buNone/>
            </a:pPr>
            <a:r>
              <a:rPr lang="zh-CN" altLang="en-US" sz="1800" dirty="0"/>
              <a:t>  }  </a:t>
            </a:r>
            <a:endParaRPr lang="zh-CN" altLang="en-US" sz="1800" dirty="0"/>
          </a:p>
        </p:txBody>
      </p:sp>
      <p:grpSp>
        <p:nvGrpSpPr>
          <p:cNvPr id="5" name="组合 4"/>
          <p:cNvGrpSpPr/>
          <p:nvPr/>
        </p:nvGrpSpPr>
        <p:grpSpPr>
          <a:xfrm>
            <a:off x="-612576" y="116632"/>
            <a:ext cx="7416824" cy="648129"/>
            <a:chOff x="-180528" y="5152869"/>
            <a:chExt cx="7243325" cy="526322"/>
          </a:xfrm>
        </p:grpSpPr>
        <p:grpSp>
          <p:nvGrpSpPr>
            <p:cNvPr id="6" name="组合 5"/>
            <p:cNvGrpSpPr/>
            <p:nvPr/>
          </p:nvGrpSpPr>
          <p:grpSpPr>
            <a:xfrm>
              <a:off x="-180528" y="5152869"/>
              <a:ext cx="7243325" cy="526322"/>
              <a:chOff x="-240188" y="5778644"/>
              <a:chExt cx="7889473" cy="689206"/>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7"/>
            <a:ext cx="8507288" cy="5040560"/>
          </a:xfrm>
          <a:ln>
            <a:miter/>
          </a:ln>
        </p:spPr>
        <p:txBody>
          <a:bodyPr/>
          <a:lstStyle/>
          <a:p>
            <a:pPr>
              <a:buClr>
                <a:srgbClr val="FF0000"/>
              </a:buClr>
              <a:buFont typeface="Wingdings" panose="05000000000000000000" pitchFamily="2" charset="2"/>
              <a:buChar char="n"/>
              <a:defRPr/>
            </a:pPr>
            <a:r>
              <a:rPr lang="zh-CN" altLang="en-US" sz="1800" noProof="1"/>
              <a:t>当</a:t>
            </a:r>
            <a:r>
              <a:rPr lang="en-US" altLang="zh-CN" sz="1800" i="1" dirty="0"/>
              <a:t>n </a:t>
            </a:r>
            <a:r>
              <a:rPr lang="zh-CN" altLang="en-US" sz="1800" noProof="1"/>
              <a:t>＝４时，本算法的搜索和回溯过程可用树形结构描述为如下图所示的形式：</a:t>
            </a:r>
            <a:endParaRPr lang="zh-CN" altLang="en-US" sz="1800" noProof="1"/>
          </a:p>
          <a:p>
            <a:pPr>
              <a:buClr>
                <a:srgbClr val="FF0000"/>
              </a:buClr>
              <a:buFont typeface="Wingdings" panose="05000000000000000000" pitchFamily="2" charset="2"/>
              <a:buChar char="n"/>
              <a:defRPr/>
            </a:pPr>
            <a:r>
              <a:rPr lang="zh-CN" altLang="en-US" sz="1800" noProof="1"/>
              <a:t>其中括号中表示每列中已放置的棋子的行号。</a:t>
            </a:r>
            <a:endParaRPr lang="zh-CN" altLang="en-US" sz="1800" noProof="1"/>
          </a:p>
          <a:p>
            <a:pPr>
              <a:buClr>
                <a:srgbClr val="FF0000"/>
              </a:buClr>
              <a:buFont typeface="Wingdings" panose="05000000000000000000" pitchFamily="2" charset="2"/>
              <a:buChar char="n"/>
              <a:defRPr/>
            </a:pPr>
            <a:r>
              <a:rPr lang="zh-CN" altLang="en-US" sz="1800" noProof="1"/>
              <a:t>另外，为节省篇幅，只列出了当前可以放置的位置。</a:t>
            </a:r>
            <a:endParaRPr lang="en-US" altLang="zh-CN" sz="1800" noProof="1"/>
          </a:p>
          <a:p>
            <a:pPr>
              <a:buClr>
                <a:srgbClr val="FF0000"/>
              </a:buClr>
              <a:buFont typeface="Wingdings" panose="05000000000000000000" pitchFamily="2" charset="2"/>
              <a:buChar char="n"/>
              <a:defRPr/>
            </a:pPr>
            <a:endParaRPr lang="en-US" altLang="zh-CN" sz="1600" noProof="1"/>
          </a:p>
          <a:p>
            <a:pPr>
              <a:buClr>
                <a:srgbClr val="FF0000"/>
              </a:buClr>
              <a:buFont typeface="Wingdings" panose="05000000000000000000" pitchFamily="2" charset="2"/>
              <a:buChar char="n"/>
              <a:defRPr/>
            </a:pPr>
            <a:endParaRPr lang="en-US" altLang="zh-CN" sz="1600" noProof="1"/>
          </a:p>
          <a:p>
            <a:pPr>
              <a:buClr>
                <a:srgbClr val="FF0000"/>
              </a:buClr>
              <a:buFont typeface="Wingdings" panose="05000000000000000000" pitchFamily="2" charset="2"/>
              <a:buChar char="n"/>
              <a:defRPr/>
            </a:pPr>
            <a:endParaRPr lang="en-US" altLang="zh-CN" sz="1600" noProof="1"/>
          </a:p>
          <a:p>
            <a:pPr>
              <a:buClr>
                <a:srgbClr val="FF0000"/>
              </a:buClr>
              <a:buFont typeface="Wingdings" panose="05000000000000000000" pitchFamily="2" charset="2"/>
              <a:buChar char="n"/>
              <a:defRPr/>
            </a:pPr>
            <a:endParaRPr lang="en-US" altLang="zh-CN" sz="1600" noProof="1"/>
          </a:p>
          <a:p>
            <a:pPr>
              <a:buClr>
                <a:srgbClr val="FF0000"/>
              </a:buClr>
              <a:buFont typeface="Wingdings" panose="05000000000000000000" pitchFamily="2" charset="2"/>
              <a:buChar char="n"/>
              <a:defRPr/>
            </a:pPr>
            <a:endParaRPr lang="en-US" altLang="zh-CN" sz="1600" noProof="1"/>
          </a:p>
          <a:p>
            <a:pPr>
              <a:buClr>
                <a:srgbClr val="FF0000"/>
              </a:buClr>
              <a:buFont typeface="Wingdings" panose="05000000000000000000" pitchFamily="2" charset="2"/>
              <a:buChar char="n"/>
              <a:defRPr/>
            </a:pPr>
            <a:endParaRPr lang="en-US" altLang="zh-CN" sz="1600" noProof="1"/>
          </a:p>
          <a:p>
            <a:pPr>
              <a:buClr>
                <a:srgbClr val="FF0000"/>
              </a:buClr>
              <a:buFont typeface="Wingdings" panose="05000000000000000000" pitchFamily="2" charset="2"/>
              <a:buChar char="n"/>
              <a:defRPr/>
            </a:pPr>
            <a:endParaRPr lang="en-US" altLang="zh-CN" sz="1600" noProof="1"/>
          </a:p>
          <a:p>
            <a:pPr>
              <a:buClr>
                <a:srgbClr val="FF0000"/>
              </a:buClr>
              <a:buFont typeface="Wingdings" panose="05000000000000000000" pitchFamily="2" charset="2"/>
              <a:buChar char="n"/>
              <a:defRPr/>
            </a:pPr>
            <a:endParaRPr lang="en-US" altLang="zh-CN" sz="1600" noProof="1"/>
          </a:p>
          <a:p>
            <a:pPr>
              <a:buClr>
                <a:srgbClr val="FF0000"/>
              </a:buClr>
              <a:buFont typeface="Wingdings" panose="05000000000000000000" pitchFamily="2" charset="2"/>
              <a:buChar char="n"/>
              <a:defRPr/>
            </a:pPr>
            <a:endParaRPr lang="en-US" altLang="zh-CN" sz="1600" noProof="1"/>
          </a:p>
          <a:p>
            <a:pPr>
              <a:buClr>
                <a:srgbClr val="FF0000"/>
              </a:buClr>
              <a:buFont typeface="Wingdings" panose="05000000000000000000" pitchFamily="2" charset="2"/>
              <a:buChar char="n"/>
              <a:defRPr/>
            </a:pPr>
            <a:endParaRPr lang="en-US" altLang="zh-CN" sz="1600" noProof="1"/>
          </a:p>
          <a:p>
            <a:pPr>
              <a:buClr>
                <a:srgbClr val="FF0000"/>
              </a:buClr>
              <a:buFont typeface="Wingdings" panose="05000000000000000000" pitchFamily="2" charset="2"/>
              <a:buChar char="n"/>
              <a:defRPr/>
            </a:pPr>
            <a:endParaRPr lang="en-US" altLang="zh-CN" sz="1600" noProof="1"/>
          </a:p>
          <a:p>
            <a:pPr>
              <a:buClr>
                <a:srgbClr val="FF0000"/>
              </a:buClr>
              <a:buFont typeface="Wingdings" panose="05000000000000000000" pitchFamily="2" charset="2"/>
              <a:buChar char="n"/>
              <a:defRPr/>
            </a:pPr>
            <a:endParaRPr lang="en-US" altLang="zh-CN" sz="1600" noProof="1"/>
          </a:p>
          <a:p>
            <a:pPr>
              <a:buClr>
                <a:srgbClr val="FF0000"/>
              </a:buClr>
              <a:buFont typeface="Wingdings" panose="05000000000000000000" pitchFamily="2" charset="2"/>
              <a:buChar char="n"/>
              <a:defRPr/>
            </a:pPr>
            <a:endParaRPr lang="zh-CN" altLang="en-US" sz="1600" noProof="1"/>
          </a:p>
          <a:p>
            <a:pPr marL="0" indent="0">
              <a:buFont typeface="Wingdings" panose="05000000000000000000" pitchFamily="2" charset="2"/>
              <a:buNone/>
              <a:defRPr/>
            </a:pPr>
            <a:r>
              <a:rPr lang="zh-CN" altLang="en-US" sz="1600" noProof="1"/>
              <a:t>             </a:t>
            </a:r>
            <a:endParaRPr lang="zh-CN" altLang="en-US" sz="1600" noProof="1"/>
          </a:p>
          <a:p>
            <a:pPr marL="0" indent="0">
              <a:buFont typeface="Wingdings" panose="05000000000000000000" pitchFamily="2" charset="2"/>
              <a:buNone/>
              <a:defRPr/>
            </a:pPr>
            <a:r>
              <a:rPr lang="zh-CN" altLang="en-US" sz="2000" b="1" noProof="1"/>
              <a:t>                            八皇后问题搜索过程的树形表示示例（</a:t>
            </a:r>
            <a:r>
              <a:rPr lang="zh-CN" altLang="en-US" sz="2000" b="1" i="1" noProof="1"/>
              <a:t>n </a:t>
            </a:r>
            <a:r>
              <a:rPr lang="zh-CN" altLang="en-US" sz="2000" b="1" noProof="1"/>
              <a:t>= 4）</a:t>
            </a:r>
            <a:endParaRPr lang="zh-CN" altLang="en-US" sz="2000" b="1" noProof="1"/>
          </a:p>
        </p:txBody>
      </p:sp>
      <p:grpSp>
        <p:nvGrpSpPr>
          <p:cNvPr id="23" name="组合 22"/>
          <p:cNvGrpSpPr/>
          <p:nvPr/>
        </p:nvGrpSpPr>
        <p:grpSpPr>
          <a:xfrm>
            <a:off x="-612576" y="116632"/>
            <a:ext cx="7416824" cy="648129"/>
            <a:chOff x="-180528" y="5152869"/>
            <a:chExt cx="7243325" cy="526322"/>
          </a:xfrm>
        </p:grpSpPr>
        <p:grpSp>
          <p:nvGrpSpPr>
            <p:cNvPr id="24" name="组合 23"/>
            <p:cNvGrpSpPr/>
            <p:nvPr/>
          </p:nvGrpSpPr>
          <p:grpSpPr>
            <a:xfrm>
              <a:off x="-180528" y="5152869"/>
              <a:ext cx="7243325" cy="526322"/>
              <a:chOff x="-240188" y="5778644"/>
              <a:chExt cx="7889473" cy="689206"/>
            </a:xfrm>
          </p:grpSpPr>
          <p:sp>
            <p:nvSpPr>
              <p:cNvPr id="26"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7"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25" name="图片 2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pic>
        <p:nvPicPr>
          <p:cNvPr id="7" name="图片 6"/>
          <p:cNvPicPr>
            <a:picLocks noChangeAspect="1"/>
          </p:cNvPicPr>
          <p:nvPr/>
        </p:nvPicPr>
        <p:blipFill>
          <a:blip r:embed="rId2"/>
          <a:stretch>
            <a:fillRect/>
          </a:stretch>
        </p:blipFill>
        <p:spPr>
          <a:xfrm>
            <a:off x="750573" y="2132856"/>
            <a:ext cx="7496274" cy="3725789"/>
          </a:xfrm>
          <a:prstGeom prst="rect">
            <a:avLst/>
          </a:prstGeom>
        </p:spPr>
      </p:pic>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
                                            <p:txEl>
                                              <p:pRg st="16" end="16"/>
                                            </p:txEl>
                                          </p:spTgt>
                                        </p:tgtEl>
                                        <p:attrNameLst>
                                          <p:attrName>style.visibility</p:attrName>
                                        </p:attrNameLst>
                                      </p:cBhvr>
                                      <p:to>
                                        <p:strVal val="visible"/>
                                      </p:to>
                                    </p:set>
                                    <p:animEffect transition="in" filter="blinds(horizontal)">
                                      <p:cBhvr>
                                        <p:cTn id="28" dur="500"/>
                                        <p:tgtEl>
                                          <p:spTgt spid="3">
                                            <p:txEl>
                                              <p:pRg st="16" end="1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
                                            <p:txEl>
                                              <p:pRg st="17" end="17"/>
                                            </p:txEl>
                                          </p:spTgt>
                                        </p:tgtEl>
                                        <p:attrNameLst>
                                          <p:attrName>style.visibility</p:attrName>
                                        </p:attrNameLst>
                                      </p:cBhvr>
                                      <p:to>
                                        <p:strVal val="visible"/>
                                      </p:to>
                                    </p:set>
                                    <p:animEffect transition="in" filter="blinds(horizontal)">
                                      <p:cBhvr>
                                        <p:cTn id="33" dur="500"/>
                                        <p:tgtEl>
                                          <p:spTgt spid="3">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12576" y="116632"/>
            <a:ext cx="7416824" cy="648129"/>
            <a:chOff x="-180528" y="5152869"/>
            <a:chExt cx="7243325" cy="526322"/>
          </a:xfrm>
        </p:grpSpPr>
        <p:grpSp>
          <p:nvGrpSpPr>
            <p:cNvPr id="5" name="组合 4"/>
            <p:cNvGrpSpPr/>
            <p:nvPr/>
          </p:nvGrpSpPr>
          <p:grpSpPr>
            <a:xfrm>
              <a:off x="-180528" y="5152869"/>
              <a:ext cx="7243325" cy="526322"/>
              <a:chOff x="-240188" y="5778644"/>
              <a:chExt cx="7889473" cy="689206"/>
            </a:xfrm>
          </p:grpSpPr>
          <p:sp>
            <p:nvSpPr>
              <p:cNvPr id="7"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9" name="AutoShape 3"/>
          <p:cNvSpPr txBox="1">
            <a:spLocks noChangeAspect="1" noChangeArrowheads="1"/>
          </p:cNvSpPr>
          <p:nvPr/>
        </p:nvSpPr>
        <p:spPr bwMode="auto">
          <a:xfrm>
            <a:off x="750322" y="1442708"/>
            <a:ext cx="8370243"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1200"/>
              </a:spcBef>
              <a:buClr>
                <a:srgbClr val="FF0000"/>
              </a:buClr>
              <a:buFont typeface="Wingdings" panose="05000000000000000000" pitchFamily="2" charset="2"/>
              <a:buChar char="ü"/>
            </a:pPr>
            <a:r>
              <a:rPr lang="zh-CN" altLang="en-US" sz="2400" b="1" dirty="0"/>
              <a:t>例</a:t>
            </a:r>
            <a:r>
              <a:rPr lang="en-US" altLang="zh-CN" sz="2400" b="1" dirty="0"/>
              <a:t>2</a:t>
            </a:r>
            <a:r>
              <a:rPr lang="zh-CN" altLang="en-US" sz="2400" b="1" dirty="0"/>
              <a:t>：兔子繁殖问题</a:t>
            </a:r>
            <a:endParaRPr lang="en-US" altLang="zh-CN" sz="2400" b="1" dirty="0"/>
          </a:p>
          <a:p>
            <a:pPr marL="1257300" lvl="3" indent="0">
              <a:spcBef>
                <a:spcPts val="0"/>
              </a:spcBef>
              <a:buNone/>
            </a:pPr>
            <a:r>
              <a:rPr lang="zh-CN" altLang="en-US" b="1" dirty="0"/>
              <a:t>    </a:t>
            </a:r>
            <a:r>
              <a:rPr lang="en-US" altLang="zh-CN" b="1" dirty="0"/>
              <a:t> </a:t>
            </a:r>
            <a:r>
              <a:rPr lang="zh-CN" altLang="en-US" sz="2200" b="1" dirty="0"/>
              <a:t>有</a:t>
            </a:r>
            <a:r>
              <a:rPr lang="en-US" altLang="zh-CN" sz="2200" b="1" dirty="0"/>
              <a:t>1</a:t>
            </a:r>
            <a:r>
              <a:rPr lang="zh-CN" altLang="en-US" sz="2200" b="1" dirty="0"/>
              <a:t>对小兔子，假设从第</a:t>
            </a:r>
            <a:r>
              <a:rPr lang="en-US" altLang="zh-CN" sz="2200" b="1" dirty="0"/>
              <a:t>3</a:t>
            </a:r>
            <a:r>
              <a:rPr lang="zh-CN" altLang="en-US" sz="2200" b="1" dirty="0"/>
              <a:t>个月开始，每月可生</a:t>
            </a:r>
            <a:r>
              <a:rPr lang="en-US" altLang="zh-CN" sz="2200" b="1" dirty="0"/>
              <a:t>1</a:t>
            </a:r>
            <a:r>
              <a:rPr lang="zh-CN" altLang="en-US" sz="2200" b="1" dirty="0"/>
              <a:t>对兔   </a:t>
            </a:r>
            <a:endParaRPr lang="en-US" altLang="zh-CN" sz="2200" b="1" dirty="0"/>
          </a:p>
          <a:p>
            <a:pPr marL="1257300" lvl="3" indent="0">
              <a:spcBef>
                <a:spcPts val="0"/>
              </a:spcBef>
              <a:buNone/>
            </a:pPr>
            <a:r>
              <a:rPr lang="en-US" altLang="zh-CN" sz="2200" b="1" dirty="0"/>
              <a:t>     </a:t>
            </a:r>
            <a:r>
              <a:rPr lang="zh-CN" altLang="en-US" sz="2200" b="1" dirty="0"/>
              <a:t>子。假设新生兔子生产规律类似，问：</a:t>
            </a:r>
            <a:r>
              <a:rPr lang="zh-CN" altLang="en-US" sz="2200" b="1" dirty="0">
                <a:solidFill>
                  <a:srgbClr val="FF0000"/>
                </a:solidFill>
              </a:rPr>
              <a:t>第</a:t>
            </a:r>
            <a:r>
              <a:rPr lang="en-US" altLang="zh-CN" sz="2200" b="1" dirty="0">
                <a:solidFill>
                  <a:srgbClr val="FF0000"/>
                </a:solidFill>
              </a:rPr>
              <a:t>3</a:t>
            </a:r>
            <a:r>
              <a:rPr lang="zh-CN" altLang="en-US" sz="2200" b="1" dirty="0">
                <a:solidFill>
                  <a:srgbClr val="FF0000"/>
                </a:solidFill>
              </a:rPr>
              <a:t>年每个月</a:t>
            </a:r>
            <a:endParaRPr lang="en-US" altLang="zh-CN" sz="2200" b="1" dirty="0">
              <a:solidFill>
                <a:srgbClr val="FF0000"/>
              </a:solidFill>
            </a:endParaRPr>
          </a:p>
          <a:p>
            <a:pPr marL="1257300" lvl="3" indent="0">
              <a:spcBef>
                <a:spcPts val="0"/>
              </a:spcBef>
              <a:buNone/>
            </a:pPr>
            <a:r>
              <a:rPr lang="en-US" altLang="zh-CN" sz="2200" b="1" dirty="0">
                <a:solidFill>
                  <a:srgbClr val="FF0000"/>
                </a:solidFill>
              </a:rPr>
              <a:t>     </a:t>
            </a:r>
            <a:r>
              <a:rPr lang="zh-CN" altLang="en-US" sz="2200" b="1" dirty="0">
                <a:solidFill>
                  <a:srgbClr val="FF0000"/>
                </a:solidFill>
              </a:rPr>
              <a:t>的兔子总数为多少？</a:t>
            </a:r>
            <a:endParaRPr lang="en-US" altLang="zh-CN" sz="2200" b="1" dirty="0">
              <a:solidFill>
                <a:srgbClr val="FF0000"/>
              </a:solidFill>
            </a:endParaRPr>
          </a:p>
          <a:p>
            <a:pPr marL="1257300" lvl="3" indent="0">
              <a:spcBef>
                <a:spcPts val="1200"/>
              </a:spcBef>
              <a:buNone/>
            </a:pPr>
            <a:endParaRPr lang="en-US" altLang="zh-CN" sz="2400" b="1" dirty="0">
              <a:solidFill>
                <a:srgbClr val="FF0000"/>
              </a:solidFill>
            </a:endParaRPr>
          </a:p>
          <a:p>
            <a:pPr marL="1257300" lvl="3" indent="0">
              <a:spcBef>
                <a:spcPts val="1200"/>
              </a:spcBef>
              <a:buNone/>
            </a:pPr>
            <a:endParaRPr lang="en-US" altLang="zh-CN" sz="2400" b="1" dirty="0">
              <a:solidFill>
                <a:srgbClr val="FF0000"/>
              </a:solidFill>
            </a:endParaRPr>
          </a:p>
          <a:p>
            <a:pPr marL="1257300" lvl="3" indent="0">
              <a:spcBef>
                <a:spcPts val="1200"/>
              </a:spcBef>
              <a:buNone/>
            </a:pPr>
            <a:endParaRPr lang="en-US" altLang="zh-CN" sz="2400" b="1" dirty="0">
              <a:solidFill>
                <a:srgbClr val="FF0000"/>
              </a:solidFill>
            </a:endParaRPr>
          </a:p>
          <a:p>
            <a:pPr marL="1257300" lvl="3" indent="0">
              <a:spcBef>
                <a:spcPts val="1200"/>
              </a:spcBef>
              <a:buNone/>
            </a:pPr>
            <a:endParaRPr lang="en-US" altLang="zh-CN" sz="2400" b="1" dirty="0">
              <a:solidFill>
                <a:srgbClr val="FF0000"/>
              </a:solidFill>
            </a:endParaRPr>
          </a:p>
          <a:p>
            <a:pPr marL="1257300" lvl="3" indent="0">
              <a:spcBef>
                <a:spcPts val="1200"/>
              </a:spcBef>
              <a:buNone/>
            </a:pPr>
            <a:endParaRPr lang="en-US" altLang="zh-CN" sz="2400" b="1" dirty="0">
              <a:solidFill>
                <a:srgbClr val="FF0000"/>
              </a:solidFill>
            </a:endParaRPr>
          </a:p>
          <a:p>
            <a:pPr marL="1257300" lvl="3" indent="0">
              <a:spcBef>
                <a:spcPts val="1200"/>
              </a:spcBef>
              <a:buNone/>
            </a:pPr>
            <a:endParaRPr lang="zh-CN" altLang="en-US" sz="2400" b="1" dirty="0">
              <a:solidFill>
                <a:srgbClr val="FF0000"/>
              </a:solidFill>
            </a:endParaRPr>
          </a:p>
          <a:p>
            <a:pPr>
              <a:buFont typeface="Wingdings" panose="05000000000000000000" pitchFamily="2" charset="2"/>
              <a:buNone/>
            </a:pPr>
            <a:endParaRPr lang="en-US" altLang="zh-CN" b="1" dirty="0"/>
          </a:p>
        </p:txBody>
      </p:sp>
      <p:pic>
        <p:nvPicPr>
          <p:cNvPr id="1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6400" y="3356992"/>
            <a:ext cx="2818085" cy="1873380"/>
          </a:xfrm>
          <a:prstGeom prst="rect">
            <a:avLst/>
          </a:prstGeom>
          <a:noFill/>
          <a:extLst>
            <a:ext uri="{909E8E84-426E-40DD-AFC4-6F175D3DCCD1}">
              <a14:hiddenFill xmlns:a14="http://schemas.microsoft.com/office/drawing/2010/main">
                <a:solidFill>
                  <a:srgbClr val="FFFFFF"/>
                </a:solidFill>
              </a14:hiddenFill>
            </a:ext>
          </a:extLst>
        </p:spPr>
      </p:pic>
      <p:pic>
        <p:nvPicPr>
          <p:cNvPr id="11" name="图片 10"/>
          <p:cNvPicPr>
            <a:picLocks noChangeAspect="1"/>
          </p:cNvPicPr>
          <p:nvPr/>
        </p:nvPicPr>
        <p:blipFill>
          <a:blip r:embed="rId3" cstate="print"/>
          <a:stretch>
            <a:fillRect/>
          </a:stretch>
        </p:blipFill>
        <p:spPr>
          <a:xfrm>
            <a:off x="908512" y="1922839"/>
            <a:ext cx="1474908" cy="1157694"/>
          </a:xfrm>
          <a:prstGeom prst="rect">
            <a:avLst/>
          </a:prstGeom>
        </p:spPr>
      </p:pic>
      <p:sp>
        <p:nvSpPr>
          <p:cNvPr id="2" name="矩形 1"/>
          <p:cNvSpPr/>
          <p:nvPr/>
        </p:nvSpPr>
        <p:spPr>
          <a:xfrm>
            <a:off x="536794" y="962577"/>
            <a:ext cx="4254691" cy="480131"/>
          </a:xfrm>
          <a:prstGeom prst="rect">
            <a:avLst/>
          </a:prstGeom>
        </p:spPr>
        <p:txBody>
          <a:bodyPr wrap="none">
            <a:spAutoFit/>
          </a:bodyPr>
          <a:lstStyle/>
          <a:p>
            <a:pPr>
              <a:lnSpc>
                <a:spcPct val="90000"/>
              </a:lnSpc>
              <a:buClr>
                <a:srgbClr val="FF0000"/>
              </a:buClr>
              <a:buFont typeface="Wingdings" panose="05000000000000000000" pitchFamily="2" charset="2"/>
              <a:buChar char="Ø"/>
            </a:pPr>
            <a:r>
              <a:rPr lang="en-US" altLang="zh-CN" sz="2800" b="1" dirty="0"/>
              <a:t>7.7.2 </a:t>
            </a:r>
            <a:r>
              <a:rPr lang="zh-CN" altLang="en-US" sz="2800" b="1" dirty="0"/>
              <a:t>递归算法设计举例</a:t>
            </a:r>
            <a:endParaRPr lang="zh-CN" altLang="en-US" sz="2800" b="1" dirty="0"/>
          </a:p>
        </p:txBody>
      </p:sp>
      <p:sp>
        <p:nvSpPr>
          <p:cNvPr id="3" name="页脚占位符 2"/>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2" presetClass="entr" presetSubtype="4" fill="hold" nodeType="withEffect">
                                  <p:stCondLst>
                                    <p:cond delay="0"/>
                                  </p:stCondLst>
                                  <p:childTnLst>
                                    <p:set>
                                      <p:cBhvr>
                                        <p:cTn id="8" dur="1" fill="hold">
                                          <p:stCondLst>
                                            <p:cond delay="0"/>
                                          </p:stCondLst>
                                        </p:cTn>
                                        <p:tgtEl>
                                          <p:spTgt spid="11"/>
                                        </p:tgtEl>
                                        <p:attrNameLst>
                                          <p:attrName>style.visibility</p:attrName>
                                        </p:attrNameLst>
                                      </p:cBhvr>
                                      <p:to>
                                        <p:strVal val="visible"/>
                                      </p:to>
                                    </p:set>
                                    <p:anim calcmode="lin" valueType="num">
                                      <p:cBhvr additive="base">
                                        <p:cTn id="9" dur="500" fill="hold"/>
                                        <p:tgtEl>
                                          <p:spTgt spid="11"/>
                                        </p:tgtEl>
                                        <p:attrNameLst>
                                          <p:attrName>ppt_x</p:attrName>
                                        </p:attrNameLst>
                                      </p:cBhvr>
                                      <p:tavLst>
                                        <p:tav tm="0">
                                          <p:val>
                                            <p:strVal val="#ppt_x"/>
                                          </p:val>
                                        </p:tav>
                                        <p:tav tm="100000">
                                          <p:val>
                                            <p:strVal val="#ppt_x"/>
                                          </p:val>
                                        </p:tav>
                                      </p:tavLst>
                                    </p:anim>
                                    <p:anim calcmode="lin" valueType="num">
                                      <p:cBhvr additive="base">
                                        <p:cTn id="1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内容占位符 37890"/>
          <p:cNvSpPr>
            <a:spLocks noGrp="1" noChangeArrowheads="1"/>
          </p:cNvSpPr>
          <p:nvPr>
            <p:ph idx="1"/>
          </p:nvPr>
        </p:nvSpPr>
        <p:spPr>
          <a:xfrm>
            <a:off x="457200" y="1052737"/>
            <a:ext cx="8229600" cy="5040560"/>
          </a:xfrm>
        </p:spPr>
        <p:txBody>
          <a:bodyPr/>
          <a:lstStyle/>
          <a:p>
            <a:pPr>
              <a:lnSpc>
                <a:spcPct val="90000"/>
              </a:lnSpc>
              <a:buClr>
                <a:srgbClr val="FF0000"/>
              </a:buClr>
              <a:buFont typeface="Wingdings" panose="05000000000000000000" pitchFamily="2" charset="2"/>
              <a:buChar char="Ø"/>
            </a:pPr>
            <a:r>
              <a:rPr lang="en-US" altLang="zh-CN" sz="2800" b="1" dirty="0"/>
              <a:t>7.7.2 </a:t>
            </a:r>
            <a:r>
              <a:rPr lang="zh-CN" altLang="en-US" sz="2800" b="1" dirty="0"/>
              <a:t>递归算法设计举例</a:t>
            </a:r>
            <a:endParaRPr lang="zh-CN" altLang="en-US" sz="2800" b="1" dirty="0"/>
          </a:p>
          <a:p>
            <a:pPr eaLnBrk="1" hangingPunct="1">
              <a:buFont typeface="Wingdings" panose="05000000000000000000" pitchFamily="2" charset="2"/>
              <a:buNone/>
            </a:pPr>
            <a:r>
              <a:rPr lang="zh-CN" altLang="en-US" sz="2000" b="1" dirty="0"/>
              <a:t>例 </a:t>
            </a:r>
            <a:r>
              <a:rPr lang="en-US" altLang="zh-CN" sz="2000" b="1" dirty="0"/>
              <a:t>3.</a:t>
            </a:r>
            <a:r>
              <a:rPr lang="zh-CN" altLang="en-US" sz="2000" b="1" dirty="0">
                <a:solidFill>
                  <a:srgbClr val="FF0000"/>
                </a:solidFill>
              </a:rPr>
              <a:t> 背包问题</a:t>
            </a:r>
            <a:r>
              <a:rPr lang="zh-CN" altLang="en-US" sz="2000" b="1" dirty="0"/>
              <a:t>：设有</a:t>
            </a:r>
            <a:r>
              <a:rPr lang="en-US" altLang="zh-CN" sz="2000" b="1" i="1" dirty="0"/>
              <a:t>n</a:t>
            </a:r>
            <a:r>
              <a:rPr lang="zh-CN" altLang="en-US" sz="2000" b="1" dirty="0"/>
              <a:t>个物品，其重量分别为</a:t>
            </a:r>
            <a:r>
              <a:rPr lang="en-US" altLang="zh-CN" sz="2000" b="1" i="1" dirty="0"/>
              <a:t>w</a:t>
            </a:r>
            <a:r>
              <a:rPr lang="en-US" altLang="zh-CN" sz="2000" b="1" baseline="-25000" dirty="0"/>
              <a:t>1</a:t>
            </a:r>
            <a:r>
              <a:rPr lang="zh-CN" altLang="en-US" sz="2000" b="1" dirty="0"/>
              <a:t>，</a:t>
            </a:r>
            <a:r>
              <a:rPr lang="en-US" altLang="zh-CN" sz="2000" b="1" i="1" dirty="0"/>
              <a:t>w</a:t>
            </a:r>
            <a:r>
              <a:rPr lang="en-US" altLang="zh-CN" sz="2000" b="1" baseline="-25000" dirty="0"/>
              <a:t>2</a:t>
            </a:r>
            <a:r>
              <a:rPr lang="zh-CN" altLang="en-US" sz="2000" b="1" dirty="0"/>
              <a:t>，</a:t>
            </a:r>
            <a:r>
              <a:rPr lang="en-US" altLang="zh-CN" sz="2000" b="1" i="1" dirty="0"/>
              <a:t>w</a:t>
            </a:r>
            <a:r>
              <a:rPr lang="en-US" altLang="zh-CN" sz="2000" b="1" baseline="-25000" dirty="0"/>
              <a:t>3</a:t>
            </a:r>
            <a:r>
              <a:rPr lang="zh-CN" altLang="en-US" sz="2000" b="1" dirty="0"/>
              <a:t>，</a:t>
            </a:r>
            <a:r>
              <a:rPr lang="en-US" altLang="zh-CN" sz="2000" b="1" dirty="0"/>
              <a:t>…</a:t>
            </a:r>
            <a:r>
              <a:rPr lang="zh-CN" altLang="en-US" sz="2000" b="1" dirty="0"/>
              <a:t>，</a:t>
            </a:r>
            <a:r>
              <a:rPr lang="en-US" altLang="zh-CN" sz="2000" b="1" i="1" dirty="0" err="1"/>
              <a:t>w</a:t>
            </a:r>
            <a:r>
              <a:rPr lang="en-US" altLang="zh-CN" sz="2000" b="1" i="1" baseline="-25000" dirty="0" err="1"/>
              <a:t>n</a:t>
            </a:r>
            <a:r>
              <a:rPr lang="zh-CN" altLang="en-US" sz="2000" b="1" dirty="0"/>
              <a:t>，所有物品的重量之和≥背包所能放置的重量</a:t>
            </a:r>
            <a:r>
              <a:rPr lang="en-US" altLang="zh-CN" sz="2000" b="1" i="1" dirty="0"/>
              <a:t>S</a:t>
            </a:r>
            <a:r>
              <a:rPr lang="zh-CN" altLang="en-US" sz="2000" b="1" dirty="0"/>
              <a:t>。设计算法从中找出若干物品放入背包中，使得其重量之和正好为</a:t>
            </a:r>
            <a:r>
              <a:rPr lang="en-US" altLang="zh-CN" sz="2000" b="1" i="1" dirty="0"/>
              <a:t>S </a:t>
            </a:r>
            <a:r>
              <a:rPr lang="zh-CN" altLang="en-US" sz="2000" b="1" dirty="0"/>
              <a:t>。 </a:t>
            </a:r>
            <a:endParaRPr lang="zh-CN" altLang="en-US" sz="2000" b="1" dirty="0"/>
          </a:p>
          <a:p>
            <a:pPr eaLnBrk="1" hangingPunct="1">
              <a:buFont typeface="Wingdings" panose="05000000000000000000" pitchFamily="2" charset="2"/>
              <a:buNone/>
            </a:pPr>
            <a:r>
              <a:rPr lang="zh-CN" altLang="en-US" sz="2000" b="1" dirty="0"/>
              <a:t>      例如，</a:t>
            </a:r>
            <a:r>
              <a:rPr lang="en-US" altLang="zh-CN" sz="2000" b="1" i="1" dirty="0"/>
              <a:t>S </a:t>
            </a:r>
            <a:r>
              <a:rPr lang="en-US" altLang="zh-CN" sz="2000" b="1" dirty="0"/>
              <a:t>= 50, </a:t>
            </a:r>
            <a:r>
              <a:rPr lang="en-US" altLang="zh-CN" sz="2000" b="1" i="1" dirty="0"/>
              <a:t>n </a:t>
            </a:r>
            <a:r>
              <a:rPr lang="en-US" altLang="zh-CN" sz="2000" b="1" dirty="0"/>
              <a:t>= 10,  </a:t>
            </a:r>
            <a:r>
              <a:rPr lang="en-US" altLang="zh-CN" sz="2000" b="1" i="1" dirty="0"/>
              <a:t>w </a:t>
            </a:r>
            <a:r>
              <a:rPr lang="en-US" altLang="zh-CN" sz="2000" b="1" dirty="0"/>
              <a:t>= ( 29  26  18  16  13  10  8  5  3  1)</a:t>
            </a:r>
            <a:endParaRPr lang="en-US" altLang="zh-CN" sz="2000" b="1" dirty="0"/>
          </a:p>
          <a:p>
            <a:pPr eaLnBrk="1" hangingPunct="1">
              <a:buFont typeface="Wingdings" panose="05000000000000000000" pitchFamily="2" charset="2"/>
              <a:buNone/>
            </a:pPr>
            <a:r>
              <a:rPr lang="en-US" altLang="zh-CN" sz="2000" b="1" dirty="0"/>
              <a:t>      (</a:t>
            </a:r>
            <a:r>
              <a:rPr lang="zh-CN" altLang="en-US" sz="2000" b="1" dirty="0"/>
              <a:t>其中每一行为一个解。每一对数中，第一个为该元素在</a:t>
            </a:r>
            <a:r>
              <a:rPr lang="en-US" altLang="zh-CN" sz="2000" b="1" i="1" dirty="0"/>
              <a:t>w</a:t>
            </a:r>
            <a:r>
              <a:rPr lang="zh-CN" altLang="en-US" sz="2000" b="1" dirty="0"/>
              <a:t>中的序号，  第二个为元素的值）：</a:t>
            </a:r>
            <a:endParaRPr lang="zh-CN" altLang="en-US" sz="2000" b="1" dirty="0"/>
          </a:p>
          <a:p>
            <a:pPr>
              <a:lnSpc>
                <a:spcPct val="90000"/>
              </a:lnSpc>
              <a:buFont typeface="Wingdings" panose="05000000000000000000" pitchFamily="2" charset="2"/>
              <a:buNone/>
            </a:pPr>
            <a:r>
              <a:rPr lang="zh-CN" altLang="en-US" sz="2000" dirty="0"/>
              <a:t>  </a:t>
            </a:r>
            <a:r>
              <a:rPr lang="en-US" altLang="zh-CN" sz="1800" dirty="0"/>
              <a:t>(1,29)  (3,18)  (9,3)       </a:t>
            </a:r>
            <a:endParaRPr lang="en-US" altLang="zh-CN" sz="1800" dirty="0"/>
          </a:p>
          <a:p>
            <a:pPr>
              <a:lnSpc>
                <a:spcPct val="90000"/>
              </a:lnSpc>
              <a:buFont typeface="Wingdings" panose="05000000000000000000" pitchFamily="2" charset="2"/>
              <a:buNone/>
            </a:pPr>
            <a:r>
              <a:rPr lang="en-US" altLang="zh-CN" sz="1800" dirty="0"/>
              <a:t>  (1,29)  (4,16)  (8,5)                   </a:t>
            </a:r>
            <a:endParaRPr lang="en-US" altLang="zh-CN" sz="1800" dirty="0"/>
          </a:p>
          <a:p>
            <a:pPr>
              <a:lnSpc>
                <a:spcPct val="90000"/>
              </a:lnSpc>
              <a:buFont typeface="Wingdings" panose="05000000000000000000" pitchFamily="2" charset="2"/>
              <a:buNone/>
            </a:pPr>
            <a:r>
              <a:rPr lang="en-US" altLang="zh-CN" sz="1800" dirty="0"/>
              <a:t>  (1,29)  (5,13)  (7,8)                        </a:t>
            </a:r>
            <a:endParaRPr lang="en-US" altLang="zh-CN" sz="1800" dirty="0"/>
          </a:p>
          <a:p>
            <a:pPr>
              <a:lnSpc>
                <a:spcPct val="90000"/>
              </a:lnSpc>
              <a:buFont typeface="Wingdings" panose="05000000000000000000" pitchFamily="2" charset="2"/>
              <a:buNone/>
            </a:pPr>
            <a:r>
              <a:rPr lang="en-US" altLang="zh-CN" sz="1800" dirty="0"/>
              <a:t>  (1,29)  (5,13)  (8,5)   (9,3)    </a:t>
            </a:r>
            <a:endParaRPr lang="en-US" altLang="zh-CN" sz="1800" dirty="0"/>
          </a:p>
          <a:p>
            <a:pPr>
              <a:lnSpc>
                <a:spcPct val="90000"/>
              </a:lnSpc>
              <a:buFont typeface="Wingdings" panose="05000000000000000000" pitchFamily="2" charset="2"/>
              <a:buNone/>
            </a:pPr>
            <a:r>
              <a:rPr lang="en-US" altLang="zh-CN" sz="1800" dirty="0"/>
              <a:t>  (1,29)  (6,10)  (7,8)   (9,3)               </a:t>
            </a:r>
            <a:endParaRPr lang="en-US" altLang="zh-CN" sz="1800" dirty="0"/>
          </a:p>
          <a:p>
            <a:pPr>
              <a:lnSpc>
                <a:spcPct val="90000"/>
              </a:lnSpc>
              <a:buFont typeface="Wingdings" panose="05000000000000000000" pitchFamily="2" charset="2"/>
              <a:buNone/>
            </a:pPr>
            <a:r>
              <a:rPr lang="en-US" altLang="zh-CN" sz="1800" dirty="0"/>
              <a:t>  (2,26)  (3,18)  (8,5)   (10,1)  </a:t>
            </a:r>
            <a:endParaRPr lang="en-US" altLang="zh-CN" sz="1800" dirty="0"/>
          </a:p>
          <a:p>
            <a:pPr>
              <a:lnSpc>
                <a:spcPct val="90000"/>
              </a:lnSpc>
              <a:buFont typeface="Wingdings" panose="05000000000000000000" pitchFamily="2" charset="2"/>
              <a:buNone/>
            </a:pPr>
            <a:r>
              <a:rPr lang="en-US" altLang="zh-CN" sz="1800" dirty="0"/>
              <a:t>  (2,26)  (4,16)  (7,8)                   </a:t>
            </a:r>
            <a:endParaRPr lang="en-US" altLang="zh-CN" sz="1800" dirty="0"/>
          </a:p>
          <a:p>
            <a:pPr>
              <a:lnSpc>
                <a:spcPct val="90000"/>
              </a:lnSpc>
              <a:buFont typeface="Wingdings" panose="05000000000000000000" pitchFamily="2" charset="2"/>
              <a:buNone/>
            </a:pPr>
            <a:r>
              <a:rPr lang="en-US" altLang="zh-CN" sz="1800" dirty="0"/>
              <a:t>  (2,26)  (4,16)  (8,5)   (9,3)  </a:t>
            </a:r>
            <a:endParaRPr lang="en-US" altLang="zh-CN" sz="1800" dirty="0"/>
          </a:p>
          <a:p>
            <a:pPr>
              <a:lnSpc>
                <a:spcPct val="90000"/>
              </a:lnSpc>
              <a:buFont typeface="Wingdings" panose="05000000000000000000" pitchFamily="2" charset="2"/>
              <a:buNone/>
            </a:pPr>
            <a:r>
              <a:rPr lang="en-US" altLang="zh-CN" sz="1800" dirty="0"/>
              <a:t>  (2,26)  (5,13)  (6,10)  (10,1) </a:t>
            </a:r>
            <a:endParaRPr lang="en-US" altLang="zh-CN" sz="1800" dirty="0"/>
          </a:p>
          <a:p>
            <a:pPr>
              <a:lnSpc>
                <a:spcPct val="90000"/>
              </a:lnSpc>
              <a:buFont typeface="Wingdings" panose="05000000000000000000" pitchFamily="2" charset="2"/>
              <a:buNone/>
            </a:pPr>
            <a:r>
              <a:rPr lang="en-US" altLang="zh-CN" sz="1800" dirty="0"/>
              <a:t>     ……….</a:t>
            </a:r>
            <a:endParaRPr lang="en-US" altLang="zh-CN" sz="1800" dirty="0"/>
          </a:p>
        </p:txBody>
      </p:sp>
      <p:grpSp>
        <p:nvGrpSpPr>
          <p:cNvPr id="6" name="组合 5"/>
          <p:cNvGrpSpPr/>
          <p:nvPr/>
        </p:nvGrpSpPr>
        <p:grpSpPr>
          <a:xfrm>
            <a:off x="-612576" y="116632"/>
            <a:ext cx="7416824" cy="648129"/>
            <a:chOff x="-180528" y="5152869"/>
            <a:chExt cx="7243325" cy="526322"/>
          </a:xfrm>
        </p:grpSpPr>
        <p:grpSp>
          <p:nvGrpSpPr>
            <p:cNvPr id="7" name="组合 6"/>
            <p:cNvGrpSpPr/>
            <p:nvPr/>
          </p:nvGrpSpPr>
          <p:grpSpPr>
            <a:xfrm>
              <a:off x="-180528" y="5152869"/>
              <a:ext cx="7243325" cy="526322"/>
              <a:chOff x="-240188" y="5778644"/>
              <a:chExt cx="7889473" cy="68920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Effect transition="in" filter="blinds(horizontal)">
                                      <p:cBhvr>
                                        <p:cTn id="7" dur="500"/>
                                        <p:tgtEl>
                                          <p:spTgt spid="378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7891">
                                            <p:txEl>
                                              <p:pRg st="1" end="1"/>
                                            </p:txEl>
                                          </p:spTgt>
                                        </p:tgtEl>
                                        <p:attrNameLst>
                                          <p:attrName>style.visibility</p:attrName>
                                        </p:attrNameLst>
                                      </p:cBhvr>
                                      <p:to>
                                        <p:strVal val="visible"/>
                                      </p:to>
                                    </p:set>
                                    <p:animEffect transition="in" filter="blinds(horizontal)">
                                      <p:cBhvr>
                                        <p:cTn id="12" dur="500"/>
                                        <p:tgtEl>
                                          <p:spTgt spid="378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7891">
                                            <p:txEl>
                                              <p:pRg st="2" end="2"/>
                                            </p:txEl>
                                          </p:spTgt>
                                        </p:tgtEl>
                                        <p:attrNameLst>
                                          <p:attrName>style.visibility</p:attrName>
                                        </p:attrNameLst>
                                      </p:cBhvr>
                                      <p:to>
                                        <p:strVal val="visible"/>
                                      </p:to>
                                    </p:set>
                                    <p:animEffect transition="in" filter="blinds(horizontal)">
                                      <p:cBhvr>
                                        <p:cTn id="17" dur="500"/>
                                        <p:tgtEl>
                                          <p:spTgt spid="378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7891">
                                            <p:txEl>
                                              <p:pRg st="3" end="3"/>
                                            </p:txEl>
                                          </p:spTgt>
                                        </p:tgtEl>
                                        <p:attrNameLst>
                                          <p:attrName>style.visibility</p:attrName>
                                        </p:attrNameLst>
                                      </p:cBhvr>
                                      <p:to>
                                        <p:strVal val="visible"/>
                                      </p:to>
                                    </p:set>
                                    <p:animEffect transition="in" filter="blinds(horizontal)">
                                      <p:cBhvr>
                                        <p:cTn id="22" dur="500"/>
                                        <p:tgtEl>
                                          <p:spTgt spid="378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7891">
                                            <p:txEl>
                                              <p:pRg st="4" end="4"/>
                                            </p:txEl>
                                          </p:spTgt>
                                        </p:tgtEl>
                                        <p:attrNameLst>
                                          <p:attrName>style.visibility</p:attrName>
                                        </p:attrNameLst>
                                      </p:cBhvr>
                                      <p:to>
                                        <p:strVal val="visible"/>
                                      </p:to>
                                    </p:set>
                                    <p:animEffect transition="in" filter="blinds(horizontal)">
                                      <p:cBhvr>
                                        <p:cTn id="27" dur="500"/>
                                        <p:tgtEl>
                                          <p:spTgt spid="3789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7891">
                                            <p:txEl>
                                              <p:pRg st="5" end="5"/>
                                            </p:txEl>
                                          </p:spTgt>
                                        </p:tgtEl>
                                        <p:attrNameLst>
                                          <p:attrName>style.visibility</p:attrName>
                                        </p:attrNameLst>
                                      </p:cBhvr>
                                      <p:to>
                                        <p:strVal val="visible"/>
                                      </p:to>
                                    </p:set>
                                    <p:animEffect transition="in" filter="blinds(horizontal)">
                                      <p:cBhvr>
                                        <p:cTn id="32" dur="500"/>
                                        <p:tgtEl>
                                          <p:spTgt spid="3789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7891">
                                            <p:txEl>
                                              <p:pRg st="6" end="6"/>
                                            </p:txEl>
                                          </p:spTgt>
                                        </p:tgtEl>
                                        <p:attrNameLst>
                                          <p:attrName>style.visibility</p:attrName>
                                        </p:attrNameLst>
                                      </p:cBhvr>
                                      <p:to>
                                        <p:strVal val="visible"/>
                                      </p:to>
                                    </p:set>
                                    <p:animEffect transition="in" filter="blinds(horizontal)">
                                      <p:cBhvr>
                                        <p:cTn id="37" dur="500"/>
                                        <p:tgtEl>
                                          <p:spTgt spid="3789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7891">
                                            <p:txEl>
                                              <p:pRg st="7" end="7"/>
                                            </p:txEl>
                                          </p:spTgt>
                                        </p:tgtEl>
                                        <p:attrNameLst>
                                          <p:attrName>style.visibility</p:attrName>
                                        </p:attrNameLst>
                                      </p:cBhvr>
                                      <p:to>
                                        <p:strVal val="visible"/>
                                      </p:to>
                                    </p:set>
                                    <p:animEffect transition="in" filter="blinds(horizontal)">
                                      <p:cBhvr>
                                        <p:cTn id="42" dur="500"/>
                                        <p:tgtEl>
                                          <p:spTgt spid="3789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7891">
                                            <p:txEl>
                                              <p:pRg st="8" end="8"/>
                                            </p:txEl>
                                          </p:spTgt>
                                        </p:tgtEl>
                                        <p:attrNameLst>
                                          <p:attrName>style.visibility</p:attrName>
                                        </p:attrNameLst>
                                      </p:cBhvr>
                                      <p:to>
                                        <p:strVal val="visible"/>
                                      </p:to>
                                    </p:set>
                                    <p:animEffect transition="in" filter="blinds(horizontal)">
                                      <p:cBhvr>
                                        <p:cTn id="47" dur="500"/>
                                        <p:tgtEl>
                                          <p:spTgt spid="3789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7891">
                                            <p:txEl>
                                              <p:pRg st="9" end="9"/>
                                            </p:txEl>
                                          </p:spTgt>
                                        </p:tgtEl>
                                        <p:attrNameLst>
                                          <p:attrName>style.visibility</p:attrName>
                                        </p:attrNameLst>
                                      </p:cBhvr>
                                      <p:to>
                                        <p:strVal val="visible"/>
                                      </p:to>
                                    </p:set>
                                    <p:animEffect transition="in" filter="blinds(horizontal)">
                                      <p:cBhvr>
                                        <p:cTn id="52" dur="500"/>
                                        <p:tgtEl>
                                          <p:spTgt spid="3789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7891">
                                            <p:txEl>
                                              <p:pRg st="10" end="10"/>
                                            </p:txEl>
                                          </p:spTgt>
                                        </p:tgtEl>
                                        <p:attrNameLst>
                                          <p:attrName>style.visibility</p:attrName>
                                        </p:attrNameLst>
                                      </p:cBhvr>
                                      <p:to>
                                        <p:strVal val="visible"/>
                                      </p:to>
                                    </p:set>
                                    <p:animEffect transition="in" filter="blinds(horizontal)">
                                      <p:cBhvr>
                                        <p:cTn id="57" dur="500"/>
                                        <p:tgtEl>
                                          <p:spTgt spid="37891">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7891">
                                            <p:txEl>
                                              <p:pRg st="11" end="11"/>
                                            </p:txEl>
                                          </p:spTgt>
                                        </p:tgtEl>
                                        <p:attrNameLst>
                                          <p:attrName>style.visibility</p:attrName>
                                        </p:attrNameLst>
                                      </p:cBhvr>
                                      <p:to>
                                        <p:strVal val="visible"/>
                                      </p:to>
                                    </p:set>
                                    <p:animEffect transition="in" filter="blinds(horizontal)">
                                      <p:cBhvr>
                                        <p:cTn id="62" dur="500"/>
                                        <p:tgtEl>
                                          <p:spTgt spid="37891">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7891">
                                            <p:txEl>
                                              <p:pRg st="12" end="12"/>
                                            </p:txEl>
                                          </p:spTgt>
                                        </p:tgtEl>
                                        <p:attrNameLst>
                                          <p:attrName>style.visibility</p:attrName>
                                        </p:attrNameLst>
                                      </p:cBhvr>
                                      <p:to>
                                        <p:strVal val="visible"/>
                                      </p:to>
                                    </p:set>
                                    <p:animEffect transition="in" filter="blinds(horizontal)">
                                      <p:cBhvr>
                                        <p:cTn id="67" dur="500"/>
                                        <p:tgtEl>
                                          <p:spTgt spid="37891">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37891">
                                            <p:txEl>
                                              <p:pRg st="13" end="13"/>
                                            </p:txEl>
                                          </p:spTgt>
                                        </p:tgtEl>
                                        <p:attrNameLst>
                                          <p:attrName>style.visibility</p:attrName>
                                        </p:attrNameLst>
                                      </p:cBhvr>
                                      <p:to>
                                        <p:strVal val="visible"/>
                                      </p:to>
                                    </p:set>
                                    <p:animEffect transition="in" filter="blinds(horizontal)">
                                      <p:cBhvr>
                                        <p:cTn id="72" dur="500"/>
                                        <p:tgtEl>
                                          <p:spTgt spid="37891">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内容占位符 38914"/>
          <p:cNvSpPr>
            <a:spLocks noGrp="1" noChangeArrowheads="1"/>
          </p:cNvSpPr>
          <p:nvPr>
            <p:ph idx="1"/>
          </p:nvPr>
        </p:nvSpPr>
        <p:spPr>
          <a:xfrm>
            <a:off x="323528" y="980728"/>
            <a:ext cx="8229600" cy="4678451"/>
          </a:xfrm>
        </p:spPr>
        <p:txBody>
          <a:bodyPr/>
          <a:lstStyle/>
          <a:p>
            <a:pPr>
              <a:spcBef>
                <a:spcPct val="15000"/>
              </a:spcBef>
              <a:buClr>
                <a:srgbClr val="FF0000"/>
              </a:buClr>
              <a:buFont typeface="Wingdings" panose="05000000000000000000" pitchFamily="2" charset="2"/>
              <a:buChar char="Ø"/>
            </a:pPr>
            <a:r>
              <a:rPr lang="zh-CN" altLang="en-US" sz="2400" b="1" dirty="0"/>
              <a:t>下面给出各物品单位重量价值相同的放置法求解。</a:t>
            </a:r>
            <a:endParaRPr lang="zh-CN" altLang="en-US" sz="2400" b="1" dirty="0"/>
          </a:p>
          <a:p>
            <a:pPr>
              <a:spcBef>
                <a:spcPct val="15000"/>
              </a:spcBef>
              <a:buClr>
                <a:srgbClr val="FF0000"/>
              </a:buClr>
              <a:buFont typeface="Wingdings" panose="05000000000000000000" pitchFamily="2" charset="2"/>
              <a:buChar char="n"/>
            </a:pPr>
            <a:r>
              <a:rPr lang="zh-CN" altLang="en-US" sz="2000" dirty="0"/>
              <a:t>首先，将这些物品按序号由小到大的次序逐个放入包中，并对放置的不同情况作不同处理。具体地说，就是：假设当前正在试探第</a:t>
            </a:r>
            <a:r>
              <a:rPr lang="en-US" altLang="zh-CN" sz="2000" i="1" dirty="0"/>
              <a:t>k</a:t>
            </a:r>
            <a:r>
              <a:rPr lang="zh-CN" altLang="en-US" sz="2000" dirty="0"/>
              <a:t>个物品</a:t>
            </a:r>
            <a:r>
              <a:rPr lang="en-US" altLang="zh-CN" sz="2000" b="1" dirty="0"/>
              <a:t>w</a:t>
            </a:r>
            <a:r>
              <a:rPr lang="en-US" altLang="zh-CN" sz="2000" dirty="0"/>
              <a:t>[</a:t>
            </a:r>
            <a:r>
              <a:rPr lang="en-US" altLang="zh-CN" sz="2000" i="1" dirty="0"/>
              <a:t>k</a:t>
            </a:r>
            <a:r>
              <a:rPr lang="en-US" altLang="zh-CN" sz="2000" dirty="0"/>
              <a:t>]</a:t>
            </a:r>
            <a:r>
              <a:rPr lang="zh-CN" altLang="en-US" sz="2000" dirty="0"/>
              <a:t>的放置情况，则可能有如下三种情况：</a:t>
            </a:r>
            <a:endParaRPr lang="zh-CN" altLang="en-US" sz="2000" dirty="0"/>
          </a:p>
          <a:p>
            <a:pPr marL="0" indent="0">
              <a:spcBef>
                <a:spcPct val="15000"/>
              </a:spcBef>
              <a:buNone/>
            </a:pPr>
            <a:r>
              <a:rPr lang="zh-CN" altLang="en-US" sz="2000" dirty="0"/>
              <a:t>      (</a:t>
            </a:r>
            <a:r>
              <a:rPr lang="en-US" altLang="zh-CN" sz="2000" dirty="0"/>
              <a:t>1</a:t>
            </a:r>
            <a:r>
              <a:rPr lang="zh-CN" altLang="en-US" sz="2000" dirty="0"/>
              <a:t>) 放置后正好满足条件，则将其放入背包中，并输出放置方法。</a:t>
            </a:r>
            <a:endParaRPr lang="zh-CN" altLang="en-US" sz="2000" dirty="0"/>
          </a:p>
          <a:p>
            <a:pPr marL="0" indent="0">
              <a:spcBef>
                <a:spcPct val="15000"/>
              </a:spcBef>
              <a:buNone/>
            </a:pPr>
            <a:r>
              <a:rPr lang="zh-CN" altLang="en-US" sz="2000" dirty="0"/>
              <a:t>      (</a:t>
            </a:r>
            <a:r>
              <a:rPr lang="en-US" altLang="zh-CN" sz="2000" dirty="0"/>
              <a:t>2</a:t>
            </a:r>
            <a:r>
              <a:rPr lang="zh-CN" altLang="en-US" sz="2000" dirty="0"/>
              <a:t>) 放置后，背包中总重量</a:t>
            </a:r>
            <a:r>
              <a:rPr lang="en-US" altLang="zh-CN" sz="2000" dirty="0"/>
              <a:t>&lt;</a:t>
            </a:r>
            <a:r>
              <a:rPr lang="en-US" altLang="zh-CN" sz="2000" i="1" dirty="0"/>
              <a:t>S</a:t>
            </a:r>
            <a:r>
              <a:rPr lang="zh-CN" altLang="en-US" sz="2000" dirty="0"/>
              <a:t>，需要继续放置：假设其后面还有物品</a:t>
            </a:r>
            <a:r>
              <a:rPr lang="en-US" altLang="zh-CN" sz="2000" dirty="0"/>
              <a:t>, </a:t>
            </a:r>
            <a:endParaRPr lang="en-US" altLang="zh-CN" sz="2000" dirty="0"/>
          </a:p>
          <a:p>
            <a:pPr marL="0" indent="0" algn="dist">
              <a:spcBef>
                <a:spcPct val="15000"/>
              </a:spcBef>
              <a:buNone/>
            </a:pPr>
            <a:r>
              <a:rPr lang="en-US" altLang="zh-CN" sz="2000" dirty="0"/>
              <a:t>           </a:t>
            </a:r>
            <a:r>
              <a:rPr lang="zh-CN" altLang="en-US" sz="2000" dirty="0"/>
              <a:t>即</a:t>
            </a:r>
            <a:r>
              <a:rPr lang="en-US" altLang="zh-CN" sz="2000" i="1" dirty="0"/>
              <a:t>k</a:t>
            </a:r>
            <a:r>
              <a:rPr lang="en-US" altLang="zh-CN" sz="2000" dirty="0"/>
              <a:t>&lt;</a:t>
            </a:r>
            <a:r>
              <a:rPr lang="en-US" altLang="zh-CN" sz="2000" i="1" dirty="0"/>
              <a:t>n</a:t>
            </a:r>
            <a:r>
              <a:rPr lang="zh-CN" altLang="en-US" sz="2000" dirty="0"/>
              <a:t>，从其后面的物品中挑选一些，以使其满足条件。即从</a:t>
            </a:r>
            <a:endParaRPr lang="en-US" altLang="zh-CN" sz="2000" dirty="0"/>
          </a:p>
          <a:p>
            <a:pPr marL="0" indent="0">
              <a:spcBef>
                <a:spcPct val="15000"/>
              </a:spcBef>
              <a:buNone/>
            </a:pPr>
            <a:r>
              <a:rPr lang="en-US" altLang="zh-CN" sz="2000" dirty="0"/>
              <a:t>            </a:t>
            </a:r>
            <a:r>
              <a:rPr lang="en-US" altLang="zh-CN" sz="2000" b="1" dirty="0"/>
              <a:t>w</a:t>
            </a:r>
            <a:r>
              <a:rPr lang="en-US" altLang="zh-CN" sz="2000" dirty="0"/>
              <a:t>[</a:t>
            </a:r>
            <a:r>
              <a:rPr lang="en-US" altLang="zh-CN" sz="2000" i="1" dirty="0"/>
              <a:t>k</a:t>
            </a:r>
            <a:r>
              <a:rPr lang="en-US" altLang="zh-CN" sz="2000" dirty="0"/>
              <a:t>+1] </a:t>
            </a:r>
            <a:r>
              <a:rPr lang="zh-CN" altLang="en-US" sz="2000" dirty="0"/>
              <a:t>～</a:t>
            </a:r>
            <a:r>
              <a:rPr lang="en-US" altLang="zh-CN" sz="2000" b="1" dirty="0"/>
              <a:t>w</a:t>
            </a:r>
            <a:r>
              <a:rPr lang="en-US" altLang="zh-CN" sz="2000" dirty="0"/>
              <a:t>[</a:t>
            </a:r>
            <a:r>
              <a:rPr lang="en-US" altLang="zh-CN" sz="2000" i="1" dirty="0"/>
              <a:t>n</a:t>
            </a:r>
            <a:r>
              <a:rPr lang="en-US" altLang="zh-CN" sz="2000" dirty="0"/>
              <a:t>]</a:t>
            </a:r>
            <a:r>
              <a:rPr lang="zh-CN" altLang="en-US" sz="2000" dirty="0"/>
              <a:t>中选择若干物品放入背包中，使背包中物品的重量</a:t>
            </a:r>
            <a:endParaRPr lang="en-US" altLang="zh-CN" sz="2000" dirty="0"/>
          </a:p>
          <a:p>
            <a:pPr marL="0" indent="0">
              <a:spcBef>
                <a:spcPct val="15000"/>
              </a:spcBef>
              <a:buNone/>
            </a:pPr>
            <a:r>
              <a:rPr lang="en-US" altLang="zh-CN" sz="2000" dirty="0"/>
              <a:t>            </a:t>
            </a:r>
            <a:r>
              <a:rPr lang="zh-CN" altLang="en-US" sz="2000" dirty="0"/>
              <a:t>之和为</a:t>
            </a:r>
            <a:r>
              <a:rPr lang="en-US" altLang="zh-CN" sz="2000" i="1" dirty="0"/>
              <a:t>S</a:t>
            </a:r>
            <a:r>
              <a:rPr lang="zh-CN" altLang="en-US" sz="2000" dirty="0"/>
              <a:t>。而这可通过递归调用来实现，所不同的是其具体要求</a:t>
            </a:r>
            <a:endParaRPr lang="en-US" altLang="zh-CN" sz="2000" dirty="0"/>
          </a:p>
          <a:p>
            <a:pPr marL="0" indent="0">
              <a:spcBef>
                <a:spcPct val="15000"/>
              </a:spcBef>
              <a:buNone/>
            </a:pPr>
            <a:r>
              <a:rPr lang="en-US" altLang="zh-CN" sz="2000" dirty="0"/>
              <a:t>         </a:t>
            </a:r>
            <a:r>
              <a:rPr lang="zh-CN" altLang="en-US" sz="2000" dirty="0"/>
              <a:t>（及剩余的容量和物品）。</a:t>
            </a:r>
            <a:endParaRPr lang="zh-CN" altLang="en-US" sz="2000" dirty="0"/>
          </a:p>
          <a:p>
            <a:pPr marL="0" indent="0">
              <a:spcBef>
                <a:spcPct val="15000"/>
              </a:spcBef>
              <a:buNone/>
            </a:pPr>
            <a:r>
              <a:rPr lang="zh-CN" altLang="en-US" sz="2000" dirty="0"/>
              <a:t>      (</a:t>
            </a:r>
            <a:r>
              <a:rPr lang="en-US" altLang="zh-CN" sz="2000" dirty="0"/>
              <a:t>3</a:t>
            </a:r>
            <a:r>
              <a:rPr lang="zh-CN" altLang="en-US" sz="2000" dirty="0"/>
              <a:t>) 放置后，背包中总重量</a:t>
            </a:r>
            <a:r>
              <a:rPr lang="en-US" altLang="zh-CN" sz="2000" dirty="0"/>
              <a:t>&gt;</a:t>
            </a:r>
            <a:r>
              <a:rPr lang="en-US" altLang="zh-CN" sz="2000" i="1" dirty="0"/>
              <a:t>S</a:t>
            </a:r>
            <a:r>
              <a:rPr lang="zh-CN" altLang="en-US" sz="2000" dirty="0"/>
              <a:t>，说明在当前情况下，放置</a:t>
            </a:r>
            <a:r>
              <a:rPr lang="en-US" altLang="zh-CN" sz="2000" b="1" dirty="0"/>
              <a:t>w</a:t>
            </a:r>
            <a:r>
              <a:rPr lang="en-US" altLang="zh-CN" sz="2000" dirty="0"/>
              <a:t>[</a:t>
            </a:r>
            <a:r>
              <a:rPr lang="en-US" altLang="zh-CN" sz="2000" i="1" dirty="0"/>
              <a:t>k</a:t>
            </a:r>
            <a:r>
              <a:rPr lang="en-US" altLang="zh-CN" sz="2000" dirty="0"/>
              <a:t>]</a:t>
            </a:r>
            <a:r>
              <a:rPr lang="zh-CN" altLang="en-US" sz="2000" dirty="0"/>
              <a:t>是不行</a:t>
            </a:r>
            <a:endParaRPr lang="en-US" altLang="zh-CN" sz="2000" dirty="0"/>
          </a:p>
          <a:p>
            <a:pPr marL="0" indent="0">
              <a:spcBef>
                <a:spcPct val="15000"/>
              </a:spcBef>
              <a:buNone/>
            </a:pPr>
            <a:r>
              <a:rPr lang="en-US" altLang="zh-CN" sz="2000" dirty="0"/>
              <a:t>           </a:t>
            </a:r>
            <a:r>
              <a:rPr lang="zh-CN" altLang="en-US" sz="2000" dirty="0"/>
              <a:t>的。不能放置的原因可能有几个：</a:t>
            </a:r>
            <a:endParaRPr lang="zh-CN" altLang="en-US" sz="2000" dirty="0"/>
          </a:p>
          <a:p>
            <a:pPr lvl="1">
              <a:spcBef>
                <a:spcPct val="15000"/>
              </a:spcBef>
              <a:buClr>
                <a:srgbClr val="FF0000"/>
              </a:buClr>
            </a:pPr>
            <a:r>
              <a:rPr lang="zh-CN" altLang="en-US" sz="2000" dirty="0"/>
              <a:t>仅</a:t>
            </a:r>
            <a:r>
              <a:rPr lang="en-US" altLang="zh-CN" sz="2000" b="1" dirty="0"/>
              <a:t>w</a:t>
            </a:r>
            <a:r>
              <a:rPr lang="en-US" altLang="zh-CN" sz="2000" dirty="0"/>
              <a:t>[</a:t>
            </a:r>
            <a:r>
              <a:rPr lang="en-US" altLang="zh-CN" sz="2000" i="1" dirty="0"/>
              <a:t>k</a:t>
            </a:r>
            <a:r>
              <a:rPr lang="en-US" altLang="zh-CN" sz="2000" dirty="0"/>
              <a:t>]</a:t>
            </a:r>
            <a:r>
              <a:rPr lang="zh-CN" altLang="en-US" sz="2000" dirty="0"/>
              <a:t>不能放置</a:t>
            </a:r>
            <a:r>
              <a:rPr lang="en-US" altLang="zh-CN" sz="2000" dirty="0"/>
              <a:t>, </a:t>
            </a:r>
            <a:r>
              <a:rPr lang="zh-CN" altLang="en-US" sz="2000" dirty="0"/>
              <a:t>其余均可；</a:t>
            </a:r>
            <a:endParaRPr lang="zh-CN" altLang="en-US" sz="2000" dirty="0"/>
          </a:p>
          <a:p>
            <a:pPr lvl="1">
              <a:spcBef>
                <a:spcPct val="15000"/>
              </a:spcBef>
              <a:buClr>
                <a:srgbClr val="FF0000"/>
              </a:buClr>
            </a:pPr>
            <a:r>
              <a:rPr lang="en-US" altLang="zh-CN" sz="2000" b="1" dirty="0"/>
              <a:t>w</a:t>
            </a:r>
            <a:r>
              <a:rPr lang="en-US" altLang="zh-CN" sz="2000" dirty="0"/>
              <a:t>[</a:t>
            </a:r>
            <a:r>
              <a:rPr lang="en-US" altLang="zh-CN" sz="2000" i="1" dirty="0"/>
              <a:t>k</a:t>
            </a:r>
            <a:r>
              <a:rPr lang="en-US" altLang="zh-CN" sz="2000" dirty="0"/>
              <a:t>]</a:t>
            </a:r>
            <a:r>
              <a:rPr lang="zh-CN" altLang="en-US" sz="2000" dirty="0"/>
              <a:t>能放置</a:t>
            </a:r>
            <a:r>
              <a:rPr lang="en-US" altLang="zh-CN" sz="2000" dirty="0"/>
              <a:t>, </a:t>
            </a:r>
            <a:r>
              <a:rPr lang="zh-CN" altLang="en-US" sz="2000" dirty="0"/>
              <a:t>但前面已放置的物品中有的不合适；</a:t>
            </a:r>
            <a:endParaRPr lang="zh-CN" altLang="en-US" sz="2000" dirty="0"/>
          </a:p>
          <a:p>
            <a:pPr lvl="1">
              <a:spcBef>
                <a:spcPct val="15000"/>
              </a:spcBef>
              <a:buClr>
                <a:srgbClr val="FF0000"/>
              </a:buClr>
            </a:pPr>
            <a:r>
              <a:rPr lang="en-US" altLang="zh-CN" sz="2000" b="1" dirty="0"/>
              <a:t>w</a:t>
            </a:r>
            <a:r>
              <a:rPr lang="en-US" altLang="zh-CN" sz="2000" dirty="0"/>
              <a:t>[</a:t>
            </a:r>
            <a:r>
              <a:rPr lang="en-US" altLang="zh-CN" sz="2000" i="1" dirty="0"/>
              <a:t>k</a:t>
            </a:r>
            <a:r>
              <a:rPr lang="en-US" altLang="zh-CN" sz="2000" dirty="0"/>
              <a:t>]</a:t>
            </a:r>
            <a:r>
              <a:rPr lang="zh-CN" altLang="en-US" sz="2000" dirty="0"/>
              <a:t>不能放置</a:t>
            </a:r>
            <a:r>
              <a:rPr lang="en-US" altLang="zh-CN" sz="2000" dirty="0"/>
              <a:t>, </a:t>
            </a:r>
            <a:r>
              <a:rPr lang="zh-CN" altLang="en-US" sz="2000" dirty="0"/>
              <a:t>其它的物品中也有不合适的放置等。</a:t>
            </a:r>
            <a:endParaRPr lang="zh-CN" altLang="en-US" sz="2000" dirty="0"/>
          </a:p>
        </p:txBody>
      </p:sp>
      <p:grpSp>
        <p:nvGrpSpPr>
          <p:cNvPr id="6" name="组合 5"/>
          <p:cNvGrpSpPr/>
          <p:nvPr/>
        </p:nvGrpSpPr>
        <p:grpSpPr>
          <a:xfrm>
            <a:off x="-612576" y="116632"/>
            <a:ext cx="7416824" cy="648129"/>
            <a:chOff x="-180528" y="5152869"/>
            <a:chExt cx="7243325" cy="526322"/>
          </a:xfrm>
        </p:grpSpPr>
        <p:grpSp>
          <p:nvGrpSpPr>
            <p:cNvPr id="7" name="组合 6"/>
            <p:cNvGrpSpPr/>
            <p:nvPr/>
          </p:nvGrpSpPr>
          <p:grpSpPr>
            <a:xfrm>
              <a:off x="-180528" y="5152869"/>
              <a:ext cx="7243325" cy="526322"/>
              <a:chOff x="-240188" y="5778644"/>
              <a:chExt cx="7889473" cy="68920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Effect transition="in" filter="blinds(horizontal)">
                                      <p:cBhvr>
                                        <p:cTn id="7" dur="500"/>
                                        <p:tgtEl>
                                          <p:spTgt spid="389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8915">
                                            <p:txEl>
                                              <p:pRg st="1" end="1"/>
                                            </p:txEl>
                                          </p:spTgt>
                                        </p:tgtEl>
                                        <p:attrNameLst>
                                          <p:attrName>style.visibility</p:attrName>
                                        </p:attrNameLst>
                                      </p:cBhvr>
                                      <p:to>
                                        <p:strVal val="visible"/>
                                      </p:to>
                                    </p:set>
                                    <p:animEffect transition="in" filter="blinds(horizontal)">
                                      <p:cBhvr>
                                        <p:cTn id="12" dur="500"/>
                                        <p:tgtEl>
                                          <p:spTgt spid="389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8915">
                                            <p:txEl>
                                              <p:pRg st="2" end="2"/>
                                            </p:txEl>
                                          </p:spTgt>
                                        </p:tgtEl>
                                        <p:attrNameLst>
                                          <p:attrName>style.visibility</p:attrName>
                                        </p:attrNameLst>
                                      </p:cBhvr>
                                      <p:to>
                                        <p:strVal val="visible"/>
                                      </p:to>
                                    </p:set>
                                    <p:animEffect transition="in" filter="blinds(horizontal)">
                                      <p:cBhvr>
                                        <p:cTn id="17" dur="500"/>
                                        <p:tgtEl>
                                          <p:spTgt spid="389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8915">
                                            <p:txEl>
                                              <p:pRg st="3" end="3"/>
                                            </p:txEl>
                                          </p:spTgt>
                                        </p:tgtEl>
                                        <p:attrNameLst>
                                          <p:attrName>style.visibility</p:attrName>
                                        </p:attrNameLst>
                                      </p:cBhvr>
                                      <p:to>
                                        <p:strVal val="visible"/>
                                      </p:to>
                                    </p:set>
                                    <p:animEffect transition="in" filter="blinds(horizontal)">
                                      <p:cBhvr>
                                        <p:cTn id="22" dur="500"/>
                                        <p:tgtEl>
                                          <p:spTgt spid="389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8915">
                                            <p:txEl>
                                              <p:pRg st="4" end="4"/>
                                            </p:txEl>
                                          </p:spTgt>
                                        </p:tgtEl>
                                        <p:attrNameLst>
                                          <p:attrName>style.visibility</p:attrName>
                                        </p:attrNameLst>
                                      </p:cBhvr>
                                      <p:to>
                                        <p:strVal val="visible"/>
                                      </p:to>
                                    </p:set>
                                    <p:animEffect transition="in" filter="blinds(horizontal)">
                                      <p:cBhvr>
                                        <p:cTn id="27" dur="500"/>
                                        <p:tgtEl>
                                          <p:spTgt spid="3891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8915">
                                            <p:txEl>
                                              <p:pRg st="5" end="5"/>
                                            </p:txEl>
                                          </p:spTgt>
                                        </p:tgtEl>
                                        <p:attrNameLst>
                                          <p:attrName>style.visibility</p:attrName>
                                        </p:attrNameLst>
                                      </p:cBhvr>
                                      <p:to>
                                        <p:strVal val="visible"/>
                                      </p:to>
                                    </p:set>
                                    <p:animEffect transition="in" filter="blinds(horizontal)">
                                      <p:cBhvr>
                                        <p:cTn id="32" dur="500"/>
                                        <p:tgtEl>
                                          <p:spTgt spid="3891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8915">
                                            <p:txEl>
                                              <p:pRg st="6" end="6"/>
                                            </p:txEl>
                                          </p:spTgt>
                                        </p:tgtEl>
                                        <p:attrNameLst>
                                          <p:attrName>style.visibility</p:attrName>
                                        </p:attrNameLst>
                                      </p:cBhvr>
                                      <p:to>
                                        <p:strVal val="visible"/>
                                      </p:to>
                                    </p:set>
                                    <p:animEffect transition="in" filter="blinds(horizontal)">
                                      <p:cBhvr>
                                        <p:cTn id="37" dur="500"/>
                                        <p:tgtEl>
                                          <p:spTgt spid="3891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8915">
                                            <p:txEl>
                                              <p:pRg st="7" end="7"/>
                                            </p:txEl>
                                          </p:spTgt>
                                        </p:tgtEl>
                                        <p:attrNameLst>
                                          <p:attrName>style.visibility</p:attrName>
                                        </p:attrNameLst>
                                      </p:cBhvr>
                                      <p:to>
                                        <p:strVal val="visible"/>
                                      </p:to>
                                    </p:set>
                                    <p:animEffect transition="in" filter="blinds(horizontal)">
                                      <p:cBhvr>
                                        <p:cTn id="42" dur="500"/>
                                        <p:tgtEl>
                                          <p:spTgt spid="3891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8915">
                                            <p:txEl>
                                              <p:pRg st="8" end="8"/>
                                            </p:txEl>
                                          </p:spTgt>
                                        </p:tgtEl>
                                        <p:attrNameLst>
                                          <p:attrName>style.visibility</p:attrName>
                                        </p:attrNameLst>
                                      </p:cBhvr>
                                      <p:to>
                                        <p:strVal val="visible"/>
                                      </p:to>
                                    </p:set>
                                    <p:animEffect transition="in" filter="blinds(horizontal)">
                                      <p:cBhvr>
                                        <p:cTn id="47" dur="500"/>
                                        <p:tgtEl>
                                          <p:spTgt spid="3891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8915">
                                            <p:txEl>
                                              <p:pRg st="9" end="9"/>
                                            </p:txEl>
                                          </p:spTgt>
                                        </p:tgtEl>
                                        <p:attrNameLst>
                                          <p:attrName>style.visibility</p:attrName>
                                        </p:attrNameLst>
                                      </p:cBhvr>
                                      <p:to>
                                        <p:strVal val="visible"/>
                                      </p:to>
                                    </p:set>
                                    <p:animEffect transition="in" filter="blinds(horizontal)">
                                      <p:cBhvr>
                                        <p:cTn id="52" dur="500"/>
                                        <p:tgtEl>
                                          <p:spTgt spid="3891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8915">
                                            <p:txEl>
                                              <p:pRg st="10" end="10"/>
                                            </p:txEl>
                                          </p:spTgt>
                                        </p:tgtEl>
                                        <p:attrNameLst>
                                          <p:attrName>style.visibility</p:attrName>
                                        </p:attrNameLst>
                                      </p:cBhvr>
                                      <p:to>
                                        <p:strVal val="visible"/>
                                      </p:to>
                                    </p:set>
                                    <p:animEffect transition="in" filter="blinds(horizontal)">
                                      <p:cBhvr>
                                        <p:cTn id="57" dur="500"/>
                                        <p:tgtEl>
                                          <p:spTgt spid="38915">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8915">
                                            <p:txEl>
                                              <p:pRg st="11" end="11"/>
                                            </p:txEl>
                                          </p:spTgt>
                                        </p:tgtEl>
                                        <p:attrNameLst>
                                          <p:attrName>style.visibility</p:attrName>
                                        </p:attrNameLst>
                                      </p:cBhvr>
                                      <p:to>
                                        <p:strVal val="visible"/>
                                      </p:to>
                                    </p:set>
                                    <p:animEffect transition="in" filter="blinds(horizontal)">
                                      <p:cBhvr>
                                        <p:cTn id="62" dur="500"/>
                                        <p:tgtEl>
                                          <p:spTgt spid="38915">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8915">
                                            <p:txEl>
                                              <p:pRg st="12" end="12"/>
                                            </p:txEl>
                                          </p:spTgt>
                                        </p:tgtEl>
                                        <p:attrNameLst>
                                          <p:attrName>style.visibility</p:attrName>
                                        </p:attrNameLst>
                                      </p:cBhvr>
                                      <p:to>
                                        <p:strVal val="visible"/>
                                      </p:to>
                                    </p:set>
                                    <p:animEffect transition="in" filter="blinds(horizontal)">
                                      <p:cBhvr>
                                        <p:cTn id="67" dur="500"/>
                                        <p:tgtEl>
                                          <p:spTgt spid="3891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内容占位符 39938"/>
          <p:cNvSpPr>
            <a:spLocks noGrp="1" noChangeArrowheads="1"/>
          </p:cNvSpPr>
          <p:nvPr>
            <p:ph idx="1"/>
          </p:nvPr>
        </p:nvSpPr>
        <p:spPr>
          <a:xfrm>
            <a:off x="457200" y="1052737"/>
            <a:ext cx="8229600" cy="5040560"/>
          </a:xfrm>
        </p:spPr>
        <p:txBody>
          <a:bodyPr/>
          <a:lstStyle/>
          <a:p>
            <a:pPr>
              <a:lnSpc>
                <a:spcPct val="80000"/>
              </a:lnSpc>
              <a:buClr>
                <a:srgbClr val="FF0000"/>
              </a:buClr>
              <a:buFont typeface="Wingdings" panose="05000000000000000000" pitchFamily="2" charset="2"/>
              <a:buChar char="n"/>
            </a:pPr>
            <a:r>
              <a:rPr lang="zh-CN" altLang="en-US" sz="2400" b="1" dirty="0"/>
              <a:t>构造出求解算法求解过程的树形表示（或二叉树表示）</a:t>
            </a:r>
            <a:endParaRPr lang="zh-CN" altLang="en-US" sz="2400" b="1" dirty="0"/>
          </a:p>
          <a:p>
            <a:pPr>
              <a:lnSpc>
                <a:spcPct val="80000"/>
              </a:lnSpc>
              <a:buFont typeface="Wingdings" panose="05000000000000000000" pitchFamily="2" charset="2"/>
              <a:buNone/>
            </a:pPr>
            <a:endParaRPr lang="zh-CN" altLang="en-US" sz="1800" dirty="0"/>
          </a:p>
          <a:p>
            <a:pPr>
              <a:lnSpc>
                <a:spcPct val="80000"/>
              </a:lnSpc>
              <a:buFont typeface="Wingdings" panose="05000000000000000000" pitchFamily="2" charset="2"/>
              <a:buNone/>
            </a:pPr>
            <a:r>
              <a:rPr lang="zh-CN" altLang="en-US" sz="2000" dirty="0"/>
              <a:t>      解：注意以下算法的基本思想</a:t>
            </a:r>
            <a:endParaRPr lang="zh-CN" altLang="en-US" sz="2000" dirty="0"/>
          </a:p>
          <a:p>
            <a:pPr>
              <a:lnSpc>
                <a:spcPct val="80000"/>
              </a:lnSpc>
              <a:buFont typeface="Wingdings" panose="05000000000000000000" pitchFamily="2" charset="2"/>
              <a:buNone/>
            </a:pPr>
            <a:endParaRPr lang="en-US" altLang="zh-CN" sz="1800" dirty="0"/>
          </a:p>
          <a:p>
            <a:pPr>
              <a:lnSpc>
                <a:spcPct val="80000"/>
              </a:lnSpc>
              <a:buFont typeface="Wingdings" panose="05000000000000000000" pitchFamily="2" charset="2"/>
              <a:buNone/>
            </a:pPr>
            <a:r>
              <a:rPr lang="en-US" altLang="zh-CN" sz="1800" dirty="0"/>
              <a:t>      </a:t>
            </a:r>
            <a:r>
              <a:rPr lang="en-US" altLang="zh-CN" sz="1800" dirty="0">
                <a:solidFill>
                  <a:srgbClr val="0000FF"/>
                </a:solidFill>
              </a:rPr>
              <a:t>void</a:t>
            </a:r>
            <a:r>
              <a:rPr lang="en-US" altLang="zh-CN" sz="1800" dirty="0"/>
              <a:t> Bag(</a:t>
            </a:r>
            <a:r>
              <a:rPr lang="en-US" altLang="zh-CN" sz="1800" dirty="0" err="1">
                <a:solidFill>
                  <a:srgbClr val="0000FF"/>
                </a:solidFill>
              </a:rPr>
              <a:t>int</a:t>
            </a:r>
            <a:r>
              <a:rPr lang="en-US" altLang="zh-CN" sz="1800" dirty="0"/>
              <a:t> </a:t>
            </a:r>
            <a:r>
              <a:rPr lang="en-US" altLang="zh-CN" sz="1800" i="1" dirty="0"/>
              <a:t>S</a:t>
            </a:r>
            <a:r>
              <a:rPr lang="en-US" altLang="zh-CN" sz="1800" i="1" baseline="-25000" dirty="0"/>
              <a:t>1</a:t>
            </a:r>
            <a:r>
              <a:rPr lang="en-US" altLang="zh-CN" sz="1800" dirty="0"/>
              <a:t>, </a:t>
            </a:r>
            <a:r>
              <a:rPr lang="en-US" altLang="zh-CN" sz="1800" dirty="0" err="1">
                <a:solidFill>
                  <a:srgbClr val="0000FF"/>
                </a:solidFill>
              </a:rPr>
              <a:t>int</a:t>
            </a:r>
            <a:r>
              <a:rPr lang="en-US" altLang="zh-CN" sz="1800" dirty="0"/>
              <a:t> </a:t>
            </a:r>
            <a:r>
              <a:rPr lang="en-US" altLang="zh-CN" sz="1800" i="1" dirty="0" err="1"/>
              <a:t>num</a:t>
            </a:r>
            <a:r>
              <a:rPr lang="en-US" altLang="zh-CN" sz="1800" dirty="0"/>
              <a:t>, </a:t>
            </a:r>
            <a:r>
              <a:rPr lang="en-US" altLang="zh-CN" sz="1800" dirty="0" err="1">
                <a:solidFill>
                  <a:srgbClr val="0000FF"/>
                </a:solidFill>
              </a:rPr>
              <a:t>int</a:t>
            </a:r>
            <a:r>
              <a:rPr lang="en-US" altLang="zh-CN" sz="1800" dirty="0"/>
              <a:t> </a:t>
            </a:r>
            <a:r>
              <a:rPr lang="en-US" altLang="zh-CN" sz="1800" i="1" dirty="0"/>
              <a:t>k</a:t>
            </a:r>
            <a:r>
              <a:rPr lang="en-US" altLang="zh-CN" sz="1800" dirty="0"/>
              <a:t>)</a:t>
            </a:r>
            <a:endParaRPr lang="en-US" altLang="zh-CN" sz="1800" dirty="0"/>
          </a:p>
          <a:p>
            <a:pPr>
              <a:lnSpc>
                <a:spcPct val="80000"/>
              </a:lnSpc>
              <a:buFont typeface="Wingdings" panose="05000000000000000000" pitchFamily="2" charset="2"/>
              <a:buNone/>
            </a:pPr>
            <a:r>
              <a:rPr lang="en-US" altLang="zh-CN" sz="1800" dirty="0"/>
              <a:t>     {</a:t>
            </a:r>
            <a:endParaRPr lang="en-US" altLang="zh-CN" sz="1800" dirty="0"/>
          </a:p>
          <a:p>
            <a:pPr>
              <a:lnSpc>
                <a:spcPct val="80000"/>
              </a:lnSpc>
              <a:buFont typeface="Wingdings" panose="05000000000000000000" pitchFamily="2" charset="2"/>
              <a:buNone/>
            </a:pPr>
            <a:r>
              <a:rPr lang="en-US" altLang="zh-CN" sz="1800" dirty="0"/>
              <a:t>              </a:t>
            </a:r>
            <a:r>
              <a:rPr lang="en-US" altLang="zh-CN" sz="1800" dirty="0">
                <a:solidFill>
                  <a:srgbClr val="0000FF"/>
                </a:solidFill>
              </a:rPr>
              <a:t>if </a:t>
            </a:r>
            <a:r>
              <a:rPr lang="en-US" altLang="zh-CN" sz="1800" dirty="0"/>
              <a:t>(</a:t>
            </a:r>
            <a:r>
              <a:rPr lang="en-US" altLang="zh-CN" sz="1800" i="1" dirty="0"/>
              <a:t>k </a:t>
            </a:r>
            <a:r>
              <a:rPr lang="en-US" altLang="zh-CN" sz="1800" dirty="0"/>
              <a:t>&lt;= </a:t>
            </a:r>
            <a:r>
              <a:rPr lang="en-US" altLang="zh-CN" sz="1800" i="1" dirty="0"/>
              <a:t>n</a:t>
            </a:r>
            <a:r>
              <a:rPr lang="en-US" altLang="zh-CN" sz="1800" dirty="0"/>
              <a:t>) {</a:t>
            </a:r>
            <a:endParaRPr lang="en-US" altLang="zh-CN" sz="1800" dirty="0"/>
          </a:p>
          <a:p>
            <a:pPr>
              <a:lnSpc>
                <a:spcPct val="80000"/>
              </a:lnSpc>
              <a:buFont typeface="Wingdings" panose="05000000000000000000" pitchFamily="2" charset="2"/>
              <a:buNone/>
            </a:pPr>
            <a:r>
              <a:rPr lang="en-US" altLang="zh-CN" sz="1800" dirty="0"/>
              <a:t>                    </a:t>
            </a:r>
            <a:r>
              <a:rPr lang="en-US" altLang="zh-CN" sz="1800" dirty="0">
                <a:solidFill>
                  <a:srgbClr val="0000FF"/>
                </a:solidFill>
              </a:rPr>
              <a:t>if</a:t>
            </a:r>
            <a:r>
              <a:rPr lang="en-US" altLang="zh-CN" sz="1800" dirty="0"/>
              <a:t> ( </a:t>
            </a:r>
            <a:r>
              <a:rPr lang="en-US" altLang="zh-CN" sz="1800" i="1" dirty="0"/>
              <a:t>S</a:t>
            </a:r>
            <a:r>
              <a:rPr lang="en-US" altLang="zh-CN" sz="1800" i="1" baseline="-25000" dirty="0"/>
              <a:t>1 </a:t>
            </a:r>
            <a:r>
              <a:rPr lang="en-US" altLang="zh-CN" sz="1800" dirty="0"/>
              <a:t>+</a:t>
            </a:r>
            <a:r>
              <a:rPr lang="en-US" altLang="zh-CN" sz="1800" b="1" i="1" dirty="0"/>
              <a:t>w</a:t>
            </a:r>
            <a:r>
              <a:rPr lang="en-US" altLang="zh-CN" sz="1800" dirty="0"/>
              <a:t>[</a:t>
            </a:r>
            <a:r>
              <a:rPr lang="en-US" altLang="zh-CN" sz="1800" i="1" dirty="0"/>
              <a:t>k</a:t>
            </a:r>
            <a:r>
              <a:rPr lang="en-US" altLang="zh-CN" sz="1800" dirty="0"/>
              <a:t>]==</a:t>
            </a:r>
            <a:r>
              <a:rPr lang="en-US" altLang="zh-CN" sz="1800" i="1" dirty="0"/>
              <a:t>S </a:t>
            </a:r>
            <a:r>
              <a:rPr lang="en-US" altLang="zh-CN" sz="1800" dirty="0"/>
              <a:t>) { </a:t>
            </a:r>
            <a:endParaRPr lang="en-US" altLang="zh-CN" sz="1800" dirty="0"/>
          </a:p>
          <a:p>
            <a:pPr>
              <a:lnSpc>
                <a:spcPct val="80000"/>
              </a:lnSpc>
              <a:buNone/>
            </a:pPr>
            <a:r>
              <a:rPr lang="en-US" altLang="zh-CN" sz="1800" dirty="0"/>
              <a:t>                         B[</a:t>
            </a:r>
            <a:r>
              <a:rPr lang="en-US" altLang="zh-CN" sz="1800" i="1" dirty="0"/>
              <a:t>num</a:t>
            </a:r>
            <a:r>
              <a:rPr lang="en-US" altLang="zh-CN" sz="1800" dirty="0"/>
              <a:t>+1]=</a:t>
            </a:r>
            <a:r>
              <a:rPr lang="en-US" altLang="zh-CN" sz="1800" i="1" dirty="0"/>
              <a:t>k</a:t>
            </a:r>
            <a:r>
              <a:rPr lang="en-US" altLang="zh-CN" sz="1800" dirty="0"/>
              <a:t>;  Print(B, </a:t>
            </a:r>
            <a:r>
              <a:rPr lang="en-US" altLang="zh-CN" sz="1800" i="1" dirty="0"/>
              <a:t>num</a:t>
            </a:r>
            <a:r>
              <a:rPr lang="en-US" altLang="zh-CN" sz="1800" dirty="0"/>
              <a:t>+1);   //</a:t>
            </a:r>
            <a:r>
              <a:rPr lang="zh-CN" altLang="en-US" sz="1800" dirty="0"/>
              <a:t> 输出求解结果</a:t>
            </a:r>
            <a:endParaRPr lang="zh-CN" altLang="en-US" sz="1800" dirty="0"/>
          </a:p>
          <a:p>
            <a:pPr>
              <a:lnSpc>
                <a:spcPct val="80000"/>
              </a:lnSpc>
              <a:buFont typeface="Wingdings" panose="05000000000000000000" pitchFamily="2" charset="2"/>
              <a:buNone/>
            </a:pPr>
            <a:r>
              <a:rPr lang="en-US" altLang="zh-CN" sz="1800" dirty="0"/>
              <a:t>                    } </a:t>
            </a:r>
            <a:endParaRPr lang="en-US" altLang="zh-CN" sz="1800" dirty="0"/>
          </a:p>
          <a:p>
            <a:pPr>
              <a:lnSpc>
                <a:spcPct val="80000"/>
              </a:lnSpc>
              <a:buFont typeface="Wingdings" panose="05000000000000000000" pitchFamily="2" charset="2"/>
              <a:buNone/>
            </a:pPr>
            <a:r>
              <a:rPr lang="en-US" altLang="zh-CN" sz="1800" dirty="0"/>
              <a:t>                    </a:t>
            </a:r>
            <a:r>
              <a:rPr lang="en-US" altLang="zh-CN" sz="1800" dirty="0">
                <a:solidFill>
                  <a:srgbClr val="0000FF"/>
                </a:solidFill>
              </a:rPr>
              <a:t>if</a:t>
            </a:r>
            <a:r>
              <a:rPr lang="en-US" altLang="zh-CN" sz="1800" dirty="0"/>
              <a:t> ( </a:t>
            </a:r>
            <a:r>
              <a:rPr lang="en-US" altLang="zh-CN" sz="1800" i="1" dirty="0"/>
              <a:t>S</a:t>
            </a:r>
            <a:r>
              <a:rPr lang="en-US" altLang="zh-CN" sz="1800" i="1" baseline="-25000" dirty="0"/>
              <a:t>1 </a:t>
            </a:r>
            <a:r>
              <a:rPr lang="en-US" altLang="zh-CN" sz="1800" dirty="0"/>
              <a:t>+</a:t>
            </a:r>
            <a:r>
              <a:rPr lang="en-US" altLang="zh-CN" sz="1800" b="1" i="1" dirty="0"/>
              <a:t>w</a:t>
            </a:r>
            <a:r>
              <a:rPr lang="en-US" altLang="zh-CN" sz="1800" dirty="0"/>
              <a:t>[</a:t>
            </a:r>
            <a:r>
              <a:rPr lang="en-US" altLang="zh-CN" sz="1800" i="1" dirty="0"/>
              <a:t>k</a:t>
            </a:r>
            <a:r>
              <a:rPr lang="en-US" altLang="zh-CN" sz="1800" dirty="0"/>
              <a:t>]&lt; </a:t>
            </a:r>
            <a:r>
              <a:rPr lang="en-US" altLang="zh-CN" sz="1800" i="1" dirty="0"/>
              <a:t>S </a:t>
            </a:r>
            <a:r>
              <a:rPr lang="en-US" altLang="zh-CN" sz="1800" dirty="0"/>
              <a:t>){    </a:t>
            </a:r>
            <a:endParaRPr lang="en-US" altLang="zh-CN" sz="1800" dirty="0"/>
          </a:p>
          <a:p>
            <a:pPr>
              <a:lnSpc>
                <a:spcPct val="80000"/>
              </a:lnSpc>
              <a:buFont typeface="Wingdings" panose="05000000000000000000" pitchFamily="2" charset="2"/>
              <a:buNone/>
            </a:pPr>
            <a:r>
              <a:rPr lang="en-US" altLang="zh-CN" sz="1800" dirty="0"/>
              <a:t>                             B[</a:t>
            </a:r>
            <a:r>
              <a:rPr lang="en-US" altLang="zh-CN" sz="1800" i="1" dirty="0"/>
              <a:t>num</a:t>
            </a:r>
            <a:r>
              <a:rPr lang="en-US" altLang="zh-CN" sz="1800" dirty="0"/>
              <a:t>+1]=</a:t>
            </a:r>
            <a:r>
              <a:rPr lang="en-US" altLang="zh-CN" sz="1800" i="1" dirty="0"/>
              <a:t>k</a:t>
            </a:r>
            <a:r>
              <a:rPr lang="en-US" altLang="zh-CN" sz="1800" dirty="0"/>
              <a:t>; Bag(</a:t>
            </a:r>
            <a:r>
              <a:rPr lang="en-US" altLang="zh-CN" sz="1800" i="1" dirty="0"/>
              <a:t>S</a:t>
            </a:r>
            <a:r>
              <a:rPr lang="en-US" altLang="zh-CN" sz="1800" i="1" baseline="-25000" dirty="0"/>
              <a:t>1 </a:t>
            </a:r>
            <a:r>
              <a:rPr lang="en-US" altLang="zh-CN" sz="1800" dirty="0"/>
              <a:t>+</a:t>
            </a:r>
            <a:r>
              <a:rPr lang="en-US" altLang="zh-CN" sz="1800" b="1" i="1" dirty="0"/>
              <a:t>w</a:t>
            </a:r>
            <a:r>
              <a:rPr lang="en-US" altLang="zh-CN" sz="1800" dirty="0"/>
              <a:t>[</a:t>
            </a:r>
            <a:r>
              <a:rPr lang="en-US" altLang="zh-CN" sz="1800" i="1" dirty="0"/>
              <a:t>k</a:t>
            </a:r>
            <a:r>
              <a:rPr lang="en-US" altLang="zh-CN" sz="1800" dirty="0"/>
              <a:t>],</a:t>
            </a:r>
            <a:r>
              <a:rPr lang="en-US" altLang="zh-CN" sz="1800" i="1" dirty="0"/>
              <a:t>num</a:t>
            </a:r>
            <a:r>
              <a:rPr lang="en-US" altLang="zh-CN" sz="1800" dirty="0"/>
              <a:t>+1, </a:t>
            </a:r>
            <a:r>
              <a:rPr lang="en-US" altLang="zh-CN" sz="1800" i="1" dirty="0"/>
              <a:t>k</a:t>
            </a:r>
            <a:r>
              <a:rPr lang="en-US" altLang="zh-CN" sz="1800" dirty="0"/>
              <a:t>+1);</a:t>
            </a:r>
            <a:endParaRPr lang="en-US" altLang="zh-CN" sz="1800" dirty="0"/>
          </a:p>
          <a:p>
            <a:pPr>
              <a:lnSpc>
                <a:spcPct val="80000"/>
              </a:lnSpc>
              <a:buFont typeface="Wingdings" panose="05000000000000000000" pitchFamily="2" charset="2"/>
              <a:buNone/>
            </a:pPr>
            <a:r>
              <a:rPr lang="en-US" altLang="zh-CN" sz="1800" dirty="0"/>
              <a:t>                    }                                                         //</a:t>
            </a:r>
            <a:r>
              <a:rPr lang="zh-CN" altLang="en-US" sz="1800" dirty="0"/>
              <a:t> 放入第</a:t>
            </a:r>
            <a:r>
              <a:rPr lang="en-US" altLang="zh-CN" sz="1800" i="1" dirty="0"/>
              <a:t>k</a:t>
            </a:r>
            <a:r>
              <a:rPr lang="zh-CN" altLang="en-US" sz="1800" dirty="0"/>
              <a:t>个物品再试探</a:t>
            </a:r>
            <a:endParaRPr lang="en-US" altLang="zh-CN" sz="1800" dirty="0"/>
          </a:p>
          <a:p>
            <a:pPr>
              <a:lnSpc>
                <a:spcPct val="80000"/>
              </a:lnSpc>
              <a:buFont typeface="Wingdings" panose="05000000000000000000" pitchFamily="2" charset="2"/>
              <a:buNone/>
            </a:pPr>
            <a:r>
              <a:rPr lang="en-US" altLang="zh-CN" sz="1800" dirty="0"/>
              <a:t>                    Bag(</a:t>
            </a:r>
            <a:r>
              <a:rPr lang="en-US" altLang="zh-CN" sz="1800" i="1" dirty="0"/>
              <a:t>S</a:t>
            </a:r>
            <a:r>
              <a:rPr lang="en-US" altLang="zh-CN" sz="1800" i="1" baseline="-25000" dirty="0"/>
              <a:t>1</a:t>
            </a:r>
            <a:r>
              <a:rPr lang="en-US" altLang="zh-CN" sz="1800" dirty="0"/>
              <a:t>,</a:t>
            </a:r>
            <a:r>
              <a:rPr lang="en-US" altLang="zh-CN" sz="1800" i="1" dirty="0"/>
              <a:t>num</a:t>
            </a:r>
            <a:r>
              <a:rPr lang="en-US" altLang="zh-CN" sz="1800" dirty="0"/>
              <a:t>, </a:t>
            </a:r>
            <a:r>
              <a:rPr lang="en-US" altLang="zh-CN" sz="1800" i="1" dirty="0"/>
              <a:t>k</a:t>
            </a:r>
            <a:r>
              <a:rPr lang="en-US" altLang="zh-CN" sz="1800" dirty="0"/>
              <a:t>+1);                              //</a:t>
            </a:r>
            <a:r>
              <a:rPr lang="zh-CN" altLang="en-US" sz="1800" dirty="0"/>
              <a:t> 不放第</a:t>
            </a:r>
            <a:r>
              <a:rPr lang="en-US" altLang="zh-CN" sz="1800" i="1" dirty="0"/>
              <a:t>k</a:t>
            </a:r>
            <a:r>
              <a:rPr lang="zh-CN" altLang="en-US" sz="1800" dirty="0"/>
              <a:t>个物品的试探</a:t>
            </a:r>
            <a:endParaRPr lang="zh-CN" altLang="en-US" sz="1800" dirty="0"/>
          </a:p>
          <a:p>
            <a:pPr>
              <a:lnSpc>
                <a:spcPct val="80000"/>
              </a:lnSpc>
              <a:buFont typeface="Wingdings" panose="05000000000000000000" pitchFamily="2" charset="2"/>
              <a:buNone/>
            </a:pPr>
            <a:r>
              <a:rPr lang="zh-CN" altLang="en-US" sz="1800" dirty="0"/>
              <a:t>              </a:t>
            </a:r>
            <a:r>
              <a:rPr lang="en-US" altLang="zh-CN" sz="1800" dirty="0"/>
              <a:t>}</a:t>
            </a:r>
            <a:endParaRPr lang="en-US" altLang="zh-CN" sz="1800" dirty="0"/>
          </a:p>
          <a:p>
            <a:pPr>
              <a:lnSpc>
                <a:spcPct val="80000"/>
              </a:lnSpc>
              <a:buFont typeface="Wingdings" panose="05000000000000000000" pitchFamily="2" charset="2"/>
              <a:buNone/>
            </a:pPr>
            <a:r>
              <a:rPr lang="en-US" altLang="zh-CN" sz="1800" dirty="0"/>
              <a:t>     }</a:t>
            </a:r>
            <a:endParaRPr lang="en-US" altLang="zh-CN" sz="1800" dirty="0"/>
          </a:p>
          <a:p>
            <a:pPr>
              <a:lnSpc>
                <a:spcPct val="80000"/>
              </a:lnSpc>
              <a:buFont typeface="Wingdings" panose="05000000000000000000" pitchFamily="2" charset="2"/>
              <a:buNone/>
            </a:pPr>
            <a:endParaRPr lang="zh-CN" altLang="en-US" sz="1800" dirty="0"/>
          </a:p>
        </p:txBody>
      </p:sp>
      <p:grpSp>
        <p:nvGrpSpPr>
          <p:cNvPr id="6" name="组合 5"/>
          <p:cNvGrpSpPr/>
          <p:nvPr/>
        </p:nvGrpSpPr>
        <p:grpSpPr>
          <a:xfrm>
            <a:off x="-612576" y="116632"/>
            <a:ext cx="7416824" cy="648129"/>
            <a:chOff x="-180528" y="5152869"/>
            <a:chExt cx="7243325" cy="526322"/>
          </a:xfrm>
        </p:grpSpPr>
        <p:grpSp>
          <p:nvGrpSpPr>
            <p:cNvPr id="7" name="组合 6"/>
            <p:cNvGrpSpPr/>
            <p:nvPr/>
          </p:nvGrpSpPr>
          <p:grpSpPr>
            <a:xfrm>
              <a:off x="-180528" y="5152869"/>
              <a:ext cx="7243325" cy="526322"/>
              <a:chOff x="-240188" y="5778644"/>
              <a:chExt cx="7889473" cy="68920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blinds(horizontal)">
                                      <p:cBhvr>
                                        <p:cTn id="7" dur="500"/>
                                        <p:tgtEl>
                                          <p:spTgt spid="399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9939">
                                            <p:txEl>
                                              <p:pRg st="2" end="2"/>
                                            </p:txEl>
                                          </p:spTgt>
                                        </p:tgtEl>
                                        <p:attrNameLst>
                                          <p:attrName>style.visibility</p:attrName>
                                        </p:attrNameLst>
                                      </p:cBhvr>
                                      <p:to>
                                        <p:strVal val="visible"/>
                                      </p:to>
                                    </p:set>
                                    <p:animEffect transition="in" filter="blinds(horizontal)">
                                      <p:cBhvr>
                                        <p:cTn id="12" dur="500"/>
                                        <p:tgtEl>
                                          <p:spTgt spid="3993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9939">
                                            <p:txEl>
                                              <p:pRg st="4" end="4"/>
                                            </p:txEl>
                                          </p:spTgt>
                                        </p:tgtEl>
                                        <p:attrNameLst>
                                          <p:attrName>style.visibility</p:attrName>
                                        </p:attrNameLst>
                                      </p:cBhvr>
                                      <p:to>
                                        <p:strVal val="visible"/>
                                      </p:to>
                                    </p:set>
                                    <p:animEffect transition="in" filter="blinds(horizontal)">
                                      <p:cBhvr>
                                        <p:cTn id="17" dur="500"/>
                                        <p:tgtEl>
                                          <p:spTgt spid="3993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9939">
                                            <p:txEl>
                                              <p:pRg st="5" end="5"/>
                                            </p:txEl>
                                          </p:spTgt>
                                        </p:tgtEl>
                                        <p:attrNameLst>
                                          <p:attrName>style.visibility</p:attrName>
                                        </p:attrNameLst>
                                      </p:cBhvr>
                                      <p:to>
                                        <p:strVal val="visible"/>
                                      </p:to>
                                    </p:set>
                                    <p:animEffect transition="in" filter="blinds(horizontal)">
                                      <p:cBhvr>
                                        <p:cTn id="22" dur="500"/>
                                        <p:tgtEl>
                                          <p:spTgt spid="39939">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9939">
                                            <p:txEl>
                                              <p:pRg st="6" end="6"/>
                                            </p:txEl>
                                          </p:spTgt>
                                        </p:tgtEl>
                                        <p:attrNameLst>
                                          <p:attrName>style.visibility</p:attrName>
                                        </p:attrNameLst>
                                      </p:cBhvr>
                                      <p:to>
                                        <p:strVal val="visible"/>
                                      </p:to>
                                    </p:set>
                                    <p:animEffect transition="in" filter="blinds(horizontal)">
                                      <p:cBhvr>
                                        <p:cTn id="27" dur="500"/>
                                        <p:tgtEl>
                                          <p:spTgt spid="39939">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9939">
                                            <p:txEl>
                                              <p:pRg st="7" end="7"/>
                                            </p:txEl>
                                          </p:spTgt>
                                        </p:tgtEl>
                                        <p:attrNameLst>
                                          <p:attrName>style.visibility</p:attrName>
                                        </p:attrNameLst>
                                      </p:cBhvr>
                                      <p:to>
                                        <p:strVal val="visible"/>
                                      </p:to>
                                    </p:set>
                                    <p:animEffect transition="in" filter="blinds(horizontal)">
                                      <p:cBhvr>
                                        <p:cTn id="32" dur="500"/>
                                        <p:tgtEl>
                                          <p:spTgt spid="39939">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9939">
                                            <p:txEl>
                                              <p:pRg st="8" end="8"/>
                                            </p:txEl>
                                          </p:spTgt>
                                        </p:tgtEl>
                                        <p:attrNameLst>
                                          <p:attrName>style.visibility</p:attrName>
                                        </p:attrNameLst>
                                      </p:cBhvr>
                                      <p:to>
                                        <p:strVal val="visible"/>
                                      </p:to>
                                    </p:set>
                                    <p:animEffect transition="in" filter="blinds(horizontal)">
                                      <p:cBhvr>
                                        <p:cTn id="37" dur="500"/>
                                        <p:tgtEl>
                                          <p:spTgt spid="39939">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9939">
                                            <p:txEl>
                                              <p:pRg st="9" end="9"/>
                                            </p:txEl>
                                          </p:spTgt>
                                        </p:tgtEl>
                                        <p:attrNameLst>
                                          <p:attrName>style.visibility</p:attrName>
                                        </p:attrNameLst>
                                      </p:cBhvr>
                                      <p:to>
                                        <p:strVal val="visible"/>
                                      </p:to>
                                    </p:set>
                                    <p:animEffect transition="in" filter="blinds(horizontal)">
                                      <p:cBhvr>
                                        <p:cTn id="42" dur="500"/>
                                        <p:tgtEl>
                                          <p:spTgt spid="39939">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9939">
                                            <p:txEl>
                                              <p:pRg st="10" end="10"/>
                                            </p:txEl>
                                          </p:spTgt>
                                        </p:tgtEl>
                                        <p:attrNameLst>
                                          <p:attrName>style.visibility</p:attrName>
                                        </p:attrNameLst>
                                      </p:cBhvr>
                                      <p:to>
                                        <p:strVal val="visible"/>
                                      </p:to>
                                    </p:set>
                                    <p:animEffect transition="in" filter="blinds(horizontal)">
                                      <p:cBhvr>
                                        <p:cTn id="47" dur="500"/>
                                        <p:tgtEl>
                                          <p:spTgt spid="39939">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9939">
                                            <p:txEl>
                                              <p:pRg st="11" end="11"/>
                                            </p:txEl>
                                          </p:spTgt>
                                        </p:tgtEl>
                                        <p:attrNameLst>
                                          <p:attrName>style.visibility</p:attrName>
                                        </p:attrNameLst>
                                      </p:cBhvr>
                                      <p:to>
                                        <p:strVal val="visible"/>
                                      </p:to>
                                    </p:set>
                                    <p:animEffect transition="in" filter="blinds(horizontal)">
                                      <p:cBhvr>
                                        <p:cTn id="52" dur="500"/>
                                        <p:tgtEl>
                                          <p:spTgt spid="39939">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9939">
                                            <p:txEl>
                                              <p:pRg st="12" end="12"/>
                                            </p:txEl>
                                          </p:spTgt>
                                        </p:tgtEl>
                                        <p:attrNameLst>
                                          <p:attrName>style.visibility</p:attrName>
                                        </p:attrNameLst>
                                      </p:cBhvr>
                                      <p:to>
                                        <p:strVal val="visible"/>
                                      </p:to>
                                    </p:set>
                                    <p:animEffect transition="in" filter="blinds(horizontal)">
                                      <p:cBhvr>
                                        <p:cTn id="57" dur="500"/>
                                        <p:tgtEl>
                                          <p:spTgt spid="39939">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9939">
                                            <p:txEl>
                                              <p:pRg st="13" end="13"/>
                                            </p:txEl>
                                          </p:spTgt>
                                        </p:tgtEl>
                                        <p:attrNameLst>
                                          <p:attrName>style.visibility</p:attrName>
                                        </p:attrNameLst>
                                      </p:cBhvr>
                                      <p:to>
                                        <p:strVal val="visible"/>
                                      </p:to>
                                    </p:set>
                                    <p:animEffect transition="in" filter="blinds(horizontal)">
                                      <p:cBhvr>
                                        <p:cTn id="62" dur="500"/>
                                        <p:tgtEl>
                                          <p:spTgt spid="39939">
                                            <p:txEl>
                                              <p:pRg st="13" end="1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9939">
                                            <p:txEl>
                                              <p:pRg st="14" end="14"/>
                                            </p:txEl>
                                          </p:spTgt>
                                        </p:tgtEl>
                                        <p:attrNameLst>
                                          <p:attrName>style.visibility</p:attrName>
                                        </p:attrNameLst>
                                      </p:cBhvr>
                                      <p:to>
                                        <p:strVal val="visible"/>
                                      </p:to>
                                    </p:set>
                                    <p:animEffect transition="in" filter="blinds(horizontal)">
                                      <p:cBhvr>
                                        <p:cTn id="67" dur="500"/>
                                        <p:tgtEl>
                                          <p:spTgt spid="39939">
                                            <p:txEl>
                                              <p:pRg st="14" end="14"/>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39939">
                                            <p:txEl>
                                              <p:pRg st="15" end="15"/>
                                            </p:txEl>
                                          </p:spTgt>
                                        </p:tgtEl>
                                        <p:attrNameLst>
                                          <p:attrName>style.visibility</p:attrName>
                                        </p:attrNameLst>
                                      </p:cBhvr>
                                      <p:to>
                                        <p:strVal val="visible"/>
                                      </p:to>
                                    </p:set>
                                    <p:animEffect transition="in" filter="blinds(horizontal)">
                                      <p:cBhvr>
                                        <p:cTn id="72" dur="500"/>
                                        <p:tgtEl>
                                          <p:spTgt spid="39939">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文本占位符 40962"/>
          <p:cNvSpPr>
            <a:spLocks noGrp="1" noChangeArrowheads="1"/>
          </p:cNvSpPr>
          <p:nvPr>
            <p:ph idx="1"/>
          </p:nvPr>
        </p:nvSpPr>
        <p:spPr>
          <a:xfrm>
            <a:off x="450277" y="980728"/>
            <a:ext cx="8229600" cy="4678451"/>
          </a:xfrm>
        </p:spPr>
        <p:txBody>
          <a:bodyPr/>
          <a:lstStyle/>
          <a:p>
            <a:pPr>
              <a:lnSpc>
                <a:spcPct val="80000"/>
              </a:lnSpc>
              <a:buClr>
                <a:srgbClr val="FF0000"/>
              </a:buClr>
              <a:buFont typeface="Wingdings" panose="05000000000000000000" pitchFamily="2" charset="2"/>
              <a:buChar char="ü"/>
            </a:pPr>
            <a:r>
              <a:rPr lang="zh-CN" altLang="en-US" sz="2400" dirty="0"/>
              <a:t>例：</a:t>
            </a:r>
            <a:r>
              <a:rPr lang="en-US" altLang="zh-CN" sz="2400" i="1" dirty="0"/>
              <a:t>S</a:t>
            </a:r>
            <a:r>
              <a:rPr lang="en-US" altLang="zh-CN" sz="2400" dirty="0"/>
              <a:t>=50, </a:t>
            </a:r>
            <a:r>
              <a:rPr lang="en-US" altLang="zh-CN" sz="2400" i="1" dirty="0"/>
              <a:t>n</a:t>
            </a:r>
            <a:r>
              <a:rPr lang="en-US" altLang="zh-CN" sz="2400" dirty="0"/>
              <a:t>=10,  </a:t>
            </a:r>
            <a:r>
              <a:rPr lang="en-US" altLang="zh-CN" sz="2400" b="1" dirty="0"/>
              <a:t>w</a:t>
            </a:r>
            <a:r>
              <a:rPr lang="en-US" altLang="zh-CN" sz="2400" dirty="0"/>
              <a:t>=(29  26  18  16  13  10  8  5  3  1)</a:t>
            </a:r>
            <a:endParaRPr lang="en-US" altLang="zh-CN" sz="2400" dirty="0"/>
          </a:p>
          <a:p>
            <a:pPr>
              <a:lnSpc>
                <a:spcPct val="80000"/>
              </a:lnSpc>
              <a:buFont typeface="Wingdings" panose="05000000000000000000" pitchFamily="2" charset="2"/>
              <a:buNone/>
            </a:pPr>
            <a:r>
              <a:rPr lang="en-US" altLang="zh-CN" sz="1800" dirty="0"/>
              <a:t> (1,29)  (3,18)  (9,3)  </a:t>
            </a:r>
            <a:endParaRPr lang="en-US" altLang="zh-CN" sz="1800" dirty="0"/>
          </a:p>
          <a:p>
            <a:pPr>
              <a:lnSpc>
                <a:spcPct val="80000"/>
              </a:lnSpc>
              <a:buFont typeface="Wingdings" panose="05000000000000000000" pitchFamily="2" charset="2"/>
              <a:buNone/>
            </a:pPr>
            <a:r>
              <a:rPr lang="en-US" altLang="zh-CN" sz="1800" dirty="0"/>
              <a:t> (1,29)  (4,16)  (8,5)  </a:t>
            </a:r>
            <a:endParaRPr lang="en-US" altLang="zh-CN" sz="1800" dirty="0"/>
          </a:p>
          <a:p>
            <a:pPr>
              <a:lnSpc>
                <a:spcPct val="80000"/>
              </a:lnSpc>
              <a:buFont typeface="Wingdings" panose="05000000000000000000" pitchFamily="2" charset="2"/>
              <a:buNone/>
            </a:pPr>
            <a:r>
              <a:rPr lang="en-US" altLang="zh-CN" sz="1800" dirty="0"/>
              <a:t> (1,29)  (5,13)  (7,8)  </a:t>
            </a:r>
            <a:endParaRPr lang="en-US" altLang="zh-CN" sz="1800" dirty="0"/>
          </a:p>
          <a:p>
            <a:pPr>
              <a:lnSpc>
                <a:spcPct val="80000"/>
              </a:lnSpc>
              <a:buFont typeface="Wingdings" panose="05000000000000000000" pitchFamily="2" charset="2"/>
              <a:buNone/>
            </a:pPr>
            <a:r>
              <a:rPr lang="en-US" altLang="zh-CN" sz="1800" dirty="0"/>
              <a:t> (1,29)  (5,13)  (8,5)   (9,3)  </a:t>
            </a:r>
            <a:endParaRPr lang="en-US" altLang="zh-CN" sz="1800" dirty="0"/>
          </a:p>
          <a:p>
            <a:pPr>
              <a:lnSpc>
                <a:spcPct val="80000"/>
              </a:lnSpc>
              <a:buFont typeface="Wingdings" panose="05000000000000000000" pitchFamily="2" charset="2"/>
              <a:buNone/>
            </a:pPr>
            <a:r>
              <a:rPr lang="en-US" altLang="zh-CN" sz="1800" dirty="0"/>
              <a:t> (1,29)  (6,10)  (7,8)   (9,3)  </a:t>
            </a:r>
            <a:endParaRPr lang="en-US" altLang="zh-CN" sz="1800" dirty="0"/>
          </a:p>
          <a:p>
            <a:pPr>
              <a:lnSpc>
                <a:spcPct val="80000"/>
              </a:lnSpc>
              <a:buFont typeface="Wingdings" panose="05000000000000000000" pitchFamily="2" charset="2"/>
              <a:buNone/>
            </a:pPr>
            <a:r>
              <a:rPr lang="en-US" altLang="zh-CN" sz="1800" dirty="0"/>
              <a:t> (2,26)  (3,18)  (8,5)   (10,1)  </a:t>
            </a:r>
            <a:endParaRPr lang="en-US" altLang="zh-CN" sz="1800" dirty="0"/>
          </a:p>
          <a:p>
            <a:pPr>
              <a:lnSpc>
                <a:spcPct val="80000"/>
              </a:lnSpc>
              <a:buFont typeface="Wingdings" panose="05000000000000000000" pitchFamily="2" charset="2"/>
              <a:buNone/>
            </a:pPr>
            <a:r>
              <a:rPr lang="en-US" altLang="zh-CN" sz="1800" dirty="0"/>
              <a:t> (2,26)  (4,16)  (7,8)  </a:t>
            </a:r>
            <a:endParaRPr lang="en-US" altLang="zh-CN" sz="1800" dirty="0"/>
          </a:p>
          <a:p>
            <a:pPr>
              <a:lnSpc>
                <a:spcPct val="80000"/>
              </a:lnSpc>
              <a:buFont typeface="Wingdings" panose="05000000000000000000" pitchFamily="2" charset="2"/>
              <a:buNone/>
            </a:pPr>
            <a:r>
              <a:rPr lang="en-US" altLang="zh-CN" sz="1800" dirty="0"/>
              <a:t> (2,26)  (4,16)  (8,5)   (9,3)  </a:t>
            </a:r>
            <a:endParaRPr lang="en-US" altLang="zh-CN" sz="1800" dirty="0"/>
          </a:p>
          <a:p>
            <a:pPr>
              <a:lnSpc>
                <a:spcPct val="80000"/>
              </a:lnSpc>
              <a:buFont typeface="Wingdings" panose="05000000000000000000" pitchFamily="2" charset="2"/>
              <a:buNone/>
            </a:pPr>
            <a:r>
              <a:rPr lang="en-US" altLang="zh-CN" sz="1800" dirty="0"/>
              <a:t> (2,26)  (5,13)  (6,10)  (10,1)  </a:t>
            </a:r>
            <a:endParaRPr lang="en-US" altLang="zh-CN" sz="1800" dirty="0"/>
          </a:p>
          <a:p>
            <a:pPr>
              <a:lnSpc>
                <a:spcPct val="80000"/>
              </a:lnSpc>
              <a:buFont typeface="Wingdings" panose="05000000000000000000" pitchFamily="2" charset="2"/>
              <a:buNone/>
            </a:pPr>
            <a:r>
              <a:rPr lang="en-US" altLang="zh-CN" sz="1800" dirty="0"/>
              <a:t> (2,26)  (5,13)  (7,8)   (9,3)  </a:t>
            </a:r>
            <a:endParaRPr lang="en-US" altLang="zh-CN" sz="1800" dirty="0"/>
          </a:p>
          <a:p>
            <a:pPr>
              <a:lnSpc>
                <a:spcPct val="80000"/>
              </a:lnSpc>
              <a:buFont typeface="Wingdings" panose="05000000000000000000" pitchFamily="2" charset="2"/>
              <a:buNone/>
            </a:pPr>
            <a:r>
              <a:rPr lang="en-US" altLang="zh-CN" sz="1800" dirty="0"/>
              <a:t> (2,26)  (6,10)  (7,8)   (8,5)   (10,1)  </a:t>
            </a:r>
            <a:endParaRPr lang="en-US" altLang="zh-CN" sz="1800" dirty="0"/>
          </a:p>
          <a:p>
            <a:pPr>
              <a:lnSpc>
                <a:spcPct val="80000"/>
              </a:lnSpc>
              <a:buFont typeface="Wingdings" panose="05000000000000000000" pitchFamily="2" charset="2"/>
              <a:buNone/>
            </a:pPr>
            <a:r>
              <a:rPr lang="en-US" altLang="zh-CN" sz="1800" dirty="0"/>
              <a:t> (3,18)  (4,16)  (5,13)  (9,3)  </a:t>
            </a:r>
            <a:endParaRPr lang="en-US" altLang="zh-CN" sz="1800" dirty="0"/>
          </a:p>
          <a:p>
            <a:pPr>
              <a:lnSpc>
                <a:spcPct val="80000"/>
              </a:lnSpc>
              <a:buFont typeface="Wingdings" panose="05000000000000000000" pitchFamily="2" charset="2"/>
              <a:buNone/>
            </a:pPr>
            <a:r>
              <a:rPr lang="en-US" altLang="zh-CN" sz="1800" dirty="0"/>
              <a:t> (3,18)  (4,16)  (6,10)  (8,5)   (10,1)  </a:t>
            </a:r>
            <a:endParaRPr lang="en-US" altLang="zh-CN" sz="1800" dirty="0"/>
          </a:p>
          <a:p>
            <a:pPr>
              <a:lnSpc>
                <a:spcPct val="80000"/>
              </a:lnSpc>
              <a:buFont typeface="Wingdings" panose="05000000000000000000" pitchFamily="2" charset="2"/>
              <a:buNone/>
            </a:pPr>
            <a:r>
              <a:rPr lang="en-US" altLang="zh-CN" sz="1800" dirty="0"/>
              <a:t> (3,18)  (4,16)  (7,8)   (8,5)   (9,3)  </a:t>
            </a:r>
            <a:endParaRPr lang="en-US" altLang="zh-CN" sz="1800" dirty="0"/>
          </a:p>
          <a:p>
            <a:pPr>
              <a:lnSpc>
                <a:spcPct val="80000"/>
              </a:lnSpc>
              <a:buFont typeface="Wingdings" panose="05000000000000000000" pitchFamily="2" charset="2"/>
              <a:buNone/>
            </a:pPr>
            <a:r>
              <a:rPr lang="en-US" altLang="zh-CN" sz="1800" dirty="0"/>
              <a:t> (3,18)  (5,13)  (6,10)  (7,8)   (10,1)  </a:t>
            </a:r>
            <a:endParaRPr lang="en-US" altLang="zh-CN" sz="1800" dirty="0"/>
          </a:p>
          <a:p>
            <a:pPr>
              <a:lnSpc>
                <a:spcPct val="80000"/>
              </a:lnSpc>
              <a:buFont typeface="Wingdings" panose="05000000000000000000" pitchFamily="2" charset="2"/>
              <a:buNone/>
            </a:pPr>
            <a:r>
              <a:rPr lang="en-US" altLang="zh-CN" sz="1800" dirty="0"/>
              <a:t> (3,18)  (5,13)  (6,10)  (8,5)   (9,3)    (10,1)  </a:t>
            </a:r>
            <a:endParaRPr lang="en-US" altLang="zh-CN" sz="1800" dirty="0"/>
          </a:p>
          <a:p>
            <a:pPr>
              <a:lnSpc>
                <a:spcPct val="80000"/>
              </a:lnSpc>
              <a:buFont typeface="Wingdings" panose="05000000000000000000" pitchFamily="2" charset="2"/>
              <a:buNone/>
            </a:pPr>
            <a:r>
              <a:rPr lang="en-US" altLang="zh-CN" sz="1800" dirty="0"/>
              <a:t> (4,16)  (5,13)  (6,10)  (7,8)   (9,3) </a:t>
            </a:r>
            <a:endParaRPr lang="en-US" altLang="zh-CN" sz="1800" dirty="0"/>
          </a:p>
        </p:txBody>
      </p:sp>
      <p:grpSp>
        <p:nvGrpSpPr>
          <p:cNvPr id="6" name="组合 5"/>
          <p:cNvGrpSpPr/>
          <p:nvPr/>
        </p:nvGrpSpPr>
        <p:grpSpPr>
          <a:xfrm>
            <a:off x="-612576" y="116632"/>
            <a:ext cx="7416824" cy="648129"/>
            <a:chOff x="-180528" y="5152869"/>
            <a:chExt cx="7243325" cy="526322"/>
          </a:xfrm>
        </p:grpSpPr>
        <p:grpSp>
          <p:nvGrpSpPr>
            <p:cNvPr id="7" name="组合 6"/>
            <p:cNvGrpSpPr/>
            <p:nvPr/>
          </p:nvGrpSpPr>
          <p:grpSpPr>
            <a:xfrm>
              <a:off x="-180528" y="5152869"/>
              <a:ext cx="7243325" cy="526322"/>
              <a:chOff x="-240188" y="5778644"/>
              <a:chExt cx="7889473" cy="68920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文本占位符 41986"/>
          <p:cNvSpPr>
            <a:spLocks noGrp="1" noChangeArrowheads="1"/>
          </p:cNvSpPr>
          <p:nvPr>
            <p:ph idx="1"/>
          </p:nvPr>
        </p:nvSpPr>
        <p:spPr>
          <a:xfrm>
            <a:off x="457200" y="1017286"/>
            <a:ext cx="8229600" cy="1008111"/>
          </a:xfrm>
        </p:spPr>
        <p:txBody>
          <a:bodyPr/>
          <a:lstStyle/>
          <a:p>
            <a:pPr>
              <a:buClr>
                <a:srgbClr val="FF0000"/>
              </a:buClr>
              <a:buFont typeface="Wingdings" panose="05000000000000000000" pitchFamily="2" charset="2"/>
              <a:buChar char="ü"/>
            </a:pPr>
            <a:r>
              <a:rPr lang="zh-CN" altLang="en-US" sz="2400" b="1" dirty="0"/>
              <a:t>例</a:t>
            </a:r>
            <a:r>
              <a:rPr lang="en-US" altLang="zh-CN" sz="2400" b="1" dirty="0"/>
              <a:t>4</a:t>
            </a:r>
            <a:r>
              <a:rPr lang="zh-CN" altLang="en-US" sz="2400" b="1" dirty="0"/>
              <a:t>：设计算法求集合｛</a:t>
            </a:r>
            <a:r>
              <a:rPr lang="en-US" altLang="zh-CN" sz="2400" b="1" dirty="0"/>
              <a:t>1, 2, ..., </a:t>
            </a:r>
            <a:r>
              <a:rPr lang="en-US" altLang="zh-CN" sz="2400" b="1" i="1" dirty="0"/>
              <a:t>n</a:t>
            </a:r>
            <a:r>
              <a:rPr lang="zh-CN" altLang="en-US" sz="2400" b="1" dirty="0"/>
              <a:t>｝的幂集</a:t>
            </a:r>
            <a:r>
              <a:rPr lang="zh-CN" altLang="en-US" sz="2000" b="1" dirty="0"/>
              <a:t>。</a:t>
            </a:r>
            <a:endParaRPr lang="zh-CN" altLang="en-US" sz="2000" b="1" dirty="0"/>
          </a:p>
          <a:p>
            <a:pPr>
              <a:buFont typeface="Wingdings" panose="05000000000000000000" pitchFamily="2" charset="2"/>
              <a:buNone/>
            </a:pPr>
            <a:r>
              <a:rPr lang="zh-CN" altLang="en-US" sz="2400" dirty="0"/>
              <a:t>              求解过程可用树的形式描述如下：</a:t>
            </a:r>
            <a:endParaRPr lang="zh-CN" altLang="en-US" sz="2400" dirty="0"/>
          </a:p>
          <a:p>
            <a:pPr algn="ctr">
              <a:lnSpc>
                <a:spcPct val="300000"/>
              </a:lnSpc>
              <a:spcBef>
                <a:spcPct val="0"/>
              </a:spcBef>
              <a:buFont typeface="Wingdings" panose="05000000000000000000" pitchFamily="2" charset="2"/>
              <a:buNone/>
            </a:pPr>
            <a:endParaRPr lang="en-US" altLang="zh-CN" sz="1800" dirty="0"/>
          </a:p>
          <a:p>
            <a:pPr algn="ctr">
              <a:lnSpc>
                <a:spcPct val="300000"/>
              </a:lnSpc>
              <a:spcBef>
                <a:spcPct val="0"/>
              </a:spcBef>
              <a:buFont typeface="Wingdings" panose="05000000000000000000" pitchFamily="2" charset="2"/>
              <a:buNone/>
            </a:pPr>
            <a:endParaRPr lang="en-US" altLang="zh-CN" sz="1800" dirty="0"/>
          </a:p>
          <a:p>
            <a:pPr algn="ctr">
              <a:lnSpc>
                <a:spcPct val="300000"/>
              </a:lnSpc>
              <a:spcBef>
                <a:spcPct val="0"/>
              </a:spcBef>
              <a:buFont typeface="Wingdings" panose="05000000000000000000" pitchFamily="2" charset="2"/>
              <a:buNone/>
            </a:pPr>
            <a:endParaRPr lang="en-US" altLang="zh-CN" sz="1800" dirty="0"/>
          </a:p>
          <a:p>
            <a:pPr algn="ctr">
              <a:lnSpc>
                <a:spcPct val="300000"/>
              </a:lnSpc>
              <a:spcBef>
                <a:spcPct val="0"/>
              </a:spcBef>
              <a:buFont typeface="Wingdings" panose="05000000000000000000" pitchFamily="2" charset="2"/>
              <a:buNone/>
            </a:pPr>
            <a:endParaRPr lang="en-US" altLang="zh-CN" sz="1800" dirty="0"/>
          </a:p>
          <a:p>
            <a:pPr algn="ctr">
              <a:spcBef>
                <a:spcPct val="30000"/>
              </a:spcBef>
              <a:buFont typeface="Wingdings" panose="05000000000000000000" pitchFamily="2" charset="2"/>
              <a:buNone/>
            </a:pPr>
            <a:endParaRPr lang="en-US" altLang="zh-CN" sz="2000" b="1" dirty="0">
              <a:solidFill>
                <a:srgbClr val="FF0000"/>
              </a:solidFill>
            </a:endParaRPr>
          </a:p>
        </p:txBody>
      </p:sp>
      <p:grpSp>
        <p:nvGrpSpPr>
          <p:cNvPr id="21" name="组合 20"/>
          <p:cNvGrpSpPr/>
          <p:nvPr/>
        </p:nvGrpSpPr>
        <p:grpSpPr>
          <a:xfrm>
            <a:off x="-612576" y="116632"/>
            <a:ext cx="7416824" cy="648129"/>
            <a:chOff x="-180528" y="5152869"/>
            <a:chExt cx="7243325" cy="526322"/>
          </a:xfrm>
        </p:grpSpPr>
        <p:grpSp>
          <p:nvGrpSpPr>
            <p:cNvPr id="22" name="组合 21"/>
            <p:cNvGrpSpPr/>
            <p:nvPr/>
          </p:nvGrpSpPr>
          <p:grpSpPr>
            <a:xfrm>
              <a:off x="-180528" y="5152869"/>
              <a:ext cx="7243325" cy="526322"/>
              <a:chOff x="-240188" y="5778644"/>
              <a:chExt cx="7889473" cy="689206"/>
            </a:xfrm>
          </p:grpSpPr>
          <p:sp>
            <p:nvSpPr>
              <p:cNvPr id="24"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5"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pic>
        <p:nvPicPr>
          <p:cNvPr id="2" name="图片 1"/>
          <p:cNvPicPr>
            <a:picLocks noChangeAspect="1"/>
          </p:cNvPicPr>
          <p:nvPr/>
        </p:nvPicPr>
        <p:blipFill>
          <a:blip r:embed="rId2"/>
          <a:stretch>
            <a:fillRect/>
          </a:stretch>
        </p:blipFill>
        <p:spPr>
          <a:xfrm>
            <a:off x="698200" y="2494404"/>
            <a:ext cx="6921800" cy="3757663"/>
          </a:xfrm>
          <a:prstGeom prst="rect">
            <a:avLst/>
          </a:prstGeom>
        </p:spPr>
      </p:pic>
      <p:sp>
        <p:nvSpPr>
          <p:cNvPr id="4" name="文本框 3"/>
          <p:cNvSpPr txBox="1"/>
          <p:nvPr/>
        </p:nvSpPr>
        <p:spPr>
          <a:xfrm>
            <a:off x="3095836" y="2132856"/>
            <a:ext cx="3600400" cy="646331"/>
          </a:xfrm>
          <a:prstGeom prst="rect">
            <a:avLst/>
          </a:prstGeom>
          <a:noFill/>
        </p:spPr>
        <p:txBody>
          <a:bodyPr wrap="square" rtlCol="0">
            <a:spAutoFit/>
          </a:bodyPr>
          <a:lstStyle/>
          <a:p>
            <a:r>
              <a:rPr lang="en-US" altLang="zh-CN" b="1" dirty="0">
                <a:solidFill>
                  <a:srgbClr val="FF0000"/>
                </a:solidFill>
              </a:rPr>
              <a:t>{1,2,3,4}</a:t>
            </a:r>
            <a:r>
              <a:rPr lang="zh-CN" altLang="en-US" b="1" dirty="0">
                <a:solidFill>
                  <a:srgbClr val="FF0000"/>
                </a:solidFill>
              </a:rPr>
              <a:t>的求解过程的树形描述</a:t>
            </a:r>
            <a:endParaRPr lang="zh-CN" altLang="en-US" b="1" dirty="0">
              <a:solidFill>
                <a:srgbClr val="FF0000"/>
              </a:solidFill>
            </a:endParaRPr>
          </a:p>
          <a:p>
            <a:endParaRPr lang="zh-CN" altLang="en-US" dirty="0"/>
          </a:p>
        </p:txBody>
      </p:sp>
      <p:sp>
        <p:nvSpPr>
          <p:cNvPr id="3" name="页脚占位符 2"/>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25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build="p"/>
      <p:bldP spid="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内容占位符 43010"/>
          <p:cNvSpPr>
            <a:spLocks noGrp="1" noChangeArrowheads="1"/>
          </p:cNvSpPr>
          <p:nvPr>
            <p:ph idx="1"/>
          </p:nvPr>
        </p:nvSpPr>
        <p:spPr>
          <a:xfrm>
            <a:off x="457200" y="1052736"/>
            <a:ext cx="8229600" cy="4678451"/>
          </a:xfrm>
        </p:spPr>
        <p:txBody>
          <a:bodyPr/>
          <a:lstStyle/>
          <a:p>
            <a:pPr>
              <a:buClr>
                <a:srgbClr val="FF0000"/>
              </a:buClr>
              <a:buFont typeface="Wingdings" panose="05000000000000000000" pitchFamily="2" charset="2"/>
              <a:buChar char="l"/>
            </a:pPr>
            <a:r>
              <a:rPr lang="zh-CN" altLang="en-US" sz="2400" dirty="0"/>
              <a:t>对某初始集</a:t>
            </a:r>
            <a:r>
              <a:rPr lang="en-US" altLang="zh-CN" sz="2400" i="1" dirty="0"/>
              <a:t>S </a:t>
            </a:r>
            <a:r>
              <a:rPr lang="en-US" altLang="zh-CN" sz="2400" dirty="0"/>
              <a:t>(</a:t>
            </a:r>
            <a:r>
              <a:rPr lang="en-US" altLang="zh-CN" sz="2400" i="1" dirty="0"/>
              <a:t>S</a:t>
            </a:r>
            <a:r>
              <a:rPr lang="zh-CN" altLang="en-US" sz="2400" dirty="0"/>
              <a:t>也作为求解结果之一</a:t>
            </a:r>
            <a:r>
              <a:rPr lang="en-US" altLang="zh-CN" sz="2400" dirty="0"/>
              <a:t>)</a:t>
            </a:r>
            <a:r>
              <a:rPr lang="zh-CN" altLang="en-US" sz="2400" dirty="0"/>
              <a:t>，可依次将</a:t>
            </a:r>
            <a:r>
              <a:rPr lang="en-US" altLang="zh-CN" sz="2400" i="1" dirty="0"/>
              <a:t>max</a:t>
            </a:r>
            <a:r>
              <a:rPr lang="en-US" altLang="zh-CN" sz="2400" dirty="0"/>
              <a:t>+1</a:t>
            </a:r>
            <a:r>
              <a:rPr lang="zh-CN" altLang="en-US" sz="2400" dirty="0"/>
              <a:t>～</a:t>
            </a:r>
            <a:r>
              <a:rPr lang="en-US" altLang="zh-CN" sz="2400" i="1" dirty="0"/>
              <a:t>n</a:t>
            </a:r>
            <a:r>
              <a:rPr lang="en-US" altLang="zh-CN" sz="2400" dirty="0"/>
              <a:t> </a:t>
            </a:r>
            <a:r>
              <a:rPr lang="zh-CN" altLang="en-US" sz="2400" dirty="0"/>
              <a:t>中的一个元素并入</a:t>
            </a:r>
            <a:r>
              <a:rPr lang="en-US" altLang="zh-CN" sz="2400" i="1" dirty="0"/>
              <a:t>S</a:t>
            </a:r>
            <a:r>
              <a:rPr lang="zh-CN" altLang="en-US" sz="2400" dirty="0"/>
              <a:t>，并将其作为新的初始集，再作递归调用</a:t>
            </a:r>
            <a:r>
              <a:rPr lang="en-US" altLang="zh-CN" sz="2400" dirty="0"/>
              <a:t>;</a:t>
            </a:r>
            <a:endParaRPr lang="zh-CN" altLang="en-US" sz="2400" dirty="0"/>
          </a:p>
          <a:p>
            <a:pPr>
              <a:buClr>
                <a:srgbClr val="FF0000"/>
              </a:buClr>
              <a:buFont typeface="Wingdings" panose="05000000000000000000" pitchFamily="2" charset="2"/>
              <a:buChar char="l"/>
            </a:pPr>
            <a:r>
              <a:rPr lang="zh-CN" altLang="en-US" sz="2400" dirty="0"/>
              <a:t>在求</a:t>
            </a:r>
            <a:r>
              <a:rPr lang="en-US" altLang="zh-CN" sz="2400" dirty="0"/>
              <a:t>{</a:t>
            </a:r>
            <a:r>
              <a:rPr lang="en-US" altLang="zh-CN" sz="2400" i="1" dirty="0"/>
              <a:t>max</a:t>
            </a:r>
            <a:r>
              <a:rPr lang="en-US" altLang="zh-CN" sz="2400" dirty="0"/>
              <a:t>+1</a:t>
            </a:r>
            <a:r>
              <a:rPr lang="zh-CN" altLang="en-US" sz="2400" dirty="0"/>
              <a:t>～</a:t>
            </a:r>
            <a:r>
              <a:rPr lang="en-US" altLang="zh-CN" sz="2400" i="1" dirty="0"/>
              <a:t>n</a:t>
            </a:r>
            <a:r>
              <a:rPr lang="en-US" altLang="zh-CN" sz="2400" dirty="0"/>
              <a:t>}</a:t>
            </a:r>
            <a:r>
              <a:rPr lang="zh-CN" altLang="en-US" sz="2400" dirty="0"/>
              <a:t>的幂集时，只要不重复、遗漏，则将初始集</a:t>
            </a:r>
            <a:r>
              <a:rPr lang="en-US" altLang="zh-CN" sz="2400" i="1" dirty="0"/>
              <a:t>S</a:t>
            </a:r>
            <a:r>
              <a:rPr lang="zh-CN" altLang="en-US" sz="2400" dirty="0"/>
              <a:t>与所各子集合并也不会重复、遗漏。</a:t>
            </a:r>
            <a:endParaRPr lang="zh-CN" altLang="en-US" sz="2400" dirty="0"/>
          </a:p>
          <a:p>
            <a:pPr>
              <a:buFont typeface="Wingdings" panose="05000000000000000000" pitchFamily="2" charset="2"/>
              <a:buNone/>
            </a:pPr>
            <a:r>
              <a:rPr lang="en-US" altLang="zh-CN" sz="2400" dirty="0"/>
              <a:t>     </a:t>
            </a:r>
            <a:r>
              <a:rPr lang="en-US" altLang="zh-CN" sz="2400" dirty="0">
                <a:solidFill>
                  <a:srgbClr val="0000FF"/>
                </a:solidFill>
              </a:rPr>
              <a:t>void</a:t>
            </a:r>
            <a:r>
              <a:rPr lang="en-US" altLang="zh-CN" sz="2400" dirty="0"/>
              <a:t> Power(set </a:t>
            </a:r>
            <a:r>
              <a:rPr lang="en-US" altLang="zh-CN" sz="2400" i="1" dirty="0"/>
              <a:t>S</a:t>
            </a:r>
            <a:r>
              <a:rPr lang="en-US" altLang="zh-CN" sz="2400" dirty="0"/>
              <a:t>, </a:t>
            </a:r>
            <a:r>
              <a:rPr lang="en-US" altLang="zh-CN" sz="2400" dirty="0" err="1">
                <a:solidFill>
                  <a:srgbClr val="0000FF"/>
                </a:solidFill>
              </a:rPr>
              <a:t>int</a:t>
            </a:r>
            <a:r>
              <a:rPr lang="en-US" altLang="zh-CN" sz="2400" dirty="0"/>
              <a:t> </a:t>
            </a:r>
            <a:r>
              <a:rPr lang="en-US" altLang="zh-CN" sz="2400" i="1" dirty="0"/>
              <a:t>max</a:t>
            </a:r>
            <a:r>
              <a:rPr lang="en-US" altLang="zh-CN" sz="2400" dirty="0"/>
              <a:t>)</a:t>
            </a:r>
            <a:endParaRPr lang="en-US" altLang="zh-CN" sz="2400" dirty="0"/>
          </a:p>
          <a:p>
            <a:pPr>
              <a:buFont typeface="Wingdings" panose="05000000000000000000" pitchFamily="2" charset="2"/>
              <a:buNone/>
            </a:pPr>
            <a:r>
              <a:rPr lang="en-US" altLang="zh-CN" sz="2400" dirty="0"/>
              <a:t>     {  </a:t>
            </a:r>
            <a:endParaRPr lang="en-US" altLang="zh-CN" sz="2400" dirty="0"/>
          </a:p>
          <a:p>
            <a:pPr>
              <a:buFont typeface="Wingdings" panose="05000000000000000000" pitchFamily="2" charset="2"/>
              <a:buNone/>
            </a:pPr>
            <a:r>
              <a:rPr lang="en-US" altLang="zh-CN" sz="2400" dirty="0"/>
              <a:t>            </a:t>
            </a:r>
            <a:r>
              <a:rPr lang="en-US" altLang="zh-CN" sz="2400" dirty="0" err="1"/>
              <a:t>Printset</a:t>
            </a:r>
            <a:r>
              <a:rPr lang="en-US" altLang="zh-CN" sz="2400" dirty="0"/>
              <a:t>(</a:t>
            </a:r>
            <a:r>
              <a:rPr lang="en-US" altLang="zh-CN" sz="2400" i="1" dirty="0"/>
              <a:t>S</a:t>
            </a:r>
            <a:r>
              <a:rPr lang="en-US" altLang="zh-CN" sz="2400" dirty="0"/>
              <a:t>);           // </a:t>
            </a:r>
            <a:r>
              <a:rPr lang="zh-CN" altLang="en-US" sz="2400" dirty="0"/>
              <a:t>输出集合</a:t>
            </a:r>
            <a:r>
              <a:rPr lang="en-US" altLang="zh-CN" sz="2400" i="1" dirty="0"/>
              <a:t>S</a:t>
            </a:r>
            <a:endParaRPr lang="en-US" altLang="zh-CN" sz="2400" i="1" dirty="0"/>
          </a:p>
          <a:p>
            <a:pPr>
              <a:buFont typeface="Wingdings" panose="05000000000000000000" pitchFamily="2" charset="2"/>
              <a:buNone/>
            </a:pPr>
            <a:r>
              <a:rPr lang="en-US" altLang="zh-CN" sz="2400" dirty="0"/>
              <a:t>            </a:t>
            </a:r>
            <a:r>
              <a:rPr lang="en-US" altLang="zh-CN" sz="2400" dirty="0">
                <a:solidFill>
                  <a:srgbClr val="0000FF"/>
                </a:solidFill>
              </a:rPr>
              <a:t>for</a:t>
            </a:r>
            <a:r>
              <a:rPr lang="en-US" altLang="zh-CN" sz="2400" dirty="0"/>
              <a:t> (</a:t>
            </a:r>
            <a:r>
              <a:rPr lang="en-US" altLang="zh-CN" sz="2400" i="1" dirty="0" err="1"/>
              <a:t>i</a:t>
            </a:r>
            <a:r>
              <a:rPr lang="en-US" altLang="zh-CN" sz="2400" dirty="0"/>
              <a:t>=</a:t>
            </a:r>
            <a:r>
              <a:rPr lang="en-US" altLang="zh-CN" sz="2400" i="1" dirty="0"/>
              <a:t>max</a:t>
            </a:r>
            <a:r>
              <a:rPr lang="en-US" altLang="zh-CN" sz="2400" dirty="0"/>
              <a:t>+1; </a:t>
            </a:r>
            <a:r>
              <a:rPr lang="en-US" altLang="zh-CN" sz="2400" i="1" dirty="0" err="1"/>
              <a:t>i</a:t>
            </a:r>
            <a:r>
              <a:rPr lang="en-US" altLang="zh-CN" sz="2400" dirty="0"/>
              <a:t>&lt;=</a:t>
            </a:r>
            <a:r>
              <a:rPr lang="en-US" altLang="zh-CN" sz="2400" i="1" dirty="0"/>
              <a:t>n</a:t>
            </a:r>
            <a:r>
              <a:rPr lang="en-US" altLang="zh-CN" sz="2400" dirty="0"/>
              <a:t>; </a:t>
            </a:r>
            <a:r>
              <a:rPr lang="en-US" altLang="zh-CN" sz="2400" i="1" dirty="0" err="1"/>
              <a:t>i</a:t>
            </a:r>
            <a:r>
              <a:rPr lang="en-US" altLang="zh-CN" sz="2400" dirty="0"/>
              <a:t>++)</a:t>
            </a:r>
            <a:endParaRPr lang="en-US" altLang="zh-CN" sz="2400" dirty="0"/>
          </a:p>
          <a:p>
            <a:pPr>
              <a:buFont typeface="Wingdings" panose="05000000000000000000" pitchFamily="2" charset="2"/>
              <a:buNone/>
            </a:pPr>
            <a:r>
              <a:rPr lang="en-US" altLang="zh-CN" sz="2400" dirty="0"/>
              <a:t>                 Power(</a:t>
            </a:r>
            <a:r>
              <a:rPr lang="en-US" altLang="zh-CN" sz="2400" i="1" dirty="0"/>
              <a:t>S</a:t>
            </a:r>
            <a:r>
              <a:rPr lang="en-US" altLang="zh-CN" sz="2400" dirty="0"/>
              <a:t>+{</a:t>
            </a:r>
            <a:r>
              <a:rPr lang="en-US" altLang="zh-CN" sz="2400" i="1" dirty="0" err="1"/>
              <a:t>i</a:t>
            </a:r>
            <a:r>
              <a:rPr lang="en-US" altLang="zh-CN" sz="2400" dirty="0"/>
              <a:t>}</a:t>
            </a:r>
            <a:r>
              <a:rPr lang="zh-CN" altLang="en-US" sz="2400" dirty="0"/>
              <a:t>，</a:t>
            </a:r>
            <a:r>
              <a:rPr lang="en-US" altLang="zh-CN" sz="2400" i="1" dirty="0" err="1"/>
              <a:t>i</a:t>
            </a:r>
            <a:r>
              <a:rPr lang="en-US" altLang="zh-CN" sz="2400" dirty="0"/>
              <a:t>);</a:t>
            </a:r>
            <a:endParaRPr lang="en-US" altLang="zh-CN" sz="2400" dirty="0"/>
          </a:p>
          <a:p>
            <a:pPr>
              <a:buFont typeface="Wingdings" panose="05000000000000000000" pitchFamily="2" charset="2"/>
              <a:buNone/>
            </a:pPr>
            <a:r>
              <a:rPr lang="en-US" altLang="zh-CN" sz="2400" dirty="0"/>
              <a:t>    } </a:t>
            </a:r>
            <a:endParaRPr lang="en-US" altLang="zh-CN" sz="2400" dirty="0"/>
          </a:p>
          <a:p>
            <a:pPr>
              <a:buFont typeface="Wingdings" panose="05000000000000000000" pitchFamily="2" charset="2"/>
              <a:buNone/>
            </a:pPr>
            <a:r>
              <a:rPr lang="zh-CN" altLang="en-US" sz="2400" dirty="0"/>
              <a:t>   初始调用：</a:t>
            </a:r>
            <a:r>
              <a:rPr lang="en-US" altLang="zh-CN" sz="2400" dirty="0"/>
              <a:t>Power({},0);</a:t>
            </a:r>
            <a:endParaRPr lang="zh-CN" altLang="en-US" sz="2400" dirty="0"/>
          </a:p>
        </p:txBody>
      </p:sp>
      <p:grpSp>
        <p:nvGrpSpPr>
          <p:cNvPr id="6" name="组合 5"/>
          <p:cNvGrpSpPr/>
          <p:nvPr/>
        </p:nvGrpSpPr>
        <p:grpSpPr>
          <a:xfrm>
            <a:off x="-612576" y="116632"/>
            <a:ext cx="7416824" cy="648129"/>
            <a:chOff x="-180528" y="5152869"/>
            <a:chExt cx="7243325" cy="526322"/>
          </a:xfrm>
        </p:grpSpPr>
        <p:grpSp>
          <p:nvGrpSpPr>
            <p:cNvPr id="7" name="组合 6"/>
            <p:cNvGrpSpPr/>
            <p:nvPr/>
          </p:nvGrpSpPr>
          <p:grpSpPr>
            <a:xfrm>
              <a:off x="-180528" y="5152869"/>
              <a:ext cx="7243325" cy="526322"/>
              <a:chOff x="-240188" y="5778644"/>
              <a:chExt cx="7889473" cy="68920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blinds(horizontal)">
                                      <p:cBhvr>
                                        <p:cTn id="7" dur="500"/>
                                        <p:tgtEl>
                                          <p:spTgt spid="430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3011">
                                            <p:txEl>
                                              <p:pRg st="1" end="1"/>
                                            </p:txEl>
                                          </p:spTgt>
                                        </p:tgtEl>
                                        <p:attrNameLst>
                                          <p:attrName>style.visibility</p:attrName>
                                        </p:attrNameLst>
                                      </p:cBhvr>
                                      <p:to>
                                        <p:strVal val="visible"/>
                                      </p:to>
                                    </p:set>
                                    <p:animEffect transition="in" filter="blinds(horizontal)">
                                      <p:cBhvr>
                                        <p:cTn id="12" dur="500"/>
                                        <p:tgtEl>
                                          <p:spTgt spid="430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animEffect transition="in" filter="blinds(horizontal)">
                                      <p:cBhvr>
                                        <p:cTn id="17" dur="500"/>
                                        <p:tgtEl>
                                          <p:spTgt spid="430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3011">
                                            <p:txEl>
                                              <p:pRg st="3" end="3"/>
                                            </p:txEl>
                                          </p:spTgt>
                                        </p:tgtEl>
                                        <p:attrNameLst>
                                          <p:attrName>style.visibility</p:attrName>
                                        </p:attrNameLst>
                                      </p:cBhvr>
                                      <p:to>
                                        <p:strVal val="visible"/>
                                      </p:to>
                                    </p:set>
                                    <p:animEffect transition="in" filter="blinds(horizontal)">
                                      <p:cBhvr>
                                        <p:cTn id="22" dur="500"/>
                                        <p:tgtEl>
                                          <p:spTgt spid="430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3011">
                                            <p:txEl>
                                              <p:pRg st="4" end="4"/>
                                            </p:txEl>
                                          </p:spTgt>
                                        </p:tgtEl>
                                        <p:attrNameLst>
                                          <p:attrName>style.visibility</p:attrName>
                                        </p:attrNameLst>
                                      </p:cBhvr>
                                      <p:to>
                                        <p:strVal val="visible"/>
                                      </p:to>
                                    </p:set>
                                    <p:animEffect transition="in" filter="blinds(horizontal)">
                                      <p:cBhvr>
                                        <p:cTn id="27" dur="500"/>
                                        <p:tgtEl>
                                          <p:spTgt spid="430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3011">
                                            <p:txEl>
                                              <p:pRg st="5" end="5"/>
                                            </p:txEl>
                                          </p:spTgt>
                                        </p:tgtEl>
                                        <p:attrNameLst>
                                          <p:attrName>style.visibility</p:attrName>
                                        </p:attrNameLst>
                                      </p:cBhvr>
                                      <p:to>
                                        <p:strVal val="visible"/>
                                      </p:to>
                                    </p:set>
                                    <p:animEffect transition="in" filter="blinds(horizontal)">
                                      <p:cBhvr>
                                        <p:cTn id="32" dur="500"/>
                                        <p:tgtEl>
                                          <p:spTgt spid="4301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3011">
                                            <p:txEl>
                                              <p:pRg st="6" end="6"/>
                                            </p:txEl>
                                          </p:spTgt>
                                        </p:tgtEl>
                                        <p:attrNameLst>
                                          <p:attrName>style.visibility</p:attrName>
                                        </p:attrNameLst>
                                      </p:cBhvr>
                                      <p:to>
                                        <p:strVal val="visible"/>
                                      </p:to>
                                    </p:set>
                                    <p:animEffect transition="in" filter="blinds(horizontal)">
                                      <p:cBhvr>
                                        <p:cTn id="37" dur="500"/>
                                        <p:tgtEl>
                                          <p:spTgt spid="4301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3011">
                                            <p:txEl>
                                              <p:pRg st="7" end="7"/>
                                            </p:txEl>
                                          </p:spTgt>
                                        </p:tgtEl>
                                        <p:attrNameLst>
                                          <p:attrName>style.visibility</p:attrName>
                                        </p:attrNameLst>
                                      </p:cBhvr>
                                      <p:to>
                                        <p:strVal val="visible"/>
                                      </p:to>
                                    </p:set>
                                    <p:animEffect transition="in" filter="blinds(horizontal)">
                                      <p:cBhvr>
                                        <p:cTn id="42" dur="500"/>
                                        <p:tgtEl>
                                          <p:spTgt spid="4301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43011">
                                            <p:txEl>
                                              <p:pRg st="8" end="8"/>
                                            </p:txEl>
                                          </p:spTgt>
                                        </p:tgtEl>
                                        <p:attrNameLst>
                                          <p:attrName>style.visibility</p:attrName>
                                        </p:attrNameLst>
                                      </p:cBhvr>
                                      <p:to>
                                        <p:strVal val="visible"/>
                                      </p:to>
                                    </p:set>
                                    <p:animEffect transition="in" filter="blinds(horizontal)">
                                      <p:cBhvr>
                                        <p:cTn id="47" dur="500"/>
                                        <p:tgtEl>
                                          <p:spTgt spid="430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内容占位符 44034"/>
          <p:cNvSpPr>
            <a:spLocks noGrp="1" noChangeArrowheads="1"/>
          </p:cNvSpPr>
          <p:nvPr>
            <p:ph idx="1"/>
          </p:nvPr>
        </p:nvSpPr>
        <p:spPr>
          <a:xfrm>
            <a:off x="457200" y="1052736"/>
            <a:ext cx="8579296" cy="4678451"/>
          </a:xfrm>
        </p:spPr>
        <p:txBody>
          <a:bodyPr/>
          <a:lstStyle/>
          <a:p>
            <a:pPr>
              <a:lnSpc>
                <a:spcPct val="90000"/>
              </a:lnSpc>
              <a:buClr>
                <a:srgbClr val="FF0000"/>
              </a:buClr>
              <a:buFont typeface="Wingdings" panose="05000000000000000000" pitchFamily="2" charset="2"/>
              <a:buChar char="ü"/>
            </a:pPr>
            <a:r>
              <a:rPr lang="zh-CN" altLang="en-US" sz="2000" b="1" dirty="0"/>
              <a:t>例</a:t>
            </a:r>
            <a:r>
              <a:rPr lang="en-US" altLang="zh-CN" sz="2000" b="1" dirty="0"/>
              <a:t>5</a:t>
            </a:r>
            <a:r>
              <a:rPr lang="zh-CN" altLang="en-US" sz="2000" b="1" dirty="0"/>
              <a:t>：设计算法求从集合｛</a:t>
            </a:r>
            <a:r>
              <a:rPr lang="en-US" altLang="zh-CN" sz="2000" b="1" dirty="0"/>
              <a:t>1, 2, ..., </a:t>
            </a:r>
            <a:r>
              <a:rPr lang="en-US" altLang="zh-CN" sz="2000" b="1" i="1" dirty="0"/>
              <a:t>n</a:t>
            </a:r>
            <a:r>
              <a:rPr lang="zh-CN" altLang="en-US" sz="2000" b="1" dirty="0"/>
              <a:t>｝中取</a:t>
            </a:r>
            <a:r>
              <a:rPr lang="en-US" altLang="zh-CN" sz="2000" b="1" i="1" dirty="0"/>
              <a:t>k</a:t>
            </a:r>
            <a:r>
              <a:rPr lang="zh-CN" altLang="en-US" sz="2000" b="1" dirty="0"/>
              <a:t>个元素的所有组合。</a:t>
            </a:r>
            <a:endParaRPr lang="zh-CN" altLang="en-US" sz="2000" b="1" dirty="0"/>
          </a:p>
          <a:p>
            <a:pPr>
              <a:lnSpc>
                <a:spcPct val="90000"/>
              </a:lnSpc>
              <a:buFont typeface="Wingdings" panose="05000000000000000000" pitchFamily="2" charset="2"/>
              <a:buNone/>
            </a:pPr>
            <a:r>
              <a:rPr lang="zh-CN" altLang="en-US" sz="2000" dirty="0"/>
              <a:t>      解：构造出求解的树型表示，并注意体会算法思想：</a:t>
            </a:r>
            <a:endParaRPr lang="zh-CN" altLang="en-US" sz="2000" dirty="0"/>
          </a:p>
          <a:p>
            <a:pPr>
              <a:lnSpc>
                <a:spcPct val="90000"/>
              </a:lnSpc>
              <a:buFont typeface="Wingdings" panose="05000000000000000000" pitchFamily="2" charset="2"/>
              <a:buNone/>
            </a:pPr>
            <a:r>
              <a:rPr lang="en-US" altLang="zh-CN" sz="2000" dirty="0"/>
              <a:t>      </a:t>
            </a:r>
            <a:r>
              <a:rPr lang="en-US" altLang="zh-CN" sz="2000" dirty="0">
                <a:solidFill>
                  <a:srgbClr val="0000FF"/>
                </a:solidFill>
              </a:rPr>
              <a:t>void</a:t>
            </a:r>
            <a:r>
              <a:rPr lang="en-US" altLang="zh-CN" sz="2000" dirty="0"/>
              <a:t> Combination(</a:t>
            </a:r>
            <a:r>
              <a:rPr lang="en-US" altLang="zh-CN" sz="2000" dirty="0" err="1">
                <a:solidFill>
                  <a:srgbClr val="0000FF"/>
                </a:solidFill>
              </a:rPr>
              <a:t>int</a:t>
            </a:r>
            <a:r>
              <a:rPr lang="en-US" altLang="zh-CN" sz="2000" dirty="0"/>
              <a:t> P[], </a:t>
            </a:r>
            <a:r>
              <a:rPr lang="en-US" altLang="zh-CN" sz="2000" dirty="0" err="1">
                <a:solidFill>
                  <a:srgbClr val="0000FF"/>
                </a:solidFill>
              </a:rPr>
              <a:t>int</a:t>
            </a:r>
            <a:r>
              <a:rPr lang="en-US" altLang="zh-CN" sz="2000" dirty="0"/>
              <a:t> </a:t>
            </a:r>
            <a:r>
              <a:rPr lang="en-US" altLang="zh-CN" sz="2000" i="1" dirty="0" err="1"/>
              <a:t>i</a:t>
            </a:r>
            <a:r>
              <a:rPr lang="en-US" altLang="zh-CN" sz="2000" dirty="0"/>
              <a:t>, </a:t>
            </a:r>
            <a:r>
              <a:rPr lang="en-US" altLang="zh-CN" sz="2000" dirty="0" err="1">
                <a:solidFill>
                  <a:srgbClr val="0000FF"/>
                </a:solidFill>
              </a:rPr>
              <a:t>int</a:t>
            </a:r>
            <a:r>
              <a:rPr lang="en-US" altLang="zh-CN" sz="2000" dirty="0"/>
              <a:t> </a:t>
            </a:r>
            <a:r>
              <a:rPr lang="en-US" altLang="zh-CN" sz="2000" i="1" dirty="0" err="1"/>
              <a:t>num</a:t>
            </a:r>
            <a:r>
              <a:rPr lang="en-US" altLang="zh-CN" sz="2000" dirty="0"/>
              <a:t>)</a:t>
            </a:r>
            <a:endParaRPr lang="en-US" altLang="zh-CN" sz="2000" dirty="0"/>
          </a:p>
          <a:p>
            <a:pPr>
              <a:lnSpc>
                <a:spcPct val="90000"/>
              </a:lnSpc>
              <a:buFont typeface="Wingdings" panose="05000000000000000000" pitchFamily="2" charset="2"/>
              <a:buNone/>
            </a:pPr>
            <a:r>
              <a:rPr lang="en-US" altLang="zh-CN" sz="2000" dirty="0"/>
              <a:t>     {</a:t>
            </a:r>
            <a:endParaRPr lang="en-US" altLang="zh-CN" sz="2000" dirty="0"/>
          </a:p>
          <a:p>
            <a:pPr>
              <a:lnSpc>
                <a:spcPct val="90000"/>
              </a:lnSpc>
              <a:buFont typeface="Wingdings" panose="05000000000000000000" pitchFamily="2" charset="2"/>
              <a:buNone/>
            </a:pPr>
            <a:r>
              <a:rPr lang="en-US" altLang="zh-CN" sz="2000" dirty="0"/>
              <a:t>             </a:t>
            </a:r>
            <a:r>
              <a:rPr lang="en-US" altLang="zh-CN" sz="2000" dirty="0">
                <a:solidFill>
                  <a:srgbClr val="0000FF"/>
                </a:solidFill>
              </a:rPr>
              <a:t>if </a:t>
            </a:r>
            <a:r>
              <a:rPr lang="en-US" altLang="zh-CN" sz="2000" dirty="0"/>
              <a:t>(</a:t>
            </a:r>
            <a:r>
              <a:rPr lang="en-US" altLang="zh-CN" sz="2000" dirty="0" err="1"/>
              <a:t>num</a:t>
            </a:r>
            <a:r>
              <a:rPr lang="en-US" altLang="zh-CN" sz="2000" dirty="0"/>
              <a:t> ==0 ) Print(P, </a:t>
            </a:r>
            <a:r>
              <a:rPr lang="en-US" altLang="zh-CN" sz="2000" i="1" dirty="0"/>
              <a:t>k</a:t>
            </a:r>
            <a:r>
              <a:rPr lang="en-US" altLang="zh-CN" sz="2000" dirty="0"/>
              <a:t>) </a:t>
            </a:r>
            <a:r>
              <a:rPr lang="zh-CN" altLang="en-US" sz="2000" dirty="0"/>
              <a:t>；</a:t>
            </a:r>
            <a:r>
              <a:rPr lang="en-US" altLang="zh-CN" sz="2000" dirty="0"/>
              <a:t>            </a:t>
            </a:r>
            <a:r>
              <a:rPr lang="en-US" altLang="zh-CN" sz="1800" dirty="0"/>
              <a:t>// </a:t>
            </a:r>
            <a:r>
              <a:rPr lang="zh-CN" altLang="en-US" sz="1800" dirty="0"/>
              <a:t>输出数组</a:t>
            </a:r>
            <a:r>
              <a:rPr lang="en-US" altLang="zh-CN" sz="1800" dirty="0"/>
              <a:t>P</a:t>
            </a:r>
            <a:r>
              <a:rPr lang="zh-CN" altLang="en-US" sz="1800" dirty="0"/>
              <a:t>中的前</a:t>
            </a:r>
            <a:r>
              <a:rPr lang="en-US" altLang="zh-CN" sz="1800" i="1" dirty="0"/>
              <a:t>k</a:t>
            </a:r>
            <a:r>
              <a:rPr lang="zh-CN" altLang="en-US" sz="1800" dirty="0"/>
              <a:t>各元素</a:t>
            </a:r>
            <a:endParaRPr lang="zh-CN" altLang="en-US" sz="2000" dirty="0"/>
          </a:p>
          <a:p>
            <a:pPr>
              <a:lnSpc>
                <a:spcPct val="90000"/>
              </a:lnSpc>
              <a:buFont typeface="Wingdings" panose="05000000000000000000" pitchFamily="2" charset="2"/>
              <a:buNone/>
            </a:pPr>
            <a:r>
              <a:rPr lang="zh-CN" altLang="en-US" sz="2000" dirty="0"/>
              <a:t>             </a:t>
            </a:r>
            <a:r>
              <a:rPr lang="en-US" altLang="zh-CN" sz="2000" dirty="0">
                <a:solidFill>
                  <a:srgbClr val="0000FF"/>
                </a:solidFill>
              </a:rPr>
              <a:t>else if </a:t>
            </a:r>
            <a:r>
              <a:rPr lang="en-US" altLang="zh-CN" sz="2000" dirty="0"/>
              <a:t>(</a:t>
            </a:r>
            <a:r>
              <a:rPr lang="en-US" altLang="zh-CN" sz="2000" i="1" dirty="0">
                <a:solidFill>
                  <a:srgbClr val="FF0000"/>
                </a:solidFill>
              </a:rPr>
              <a:t>i</a:t>
            </a:r>
            <a:r>
              <a:rPr lang="en-US" altLang="zh-CN" sz="2000" dirty="0">
                <a:solidFill>
                  <a:srgbClr val="FF0000"/>
                </a:solidFill>
              </a:rPr>
              <a:t>+</a:t>
            </a:r>
            <a:r>
              <a:rPr lang="en-US" altLang="zh-CN" sz="2000" i="1" dirty="0">
                <a:solidFill>
                  <a:srgbClr val="FF0000"/>
                </a:solidFill>
              </a:rPr>
              <a:t>num</a:t>
            </a:r>
            <a:r>
              <a:rPr lang="en-US" altLang="zh-CN" sz="2000" dirty="0">
                <a:solidFill>
                  <a:srgbClr val="FF0000"/>
                </a:solidFill>
              </a:rPr>
              <a:t>-1&lt;=</a:t>
            </a:r>
            <a:r>
              <a:rPr lang="en-US" altLang="zh-CN" sz="2000" i="1" dirty="0">
                <a:solidFill>
                  <a:srgbClr val="FF0000"/>
                </a:solidFill>
              </a:rPr>
              <a:t>n</a:t>
            </a:r>
            <a:r>
              <a:rPr lang="en-US" altLang="zh-CN" sz="2000" dirty="0"/>
              <a:t>) {                    </a:t>
            </a:r>
            <a:r>
              <a:rPr lang="en-US" altLang="zh-CN" sz="1800" dirty="0"/>
              <a:t>// </a:t>
            </a:r>
            <a:r>
              <a:rPr lang="zh-CN" altLang="en-US" sz="1800" dirty="0"/>
              <a:t>判断余下元素足够选择时</a:t>
            </a:r>
            <a:endParaRPr lang="zh-CN" altLang="en-US" sz="1800" dirty="0"/>
          </a:p>
          <a:p>
            <a:pPr>
              <a:lnSpc>
                <a:spcPct val="90000"/>
              </a:lnSpc>
              <a:buFont typeface="Wingdings" panose="05000000000000000000" pitchFamily="2" charset="2"/>
              <a:buNone/>
            </a:pPr>
            <a:r>
              <a:rPr lang="en-US" altLang="zh-CN" sz="2000" dirty="0"/>
              <a:t>                      P[</a:t>
            </a:r>
            <a:r>
              <a:rPr lang="en-US" altLang="zh-CN" sz="2000" i="1" dirty="0"/>
              <a:t>k</a:t>
            </a:r>
            <a:r>
              <a:rPr lang="en-US" altLang="zh-CN" sz="2000" dirty="0"/>
              <a:t>-</a:t>
            </a:r>
            <a:r>
              <a:rPr lang="en-US" altLang="zh-CN" sz="2000" i="1" dirty="0" err="1"/>
              <a:t>num</a:t>
            </a:r>
            <a:r>
              <a:rPr lang="en-US" altLang="zh-CN" sz="2000" dirty="0"/>
              <a:t>]=A[</a:t>
            </a:r>
            <a:r>
              <a:rPr lang="en-US" altLang="zh-CN" sz="2000" i="1" dirty="0" err="1"/>
              <a:t>i</a:t>
            </a:r>
            <a:r>
              <a:rPr lang="en-US" altLang="zh-CN" sz="2000" dirty="0"/>
              <a:t>];                      </a:t>
            </a:r>
            <a:r>
              <a:rPr lang="en-US" altLang="zh-CN" sz="1800" dirty="0"/>
              <a:t>// </a:t>
            </a:r>
            <a:r>
              <a:rPr lang="zh-CN" altLang="en-US" sz="1800" dirty="0"/>
              <a:t>选择</a:t>
            </a:r>
            <a:r>
              <a:rPr lang="en-US" altLang="zh-CN" sz="1800" dirty="0"/>
              <a:t>A[</a:t>
            </a:r>
            <a:r>
              <a:rPr lang="en-US" altLang="zh-CN" sz="1800" i="1" dirty="0" err="1"/>
              <a:t>i</a:t>
            </a:r>
            <a:r>
              <a:rPr lang="en-US" altLang="zh-CN" sz="1800" dirty="0"/>
              <a:t>]</a:t>
            </a:r>
            <a:r>
              <a:rPr lang="zh-CN" altLang="en-US" sz="1800" dirty="0"/>
              <a:t>时</a:t>
            </a:r>
            <a:endParaRPr lang="zh-CN" altLang="en-US" sz="1800" dirty="0"/>
          </a:p>
          <a:p>
            <a:pPr>
              <a:lnSpc>
                <a:spcPct val="90000"/>
              </a:lnSpc>
              <a:buFont typeface="Wingdings" panose="05000000000000000000" pitchFamily="2" charset="2"/>
              <a:buNone/>
            </a:pPr>
            <a:r>
              <a:rPr lang="en-US" altLang="zh-CN" sz="2000" dirty="0"/>
              <a:t>                      Combination (P,</a:t>
            </a:r>
            <a:r>
              <a:rPr lang="en-US" altLang="zh-CN" sz="2000" i="1" dirty="0"/>
              <a:t>i</a:t>
            </a:r>
            <a:r>
              <a:rPr lang="en-US" altLang="zh-CN" sz="2000" dirty="0"/>
              <a:t>+1, </a:t>
            </a:r>
            <a:r>
              <a:rPr lang="en-US" altLang="zh-CN" sz="2000" i="1" dirty="0"/>
              <a:t>num</a:t>
            </a:r>
            <a:r>
              <a:rPr lang="en-US" altLang="zh-CN" sz="2000" dirty="0"/>
              <a:t>-1); </a:t>
            </a:r>
            <a:r>
              <a:rPr lang="en-US" altLang="zh-CN" sz="1800" dirty="0"/>
              <a:t>// </a:t>
            </a:r>
            <a:r>
              <a:rPr lang="zh-CN" altLang="en-US" sz="1800" dirty="0"/>
              <a:t>求解余下元素中的</a:t>
            </a:r>
            <a:r>
              <a:rPr lang="en-US" altLang="zh-CN" sz="1800" i="1" dirty="0"/>
              <a:t>num</a:t>
            </a:r>
            <a:r>
              <a:rPr lang="en-US" altLang="zh-CN" sz="1800" dirty="0"/>
              <a:t>-1</a:t>
            </a:r>
            <a:r>
              <a:rPr lang="zh-CN" altLang="en-US" sz="1800" dirty="0"/>
              <a:t>各元素的组合</a:t>
            </a:r>
            <a:endParaRPr lang="zh-CN" altLang="en-US" sz="1800" dirty="0"/>
          </a:p>
          <a:p>
            <a:pPr>
              <a:lnSpc>
                <a:spcPct val="90000"/>
              </a:lnSpc>
              <a:buFont typeface="Wingdings" panose="05000000000000000000" pitchFamily="2" charset="2"/>
              <a:buNone/>
            </a:pPr>
            <a:r>
              <a:rPr lang="zh-CN" altLang="en-US" sz="2000" dirty="0"/>
              <a:t>                      </a:t>
            </a:r>
            <a:r>
              <a:rPr lang="en-US" altLang="zh-CN" sz="2000" dirty="0"/>
              <a:t>Combination (P,</a:t>
            </a:r>
            <a:r>
              <a:rPr lang="en-US" altLang="zh-CN" sz="2000" i="1" dirty="0"/>
              <a:t>i</a:t>
            </a:r>
            <a:r>
              <a:rPr lang="en-US" altLang="zh-CN" sz="2000" dirty="0"/>
              <a:t>+1, </a:t>
            </a:r>
            <a:r>
              <a:rPr lang="en-US" altLang="zh-CN" sz="2000" i="1" dirty="0" err="1"/>
              <a:t>num</a:t>
            </a:r>
            <a:r>
              <a:rPr lang="en-US" altLang="zh-CN" sz="2000" dirty="0"/>
              <a:t>);    </a:t>
            </a:r>
            <a:r>
              <a:rPr lang="en-US" altLang="zh-CN" sz="1800" dirty="0"/>
              <a:t>// </a:t>
            </a:r>
            <a:r>
              <a:rPr lang="zh-CN" altLang="en-US" sz="1800" dirty="0"/>
              <a:t>不选</a:t>
            </a:r>
            <a:r>
              <a:rPr lang="en-US" altLang="zh-CN" sz="1800" dirty="0"/>
              <a:t>A[</a:t>
            </a:r>
            <a:r>
              <a:rPr lang="en-US" altLang="zh-CN" sz="1800" i="1" dirty="0" err="1"/>
              <a:t>i</a:t>
            </a:r>
            <a:r>
              <a:rPr lang="en-US" altLang="zh-CN" sz="1800" dirty="0"/>
              <a:t>]</a:t>
            </a:r>
            <a:r>
              <a:rPr lang="zh-CN" altLang="en-US" sz="1800" dirty="0"/>
              <a:t>时的求解 </a:t>
            </a:r>
            <a:endParaRPr lang="zh-CN" altLang="en-US" sz="2000" dirty="0"/>
          </a:p>
          <a:p>
            <a:pPr>
              <a:lnSpc>
                <a:spcPct val="90000"/>
              </a:lnSpc>
              <a:buFont typeface="Wingdings" panose="05000000000000000000" pitchFamily="2" charset="2"/>
              <a:buNone/>
            </a:pPr>
            <a:r>
              <a:rPr lang="zh-CN" altLang="en-US" sz="2000" dirty="0"/>
              <a:t>           </a:t>
            </a:r>
            <a:r>
              <a:rPr lang="en-US" altLang="zh-CN" sz="2000" dirty="0"/>
              <a:t>} </a:t>
            </a:r>
            <a:endParaRPr lang="en-US" altLang="zh-CN" sz="2000" dirty="0"/>
          </a:p>
          <a:p>
            <a:pPr>
              <a:lnSpc>
                <a:spcPct val="90000"/>
              </a:lnSpc>
              <a:buFont typeface="Wingdings" panose="05000000000000000000" pitchFamily="2" charset="2"/>
              <a:buNone/>
            </a:pPr>
            <a:r>
              <a:rPr lang="en-US" altLang="zh-CN" sz="2000" dirty="0"/>
              <a:t>     } </a:t>
            </a:r>
            <a:endParaRPr lang="en-US" altLang="zh-CN" sz="2000" dirty="0"/>
          </a:p>
        </p:txBody>
      </p:sp>
      <p:grpSp>
        <p:nvGrpSpPr>
          <p:cNvPr id="6" name="组合 5"/>
          <p:cNvGrpSpPr/>
          <p:nvPr/>
        </p:nvGrpSpPr>
        <p:grpSpPr>
          <a:xfrm>
            <a:off x="-612576" y="116632"/>
            <a:ext cx="7416824" cy="648129"/>
            <a:chOff x="-180528" y="5152869"/>
            <a:chExt cx="7243325" cy="526322"/>
          </a:xfrm>
        </p:grpSpPr>
        <p:grpSp>
          <p:nvGrpSpPr>
            <p:cNvPr id="7" name="组合 6"/>
            <p:cNvGrpSpPr/>
            <p:nvPr/>
          </p:nvGrpSpPr>
          <p:grpSpPr>
            <a:xfrm>
              <a:off x="-180528" y="5152869"/>
              <a:ext cx="7243325" cy="526322"/>
              <a:chOff x="-240188" y="5778644"/>
              <a:chExt cx="7889473" cy="68920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Effect transition="in" filter="blinds(horizontal)">
                                      <p:cBhvr>
                                        <p:cTn id="7" dur="500"/>
                                        <p:tgtEl>
                                          <p:spTgt spid="440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4035">
                                            <p:txEl>
                                              <p:pRg st="1" end="1"/>
                                            </p:txEl>
                                          </p:spTgt>
                                        </p:tgtEl>
                                        <p:attrNameLst>
                                          <p:attrName>style.visibility</p:attrName>
                                        </p:attrNameLst>
                                      </p:cBhvr>
                                      <p:to>
                                        <p:strVal val="visible"/>
                                      </p:to>
                                    </p:set>
                                    <p:animEffect transition="in" filter="blinds(horizontal)">
                                      <p:cBhvr>
                                        <p:cTn id="12" dur="500"/>
                                        <p:tgtEl>
                                          <p:spTgt spid="440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4035">
                                            <p:txEl>
                                              <p:pRg st="2" end="2"/>
                                            </p:txEl>
                                          </p:spTgt>
                                        </p:tgtEl>
                                        <p:attrNameLst>
                                          <p:attrName>style.visibility</p:attrName>
                                        </p:attrNameLst>
                                      </p:cBhvr>
                                      <p:to>
                                        <p:strVal val="visible"/>
                                      </p:to>
                                    </p:set>
                                    <p:animEffect transition="in" filter="blinds(horizontal)">
                                      <p:cBhvr>
                                        <p:cTn id="17" dur="500"/>
                                        <p:tgtEl>
                                          <p:spTgt spid="440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4035">
                                            <p:txEl>
                                              <p:pRg st="3" end="3"/>
                                            </p:txEl>
                                          </p:spTgt>
                                        </p:tgtEl>
                                        <p:attrNameLst>
                                          <p:attrName>style.visibility</p:attrName>
                                        </p:attrNameLst>
                                      </p:cBhvr>
                                      <p:to>
                                        <p:strVal val="visible"/>
                                      </p:to>
                                    </p:set>
                                    <p:animEffect transition="in" filter="blinds(horizontal)">
                                      <p:cBhvr>
                                        <p:cTn id="22" dur="500"/>
                                        <p:tgtEl>
                                          <p:spTgt spid="4403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4035">
                                            <p:txEl>
                                              <p:pRg st="4" end="4"/>
                                            </p:txEl>
                                          </p:spTgt>
                                        </p:tgtEl>
                                        <p:attrNameLst>
                                          <p:attrName>style.visibility</p:attrName>
                                        </p:attrNameLst>
                                      </p:cBhvr>
                                      <p:to>
                                        <p:strVal val="visible"/>
                                      </p:to>
                                    </p:set>
                                    <p:animEffect transition="in" filter="blinds(horizontal)">
                                      <p:cBhvr>
                                        <p:cTn id="27" dur="500"/>
                                        <p:tgtEl>
                                          <p:spTgt spid="4403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4035">
                                            <p:txEl>
                                              <p:pRg st="5" end="5"/>
                                            </p:txEl>
                                          </p:spTgt>
                                        </p:tgtEl>
                                        <p:attrNameLst>
                                          <p:attrName>style.visibility</p:attrName>
                                        </p:attrNameLst>
                                      </p:cBhvr>
                                      <p:to>
                                        <p:strVal val="visible"/>
                                      </p:to>
                                    </p:set>
                                    <p:animEffect transition="in" filter="blinds(horizontal)">
                                      <p:cBhvr>
                                        <p:cTn id="32" dur="500"/>
                                        <p:tgtEl>
                                          <p:spTgt spid="4403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4035">
                                            <p:txEl>
                                              <p:pRg st="6" end="6"/>
                                            </p:txEl>
                                          </p:spTgt>
                                        </p:tgtEl>
                                        <p:attrNameLst>
                                          <p:attrName>style.visibility</p:attrName>
                                        </p:attrNameLst>
                                      </p:cBhvr>
                                      <p:to>
                                        <p:strVal val="visible"/>
                                      </p:to>
                                    </p:set>
                                    <p:animEffect transition="in" filter="blinds(horizontal)">
                                      <p:cBhvr>
                                        <p:cTn id="37" dur="500"/>
                                        <p:tgtEl>
                                          <p:spTgt spid="4403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4035">
                                            <p:txEl>
                                              <p:pRg st="7" end="7"/>
                                            </p:txEl>
                                          </p:spTgt>
                                        </p:tgtEl>
                                        <p:attrNameLst>
                                          <p:attrName>style.visibility</p:attrName>
                                        </p:attrNameLst>
                                      </p:cBhvr>
                                      <p:to>
                                        <p:strVal val="visible"/>
                                      </p:to>
                                    </p:set>
                                    <p:animEffect transition="in" filter="blinds(horizontal)">
                                      <p:cBhvr>
                                        <p:cTn id="42" dur="500"/>
                                        <p:tgtEl>
                                          <p:spTgt spid="4403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44035">
                                            <p:txEl>
                                              <p:pRg st="8" end="8"/>
                                            </p:txEl>
                                          </p:spTgt>
                                        </p:tgtEl>
                                        <p:attrNameLst>
                                          <p:attrName>style.visibility</p:attrName>
                                        </p:attrNameLst>
                                      </p:cBhvr>
                                      <p:to>
                                        <p:strVal val="visible"/>
                                      </p:to>
                                    </p:set>
                                    <p:animEffect transition="in" filter="blinds(horizontal)">
                                      <p:cBhvr>
                                        <p:cTn id="47" dur="500"/>
                                        <p:tgtEl>
                                          <p:spTgt spid="4403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44035">
                                            <p:txEl>
                                              <p:pRg st="9" end="9"/>
                                            </p:txEl>
                                          </p:spTgt>
                                        </p:tgtEl>
                                        <p:attrNameLst>
                                          <p:attrName>style.visibility</p:attrName>
                                        </p:attrNameLst>
                                      </p:cBhvr>
                                      <p:to>
                                        <p:strVal val="visible"/>
                                      </p:to>
                                    </p:set>
                                    <p:animEffect transition="in" filter="blinds(horizontal)">
                                      <p:cBhvr>
                                        <p:cTn id="52" dur="500"/>
                                        <p:tgtEl>
                                          <p:spTgt spid="4403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44035">
                                            <p:txEl>
                                              <p:pRg st="10" end="10"/>
                                            </p:txEl>
                                          </p:spTgt>
                                        </p:tgtEl>
                                        <p:attrNameLst>
                                          <p:attrName>style.visibility</p:attrName>
                                        </p:attrNameLst>
                                      </p:cBhvr>
                                      <p:to>
                                        <p:strVal val="visible"/>
                                      </p:to>
                                    </p:set>
                                    <p:animEffect transition="in" filter="blinds(horizontal)">
                                      <p:cBhvr>
                                        <p:cTn id="57" dur="500"/>
                                        <p:tgtEl>
                                          <p:spTgt spid="4403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内容占位符 45058"/>
          <p:cNvSpPr>
            <a:spLocks noGrp="1" noChangeArrowheads="1"/>
          </p:cNvSpPr>
          <p:nvPr>
            <p:ph idx="1"/>
          </p:nvPr>
        </p:nvSpPr>
        <p:spPr>
          <a:xfrm>
            <a:off x="457200" y="1124744"/>
            <a:ext cx="8229600" cy="4678451"/>
          </a:xfrm>
        </p:spPr>
        <p:txBody>
          <a:bodyPr/>
          <a:lstStyle/>
          <a:p>
            <a:pPr>
              <a:buClr>
                <a:srgbClr val="FF0000"/>
              </a:buClr>
              <a:buFont typeface="Wingdings" panose="05000000000000000000" pitchFamily="2" charset="2"/>
              <a:buChar char="n"/>
            </a:pPr>
            <a:r>
              <a:rPr lang="zh-CN" altLang="en-US" dirty="0"/>
              <a:t>递归与循环程序相比</a:t>
            </a:r>
            <a:endParaRPr lang="zh-CN" altLang="en-US" dirty="0"/>
          </a:p>
          <a:p>
            <a:pPr lvl="1">
              <a:buClr>
                <a:srgbClr val="FF0000"/>
              </a:buClr>
            </a:pPr>
            <a:r>
              <a:rPr lang="zh-CN" altLang="en-US" dirty="0"/>
              <a:t>都可以实现重复性操作</a:t>
            </a:r>
            <a:endParaRPr lang="zh-CN" altLang="en-US" dirty="0"/>
          </a:p>
          <a:p>
            <a:pPr lvl="1">
              <a:buClr>
                <a:srgbClr val="FF0000"/>
              </a:buClr>
            </a:pPr>
            <a:r>
              <a:rPr lang="zh-CN" altLang="en-US" dirty="0"/>
              <a:t>可以互相转换</a:t>
            </a:r>
            <a:endParaRPr lang="zh-CN" altLang="en-US" dirty="0"/>
          </a:p>
          <a:p>
            <a:pPr lvl="1">
              <a:buClr>
                <a:srgbClr val="FF0000"/>
              </a:buClr>
            </a:pPr>
            <a:r>
              <a:rPr lang="zh-CN" altLang="en-US" dirty="0"/>
              <a:t>效率差异</a:t>
            </a:r>
            <a:endParaRPr lang="zh-CN" altLang="en-US" dirty="0"/>
          </a:p>
          <a:p>
            <a:pPr lvl="1">
              <a:buClr>
                <a:srgbClr val="FF0000"/>
              </a:buClr>
            </a:pPr>
            <a:r>
              <a:rPr lang="zh-CN" altLang="en-US" dirty="0"/>
              <a:t>编码差异</a:t>
            </a:r>
            <a:endParaRPr lang="zh-CN" altLang="en-US" dirty="0"/>
          </a:p>
          <a:p>
            <a:endParaRPr lang="zh-CN" altLang="en-US" dirty="0"/>
          </a:p>
        </p:txBody>
      </p:sp>
      <p:grpSp>
        <p:nvGrpSpPr>
          <p:cNvPr id="6" name="组合 5"/>
          <p:cNvGrpSpPr/>
          <p:nvPr/>
        </p:nvGrpSpPr>
        <p:grpSpPr>
          <a:xfrm>
            <a:off x="-612576" y="116632"/>
            <a:ext cx="7416824" cy="648129"/>
            <a:chOff x="-180528" y="5152869"/>
            <a:chExt cx="7243325" cy="526322"/>
          </a:xfrm>
        </p:grpSpPr>
        <p:grpSp>
          <p:nvGrpSpPr>
            <p:cNvPr id="7" name="组合 6"/>
            <p:cNvGrpSpPr/>
            <p:nvPr/>
          </p:nvGrpSpPr>
          <p:grpSpPr>
            <a:xfrm>
              <a:off x="-180528" y="5152869"/>
              <a:ext cx="7243325" cy="526322"/>
              <a:chOff x="-240188" y="5778644"/>
              <a:chExt cx="7889473" cy="68920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Effect transition="in" filter="blinds(horizontal)">
                                      <p:cBhvr>
                                        <p:cTn id="7" dur="500"/>
                                        <p:tgtEl>
                                          <p:spTgt spid="4505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5059">
                                            <p:txEl>
                                              <p:pRg st="1" end="1"/>
                                            </p:txEl>
                                          </p:spTgt>
                                        </p:tgtEl>
                                        <p:attrNameLst>
                                          <p:attrName>style.visibility</p:attrName>
                                        </p:attrNameLst>
                                      </p:cBhvr>
                                      <p:to>
                                        <p:strVal val="visible"/>
                                      </p:to>
                                    </p:set>
                                    <p:animEffect transition="in" filter="blinds(horizontal)">
                                      <p:cBhvr>
                                        <p:cTn id="10" dur="500"/>
                                        <p:tgtEl>
                                          <p:spTgt spid="4505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45059">
                                            <p:txEl>
                                              <p:pRg st="2" end="2"/>
                                            </p:txEl>
                                          </p:spTgt>
                                        </p:tgtEl>
                                        <p:attrNameLst>
                                          <p:attrName>style.visibility</p:attrName>
                                        </p:attrNameLst>
                                      </p:cBhvr>
                                      <p:to>
                                        <p:strVal val="visible"/>
                                      </p:to>
                                    </p:set>
                                    <p:animEffect transition="in" filter="blinds(horizontal)">
                                      <p:cBhvr>
                                        <p:cTn id="15" dur="500"/>
                                        <p:tgtEl>
                                          <p:spTgt spid="4505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45059">
                                            <p:txEl>
                                              <p:pRg st="3" end="3"/>
                                            </p:txEl>
                                          </p:spTgt>
                                        </p:tgtEl>
                                        <p:attrNameLst>
                                          <p:attrName>style.visibility</p:attrName>
                                        </p:attrNameLst>
                                      </p:cBhvr>
                                      <p:to>
                                        <p:strVal val="visible"/>
                                      </p:to>
                                    </p:set>
                                    <p:animEffect transition="in" filter="blinds(horizontal)">
                                      <p:cBhvr>
                                        <p:cTn id="20" dur="500"/>
                                        <p:tgtEl>
                                          <p:spTgt spid="45059">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45059">
                                            <p:txEl>
                                              <p:pRg st="4" end="4"/>
                                            </p:txEl>
                                          </p:spTgt>
                                        </p:tgtEl>
                                        <p:attrNameLst>
                                          <p:attrName>style.visibility</p:attrName>
                                        </p:attrNameLst>
                                      </p:cBhvr>
                                      <p:to>
                                        <p:strVal val="visible"/>
                                      </p:to>
                                    </p:set>
                                    <p:animEffect transition="in" filter="blinds(horizontal)">
                                      <p:cBhvr>
                                        <p:cTn id="25" dur="500"/>
                                        <p:tgtEl>
                                          <p:spTgt spid="450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内容占位符 46082"/>
          <p:cNvSpPr>
            <a:spLocks noGrp="1" noChangeArrowheads="1"/>
          </p:cNvSpPr>
          <p:nvPr>
            <p:ph idx="1"/>
          </p:nvPr>
        </p:nvSpPr>
        <p:spPr>
          <a:xfrm>
            <a:off x="457200" y="980728"/>
            <a:ext cx="8229600" cy="4678451"/>
          </a:xfrm>
        </p:spPr>
        <p:txBody>
          <a:bodyPr/>
          <a:lstStyle/>
          <a:p>
            <a:pPr>
              <a:lnSpc>
                <a:spcPct val="80000"/>
              </a:lnSpc>
              <a:buClr>
                <a:srgbClr val="FF0000"/>
              </a:buClr>
              <a:buFont typeface="Wingdings" panose="05000000000000000000" pitchFamily="2" charset="2"/>
              <a:buChar char="n"/>
            </a:pPr>
            <a:r>
              <a:rPr lang="zh-CN" altLang="en-US" sz="2400" b="1" dirty="0"/>
              <a:t>小结：</a:t>
            </a:r>
            <a:endParaRPr lang="zh-CN" altLang="en-US" sz="2400" b="1" dirty="0"/>
          </a:p>
          <a:p>
            <a:pPr lvl="1">
              <a:buClr>
                <a:srgbClr val="FF0000"/>
              </a:buClr>
            </a:pPr>
            <a:r>
              <a:rPr lang="zh-CN" altLang="en-US" sz="2200" b="1" dirty="0"/>
              <a:t>该递归算法中涉及到搜索和回溯</a:t>
            </a:r>
            <a:endParaRPr lang="zh-CN" altLang="en-US" sz="2200" b="1" dirty="0"/>
          </a:p>
          <a:p>
            <a:pPr lvl="1">
              <a:buClr>
                <a:srgbClr val="FF0000"/>
              </a:buClr>
            </a:pPr>
            <a:r>
              <a:rPr lang="zh-CN" altLang="en-US" sz="2200" b="1" dirty="0"/>
              <a:t>回溯法：通用解题法</a:t>
            </a:r>
            <a:endParaRPr lang="zh-CN" altLang="en-US" sz="2200" b="1" dirty="0"/>
          </a:p>
          <a:p>
            <a:pPr lvl="1">
              <a:buClr>
                <a:srgbClr val="FF0000"/>
              </a:buClr>
            </a:pPr>
            <a:r>
              <a:rPr lang="zh-CN" altLang="en-US" sz="2200" b="1" dirty="0"/>
              <a:t>系统性和跳跃性的搜索法：</a:t>
            </a:r>
            <a:endParaRPr lang="zh-CN" altLang="en-US" sz="2200" b="1" dirty="0"/>
          </a:p>
          <a:p>
            <a:pPr lvl="2">
              <a:buClr>
                <a:srgbClr val="FF0000"/>
              </a:buClr>
            </a:pPr>
            <a:r>
              <a:rPr lang="zh-CN" altLang="en-US" sz="2200" dirty="0"/>
              <a:t>在包含问题所有解的状态空间树中，按照深度优先搜索策略，从根节点出发进行搜索。</a:t>
            </a:r>
            <a:endParaRPr lang="zh-CN" altLang="en-US" sz="2200" dirty="0"/>
          </a:p>
          <a:p>
            <a:pPr lvl="2">
              <a:buClr>
                <a:srgbClr val="FF0000"/>
              </a:buClr>
            </a:pPr>
            <a:r>
              <a:rPr lang="zh-CN" altLang="en-US" sz="2200" dirty="0"/>
              <a:t>每搜索到一个结点，判断该子树是否不包含问题的解，以便决定是否往下搜索。</a:t>
            </a:r>
            <a:endParaRPr lang="zh-CN" altLang="en-US" sz="2200" dirty="0"/>
          </a:p>
          <a:p>
            <a:pPr lvl="1">
              <a:buClr>
                <a:srgbClr val="FF0000"/>
              </a:buClr>
            </a:pPr>
            <a:r>
              <a:rPr lang="zh-CN" altLang="en-US" sz="2200" b="1" dirty="0"/>
              <a:t>典型问题：</a:t>
            </a:r>
            <a:endParaRPr lang="zh-CN" altLang="en-US" sz="2200" b="1" dirty="0"/>
          </a:p>
          <a:p>
            <a:pPr lvl="2">
              <a:buClr>
                <a:srgbClr val="FF0000"/>
              </a:buClr>
            </a:pPr>
            <a:r>
              <a:rPr lang="zh-CN" altLang="en-US" sz="2200" b="1" dirty="0"/>
              <a:t>简单</a:t>
            </a:r>
            <a:r>
              <a:rPr lang="en-US" altLang="zh-CN" sz="2200" b="1" dirty="0"/>
              <a:t>0-1</a:t>
            </a:r>
            <a:r>
              <a:rPr lang="zh-CN" altLang="en-US" sz="2200" b="1" dirty="0"/>
              <a:t>背包问题；</a:t>
            </a:r>
            <a:endParaRPr lang="zh-CN" altLang="en-US" sz="2200" b="1" dirty="0"/>
          </a:p>
          <a:p>
            <a:pPr lvl="2">
              <a:buClr>
                <a:srgbClr val="FF0000"/>
              </a:buClr>
            </a:pPr>
            <a:r>
              <a:rPr lang="zh-CN" altLang="en-US" sz="2200" b="1" dirty="0"/>
              <a:t>八皇后问题；</a:t>
            </a:r>
            <a:endParaRPr lang="zh-CN" altLang="en-US" sz="2200" b="1" dirty="0"/>
          </a:p>
          <a:p>
            <a:pPr lvl="2">
              <a:buClr>
                <a:srgbClr val="FF0000"/>
              </a:buClr>
            </a:pPr>
            <a:r>
              <a:rPr lang="zh-CN" altLang="en-US" sz="2200" b="1" dirty="0"/>
              <a:t>全排列问题；</a:t>
            </a:r>
            <a:endParaRPr lang="zh-CN" altLang="en-US" sz="2200" b="1" dirty="0"/>
          </a:p>
          <a:p>
            <a:pPr lvl="2">
              <a:buClr>
                <a:srgbClr val="FF0000"/>
              </a:buClr>
            </a:pPr>
            <a:r>
              <a:rPr lang="zh-CN" altLang="en-US" sz="2200" b="1" dirty="0"/>
              <a:t>棋子“马”的遍历问题</a:t>
            </a:r>
            <a:endParaRPr lang="zh-CN" altLang="en-US" sz="2200" b="1" dirty="0"/>
          </a:p>
        </p:txBody>
      </p:sp>
      <p:grpSp>
        <p:nvGrpSpPr>
          <p:cNvPr id="6" name="组合 5"/>
          <p:cNvGrpSpPr/>
          <p:nvPr/>
        </p:nvGrpSpPr>
        <p:grpSpPr>
          <a:xfrm>
            <a:off x="-612576" y="116632"/>
            <a:ext cx="7416824" cy="648129"/>
            <a:chOff x="-180528" y="5152869"/>
            <a:chExt cx="7243325" cy="526322"/>
          </a:xfrm>
        </p:grpSpPr>
        <p:grpSp>
          <p:nvGrpSpPr>
            <p:cNvPr id="7" name="组合 6"/>
            <p:cNvGrpSpPr/>
            <p:nvPr/>
          </p:nvGrpSpPr>
          <p:grpSpPr>
            <a:xfrm>
              <a:off x="-180528" y="5152869"/>
              <a:ext cx="7243325" cy="526322"/>
              <a:chOff x="-240188" y="5778644"/>
              <a:chExt cx="7889473" cy="68920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0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0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608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608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608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608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608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608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608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608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07"/>
          <p:cNvGrpSpPr/>
          <p:nvPr/>
        </p:nvGrpSpPr>
        <p:grpSpPr>
          <a:xfrm>
            <a:off x="543012" y="93590"/>
            <a:ext cx="4087592" cy="684275"/>
            <a:chOff x="939802" y="5062184"/>
            <a:chExt cx="4087592" cy="684275"/>
          </a:xfrm>
        </p:grpSpPr>
        <p:grpSp>
          <p:nvGrpSpPr>
            <p:cNvPr id="5" name="组合 33"/>
            <p:cNvGrpSpPr/>
            <p:nvPr/>
          </p:nvGrpSpPr>
          <p:grpSpPr>
            <a:xfrm>
              <a:off x="939802" y="5098728"/>
              <a:ext cx="813499" cy="647731"/>
              <a:chOff x="6068613" y="2138334"/>
              <a:chExt cx="412166" cy="348468"/>
            </a:xfrm>
          </p:grpSpPr>
          <p:sp>
            <p:nvSpPr>
              <p:cNvPr id="7" name="Freeform 5"/>
              <p:cNvSpPr/>
              <p:nvPr/>
            </p:nvSpPr>
            <p:spPr bwMode="auto">
              <a:xfrm>
                <a:off x="6068613" y="2138334"/>
                <a:ext cx="412166" cy="34846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dirty="0">
                  <a:ea typeface="微软雅黑" panose="020B0503020204020204" pitchFamily="34" charset="-122"/>
                </a:endParaRPr>
              </a:p>
            </p:txBody>
          </p:sp>
          <p:sp>
            <p:nvSpPr>
              <p:cNvPr id="8" name="KSO_Shape"/>
              <p:cNvSpPr/>
              <p:nvPr/>
            </p:nvSpPr>
            <p:spPr bwMode="auto">
              <a:xfrm>
                <a:off x="6173883" y="2206208"/>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dirty="0">
                  <a:solidFill>
                    <a:srgbClr val="FFFFFF"/>
                  </a:solidFill>
                  <a:ea typeface="微软雅黑" panose="020B0503020204020204" pitchFamily="34" charset="-122"/>
                </a:endParaRPr>
              </a:p>
            </p:txBody>
          </p:sp>
        </p:grpSp>
        <p:sp>
          <p:nvSpPr>
            <p:cNvPr id="6" name="TextBox 6"/>
            <p:cNvSpPr txBox="1">
              <a:spLocks noChangeArrowheads="1"/>
            </p:cNvSpPr>
            <p:nvPr/>
          </p:nvSpPr>
          <p:spPr bwMode="auto">
            <a:xfrm>
              <a:off x="1520154" y="506218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7.8  </a:t>
              </a:r>
              <a:r>
                <a:rPr lang="zh-CN" altLang="en-US" sz="3600" b="1" dirty="0">
                  <a:latin typeface="Times New Roman" panose="02020603050405020304" pitchFamily="18" charset="0"/>
                  <a:ea typeface="黑体" panose="02010609060101010101" pitchFamily="49" charset="-122"/>
                </a:rPr>
                <a:t>本章小结</a:t>
              </a:r>
              <a:endParaRPr lang="zh-CN" altLang="en-US" sz="3600" b="1" dirty="0">
                <a:latin typeface="Times New Roman" panose="02020603050405020304" pitchFamily="18" charset="0"/>
                <a:ea typeface="黑体" panose="02010609060101010101" pitchFamily="49" charset="-122"/>
              </a:endParaRPr>
            </a:p>
          </p:txBody>
        </p:sp>
      </p:grpSp>
      <p:grpSp>
        <p:nvGrpSpPr>
          <p:cNvPr id="9" name="组合 8"/>
          <p:cNvGrpSpPr/>
          <p:nvPr/>
        </p:nvGrpSpPr>
        <p:grpSpPr>
          <a:xfrm>
            <a:off x="927100" y="1114100"/>
            <a:ext cx="2378140" cy="668910"/>
            <a:chOff x="927100" y="1197990"/>
            <a:chExt cx="2378140" cy="668910"/>
          </a:xfrm>
        </p:grpSpPr>
        <p:sp>
          <p:nvSpPr>
            <p:cNvPr id="10" name="矩形 9"/>
            <p:cNvSpPr/>
            <p:nvPr/>
          </p:nvSpPr>
          <p:spPr>
            <a:xfrm>
              <a:off x="1472687" y="1197990"/>
              <a:ext cx="1832553"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内容回顾</a:t>
              </a:r>
              <a:endParaRPr lang="zh-CN" altLang="en-US" sz="3200" b="1" dirty="0">
                <a:latin typeface="Verdana" panose="020B0604030504040204" pitchFamily="34" charset="0"/>
                <a:ea typeface="黑体" panose="02010609060101010101" pitchFamily="49" charset="-122"/>
              </a:endParaRPr>
            </a:p>
          </p:txBody>
        </p:sp>
        <p:grpSp>
          <p:nvGrpSpPr>
            <p:cNvPr id="11" name="组合 99"/>
            <p:cNvGrpSpPr/>
            <p:nvPr/>
          </p:nvGrpSpPr>
          <p:grpSpPr>
            <a:xfrm>
              <a:off x="927100" y="1214339"/>
              <a:ext cx="643729" cy="652561"/>
              <a:chOff x="5547069" y="765931"/>
              <a:chExt cx="1482696" cy="1322356"/>
            </a:xfrm>
          </p:grpSpPr>
          <p:grpSp>
            <p:nvGrpSpPr>
              <p:cNvPr id="12" name="组合 38"/>
              <p:cNvGrpSpPr/>
              <p:nvPr/>
            </p:nvGrpSpPr>
            <p:grpSpPr>
              <a:xfrm>
                <a:off x="5547069" y="765931"/>
                <a:ext cx="1482696" cy="1322356"/>
                <a:chOff x="3337529" y="1161598"/>
                <a:chExt cx="2138277" cy="1907040"/>
              </a:xfrm>
            </p:grpSpPr>
            <p:sp>
              <p:nvSpPr>
                <p:cNvPr id="16" name="任意多边形 15"/>
                <p:cNvSpPr/>
                <p:nvPr/>
              </p:nvSpPr>
              <p:spPr bwMode="auto">
                <a:xfrm rot="10800000">
                  <a:off x="3342359" y="1161598"/>
                  <a:ext cx="2123116" cy="1895135"/>
                </a:xfrm>
                <a:custGeom>
                  <a:avLst/>
                  <a:gdLst>
                    <a:gd name="connsiteX0" fmla="*/ 1795626 w 2791387"/>
                    <a:gd name="connsiteY0" fmla="*/ 2117139 h 2491648"/>
                    <a:gd name="connsiteX1" fmla="*/ 1950063 w 2791387"/>
                    <a:gd name="connsiteY1" fmla="*/ 2028434 h 2491648"/>
                    <a:gd name="connsiteX2" fmla="*/ 2350454 w 2791387"/>
                    <a:gd name="connsiteY2" fmla="*/ 1334530 h 2491648"/>
                    <a:gd name="connsiteX3" fmla="*/ 2350454 w 2791387"/>
                    <a:gd name="connsiteY3" fmla="*/ 1157119 h 2491648"/>
                    <a:gd name="connsiteX4" fmla="*/ 1950063 w 2791387"/>
                    <a:gd name="connsiteY4" fmla="*/ 463215 h 2491648"/>
                    <a:gd name="connsiteX5" fmla="*/ 1795626 w 2791387"/>
                    <a:gd name="connsiteY5" fmla="*/ 374509 h 2491648"/>
                    <a:gd name="connsiteX6" fmla="*/ 994844 w 2791387"/>
                    <a:gd name="connsiteY6" fmla="*/ 374509 h 2491648"/>
                    <a:gd name="connsiteX7" fmla="*/ 840408 w 2791387"/>
                    <a:gd name="connsiteY7" fmla="*/ 463215 h 2491648"/>
                    <a:gd name="connsiteX8" fmla="*/ 440017 w 2791387"/>
                    <a:gd name="connsiteY8" fmla="*/ 1157119 h 2491648"/>
                    <a:gd name="connsiteX9" fmla="*/ 440017 w 2791387"/>
                    <a:gd name="connsiteY9" fmla="*/ 1334530 h 2491648"/>
                    <a:gd name="connsiteX10" fmla="*/ 840408 w 2791387"/>
                    <a:gd name="connsiteY10" fmla="*/ 2028434 h 2491648"/>
                    <a:gd name="connsiteX11" fmla="*/ 994844 w 2791387"/>
                    <a:gd name="connsiteY11" fmla="*/ 2117139 h 2491648"/>
                    <a:gd name="connsiteX12" fmla="*/ 1967414 w 2791387"/>
                    <a:gd name="connsiteY12" fmla="*/ 2491648 h 2491648"/>
                    <a:gd name="connsiteX13" fmla="*/ 822440 w 2791387"/>
                    <a:gd name="connsiteY13" fmla="*/ 2491648 h 2491648"/>
                    <a:gd name="connsiteX14" fmla="*/ 601623 w 2791387"/>
                    <a:gd name="connsiteY14" fmla="*/ 2364815 h 2491648"/>
                    <a:gd name="connsiteX15" fmla="*/ 29136 w 2791387"/>
                    <a:gd name="connsiteY15" fmla="*/ 1372657 h 2491648"/>
                    <a:gd name="connsiteX16" fmla="*/ 29136 w 2791387"/>
                    <a:gd name="connsiteY16" fmla="*/ 1118992 h 2491648"/>
                    <a:gd name="connsiteX17" fmla="*/ 601623 w 2791387"/>
                    <a:gd name="connsiteY17" fmla="*/ 126833 h 2491648"/>
                    <a:gd name="connsiteX18" fmla="*/ 822440 w 2791387"/>
                    <a:gd name="connsiteY18" fmla="*/ 0 h 2491648"/>
                    <a:gd name="connsiteX19" fmla="*/ 1967414 w 2791387"/>
                    <a:gd name="connsiteY19" fmla="*/ 0 h 2491648"/>
                    <a:gd name="connsiteX20" fmla="*/ 2188231 w 2791387"/>
                    <a:gd name="connsiteY20" fmla="*/ 126833 h 2491648"/>
                    <a:gd name="connsiteX21" fmla="*/ 2760718 w 2791387"/>
                    <a:gd name="connsiteY21" fmla="*/ 1118992 h 2491648"/>
                    <a:gd name="connsiteX22" fmla="*/ 2760718 w 2791387"/>
                    <a:gd name="connsiteY22" fmla="*/ 1372657 h 2491648"/>
                    <a:gd name="connsiteX23" fmla="*/ 2188231 w 2791387"/>
                    <a:gd name="connsiteY23" fmla="*/ 2364815 h 2491648"/>
                    <a:gd name="connsiteX24" fmla="*/ 1967414 w 2791387"/>
                    <a:gd name="connsiteY24" fmla="*/ 2491648 h 249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91387" h="2491648">
                      <a:moveTo>
                        <a:pt x="1795626" y="2117139"/>
                      </a:moveTo>
                      <a:cubicBezTo>
                        <a:pt x="1852825" y="2117139"/>
                        <a:pt x="1921463" y="2077079"/>
                        <a:pt x="1950063" y="2028434"/>
                      </a:cubicBezTo>
                      <a:cubicBezTo>
                        <a:pt x="1950063" y="2028434"/>
                        <a:pt x="1950063" y="2028434"/>
                        <a:pt x="2350454" y="1334530"/>
                      </a:cubicBezTo>
                      <a:cubicBezTo>
                        <a:pt x="2379053" y="1285885"/>
                        <a:pt x="2379053" y="1205764"/>
                        <a:pt x="2350454" y="1157119"/>
                      </a:cubicBezTo>
                      <a:cubicBezTo>
                        <a:pt x="2350454" y="1157119"/>
                        <a:pt x="2350454" y="1157119"/>
                        <a:pt x="1950063" y="463215"/>
                      </a:cubicBezTo>
                      <a:cubicBezTo>
                        <a:pt x="1921463" y="414570"/>
                        <a:pt x="1852825" y="374509"/>
                        <a:pt x="1795626" y="374509"/>
                      </a:cubicBezTo>
                      <a:cubicBezTo>
                        <a:pt x="1795626" y="374509"/>
                        <a:pt x="1795626" y="374509"/>
                        <a:pt x="994844" y="374509"/>
                      </a:cubicBezTo>
                      <a:cubicBezTo>
                        <a:pt x="939075" y="374509"/>
                        <a:pt x="869007" y="414570"/>
                        <a:pt x="840408" y="463215"/>
                      </a:cubicBezTo>
                      <a:cubicBezTo>
                        <a:pt x="840408" y="463215"/>
                        <a:pt x="840408" y="463215"/>
                        <a:pt x="440017" y="1157119"/>
                      </a:cubicBezTo>
                      <a:cubicBezTo>
                        <a:pt x="412847" y="1205764"/>
                        <a:pt x="412847" y="1285885"/>
                        <a:pt x="440017" y="1334530"/>
                      </a:cubicBezTo>
                      <a:cubicBezTo>
                        <a:pt x="440017" y="1334530"/>
                        <a:pt x="440017" y="1334530"/>
                        <a:pt x="840408" y="2028434"/>
                      </a:cubicBezTo>
                      <a:cubicBezTo>
                        <a:pt x="869007" y="2077079"/>
                        <a:pt x="939075" y="2117139"/>
                        <a:pt x="994844" y="2117139"/>
                      </a:cubicBezTo>
                      <a:close/>
                      <a:moveTo>
                        <a:pt x="1967414" y="2491648"/>
                      </a:moveTo>
                      <a:lnTo>
                        <a:pt x="822440" y="2491648"/>
                      </a:lnTo>
                      <a:cubicBezTo>
                        <a:pt x="742700" y="2491648"/>
                        <a:pt x="642515" y="2434369"/>
                        <a:pt x="601623" y="2364815"/>
                      </a:cubicBezTo>
                      <a:cubicBezTo>
                        <a:pt x="29136" y="1372657"/>
                        <a:pt x="29136" y="1372657"/>
                        <a:pt x="29136" y="1372657"/>
                      </a:cubicBezTo>
                      <a:cubicBezTo>
                        <a:pt x="-9712" y="1303103"/>
                        <a:pt x="-9712" y="1188545"/>
                        <a:pt x="29136" y="1118992"/>
                      </a:cubicBezTo>
                      <a:cubicBezTo>
                        <a:pt x="601623" y="126833"/>
                        <a:pt x="601623" y="126833"/>
                        <a:pt x="601623" y="126833"/>
                      </a:cubicBezTo>
                      <a:cubicBezTo>
                        <a:pt x="642515" y="57280"/>
                        <a:pt x="742700" y="0"/>
                        <a:pt x="822440" y="0"/>
                      </a:cubicBezTo>
                      <a:cubicBezTo>
                        <a:pt x="1967414" y="0"/>
                        <a:pt x="1967414" y="0"/>
                        <a:pt x="1967414" y="0"/>
                      </a:cubicBezTo>
                      <a:cubicBezTo>
                        <a:pt x="2049198" y="0"/>
                        <a:pt x="2147339" y="57280"/>
                        <a:pt x="2188231" y="126833"/>
                      </a:cubicBezTo>
                      <a:cubicBezTo>
                        <a:pt x="2760718" y="1118992"/>
                        <a:pt x="2760718" y="1118992"/>
                        <a:pt x="2760718" y="1118992"/>
                      </a:cubicBezTo>
                      <a:cubicBezTo>
                        <a:pt x="2801610" y="1188545"/>
                        <a:pt x="2801610" y="1303103"/>
                        <a:pt x="2760718" y="1372657"/>
                      </a:cubicBezTo>
                      <a:cubicBezTo>
                        <a:pt x="2188231" y="2364815"/>
                        <a:pt x="2188231" y="2364815"/>
                        <a:pt x="2188231" y="2364815"/>
                      </a:cubicBezTo>
                      <a:cubicBezTo>
                        <a:pt x="2147339" y="2434369"/>
                        <a:pt x="2049198" y="2491648"/>
                        <a:pt x="1967414" y="2491648"/>
                      </a:cubicBezTo>
                      <a:close/>
                    </a:path>
                  </a:pathLst>
                </a:custGeom>
                <a:solidFill>
                  <a:srgbClr val="00AF92"/>
                </a:solidFill>
                <a:ln w="19050">
                  <a:noFill/>
                </a:ln>
                <a:effectLst>
                  <a:innerShdw blurRad="63500" dist="63500" dir="2700000">
                    <a:prstClr val="black">
                      <a:alpha val="50000"/>
                    </a:prstClr>
                  </a:innerShdw>
                </a:effectLst>
              </p:spPr>
              <p:txBody>
                <a:bodyPr vert="horz" wrap="square" lIns="68580" tIns="34290" rIns="68580" bIns="34290" numCol="1" anchor="t" anchorCtr="0" compatLnSpc="1">
                  <a:noAutofit/>
                </a:bodyPr>
                <a:lstStyle/>
                <a:p>
                  <a:endParaRPr lang="zh-CN" altLang="en-US" sz="1015">
                    <a:solidFill>
                      <a:prstClr val="black"/>
                    </a:solidFill>
                  </a:endParaRPr>
                </a:p>
              </p:txBody>
            </p:sp>
            <p:sp>
              <p:nvSpPr>
                <p:cNvPr id="17" name="Freeform 5"/>
                <p:cNvSpPr/>
                <p:nvPr/>
              </p:nvSpPr>
              <p:spPr bwMode="auto">
                <a:xfrm rot="10800000">
                  <a:off x="3337529" y="1173504"/>
                  <a:ext cx="2138277" cy="18951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0">
                        <a:schemeClr val="bg1"/>
                      </a:gs>
                      <a:gs pos="100000">
                        <a:srgbClr val="B4B4B4"/>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sp>
              <p:nvSpPr>
                <p:cNvPr id="18" name="Freeform 5"/>
                <p:cNvSpPr/>
                <p:nvPr/>
              </p:nvSpPr>
              <p:spPr bwMode="auto">
                <a:xfrm rot="10800000">
                  <a:off x="3656172" y="1456206"/>
                  <a:ext cx="1495486" cy="132543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100000">
                        <a:schemeClr val="bg1"/>
                      </a:gs>
                      <a:gs pos="0">
                        <a:schemeClr val="bg1">
                          <a:lumMod val="75000"/>
                        </a:schemeClr>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grpSp>
          <p:grpSp>
            <p:nvGrpSpPr>
              <p:cNvPr id="13" name="Group 17"/>
              <p:cNvGrpSpPr>
                <a:grpSpLocks noChangeAspect="1"/>
              </p:cNvGrpSpPr>
              <p:nvPr/>
            </p:nvGrpSpPr>
            <p:grpSpPr bwMode="auto">
              <a:xfrm>
                <a:off x="6087464" y="1170184"/>
                <a:ext cx="457188" cy="490764"/>
                <a:chOff x="231" y="1205"/>
                <a:chExt cx="640" cy="687"/>
              </a:xfrm>
              <a:solidFill>
                <a:srgbClr val="00AF92"/>
              </a:solidFill>
            </p:grpSpPr>
            <p:sp>
              <p:nvSpPr>
                <p:cNvPr id="14" name="Freeform 18"/>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sp>
              <p:nvSpPr>
                <p:cNvPr id="15"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grpSp>
        </p:grpSp>
      </p:grpSp>
      <p:grpSp>
        <p:nvGrpSpPr>
          <p:cNvPr id="29" name="组合 28"/>
          <p:cNvGrpSpPr/>
          <p:nvPr/>
        </p:nvGrpSpPr>
        <p:grpSpPr>
          <a:xfrm>
            <a:off x="1047914" y="4189105"/>
            <a:ext cx="1433167" cy="607216"/>
            <a:chOff x="1064237" y="3704725"/>
            <a:chExt cx="1433167" cy="607216"/>
          </a:xfrm>
        </p:grpSpPr>
        <p:sp>
          <p:nvSpPr>
            <p:cNvPr id="30" name="矩形 29"/>
            <p:cNvSpPr/>
            <p:nvPr/>
          </p:nvSpPr>
          <p:spPr>
            <a:xfrm>
              <a:off x="1488795" y="3704725"/>
              <a:ext cx="1008609"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思考</a:t>
              </a:r>
              <a:endParaRPr lang="zh-CN" altLang="en-US" sz="3200" b="1" dirty="0">
                <a:latin typeface="Verdana" panose="020B0604030504040204" pitchFamily="34" charset="0"/>
                <a:ea typeface="黑体" panose="02010609060101010101" pitchFamily="49" charset="-122"/>
              </a:endParaRPr>
            </a:p>
          </p:txBody>
        </p:sp>
        <p:pic>
          <p:nvPicPr>
            <p:cNvPr id="31" name="图片 1"/>
            <p:cNvPicPr>
              <a:picLocks noChangeAspect="1" noChangeArrowheads="1"/>
            </p:cNvPicPr>
            <p:nvPr/>
          </p:nvPicPr>
          <p:blipFill>
            <a:blip r:embed="rId1" cstate="print">
              <a:clrChange>
                <a:clrFrom>
                  <a:srgbClr val="FDFDFD"/>
                </a:clrFrom>
                <a:clrTo>
                  <a:srgbClr val="FDFDFD">
                    <a:alpha val="0"/>
                  </a:srgbClr>
                </a:clrTo>
              </a:clrChange>
            </a:blip>
            <a:srcRect/>
            <a:stretch>
              <a:fillRect/>
            </a:stretch>
          </p:blipFill>
          <p:spPr bwMode="auto">
            <a:xfrm>
              <a:off x="1064237" y="3715332"/>
              <a:ext cx="513022" cy="596609"/>
            </a:xfrm>
            <a:prstGeom prst="rect">
              <a:avLst/>
            </a:prstGeom>
            <a:noFill/>
            <a:ln w="9525">
              <a:noFill/>
              <a:miter lim="800000"/>
              <a:headEnd/>
              <a:tailEnd/>
            </a:ln>
          </p:spPr>
        </p:pic>
      </p:grpSp>
      <p:sp>
        <p:nvSpPr>
          <p:cNvPr id="38" name="矩形 37"/>
          <p:cNvSpPr/>
          <p:nvPr/>
        </p:nvSpPr>
        <p:spPr>
          <a:xfrm>
            <a:off x="1547922" y="4887339"/>
            <a:ext cx="6810376" cy="430887"/>
          </a:xfrm>
          <a:prstGeom prst="rect">
            <a:avLst/>
          </a:prstGeom>
        </p:spPr>
        <p:txBody>
          <a:bodyPr wrap="square">
            <a:spAutoFit/>
          </a:bodyPr>
          <a:lstStyle/>
          <a:p>
            <a:pPr marL="342900" indent="-342900">
              <a:spcBef>
                <a:spcPts val="600"/>
              </a:spcBef>
              <a:buClr>
                <a:srgbClr val="FF0000"/>
              </a:buClr>
              <a:buFont typeface="Wingdings" panose="05000000000000000000" pitchFamily="2" charset="2"/>
              <a:buChar char="Ø"/>
            </a:pPr>
            <a:r>
              <a:rPr lang="zh-CN" altLang="en-US" sz="2200" dirty="0">
                <a:solidFill>
                  <a:srgbClr val="FF0000"/>
                </a:solidFill>
                <a:latin typeface="Times New Roman" panose="02020603050405020304" pitchFamily="18" charset="0"/>
                <a:ea typeface="黑体" panose="02010609060101010101" pitchFamily="49" charset="-122"/>
              </a:rPr>
              <a:t>一个递归程序如何转化为非递归程序？</a:t>
            </a:r>
            <a:endParaRPr lang="en-US" altLang="zh-CN" sz="2200" dirty="0">
              <a:solidFill>
                <a:srgbClr val="FF0000"/>
              </a:solidFill>
              <a:latin typeface="Times New Roman" panose="02020603050405020304" pitchFamily="18" charset="0"/>
              <a:ea typeface="黑体" panose="02010609060101010101" pitchFamily="49" charset="-122"/>
            </a:endParaRPr>
          </a:p>
        </p:txBody>
      </p:sp>
      <p:sp>
        <p:nvSpPr>
          <p:cNvPr id="2" name="矩形 1"/>
          <p:cNvSpPr/>
          <p:nvPr/>
        </p:nvSpPr>
        <p:spPr>
          <a:xfrm>
            <a:off x="1472472" y="1719298"/>
            <a:ext cx="6035533" cy="1677382"/>
          </a:xfrm>
          <a:prstGeom prst="rect">
            <a:avLst/>
          </a:prstGeom>
        </p:spPr>
        <p:txBody>
          <a:bodyPr wrap="square">
            <a:spAutoFit/>
          </a:bodyPr>
          <a:lstStyle/>
          <a:p>
            <a:pPr marL="285750" indent="-285750" eaLnBrk="1" hangingPunct="1">
              <a:spcBef>
                <a:spcPts val="600"/>
              </a:spcBef>
              <a:buClr>
                <a:srgbClr val="FF0000"/>
              </a:buClr>
              <a:buFont typeface="Wingdings" panose="05000000000000000000" pitchFamily="2" charset="2"/>
              <a:buChar char="Ø"/>
            </a:pPr>
            <a:r>
              <a:rPr lang="zh-CN" altLang="en-US" sz="2200" dirty="0"/>
              <a:t>递归的相关概念</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递归的原理</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递归与非递归的转换</a:t>
            </a:r>
            <a:endParaRPr lang="en-US" altLang="zh-CN" sz="2200" dirty="0"/>
          </a:p>
          <a:p>
            <a:pPr marL="285750" indent="-285750" eaLnBrk="1" hangingPunct="1">
              <a:spcBef>
                <a:spcPts val="600"/>
              </a:spcBef>
              <a:buClr>
                <a:srgbClr val="FF0000"/>
              </a:buClr>
              <a:buFont typeface="Wingdings" panose="05000000000000000000" pitchFamily="2" charset="2"/>
              <a:buChar char="Ø"/>
            </a:pPr>
            <a:r>
              <a:rPr lang="zh-CN" altLang="en-US" sz="2200" dirty="0"/>
              <a:t>递归的应用</a:t>
            </a:r>
            <a:endParaRPr lang="zh-CN" altLang="en-US" sz="2200" dirty="0"/>
          </a:p>
        </p:txBody>
      </p:sp>
      <p:sp>
        <p:nvSpPr>
          <p:cNvPr id="19" name="页脚占位符 18"/>
          <p:cNvSpPr>
            <a:spLocks noGrp="1"/>
          </p:cNvSpPr>
          <p:nvPr>
            <p:ph type="ftr" sz="quarter" idx="3"/>
          </p:nvPr>
        </p:nvSpPr>
        <p:spPr/>
        <p:txBody>
          <a:bodyPr/>
          <a:lstStyle/>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9"/>
                                        </p:tgtEl>
                                        <p:attrNameLst>
                                          <p:attrName>style.visibility</p:attrName>
                                        </p:attrNameLst>
                                      </p:cBhvr>
                                      <p:to>
                                        <p:strVal val="visible"/>
                                      </p:to>
                                    </p:set>
                                    <p:anim calcmode="lin" valueType="num">
                                      <p:cBhvr additive="base">
                                        <p:cTn id="29" dur="500" fill="hold"/>
                                        <p:tgtEl>
                                          <p:spTgt spid="29"/>
                                        </p:tgtEl>
                                        <p:attrNameLst>
                                          <p:attrName>ppt_x</p:attrName>
                                        </p:attrNameLst>
                                      </p:cBhvr>
                                      <p:tavLst>
                                        <p:tav tm="0">
                                          <p:val>
                                            <p:strVal val="#ppt_x"/>
                                          </p:val>
                                        </p:tav>
                                        <p:tav tm="100000">
                                          <p:val>
                                            <p:strVal val="#ppt_x"/>
                                          </p:val>
                                        </p:tav>
                                      </p:tavLst>
                                    </p:anim>
                                    <p:anim calcmode="lin" valueType="num">
                                      <p:cBhvr additive="base">
                                        <p:cTn id="30"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box(in)">
                                      <p:cBhvr>
                                        <p:cTn id="3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文本占位符 48130"/>
          <p:cNvSpPr>
            <a:spLocks noGrp="1" noChangeArrowheads="1"/>
          </p:cNvSpPr>
          <p:nvPr>
            <p:ph idx="1"/>
          </p:nvPr>
        </p:nvSpPr>
        <p:spPr>
          <a:xfrm>
            <a:off x="486528" y="1052736"/>
            <a:ext cx="8229600" cy="4678451"/>
          </a:xfrm>
        </p:spPr>
        <p:txBody>
          <a:bodyPr/>
          <a:lstStyle/>
          <a:p>
            <a:pPr marL="495300" indent="-495300">
              <a:buFont typeface="Wingdings" panose="05000000000000000000" pitchFamily="2" charset="2"/>
              <a:buNone/>
            </a:pPr>
            <a:r>
              <a:rPr lang="en-US" altLang="zh-CN" sz="2400" b="1" dirty="0">
                <a:solidFill>
                  <a:srgbClr val="FF0000"/>
                </a:solidFill>
              </a:rPr>
              <a:t>1. </a:t>
            </a:r>
            <a:r>
              <a:rPr lang="zh-CN" altLang="en-US" sz="2400" b="1" dirty="0"/>
              <a:t>写出下面程序或调用的结果</a:t>
            </a:r>
            <a:r>
              <a:rPr lang="en-US" altLang="zh-CN" sz="2400" b="1" dirty="0"/>
              <a:t>:</a:t>
            </a:r>
            <a:endParaRPr lang="en-US" altLang="zh-CN" sz="2400" b="1" dirty="0"/>
          </a:p>
          <a:p>
            <a:pPr marL="495300" indent="-495300">
              <a:buFont typeface="Wingdings" panose="05000000000000000000" pitchFamily="2" charset="2"/>
              <a:buNone/>
            </a:pPr>
            <a:r>
              <a:rPr lang="en-US" altLang="zh-CN" sz="2200" b="1" dirty="0"/>
              <a:t>(1)  </a:t>
            </a:r>
            <a:r>
              <a:rPr lang="en-US" altLang="zh-CN" sz="2200" b="1" dirty="0">
                <a:solidFill>
                  <a:srgbClr val="0000FF"/>
                </a:solidFill>
              </a:rPr>
              <a:t>void</a:t>
            </a:r>
            <a:r>
              <a:rPr lang="en-US" altLang="zh-CN" sz="2200" b="1" dirty="0"/>
              <a:t>  P1(</a:t>
            </a:r>
            <a:r>
              <a:rPr lang="en-US" altLang="zh-CN" sz="2200" b="1" dirty="0" err="1">
                <a:solidFill>
                  <a:srgbClr val="0000FF"/>
                </a:solidFill>
              </a:rPr>
              <a:t>int</a:t>
            </a:r>
            <a:r>
              <a:rPr lang="en-US" altLang="zh-CN" sz="2200" b="1" dirty="0"/>
              <a:t> W)</a:t>
            </a:r>
            <a:endParaRPr lang="en-US" altLang="zh-CN" sz="2200" b="1" dirty="0"/>
          </a:p>
          <a:p>
            <a:pPr marL="495300" indent="-495300">
              <a:buFont typeface="Wingdings" panose="05000000000000000000" pitchFamily="2" charset="2"/>
              <a:buNone/>
            </a:pPr>
            <a:r>
              <a:rPr lang="en-US" altLang="zh-CN" sz="2200" b="1" dirty="0"/>
              <a:t>       {     </a:t>
            </a:r>
            <a:r>
              <a:rPr lang="en-US" altLang="zh-CN" sz="2200" b="1" dirty="0" err="1">
                <a:solidFill>
                  <a:srgbClr val="0000FF"/>
                </a:solidFill>
              </a:rPr>
              <a:t>int</a:t>
            </a:r>
            <a:r>
              <a:rPr lang="en-US" altLang="zh-CN" sz="2200" b="1" dirty="0"/>
              <a:t> A,B;  </a:t>
            </a:r>
            <a:endParaRPr lang="en-US" altLang="zh-CN" sz="2200" b="1" dirty="0"/>
          </a:p>
          <a:p>
            <a:pPr marL="495300" indent="-495300">
              <a:buFont typeface="Wingdings" panose="05000000000000000000" pitchFamily="2" charset="2"/>
              <a:buNone/>
            </a:pPr>
            <a:r>
              <a:rPr lang="en-US" altLang="zh-CN" sz="2200" b="1" dirty="0"/>
              <a:t>             A=W-1;  B=W+1;</a:t>
            </a:r>
            <a:endParaRPr lang="en-US" altLang="zh-CN" sz="2200" b="1" dirty="0"/>
          </a:p>
          <a:p>
            <a:pPr marL="495300" indent="-495300">
              <a:buFont typeface="Wingdings" panose="05000000000000000000" pitchFamily="2" charset="2"/>
              <a:buNone/>
            </a:pPr>
            <a:r>
              <a:rPr lang="en-US" altLang="zh-CN" sz="2200" b="1" dirty="0"/>
              <a:t>             </a:t>
            </a:r>
            <a:r>
              <a:rPr lang="en-US" altLang="zh-CN" sz="2200" b="1" dirty="0" err="1">
                <a:solidFill>
                  <a:srgbClr val="0000FF"/>
                </a:solidFill>
              </a:rPr>
              <a:t>cout</a:t>
            </a:r>
            <a:r>
              <a:rPr lang="en-US" altLang="zh-CN" sz="2200" b="1" dirty="0"/>
              <a:t>&lt;&lt;A&lt;&lt;B;</a:t>
            </a:r>
            <a:endParaRPr lang="en-US" altLang="zh-CN" sz="2200" b="1" dirty="0"/>
          </a:p>
          <a:p>
            <a:pPr marL="495300" indent="-495300">
              <a:buFont typeface="Wingdings" panose="05000000000000000000" pitchFamily="2" charset="2"/>
              <a:buNone/>
            </a:pPr>
            <a:r>
              <a:rPr lang="en-US" altLang="zh-CN" sz="2200" b="1" dirty="0"/>
              <a:t>        } </a:t>
            </a:r>
            <a:endParaRPr lang="en-US" altLang="zh-CN" sz="2200" b="1" dirty="0"/>
          </a:p>
          <a:p>
            <a:pPr marL="495300" indent="-495300">
              <a:lnSpc>
                <a:spcPts val="1200"/>
              </a:lnSpc>
              <a:buFont typeface="Wingdings" panose="05000000000000000000" pitchFamily="2" charset="2"/>
              <a:buNone/>
            </a:pPr>
            <a:r>
              <a:rPr lang="en-US" altLang="zh-CN" sz="2200" b="1" dirty="0"/>
              <a:t>    </a:t>
            </a:r>
            <a:endParaRPr lang="en-US" altLang="zh-CN" sz="2200" b="1" dirty="0"/>
          </a:p>
          <a:p>
            <a:pPr marL="495300" indent="-495300">
              <a:buFont typeface="Wingdings" panose="05000000000000000000" pitchFamily="2" charset="2"/>
              <a:buNone/>
            </a:pPr>
            <a:r>
              <a:rPr lang="en-US" altLang="zh-CN" sz="2200" b="1" dirty="0">
                <a:solidFill>
                  <a:srgbClr val="0000FF"/>
                </a:solidFill>
              </a:rPr>
              <a:t>       void</a:t>
            </a:r>
            <a:r>
              <a:rPr lang="en-US" altLang="zh-CN" sz="2200" b="1" dirty="0"/>
              <a:t>  P2(</a:t>
            </a:r>
            <a:r>
              <a:rPr lang="en-US" altLang="zh-CN" sz="2200" b="1" dirty="0" err="1">
                <a:solidFill>
                  <a:srgbClr val="0000FF"/>
                </a:solidFill>
              </a:rPr>
              <a:t>int</a:t>
            </a:r>
            <a:r>
              <a:rPr lang="en-US" altLang="zh-CN" sz="2200" b="1" dirty="0">
                <a:solidFill>
                  <a:srgbClr val="0000FF"/>
                </a:solidFill>
              </a:rPr>
              <a:t> </a:t>
            </a:r>
            <a:r>
              <a:rPr lang="en-US" altLang="zh-CN" sz="2200" b="1" dirty="0"/>
              <a:t>W );</a:t>
            </a:r>
            <a:endParaRPr lang="en-US" altLang="zh-CN" sz="2200" b="1" dirty="0"/>
          </a:p>
          <a:p>
            <a:pPr marL="495300" indent="-495300">
              <a:buFont typeface="Wingdings" panose="05000000000000000000" pitchFamily="2" charset="2"/>
              <a:buNone/>
            </a:pPr>
            <a:r>
              <a:rPr lang="en-US" altLang="zh-CN" sz="2200" b="1" dirty="0"/>
              <a:t>       {     </a:t>
            </a:r>
            <a:r>
              <a:rPr lang="en-US" altLang="zh-CN" sz="2200" b="1" dirty="0" err="1">
                <a:solidFill>
                  <a:srgbClr val="0000FF"/>
                </a:solidFill>
              </a:rPr>
              <a:t>int</a:t>
            </a:r>
            <a:r>
              <a:rPr lang="en-US" altLang="zh-CN" sz="2200" b="1" dirty="0"/>
              <a:t> A,B;  </a:t>
            </a:r>
            <a:endParaRPr lang="en-US" altLang="zh-CN" sz="2200" b="1" dirty="0"/>
          </a:p>
          <a:p>
            <a:pPr marL="495300" indent="-495300">
              <a:buFont typeface="Wingdings" panose="05000000000000000000" pitchFamily="2" charset="2"/>
              <a:buNone/>
            </a:pPr>
            <a:r>
              <a:rPr lang="en-US" altLang="zh-CN" sz="2200" b="1" dirty="0"/>
              <a:t>             A=2*W;  B=W*W;</a:t>
            </a:r>
            <a:endParaRPr lang="en-US" altLang="zh-CN" sz="2200" b="1" dirty="0"/>
          </a:p>
          <a:p>
            <a:pPr marL="495300" indent="-495300">
              <a:buFont typeface="Wingdings" panose="05000000000000000000" pitchFamily="2" charset="2"/>
              <a:buNone/>
            </a:pPr>
            <a:r>
              <a:rPr lang="en-US" altLang="zh-CN" sz="2200" b="1" dirty="0"/>
              <a:t>             P1(A);  P1(B);</a:t>
            </a:r>
            <a:endParaRPr lang="en-US" altLang="zh-CN" sz="2200" b="1" dirty="0"/>
          </a:p>
          <a:p>
            <a:pPr marL="495300" indent="-495300">
              <a:buFont typeface="Wingdings" panose="05000000000000000000" pitchFamily="2" charset="2"/>
              <a:buNone/>
            </a:pPr>
            <a:r>
              <a:rPr lang="en-US" altLang="zh-CN" sz="2200" b="1" dirty="0"/>
              <a:t>             </a:t>
            </a:r>
            <a:r>
              <a:rPr lang="en-US" altLang="zh-CN" sz="2200" b="1" dirty="0" err="1">
                <a:solidFill>
                  <a:srgbClr val="0000FF"/>
                </a:solidFill>
              </a:rPr>
              <a:t>cout</a:t>
            </a:r>
            <a:r>
              <a:rPr lang="en-US" altLang="zh-CN" sz="2200" b="1" dirty="0"/>
              <a:t>&lt;&lt;A&lt;&lt;B;</a:t>
            </a:r>
            <a:endParaRPr lang="en-US" altLang="zh-CN" sz="2200" b="1" dirty="0"/>
          </a:p>
          <a:p>
            <a:pPr marL="495300" indent="-495300">
              <a:buFont typeface="Wingdings" panose="05000000000000000000" pitchFamily="2" charset="2"/>
              <a:buNone/>
            </a:pPr>
            <a:r>
              <a:rPr lang="en-US" altLang="zh-CN" sz="2200" b="1" dirty="0"/>
              <a:t>       } </a:t>
            </a:r>
            <a:endParaRPr lang="en-US" altLang="zh-CN" sz="2200" b="1" dirty="0"/>
          </a:p>
          <a:p>
            <a:pPr marL="495300" indent="-495300">
              <a:buFont typeface="Wingdings" panose="05000000000000000000" pitchFamily="2" charset="2"/>
              <a:buNone/>
            </a:pPr>
            <a:r>
              <a:rPr lang="en-US" altLang="zh-CN" sz="2200" b="1" dirty="0"/>
              <a:t>      </a:t>
            </a:r>
            <a:r>
              <a:rPr lang="zh-CN" altLang="en-US" sz="2200" b="1" dirty="0">
                <a:solidFill>
                  <a:srgbClr val="FF0000"/>
                </a:solidFill>
              </a:rPr>
              <a:t>调用  </a:t>
            </a:r>
            <a:r>
              <a:rPr lang="en-US" altLang="zh-CN" sz="2200" b="1" dirty="0">
                <a:solidFill>
                  <a:srgbClr val="FF0000"/>
                </a:solidFill>
              </a:rPr>
              <a:t>P2(5);</a:t>
            </a:r>
            <a:endParaRPr lang="en-US" altLang="zh-CN" sz="2200" b="1" dirty="0">
              <a:solidFill>
                <a:srgbClr val="FF0000"/>
              </a:solidFill>
            </a:endParaRPr>
          </a:p>
        </p:txBody>
      </p:sp>
      <p:sp>
        <p:nvSpPr>
          <p:cNvPr id="9" name="文本占位符 49154"/>
          <p:cNvSpPr txBox="1">
            <a:spLocks noChangeArrowheads="1"/>
          </p:cNvSpPr>
          <p:nvPr/>
        </p:nvSpPr>
        <p:spPr bwMode="auto">
          <a:xfrm>
            <a:off x="3923928" y="1484417"/>
            <a:ext cx="447484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Wingdings" panose="05000000000000000000" pitchFamily="2" charset="2"/>
              <a:buNone/>
            </a:pPr>
            <a:r>
              <a:rPr lang="en-US" altLang="zh-CN" sz="2200" b="1" dirty="0"/>
              <a:t>(2)   </a:t>
            </a:r>
            <a:r>
              <a:rPr lang="en-US" altLang="zh-CN" sz="2200" b="1" dirty="0" err="1">
                <a:solidFill>
                  <a:srgbClr val="0000FF"/>
                </a:solidFill>
              </a:rPr>
              <a:t>int</a:t>
            </a:r>
            <a:r>
              <a:rPr lang="en-US" altLang="zh-CN" sz="2200" b="1" dirty="0"/>
              <a:t>  </a:t>
            </a:r>
            <a:r>
              <a:rPr lang="en-US" altLang="zh-CN" sz="2200" b="1" dirty="0" err="1"/>
              <a:t>Hcf</a:t>
            </a:r>
            <a:r>
              <a:rPr lang="en-US" altLang="zh-CN" sz="2200" b="1" dirty="0"/>
              <a:t>(</a:t>
            </a:r>
            <a:r>
              <a:rPr lang="en-US" altLang="zh-CN" sz="2200" b="1" dirty="0" err="1">
                <a:solidFill>
                  <a:srgbClr val="0000FF"/>
                </a:solidFill>
              </a:rPr>
              <a:t>int</a:t>
            </a:r>
            <a:r>
              <a:rPr lang="en-US" altLang="zh-CN" sz="2200" b="1" dirty="0"/>
              <a:t> M, </a:t>
            </a:r>
            <a:r>
              <a:rPr lang="en-US" altLang="zh-CN" sz="2200" b="1" dirty="0" err="1">
                <a:solidFill>
                  <a:srgbClr val="0000FF"/>
                </a:solidFill>
              </a:rPr>
              <a:t>int</a:t>
            </a:r>
            <a:r>
              <a:rPr lang="en-US" altLang="zh-CN" sz="2200" b="1" dirty="0"/>
              <a:t> N)</a:t>
            </a:r>
            <a:endParaRPr lang="en-US" altLang="zh-CN" sz="2200" b="1" dirty="0"/>
          </a:p>
          <a:p>
            <a:pPr>
              <a:buFont typeface="Wingdings" panose="05000000000000000000" pitchFamily="2" charset="2"/>
              <a:buNone/>
            </a:pPr>
            <a:r>
              <a:rPr lang="en-US" altLang="zh-CN" sz="2200" b="1" dirty="0"/>
              <a:t>        {    </a:t>
            </a:r>
            <a:r>
              <a:rPr lang="en-US" altLang="zh-CN" sz="2200" b="1" dirty="0" err="1">
                <a:solidFill>
                  <a:srgbClr val="0000FF"/>
                </a:solidFill>
              </a:rPr>
              <a:t>int</a:t>
            </a:r>
            <a:r>
              <a:rPr lang="en-US" altLang="zh-CN" sz="2200" b="1" dirty="0"/>
              <a:t> H;</a:t>
            </a:r>
            <a:endParaRPr lang="en-US" altLang="zh-CN" sz="2200" b="1" dirty="0"/>
          </a:p>
          <a:p>
            <a:pPr>
              <a:buFont typeface="Wingdings" panose="05000000000000000000" pitchFamily="2" charset="2"/>
              <a:buNone/>
            </a:pPr>
            <a:r>
              <a:rPr lang="en-US" altLang="zh-CN" sz="2200" b="1" dirty="0"/>
              <a:t>              </a:t>
            </a:r>
            <a:r>
              <a:rPr lang="en-US" altLang="zh-CN" sz="2200" b="1" dirty="0">
                <a:solidFill>
                  <a:srgbClr val="0000FF"/>
                </a:solidFill>
              </a:rPr>
              <a:t>while</a:t>
            </a:r>
            <a:r>
              <a:rPr lang="en-US" altLang="zh-CN" sz="2200" b="1" dirty="0"/>
              <a:t> (N!=0)</a:t>
            </a:r>
            <a:endParaRPr lang="en-US" altLang="zh-CN" sz="2200" b="1" dirty="0"/>
          </a:p>
          <a:p>
            <a:pPr>
              <a:buFont typeface="Wingdings" panose="05000000000000000000" pitchFamily="2" charset="2"/>
              <a:buNone/>
            </a:pPr>
            <a:r>
              <a:rPr lang="en-US" altLang="zh-CN" sz="2200" b="1" dirty="0"/>
              <a:t>              {  </a:t>
            </a:r>
            <a:endParaRPr lang="en-US" altLang="zh-CN" sz="2200" b="1" dirty="0"/>
          </a:p>
          <a:p>
            <a:pPr>
              <a:buFont typeface="Wingdings" panose="05000000000000000000" pitchFamily="2" charset="2"/>
              <a:buNone/>
            </a:pPr>
            <a:r>
              <a:rPr lang="en-US" altLang="zh-CN" sz="2200" b="1" dirty="0"/>
              <a:t>                    H=M % N;</a:t>
            </a:r>
            <a:endParaRPr lang="en-US" altLang="zh-CN" sz="2200" b="1" dirty="0"/>
          </a:p>
          <a:p>
            <a:pPr>
              <a:buFont typeface="Wingdings" panose="05000000000000000000" pitchFamily="2" charset="2"/>
              <a:buNone/>
            </a:pPr>
            <a:r>
              <a:rPr lang="en-US" altLang="zh-CN" sz="2200" b="1" dirty="0"/>
              <a:t>                    M=N; N=H</a:t>
            </a:r>
            <a:endParaRPr lang="en-US" altLang="zh-CN" sz="2200" b="1" dirty="0"/>
          </a:p>
          <a:p>
            <a:pPr>
              <a:buFont typeface="Wingdings" panose="05000000000000000000" pitchFamily="2" charset="2"/>
              <a:buNone/>
            </a:pPr>
            <a:r>
              <a:rPr lang="en-US" altLang="zh-CN" sz="2200" b="1" dirty="0"/>
              <a:t>               } ;</a:t>
            </a:r>
            <a:endParaRPr lang="en-US" altLang="zh-CN" sz="2200" b="1" dirty="0"/>
          </a:p>
          <a:p>
            <a:pPr>
              <a:buFont typeface="Wingdings" panose="05000000000000000000" pitchFamily="2" charset="2"/>
              <a:buNone/>
            </a:pPr>
            <a:r>
              <a:rPr lang="en-US" altLang="zh-CN" sz="2200" b="1" dirty="0"/>
              <a:t>               </a:t>
            </a:r>
            <a:r>
              <a:rPr lang="en-US" altLang="zh-CN" sz="2200" b="1" dirty="0" err="1">
                <a:solidFill>
                  <a:srgbClr val="0000FF"/>
                </a:solidFill>
              </a:rPr>
              <a:t>cout</a:t>
            </a:r>
            <a:r>
              <a:rPr lang="en-US" altLang="zh-CN" sz="2200" b="1" dirty="0"/>
              <a:t>&lt;&lt;M;  </a:t>
            </a:r>
            <a:r>
              <a:rPr lang="en-US" altLang="zh-CN" sz="2200" b="1" dirty="0">
                <a:solidFill>
                  <a:srgbClr val="0000FF"/>
                </a:solidFill>
              </a:rPr>
              <a:t>return</a:t>
            </a:r>
            <a:r>
              <a:rPr lang="en-US" altLang="zh-CN" sz="2200" b="1" dirty="0"/>
              <a:t> M;</a:t>
            </a:r>
            <a:endParaRPr lang="en-US" altLang="zh-CN" sz="2200" b="1" dirty="0"/>
          </a:p>
          <a:p>
            <a:pPr>
              <a:buFont typeface="Wingdings" panose="05000000000000000000" pitchFamily="2" charset="2"/>
              <a:buNone/>
            </a:pPr>
            <a:r>
              <a:rPr lang="en-US" altLang="zh-CN" sz="2200" b="1" dirty="0"/>
              <a:t>        } </a:t>
            </a:r>
            <a:endParaRPr lang="en-US" altLang="zh-CN" sz="2200" b="1" dirty="0"/>
          </a:p>
          <a:p>
            <a:pPr>
              <a:buFont typeface="Wingdings" panose="05000000000000000000" pitchFamily="2" charset="2"/>
              <a:buNone/>
            </a:pPr>
            <a:r>
              <a:rPr lang="en-US" altLang="zh-CN" sz="2200" b="1" dirty="0"/>
              <a:t>    </a:t>
            </a:r>
            <a:r>
              <a:rPr lang="zh-CN" altLang="en-US" sz="2200" b="1" dirty="0">
                <a:solidFill>
                  <a:srgbClr val="FF0000"/>
                </a:solidFill>
              </a:rPr>
              <a:t>调用  </a:t>
            </a:r>
            <a:r>
              <a:rPr lang="en-US" altLang="zh-CN" sz="2200" b="1" dirty="0" err="1">
                <a:solidFill>
                  <a:srgbClr val="FF0000"/>
                </a:solidFill>
              </a:rPr>
              <a:t>cout</a:t>
            </a:r>
            <a:r>
              <a:rPr lang="en-US" altLang="zh-CN" sz="2200" b="1" dirty="0">
                <a:solidFill>
                  <a:srgbClr val="FF0000"/>
                </a:solidFill>
              </a:rPr>
              <a:t>&lt;&lt;</a:t>
            </a:r>
            <a:r>
              <a:rPr lang="en-US" altLang="zh-CN" sz="2200" b="1" dirty="0" err="1">
                <a:solidFill>
                  <a:srgbClr val="FF0000"/>
                </a:solidFill>
              </a:rPr>
              <a:t>Hcf</a:t>
            </a:r>
            <a:r>
              <a:rPr lang="en-US" altLang="zh-CN" sz="2200" b="1" dirty="0">
                <a:solidFill>
                  <a:srgbClr val="FF0000"/>
                </a:solidFill>
              </a:rPr>
              <a:t>(100, 350); </a:t>
            </a:r>
            <a:endParaRPr lang="en-US" altLang="zh-CN" sz="2200" b="1" dirty="0">
              <a:solidFill>
                <a:srgbClr val="FF0000"/>
              </a:solidFill>
            </a:endParaRPr>
          </a:p>
          <a:p>
            <a:pPr>
              <a:buFont typeface="Wingdings" panose="05000000000000000000" pitchFamily="2" charset="2"/>
              <a:buNone/>
            </a:pPr>
            <a:r>
              <a:rPr lang="en-US" altLang="zh-CN" sz="2200" b="1" dirty="0">
                <a:solidFill>
                  <a:srgbClr val="FF0000"/>
                </a:solidFill>
              </a:rPr>
              <a:t>              </a:t>
            </a:r>
            <a:r>
              <a:rPr lang="en-US" altLang="zh-CN" sz="2200" b="1" dirty="0" err="1">
                <a:solidFill>
                  <a:srgbClr val="FF0000"/>
                </a:solidFill>
              </a:rPr>
              <a:t>cout</a:t>
            </a:r>
            <a:r>
              <a:rPr lang="en-US" altLang="zh-CN" sz="2200" b="1" dirty="0">
                <a:solidFill>
                  <a:srgbClr val="FF0000"/>
                </a:solidFill>
              </a:rPr>
              <a:t>&lt;&lt;</a:t>
            </a:r>
            <a:r>
              <a:rPr lang="en-US" altLang="zh-CN" sz="2200" b="1" dirty="0" err="1">
                <a:solidFill>
                  <a:srgbClr val="FF0000"/>
                </a:solidFill>
              </a:rPr>
              <a:t>Hcf</a:t>
            </a:r>
            <a:r>
              <a:rPr lang="en-US" altLang="zh-CN" sz="2200" b="1" dirty="0">
                <a:solidFill>
                  <a:srgbClr val="FF0000"/>
                </a:solidFill>
              </a:rPr>
              <a:t>(200, 49);</a:t>
            </a:r>
            <a:endParaRPr lang="zh-CN" altLang="en-US" sz="2200" dirty="0">
              <a:solidFill>
                <a:srgbClr val="FF0000"/>
              </a:solidFill>
            </a:endParaRPr>
          </a:p>
        </p:txBody>
      </p:sp>
      <p:grpSp>
        <p:nvGrpSpPr>
          <p:cNvPr id="10" name="组合 9"/>
          <p:cNvGrpSpPr/>
          <p:nvPr/>
        </p:nvGrpSpPr>
        <p:grpSpPr>
          <a:xfrm>
            <a:off x="539552" y="66293"/>
            <a:ext cx="1971209" cy="696929"/>
            <a:chOff x="973123" y="4906917"/>
            <a:chExt cx="1971209" cy="696929"/>
          </a:xfrm>
        </p:grpSpPr>
        <p:sp>
          <p:nvSpPr>
            <p:cNvPr id="11" name="矩形 10"/>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12" name="图片 11"/>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文本占位符 50178"/>
          <p:cNvSpPr>
            <a:spLocks noGrp="1" noChangeArrowheads="1"/>
          </p:cNvSpPr>
          <p:nvPr>
            <p:ph idx="1"/>
          </p:nvPr>
        </p:nvSpPr>
        <p:spPr>
          <a:xfrm>
            <a:off x="395536" y="980728"/>
            <a:ext cx="8229600" cy="4678451"/>
          </a:xfrm>
        </p:spPr>
        <p:txBody>
          <a:bodyPr/>
          <a:lstStyle/>
          <a:p>
            <a:pPr>
              <a:lnSpc>
                <a:spcPct val="80000"/>
              </a:lnSpc>
              <a:buFont typeface="Wingdings" panose="05000000000000000000" pitchFamily="2" charset="2"/>
              <a:buNone/>
            </a:pPr>
            <a:r>
              <a:rPr lang="en-US" altLang="zh-CN" sz="2000" b="1" dirty="0"/>
              <a:t>(3)   </a:t>
            </a:r>
            <a:r>
              <a:rPr lang="en-US" altLang="zh-CN" sz="2000" b="1" dirty="0" err="1">
                <a:solidFill>
                  <a:srgbClr val="0000FF"/>
                </a:solidFill>
              </a:rPr>
              <a:t>int</a:t>
            </a:r>
            <a:r>
              <a:rPr lang="en-US" altLang="zh-CN" sz="2000" b="1" dirty="0"/>
              <a:t> </a:t>
            </a:r>
            <a:r>
              <a:rPr lang="en-US" altLang="zh-CN" sz="2000" b="1" dirty="0" err="1"/>
              <a:t>Hcf</a:t>
            </a:r>
            <a:r>
              <a:rPr lang="en-US" altLang="zh-CN" sz="2000" b="1" dirty="0"/>
              <a:t>(</a:t>
            </a:r>
            <a:r>
              <a:rPr lang="en-US" altLang="zh-CN" sz="2000" b="1" dirty="0" err="1">
                <a:solidFill>
                  <a:srgbClr val="0000FF"/>
                </a:solidFill>
              </a:rPr>
              <a:t>int</a:t>
            </a:r>
            <a:r>
              <a:rPr lang="en-US" altLang="zh-CN" sz="2000" b="1" dirty="0"/>
              <a:t> </a:t>
            </a:r>
            <a:r>
              <a:rPr lang="en-US" altLang="zh-CN" sz="2000" b="1" i="1" dirty="0"/>
              <a:t>M</a:t>
            </a:r>
            <a:r>
              <a:rPr lang="en-US" altLang="zh-CN" sz="2000" b="1" dirty="0"/>
              <a:t>, </a:t>
            </a:r>
            <a:r>
              <a:rPr lang="en-US" altLang="zh-CN" sz="2000" b="1" dirty="0" err="1">
                <a:solidFill>
                  <a:srgbClr val="0000FF"/>
                </a:solidFill>
              </a:rPr>
              <a:t>int</a:t>
            </a:r>
            <a:r>
              <a:rPr lang="en-US" altLang="zh-CN" sz="2000" b="1" dirty="0"/>
              <a:t> </a:t>
            </a:r>
            <a:r>
              <a:rPr lang="en-US" altLang="zh-CN" sz="2000" b="1" i="1" dirty="0"/>
              <a:t>N</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        {      </a:t>
            </a:r>
            <a:r>
              <a:rPr lang="en-US" altLang="zh-CN" sz="2000" b="1" dirty="0" err="1">
                <a:solidFill>
                  <a:srgbClr val="0000FF"/>
                </a:solidFill>
              </a:rPr>
              <a:t>int</a:t>
            </a:r>
            <a:r>
              <a:rPr lang="en-US" altLang="zh-CN" sz="2000" b="1" dirty="0"/>
              <a:t> </a:t>
            </a:r>
            <a:r>
              <a:rPr lang="en-US" altLang="zh-CN" sz="2000" b="1" i="1" dirty="0"/>
              <a:t>H</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dirty="0">
                <a:solidFill>
                  <a:srgbClr val="0000FF"/>
                </a:solidFill>
              </a:rPr>
              <a:t>while</a:t>
            </a:r>
            <a:r>
              <a:rPr lang="en-US" altLang="zh-CN" sz="2000" b="1" dirty="0"/>
              <a:t> (</a:t>
            </a:r>
            <a:r>
              <a:rPr lang="en-US" altLang="zh-CN" sz="2000" b="1" i="1" dirty="0"/>
              <a:t>N</a:t>
            </a:r>
            <a:r>
              <a:rPr lang="en-US" altLang="zh-CN" sz="2000" b="1" dirty="0"/>
              <a:t>!=0)</a:t>
            </a:r>
            <a:endParaRPr lang="en-US" altLang="zh-CN" sz="2000" b="1" dirty="0"/>
          </a:p>
          <a:p>
            <a:pPr>
              <a:lnSpc>
                <a:spcPct val="80000"/>
              </a:lnSpc>
              <a:buFont typeface="Wingdings" panose="05000000000000000000" pitchFamily="2" charset="2"/>
              <a:buNone/>
            </a:pPr>
            <a:r>
              <a:rPr lang="en-US" altLang="zh-CN" sz="2000" b="1" dirty="0"/>
              <a:t>                {  </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i="1" dirty="0"/>
              <a:t>H </a:t>
            </a:r>
            <a:r>
              <a:rPr lang="en-US" altLang="zh-CN" sz="2000" b="1" dirty="0"/>
              <a:t>= </a:t>
            </a:r>
            <a:r>
              <a:rPr lang="en-US" altLang="zh-CN" sz="2000" b="1" i="1" dirty="0"/>
              <a:t>M</a:t>
            </a:r>
            <a:r>
              <a:rPr lang="en-US" altLang="zh-CN" sz="2000" b="1" dirty="0"/>
              <a:t> </a:t>
            </a:r>
            <a:r>
              <a:rPr lang="en-US" altLang="zh-CN" sz="2000" b="1" dirty="0">
                <a:solidFill>
                  <a:srgbClr val="0000FF"/>
                </a:solidFill>
              </a:rPr>
              <a:t>mod</a:t>
            </a:r>
            <a:r>
              <a:rPr lang="en-US" altLang="zh-CN" sz="2000" b="1" dirty="0"/>
              <a:t> </a:t>
            </a:r>
            <a:r>
              <a:rPr lang="en-US" altLang="zh-CN" sz="2000" b="1" i="1" dirty="0"/>
              <a:t>N</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i="1" dirty="0"/>
              <a:t>M </a:t>
            </a:r>
            <a:r>
              <a:rPr lang="en-US" altLang="zh-CN" sz="2000" b="1" dirty="0"/>
              <a:t>= </a:t>
            </a:r>
            <a:r>
              <a:rPr lang="en-US" altLang="zh-CN" sz="2000" b="1" i="1" dirty="0"/>
              <a:t>N</a:t>
            </a:r>
            <a:r>
              <a:rPr lang="en-US" altLang="zh-CN" sz="2000" b="1" dirty="0"/>
              <a:t>; </a:t>
            </a:r>
            <a:r>
              <a:rPr lang="en-US" altLang="zh-CN" sz="2000" b="1" i="1" dirty="0"/>
              <a:t>N</a:t>
            </a:r>
            <a:r>
              <a:rPr lang="en-US" altLang="zh-CN" sz="2000" b="1" dirty="0"/>
              <a:t> = </a:t>
            </a:r>
            <a:r>
              <a:rPr lang="en-US" altLang="zh-CN" sz="2000" b="1" i="1" dirty="0"/>
              <a:t>H</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                } </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dirty="0">
                <a:solidFill>
                  <a:srgbClr val="0000FF"/>
                </a:solidFill>
              </a:rPr>
              <a:t>return</a:t>
            </a:r>
            <a:r>
              <a:rPr lang="en-US" altLang="zh-CN" sz="2000" b="1" dirty="0"/>
              <a:t> </a:t>
            </a:r>
            <a:r>
              <a:rPr lang="en-US" altLang="zh-CN" sz="2000" b="1" i="1" dirty="0"/>
              <a:t>M</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        } </a:t>
            </a:r>
            <a:endParaRPr lang="en-US" altLang="zh-CN" sz="2000" b="1" dirty="0"/>
          </a:p>
          <a:p>
            <a:pPr>
              <a:lnSpc>
                <a:spcPct val="80000"/>
              </a:lnSpc>
              <a:spcBef>
                <a:spcPts val="1200"/>
              </a:spcBef>
              <a:buFont typeface="Wingdings" panose="05000000000000000000" pitchFamily="2" charset="2"/>
              <a:buNone/>
            </a:pPr>
            <a:r>
              <a:rPr lang="en-US" altLang="zh-CN" sz="2000" b="1" dirty="0"/>
              <a:t>        </a:t>
            </a:r>
            <a:r>
              <a:rPr lang="en-US" altLang="zh-CN" sz="2000" b="1" dirty="0">
                <a:solidFill>
                  <a:srgbClr val="0000FF"/>
                </a:solidFill>
              </a:rPr>
              <a:t>void</a:t>
            </a:r>
            <a:r>
              <a:rPr lang="en-US" altLang="zh-CN" sz="2000" b="1" dirty="0"/>
              <a:t>  Reduce(</a:t>
            </a:r>
            <a:r>
              <a:rPr lang="en-US" altLang="zh-CN" sz="2000" b="1" dirty="0" err="1">
                <a:solidFill>
                  <a:srgbClr val="0000FF"/>
                </a:solidFill>
              </a:rPr>
              <a:t>int</a:t>
            </a:r>
            <a:r>
              <a:rPr lang="en-US" altLang="zh-CN" sz="2000" b="1" dirty="0"/>
              <a:t> </a:t>
            </a:r>
            <a:r>
              <a:rPr lang="en-US" altLang="zh-CN" sz="2000" b="1" i="1" dirty="0"/>
              <a:t>M</a:t>
            </a:r>
            <a:r>
              <a:rPr lang="en-US" altLang="zh-CN" sz="2000" b="1" i="1" baseline="-25000" dirty="0"/>
              <a:t>1</a:t>
            </a:r>
            <a:r>
              <a:rPr lang="en-US" altLang="zh-CN" sz="2000" b="1" dirty="0"/>
              <a:t>, </a:t>
            </a:r>
            <a:r>
              <a:rPr lang="en-US" altLang="zh-CN" sz="2000" b="1" dirty="0" err="1">
                <a:solidFill>
                  <a:srgbClr val="0000FF"/>
                </a:solidFill>
              </a:rPr>
              <a:t>int</a:t>
            </a:r>
            <a:r>
              <a:rPr lang="en-US" altLang="zh-CN" sz="2000" b="1" dirty="0"/>
              <a:t> </a:t>
            </a:r>
            <a:r>
              <a:rPr lang="en-US" altLang="zh-CN" sz="2000" b="1" i="1" dirty="0"/>
              <a:t>N</a:t>
            </a:r>
            <a:r>
              <a:rPr lang="en-US" altLang="zh-CN" sz="2000" b="1" i="1" baseline="-25000" dirty="0"/>
              <a:t>1</a:t>
            </a:r>
            <a:r>
              <a:rPr lang="en-US" altLang="zh-CN" sz="2000" b="1" dirty="0"/>
              <a:t>, </a:t>
            </a:r>
            <a:r>
              <a:rPr lang="en-US" altLang="zh-CN" sz="2000" b="1" dirty="0" err="1">
                <a:solidFill>
                  <a:srgbClr val="0000FF"/>
                </a:solidFill>
              </a:rPr>
              <a:t>int</a:t>
            </a:r>
            <a:r>
              <a:rPr lang="en-US" altLang="zh-CN" sz="2000" b="1" dirty="0"/>
              <a:t> *</a:t>
            </a:r>
            <a:r>
              <a:rPr lang="en-US" altLang="zh-CN" sz="2000" b="1" i="1" dirty="0"/>
              <a:t>M</a:t>
            </a:r>
            <a:r>
              <a:rPr lang="en-US" altLang="zh-CN" sz="2000" b="1" i="1" baseline="-25000" dirty="0"/>
              <a:t>2</a:t>
            </a:r>
            <a:r>
              <a:rPr lang="en-US" altLang="zh-CN" sz="2000" b="1" dirty="0"/>
              <a:t>, </a:t>
            </a:r>
            <a:r>
              <a:rPr lang="en-US" altLang="zh-CN" sz="2000" b="1" dirty="0" err="1">
                <a:solidFill>
                  <a:srgbClr val="0000FF"/>
                </a:solidFill>
              </a:rPr>
              <a:t>int</a:t>
            </a:r>
            <a:r>
              <a:rPr lang="en-US" altLang="zh-CN" sz="2000" b="1" dirty="0"/>
              <a:t> *</a:t>
            </a:r>
            <a:r>
              <a:rPr lang="en-US" altLang="zh-CN" sz="2000" b="1" i="1" dirty="0"/>
              <a:t>N</a:t>
            </a:r>
            <a:r>
              <a:rPr lang="en-US" altLang="zh-CN" sz="2000" b="1" i="1" baseline="-25000" dirty="0"/>
              <a:t>2</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        {     </a:t>
            </a:r>
            <a:r>
              <a:rPr lang="en-US" altLang="zh-CN" sz="2000" b="1" dirty="0" err="1">
                <a:solidFill>
                  <a:srgbClr val="0000FF"/>
                </a:solidFill>
              </a:rPr>
              <a:t>int</a:t>
            </a:r>
            <a:r>
              <a:rPr lang="en-US" altLang="zh-CN" sz="2000" b="1" dirty="0"/>
              <a:t> R;</a:t>
            </a:r>
            <a:endParaRPr lang="en-US" altLang="zh-CN" sz="2000" b="1" dirty="0"/>
          </a:p>
          <a:p>
            <a:pPr>
              <a:lnSpc>
                <a:spcPct val="80000"/>
              </a:lnSpc>
              <a:buFont typeface="Wingdings" panose="05000000000000000000" pitchFamily="2" charset="2"/>
              <a:buNone/>
            </a:pPr>
            <a:r>
              <a:rPr lang="en-US" altLang="zh-CN" sz="2000" b="1" dirty="0"/>
              <a:t>              R=</a:t>
            </a:r>
            <a:r>
              <a:rPr lang="en-US" altLang="zh-CN" sz="2000" b="1" dirty="0" err="1"/>
              <a:t>Hcf</a:t>
            </a:r>
            <a:r>
              <a:rPr lang="en-US" altLang="zh-CN" sz="2000" b="1" dirty="0"/>
              <a:t>(</a:t>
            </a:r>
            <a:r>
              <a:rPr lang="en-US" altLang="zh-CN" sz="2000" b="1" i="1" dirty="0"/>
              <a:t>M</a:t>
            </a:r>
            <a:r>
              <a:rPr lang="en-US" altLang="zh-CN" sz="2000" b="1" i="1" baseline="-25000" dirty="0"/>
              <a:t>1</a:t>
            </a:r>
            <a:r>
              <a:rPr lang="en-US" altLang="zh-CN" sz="2000" b="1" dirty="0"/>
              <a:t>,</a:t>
            </a:r>
            <a:r>
              <a:rPr lang="en-US" altLang="zh-CN" sz="2000" b="1" i="1" dirty="0"/>
              <a:t> N</a:t>
            </a:r>
            <a:r>
              <a:rPr lang="en-US" altLang="zh-CN" sz="2000" b="1" i="1" baseline="-25000" dirty="0"/>
              <a:t>1</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i="1" dirty="0"/>
              <a:t> M</a:t>
            </a:r>
            <a:r>
              <a:rPr lang="en-US" altLang="zh-CN" sz="2000" b="1" i="1" baseline="-25000" dirty="0"/>
              <a:t>2 </a:t>
            </a:r>
            <a:r>
              <a:rPr lang="en-US" altLang="zh-CN" sz="2000" b="1" dirty="0"/>
              <a:t>=</a:t>
            </a:r>
            <a:r>
              <a:rPr lang="en-US" altLang="zh-CN" sz="2000" b="1" i="1" dirty="0"/>
              <a:t> M</a:t>
            </a:r>
            <a:r>
              <a:rPr lang="en-US" altLang="zh-CN" sz="2000" b="1" i="1" baseline="-25000" dirty="0"/>
              <a:t>1</a:t>
            </a:r>
            <a:r>
              <a:rPr lang="en-US" altLang="zh-CN" sz="2000" b="1" dirty="0"/>
              <a:t> / </a:t>
            </a:r>
            <a:r>
              <a:rPr lang="en-US" altLang="zh-CN" sz="2000" b="1" i="1" dirty="0"/>
              <a:t>R</a:t>
            </a:r>
            <a:r>
              <a:rPr lang="en-US" altLang="zh-CN" sz="2000" b="1" dirty="0"/>
              <a:t>;  *</a:t>
            </a:r>
            <a:r>
              <a:rPr lang="en-US" altLang="zh-CN" sz="2000" b="1" i="1" dirty="0"/>
              <a:t> N</a:t>
            </a:r>
            <a:r>
              <a:rPr lang="en-US" altLang="zh-CN" sz="2000" b="1" i="1" baseline="-25000" dirty="0"/>
              <a:t>2 </a:t>
            </a:r>
            <a:r>
              <a:rPr lang="en-US" altLang="zh-CN" sz="2000" b="1" dirty="0"/>
              <a:t>=</a:t>
            </a:r>
            <a:r>
              <a:rPr lang="en-US" altLang="zh-CN" sz="2000" b="1" i="1" dirty="0"/>
              <a:t> N</a:t>
            </a:r>
            <a:r>
              <a:rPr lang="en-US" altLang="zh-CN" sz="2000" b="1" i="1" baseline="-25000" dirty="0"/>
              <a:t>1 </a:t>
            </a:r>
            <a:r>
              <a:rPr lang="en-US" altLang="zh-CN" sz="2000" b="1" dirty="0"/>
              <a:t>/ R;</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dirty="0" err="1">
                <a:solidFill>
                  <a:srgbClr val="0000FF"/>
                </a:solidFill>
              </a:rPr>
              <a:t>cout</a:t>
            </a:r>
            <a:r>
              <a:rPr lang="en-US" altLang="zh-CN" sz="2000" b="1" dirty="0"/>
              <a:t>&lt;&lt;</a:t>
            </a:r>
            <a:r>
              <a:rPr lang="en-US" altLang="zh-CN" sz="2000" b="1" i="1" dirty="0"/>
              <a:t> M</a:t>
            </a:r>
            <a:r>
              <a:rPr lang="en-US" altLang="zh-CN" sz="2000" b="1" i="1" baseline="-25000" dirty="0"/>
              <a:t>1 </a:t>
            </a:r>
            <a:r>
              <a:rPr lang="en-US" altLang="zh-CN" sz="2000" b="1" dirty="0"/>
              <a:t>&lt;&lt;‘/’&lt;&lt;</a:t>
            </a:r>
            <a:r>
              <a:rPr lang="en-US" altLang="zh-CN" sz="2000" b="1" i="1" dirty="0"/>
              <a:t> N</a:t>
            </a:r>
            <a:r>
              <a:rPr lang="en-US" altLang="zh-CN" sz="2000" b="1" i="1" baseline="-25000" dirty="0"/>
              <a:t>1 </a:t>
            </a:r>
            <a:r>
              <a:rPr lang="en-US" altLang="zh-CN" sz="2000" b="1" dirty="0"/>
              <a:t>&lt;&lt;‘=’&lt;&lt;</a:t>
            </a:r>
            <a:r>
              <a:rPr lang="zh-CN" altLang="en-US" sz="2000" b="1" dirty="0"/>
              <a:t>*</a:t>
            </a:r>
            <a:r>
              <a:rPr lang="en-US" altLang="zh-CN" sz="2000" b="1" i="1" dirty="0"/>
              <a:t> M</a:t>
            </a:r>
            <a:r>
              <a:rPr lang="en-US" altLang="zh-CN" sz="2000" b="1" i="1" baseline="-25000" dirty="0"/>
              <a:t>2 </a:t>
            </a:r>
            <a:r>
              <a:rPr lang="en-US" altLang="zh-CN" sz="2000" b="1" dirty="0"/>
              <a:t>&lt;&lt;‘/’&lt;&lt;</a:t>
            </a:r>
            <a:r>
              <a:rPr lang="zh-CN" altLang="en-US" sz="2000" b="1"/>
              <a:t>*</a:t>
            </a:r>
            <a:r>
              <a:rPr lang="en-US" altLang="zh-CN" sz="2000" b="1" i="1"/>
              <a:t>N</a:t>
            </a:r>
            <a:r>
              <a:rPr lang="en-US" altLang="zh-CN" sz="2000" b="1" baseline="-25000"/>
              <a:t>2</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        } </a:t>
            </a:r>
            <a:endParaRPr lang="en-US" altLang="zh-CN" sz="2000" b="1" dirty="0"/>
          </a:p>
          <a:p>
            <a:pPr>
              <a:lnSpc>
                <a:spcPct val="80000"/>
              </a:lnSpc>
              <a:buFont typeface="Wingdings" panose="05000000000000000000" pitchFamily="2" charset="2"/>
              <a:buNone/>
            </a:pPr>
            <a:r>
              <a:rPr lang="en-US" altLang="zh-CN" sz="2000" b="1" dirty="0"/>
              <a:t>      </a:t>
            </a:r>
            <a:r>
              <a:rPr lang="zh-CN" altLang="en-US" sz="2000" b="1" dirty="0">
                <a:solidFill>
                  <a:srgbClr val="FF0000"/>
                </a:solidFill>
              </a:rPr>
              <a:t>调用 </a:t>
            </a:r>
            <a:r>
              <a:rPr lang="en-US" altLang="zh-CN" sz="2000" b="1" dirty="0">
                <a:solidFill>
                  <a:srgbClr val="FF0000"/>
                </a:solidFill>
              </a:rPr>
              <a:t>Reduce(100,200, X, Y);</a:t>
            </a:r>
            <a:endParaRPr lang="en-US" altLang="zh-CN" sz="2000" b="1" dirty="0">
              <a:solidFill>
                <a:srgbClr val="FF0000"/>
              </a:solidFill>
            </a:endParaRPr>
          </a:p>
          <a:p>
            <a:pPr>
              <a:lnSpc>
                <a:spcPct val="80000"/>
              </a:lnSpc>
              <a:buFont typeface="Wingdings" panose="05000000000000000000" pitchFamily="2" charset="2"/>
              <a:buNone/>
            </a:pPr>
            <a:r>
              <a:rPr lang="en-US" altLang="zh-CN" sz="2000" b="1" dirty="0">
                <a:solidFill>
                  <a:srgbClr val="FF0000"/>
                </a:solidFill>
              </a:rPr>
              <a:t>               Reduce(300,550, M, N);</a:t>
            </a:r>
            <a:endParaRPr lang="zh-CN" altLang="en-US" sz="2000" dirty="0">
              <a:solidFill>
                <a:srgbClr val="FF0000"/>
              </a:solidFill>
            </a:endParaRPr>
          </a:p>
        </p:txBody>
      </p:sp>
      <p:grpSp>
        <p:nvGrpSpPr>
          <p:cNvPr id="6" name="组合 5"/>
          <p:cNvGrpSpPr/>
          <p:nvPr/>
        </p:nvGrpSpPr>
        <p:grpSpPr>
          <a:xfrm>
            <a:off x="539552" y="66293"/>
            <a:ext cx="1971209" cy="696929"/>
            <a:chOff x="973123" y="4906917"/>
            <a:chExt cx="1971209" cy="696929"/>
          </a:xfrm>
        </p:grpSpPr>
        <p:sp>
          <p:nvSpPr>
            <p:cNvPr id="7" name="矩形 6"/>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8" name="图片 7"/>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文本占位符 51202"/>
          <p:cNvSpPr>
            <a:spLocks noGrp="1" noChangeArrowheads="1"/>
          </p:cNvSpPr>
          <p:nvPr>
            <p:ph idx="1"/>
          </p:nvPr>
        </p:nvSpPr>
        <p:spPr>
          <a:xfrm>
            <a:off x="486615" y="1414846"/>
            <a:ext cx="8229600" cy="5040560"/>
          </a:xfrm>
        </p:spPr>
        <p:txBody>
          <a:bodyPr/>
          <a:lstStyle/>
          <a:p>
            <a:pPr>
              <a:spcBef>
                <a:spcPts val="0"/>
              </a:spcBef>
              <a:buFont typeface="Wingdings" panose="05000000000000000000" pitchFamily="2" charset="2"/>
              <a:buNone/>
            </a:pPr>
            <a:r>
              <a:rPr lang="en-US" altLang="zh-CN" sz="2000" b="1" dirty="0"/>
              <a:t>(1)   </a:t>
            </a:r>
            <a:r>
              <a:rPr lang="en-US" altLang="zh-CN" sz="2000" b="1" dirty="0">
                <a:solidFill>
                  <a:srgbClr val="0000FF"/>
                </a:solidFill>
              </a:rPr>
              <a:t>void</a:t>
            </a:r>
            <a:r>
              <a:rPr lang="en-US" altLang="zh-CN" sz="2000" b="1" dirty="0"/>
              <a:t>  P(</a:t>
            </a:r>
            <a:r>
              <a:rPr lang="en-US" altLang="zh-CN" sz="2000" b="1" dirty="0" err="1">
                <a:solidFill>
                  <a:srgbClr val="0000FF"/>
                </a:solidFill>
              </a:rPr>
              <a:t>int</a:t>
            </a:r>
            <a:r>
              <a:rPr lang="en-US" altLang="zh-CN" sz="2000" b="1" dirty="0"/>
              <a:t> W)</a:t>
            </a:r>
            <a:endParaRPr lang="en-US" altLang="zh-CN" sz="2000" b="1" dirty="0"/>
          </a:p>
          <a:p>
            <a:pPr>
              <a:spcBef>
                <a:spcPts val="0"/>
              </a:spcBef>
              <a:buFont typeface="Wingdings" panose="05000000000000000000" pitchFamily="2" charset="2"/>
              <a:buNone/>
            </a:pPr>
            <a:r>
              <a:rPr lang="en-US" altLang="zh-CN" sz="2000" b="1" dirty="0"/>
              <a:t>        { </a:t>
            </a:r>
            <a:endParaRPr lang="en-US" altLang="zh-CN" sz="2000" b="1" dirty="0"/>
          </a:p>
          <a:p>
            <a:pPr>
              <a:spcBef>
                <a:spcPts val="0"/>
              </a:spcBef>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 (W&gt;0)</a:t>
            </a:r>
            <a:endParaRPr lang="en-US" altLang="zh-CN" sz="2000" b="1" dirty="0"/>
          </a:p>
          <a:p>
            <a:pPr>
              <a:spcBef>
                <a:spcPts val="0"/>
              </a:spcBef>
              <a:buFont typeface="Wingdings" panose="05000000000000000000" pitchFamily="2" charset="2"/>
              <a:buNone/>
            </a:pPr>
            <a:r>
              <a:rPr lang="en-US" altLang="zh-CN" sz="2000" b="1" dirty="0"/>
              <a:t>               {     P(W-1);</a:t>
            </a:r>
            <a:endParaRPr lang="en-US" altLang="zh-CN" sz="2000" b="1" dirty="0"/>
          </a:p>
          <a:p>
            <a:pPr>
              <a:spcBef>
                <a:spcPts val="0"/>
              </a:spcBef>
              <a:buFont typeface="Wingdings" panose="05000000000000000000" pitchFamily="2" charset="2"/>
              <a:buNone/>
            </a:pPr>
            <a:r>
              <a:rPr lang="en-US" altLang="zh-CN" sz="2000" b="1" dirty="0"/>
              <a:t>                      </a:t>
            </a:r>
            <a:r>
              <a:rPr lang="en-US" altLang="zh-CN" sz="2000" b="1" dirty="0" err="1">
                <a:solidFill>
                  <a:srgbClr val="0000FF"/>
                </a:solidFill>
              </a:rPr>
              <a:t>cout</a:t>
            </a:r>
            <a:r>
              <a:rPr lang="en-US" altLang="zh-CN" sz="2000" b="1" dirty="0"/>
              <a:t>&lt;&lt;W;</a:t>
            </a:r>
            <a:endParaRPr lang="en-US" altLang="zh-CN" sz="2000" b="1" dirty="0"/>
          </a:p>
          <a:p>
            <a:pPr>
              <a:spcBef>
                <a:spcPts val="0"/>
              </a:spcBef>
              <a:buFont typeface="Wingdings" panose="05000000000000000000" pitchFamily="2" charset="2"/>
              <a:buNone/>
            </a:pPr>
            <a:r>
              <a:rPr lang="en-US" altLang="zh-CN" sz="2000" b="1" dirty="0"/>
              <a:t>                } </a:t>
            </a:r>
            <a:endParaRPr lang="en-US" altLang="zh-CN" sz="2000" b="1" dirty="0"/>
          </a:p>
          <a:p>
            <a:pPr>
              <a:spcBef>
                <a:spcPts val="0"/>
              </a:spcBef>
              <a:buFont typeface="Wingdings" panose="05000000000000000000" pitchFamily="2" charset="2"/>
              <a:buNone/>
            </a:pPr>
            <a:r>
              <a:rPr lang="en-US" altLang="zh-CN" sz="2000" b="1" dirty="0"/>
              <a:t>        } </a:t>
            </a:r>
            <a:endParaRPr lang="en-US" altLang="zh-CN" sz="2000" b="1" dirty="0"/>
          </a:p>
          <a:p>
            <a:pPr>
              <a:spcBef>
                <a:spcPts val="0"/>
              </a:spcBef>
              <a:buFont typeface="Wingdings" panose="05000000000000000000" pitchFamily="2" charset="2"/>
              <a:buNone/>
            </a:pPr>
            <a:r>
              <a:rPr lang="en-US" altLang="zh-CN" sz="2000" b="1" dirty="0">
                <a:solidFill>
                  <a:srgbClr val="FF0000"/>
                </a:solidFill>
              </a:rPr>
              <a:t>       </a:t>
            </a:r>
            <a:r>
              <a:rPr lang="zh-CN" altLang="en-US" sz="2000" b="1" dirty="0">
                <a:solidFill>
                  <a:srgbClr val="FF0000"/>
                </a:solidFill>
              </a:rPr>
              <a:t>调用 </a:t>
            </a:r>
            <a:r>
              <a:rPr lang="en-US" altLang="zh-CN" sz="2000" b="1" dirty="0">
                <a:solidFill>
                  <a:srgbClr val="FF0000"/>
                </a:solidFill>
              </a:rPr>
              <a:t>P(4)</a:t>
            </a:r>
            <a:r>
              <a:rPr lang="zh-CN" altLang="en-US" sz="2000" b="1" dirty="0">
                <a:solidFill>
                  <a:srgbClr val="FF0000"/>
                </a:solidFill>
              </a:rPr>
              <a:t>；</a:t>
            </a:r>
            <a:endParaRPr lang="zh-CN" altLang="en-US" sz="2000" b="1" dirty="0">
              <a:solidFill>
                <a:srgbClr val="FF0000"/>
              </a:solidFill>
            </a:endParaRPr>
          </a:p>
          <a:p>
            <a:pPr>
              <a:spcBef>
                <a:spcPts val="600"/>
              </a:spcBef>
              <a:buFont typeface="Wingdings" panose="05000000000000000000" pitchFamily="2" charset="2"/>
              <a:buNone/>
            </a:pPr>
            <a:r>
              <a:rPr lang="en-US" altLang="zh-CN" sz="2000" b="1" dirty="0"/>
              <a:t>(2)   </a:t>
            </a:r>
            <a:r>
              <a:rPr lang="en-US" altLang="zh-CN" sz="2000" b="1" dirty="0">
                <a:solidFill>
                  <a:srgbClr val="0000FF"/>
                </a:solidFill>
              </a:rPr>
              <a:t>void</a:t>
            </a:r>
            <a:r>
              <a:rPr lang="en-US" altLang="zh-CN" sz="2000" b="1" dirty="0"/>
              <a:t>  P(</a:t>
            </a:r>
            <a:r>
              <a:rPr lang="en-US" altLang="zh-CN" sz="2000" b="1" dirty="0" err="1">
                <a:solidFill>
                  <a:srgbClr val="0000FF"/>
                </a:solidFill>
              </a:rPr>
              <a:t>int</a:t>
            </a:r>
            <a:r>
              <a:rPr lang="en-US" altLang="zh-CN" sz="2000" b="1" dirty="0"/>
              <a:t> W)</a:t>
            </a:r>
            <a:endParaRPr lang="en-US" altLang="zh-CN" sz="2000" b="1" dirty="0"/>
          </a:p>
          <a:p>
            <a:pPr>
              <a:spcBef>
                <a:spcPts val="0"/>
              </a:spcBef>
              <a:buFont typeface="Wingdings" panose="05000000000000000000" pitchFamily="2" charset="2"/>
              <a:buNone/>
            </a:pPr>
            <a:r>
              <a:rPr lang="en-US" altLang="zh-CN" sz="2000" b="1" dirty="0"/>
              <a:t>        { </a:t>
            </a:r>
            <a:endParaRPr lang="en-US" altLang="zh-CN" sz="2000" b="1" dirty="0"/>
          </a:p>
          <a:p>
            <a:pPr>
              <a:spcBef>
                <a:spcPts val="0"/>
              </a:spcBef>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 (W&gt;0)</a:t>
            </a:r>
            <a:endParaRPr lang="en-US" altLang="zh-CN" sz="2000" b="1" dirty="0"/>
          </a:p>
          <a:p>
            <a:pPr>
              <a:spcBef>
                <a:spcPts val="0"/>
              </a:spcBef>
              <a:buFont typeface="Wingdings" panose="05000000000000000000" pitchFamily="2" charset="2"/>
              <a:buNone/>
            </a:pPr>
            <a:r>
              <a:rPr lang="en-US" altLang="zh-CN" sz="2000" b="1" dirty="0"/>
              <a:t>              {    </a:t>
            </a:r>
            <a:r>
              <a:rPr lang="en-US" altLang="zh-CN" sz="2000" b="1" dirty="0" err="1">
                <a:solidFill>
                  <a:srgbClr val="0000FF"/>
                </a:solidFill>
              </a:rPr>
              <a:t>cout</a:t>
            </a:r>
            <a:r>
              <a:rPr lang="en-US" altLang="zh-CN" sz="2000" b="1" dirty="0"/>
              <a:t>&lt;&lt;W;</a:t>
            </a:r>
            <a:endParaRPr lang="en-US" altLang="zh-CN" sz="2000" b="1" dirty="0"/>
          </a:p>
          <a:p>
            <a:pPr>
              <a:spcBef>
                <a:spcPts val="0"/>
              </a:spcBef>
              <a:buFont typeface="Wingdings" panose="05000000000000000000" pitchFamily="2" charset="2"/>
              <a:buNone/>
            </a:pPr>
            <a:r>
              <a:rPr lang="en-US" altLang="zh-CN" sz="2000" b="1" dirty="0"/>
              <a:t>                    P(W-1);</a:t>
            </a:r>
            <a:endParaRPr lang="en-US" altLang="zh-CN" sz="2000" b="1" dirty="0"/>
          </a:p>
          <a:p>
            <a:pPr>
              <a:spcBef>
                <a:spcPts val="0"/>
              </a:spcBef>
              <a:buFont typeface="Wingdings" panose="05000000000000000000" pitchFamily="2" charset="2"/>
              <a:buNone/>
            </a:pPr>
            <a:r>
              <a:rPr lang="en-US" altLang="zh-CN" sz="2000" b="1" dirty="0"/>
              <a:t>              } </a:t>
            </a:r>
            <a:endParaRPr lang="en-US" altLang="zh-CN" sz="2000" b="1" dirty="0"/>
          </a:p>
          <a:p>
            <a:pPr>
              <a:spcBef>
                <a:spcPts val="0"/>
              </a:spcBef>
              <a:buFont typeface="Wingdings" panose="05000000000000000000" pitchFamily="2" charset="2"/>
              <a:buNone/>
            </a:pPr>
            <a:r>
              <a:rPr lang="en-US" altLang="zh-CN" sz="2000" b="1" dirty="0"/>
              <a:t>        } </a:t>
            </a:r>
            <a:endParaRPr lang="en-US" altLang="zh-CN" sz="2000" b="1" dirty="0"/>
          </a:p>
          <a:p>
            <a:pPr>
              <a:spcBef>
                <a:spcPts val="0"/>
              </a:spcBef>
              <a:buFont typeface="Wingdings" panose="05000000000000000000" pitchFamily="2" charset="2"/>
              <a:buNone/>
            </a:pPr>
            <a:r>
              <a:rPr lang="en-US" altLang="zh-CN" sz="2000" b="1" dirty="0"/>
              <a:t>       </a:t>
            </a:r>
            <a:r>
              <a:rPr lang="zh-CN" altLang="en-US" sz="2000" b="1" dirty="0">
                <a:solidFill>
                  <a:srgbClr val="FF0000"/>
                </a:solidFill>
              </a:rPr>
              <a:t>调用 </a:t>
            </a:r>
            <a:r>
              <a:rPr lang="en-US" altLang="zh-CN" sz="2000" b="1" dirty="0">
                <a:solidFill>
                  <a:srgbClr val="FF0000"/>
                </a:solidFill>
              </a:rPr>
              <a:t>P(4);</a:t>
            </a:r>
            <a:endParaRPr lang="en-US" altLang="zh-CN" sz="2000" b="1" dirty="0">
              <a:solidFill>
                <a:srgbClr val="FF0000"/>
              </a:solidFill>
            </a:endParaRPr>
          </a:p>
        </p:txBody>
      </p:sp>
      <p:grpSp>
        <p:nvGrpSpPr>
          <p:cNvPr id="6" name="组合 5"/>
          <p:cNvGrpSpPr/>
          <p:nvPr/>
        </p:nvGrpSpPr>
        <p:grpSpPr>
          <a:xfrm>
            <a:off x="539552" y="66293"/>
            <a:ext cx="1971209" cy="696929"/>
            <a:chOff x="973123" y="4906917"/>
            <a:chExt cx="1971209" cy="696929"/>
          </a:xfrm>
        </p:grpSpPr>
        <p:sp>
          <p:nvSpPr>
            <p:cNvPr id="7" name="矩形 6"/>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8" name="图片 7"/>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
        <p:nvSpPr>
          <p:cNvPr id="9" name="文本占位符 52226"/>
          <p:cNvSpPr txBox="1">
            <a:spLocks noChangeArrowheads="1"/>
          </p:cNvSpPr>
          <p:nvPr/>
        </p:nvSpPr>
        <p:spPr bwMode="auto">
          <a:xfrm>
            <a:off x="4601415" y="1412160"/>
            <a:ext cx="2530624"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70000"/>
              </a:lnSpc>
              <a:buFont typeface="Wingdings" panose="05000000000000000000" pitchFamily="2" charset="2"/>
              <a:buNone/>
            </a:pPr>
            <a:r>
              <a:rPr lang="en-US" altLang="zh-CN" sz="2000" b="1" dirty="0"/>
              <a:t>(3)   </a:t>
            </a:r>
            <a:r>
              <a:rPr lang="en-US" altLang="zh-CN" sz="2000" b="1" dirty="0">
                <a:solidFill>
                  <a:srgbClr val="0000FF"/>
                </a:solidFill>
              </a:rPr>
              <a:t>void</a:t>
            </a:r>
            <a:r>
              <a:rPr lang="en-US" altLang="zh-CN" sz="2000" b="1" dirty="0"/>
              <a:t>  P(</a:t>
            </a:r>
            <a:r>
              <a:rPr lang="en-US" altLang="zh-CN" sz="2000" b="1" dirty="0" err="1">
                <a:solidFill>
                  <a:srgbClr val="0000FF"/>
                </a:solidFill>
              </a:rPr>
              <a:t>int</a:t>
            </a:r>
            <a:r>
              <a:rPr lang="en-US" altLang="zh-CN" sz="2000" b="1" dirty="0"/>
              <a:t> W)</a:t>
            </a:r>
            <a:endParaRPr lang="en-US" altLang="zh-CN" sz="2000" b="1" dirty="0"/>
          </a:p>
          <a:p>
            <a:pPr>
              <a:lnSpc>
                <a:spcPct val="70000"/>
              </a:lnSpc>
              <a:buFont typeface="Wingdings" panose="05000000000000000000" pitchFamily="2" charset="2"/>
              <a:buNone/>
            </a:pPr>
            <a:r>
              <a:rPr lang="en-US" altLang="zh-CN" sz="2000" b="1" dirty="0"/>
              <a:t>        { </a:t>
            </a:r>
            <a:endParaRPr lang="en-US" altLang="zh-CN" sz="2000" b="1" dirty="0"/>
          </a:p>
          <a:p>
            <a:pPr>
              <a:lnSpc>
                <a:spcPct val="70000"/>
              </a:lnSpc>
              <a:buFont typeface="Wingdings" panose="05000000000000000000" pitchFamily="2" charset="2"/>
              <a:buNone/>
            </a:pPr>
            <a:r>
              <a:rPr lang="en-US" altLang="zh-CN" sz="2000" b="1" dirty="0"/>
              <a:t>              if (W&gt;0)</a:t>
            </a:r>
            <a:endParaRPr lang="en-US" altLang="zh-CN" sz="2000" b="1" dirty="0"/>
          </a:p>
          <a:p>
            <a:pPr>
              <a:lnSpc>
                <a:spcPct val="70000"/>
              </a:lnSpc>
              <a:buFont typeface="Wingdings" panose="05000000000000000000" pitchFamily="2" charset="2"/>
              <a:buNone/>
            </a:pPr>
            <a:r>
              <a:rPr lang="en-US" altLang="zh-CN" sz="2000" b="1" dirty="0"/>
              <a:t>              {   </a:t>
            </a:r>
            <a:r>
              <a:rPr lang="en-US" altLang="zh-CN" sz="2000" b="1" dirty="0" err="1"/>
              <a:t>cout</a:t>
            </a:r>
            <a:r>
              <a:rPr lang="en-US" altLang="zh-CN" sz="2000" b="1" dirty="0"/>
              <a:t>&lt;&lt;W;</a:t>
            </a:r>
            <a:endParaRPr lang="en-US" altLang="zh-CN" sz="2000" b="1" dirty="0"/>
          </a:p>
          <a:p>
            <a:pPr>
              <a:lnSpc>
                <a:spcPct val="70000"/>
              </a:lnSpc>
              <a:buFont typeface="Wingdings" panose="05000000000000000000" pitchFamily="2" charset="2"/>
              <a:buNone/>
            </a:pPr>
            <a:r>
              <a:rPr lang="en-US" altLang="zh-CN" sz="2000" b="1" dirty="0"/>
              <a:t>                   P(W-1);</a:t>
            </a:r>
            <a:endParaRPr lang="en-US" altLang="zh-CN" sz="2000" b="1" dirty="0"/>
          </a:p>
          <a:p>
            <a:pPr>
              <a:lnSpc>
                <a:spcPct val="70000"/>
              </a:lnSpc>
              <a:buFont typeface="Wingdings" panose="05000000000000000000" pitchFamily="2" charset="2"/>
              <a:buNone/>
            </a:pPr>
            <a:r>
              <a:rPr lang="en-US" altLang="zh-CN" sz="2000" b="1" dirty="0"/>
              <a:t>                   </a:t>
            </a:r>
            <a:r>
              <a:rPr lang="en-US" altLang="zh-CN" sz="2000" b="1" dirty="0" err="1"/>
              <a:t>cout</a:t>
            </a:r>
            <a:r>
              <a:rPr lang="en-US" altLang="zh-CN" sz="2000" b="1" dirty="0"/>
              <a:t>&lt;&lt;W;</a:t>
            </a:r>
            <a:endParaRPr lang="en-US" altLang="zh-CN" sz="2000" b="1" dirty="0"/>
          </a:p>
          <a:p>
            <a:pPr>
              <a:lnSpc>
                <a:spcPct val="70000"/>
              </a:lnSpc>
              <a:buFont typeface="Wingdings" panose="05000000000000000000" pitchFamily="2" charset="2"/>
              <a:buNone/>
            </a:pPr>
            <a:r>
              <a:rPr lang="en-US" altLang="zh-CN" sz="2000" b="1" dirty="0"/>
              <a:t>               } </a:t>
            </a:r>
            <a:endParaRPr lang="en-US" altLang="zh-CN" sz="2000" b="1" dirty="0"/>
          </a:p>
          <a:p>
            <a:pPr>
              <a:lnSpc>
                <a:spcPct val="70000"/>
              </a:lnSpc>
              <a:buFont typeface="Wingdings" panose="05000000000000000000" pitchFamily="2" charset="2"/>
              <a:buNone/>
            </a:pPr>
            <a:r>
              <a:rPr lang="en-US" altLang="zh-CN" sz="2000" b="1" dirty="0"/>
              <a:t>        }</a:t>
            </a:r>
            <a:endParaRPr lang="en-US" altLang="zh-CN" sz="2000" b="1" dirty="0"/>
          </a:p>
          <a:p>
            <a:pPr>
              <a:lnSpc>
                <a:spcPct val="70000"/>
              </a:lnSpc>
              <a:buFont typeface="Wingdings" panose="05000000000000000000" pitchFamily="2" charset="2"/>
              <a:buNone/>
            </a:pPr>
            <a:r>
              <a:rPr lang="en-US" altLang="zh-CN" sz="2000" b="1" dirty="0"/>
              <a:t>        </a:t>
            </a:r>
            <a:r>
              <a:rPr lang="zh-CN" altLang="en-US" sz="2000" b="1" dirty="0">
                <a:solidFill>
                  <a:srgbClr val="FF0000"/>
                </a:solidFill>
              </a:rPr>
              <a:t>调用 </a:t>
            </a:r>
            <a:r>
              <a:rPr lang="en-US" altLang="zh-CN" sz="2000" b="1" dirty="0">
                <a:solidFill>
                  <a:srgbClr val="FF0000"/>
                </a:solidFill>
              </a:rPr>
              <a:t>P(4);</a:t>
            </a:r>
            <a:endParaRPr lang="zh-CN" altLang="en-US" sz="2000" b="1" dirty="0">
              <a:solidFill>
                <a:srgbClr val="FF0000"/>
              </a:solidFill>
            </a:endParaRPr>
          </a:p>
          <a:p>
            <a:pPr>
              <a:lnSpc>
                <a:spcPct val="70000"/>
              </a:lnSpc>
              <a:spcBef>
                <a:spcPts val="1200"/>
              </a:spcBef>
              <a:buFont typeface="Wingdings" panose="05000000000000000000" pitchFamily="2" charset="2"/>
              <a:buNone/>
            </a:pPr>
            <a:r>
              <a:rPr lang="en-US" altLang="zh-CN" sz="2000" b="1" dirty="0"/>
              <a:t>(4)   </a:t>
            </a:r>
            <a:r>
              <a:rPr lang="en-US" altLang="zh-CN" sz="2000" b="1" dirty="0">
                <a:solidFill>
                  <a:srgbClr val="0000FF"/>
                </a:solidFill>
              </a:rPr>
              <a:t>void</a:t>
            </a:r>
            <a:r>
              <a:rPr lang="en-US" altLang="zh-CN" sz="2000" b="1" dirty="0"/>
              <a:t>  P(</a:t>
            </a:r>
            <a:r>
              <a:rPr lang="en-US" altLang="zh-CN" sz="2000" b="1" dirty="0" err="1">
                <a:solidFill>
                  <a:srgbClr val="0000FF"/>
                </a:solidFill>
              </a:rPr>
              <a:t>int</a:t>
            </a:r>
            <a:r>
              <a:rPr lang="en-US" altLang="zh-CN" sz="2000" b="1" dirty="0"/>
              <a:t> W)</a:t>
            </a:r>
            <a:endParaRPr lang="en-US" altLang="zh-CN" sz="2000" b="1" dirty="0"/>
          </a:p>
          <a:p>
            <a:pPr>
              <a:lnSpc>
                <a:spcPct val="70000"/>
              </a:lnSpc>
              <a:buFont typeface="Wingdings" panose="05000000000000000000" pitchFamily="2" charset="2"/>
              <a:buNone/>
            </a:pPr>
            <a:r>
              <a:rPr lang="en-US" altLang="zh-CN" sz="2000" b="1" dirty="0"/>
              <a:t>        {</a:t>
            </a:r>
            <a:endParaRPr lang="en-US" altLang="zh-CN" sz="2000" b="1" dirty="0"/>
          </a:p>
          <a:p>
            <a:pPr>
              <a:lnSpc>
                <a:spcPct val="70000"/>
              </a:lnSpc>
              <a:buFont typeface="Wingdings" panose="05000000000000000000" pitchFamily="2" charset="2"/>
              <a:buNone/>
            </a:pPr>
            <a:r>
              <a:rPr lang="en-US" altLang="zh-CN" sz="2000" b="1" dirty="0"/>
              <a:t>               if (W&gt;0)</a:t>
            </a:r>
            <a:endParaRPr lang="en-US" altLang="zh-CN" sz="2000" b="1" dirty="0"/>
          </a:p>
          <a:p>
            <a:pPr>
              <a:lnSpc>
                <a:spcPct val="70000"/>
              </a:lnSpc>
              <a:buFont typeface="Wingdings" panose="05000000000000000000" pitchFamily="2" charset="2"/>
              <a:buNone/>
            </a:pPr>
            <a:r>
              <a:rPr lang="en-US" altLang="zh-CN" sz="2000" b="1" dirty="0"/>
              <a:t>               {    P(W-1);</a:t>
            </a:r>
            <a:endParaRPr lang="en-US" altLang="zh-CN" sz="2000" b="1" dirty="0"/>
          </a:p>
          <a:p>
            <a:pPr>
              <a:lnSpc>
                <a:spcPct val="70000"/>
              </a:lnSpc>
              <a:buFont typeface="Wingdings" panose="05000000000000000000" pitchFamily="2" charset="2"/>
              <a:buNone/>
            </a:pPr>
            <a:r>
              <a:rPr lang="en-US" altLang="zh-CN" sz="2000" b="1" dirty="0"/>
              <a:t>                     P(W-1);</a:t>
            </a:r>
            <a:endParaRPr lang="en-US" altLang="zh-CN" sz="2000" b="1" dirty="0"/>
          </a:p>
          <a:p>
            <a:pPr>
              <a:lnSpc>
                <a:spcPct val="70000"/>
              </a:lnSpc>
              <a:buFont typeface="Wingdings" panose="05000000000000000000" pitchFamily="2" charset="2"/>
              <a:buNone/>
            </a:pPr>
            <a:r>
              <a:rPr lang="en-US" altLang="zh-CN" sz="2000" b="1" dirty="0"/>
              <a:t>                     </a:t>
            </a:r>
            <a:r>
              <a:rPr lang="en-US" altLang="zh-CN" sz="2000" b="1" dirty="0" err="1">
                <a:solidFill>
                  <a:srgbClr val="0000FF"/>
                </a:solidFill>
              </a:rPr>
              <a:t>cout</a:t>
            </a:r>
            <a:r>
              <a:rPr lang="en-US" altLang="zh-CN" sz="2000" b="1" dirty="0"/>
              <a:t>&lt;&lt;W;</a:t>
            </a:r>
            <a:endParaRPr lang="en-US" altLang="zh-CN" sz="2000" b="1" dirty="0"/>
          </a:p>
          <a:p>
            <a:pPr>
              <a:lnSpc>
                <a:spcPct val="70000"/>
              </a:lnSpc>
              <a:buFont typeface="Wingdings" panose="05000000000000000000" pitchFamily="2" charset="2"/>
              <a:buNone/>
            </a:pPr>
            <a:r>
              <a:rPr lang="en-US" altLang="zh-CN" sz="2000" b="1" dirty="0"/>
              <a:t>               } </a:t>
            </a:r>
            <a:endParaRPr lang="en-US" altLang="zh-CN" sz="2000" b="1" dirty="0"/>
          </a:p>
          <a:p>
            <a:pPr>
              <a:lnSpc>
                <a:spcPct val="70000"/>
              </a:lnSpc>
              <a:buFont typeface="Wingdings" panose="05000000000000000000" pitchFamily="2" charset="2"/>
              <a:buNone/>
            </a:pPr>
            <a:r>
              <a:rPr lang="en-US" altLang="zh-CN" sz="2000" b="1" dirty="0"/>
              <a:t>         } </a:t>
            </a:r>
            <a:endParaRPr lang="en-US" altLang="zh-CN" sz="2000" b="1" dirty="0"/>
          </a:p>
          <a:p>
            <a:pPr>
              <a:lnSpc>
                <a:spcPct val="70000"/>
              </a:lnSpc>
              <a:buFont typeface="Wingdings" panose="05000000000000000000" pitchFamily="2" charset="2"/>
              <a:buNone/>
            </a:pPr>
            <a:r>
              <a:rPr lang="en-US" altLang="zh-CN" sz="2000" b="1" dirty="0">
                <a:solidFill>
                  <a:srgbClr val="FF0000"/>
                </a:solidFill>
              </a:rPr>
              <a:t>        </a:t>
            </a:r>
            <a:r>
              <a:rPr lang="zh-CN" altLang="en-US" sz="2000" b="1" dirty="0">
                <a:solidFill>
                  <a:srgbClr val="FF0000"/>
                </a:solidFill>
              </a:rPr>
              <a:t>调用 </a:t>
            </a:r>
            <a:r>
              <a:rPr lang="en-US" altLang="zh-CN" sz="2000" b="1" dirty="0">
                <a:solidFill>
                  <a:srgbClr val="FF0000"/>
                </a:solidFill>
              </a:rPr>
              <a:t>P(4);</a:t>
            </a:r>
            <a:endParaRPr lang="en-US" altLang="zh-CN" sz="2000" b="1" dirty="0">
              <a:solidFill>
                <a:srgbClr val="FF0000"/>
              </a:solidFill>
            </a:endParaRPr>
          </a:p>
        </p:txBody>
      </p:sp>
      <p:sp>
        <p:nvSpPr>
          <p:cNvPr id="3" name="矩形 2"/>
          <p:cNvSpPr/>
          <p:nvPr/>
        </p:nvSpPr>
        <p:spPr>
          <a:xfrm>
            <a:off x="479167" y="994597"/>
            <a:ext cx="5269391" cy="387798"/>
          </a:xfrm>
          <a:prstGeom prst="rect">
            <a:avLst/>
          </a:prstGeom>
        </p:spPr>
        <p:txBody>
          <a:bodyPr wrap="none">
            <a:spAutoFit/>
          </a:bodyPr>
          <a:lstStyle/>
          <a:p>
            <a:pPr>
              <a:lnSpc>
                <a:spcPct val="80000"/>
              </a:lnSpc>
              <a:buFont typeface="Wingdings" panose="05000000000000000000" pitchFamily="2" charset="2"/>
              <a:buNone/>
            </a:pPr>
            <a:r>
              <a:rPr lang="en-US" altLang="zh-CN" sz="2400" b="1" dirty="0">
                <a:solidFill>
                  <a:srgbClr val="FF0000"/>
                </a:solidFill>
              </a:rPr>
              <a:t>2. </a:t>
            </a:r>
            <a:r>
              <a:rPr lang="zh-CN" altLang="en-US" sz="2400" b="1" dirty="0"/>
              <a:t>阅读下列程序，并写出其运行结果</a:t>
            </a:r>
            <a:r>
              <a:rPr lang="en-US" altLang="zh-CN" sz="2400" b="1" dirty="0"/>
              <a:t>:</a:t>
            </a:r>
            <a:endParaRPr lang="en-US" altLang="zh-CN" sz="2400" b="1" dirty="0"/>
          </a:p>
        </p:txBody>
      </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文本占位符 53250"/>
          <p:cNvSpPr>
            <a:spLocks noGrp="1" noChangeArrowheads="1"/>
          </p:cNvSpPr>
          <p:nvPr>
            <p:ph idx="1"/>
          </p:nvPr>
        </p:nvSpPr>
        <p:spPr>
          <a:xfrm>
            <a:off x="531101" y="980728"/>
            <a:ext cx="5266928" cy="5541813"/>
          </a:xfrm>
        </p:spPr>
        <p:txBody>
          <a:bodyPr/>
          <a:lstStyle/>
          <a:p>
            <a:pPr>
              <a:buFont typeface="Wingdings" panose="05000000000000000000" pitchFamily="2" charset="2"/>
              <a:buNone/>
            </a:pPr>
            <a:r>
              <a:rPr lang="en-US" altLang="zh-CN" sz="2000" b="1" dirty="0"/>
              <a:t>(5)   </a:t>
            </a:r>
            <a:r>
              <a:rPr lang="en-US" altLang="zh-CN" sz="2000" b="1" dirty="0" err="1">
                <a:solidFill>
                  <a:srgbClr val="0000FF"/>
                </a:solidFill>
              </a:rPr>
              <a:t>int</a:t>
            </a:r>
            <a:r>
              <a:rPr lang="en-US" altLang="zh-CN" sz="2000" b="1" dirty="0">
                <a:solidFill>
                  <a:srgbClr val="0000FF"/>
                </a:solidFill>
              </a:rPr>
              <a:t> </a:t>
            </a:r>
            <a:r>
              <a:rPr lang="en-US" altLang="zh-CN" sz="2000" b="1" dirty="0"/>
              <a:t> F(</a:t>
            </a:r>
            <a:r>
              <a:rPr lang="en-US" altLang="zh-CN" sz="2000" b="1" dirty="0" err="1">
                <a:solidFill>
                  <a:srgbClr val="0000FF"/>
                </a:solidFill>
              </a:rPr>
              <a:t>int</a:t>
            </a:r>
            <a:r>
              <a:rPr lang="en-US" altLang="zh-CN" sz="2000" b="1" dirty="0"/>
              <a:t> </a:t>
            </a:r>
            <a:r>
              <a:rPr lang="en-US" altLang="zh-CN" sz="2000" b="1" i="1" dirty="0"/>
              <a:t>N</a:t>
            </a:r>
            <a:r>
              <a:rPr lang="en-US" altLang="zh-CN" sz="2000" b="1" dirty="0"/>
              <a:t>) </a:t>
            </a:r>
            <a:endParaRPr lang="en-US" altLang="zh-CN" sz="2000" b="1" dirty="0"/>
          </a:p>
          <a:p>
            <a:pPr>
              <a:buFont typeface="Wingdings" panose="05000000000000000000" pitchFamily="2" charset="2"/>
              <a:buNone/>
            </a:pPr>
            <a:r>
              <a:rPr lang="en-US" altLang="zh-CN" sz="2000" b="1" dirty="0"/>
              <a:t>        {</a:t>
            </a:r>
            <a:endParaRPr lang="en-US" altLang="zh-CN" sz="2000" b="1" dirty="0"/>
          </a:p>
          <a:p>
            <a:pPr>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 ( </a:t>
            </a:r>
            <a:r>
              <a:rPr lang="en-US" altLang="zh-CN" sz="2000" b="1" i="1" dirty="0"/>
              <a:t>N</a:t>
            </a:r>
            <a:r>
              <a:rPr lang="en-US" altLang="zh-CN" sz="2000" b="1" dirty="0"/>
              <a:t>==0)  </a:t>
            </a:r>
            <a:r>
              <a:rPr lang="en-US" altLang="zh-CN" sz="2000" b="1" dirty="0">
                <a:solidFill>
                  <a:srgbClr val="0000FF"/>
                </a:solidFill>
              </a:rPr>
              <a:t>return</a:t>
            </a:r>
            <a:r>
              <a:rPr lang="en-US" altLang="zh-CN" sz="2000" b="1" dirty="0"/>
              <a:t> 0;</a:t>
            </a:r>
            <a:endParaRPr lang="en-US" altLang="zh-CN" sz="2000" b="1" dirty="0"/>
          </a:p>
          <a:p>
            <a:pPr>
              <a:buFont typeface="Wingdings" panose="05000000000000000000" pitchFamily="2" charset="2"/>
              <a:buNone/>
            </a:pPr>
            <a:r>
              <a:rPr lang="en-US" altLang="zh-CN" sz="2000" b="1" dirty="0"/>
              <a:t>             </a:t>
            </a:r>
            <a:r>
              <a:rPr lang="en-US" altLang="zh-CN" sz="2000" b="1" dirty="0">
                <a:solidFill>
                  <a:srgbClr val="0000FF"/>
                </a:solidFill>
              </a:rPr>
              <a:t>else</a:t>
            </a:r>
            <a:r>
              <a:rPr lang="en-US" altLang="zh-CN" sz="2000" b="1" dirty="0"/>
              <a:t>  </a:t>
            </a:r>
            <a:r>
              <a:rPr lang="en-US" altLang="zh-CN" sz="2000" b="1" dirty="0">
                <a:solidFill>
                  <a:srgbClr val="0000FF"/>
                </a:solidFill>
              </a:rPr>
              <a:t>if</a:t>
            </a:r>
            <a:r>
              <a:rPr lang="en-US" altLang="zh-CN" sz="2000" b="1" dirty="0"/>
              <a:t> (</a:t>
            </a:r>
            <a:r>
              <a:rPr lang="en-US" altLang="zh-CN" sz="2000" b="1" i="1" dirty="0"/>
              <a:t>N</a:t>
            </a:r>
            <a:r>
              <a:rPr lang="en-US" altLang="zh-CN" sz="2000" b="1" dirty="0"/>
              <a:t>==1)</a:t>
            </a:r>
            <a:endParaRPr lang="en-US" altLang="zh-CN" sz="2000" b="1" dirty="0"/>
          </a:p>
          <a:p>
            <a:pPr>
              <a:buFont typeface="Wingdings" panose="05000000000000000000" pitchFamily="2" charset="2"/>
              <a:buNone/>
            </a:pPr>
            <a:r>
              <a:rPr lang="en-US" altLang="zh-CN" sz="2000" b="1" dirty="0"/>
              <a:t>                            </a:t>
            </a:r>
            <a:r>
              <a:rPr lang="en-US" altLang="zh-CN" sz="2000" b="1" dirty="0">
                <a:solidFill>
                  <a:srgbClr val="0000FF"/>
                </a:solidFill>
              </a:rPr>
              <a:t>return</a:t>
            </a:r>
            <a:r>
              <a:rPr lang="en-US" altLang="zh-CN" sz="2000" b="1" dirty="0"/>
              <a:t> 1;</a:t>
            </a:r>
            <a:endParaRPr lang="en-US" altLang="zh-CN" sz="2000" b="1" dirty="0"/>
          </a:p>
          <a:p>
            <a:pPr>
              <a:buFont typeface="Wingdings" panose="05000000000000000000" pitchFamily="2" charset="2"/>
              <a:buNone/>
            </a:pPr>
            <a:r>
              <a:rPr lang="en-US" altLang="zh-CN" sz="2000" b="1" dirty="0"/>
              <a:t>                     </a:t>
            </a:r>
            <a:r>
              <a:rPr lang="en-US" altLang="zh-CN" sz="2000" b="1" dirty="0">
                <a:solidFill>
                  <a:srgbClr val="0000FF"/>
                </a:solidFill>
              </a:rPr>
              <a:t>else</a:t>
            </a:r>
            <a:r>
              <a:rPr lang="en-US" altLang="zh-CN" sz="2000" b="1" dirty="0"/>
              <a:t>  </a:t>
            </a:r>
            <a:r>
              <a:rPr lang="en-US" altLang="zh-CN" sz="2000" b="1" dirty="0">
                <a:solidFill>
                  <a:srgbClr val="0000FF"/>
                </a:solidFill>
              </a:rPr>
              <a:t>return</a:t>
            </a:r>
            <a:r>
              <a:rPr lang="en-US" altLang="zh-CN" sz="2000" b="1" dirty="0"/>
              <a:t> F(</a:t>
            </a:r>
            <a:r>
              <a:rPr lang="en-US" altLang="zh-CN" sz="2000" b="1" i="1" dirty="0"/>
              <a:t>N</a:t>
            </a:r>
            <a:r>
              <a:rPr lang="en-US" altLang="zh-CN" sz="2000" b="1" dirty="0"/>
              <a:t>-1)+2*F(</a:t>
            </a:r>
            <a:r>
              <a:rPr lang="en-US" altLang="zh-CN" sz="2000" b="1" i="1" dirty="0"/>
              <a:t>N</a:t>
            </a:r>
            <a:r>
              <a:rPr lang="en-US" altLang="zh-CN" sz="2000" b="1" dirty="0"/>
              <a:t>-2);</a:t>
            </a:r>
            <a:endParaRPr lang="en-US" altLang="zh-CN" sz="2000" b="1" dirty="0"/>
          </a:p>
          <a:p>
            <a:pPr>
              <a:buFont typeface="Wingdings" panose="05000000000000000000" pitchFamily="2" charset="2"/>
              <a:buNone/>
            </a:pPr>
            <a:r>
              <a:rPr lang="en-US" altLang="zh-CN" sz="2000" b="1" dirty="0"/>
              <a:t>        } </a:t>
            </a:r>
            <a:endParaRPr lang="en-US" altLang="zh-CN" sz="2000" b="1" dirty="0"/>
          </a:p>
          <a:p>
            <a:pPr>
              <a:buFont typeface="Wingdings" panose="05000000000000000000" pitchFamily="2" charset="2"/>
              <a:buNone/>
            </a:pPr>
            <a:r>
              <a:rPr lang="en-US" altLang="zh-CN" sz="2000" b="1" dirty="0"/>
              <a:t>       </a:t>
            </a:r>
            <a:r>
              <a:rPr lang="zh-CN" altLang="en-US" sz="2000" b="1" dirty="0">
                <a:solidFill>
                  <a:srgbClr val="FF0000"/>
                </a:solidFill>
              </a:rPr>
              <a:t>调用 </a:t>
            </a:r>
            <a:r>
              <a:rPr lang="en-US" altLang="zh-CN" sz="2000" b="1" dirty="0" err="1">
                <a:solidFill>
                  <a:srgbClr val="FF0000"/>
                </a:solidFill>
              </a:rPr>
              <a:t>cout</a:t>
            </a:r>
            <a:r>
              <a:rPr lang="en-US" altLang="zh-CN" sz="2000" b="1" dirty="0">
                <a:solidFill>
                  <a:srgbClr val="FF0000"/>
                </a:solidFill>
              </a:rPr>
              <a:t>&lt;&lt;F(5);</a:t>
            </a:r>
            <a:endParaRPr lang="zh-CN" altLang="en-US" sz="2000" b="1" dirty="0">
              <a:solidFill>
                <a:srgbClr val="FF0000"/>
              </a:solidFill>
            </a:endParaRPr>
          </a:p>
          <a:p>
            <a:pPr>
              <a:buFont typeface="Wingdings" panose="05000000000000000000" pitchFamily="2" charset="2"/>
              <a:buNone/>
            </a:pPr>
            <a:r>
              <a:rPr lang="en-US" altLang="zh-CN" sz="2000" b="1" dirty="0"/>
              <a:t>(6)   </a:t>
            </a:r>
            <a:r>
              <a:rPr lang="en-US" altLang="zh-CN" sz="2000" b="1" dirty="0">
                <a:solidFill>
                  <a:srgbClr val="0000FF"/>
                </a:solidFill>
              </a:rPr>
              <a:t>void</a:t>
            </a:r>
            <a:r>
              <a:rPr lang="en-US" altLang="zh-CN" sz="2000" b="1" dirty="0"/>
              <a:t>  P(</a:t>
            </a:r>
            <a:r>
              <a:rPr lang="en-US" altLang="zh-CN" sz="2000" b="1" dirty="0" err="1">
                <a:solidFill>
                  <a:srgbClr val="0000FF"/>
                </a:solidFill>
              </a:rPr>
              <a:t>int</a:t>
            </a:r>
            <a:r>
              <a:rPr lang="en-US" altLang="zh-CN" sz="2000" b="1" dirty="0">
                <a:solidFill>
                  <a:srgbClr val="0000FF"/>
                </a:solidFill>
              </a:rPr>
              <a:t> </a:t>
            </a:r>
            <a:r>
              <a:rPr lang="en-US" altLang="zh-CN" sz="2000" b="1" i="1" dirty="0"/>
              <a:t>N</a:t>
            </a:r>
            <a:r>
              <a:rPr lang="en-US" altLang="zh-CN" sz="2000" b="1" dirty="0"/>
              <a:t>, </a:t>
            </a:r>
            <a:r>
              <a:rPr lang="en-US" altLang="zh-CN" sz="2000" b="1" dirty="0" err="1">
                <a:solidFill>
                  <a:srgbClr val="0000FF"/>
                </a:solidFill>
              </a:rPr>
              <a:t>int</a:t>
            </a:r>
            <a:r>
              <a:rPr lang="en-US" altLang="zh-CN" sz="2000" b="1" dirty="0"/>
              <a:t> *</a:t>
            </a:r>
            <a:r>
              <a:rPr lang="en-US" altLang="zh-CN" sz="2000" b="1" i="1" dirty="0"/>
              <a:t>F</a:t>
            </a:r>
            <a:r>
              <a:rPr lang="en-US" altLang="zh-CN" sz="2000" b="1" dirty="0"/>
              <a:t>)</a:t>
            </a:r>
            <a:endParaRPr lang="en-US" altLang="zh-CN" sz="2000" b="1" dirty="0"/>
          </a:p>
          <a:p>
            <a:pPr>
              <a:buFont typeface="Wingdings" panose="05000000000000000000" pitchFamily="2" charset="2"/>
              <a:buNone/>
            </a:pPr>
            <a:r>
              <a:rPr lang="en-US" altLang="zh-CN" sz="2000" b="1" dirty="0"/>
              <a:t>        { </a:t>
            </a:r>
            <a:endParaRPr lang="en-US" altLang="zh-CN" sz="2000" b="1" dirty="0"/>
          </a:p>
          <a:p>
            <a:pPr>
              <a:buFont typeface="Wingdings" panose="05000000000000000000" pitchFamily="2" charset="2"/>
              <a:buNone/>
            </a:pPr>
            <a:r>
              <a:rPr lang="en-US" altLang="zh-CN" sz="2000" b="1" dirty="0">
                <a:solidFill>
                  <a:srgbClr val="0000FF"/>
                </a:solidFill>
              </a:rPr>
              <a:t>             if </a:t>
            </a:r>
            <a:r>
              <a:rPr lang="en-US" altLang="zh-CN" sz="2000" b="1" dirty="0"/>
              <a:t>(</a:t>
            </a:r>
            <a:r>
              <a:rPr lang="en-US" altLang="zh-CN" sz="2000" b="1" i="1" dirty="0"/>
              <a:t>N</a:t>
            </a:r>
            <a:r>
              <a:rPr lang="en-US" altLang="zh-CN" sz="2000" b="1" dirty="0"/>
              <a:t>==0) </a:t>
            </a:r>
            <a:endParaRPr lang="en-US" altLang="zh-CN" sz="2000" b="1" dirty="0"/>
          </a:p>
          <a:p>
            <a:pPr>
              <a:buFont typeface="Wingdings" panose="05000000000000000000" pitchFamily="2" charset="2"/>
              <a:buNone/>
            </a:pPr>
            <a:r>
              <a:rPr lang="en-US" altLang="zh-CN" sz="2000" b="1" dirty="0"/>
              <a:t>                *</a:t>
            </a:r>
            <a:r>
              <a:rPr lang="en-US" altLang="zh-CN" sz="2000" b="1" i="1" dirty="0"/>
              <a:t>F</a:t>
            </a:r>
            <a:r>
              <a:rPr lang="en-US" altLang="zh-CN" sz="2000" b="1" dirty="0"/>
              <a:t>=0;</a:t>
            </a:r>
            <a:endParaRPr lang="en-US" altLang="zh-CN" sz="2000" b="1" dirty="0"/>
          </a:p>
          <a:p>
            <a:pPr>
              <a:buFont typeface="Wingdings" panose="05000000000000000000" pitchFamily="2" charset="2"/>
              <a:buNone/>
            </a:pPr>
            <a:r>
              <a:rPr lang="en-US" altLang="zh-CN" sz="2000" b="1" dirty="0"/>
              <a:t>             </a:t>
            </a:r>
            <a:r>
              <a:rPr lang="en-US" altLang="zh-CN" sz="2000" b="1" dirty="0">
                <a:solidFill>
                  <a:srgbClr val="0000FF"/>
                </a:solidFill>
              </a:rPr>
              <a:t>else</a:t>
            </a:r>
            <a:r>
              <a:rPr lang="en-US" altLang="zh-CN" sz="2000" b="1" dirty="0"/>
              <a:t>  {  P(</a:t>
            </a:r>
            <a:r>
              <a:rPr lang="en-US" altLang="zh-CN" sz="2000" b="1" i="1" dirty="0"/>
              <a:t>N</a:t>
            </a:r>
            <a:r>
              <a:rPr lang="en-US" altLang="zh-CN" sz="2000" b="1" dirty="0"/>
              <a:t>-1, *</a:t>
            </a:r>
            <a:r>
              <a:rPr lang="en-US" altLang="zh-CN" sz="2000" b="1" i="1" dirty="0"/>
              <a:t>F</a:t>
            </a:r>
            <a:r>
              <a:rPr lang="en-US" altLang="zh-CN" sz="2000" b="1" dirty="0"/>
              <a:t>); *</a:t>
            </a:r>
            <a:r>
              <a:rPr lang="en-US" altLang="zh-CN" sz="2000" b="1" i="1" dirty="0"/>
              <a:t>F</a:t>
            </a:r>
            <a:r>
              <a:rPr lang="en-US" altLang="zh-CN" sz="2000" b="1" dirty="0"/>
              <a:t>=*</a:t>
            </a:r>
            <a:r>
              <a:rPr lang="en-US" altLang="zh-CN" sz="2000" b="1" i="1" dirty="0"/>
              <a:t>F</a:t>
            </a:r>
            <a:r>
              <a:rPr lang="en-US" altLang="zh-CN" sz="2000" b="1" dirty="0"/>
              <a:t>+</a:t>
            </a:r>
            <a:r>
              <a:rPr lang="en-US" altLang="zh-CN" sz="2000" b="1" i="1" dirty="0"/>
              <a:t>N</a:t>
            </a:r>
            <a:r>
              <a:rPr lang="en-US" altLang="zh-CN" sz="2000" b="1" dirty="0"/>
              <a:t>;  } </a:t>
            </a:r>
            <a:endParaRPr lang="en-US" altLang="zh-CN" sz="2000" b="1" dirty="0"/>
          </a:p>
          <a:p>
            <a:pPr>
              <a:buFont typeface="Wingdings" panose="05000000000000000000" pitchFamily="2" charset="2"/>
              <a:buNone/>
            </a:pPr>
            <a:r>
              <a:rPr lang="en-US" altLang="zh-CN" sz="2000" b="1" dirty="0"/>
              <a:t>        } </a:t>
            </a:r>
            <a:endParaRPr lang="en-US" altLang="zh-CN" sz="2000" b="1" dirty="0"/>
          </a:p>
          <a:p>
            <a:pPr>
              <a:buFont typeface="Wingdings" panose="05000000000000000000" pitchFamily="2" charset="2"/>
              <a:buNone/>
            </a:pPr>
            <a:r>
              <a:rPr lang="en-US" altLang="zh-CN" sz="2000" b="1" dirty="0"/>
              <a:t>       </a:t>
            </a:r>
            <a:r>
              <a:rPr lang="zh-CN" altLang="en-US" sz="2000" b="1" dirty="0">
                <a:solidFill>
                  <a:srgbClr val="FF0000"/>
                </a:solidFill>
              </a:rPr>
              <a:t>调用 </a:t>
            </a:r>
            <a:r>
              <a:rPr lang="en-US" altLang="zh-CN" sz="2000" b="1" dirty="0" err="1">
                <a:solidFill>
                  <a:srgbClr val="FF0000"/>
                </a:solidFill>
              </a:rPr>
              <a:t>int</a:t>
            </a:r>
            <a:r>
              <a:rPr lang="en-US" altLang="zh-CN" sz="2000" b="1" dirty="0">
                <a:solidFill>
                  <a:srgbClr val="FF0000"/>
                </a:solidFill>
              </a:rPr>
              <a:t> </a:t>
            </a:r>
            <a:r>
              <a:rPr lang="en-US" altLang="zh-CN" sz="2000" b="1" i="1" dirty="0">
                <a:solidFill>
                  <a:srgbClr val="FF0000"/>
                </a:solidFill>
              </a:rPr>
              <a:t>M=3</a:t>
            </a:r>
            <a:r>
              <a:rPr lang="en-US" altLang="zh-CN" sz="2000" b="1" dirty="0">
                <a:solidFill>
                  <a:srgbClr val="FF0000"/>
                </a:solidFill>
              </a:rPr>
              <a:t>; P(4, &amp;</a:t>
            </a:r>
            <a:r>
              <a:rPr lang="en-US" altLang="zh-CN" sz="2000" b="1" i="1" dirty="0">
                <a:solidFill>
                  <a:srgbClr val="FF0000"/>
                </a:solidFill>
              </a:rPr>
              <a:t>M</a:t>
            </a:r>
            <a:r>
              <a:rPr lang="en-US" altLang="zh-CN" sz="2000" b="1" dirty="0">
                <a:solidFill>
                  <a:srgbClr val="FF0000"/>
                </a:solidFill>
              </a:rPr>
              <a:t>); </a:t>
            </a:r>
            <a:r>
              <a:rPr lang="en-US" altLang="zh-CN" sz="2000" b="1" dirty="0" err="1">
                <a:solidFill>
                  <a:srgbClr val="FF0000"/>
                </a:solidFill>
              </a:rPr>
              <a:t>cout</a:t>
            </a:r>
            <a:r>
              <a:rPr lang="en-US" altLang="zh-CN" sz="2000" b="1" dirty="0">
                <a:solidFill>
                  <a:srgbClr val="FF0000"/>
                </a:solidFill>
              </a:rPr>
              <a:t>&lt;&lt;</a:t>
            </a:r>
            <a:r>
              <a:rPr lang="en-US" altLang="zh-CN" sz="2000" b="1" i="1" dirty="0">
                <a:solidFill>
                  <a:srgbClr val="FF0000"/>
                </a:solidFill>
              </a:rPr>
              <a:t>M</a:t>
            </a:r>
            <a:r>
              <a:rPr lang="en-US" altLang="zh-CN" sz="2000" b="1" dirty="0">
                <a:solidFill>
                  <a:srgbClr val="FF0000"/>
                </a:solidFill>
              </a:rPr>
              <a:t>;</a:t>
            </a:r>
            <a:endParaRPr lang="en-US" altLang="zh-CN" sz="2000" b="1" dirty="0">
              <a:solidFill>
                <a:srgbClr val="FF0000"/>
              </a:solidFill>
            </a:endParaRPr>
          </a:p>
          <a:p>
            <a:pPr>
              <a:lnSpc>
                <a:spcPct val="80000"/>
              </a:lnSpc>
              <a:buFont typeface="Wingdings" panose="05000000000000000000" pitchFamily="2" charset="2"/>
              <a:buNone/>
            </a:pPr>
            <a:r>
              <a:rPr lang="en-US" altLang="zh-CN" sz="2000" dirty="0"/>
              <a:t> </a:t>
            </a:r>
            <a:endParaRPr lang="en-US" altLang="zh-CN" sz="2000" dirty="0"/>
          </a:p>
        </p:txBody>
      </p:sp>
      <p:grpSp>
        <p:nvGrpSpPr>
          <p:cNvPr id="6" name="组合 5"/>
          <p:cNvGrpSpPr/>
          <p:nvPr/>
        </p:nvGrpSpPr>
        <p:grpSpPr>
          <a:xfrm>
            <a:off x="539552" y="66293"/>
            <a:ext cx="1971209" cy="696929"/>
            <a:chOff x="973123" y="4906917"/>
            <a:chExt cx="1971209" cy="696929"/>
          </a:xfrm>
        </p:grpSpPr>
        <p:sp>
          <p:nvSpPr>
            <p:cNvPr id="7" name="矩形 6"/>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8" name="图片 7"/>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文本占位符 54274"/>
          <p:cNvSpPr>
            <a:spLocks noGrp="1" noChangeArrowheads="1"/>
          </p:cNvSpPr>
          <p:nvPr>
            <p:ph idx="1"/>
          </p:nvPr>
        </p:nvSpPr>
        <p:spPr>
          <a:xfrm>
            <a:off x="457200" y="980728"/>
            <a:ext cx="8229600" cy="4678451"/>
          </a:xfrm>
        </p:spPr>
        <p:txBody>
          <a:bodyPr/>
          <a:lstStyle/>
          <a:p>
            <a:pPr>
              <a:lnSpc>
                <a:spcPct val="80000"/>
              </a:lnSpc>
              <a:buFont typeface="Wingdings" panose="05000000000000000000" pitchFamily="2" charset="2"/>
              <a:buNone/>
            </a:pPr>
            <a:r>
              <a:rPr lang="en-US" altLang="zh-CN" sz="2400" b="1" dirty="0">
                <a:solidFill>
                  <a:srgbClr val="FF0000"/>
                </a:solidFill>
              </a:rPr>
              <a:t>3.</a:t>
            </a:r>
            <a:r>
              <a:rPr lang="zh-CN" altLang="en-US" sz="2400" b="1" dirty="0"/>
              <a:t>求解下面各调用的结果</a:t>
            </a:r>
            <a:r>
              <a:rPr lang="en-US" altLang="zh-CN" sz="2400" b="1" dirty="0"/>
              <a:t>, </a:t>
            </a:r>
            <a:r>
              <a:rPr lang="zh-CN" altLang="en-US" sz="2400" b="1" dirty="0"/>
              <a:t>并指出算法的功能。</a:t>
            </a:r>
            <a:endParaRPr lang="zh-CN" altLang="en-US" sz="2400" b="1" dirty="0"/>
          </a:p>
          <a:p>
            <a:pPr>
              <a:lnSpc>
                <a:spcPct val="70000"/>
              </a:lnSpc>
              <a:buFont typeface="Wingdings" panose="05000000000000000000" pitchFamily="2" charset="2"/>
              <a:buNone/>
            </a:pPr>
            <a:r>
              <a:rPr lang="en-US" altLang="zh-CN" sz="2000" b="1" dirty="0"/>
              <a:t>(1) </a:t>
            </a:r>
            <a:r>
              <a:rPr lang="en-US" altLang="zh-CN" sz="2000" b="1" dirty="0">
                <a:solidFill>
                  <a:srgbClr val="0000FF"/>
                </a:solidFill>
              </a:rPr>
              <a:t>void</a:t>
            </a:r>
            <a:r>
              <a:rPr lang="en-US" altLang="zh-CN" sz="2000" b="1" dirty="0"/>
              <a:t>  </a:t>
            </a:r>
            <a:r>
              <a:rPr lang="en-US" altLang="zh-CN" sz="2000" b="1" dirty="0" err="1"/>
              <a:t>PrintRV</a:t>
            </a:r>
            <a:r>
              <a:rPr lang="en-US" altLang="zh-CN" sz="2000" b="1" dirty="0"/>
              <a:t>(</a:t>
            </a:r>
            <a:r>
              <a:rPr lang="en-US" altLang="zh-CN" sz="2000" b="1" dirty="0" err="1">
                <a:solidFill>
                  <a:srgbClr val="0000FF"/>
                </a:solidFill>
              </a:rPr>
              <a:t>int</a:t>
            </a:r>
            <a:r>
              <a:rPr lang="en-US" altLang="zh-CN" sz="2000" b="1" dirty="0"/>
              <a:t> </a:t>
            </a:r>
            <a:r>
              <a:rPr lang="en-US" altLang="zh-CN" sz="2000" b="1" i="1" dirty="0"/>
              <a:t>N</a:t>
            </a:r>
            <a:r>
              <a:rPr lang="en-US" altLang="zh-CN" sz="2000" b="1" dirty="0"/>
              <a:t>)</a:t>
            </a:r>
            <a:endParaRPr lang="en-US" altLang="zh-CN" sz="2000" b="1" dirty="0"/>
          </a:p>
          <a:p>
            <a:pPr>
              <a:lnSpc>
                <a:spcPct val="70000"/>
              </a:lnSpc>
              <a:buFont typeface="Wingdings" panose="05000000000000000000" pitchFamily="2" charset="2"/>
              <a:buNone/>
            </a:pPr>
            <a:r>
              <a:rPr lang="en-US" altLang="zh-CN" sz="2000" b="1" dirty="0"/>
              <a:t>      {</a:t>
            </a:r>
            <a:endParaRPr lang="en-US" altLang="zh-CN" sz="2000" b="1" dirty="0"/>
          </a:p>
          <a:p>
            <a:pPr>
              <a:lnSpc>
                <a:spcPct val="70000"/>
              </a:lnSpc>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 (</a:t>
            </a:r>
            <a:r>
              <a:rPr lang="en-US" altLang="zh-CN" sz="2000" b="1" i="1" dirty="0"/>
              <a:t>N</a:t>
            </a:r>
            <a:r>
              <a:rPr lang="en-US" altLang="zh-CN" sz="2000" b="1" dirty="0"/>
              <a:t>&gt;0)</a:t>
            </a:r>
            <a:endParaRPr lang="en-US" altLang="zh-CN" sz="2000" b="1" dirty="0"/>
          </a:p>
          <a:p>
            <a:pPr>
              <a:lnSpc>
                <a:spcPct val="70000"/>
              </a:lnSpc>
              <a:buFont typeface="Wingdings" panose="05000000000000000000" pitchFamily="2" charset="2"/>
              <a:buNone/>
            </a:pPr>
            <a:r>
              <a:rPr lang="en-US" altLang="zh-CN" sz="2000" b="1" dirty="0"/>
              <a:t>              {    </a:t>
            </a:r>
            <a:r>
              <a:rPr lang="en-US" altLang="zh-CN" sz="2000" b="1" dirty="0" err="1">
                <a:solidFill>
                  <a:srgbClr val="0000FF"/>
                </a:solidFill>
              </a:rPr>
              <a:t>cout</a:t>
            </a:r>
            <a:r>
              <a:rPr lang="en-US" altLang="zh-CN" sz="2000" b="1" dirty="0"/>
              <a:t>&lt;&lt;</a:t>
            </a:r>
            <a:r>
              <a:rPr lang="en-US" altLang="zh-CN" sz="2000" b="1" i="1" dirty="0"/>
              <a:t>N</a:t>
            </a:r>
            <a:r>
              <a:rPr lang="en-US" altLang="zh-CN" sz="2000" b="1" dirty="0"/>
              <a:t> % 10;</a:t>
            </a:r>
            <a:endParaRPr lang="en-US" altLang="zh-CN" sz="2000" b="1" dirty="0"/>
          </a:p>
          <a:p>
            <a:pPr>
              <a:lnSpc>
                <a:spcPct val="70000"/>
              </a:lnSpc>
              <a:buFont typeface="Wingdings" panose="05000000000000000000" pitchFamily="2" charset="2"/>
              <a:buNone/>
            </a:pPr>
            <a:r>
              <a:rPr lang="en-US" altLang="zh-CN" sz="2000" b="1" dirty="0"/>
              <a:t>                    </a:t>
            </a:r>
            <a:r>
              <a:rPr lang="en-US" altLang="zh-CN" sz="2000" b="1" dirty="0" err="1"/>
              <a:t>PrintRV</a:t>
            </a:r>
            <a:r>
              <a:rPr lang="en-US" altLang="zh-CN" sz="2000" b="1" dirty="0"/>
              <a:t>(</a:t>
            </a:r>
            <a:r>
              <a:rPr lang="en-US" altLang="zh-CN" sz="2000" b="1" i="1" dirty="0"/>
              <a:t>N</a:t>
            </a:r>
            <a:r>
              <a:rPr lang="en-US" altLang="zh-CN" sz="2000" b="1" dirty="0"/>
              <a:t> / 10);</a:t>
            </a:r>
            <a:endParaRPr lang="en-US" altLang="zh-CN" sz="2000" b="1" dirty="0"/>
          </a:p>
          <a:p>
            <a:pPr>
              <a:lnSpc>
                <a:spcPct val="70000"/>
              </a:lnSpc>
              <a:buFont typeface="Wingdings" panose="05000000000000000000" pitchFamily="2" charset="2"/>
              <a:buNone/>
            </a:pPr>
            <a:r>
              <a:rPr lang="en-US" altLang="zh-CN" sz="2000" b="1" dirty="0"/>
              <a:t>              } </a:t>
            </a:r>
            <a:endParaRPr lang="en-US" altLang="zh-CN" sz="2000" b="1" dirty="0"/>
          </a:p>
          <a:p>
            <a:pPr>
              <a:lnSpc>
                <a:spcPct val="70000"/>
              </a:lnSpc>
              <a:buFont typeface="Wingdings" panose="05000000000000000000" pitchFamily="2" charset="2"/>
              <a:buNone/>
            </a:pPr>
            <a:r>
              <a:rPr lang="en-US" altLang="zh-CN" sz="2000" b="1" dirty="0"/>
              <a:t>        } </a:t>
            </a:r>
            <a:endParaRPr lang="en-US" altLang="zh-CN" sz="2000" b="1" dirty="0"/>
          </a:p>
          <a:p>
            <a:pPr>
              <a:lnSpc>
                <a:spcPct val="70000"/>
              </a:lnSpc>
              <a:buFont typeface="Wingdings" panose="05000000000000000000" pitchFamily="2" charset="2"/>
              <a:buNone/>
            </a:pPr>
            <a:r>
              <a:rPr lang="en-US" altLang="zh-CN" sz="2000" b="1" dirty="0"/>
              <a:t>       </a:t>
            </a:r>
            <a:r>
              <a:rPr lang="zh-CN" altLang="en-US" sz="2000" b="1" dirty="0">
                <a:solidFill>
                  <a:srgbClr val="FF0000"/>
                </a:solidFill>
              </a:rPr>
              <a:t>调用</a:t>
            </a:r>
            <a:r>
              <a:rPr lang="en-US" altLang="zh-CN" sz="2000" b="1" dirty="0" err="1">
                <a:solidFill>
                  <a:srgbClr val="FF0000"/>
                </a:solidFill>
              </a:rPr>
              <a:t>PrintRV</a:t>
            </a:r>
            <a:r>
              <a:rPr lang="en-US" altLang="zh-CN" sz="2000" b="1" dirty="0">
                <a:solidFill>
                  <a:srgbClr val="FF0000"/>
                </a:solidFill>
              </a:rPr>
              <a:t>(12345);</a:t>
            </a:r>
            <a:endParaRPr lang="en-US" altLang="zh-CN" sz="2000" b="1" dirty="0">
              <a:solidFill>
                <a:srgbClr val="FF0000"/>
              </a:solidFill>
            </a:endParaRPr>
          </a:p>
          <a:p>
            <a:pPr>
              <a:lnSpc>
                <a:spcPct val="70000"/>
              </a:lnSpc>
              <a:spcBef>
                <a:spcPts val="1200"/>
              </a:spcBef>
              <a:buFont typeface="Wingdings" panose="05000000000000000000" pitchFamily="2" charset="2"/>
              <a:buNone/>
            </a:pPr>
            <a:r>
              <a:rPr lang="en-US" altLang="zh-CN" sz="2000" b="1" dirty="0"/>
              <a:t>(2) </a:t>
            </a:r>
            <a:r>
              <a:rPr lang="en-US" altLang="zh-CN" sz="2000" b="1" dirty="0">
                <a:solidFill>
                  <a:srgbClr val="0000FF"/>
                </a:solidFill>
              </a:rPr>
              <a:t>void</a:t>
            </a:r>
            <a:r>
              <a:rPr lang="en-US" altLang="zh-CN" sz="2000" b="1" dirty="0"/>
              <a:t>  PC(</a:t>
            </a:r>
            <a:r>
              <a:rPr lang="en-US" altLang="zh-CN" sz="2000" b="1" dirty="0" err="1">
                <a:solidFill>
                  <a:srgbClr val="0000FF"/>
                </a:solidFill>
              </a:rPr>
              <a:t>int</a:t>
            </a:r>
            <a:r>
              <a:rPr lang="en-US" altLang="zh-CN" sz="2000" b="1" dirty="0"/>
              <a:t> </a:t>
            </a:r>
            <a:r>
              <a:rPr lang="en-US" altLang="zh-CN" sz="2000" b="1" i="1" dirty="0"/>
              <a:t>M</a:t>
            </a:r>
            <a:r>
              <a:rPr lang="en-US" altLang="zh-CN" sz="2000" b="1" dirty="0"/>
              <a:t>, </a:t>
            </a:r>
            <a:r>
              <a:rPr lang="en-US" altLang="zh-CN" sz="2000" b="1" dirty="0" err="1">
                <a:solidFill>
                  <a:srgbClr val="0000FF"/>
                </a:solidFill>
              </a:rPr>
              <a:t>int</a:t>
            </a:r>
            <a:r>
              <a:rPr lang="en-US" altLang="zh-CN" sz="2000" b="1" dirty="0"/>
              <a:t> </a:t>
            </a:r>
            <a:r>
              <a:rPr lang="en-US" altLang="zh-CN" sz="2000" b="1" i="1" dirty="0"/>
              <a:t>N</a:t>
            </a:r>
            <a:r>
              <a:rPr lang="en-US" altLang="zh-CN" sz="2000" b="1" dirty="0"/>
              <a:t>, </a:t>
            </a:r>
            <a:r>
              <a:rPr lang="en-US" altLang="zh-CN" sz="2000" b="1" dirty="0" err="1">
                <a:solidFill>
                  <a:srgbClr val="0000FF"/>
                </a:solidFill>
              </a:rPr>
              <a:t>int</a:t>
            </a:r>
            <a:r>
              <a:rPr lang="en-US" altLang="zh-CN" sz="2000" b="1" dirty="0"/>
              <a:t> *</a:t>
            </a:r>
            <a:r>
              <a:rPr lang="en-US" altLang="zh-CN" sz="2000" b="1" i="1" dirty="0"/>
              <a:t>K</a:t>
            </a:r>
            <a:r>
              <a:rPr lang="en-US" altLang="zh-CN" sz="2000" b="1" dirty="0"/>
              <a:t> )</a:t>
            </a:r>
            <a:endParaRPr lang="en-US" altLang="zh-CN" sz="2000" b="1" dirty="0"/>
          </a:p>
          <a:p>
            <a:pPr>
              <a:lnSpc>
                <a:spcPct val="70000"/>
              </a:lnSpc>
              <a:buFont typeface="Wingdings" panose="05000000000000000000" pitchFamily="2" charset="2"/>
              <a:buNone/>
            </a:pPr>
            <a:r>
              <a:rPr lang="en-US" altLang="zh-CN" sz="2000" b="1" dirty="0"/>
              <a:t>      {</a:t>
            </a:r>
            <a:endParaRPr lang="en-US" altLang="zh-CN" sz="2000" b="1" dirty="0"/>
          </a:p>
          <a:p>
            <a:pPr>
              <a:lnSpc>
                <a:spcPct val="70000"/>
              </a:lnSpc>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 (</a:t>
            </a:r>
            <a:r>
              <a:rPr lang="en-US" altLang="zh-CN" sz="2000" b="1" i="1" dirty="0"/>
              <a:t>N</a:t>
            </a:r>
            <a:r>
              <a:rPr lang="en-US" altLang="zh-CN" sz="2000" b="1" dirty="0"/>
              <a:t>==0)  </a:t>
            </a:r>
            <a:endParaRPr lang="en-US" altLang="zh-CN" sz="2000" b="1" dirty="0"/>
          </a:p>
          <a:p>
            <a:pPr>
              <a:lnSpc>
                <a:spcPct val="70000"/>
              </a:lnSpc>
              <a:buFont typeface="Wingdings" panose="05000000000000000000" pitchFamily="2" charset="2"/>
              <a:buNone/>
            </a:pPr>
            <a:r>
              <a:rPr lang="en-US" altLang="zh-CN" sz="2000" b="1" dirty="0"/>
              <a:t>                 *</a:t>
            </a:r>
            <a:r>
              <a:rPr lang="en-US" altLang="zh-CN" sz="2000" b="1" i="1" dirty="0"/>
              <a:t>K </a:t>
            </a:r>
            <a:r>
              <a:rPr lang="en-US" altLang="zh-CN" sz="2000" b="1" dirty="0"/>
              <a:t>= 1;</a:t>
            </a:r>
            <a:endParaRPr lang="en-US" altLang="zh-CN" sz="2000" b="1" dirty="0"/>
          </a:p>
          <a:p>
            <a:pPr>
              <a:lnSpc>
                <a:spcPct val="70000"/>
              </a:lnSpc>
              <a:buFont typeface="Wingdings" panose="05000000000000000000" pitchFamily="2" charset="2"/>
              <a:buNone/>
            </a:pPr>
            <a:r>
              <a:rPr lang="en-US" altLang="zh-CN" sz="2000" b="1" dirty="0"/>
              <a:t>              </a:t>
            </a:r>
            <a:r>
              <a:rPr lang="en-US" altLang="zh-CN" sz="2000" b="1" dirty="0">
                <a:solidFill>
                  <a:srgbClr val="0000FF"/>
                </a:solidFill>
              </a:rPr>
              <a:t>else</a:t>
            </a:r>
            <a:r>
              <a:rPr lang="en-US" altLang="zh-CN" sz="2000" b="1" dirty="0"/>
              <a:t>{</a:t>
            </a:r>
            <a:endParaRPr lang="en-US" altLang="zh-CN" sz="2000" b="1" dirty="0"/>
          </a:p>
          <a:p>
            <a:pPr>
              <a:lnSpc>
                <a:spcPct val="70000"/>
              </a:lnSpc>
              <a:buFont typeface="Wingdings" panose="05000000000000000000" pitchFamily="2" charset="2"/>
              <a:buNone/>
            </a:pPr>
            <a:r>
              <a:rPr lang="en-US" altLang="zh-CN" sz="2000" b="1" dirty="0"/>
              <a:t>                         PC(</a:t>
            </a:r>
            <a:r>
              <a:rPr lang="en-US" altLang="zh-CN" sz="2000" b="1" i="1" dirty="0"/>
              <a:t>M</a:t>
            </a:r>
            <a:r>
              <a:rPr lang="en-US" altLang="zh-CN" sz="2000" b="1" dirty="0"/>
              <a:t>-1, </a:t>
            </a:r>
            <a:r>
              <a:rPr lang="en-US" altLang="zh-CN" sz="2000" b="1" i="1" dirty="0"/>
              <a:t>N</a:t>
            </a:r>
            <a:r>
              <a:rPr lang="en-US" altLang="zh-CN" sz="2000" b="1" dirty="0"/>
              <a:t>-1, </a:t>
            </a:r>
            <a:r>
              <a:rPr lang="en-US" altLang="zh-CN" sz="2000" b="1" i="1" dirty="0"/>
              <a:t>K</a:t>
            </a:r>
            <a:r>
              <a:rPr lang="en-US" altLang="zh-CN" sz="2000" b="1" dirty="0"/>
              <a:t>); </a:t>
            </a:r>
            <a:endParaRPr lang="en-US" altLang="zh-CN" sz="2000" b="1" dirty="0"/>
          </a:p>
          <a:p>
            <a:pPr>
              <a:lnSpc>
                <a:spcPct val="70000"/>
              </a:lnSpc>
              <a:buFont typeface="Wingdings" panose="05000000000000000000" pitchFamily="2" charset="2"/>
              <a:buNone/>
            </a:pPr>
            <a:r>
              <a:rPr lang="en-US" altLang="zh-CN" sz="2000" b="1" dirty="0"/>
              <a:t>                         *</a:t>
            </a:r>
            <a:r>
              <a:rPr lang="en-US" altLang="zh-CN" sz="2000" b="1" i="1" dirty="0"/>
              <a:t>K</a:t>
            </a:r>
            <a:r>
              <a:rPr lang="en-US" altLang="zh-CN" sz="2000" b="1" dirty="0"/>
              <a:t>=*</a:t>
            </a:r>
            <a:r>
              <a:rPr lang="en-US" altLang="zh-CN" sz="2000" b="1" i="1" dirty="0"/>
              <a:t>K</a:t>
            </a:r>
            <a:r>
              <a:rPr lang="en-US" altLang="zh-CN" sz="2000" b="1" dirty="0"/>
              <a:t>*</a:t>
            </a:r>
            <a:r>
              <a:rPr lang="en-US" altLang="zh-CN" sz="2000" b="1" i="1" dirty="0"/>
              <a:t>M</a:t>
            </a:r>
            <a:r>
              <a:rPr lang="en-US" altLang="zh-CN" sz="2000" b="1" dirty="0"/>
              <a:t> / </a:t>
            </a:r>
            <a:r>
              <a:rPr lang="en-US" altLang="zh-CN" sz="2000" b="1" i="1" dirty="0"/>
              <a:t>N</a:t>
            </a:r>
            <a:r>
              <a:rPr lang="en-US" altLang="zh-CN" sz="2000" b="1" dirty="0"/>
              <a:t>;  </a:t>
            </a:r>
            <a:endParaRPr lang="en-US" altLang="zh-CN" sz="2000" b="1" dirty="0"/>
          </a:p>
          <a:p>
            <a:pPr>
              <a:lnSpc>
                <a:spcPct val="70000"/>
              </a:lnSpc>
              <a:buFont typeface="Wingdings" panose="05000000000000000000" pitchFamily="2" charset="2"/>
              <a:buNone/>
            </a:pPr>
            <a:r>
              <a:rPr lang="en-US" altLang="zh-CN" sz="2000" b="1" dirty="0"/>
              <a:t>              } </a:t>
            </a:r>
            <a:endParaRPr lang="en-US" altLang="zh-CN" sz="2000" b="1" dirty="0"/>
          </a:p>
          <a:p>
            <a:pPr>
              <a:lnSpc>
                <a:spcPct val="70000"/>
              </a:lnSpc>
              <a:buFont typeface="Wingdings" panose="05000000000000000000" pitchFamily="2" charset="2"/>
              <a:buNone/>
            </a:pPr>
            <a:r>
              <a:rPr lang="en-US" altLang="zh-CN" sz="2000" b="1" dirty="0"/>
              <a:t>      } </a:t>
            </a:r>
            <a:endParaRPr lang="en-US" altLang="zh-CN" sz="2000" b="1" dirty="0"/>
          </a:p>
          <a:p>
            <a:pPr>
              <a:lnSpc>
                <a:spcPct val="70000"/>
              </a:lnSpc>
              <a:buFont typeface="Wingdings" panose="05000000000000000000" pitchFamily="2" charset="2"/>
              <a:buNone/>
            </a:pPr>
            <a:r>
              <a:rPr lang="en-US" altLang="zh-CN" sz="2000" b="1" dirty="0">
                <a:solidFill>
                  <a:srgbClr val="FF0000"/>
                </a:solidFill>
              </a:rPr>
              <a:t>     </a:t>
            </a:r>
            <a:r>
              <a:rPr lang="zh-CN" altLang="en-US" sz="2000" b="1" dirty="0">
                <a:solidFill>
                  <a:srgbClr val="FF0000"/>
                </a:solidFill>
              </a:rPr>
              <a:t>调用  </a:t>
            </a:r>
            <a:r>
              <a:rPr lang="en-US" altLang="zh-CN" sz="2000" b="1" dirty="0" err="1">
                <a:solidFill>
                  <a:srgbClr val="FF0000"/>
                </a:solidFill>
              </a:rPr>
              <a:t>int</a:t>
            </a:r>
            <a:r>
              <a:rPr lang="en-US" altLang="zh-CN" sz="2000" b="1" dirty="0">
                <a:solidFill>
                  <a:srgbClr val="FF0000"/>
                </a:solidFill>
              </a:rPr>
              <a:t> </a:t>
            </a:r>
            <a:r>
              <a:rPr lang="en-US" altLang="zh-CN" sz="2000" b="1" i="1" dirty="0">
                <a:solidFill>
                  <a:srgbClr val="FF0000"/>
                </a:solidFill>
              </a:rPr>
              <a:t>M</a:t>
            </a:r>
            <a:r>
              <a:rPr lang="en-US" altLang="zh-CN" sz="2000" b="1" dirty="0">
                <a:solidFill>
                  <a:srgbClr val="FF0000"/>
                </a:solidFill>
              </a:rPr>
              <a:t>; PC(6, 4, &amp;</a:t>
            </a:r>
            <a:r>
              <a:rPr lang="en-US" altLang="zh-CN" sz="2000" b="1" i="1" dirty="0">
                <a:solidFill>
                  <a:srgbClr val="FF0000"/>
                </a:solidFill>
              </a:rPr>
              <a:t>M</a:t>
            </a:r>
            <a:r>
              <a:rPr lang="en-US" altLang="zh-CN" sz="2000" b="1" dirty="0">
                <a:solidFill>
                  <a:srgbClr val="FF0000"/>
                </a:solidFill>
              </a:rPr>
              <a:t>); </a:t>
            </a:r>
            <a:r>
              <a:rPr lang="en-US" altLang="zh-CN" sz="2000" b="1" dirty="0" err="1">
                <a:solidFill>
                  <a:srgbClr val="FF0000"/>
                </a:solidFill>
              </a:rPr>
              <a:t>cout</a:t>
            </a:r>
            <a:r>
              <a:rPr lang="en-US" altLang="zh-CN" sz="2000" b="1" dirty="0">
                <a:solidFill>
                  <a:srgbClr val="FF0000"/>
                </a:solidFill>
              </a:rPr>
              <a:t>&lt;&lt;</a:t>
            </a:r>
            <a:r>
              <a:rPr lang="en-US" altLang="zh-CN" sz="2000" b="1" i="1" dirty="0">
                <a:solidFill>
                  <a:srgbClr val="FF0000"/>
                </a:solidFill>
              </a:rPr>
              <a:t>M</a:t>
            </a:r>
            <a:r>
              <a:rPr lang="en-US" altLang="zh-CN" sz="2000" b="1" dirty="0">
                <a:solidFill>
                  <a:srgbClr val="FF0000"/>
                </a:solidFill>
              </a:rPr>
              <a:t>;</a:t>
            </a:r>
            <a:endParaRPr lang="en-US" altLang="zh-CN" sz="2000" b="1" dirty="0">
              <a:solidFill>
                <a:srgbClr val="FF0000"/>
              </a:solidFill>
            </a:endParaRPr>
          </a:p>
        </p:txBody>
      </p:sp>
      <p:grpSp>
        <p:nvGrpSpPr>
          <p:cNvPr id="6" name="组合 5"/>
          <p:cNvGrpSpPr/>
          <p:nvPr/>
        </p:nvGrpSpPr>
        <p:grpSpPr>
          <a:xfrm>
            <a:off x="539552" y="66293"/>
            <a:ext cx="1971209" cy="696929"/>
            <a:chOff x="973123" y="4906917"/>
            <a:chExt cx="1971209" cy="696929"/>
          </a:xfrm>
        </p:grpSpPr>
        <p:sp>
          <p:nvSpPr>
            <p:cNvPr id="7" name="矩形 6"/>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8" name="图片 7"/>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
        <p:nvSpPr>
          <p:cNvPr id="3" name="矩形 2"/>
          <p:cNvSpPr/>
          <p:nvPr/>
        </p:nvSpPr>
        <p:spPr>
          <a:xfrm>
            <a:off x="4572000" y="1340768"/>
            <a:ext cx="4572000" cy="1938992"/>
          </a:xfrm>
          <a:prstGeom prst="rect">
            <a:avLst/>
          </a:prstGeom>
        </p:spPr>
        <p:txBody>
          <a:bodyPr>
            <a:spAutoFit/>
          </a:bodyPr>
          <a:lstStyle/>
          <a:p>
            <a:pPr>
              <a:buFont typeface="Wingdings" panose="05000000000000000000" pitchFamily="2" charset="2"/>
              <a:buNone/>
            </a:pPr>
            <a:r>
              <a:rPr lang="en-US" altLang="zh-CN" sz="2000" b="1" dirty="0"/>
              <a:t>(3) </a:t>
            </a:r>
            <a:r>
              <a:rPr lang="en-US" altLang="zh-CN" sz="2000" b="1" dirty="0" err="1">
                <a:solidFill>
                  <a:srgbClr val="0000FF"/>
                </a:solidFill>
              </a:rPr>
              <a:t>int</a:t>
            </a:r>
            <a:r>
              <a:rPr lang="en-US" altLang="zh-CN" sz="2000" b="1" dirty="0"/>
              <a:t>   SS(</a:t>
            </a:r>
            <a:r>
              <a:rPr lang="en-US" altLang="zh-CN" sz="2000" b="1" dirty="0" err="1">
                <a:solidFill>
                  <a:srgbClr val="0000FF"/>
                </a:solidFill>
              </a:rPr>
              <a:t>int</a:t>
            </a:r>
            <a:r>
              <a:rPr lang="en-US" altLang="zh-CN" sz="2000" b="1" dirty="0"/>
              <a:t> </a:t>
            </a:r>
            <a:r>
              <a:rPr lang="en-US" altLang="zh-CN" sz="2000" b="1" i="1" dirty="0"/>
              <a:t>N</a:t>
            </a:r>
            <a:r>
              <a:rPr lang="en-US" altLang="zh-CN" sz="2000" b="1" dirty="0"/>
              <a:t>)</a:t>
            </a:r>
            <a:endParaRPr lang="en-US" altLang="zh-CN" sz="2000" b="1" dirty="0"/>
          </a:p>
          <a:p>
            <a:pPr>
              <a:buFont typeface="Wingdings" panose="05000000000000000000" pitchFamily="2" charset="2"/>
              <a:buNone/>
            </a:pPr>
            <a:r>
              <a:rPr lang="en-US" altLang="zh-CN" sz="2000" b="1" dirty="0"/>
              <a:t>     { </a:t>
            </a:r>
            <a:endParaRPr lang="en-US" altLang="zh-CN" sz="2000" b="1" dirty="0"/>
          </a:p>
          <a:p>
            <a:pPr>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 (</a:t>
            </a:r>
            <a:r>
              <a:rPr lang="en-US" altLang="zh-CN" sz="2000" b="1" i="1" dirty="0"/>
              <a:t>N</a:t>
            </a:r>
            <a:r>
              <a:rPr lang="en-US" altLang="zh-CN" sz="2000" b="1" dirty="0"/>
              <a:t>==0 ) </a:t>
            </a:r>
            <a:r>
              <a:rPr lang="en-US" altLang="zh-CN" sz="2000" b="1" dirty="0">
                <a:solidFill>
                  <a:srgbClr val="0000FF"/>
                </a:solidFill>
              </a:rPr>
              <a:t>return</a:t>
            </a:r>
            <a:r>
              <a:rPr lang="en-US" altLang="zh-CN" sz="2000" b="1" dirty="0"/>
              <a:t> 100;</a:t>
            </a:r>
            <a:endParaRPr lang="en-US" altLang="zh-CN" sz="2000" b="1" dirty="0"/>
          </a:p>
          <a:p>
            <a:pPr>
              <a:buFont typeface="Wingdings" panose="05000000000000000000" pitchFamily="2" charset="2"/>
              <a:buNone/>
            </a:pPr>
            <a:r>
              <a:rPr lang="en-US" altLang="zh-CN" sz="2000" b="1" dirty="0"/>
              <a:t>            </a:t>
            </a:r>
            <a:r>
              <a:rPr lang="en-US" altLang="zh-CN" sz="2000" b="1" dirty="0">
                <a:solidFill>
                  <a:srgbClr val="0000FF"/>
                </a:solidFill>
              </a:rPr>
              <a:t>else</a:t>
            </a:r>
            <a:r>
              <a:rPr lang="en-US" altLang="zh-CN" sz="2000" b="1" dirty="0"/>
              <a:t>  </a:t>
            </a:r>
            <a:r>
              <a:rPr lang="en-US" altLang="zh-CN" sz="2000" b="1" dirty="0">
                <a:solidFill>
                  <a:srgbClr val="0000FF"/>
                </a:solidFill>
              </a:rPr>
              <a:t>return</a:t>
            </a:r>
            <a:r>
              <a:rPr lang="en-US" altLang="zh-CN" sz="2000" b="1" dirty="0"/>
              <a:t> SS(</a:t>
            </a:r>
            <a:r>
              <a:rPr lang="en-US" altLang="zh-CN" sz="2000" b="1" i="1" dirty="0"/>
              <a:t>N</a:t>
            </a:r>
            <a:r>
              <a:rPr lang="en-US" altLang="zh-CN" sz="2000" b="1" dirty="0"/>
              <a:t>-1)+</a:t>
            </a:r>
            <a:r>
              <a:rPr lang="en-US" altLang="zh-CN" sz="2000" b="1" i="1" dirty="0"/>
              <a:t>N</a:t>
            </a:r>
            <a:r>
              <a:rPr lang="en-US" altLang="zh-CN" sz="2000" b="1" dirty="0"/>
              <a:t>*</a:t>
            </a:r>
            <a:r>
              <a:rPr lang="en-US" altLang="zh-CN" sz="2000" b="1" i="1" dirty="0"/>
              <a:t>N</a:t>
            </a:r>
            <a:r>
              <a:rPr lang="en-US" altLang="zh-CN" sz="2000" b="1" dirty="0"/>
              <a:t>;</a:t>
            </a:r>
            <a:endParaRPr lang="en-US" altLang="zh-CN" sz="2000" b="1" dirty="0"/>
          </a:p>
          <a:p>
            <a:pPr>
              <a:buFont typeface="Wingdings" panose="05000000000000000000" pitchFamily="2" charset="2"/>
              <a:buNone/>
            </a:pPr>
            <a:r>
              <a:rPr lang="en-US" altLang="zh-CN" sz="2000" b="1" dirty="0"/>
              <a:t>      } </a:t>
            </a:r>
            <a:endParaRPr lang="en-US" altLang="zh-CN" sz="2000" b="1" dirty="0"/>
          </a:p>
          <a:p>
            <a:pPr>
              <a:buFont typeface="Wingdings" panose="05000000000000000000" pitchFamily="2" charset="2"/>
              <a:buNone/>
            </a:pPr>
            <a:r>
              <a:rPr lang="en-US" altLang="zh-CN" sz="2000" b="1" dirty="0"/>
              <a:t>     </a:t>
            </a:r>
            <a:r>
              <a:rPr lang="zh-CN" altLang="en-US" sz="2000" b="1" dirty="0">
                <a:solidFill>
                  <a:srgbClr val="FF0000"/>
                </a:solidFill>
              </a:rPr>
              <a:t>调用 </a:t>
            </a:r>
            <a:r>
              <a:rPr lang="en-US" altLang="zh-CN" sz="2000" b="1" dirty="0" err="1">
                <a:solidFill>
                  <a:srgbClr val="FF0000"/>
                </a:solidFill>
              </a:rPr>
              <a:t>cout</a:t>
            </a:r>
            <a:r>
              <a:rPr lang="en-US" altLang="zh-CN" sz="2000" b="1" dirty="0">
                <a:solidFill>
                  <a:srgbClr val="FF0000"/>
                </a:solidFill>
              </a:rPr>
              <a:t>&lt;&lt;SS(5);</a:t>
            </a:r>
            <a:endParaRPr lang="zh-CN" altLang="en-US" sz="2000" b="1" dirty="0">
              <a:solidFill>
                <a:srgbClr val="FF0000"/>
              </a:solidFill>
            </a:endParaRPr>
          </a:p>
        </p:txBody>
      </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文本占位符 55298"/>
          <p:cNvSpPr>
            <a:spLocks noGrp="1" noChangeArrowheads="1"/>
          </p:cNvSpPr>
          <p:nvPr>
            <p:ph idx="1"/>
          </p:nvPr>
        </p:nvSpPr>
        <p:spPr>
          <a:xfrm>
            <a:off x="457200" y="1052736"/>
            <a:ext cx="8229600" cy="4678451"/>
          </a:xfrm>
        </p:spPr>
        <p:txBody>
          <a:bodyPr/>
          <a:lstStyle/>
          <a:p>
            <a:pPr>
              <a:lnSpc>
                <a:spcPct val="80000"/>
              </a:lnSpc>
              <a:buFont typeface="Wingdings" panose="05000000000000000000" pitchFamily="2" charset="2"/>
              <a:buNone/>
            </a:pPr>
            <a:r>
              <a:rPr lang="en-US" altLang="zh-CN" sz="2400" b="1" dirty="0">
                <a:solidFill>
                  <a:srgbClr val="FF0000"/>
                </a:solidFill>
              </a:rPr>
              <a:t>4. </a:t>
            </a:r>
            <a:r>
              <a:rPr lang="zh-CN" altLang="en-US" sz="2400" b="1" dirty="0"/>
              <a:t>对下面的函数定义</a:t>
            </a:r>
            <a:r>
              <a:rPr lang="en-US" altLang="zh-CN" sz="2400" b="1" dirty="0"/>
              <a:t>, </a:t>
            </a:r>
            <a:r>
              <a:rPr lang="zh-CN" altLang="en-US" sz="2400" b="1" dirty="0"/>
              <a:t>证明下面有关程序功能描述的正确性。</a:t>
            </a:r>
            <a:endParaRPr lang="zh-CN" altLang="en-US" sz="2400" b="1" dirty="0"/>
          </a:p>
          <a:p>
            <a:pPr>
              <a:lnSpc>
                <a:spcPct val="80000"/>
              </a:lnSpc>
              <a:buFont typeface="Wingdings" panose="05000000000000000000" pitchFamily="2" charset="2"/>
              <a:buNone/>
            </a:pPr>
            <a:r>
              <a:rPr lang="zh-CN" altLang="en-US" sz="2000" b="1" dirty="0"/>
              <a:t> </a:t>
            </a:r>
            <a:r>
              <a:rPr lang="en-US" altLang="zh-CN" sz="2000" b="1" dirty="0"/>
              <a:t>(1) </a:t>
            </a:r>
            <a:r>
              <a:rPr lang="en-US" altLang="zh-CN" sz="2000" b="1" dirty="0">
                <a:solidFill>
                  <a:srgbClr val="0000FF"/>
                </a:solidFill>
              </a:rPr>
              <a:t>void</a:t>
            </a:r>
            <a:r>
              <a:rPr lang="en-US" altLang="zh-CN" sz="2000" b="1" dirty="0"/>
              <a:t>  P(</a:t>
            </a:r>
            <a:r>
              <a:rPr lang="en-US" altLang="zh-CN" sz="2000" b="1" dirty="0" err="1">
                <a:solidFill>
                  <a:srgbClr val="0000FF"/>
                </a:solidFill>
              </a:rPr>
              <a:t>int</a:t>
            </a:r>
            <a:r>
              <a:rPr lang="en-US" altLang="zh-CN" sz="2000" b="1" dirty="0"/>
              <a:t> </a:t>
            </a:r>
            <a:r>
              <a:rPr lang="en-US" altLang="zh-CN" sz="2000" b="1" i="1" dirty="0"/>
              <a:t>N</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      {</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 (</a:t>
            </a:r>
            <a:r>
              <a:rPr lang="en-US" altLang="zh-CN" sz="2000" b="1" i="1" dirty="0"/>
              <a:t>N</a:t>
            </a:r>
            <a:r>
              <a:rPr lang="en-US" altLang="zh-CN" sz="2000" b="1" dirty="0"/>
              <a:t>&gt;0)</a:t>
            </a:r>
            <a:endParaRPr lang="en-US" altLang="zh-CN" sz="2000" b="1" dirty="0"/>
          </a:p>
          <a:p>
            <a:pPr>
              <a:lnSpc>
                <a:spcPct val="80000"/>
              </a:lnSpc>
              <a:buFont typeface="Wingdings" panose="05000000000000000000" pitchFamily="2" charset="2"/>
              <a:buNone/>
            </a:pPr>
            <a:r>
              <a:rPr lang="en-US" altLang="zh-CN" sz="2000" b="1" dirty="0"/>
              <a:t>            {    P(</a:t>
            </a:r>
            <a:r>
              <a:rPr lang="en-US" altLang="zh-CN" sz="2000" b="1" i="1" dirty="0"/>
              <a:t>N</a:t>
            </a:r>
            <a:r>
              <a:rPr lang="en-US" altLang="zh-CN" sz="2000" b="1" dirty="0"/>
              <a:t>-1);</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dirty="0" err="1">
                <a:solidFill>
                  <a:srgbClr val="0000FF"/>
                </a:solidFill>
              </a:rPr>
              <a:t>cout</a:t>
            </a:r>
            <a:r>
              <a:rPr lang="en-US" altLang="zh-CN" sz="2000" b="1" dirty="0"/>
              <a:t>&lt;&lt;</a:t>
            </a:r>
            <a:r>
              <a:rPr lang="en-US" altLang="zh-CN" sz="2000" b="1" i="1" dirty="0"/>
              <a:t>N</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                  P(</a:t>
            </a:r>
            <a:r>
              <a:rPr lang="en-US" altLang="zh-CN" sz="2000" b="1" i="1" dirty="0"/>
              <a:t>N</a:t>
            </a:r>
            <a:r>
              <a:rPr lang="en-US" altLang="zh-CN" sz="2000" b="1" dirty="0"/>
              <a:t>-1);</a:t>
            </a:r>
            <a:endParaRPr lang="en-US" altLang="zh-CN" sz="2000" b="1" dirty="0"/>
          </a:p>
          <a:p>
            <a:pPr>
              <a:lnSpc>
                <a:spcPct val="80000"/>
              </a:lnSpc>
              <a:buFont typeface="Wingdings" panose="05000000000000000000" pitchFamily="2" charset="2"/>
              <a:buNone/>
            </a:pPr>
            <a:r>
              <a:rPr lang="en-US" altLang="zh-CN" sz="2000" b="1" dirty="0"/>
              <a:t>             } </a:t>
            </a:r>
            <a:endParaRPr lang="en-US" altLang="zh-CN" sz="2000" b="1" dirty="0"/>
          </a:p>
          <a:p>
            <a:pPr>
              <a:lnSpc>
                <a:spcPct val="80000"/>
              </a:lnSpc>
              <a:buFont typeface="Wingdings" panose="05000000000000000000" pitchFamily="2" charset="2"/>
              <a:buNone/>
            </a:pPr>
            <a:r>
              <a:rPr lang="en-US" altLang="zh-CN" sz="2000" b="1" dirty="0"/>
              <a:t>       } </a:t>
            </a:r>
            <a:endParaRPr lang="en-US" altLang="zh-CN" sz="2000" b="1" dirty="0"/>
          </a:p>
          <a:p>
            <a:pPr>
              <a:lnSpc>
                <a:spcPct val="80000"/>
              </a:lnSpc>
              <a:buFont typeface="Wingdings" panose="05000000000000000000" pitchFamily="2" charset="2"/>
              <a:buNone/>
            </a:pPr>
            <a:r>
              <a:rPr lang="en-US" altLang="zh-CN" sz="2000" b="1" dirty="0"/>
              <a:t>    (a) </a:t>
            </a:r>
            <a:r>
              <a:rPr lang="zh-CN" altLang="en-US" sz="2000" b="1" dirty="0"/>
              <a:t>在调用</a:t>
            </a:r>
            <a:r>
              <a:rPr lang="en-US" altLang="zh-CN" sz="2000" b="1" dirty="0"/>
              <a:t>P(</a:t>
            </a:r>
            <a:r>
              <a:rPr lang="en-US" altLang="zh-CN" sz="2000" b="1" i="1" dirty="0"/>
              <a:t>N</a:t>
            </a:r>
            <a:r>
              <a:rPr lang="en-US" altLang="zh-CN" sz="2000" b="1" dirty="0"/>
              <a:t>)</a:t>
            </a:r>
            <a:r>
              <a:rPr lang="zh-CN" altLang="en-US" sz="2000" b="1" dirty="0"/>
              <a:t>所产生的输出序列中，当且仅当其序号为奇数时</a:t>
            </a:r>
            <a:r>
              <a:rPr lang="en-US" altLang="zh-CN" sz="2000" b="1" dirty="0"/>
              <a:t>, </a:t>
            </a:r>
            <a:r>
              <a:rPr lang="zh-CN" altLang="en-US" sz="2000" b="1" dirty="0"/>
              <a:t>输出</a:t>
            </a:r>
            <a:endParaRPr lang="en-US" altLang="zh-CN" sz="2000" b="1" dirty="0"/>
          </a:p>
          <a:p>
            <a:pPr>
              <a:lnSpc>
                <a:spcPct val="80000"/>
              </a:lnSpc>
              <a:buFont typeface="Wingdings" panose="05000000000000000000" pitchFamily="2" charset="2"/>
              <a:buNone/>
            </a:pPr>
            <a:r>
              <a:rPr lang="en-US" altLang="zh-CN" sz="2000" b="1" dirty="0"/>
              <a:t>          </a:t>
            </a:r>
            <a:r>
              <a:rPr lang="zh-CN" altLang="en-US" sz="2000" b="1" dirty="0"/>
              <a:t>项为</a:t>
            </a:r>
            <a:r>
              <a:rPr lang="en-US" altLang="zh-CN" sz="2000" b="1" dirty="0"/>
              <a:t>1;</a:t>
            </a:r>
            <a:endParaRPr lang="zh-CN" altLang="en-US" sz="2000" b="1" dirty="0"/>
          </a:p>
          <a:p>
            <a:pPr>
              <a:lnSpc>
                <a:spcPct val="80000"/>
              </a:lnSpc>
              <a:buFont typeface="Wingdings" panose="05000000000000000000" pitchFamily="2" charset="2"/>
              <a:buNone/>
            </a:pPr>
            <a:r>
              <a:rPr lang="zh-CN" altLang="en-US" sz="2000" b="1" dirty="0"/>
              <a:t>    </a:t>
            </a:r>
            <a:r>
              <a:rPr lang="en-US" altLang="zh-CN" sz="2000" b="1" dirty="0"/>
              <a:t>(b) </a:t>
            </a:r>
            <a:r>
              <a:rPr lang="zh-CN" altLang="en-US" sz="2000" b="1" dirty="0"/>
              <a:t>在调用</a:t>
            </a:r>
            <a:r>
              <a:rPr lang="en-US" altLang="zh-CN" sz="2000" b="1" dirty="0"/>
              <a:t>P(</a:t>
            </a:r>
            <a:r>
              <a:rPr lang="en-US" altLang="zh-CN" sz="2000" b="1" i="1" dirty="0"/>
              <a:t>N</a:t>
            </a:r>
            <a:r>
              <a:rPr lang="en-US" altLang="zh-CN" sz="2000" b="1" dirty="0"/>
              <a:t>)</a:t>
            </a:r>
            <a:r>
              <a:rPr lang="zh-CN" altLang="en-US" sz="2000" b="1" dirty="0"/>
              <a:t>所产生的输出序列中，输出</a:t>
            </a:r>
            <a:r>
              <a:rPr lang="en-US" altLang="zh-CN" sz="2000" b="1" dirty="0"/>
              <a:t>2</a:t>
            </a:r>
            <a:r>
              <a:rPr lang="zh-CN" altLang="en-US" sz="2000" b="1" dirty="0"/>
              <a:t>的项数为</a:t>
            </a:r>
            <a:r>
              <a:rPr lang="en-US" altLang="zh-CN" sz="2000" b="1" dirty="0"/>
              <a:t>2</a:t>
            </a:r>
            <a:r>
              <a:rPr lang="en-US" altLang="zh-CN" sz="2000" b="1" i="1" baseline="30000" dirty="0"/>
              <a:t>n</a:t>
            </a:r>
            <a:r>
              <a:rPr lang="en-US" altLang="zh-CN" sz="2000" b="1" baseline="30000" dirty="0"/>
              <a:t>-2</a:t>
            </a:r>
            <a:r>
              <a:rPr lang="zh-CN" altLang="en-US" sz="2000" b="1" dirty="0"/>
              <a:t>。</a:t>
            </a:r>
            <a:endParaRPr lang="zh-CN" altLang="en-US" sz="2000" b="1" dirty="0"/>
          </a:p>
        </p:txBody>
      </p:sp>
      <p:grpSp>
        <p:nvGrpSpPr>
          <p:cNvPr id="6" name="组合 5"/>
          <p:cNvGrpSpPr/>
          <p:nvPr/>
        </p:nvGrpSpPr>
        <p:grpSpPr>
          <a:xfrm>
            <a:off x="539552" y="66293"/>
            <a:ext cx="1971209" cy="696929"/>
            <a:chOff x="973123" y="4906917"/>
            <a:chExt cx="1971209" cy="696929"/>
          </a:xfrm>
        </p:grpSpPr>
        <p:sp>
          <p:nvSpPr>
            <p:cNvPr id="7" name="矩形 6"/>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8" name="图片 7"/>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文本占位符 22530"/>
          <p:cNvSpPr>
            <a:spLocks noGrp="1" noChangeArrowheads="1"/>
          </p:cNvSpPr>
          <p:nvPr>
            <p:ph idx="1"/>
          </p:nvPr>
        </p:nvSpPr>
        <p:spPr>
          <a:xfrm>
            <a:off x="346643" y="908720"/>
            <a:ext cx="8229600" cy="4678451"/>
          </a:xfrm>
        </p:spPr>
        <p:txBody>
          <a:bodyPr/>
          <a:lstStyle/>
          <a:p>
            <a:pPr eaLnBrk="1" hangingPunct="1">
              <a:buFont typeface="Wingdings" panose="05000000000000000000" pitchFamily="2" charset="2"/>
              <a:buNone/>
            </a:pPr>
            <a:r>
              <a:rPr lang="en-US" altLang="zh-CN" sz="2400" b="1" dirty="0">
                <a:solidFill>
                  <a:srgbClr val="FF0000"/>
                </a:solidFill>
              </a:rPr>
              <a:t>5.</a:t>
            </a:r>
            <a:r>
              <a:rPr lang="zh-CN" altLang="en-US" sz="2400" b="1" dirty="0"/>
              <a:t>算法的正确性证明：</a:t>
            </a:r>
            <a:endParaRPr lang="en-US" altLang="zh-CN" sz="2400" b="1" dirty="0"/>
          </a:p>
          <a:p>
            <a:pPr eaLnBrk="1" hangingPunct="1">
              <a:buFont typeface="Wingdings" panose="05000000000000000000" pitchFamily="2" charset="2"/>
              <a:buNone/>
            </a:pPr>
            <a:r>
              <a:rPr lang="zh-CN" altLang="en-US" sz="1800" b="1" dirty="0"/>
              <a:t>   分别对如图所示链表结构，证明下列命题的正确性：</a:t>
            </a:r>
            <a:endParaRPr lang="en-US" altLang="zh-CN" sz="1800" b="1" dirty="0"/>
          </a:p>
          <a:p>
            <a:pPr eaLnBrk="1" hangingPunct="1">
              <a:buFont typeface="Wingdings" panose="05000000000000000000" pitchFamily="2" charset="2"/>
              <a:buNone/>
            </a:pPr>
            <a:r>
              <a:rPr lang="zh-CN" altLang="en-US" sz="1800" b="1" dirty="0"/>
              <a:t>   （</a:t>
            </a:r>
            <a:r>
              <a:rPr lang="en-US" altLang="zh-CN" sz="1800" b="1" dirty="0"/>
              <a:t>1</a:t>
            </a:r>
            <a:r>
              <a:rPr lang="zh-CN" altLang="en-US" sz="1800" b="1" dirty="0"/>
              <a:t>）证明：调用</a:t>
            </a:r>
            <a:r>
              <a:rPr lang="en-US" altLang="zh-CN" sz="1800" b="1" dirty="0"/>
              <a:t>Print(head)</a:t>
            </a:r>
            <a:r>
              <a:rPr lang="zh-CN" altLang="en-US" sz="1800" b="1" dirty="0"/>
              <a:t>能输出链表</a:t>
            </a:r>
            <a:r>
              <a:rPr lang="en-US" altLang="zh-CN" sz="1800" b="1" dirty="0"/>
              <a:t>L</a:t>
            </a:r>
            <a:r>
              <a:rPr lang="zh-CN" altLang="en-US" sz="1800" b="1" dirty="0"/>
              <a:t>中所有结点值。</a:t>
            </a:r>
            <a:endParaRPr lang="zh-CN" altLang="en-US" sz="1800" b="1" dirty="0"/>
          </a:p>
          <a:p>
            <a:pPr eaLnBrk="1" hangingPunct="1">
              <a:buFont typeface="Wingdings" panose="05000000000000000000" pitchFamily="2" charset="2"/>
              <a:buNone/>
            </a:pPr>
            <a:r>
              <a:rPr lang="zh-CN" altLang="en-US" sz="1800" dirty="0"/>
              <a:t>                    </a:t>
            </a:r>
            <a:r>
              <a:rPr lang="en-US" altLang="zh-CN" sz="1800" dirty="0">
                <a:solidFill>
                  <a:srgbClr val="0000FF"/>
                </a:solidFill>
              </a:rPr>
              <a:t>void</a:t>
            </a:r>
            <a:r>
              <a:rPr lang="en-US" altLang="zh-CN" sz="1800" dirty="0"/>
              <a:t> Print( </a:t>
            </a:r>
            <a:r>
              <a:rPr lang="en-US" altLang="zh-CN" sz="1800" dirty="0">
                <a:solidFill>
                  <a:srgbClr val="0000FF"/>
                </a:solidFill>
              </a:rPr>
              <a:t>link</a:t>
            </a:r>
            <a:r>
              <a:rPr lang="en-US" altLang="zh-CN" sz="1800" dirty="0"/>
              <a:t> L ){</a:t>
            </a:r>
            <a:endParaRPr lang="en-US" altLang="zh-CN" sz="1800" dirty="0"/>
          </a:p>
          <a:p>
            <a:pPr eaLnBrk="1" hangingPunct="1">
              <a:buFont typeface="Wingdings" panose="05000000000000000000" pitchFamily="2" charset="2"/>
              <a:buNone/>
            </a:pPr>
            <a:r>
              <a:rPr lang="en-US" altLang="zh-CN" sz="1800" dirty="0"/>
              <a:t>                            </a:t>
            </a:r>
            <a:r>
              <a:rPr lang="en-US" altLang="zh-CN" sz="1800" dirty="0">
                <a:solidFill>
                  <a:srgbClr val="0000FF"/>
                </a:solidFill>
              </a:rPr>
              <a:t>if</a:t>
            </a:r>
            <a:r>
              <a:rPr lang="en-US" altLang="zh-CN" sz="1800" dirty="0"/>
              <a:t> ( L != NULL ){</a:t>
            </a:r>
            <a:endParaRPr lang="en-US" altLang="zh-CN" sz="1800" dirty="0"/>
          </a:p>
          <a:p>
            <a:pPr eaLnBrk="1" hangingPunct="1">
              <a:buFont typeface="Wingdings" panose="05000000000000000000" pitchFamily="2" charset="2"/>
              <a:buNone/>
            </a:pPr>
            <a:r>
              <a:rPr lang="en-US" altLang="zh-CN" sz="1800" dirty="0"/>
              <a:t>                         </a:t>
            </a:r>
            <a:r>
              <a:rPr lang="zh-CN" altLang="en-US" sz="1800" dirty="0"/>
              <a:t>　     </a:t>
            </a:r>
            <a:r>
              <a:rPr lang="en-US" altLang="zh-CN" sz="1800" dirty="0" err="1">
                <a:solidFill>
                  <a:srgbClr val="0000FF"/>
                </a:solidFill>
              </a:rPr>
              <a:t>cout</a:t>
            </a:r>
            <a:r>
              <a:rPr lang="en-US" altLang="zh-CN" sz="1800" dirty="0"/>
              <a:t> &lt;&lt; L </a:t>
            </a:r>
            <a:r>
              <a:rPr lang="en-US" altLang="zh-CN" sz="1800" dirty="0">
                <a:cs typeface="Times New Roman" panose="02020603050405020304" pitchFamily="18" charset="0"/>
                <a:sym typeface="Wingdings" panose="05000000000000000000" pitchFamily="2" charset="2"/>
              </a:rPr>
              <a:t></a:t>
            </a:r>
            <a:r>
              <a:rPr lang="en-US" altLang="zh-CN" sz="1800" dirty="0"/>
              <a:t> data;</a:t>
            </a:r>
            <a:endParaRPr lang="en-US" altLang="zh-CN" sz="1800" dirty="0"/>
          </a:p>
          <a:p>
            <a:pPr eaLnBrk="1" hangingPunct="1">
              <a:buFont typeface="Wingdings" panose="05000000000000000000" pitchFamily="2" charset="2"/>
              <a:buNone/>
            </a:pPr>
            <a:r>
              <a:rPr lang="en-US" altLang="zh-CN" sz="1800" dirty="0"/>
              <a:t>                        </a:t>
            </a:r>
            <a:r>
              <a:rPr lang="zh-CN" altLang="en-US" sz="1800" dirty="0"/>
              <a:t>　      </a:t>
            </a:r>
            <a:r>
              <a:rPr lang="en-US" altLang="zh-CN" sz="1800" dirty="0"/>
              <a:t>Print( L </a:t>
            </a:r>
            <a:r>
              <a:rPr lang="en-US" altLang="zh-CN" sz="1800" dirty="0">
                <a:cs typeface="Times New Roman" panose="02020603050405020304" pitchFamily="18" charset="0"/>
                <a:sym typeface="Wingdings" panose="05000000000000000000" pitchFamily="2" charset="2"/>
              </a:rPr>
              <a:t></a:t>
            </a:r>
            <a:r>
              <a:rPr lang="en-US" altLang="zh-CN" sz="1800" dirty="0"/>
              <a:t> next );</a:t>
            </a:r>
            <a:endParaRPr lang="en-US" altLang="zh-CN" sz="1800" dirty="0"/>
          </a:p>
          <a:p>
            <a:pPr eaLnBrk="1" hangingPunct="1">
              <a:buFont typeface="Wingdings" panose="05000000000000000000" pitchFamily="2" charset="2"/>
              <a:buNone/>
            </a:pPr>
            <a:r>
              <a:rPr lang="en-US" altLang="zh-CN" sz="1800" dirty="0"/>
              <a:t>                       }</a:t>
            </a:r>
            <a:endParaRPr lang="en-US" altLang="zh-CN" sz="1800" dirty="0"/>
          </a:p>
          <a:p>
            <a:pPr eaLnBrk="1" hangingPunct="1">
              <a:buFont typeface="Wingdings" panose="05000000000000000000" pitchFamily="2" charset="2"/>
              <a:buNone/>
            </a:pPr>
            <a:r>
              <a:rPr lang="en-US" altLang="zh-CN" sz="1800" dirty="0"/>
              <a:t>                  }</a:t>
            </a:r>
            <a:endParaRPr lang="en-US" altLang="zh-CN" sz="1800" dirty="0"/>
          </a:p>
          <a:p>
            <a:pPr eaLnBrk="1" hangingPunct="1">
              <a:buFont typeface="Wingdings" panose="05000000000000000000" pitchFamily="2" charset="2"/>
              <a:buNone/>
            </a:pPr>
            <a:endParaRPr lang="en-US" altLang="zh-CN" sz="1800" b="1" dirty="0"/>
          </a:p>
          <a:p>
            <a:pPr eaLnBrk="1" hangingPunct="1">
              <a:buFont typeface="Wingdings" panose="05000000000000000000" pitchFamily="2" charset="2"/>
              <a:buNone/>
            </a:pPr>
            <a:r>
              <a:rPr lang="zh-CN" altLang="en-US" sz="1800" b="1" dirty="0"/>
              <a:t>（</a:t>
            </a:r>
            <a:r>
              <a:rPr lang="en-US" altLang="zh-CN" sz="1800" b="1" dirty="0"/>
              <a:t>2</a:t>
            </a:r>
            <a:r>
              <a:rPr lang="zh-CN" altLang="en-US" sz="1800" b="1" dirty="0"/>
              <a:t>）证明</a:t>
            </a:r>
            <a:r>
              <a:rPr lang="en-US" altLang="zh-CN" sz="1800" b="1" dirty="0"/>
              <a:t>Print(head)</a:t>
            </a:r>
            <a:r>
              <a:rPr lang="zh-CN" altLang="en-US" sz="1800" b="1" dirty="0"/>
              <a:t>能按反序输出链表</a:t>
            </a:r>
            <a:r>
              <a:rPr lang="en-US" altLang="zh-CN" sz="1800" b="1" dirty="0"/>
              <a:t>L</a:t>
            </a:r>
            <a:r>
              <a:rPr lang="zh-CN" altLang="en-US" sz="1800" b="1" dirty="0"/>
              <a:t>中所有结点值。</a:t>
            </a:r>
            <a:endParaRPr lang="zh-CN" altLang="en-US" sz="1800" b="1" dirty="0"/>
          </a:p>
          <a:p>
            <a:pPr eaLnBrk="1" hangingPunct="1">
              <a:buFont typeface="Wingdings" panose="05000000000000000000" pitchFamily="2" charset="2"/>
              <a:buNone/>
            </a:pPr>
            <a:r>
              <a:rPr lang="zh-CN" altLang="en-US" sz="1800" dirty="0"/>
              <a:t>                    </a:t>
            </a:r>
            <a:r>
              <a:rPr lang="en-US" altLang="zh-CN" sz="1800" dirty="0">
                <a:solidFill>
                  <a:srgbClr val="0000FF"/>
                </a:solidFill>
              </a:rPr>
              <a:t>void</a:t>
            </a:r>
            <a:r>
              <a:rPr lang="en-US" altLang="zh-CN" sz="1800" dirty="0"/>
              <a:t> Print( </a:t>
            </a:r>
            <a:r>
              <a:rPr lang="en-US" altLang="zh-CN" sz="1800" dirty="0">
                <a:solidFill>
                  <a:srgbClr val="0000FF"/>
                </a:solidFill>
              </a:rPr>
              <a:t>link</a:t>
            </a:r>
            <a:r>
              <a:rPr lang="en-US" altLang="zh-CN" sz="1800" dirty="0"/>
              <a:t> L ){</a:t>
            </a:r>
            <a:endParaRPr lang="en-US" altLang="zh-CN" sz="1800" dirty="0"/>
          </a:p>
          <a:p>
            <a:pPr eaLnBrk="1" hangingPunct="1">
              <a:buFont typeface="Wingdings" panose="05000000000000000000" pitchFamily="2" charset="2"/>
              <a:buNone/>
            </a:pPr>
            <a:r>
              <a:rPr lang="en-US" altLang="zh-CN" sz="1800" dirty="0"/>
              <a:t>                             </a:t>
            </a:r>
            <a:r>
              <a:rPr lang="en-US" altLang="zh-CN" sz="1800" dirty="0">
                <a:solidFill>
                  <a:srgbClr val="0000FF"/>
                </a:solidFill>
              </a:rPr>
              <a:t>if</a:t>
            </a:r>
            <a:r>
              <a:rPr lang="en-US" altLang="zh-CN" sz="1800" dirty="0"/>
              <a:t> ( L != NULL ){</a:t>
            </a:r>
            <a:endParaRPr lang="en-US" altLang="zh-CN" sz="1800" dirty="0"/>
          </a:p>
          <a:p>
            <a:pPr eaLnBrk="1" hangingPunct="1">
              <a:buFont typeface="Wingdings" panose="05000000000000000000" pitchFamily="2" charset="2"/>
              <a:buNone/>
            </a:pPr>
            <a:r>
              <a:rPr lang="en-US" altLang="zh-CN" sz="1800" dirty="0"/>
              <a:t>                       </a:t>
            </a:r>
            <a:r>
              <a:rPr lang="zh-CN" altLang="en-US" sz="1800" dirty="0"/>
              <a:t>　　    </a:t>
            </a:r>
            <a:r>
              <a:rPr lang="en-US" altLang="zh-CN" sz="1800" dirty="0"/>
              <a:t>Print ( L </a:t>
            </a:r>
            <a:r>
              <a:rPr lang="en-US" altLang="zh-CN" sz="1800" dirty="0">
                <a:cs typeface="Times New Roman" panose="02020603050405020304" pitchFamily="18" charset="0"/>
                <a:sym typeface="Wingdings" panose="05000000000000000000" pitchFamily="2" charset="2"/>
              </a:rPr>
              <a:t></a:t>
            </a:r>
            <a:r>
              <a:rPr lang="en-US" altLang="zh-CN" sz="1800" dirty="0"/>
              <a:t> next );</a:t>
            </a:r>
            <a:r>
              <a:rPr lang="zh-CN" altLang="en-US" sz="1800" dirty="0"/>
              <a:t>　</a:t>
            </a:r>
            <a:endParaRPr lang="zh-CN" altLang="en-US" sz="1800" dirty="0"/>
          </a:p>
          <a:p>
            <a:pPr eaLnBrk="1" hangingPunct="1">
              <a:buFont typeface="Wingdings" panose="05000000000000000000" pitchFamily="2" charset="2"/>
              <a:buNone/>
            </a:pPr>
            <a:r>
              <a:rPr lang="en-US" altLang="zh-CN" sz="1800" dirty="0"/>
              <a:t> </a:t>
            </a:r>
            <a:r>
              <a:rPr lang="zh-CN" altLang="en-US" sz="1800" dirty="0"/>
              <a:t>　　　　　　　      </a:t>
            </a:r>
            <a:r>
              <a:rPr lang="en-US" altLang="zh-CN" sz="1800" dirty="0" err="1">
                <a:solidFill>
                  <a:srgbClr val="0000FF"/>
                </a:solidFill>
              </a:rPr>
              <a:t>cout</a:t>
            </a:r>
            <a:r>
              <a:rPr lang="en-US" altLang="zh-CN" sz="1800" dirty="0"/>
              <a:t> &lt;&lt; L </a:t>
            </a:r>
            <a:r>
              <a:rPr lang="en-US" altLang="zh-CN" sz="1800" dirty="0">
                <a:cs typeface="Times New Roman" panose="02020603050405020304" pitchFamily="18" charset="0"/>
                <a:sym typeface="Wingdings" panose="05000000000000000000" pitchFamily="2" charset="2"/>
              </a:rPr>
              <a:t></a:t>
            </a:r>
            <a:r>
              <a:rPr lang="en-US" altLang="zh-CN" sz="1800" dirty="0"/>
              <a:t> data;</a:t>
            </a:r>
            <a:endParaRPr lang="en-US" altLang="zh-CN" sz="1800" dirty="0"/>
          </a:p>
          <a:p>
            <a:pPr eaLnBrk="1" hangingPunct="1">
              <a:spcBef>
                <a:spcPts val="0"/>
              </a:spcBef>
              <a:buFont typeface="Wingdings" panose="05000000000000000000" pitchFamily="2" charset="2"/>
              <a:buNone/>
            </a:pPr>
            <a:r>
              <a:rPr lang="zh-CN" altLang="en-US" sz="1800" dirty="0"/>
              <a:t>　　　　　　</a:t>
            </a:r>
            <a:r>
              <a:rPr lang="en-US" altLang="zh-CN" sz="1800" dirty="0"/>
              <a:t>}</a:t>
            </a:r>
            <a:endParaRPr lang="en-US" altLang="zh-CN" sz="1800" dirty="0"/>
          </a:p>
          <a:p>
            <a:pPr eaLnBrk="1" hangingPunct="1">
              <a:spcBef>
                <a:spcPts val="0"/>
              </a:spcBef>
              <a:buFont typeface="Wingdings" panose="05000000000000000000" pitchFamily="2" charset="2"/>
              <a:buNone/>
            </a:pPr>
            <a:r>
              <a:rPr lang="en-US" altLang="zh-CN" sz="1800" dirty="0"/>
              <a:t>                  }</a:t>
            </a:r>
            <a:endParaRPr lang="zh-CN" altLang="en-US" sz="1800" dirty="0"/>
          </a:p>
          <a:p>
            <a:pPr eaLnBrk="1" hangingPunct="1">
              <a:lnSpc>
                <a:spcPct val="80000"/>
              </a:lnSpc>
              <a:buFont typeface="Wingdings" panose="05000000000000000000" pitchFamily="2" charset="2"/>
              <a:buNone/>
            </a:pPr>
            <a:endParaRPr lang="zh-CN" altLang="en-US" sz="2000" dirty="0"/>
          </a:p>
        </p:txBody>
      </p:sp>
      <p:sp>
        <p:nvSpPr>
          <p:cNvPr id="74759" name="页脚占位符 1"/>
          <p:cNvSpPr>
            <a:spLocks noGrp="1" noChangeArrowheads="1"/>
          </p:cNvSpPr>
          <p:nvPr>
            <p:ph type="ftr"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楷体_GB2312" pitchFamily="49" charset="-122"/>
              </a:defRPr>
            </a:lvl1pPr>
            <a:lvl2pPr marL="742950" indent="-285750">
              <a:defRPr>
                <a:solidFill>
                  <a:schemeClr val="tx1"/>
                </a:solidFill>
                <a:latin typeface="Times New Roman" panose="02020603050405020304" pitchFamily="18" charset="0"/>
                <a:ea typeface="楷体_GB2312" pitchFamily="49" charset="-122"/>
              </a:defRPr>
            </a:lvl2pPr>
            <a:lvl3pPr marL="1143000" indent="-228600">
              <a:defRPr>
                <a:solidFill>
                  <a:schemeClr val="tx1"/>
                </a:solidFill>
                <a:latin typeface="Times New Roman" panose="02020603050405020304" pitchFamily="18" charset="0"/>
                <a:ea typeface="楷体_GB2312" pitchFamily="49" charset="-122"/>
              </a:defRPr>
            </a:lvl3pPr>
            <a:lvl4pPr marL="1600200" indent="-228600">
              <a:defRPr>
                <a:solidFill>
                  <a:schemeClr val="tx1"/>
                </a:solidFill>
                <a:latin typeface="Times New Roman" panose="02020603050405020304" pitchFamily="18" charset="0"/>
                <a:ea typeface="楷体_GB2312" pitchFamily="49" charset="-122"/>
              </a:defRPr>
            </a:lvl4pPr>
            <a:lvl5pPr marL="2057400" indent="-228600">
              <a:defRPr>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9pPr>
          </a:lstStyle>
          <a:p>
            <a:endParaRPr lang="zh-CN" altLang="en-US" dirty="0">
              <a:latin typeface="Verdana" panose="020B0604030504040204" pitchFamily="34" charset="0"/>
              <a:ea typeface="宋体" panose="02010600030101010101" pitchFamily="2" charset="-122"/>
            </a:endParaRPr>
          </a:p>
        </p:txBody>
      </p:sp>
      <p:grpSp>
        <p:nvGrpSpPr>
          <p:cNvPr id="26" name="组合 25"/>
          <p:cNvGrpSpPr/>
          <p:nvPr/>
        </p:nvGrpSpPr>
        <p:grpSpPr>
          <a:xfrm>
            <a:off x="539552" y="66293"/>
            <a:ext cx="1971209" cy="696929"/>
            <a:chOff x="973123" y="4906917"/>
            <a:chExt cx="1971209" cy="696929"/>
          </a:xfrm>
        </p:grpSpPr>
        <p:sp>
          <p:nvSpPr>
            <p:cNvPr id="27" name="矩形 26"/>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28" name="图片 27"/>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grpSp>
        <p:nvGrpSpPr>
          <p:cNvPr id="29" name="组合 28"/>
          <p:cNvGrpSpPr/>
          <p:nvPr/>
        </p:nvGrpSpPr>
        <p:grpSpPr>
          <a:xfrm>
            <a:off x="3491880" y="3554755"/>
            <a:ext cx="4951326" cy="554496"/>
            <a:chOff x="993263" y="760794"/>
            <a:chExt cx="5611503" cy="654051"/>
          </a:xfrm>
        </p:grpSpPr>
        <p:grpSp>
          <p:nvGrpSpPr>
            <p:cNvPr id="30" name="组合 29"/>
            <p:cNvGrpSpPr/>
            <p:nvPr/>
          </p:nvGrpSpPr>
          <p:grpSpPr>
            <a:xfrm>
              <a:off x="993263" y="760794"/>
              <a:ext cx="5426845" cy="654051"/>
              <a:chOff x="889152" y="2315318"/>
              <a:chExt cx="5426845" cy="654051"/>
            </a:xfrm>
          </p:grpSpPr>
          <p:grpSp>
            <p:nvGrpSpPr>
              <p:cNvPr id="32" name="组合 31"/>
              <p:cNvGrpSpPr/>
              <p:nvPr/>
            </p:nvGrpSpPr>
            <p:grpSpPr>
              <a:xfrm>
                <a:off x="1868851" y="2608965"/>
                <a:ext cx="672880" cy="355601"/>
                <a:chOff x="1386100" y="6209480"/>
                <a:chExt cx="672880" cy="355601"/>
              </a:xfrm>
            </p:grpSpPr>
            <p:sp>
              <p:nvSpPr>
                <p:cNvPr id="50" name="矩形 49"/>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51" name="矩形 21542"/>
                <p:cNvSpPr>
                  <a:spLocks noChangeArrowheads="1"/>
                </p:cNvSpPr>
                <p:nvPr/>
              </p:nvSpPr>
              <p:spPr bwMode="auto">
                <a:xfrm>
                  <a:off x="1386100" y="6209480"/>
                  <a:ext cx="522100"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49" charset="-122"/>
                  </a:endParaRPr>
                </a:p>
              </p:txBody>
            </p:sp>
          </p:grpSp>
          <p:grpSp>
            <p:nvGrpSpPr>
              <p:cNvPr id="33" name="组合 32"/>
              <p:cNvGrpSpPr/>
              <p:nvPr/>
            </p:nvGrpSpPr>
            <p:grpSpPr bwMode="auto">
              <a:xfrm>
                <a:off x="889152" y="2315318"/>
                <a:ext cx="5426845" cy="654051"/>
                <a:chOff x="-306" y="-3"/>
                <a:chExt cx="3304" cy="412"/>
              </a:xfrm>
            </p:grpSpPr>
            <p:sp>
              <p:nvSpPr>
                <p:cNvPr id="35" name="矩形 10253"/>
                <p:cNvSpPr>
                  <a:spLocks noChangeArrowheads="1"/>
                </p:cNvSpPr>
                <p:nvPr/>
              </p:nvSpPr>
              <p:spPr bwMode="auto">
                <a:xfrm>
                  <a:off x="-87"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36" name="组合 10254"/>
                <p:cNvGrpSpPr/>
                <p:nvPr/>
              </p:nvGrpSpPr>
              <p:grpSpPr bwMode="auto">
                <a:xfrm>
                  <a:off x="-306" y="-3"/>
                  <a:ext cx="3304" cy="411"/>
                  <a:chOff x="-306" y="-3"/>
                  <a:chExt cx="3304" cy="411"/>
                </a:xfrm>
              </p:grpSpPr>
              <p:sp>
                <p:nvSpPr>
                  <p:cNvPr id="37"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38" name="矩形 37"/>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39" name="矩形 38"/>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40" name="矩形 39"/>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41" name="矩形 40"/>
                  <p:cNvSpPr/>
                  <p:nvPr/>
                </p:nvSpPr>
                <p:spPr>
                  <a:xfrm>
                    <a:off x="268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42" name="矩形 41"/>
                  <p:cNvSpPr/>
                  <p:nvPr/>
                </p:nvSpPr>
                <p:spPr>
                  <a:xfrm>
                    <a:off x="2047"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43" name="矩形 42"/>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44"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45" name="矩形 10266"/>
                  <p:cNvSpPr>
                    <a:spLocks noChangeArrowheads="1"/>
                  </p:cNvSpPr>
                  <p:nvPr/>
                </p:nvSpPr>
                <p:spPr bwMode="auto">
                  <a:xfrm>
                    <a:off x="-306" y="-3"/>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dirty="0">
                        <a:solidFill>
                          <a:srgbClr val="FF0000"/>
                        </a:solidFill>
                        <a:ea typeface="楷体_GB2312" pitchFamily="49" charset="-122"/>
                      </a:rPr>
                      <a:t>head</a:t>
                    </a:r>
                    <a:endParaRPr lang="en-US" altLang="zh-CN" dirty="0">
                      <a:solidFill>
                        <a:srgbClr val="FF0000"/>
                      </a:solidFill>
                      <a:ea typeface="楷体_GB2312" pitchFamily="49" charset="-122"/>
                    </a:endParaRPr>
                  </a:p>
                </p:txBody>
              </p:sp>
              <p:sp>
                <p:nvSpPr>
                  <p:cNvPr id="46"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 name="直接连接符 10271"/>
                  <p:cNvSpPr>
                    <a:spLocks noChangeShapeType="1"/>
                  </p:cNvSpPr>
                  <p:nvPr/>
                </p:nvSpPr>
                <p:spPr bwMode="auto">
                  <a:xfrm>
                    <a:off x="2442"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直接连接符 10267"/>
                  <p:cNvSpPr>
                    <a:spLocks noChangeShapeType="1"/>
                  </p:cNvSpPr>
                  <p:nvPr/>
                </p:nvSpPr>
                <p:spPr bwMode="auto">
                  <a:xfrm>
                    <a:off x="655" y="272"/>
                    <a:ext cx="24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34" name="直接连接符 10267"/>
              <p:cNvSpPr>
                <a:spLocks noChangeShapeType="1"/>
              </p:cNvSpPr>
              <p:nvPr/>
            </p:nvSpPr>
            <p:spPr bwMode="auto">
              <a:xfrm>
                <a:off x="1467633" y="2751880"/>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1" name="矩形 30"/>
            <p:cNvSpPr/>
            <p:nvPr/>
          </p:nvSpPr>
          <p:spPr bwMode="auto">
            <a:xfrm>
              <a:off x="6419163" y="1051479"/>
              <a:ext cx="185603"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49" charset="-122"/>
                </a:rPr>
                <a:t> ∧</a:t>
              </a:r>
              <a:r>
                <a:rPr lang="en-US" altLang="x-none" sz="2000" noProof="1">
                  <a:latin typeface="Times New Roman" panose="02020603050405020304" pitchFamily="18" charset="0"/>
                  <a:ea typeface="楷体_GB2312" pitchFamily="49" charset="-122"/>
                </a:rPr>
                <a:t> </a:t>
              </a:r>
              <a:endParaRPr lang="en-US" altLang="x-none" sz="2000" noProof="1">
                <a:latin typeface="Times New Roman" panose="02020603050405020304" pitchFamily="18" charset="0"/>
                <a:ea typeface="楷体_GB2312" pitchFamily="49"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内容占位符 2"/>
          <p:cNvSpPr>
            <a:spLocks noGrp="1" noChangeArrowheads="1"/>
          </p:cNvSpPr>
          <p:nvPr>
            <p:ph idx="1"/>
          </p:nvPr>
        </p:nvSpPr>
        <p:spPr>
          <a:xfrm>
            <a:off x="414026" y="1030304"/>
            <a:ext cx="8229600" cy="4678451"/>
          </a:xfrm>
        </p:spPr>
        <p:txBody>
          <a:bodyPr/>
          <a:lstStyle/>
          <a:p>
            <a:pPr eaLnBrk="1" hangingPunct="1">
              <a:lnSpc>
                <a:spcPct val="80000"/>
              </a:lnSpc>
              <a:buFont typeface="Wingdings" panose="05000000000000000000" pitchFamily="2" charset="2"/>
              <a:buNone/>
            </a:pPr>
            <a:r>
              <a:rPr lang="en-US" altLang="zh-CN" sz="2400" b="1" dirty="0">
                <a:solidFill>
                  <a:srgbClr val="FF0000"/>
                </a:solidFill>
              </a:rPr>
              <a:t>6. </a:t>
            </a:r>
            <a:r>
              <a:rPr lang="zh-CN" altLang="en-US" sz="2400" b="1" dirty="0"/>
              <a:t>将下列函数转换成等价的非递归函数。   </a:t>
            </a:r>
            <a:endParaRPr lang="en-US" altLang="zh-CN" sz="2400" b="1" dirty="0">
              <a:solidFill>
                <a:srgbClr val="FF0000"/>
              </a:solidFill>
            </a:endParaRPr>
          </a:p>
          <a:p>
            <a:pPr eaLnBrk="1" hangingPunct="1">
              <a:buFont typeface="Wingdings" panose="05000000000000000000" pitchFamily="2" charset="2"/>
              <a:buNone/>
            </a:pPr>
            <a:r>
              <a:rPr lang="en-US" altLang="zh-CN" sz="1800" dirty="0"/>
              <a:t>     (1) void  </a:t>
            </a:r>
            <a:r>
              <a:rPr lang="en-US" altLang="zh-CN" sz="1800" dirty="0" err="1"/>
              <a:t>PrintRV</a:t>
            </a:r>
            <a:r>
              <a:rPr lang="en-US" altLang="zh-CN" sz="1800" dirty="0"/>
              <a:t>(</a:t>
            </a:r>
            <a:r>
              <a:rPr lang="en-US" altLang="zh-CN" sz="1800" dirty="0" err="1">
                <a:solidFill>
                  <a:srgbClr val="0000FF"/>
                </a:solidFill>
              </a:rPr>
              <a:t>int</a:t>
            </a:r>
            <a:r>
              <a:rPr lang="en-US" altLang="zh-CN" sz="1800" dirty="0"/>
              <a:t> N)</a:t>
            </a:r>
            <a:endParaRPr lang="en-US" altLang="zh-CN" sz="1800" dirty="0"/>
          </a:p>
          <a:p>
            <a:pPr eaLnBrk="1" hangingPunct="1">
              <a:buFont typeface="Wingdings" panose="05000000000000000000" pitchFamily="2" charset="2"/>
              <a:buNone/>
            </a:pPr>
            <a:r>
              <a:rPr lang="en-US" altLang="zh-CN" sz="1800" dirty="0"/>
              <a:t>         {</a:t>
            </a:r>
            <a:endParaRPr lang="en-US" altLang="zh-CN" sz="1800" dirty="0"/>
          </a:p>
          <a:p>
            <a:pPr eaLnBrk="1" hangingPunct="1">
              <a:buFont typeface="Wingdings" panose="05000000000000000000" pitchFamily="2" charset="2"/>
              <a:buNone/>
            </a:pPr>
            <a:r>
              <a:rPr lang="en-US" altLang="zh-CN" sz="1800" dirty="0"/>
              <a:t>               </a:t>
            </a:r>
            <a:r>
              <a:rPr lang="en-US" altLang="zh-CN" sz="1800" dirty="0">
                <a:solidFill>
                  <a:srgbClr val="0000FF"/>
                </a:solidFill>
              </a:rPr>
              <a:t>if </a:t>
            </a:r>
            <a:r>
              <a:rPr lang="en-US" altLang="zh-CN" sz="1800" dirty="0"/>
              <a:t>(N&gt;0)</a:t>
            </a:r>
            <a:endParaRPr lang="en-US" altLang="zh-CN" sz="1800" dirty="0"/>
          </a:p>
          <a:p>
            <a:pPr eaLnBrk="1" hangingPunct="1">
              <a:buFont typeface="Wingdings" panose="05000000000000000000" pitchFamily="2" charset="2"/>
              <a:buNone/>
            </a:pPr>
            <a:r>
              <a:rPr lang="en-US" altLang="zh-CN" sz="1800" dirty="0"/>
              <a:t>              {  </a:t>
            </a:r>
            <a:r>
              <a:rPr lang="en-US" altLang="zh-CN" sz="1800" dirty="0" err="1">
                <a:solidFill>
                  <a:srgbClr val="0000FF"/>
                </a:solidFill>
              </a:rPr>
              <a:t>cout</a:t>
            </a:r>
            <a:r>
              <a:rPr lang="en-US" altLang="zh-CN" sz="1800" dirty="0"/>
              <a:t>&lt;&lt;N % 10;</a:t>
            </a:r>
            <a:endParaRPr lang="en-US" altLang="zh-CN" sz="1800" dirty="0"/>
          </a:p>
          <a:p>
            <a:pPr eaLnBrk="1" hangingPunct="1">
              <a:buFont typeface="Wingdings" panose="05000000000000000000" pitchFamily="2" charset="2"/>
              <a:buNone/>
            </a:pPr>
            <a:r>
              <a:rPr lang="en-US" altLang="zh-CN" sz="1800" dirty="0"/>
              <a:t>                  </a:t>
            </a:r>
            <a:r>
              <a:rPr lang="en-US" altLang="zh-CN" sz="1800" dirty="0" err="1"/>
              <a:t>PrintRV</a:t>
            </a:r>
            <a:r>
              <a:rPr lang="en-US" altLang="zh-CN" sz="1800" dirty="0"/>
              <a:t>(N / 10);</a:t>
            </a:r>
            <a:endParaRPr lang="en-US" altLang="zh-CN" sz="1800" dirty="0"/>
          </a:p>
          <a:p>
            <a:pPr eaLnBrk="1" hangingPunct="1">
              <a:buFont typeface="Wingdings" panose="05000000000000000000" pitchFamily="2" charset="2"/>
              <a:buNone/>
            </a:pPr>
            <a:r>
              <a:rPr lang="en-US" altLang="zh-CN" sz="1800" dirty="0"/>
              <a:t>              } </a:t>
            </a:r>
            <a:endParaRPr lang="en-US" altLang="zh-CN" sz="1800" dirty="0"/>
          </a:p>
          <a:p>
            <a:pPr eaLnBrk="1" hangingPunct="1">
              <a:buFont typeface="Wingdings" panose="05000000000000000000" pitchFamily="2" charset="2"/>
              <a:buNone/>
            </a:pPr>
            <a:r>
              <a:rPr lang="en-US" altLang="zh-CN" sz="1800" dirty="0"/>
              <a:t>        } </a:t>
            </a:r>
            <a:endParaRPr lang="en-US" altLang="zh-CN" sz="1800" dirty="0"/>
          </a:p>
          <a:p>
            <a:pPr eaLnBrk="1" hangingPunct="1">
              <a:buFont typeface="Wingdings" panose="05000000000000000000" pitchFamily="2" charset="2"/>
              <a:buNone/>
            </a:pPr>
            <a:r>
              <a:rPr lang="en-US" altLang="zh-CN" sz="1800" dirty="0"/>
              <a:t>   </a:t>
            </a:r>
            <a:endParaRPr lang="en-US" altLang="zh-CN" sz="1800" dirty="0"/>
          </a:p>
          <a:p>
            <a:pPr eaLnBrk="1" hangingPunct="1">
              <a:buFont typeface="Wingdings" panose="05000000000000000000" pitchFamily="2" charset="2"/>
              <a:buNone/>
            </a:pPr>
            <a:r>
              <a:rPr lang="en-US" altLang="zh-CN" sz="1800" dirty="0"/>
              <a:t>    (2) </a:t>
            </a:r>
            <a:r>
              <a:rPr lang="en-US" altLang="zh-CN" sz="1800" dirty="0">
                <a:solidFill>
                  <a:srgbClr val="0000FF"/>
                </a:solidFill>
              </a:rPr>
              <a:t>void</a:t>
            </a:r>
            <a:r>
              <a:rPr lang="en-US" altLang="zh-CN" sz="1800" dirty="0"/>
              <a:t>  </a:t>
            </a:r>
            <a:r>
              <a:rPr lang="en-US" altLang="zh-CN" sz="1800" dirty="0" err="1"/>
              <a:t>PrintV</a:t>
            </a:r>
            <a:r>
              <a:rPr lang="en-US" altLang="zh-CN" sz="1800" dirty="0"/>
              <a:t>(</a:t>
            </a:r>
            <a:r>
              <a:rPr lang="en-US" altLang="zh-CN" sz="1800" dirty="0" err="1">
                <a:solidFill>
                  <a:srgbClr val="0000FF"/>
                </a:solidFill>
              </a:rPr>
              <a:t>int</a:t>
            </a:r>
            <a:r>
              <a:rPr lang="en-US" altLang="zh-CN" sz="1800" dirty="0">
                <a:solidFill>
                  <a:srgbClr val="0000FF"/>
                </a:solidFill>
              </a:rPr>
              <a:t> </a:t>
            </a:r>
            <a:r>
              <a:rPr lang="en-US" altLang="zh-CN" sz="1800" dirty="0"/>
              <a:t>N)</a:t>
            </a:r>
            <a:endParaRPr lang="en-US" altLang="zh-CN" sz="1800" dirty="0"/>
          </a:p>
          <a:p>
            <a:pPr eaLnBrk="1" hangingPunct="1">
              <a:buFont typeface="Wingdings" panose="05000000000000000000" pitchFamily="2" charset="2"/>
              <a:buNone/>
            </a:pPr>
            <a:r>
              <a:rPr lang="en-US" altLang="zh-CN" sz="1800" dirty="0"/>
              <a:t>         {</a:t>
            </a:r>
            <a:endParaRPr lang="en-US" altLang="zh-CN" sz="1800" dirty="0"/>
          </a:p>
          <a:p>
            <a:pPr eaLnBrk="1" hangingPunct="1">
              <a:buFont typeface="Wingdings" panose="05000000000000000000" pitchFamily="2" charset="2"/>
              <a:buNone/>
            </a:pPr>
            <a:r>
              <a:rPr lang="en-US" altLang="zh-CN" sz="1800" dirty="0"/>
              <a:t>               </a:t>
            </a:r>
            <a:r>
              <a:rPr lang="en-US" altLang="zh-CN" sz="1800" dirty="0">
                <a:solidFill>
                  <a:srgbClr val="0000FF"/>
                </a:solidFill>
              </a:rPr>
              <a:t>if</a:t>
            </a:r>
            <a:r>
              <a:rPr lang="en-US" altLang="zh-CN" sz="1800" dirty="0"/>
              <a:t> (N&gt;0)</a:t>
            </a:r>
            <a:endParaRPr lang="en-US" altLang="zh-CN" sz="1800" dirty="0"/>
          </a:p>
          <a:p>
            <a:pPr eaLnBrk="1" hangingPunct="1">
              <a:buFont typeface="Wingdings" panose="05000000000000000000" pitchFamily="2" charset="2"/>
              <a:buNone/>
            </a:pPr>
            <a:r>
              <a:rPr lang="en-US" altLang="zh-CN" sz="1800" dirty="0"/>
              <a:t>              {  </a:t>
            </a:r>
            <a:r>
              <a:rPr lang="en-US" altLang="zh-CN" sz="1800" dirty="0" err="1"/>
              <a:t>PrintV</a:t>
            </a:r>
            <a:r>
              <a:rPr lang="en-US" altLang="zh-CN" sz="1800" dirty="0"/>
              <a:t>(N / 10);</a:t>
            </a:r>
            <a:endParaRPr lang="en-US" altLang="zh-CN" sz="1800" dirty="0"/>
          </a:p>
          <a:p>
            <a:pPr eaLnBrk="1" hangingPunct="1">
              <a:buFont typeface="Wingdings" panose="05000000000000000000" pitchFamily="2" charset="2"/>
              <a:buNone/>
            </a:pPr>
            <a:r>
              <a:rPr lang="en-US" altLang="zh-CN" sz="1800" dirty="0"/>
              <a:t>                   </a:t>
            </a:r>
            <a:r>
              <a:rPr lang="en-US" altLang="zh-CN" sz="1800" dirty="0" err="1">
                <a:solidFill>
                  <a:srgbClr val="0000FF"/>
                </a:solidFill>
              </a:rPr>
              <a:t>cout</a:t>
            </a:r>
            <a:r>
              <a:rPr lang="en-US" altLang="zh-CN" sz="1800" dirty="0"/>
              <a:t>&lt;&lt;N % 10;                  </a:t>
            </a:r>
            <a:endParaRPr lang="en-US" altLang="zh-CN" sz="1800" dirty="0"/>
          </a:p>
          <a:p>
            <a:pPr eaLnBrk="1" hangingPunct="1">
              <a:buFont typeface="Wingdings" panose="05000000000000000000" pitchFamily="2" charset="2"/>
              <a:buNone/>
            </a:pPr>
            <a:r>
              <a:rPr lang="en-US" altLang="zh-CN" sz="1800" dirty="0"/>
              <a:t>              } </a:t>
            </a:r>
            <a:endParaRPr lang="en-US" altLang="zh-CN" sz="1800" dirty="0"/>
          </a:p>
          <a:p>
            <a:pPr eaLnBrk="1" hangingPunct="1">
              <a:buFont typeface="Wingdings" panose="05000000000000000000" pitchFamily="2" charset="2"/>
              <a:buNone/>
            </a:pPr>
            <a:r>
              <a:rPr lang="en-US" altLang="zh-CN" sz="1800" dirty="0"/>
              <a:t>         } </a:t>
            </a:r>
            <a:endParaRPr lang="en-US" altLang="zh-CN" sz="1800" dirty="0"/>
          </a:p>
          <a:p>
            <a:pPr eaLnBrk="1" hangingPunct="1">
              <a:lnSpc>
                <a:spcPct val="80000"/>
              </a:lnSpc>
              <a:buFont typeface="Wingdings" panose="05000000000000000000" pitchFamily="2" charset="2"/>
              <a:buNone/>
            </a:pPr>
            <a:r>
              <a:rPr lang="en-US" altLang="zh-CN" sz="1800" dirty="0"/>
              <a:t>  </a:t>
            </a:r>
            <a:endParaRPr lang="en-US" altLang="zh-CN" sz="1800" dirty="0"/>
          </a:p>
        </p:txBody>
      </p:sp>
      <p:sp>
        <p:nvSpPr>
          <p:cNvPr id="75780" name="文本框 3"/>
          <p:cNvSpPr txBox="1">
            <a:spLocks noChangeArrowheads="1"/>
          </p:cNvSpPr>
          <p:nvPr/>
        </p:nvSpPr>
        <p:spPr bwMode="auto">
          <a:xfrm>
            <a:off x="4565650" y="1476375"/>
            <a:ext cx="3590925"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楷体_GB2312" pitchFamily="49" charset="-122"/>
              </a:defRPr>
            </a:lvl1pPr>
            <a:lvl2pPr marL="742950" indent="-285750">
              <a:defRPr>
                <a:solidFill>
                  <a:schemeClr val="tx1"/>
                </a:solidFill>
                <a:latin typeface="Times New Roman" panose="02020603050405020304" pitchFamily="18" charset="0"/>
                <a:ea typeface="楷体_GB2312" pitchFamily="49" charset="-122"/>
              </a:defRPr>
            </a:lvl2pPr>
            <a:lvl3pPr marL="1143000" indent="-228600">
              <a:defRPr>
                <a:solidFill>
                  <a:schemeClr val="tx1"/>
                </a:solidFill>
                <a:latin typeface="Times New Roman" panose="02020603050405020304" pitchFamily="18" charset="0"/>
                <a:ea typeface="楷体_GB2312" pitchFamily="49" charset="-122"/>
              </a:defRPr>
            </a:lvl3pPr>
            <a:lvl4pPr marL="1600200" indent="-228600">
              <a:defRPr>
                <a:solidFill>
                  <a:schemeClr val="tx1"/>
                </a:solidFill>
                <a:latin typeface="Times New Roman" panose="02020603050405020304" pitchFamily="18" charset="0"/>
                <a:ea typeface="楷体_GB2312" pitchFamily="49" charset="-122"/>
              </a:defRPr>
            </a:lvl4pPr>
            <a:lvl5pPr marL="2057400" indent="-228600">
              <a:defRPr>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9pPr>
          </a:lstStyle>
          <a:p>
            <a:pPr eaLnBrk="1" hangingPunct="1"/>
            <a:endParaRPr lang="en-US" altLang="zh-CN" dirty="0"/>
          </a:p>
          <a:p>
            <a:pPr eaLnBrk="1" hangingPunct="1"/>
            <a:r>
              <a:rPr lang="en-US" altLang="zh-CN" dirty="0"/>
              <a:t>(3)   </a:t>
            </a:r>
            <a:r>
              <a:rPr lang="en-US" altLang="zh-CN" dirty="0">
                <a:solidFill>
                  <a:srgbClr val="0000FF"/>
                </a:solidFill>
                <a:ea typeface="仿宋" panose="02010609060101010101" pitchFamily="49" charset="-122"/>
              </a:rPr>
              <a:t>void</a:t>
            </a:r>
            <a:r>
              <a:rPr lang="en-US" altLang="zh-CN" dirty="0"/>
              <a:t>  P(</a:t>
            </a:r>
            <a:r>
              <a:rPr lang="en-US" altLang="zh-CN" dirty="0" err="1">
                <a:solidFill>
                  <a:srgbClr val="0000FF"/>
                </a:solidFill>
                <a:ea typeface="仿宋" panose="02010609060101010101" pitchFamily="49" charset="-122"/>
              </a:rPr>
              <a:t>int</a:t>
            </a:r>
            <a:r>
              <a:rPr lang="en-US" altLang="zh-CN" dirty="0">
                <a:solidFill>
                  <a:srgbClr val="0000FF"/>
                </a:solidFill>
                <a:ea typeface="仿宋" panose="02010609060101010101" pitchFamily="49" charset="-122"/>
              </a:rPr>
              <a:t> </a:t>
            </a:r>
            <a:r>
              <a:rPr lang="en-US" altLang="zh-CN" dirty="0"/>
              <a:t>W)      </a:t>
            </a:r>
            <a:r>
              <a:rPr lang="en-US" altLang="zh-CN" b="1" dirty="0">
                <a:solidFill>
                  <a:srgbClr val="FF0000"/>
                </a:solidFill>
              </a:rPr>
              <a:t> </a:t>
            </a:r>
            <a:endParaRPr lang="en-US" altLang="zh-CN" dirty="0"/>
          </a:p>
          <a:p>
            <a:pPr eaLnBrk="1" hangingPunct="1"/>
            <a:r>
              <a:rPr lang="en-US" altLang="zh-CN" dirty="0"/>
              <a:t>        { </a:t>
            </a:r>
            <a:endParaRPr lang="en-US" altLang="zh-CN" dirty="0"/>
          </a:p>
          <a:p>
            <a:pPr eaLnBrk="1" hangingPunct="1"/>
            <a:r>
              <a:rPr lang="en-US" altLang="zh-CN" dirty="0"/>
              <a:t>             </a:t>
            </a:r>
            <a:r>
              <a:rPr lang="en-US" altLang="zh-CN" dirty="0">
                <a:solidFill>
                  <a:srgbClr val="0000FF"/>
                </a:solidFill>
                <a:ea typeface="仿宋" panose="02010609060101010101" pitchFamily="49" charset="-122"/>
              </a:rPr>
              <a:t>if</a:t>
            </a:r>
            <a:r>
              <a:rPr lang="en-US" altLang="zh-CN" dirty="0"/>
              <a:t> (W&gt;0)</a:t>
            </a:r>
            <a:endParaRPr lang="en-US" altLang="zh-CN" dirty="0"/>
          </a:p>
          <a:p>
            <a:pPr eaLnBrk="1" hangingPunct="1"/>
            <a:r>
              <a:rPr lang="en-US" altLang="zh-CN" dirty="0"/>
              <a:t>             {    </a:t>
            </a:r>
            <a:r>
              <a:rPr lang="en-US" altLang="zh-CN" dirty="0" err="1">
                <a:solidFill>
                  <a:srgbClr val="0000FF"/>
                </a:solidFill>
                <a:ea typeface="仿宋" panose="02010609060101010101" pitchFamily="49" charset="-122"/>
              </a:rPr>
              <a:t>cout</a:t>
            </a:r>
            <a:r>
              <a:rPr lang="en-US" altLang="zh-CN" dirty="0"/>
              <a:t>&lt;&lt;W;</a:t>
            </a:r>
            <a:endParaRPr lang="en-US" altLang="zh-CN" dirty="0"/>
          </a:p>
          <a:p>
            <a:pPr eaLnBrk="1" hangingPunct="1"/>
            <a:r>
              <a:rPr lang="en-US" altLang="zh-CN" dirty="0"/>
              <a:t>                  P(W-1);</a:t>
            </a:r>
            <a:endParaRPr lang="en-US" altLang="zh-CN" dirty="0"/>
          </a:p>
          <a:p>
            <a:pPr eaLnBrk="1" hangingPunct="1"/>
            <a:r>
              <a:rPr lang="en-US" altLang="zh-CN" dirty="0"/>
              <a:t>                  </a:t>
            </a:r>
            <a:r>
              <a:rPr lang="en-US" altLang="zh-CN" dirty="0" err="1">
                <a:solidFill>
                  <a:srgbClr val="0000FF"/>
                </a:solidFill>
                <a:ea typeface="仿宋" panose="02010609060101010101" pitchFamily="49" charset="-122"/>
              </a:rPr>
              <a:t>cout</a:t>
            </a:r>
            <a:r>
              <a:rPr lang="en-US" altLang="zh-CN" dirty="0"/>
              <a:t>&lt;&lt;W;</a:t>
            </a:r>
            <a:endParaRPr lang="en-US" altLang="zh-CN" dirty="0"/>
          </a:p>
          <a:p>
            <a:pPr eaLnBrk="1" hangingPunct="1"/>
            <a:r>
              <a:rPr lang="en-US" altLang="zh-CN" dirty="0"/>
              <a:t>             } </a:t>
            </a:r>
            <a:endParaRPr lang="en-US" altLang="zh-CN" dirty="0"/>
          </a:p>
          <a:p>
            <a:pPr eaLnBrk="1" hangingPunct="1"/>
            <a:r>
              <a:rPr lang="en-US" altLang="zh-CN" dirty="0"/>
              <a:t>        }</a:t>
            </a:r>
            <a:endParaRPr lang="en-US" altLang="zh-CN" dirty="0"/>
          </a:p>
          <a:p>
            <a:pPr eaLnBrk="1" hangingPunct="1"/>
            <a:endParaRPr lang="en-US" altLang="zh-CN" dirty="0"/>
          </a:p>
          <a:p>
            <a:pPr eaLnBrk="1" hangingPunct="1"/>
            <a:r>
              <a:rPr lang="en-US" altLang="zh-CN" dirty="0"/>
              <a:t>(4)   </a:t>
            </a:r>
            <a:r>
              <a:rPr lang="en-US" altLang="zh-CN" dirty="0">
                <a:solidFill>
                  <a:srgbClr val="0000FF"/>
                </a:solidFill>
                <a:ea typeface="仿宋" panose="02010609060101010101" pitchFamily="49" charset="-122"/>
              </a:rPr>
              <a:t>void </a:t>
            </a:r>
            <a:r>
              <a:rPr lang="en-US" altLang="zh-CN" dirty="0"/>
              <a:t> P(</a:t>
            </a:r>
            <a:r>
              <a:rPr lang="en-US" altLang="zh-CN" dirty="0" err="1">
                <a:solidFill>
                  <a:srgbClr val="0000FF"/>
                </a:solidFill>
                <a:ea typeface="仿宋" panose="02010609060101010101" pitchFamily="49" charset="-122"/>
              </a:rPr>
              <a:t>int</a:t>
            </a:r>
            <a:r>
              <a:rPr lang="en-US" altLang="zh-CN" dirty="0"/>
              <a:t> W)      </a:t>
            </a:r>
            <a:r>
              <a:rPr lang="en-US" altLang="zh-CN" b="1" dirty="0">
                <a:solidFill>
                  <a:srgbClr val="FF0000"/>
                </a:solidFill>
              </a:rPr>
              <a:t> </a:t>
            </a:r>
            <a:endParaRPr lang="en-US" altLang="zh-CN" dirty="0"/>
          </a:p>
          <a:p>
            <a:pPr eaLnBrk="1" hangingPunct="1"/>
            <a:r>
              <a:rPr lang="en-US" altLang="zh-CN" dirty="0"/>
              <a:t>        {</a:t>
            </a:r>
            <a:endParaRPr lang="en-US" altLang="zh-CN" dirty="0"/>
          </a:p>
          <a:p>
            <a:pPr eaLnBrk="1" hangingPunct="1"/>
            <a:r>
              <a:rPr lang="en-US" altLang="zh-CN" dirty="0"/>
              <a:t>              </a:t>
            </a:r>
            <a:r>
              <a:rPr lang="en-US" altLang="zh-CN" dirty="0">
                <a:solidFill>
                  <a:srgbClr val="0000FF"/>
                </a:solidFill>
                <a:ea typeface="仿宋" panose="02010609060101010101" pitchFamily="49" charset="-122"/>
              </a:rPr>
              <a:t>if</a:t>
            </a:r>
            <a:r>
              <a:rPr lang="en-US" altLang="zh-CN" dirty="0"/>
              <a:t> (W&gt;0)</a:t>
            </a:r>
            <a:endParaRPr lang="en-US" altLang="zh-CN" dirty="0"/>
          </a:p>
          <a:p>
            <a:pPr eaLnBrk="1" hangingPunct="1"/>
            <a:r>
              <a:rPr lang="en-US" altLang="zh-CN" dirty="0"/>
              <a:t>              {   P(W-1);</a:t>
            </a:r>
            <a:endParaRPr lang="en-US" altLang="zh-CN" dirty="0"/>
          </a:p>
          <a:p>
            <a:pPr eaLnBrk="1" hangingPunct="1"/>
            <a:r>
              <a:rPr lang="en-US" altLang="zh-CN" dirty="0"/>
              <a:t>                   P(W-1);</a:t>
            </a:r>
            <a:endParaRPr lang="en-US" altLang="zh-CN" dirty="0"/>
          </a:p>
          <a:p>
            <a:pPr eaLnBrk="1" hangingPunct="1"/>
            <a:r>
              <a:rPr lang="en-US" altLang="zh-CN" dirty="0"/>
              <a:t>                   </a:t>
            </a:r>
            <a:r>
              <a:rPr lang="en-US" altLang="zh-CN" dirty="0" err="1">
                <a:solidFill>
                  <a:srgbClr val="0000FF"/>
                </a:solidFill>
                <a:ea typeface="仿宋" panose="02010609060101010101" pitchFamily="49" charset="-122"/>
              </a:rPr>
              <a:t>cout</a:t>
            </a:r>
            <a:r>
              <a:rPr lang="en-US" altLang="zh-CN" dirty="0"/>
              <a:t>&lt;&lt;W;</a:t>
            </a:r>
            <a:endParaRPr lang="en-US" altLang="zh-CN" dirty="0"/>
          </a:p>
          <a:p>
            <a:pPr eaLnBrk="1" hangingPunct="1"/>
            <a:r>
              <a:rPr lang="en-US" altLang="zh-CN" dirty="0"/>
              <a:t>               } </a:t>
            </a:r>
            <a:endParaRPr lang="en-US" altLang="zh-CN" dirty="0"/>
          </a:p>
          <a:p>
            <a:pPr eaLnBrk="1" hangingPunct="1"/>
            <a:r>
              <a:rPr lang="en-US" altLang="zh-CN" dirty="0"/>
              <a:t>        } </a:t>
            </a:r>
            <a:endParaRPr lang="zh-CN" altLang="en-US" dirty="0"/>
          </a:p>
        </p:txBody>
      </p:sp>
      <p:sp>
        <p:nvSpPr>
          <p:cNvPr id="75781" name="Rectangle 7"/>
          <p:cNvSpPr>
            <a:spLocks noChangeArrowheads="1"/>
          </p:cNvSpPr>
          <p:nvPr/>
        </p:nvSpPr>
        <p:spPr bwMode="auto">
          <a:xfrm>
            <a:off x="0" y="333375"/>
            <a:ext cx="847725"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403225">
              <a:defRPr>
                <a:solidFill>
                  <a:schemeClr val="tx1"/>
                </a:solidFill>
                <a:latin typeface="Times New Roman" panose="02020603050405020304" pitchFamily="18" charset="0"/>
                <a:ea typeface="楷体_GB2312" pitchFamily="49" charset="-122"/>
              </a:defRPr>
            </a:lvl1pPr>
            <a:lvl2pPr marL="742950" indent="-285750">
              <a:defRPr>
                <a:solidFill>
                  <a:schemeClr val="tx1"/>
                </a:solidFill>
                <a:latin typeface="Times New Roman" panose="02020603050405020304" pitchFamily="18" charset="0"/>
                <a:ea typeface="楷体_GB2312" pitchFamily="49" charset="-122"/>
              </a:defRPr>
            </a:lvl2pPr>
            <a:lvl3pPr marL="1143000" indent="-228600">
              <a:defRPr>
                <a:solidFill>
                  <a:schemeClr val="tx1"/>
                </a:solidFill>
                <a:latin typeface="Times New Roman" panose="02020603050405020304" pitchFamily="18" charset="0"/>
                <a:ea typeface="楷体_GB2312" pitchFamily="49" charset="-122"/>
              </a:defRPr>
            </a:lvl3pPr>
            <a:lvl4pPr marL="1600200" indent="-228600">
              <a:defRPr>
                <a:solidFill>
                  <a:schemeClr val="tx1"/>
                </a:solidFill>
                <a:latin typeface="Times New Roman" panose="02020603050405020304" pitchFamily="18" charset="0"/>
                <a:ea typeface="楷体_GB2312" pitchFamily="49" charset="-122"/>
              </a:defRPr>
            </a:lvl4pPr>
            <a:lvl5pPr marL="2057400" indent="-228600">
              <a:defRPr>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9pPr>
          </a:lstStyle>
          <a:p>
            <a:r>
              <a:rPr lang="en-US" altLang="zh-CN" sz="1000" dirty="0">
                <a:latin typeface="宋体" panose="02010600030101010101" pitchFamily="2" charset="-122"/>
                <a:cs typeface="Times New Roman" panose="02020603050405020304" pitchFamily="18" charset="0"/>
              </a:rPr>
              <a:t>    </a:t>
            </a:r>
            <a:endParaRPr lang="en-US" altLang="zh-CN" dirty="0"/>
          </a:p>
        </p:txBody>
      </p:sp>
      <p:sp>
        <p:nvSpPr>
          <p:cNvPr id="75782" name="页脚占位符 1"/>
          <p:cNvSpPr>
            <a:spLocks noGrp="1" noChangeArrowheads="1"/>
          </p:cNvSpPr>
          <p:nvPr>
            <p:ph type="ftr"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楷体_GB2312" pitchFamily="49" charset="-122"/>
              </a:defRPr>
            </a:lvl1pPr>
            <a:lvl2pPr marL="742950" indent="-285750">
              <a:defRPr>
                <a:solidFill>
                  <a:schemeClr val="tx1"/>
                </a:solidFill>
                <a:latin typeface="Times New Roman" panose="02020603050405020304" pitchFamily="18" charset="0"/>
                <a:ea typeface="楷体_GB2312" pitchFamily="49" charset="-122"/>
              </a:defRPr>
            </a:lvl2pPr>
            <a:lvl3pPr marL="1143000" indent="-228600">
              <a:defRPr>
                <a:solidFill>
                  <a:schemeClr val="tx1"/>
                </a:solidFill>
                <a:latin typeface="Times New Roman" panose="02020603050405020304" pitchFamily="18" charset="0"/>
                <a:ea typeface="楷体_GB2312" pitchFamily="49" charset="-122"/>
              </a:defRPr>
            </a:lvl3pPr>
            <a:lvl4pPr marL="1600200" indent="-228600">
              <a:defRPr>
                <a:solidFill>
                  <a:schemeClr val="tx1"/>
                </a:solidFill>
                <a:latin typeface="Times New Roman" panose="02020603050405020304" pitchFamily="18" charset="0"/>
                <a:ea typeface="楷体_GB2312" pitchFamily="49" charset="-122"/>
              </a:defRPr>
            </a:lvl4pPr>
            <a:lvl5pPr marL="2057400" indent="-228600">
              <a:defRPr>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9pPr>
          </a:lstStyle>
          <a:p>
            <a:endParaRPr lang="zh-CN" altLang="en-US">
              <a:latin typeface="Verdana" panose="020B0604030504040204" pitchFamily="34" charset="0"/>
              <a:ea typeface="宋体" panose="02010600030101010101" pitchFamily="2" charset="-122"/>
            </a:endParaRPr>
          </a:p>
        </p:txBody>
      </p:sp>
      <p:grpSp>
        <p:nvGrpSpPr>
          <p:cNvPr id="9" name="组合 8"/>
          <p:cNvGrpSpPr/>
          <p:nvPr/>
        </p:nvGrpSpPr>
        <p:grpSpPr>
          <a:xfrm>
            <a:off x="539552" y="66293"/>
            <a:ext cx="1971209" cy="696929"/>
            <a:chOff x="973123" y="4906917"/>
            <a:chExt cx="1971209" cy="696929"/>
          </a:xfrm>
        </p:grpSpPr>
        <p:sp>
          <p:nvSpPr>
            <p:cNvPr id="10" name="矩形 9"/>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11" name="图片 10"/>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内容占位符 2"/>
          <p:cNvSpPr>
            <a:spLocks noGrp="1" noChangeArrowheads="1"/>
          </p:cNvSpPr>
          <p:nvPr>
            <p:ph idx="1"/>
          </p:nvPr>
        </p:nvSpPr>
        <p:spPr>
          <a:xfrm>
            <a:off x="323528" y="980728"/>
            <a:ext cx="8424936" cy="5038725"/>
          </a:xfrm>
        </p:spPr>
        <p:txBody>
          <a:bodyPr/>
          <a:lstStyle/>
          <a:p>
            <a:pPr marL="0" indent="0">
              <a:lnSpc>
                <a:spcPct val="150000"/>
              </a:lnSpc>
              <a:spcBef>
                <a:spcPct val="0"/>
              </a:spcBef>
              <a:buClrTx/>
              <a:buFont typeface="Wingdings" panose="05000000000000000000" pitchFamily="2" charset="2"/>
              <a:buNone/>
              <a:defRPr/>
            </a:pPr>
            <a:r>
              <a:rPr lang="en-US" altLang="zh-CN" sz="1800" b="1" dirty="0">
                <a:solidFill>
                  <a:srgbClr val="FF0000"/>
                </a:solidFill>
              </a:rPr>
              <a:t>7. </a:t>
            </a:r>
            <a:r>
              <a:rPr lang="zh-CN" altLang="en-US" sz="1800" b="1" dirty="0">
                <a:cs typeface="Times New Roman" panose="02020603050405020304" pitchFamily="18" charset="0"/>
              </a:rPr>
              <a:t>已知</a:t>
            </a:r>
            <a:r>
              <a:rPr lang="en-US" altLang="zh-CN" sz="1800" b="1" dirty="0">
                <a:cs typeface="Times New Roman" panose="02020603050405020304" pitchFamily="18" charset="0"/>
              </a:rPr>
              <a:t>ACKMANN</a:t>
            </a:r>
            <a:r>
              <a:rPr lang="zh-CN" altLang="en-US" sz="1800" b="1" dirty="0">
                <a:cs typeface="Times New Roman" panose="02020603050405020304" pitchFamily="18" charset="0"/>
              </a:rPr>
              <a:t>函数定义如下</a:t>
            </a:r>
            <a:r>
              <a:rPr lang="en-US" altLang="zh-CN" sz="1800" b="1" dirty="0">
                <a:cs typeface="Times New Roman" panose="02020603050405020304" pitchFamily="18" charset="0"/>
              </a:rPr>
              <a:t>, </a:t>
            </a:r>
            <a:r>
              <a:rPr lang="zh-CN" altLang="en-US" sz="1800" b="1" dirty="0">
                <a:cs typeface="Times New Roman" panose="02020603050405020304" pitchFamily="18" charset="0"/>
              </a:rPr>
              <a:t>试分别编写出求解该函数的递归过程和非递</a:t>
            </a:r>
            <a:endParaRPr lang="en-US" altLang="zh-CN" sz="1800" b="1" dirty="0">
              <a:cs typeface="Times New Roman" panose="02020603050405020304" pitchFamily="18" charset="0"/>
            </a:endParaRPr>
          </a:p>
          <a:p>
            <a:pPr marL="0" indent="0">
              <a:lnSpc>
                <a:spcPct val="150000"/>
              </a:lnSpc>
              <a:spcBef>
                <a:spcPct val="0"/>
              </a:spcBef>
              <a:buClrTx/>
              <a:buFont typeface="Wingdings" panose="05000000000000000000" pitchFamily="2" charset="2"/>
              <a:buNone/>
              <a:defRPr/>
            </a:pPr>
            <a:r>
              <a:rPr lang="en-US" altLang="zh-CN" sz="1800" b="1" dirty="0">
                <a:cs typeface="Times New Roman" panose="02020603050405020304" pitchFamily="18" charset="0"/>
              </a:rPr>
              <a:t>    </a:t>
            </a:r>
            <a:r>
              <a:rPr lang="zh-CN" altLang="en-US" sz="1800" b="1" dirty="0">
                <a:cs typeface="Times New Roman" panose="02020603050405020304" pitchFamily="18" charset="0"/>
              </a:rPr>
              <a:t>归函数。</a:t>
            </a:r>
            <a:endParaRPr lang="en-US" altLang="zh-CN" sz="1800" b="1" dirty="0"/>
          </a:p>
          <a:p>
            <a:pPr marL="0" indent="403225">
              <a:lnSpc>
                <a:spcPct val="150000"/>
              </a:lnSpc>
              <a:spcBef>
                <a:spcPct val="0"/>
              </a:spcBef>
              <a:buClrTx/>
              <a:buFont typeface="Wingdings" panose="05000000000000000000" pitchFamily="2" charset="2"/>
              <a:buNone/>
              <a:defRPr/>
            </a:pPr>
            <a:r>
              <a:rPr lang="en-US" altLang="zh-CN" sz="1800" b="1" dirty="0"/>
              <a:t>    </a:t>
            </a:r>
            <a:r>
              <a:rPr lang="en-US" altLang="zh-CN" sz="1800" b="1" dirty="0" err="1"/>
              <a:t>Ack</a:t>
            </a:r>
            <a:r>
              <a:rPr lang="en-US" altLang="zh-CN" sz="1800" b="1" dirty="0"/>
              <a:t>(</a:t>
            </a:r>
            <a:r>
              <a:rPr lang="en-US" altLang="zh-CN" sz="1800" b="1" i="1" dirty="0"/>
              <a:t>m</a:t>
            </a:r>
            <a:r>
              <a:rPr lang="en-US" altLang="zh-CN" sz="1800" b="1" dirty="0"/>
              <a:t>, </a:t>
            </a:r>
            <a:r>
              <a:rPr lang="en-US" altLang="zh-CN" sz="1800" b="1" i="1" dirty="0"/>
              <a:t>n</a:t>
            </a:r>
            <a:r>
              <a:rPr lang="en-US" altLang="zh-CN" sz="1800" b="1" dirty="0"/>
              <a:t>)=</a:t>
            </a:r>
            <a:r>
              <a:rPr lang="en-US" altLang="zh-CN" sz="1800" b="1" i="1" dirty="0"/>
              <a:t>n</a:t>
            </a:r>
            <a:r>
              <a:rPr lang="en-US" altLang="zh-CN" sz="1800" b="1" dirty="0"/>
              <a:t>+1                    </a:t>
            </a:r>
            <a:r>
              <a:rPr lang="en-US" altLang="zh-CN" sz="1800" b="1" i="1" dirty="0"/>
              <a:t>m </a:t>
            </a:r>
            <a:r>
              <a:rPr lang="en-US" altLang="zh-CN" sz="1800" b="1" dirty="0"/>
              <a:t>= 0</a:t>
            </a:r>
            <a:endParaRPr lang="en-US" altLang="zh-CN" sz="1800" b="1" dirty="0"/>
          </a:p>
          <a:p>
            <a:pPr marL="0" indent="403225">
              <a:lnSpc>
                <a:spcPct val="150000"/>
              </a:lnSpc>
              <a:spcBef>
                <a:spcPct val="0"/>
              </a:spcBef>
              <a:buClrTx/>
              <a:buFont typeface="Wingdings" panose="05000000000000000000" pitchFamily="2" charset="2"/>
              <a:buNone/>
              <a:defRPr/>
            </a:pPr>
            <a:r>
              <a:rPr lang="en-US" altLang="zh-CN" sz="1800" b="1" dirty="0"/>
              <a:t>    </a:t>
            </a:r>
            <a:r>
              <a:rPr lang="en-US" altLang="zh-CN" sz="1800" b="1" dirty="0" err="1"/>
              <a:t>Ack</a:t>
            </a:r>
            <a:r>
              <a:rPr lang="en-US" altLang="zh-CN" sz="1800" b="1" dirty="0"/>
              <a:t>(</a:t>
            </a:r>
            <a:r>
              <a:rPr lang="en-US" altLang="zh-CN" sz="1800" b="1" i="1" dirty="0"/>
              <a:t>m</a:t>
            </a:r>
            <a:r>
              <a:rPr lang="en-US" altLang="zh-CN" sz="1800" b="1" dirty="0"/>
              <a:t>, </a:t>
            </a:r>
            <a:r>
              <a:rPr lang="en-US" altLang="zh-CN" sz="1800" b="1" i="1" dirty="0"/>
              <a:t>n</a:t>
            </a:r>
            <a:r>
              <a:rPr lang="en-US" altLang="zh-CN" sz="1800" b="1" dirty="0"/>
              <a:t>)=</a:t>
            </a:r>
            <a:r>
              <a:rPr lang="en-US" altLang="zh-CN" sz="1800" b="1" dirty="0" err="1"/>
              <a:t>Ack</a:t>
            </a:r>
            <a:r>
              <a:rPr lang="en-US" altLang="zh-CN" sz="1800" b="1" dirty="0"/>
              <a:t>(</a:t>
            </a:r>
            <a:r>
              <a:rPr lang="en-US" altLang="zh-CN" sz="1800" b="1" i="1" dirty="0"/>
              <a:t>m</a:t>
            </a:r>
            <a:r>
              <a:rPr lang="en-US" altLang="zh-CN" sz="1800" b="1" dirty="0"/>
              <a:t>-1, 1)        </a:t>
            </a:r>
            <a:r>
              <a:rPr lang="en-US" altLang="zh-CN" sz="1800" b="1" i="1" dirty="0"/>
              <a:t>n </a:t>
            </a:r>
            <a:r>
              <a:rPr lang="en-US" altLang="zh-CN" sz="1800" b="1" dirty="0"/>
              <a:t>= 0</a:t>
            </a:r>
            <a:endParaRPr lang="en-US" altLang="zh-CN" sz="1800" b="1" dirty="0"/>
          </a:p>
          <a:p>
            <a:pPr marL="0" indent="403225">
              <a:lnSpc>
                <a:spcPct val="150000"/>
              </a:lnSpc>
              <a:spcBef>
                <a:spcPct val="0"/>
              </a:spcBef>
              <a:buClrTx/>
              <a:buFont typeface="Wingdings" panose="05000000000000000000" pitchFamily="2" charset="2"/>
              <a:buNone/>
              <a:defRPr/>
            </a:pPr>
            <a:r>
              <a:rPr lang="en-US" altLang="zh-CN" sz="1800" b="1" dirty="0"/>
              <a:t>    </a:t>
            </a:r>
            <a:r>
              <a:rPr lang="en-US" altLang="zh-CN" sz="1800" b="1" dirty="0" err="1"/>
              <a:t>Ack</a:t>
            </a:r>
            <a:r>
              <a:rPr lang="en-US" altLang="zh-CN" sz="1800" b="1" dirty="0"/>
              <a:t>(</a:t>
            </a:r>
            <a:r>
              <a:rPr lang="en-US" altLang="zh-CN" sz="1800" b="1" i="1" dirty="0"/>
              <a:t>m</a:t>
            </a:r>
            <a:r>
              <a:rPr lang="en-US" altLang="zh-CN" sz="1800" b="1" dirty="0"/>
              <a:t>, </a:t>
            </a:r>
            <a:r>
              <a:rPr lang="en-US" altLang="zh-CN" sz="1800" b="1" i="1" dirty="0"/>
              <a:t>n</a:t>
            </a:r>
            <a:r>
              <a:rPr lang="en-US" altLang="zh-CN" sz="1800" b="1" dirty="0"/>
              <a:t>)=</a:t>
            </a:r>
            <a:r>
              <a:rPr lang="en-US" altLang="zh-CN" sz="1800" b="1" dirty="0" err="1"/>
              <a:t>Ack</a:t>
            </a:r>
            <a:r>
              <a:rPr lang="en-US" altLang="zh-CN" sz="1800" b="1" dirty="0"/>
              <a:t>(</a:t>
            </a:r>
            <a:r>
              <a:rPr lang="en-US" altLang="zh-CN" sz="1800" b="1" i="1" dirty="0"/>
              <a:t>m</a:t>
            </a:r>
            <a:r>
              <a:rPr lang="en-US" altLang="zh-CN" sz="1800" b="1" dirty="0"/>
              <a:t>-1, </a:t>
            </a:r>
            <a:r>
              <a:rPr lang="en-US" altLang="zh-CN" sz="1800" b="1" dirty="0" err="1"/>
              <a:t>Ack</a:t>
            </a:r>
            <a:r>
              <a:rPr lang="en-US" altLang="zh-CN" sz="1800" b="1" dirty="0"/>
              <a:t>(</a:t>
            </a:r>
            <a:r>
              <a:rPr lang="en-US" altLang="zh-CN" sz="1800" b="1" i="1" dirty="0"/>
              <a:t>m</a:t>
            </a:r>
            <a:r>
              <a:rPr lang="en-US" altLang="zh-CN" sz="1800" b="1" dirty="0"/>
              <a:t>, </a:t>
            </a:r>
            <a:r>
              <a:rPr lang="en-US" altLang="zh-CN" sz="1800" b="1" i="1" dirty="0"/>
              <a:t>n</a:t>
            </a:r>
            <a:r>
              <a:rPr lang="en-US" altLang="zh-CN" sz="1800" b="1" dirty="0"/>
              <a:t>-1))    </a:t>
            </a:r>
            <a:r>
              <a:rPr lang="en-US" altLang="zh-CN" sz="1800" b="1" i="1" dirty="0"/>
              <a:t>m </a:t>
            </a:r>
            <a:r>
              <a:rPr lang="en-US" altLang="zh-CN" sz="1800" b="1" dirty="0"/>
              <a:t>&gt; 0, </a:t>
            </a:r>
            <a:r>
              <a:rPr lang="en-US" altLang="zh-CN" sz="1800" b="1" i="1" dirty="0"/>
              <a:t>n </a:t>
            </a:r>
            <a:r>
              <a:rPr lang="en-US" altLang="zh-CN" sz="1800" b="1" dirty="0"/>
              <a:t>&gt; 0 </a:t>
            </a:r>
            <a:endParaRPr lang="en-US" altLang="zh-CN" sz="1800" b="1" dirty="0"/>
          </a:p>
          <a:p>
            <a:pPr marL="457200" lvl="1" indent="0">
              <a:lnSpc>
                <a:spcPct val="150000"/>
              </a:lnSpc>
              <a:spcBef>
                <a:spcPct val="0"/>
              </a:spcBef>
              <a:buClrTx/>
              <a:buFont typeface="Wingdings" panose="05000000000000000000" pitchFamily="2" charset="2"/>
              <a:buNone/>
              <a:defRPr/>
            </a:pPr>
            <a:r>
              <a:rPr lang="en-US" altLang="zh-CN" sz="1575" b="1" dirty="0">
                <a:solidFill>
                  <a:srgbClr val="FF0000"/>
                </a:solidFill>
              </a:rPr>
              <a:t>8. </a:t>
            </a:r>
            <a:r>
              <a:rPr lang="zh-CN" altLang="en-US" sz="1575" b="1" dirty="0"/>
              <a:t>依据求解八皇后问题的算法，画出在依次选出</a:t>
            </a:r>
            <a:r>
              <a:rPr lang="en-US" altLang="zh-CN" sz="1575" b="1" dirty="0"/>
              <a:t>(1,1)</a:t>
            </a:r>
            <a:r>
              <a:rPr lang="zh-CN" altLang="en-US" sz="1575" b="1" dirty="0"/>
              <a:t>、</a:t>
            </a:r>
            <a:r>
              <a:rPr lang="en-US" altLang="zh-CN" sz="1575" b="1" dirty="0"/>
              <a:t>(3, 2)</a:t>
            </a:r>
            <a:r>
              <a:rPr lang="zh-CN" altLang="en-US" sz="1575" b="1" dirty="0"/>
              <a:t>后的一个成</a:t>
            </a:r>
            <a:endParaRPr lang="en-US" altLang="zh-CN" sz="1575" b="1" dirty="0"/>
          </a:p>
          <a:p>
            <a:pPr marL="457200" lvl="1" indent="0">
              <a:lnSpc>
                <a:spcPct val="150000"/>
              </a:lnSpc>
              <a:spcBef>
                <a:spcPct val="0"/>
              </a:spcBef>
              <a:buClrTx/>
              <a:buFont typeface="Wingdings" panose="05000000000000000000" pitchFamily="2" charset="2"/>
              <a:buNone/>
              <a:defRPr/>
            </a:pPr>
            <a:r>
              <a:rPr lang="en-US" altLang="zh-CN" sz="1575" b="1" dirty="0"/>
              <a:t>    </a:t>
            </a:r>
            <a:r>
              <a:rPr lang="zh-CN" altLang="en-US" sz="1575" b="1" dirty="0"/>
              <a:t>功解的求解树。</a:t>
            </a:r>
            <a:r>
              <a:rPr lang="zh-CN" altLang="en-US" sz="1575" b="1" dirty="0">
                <a:solidFill>
                  <a:srgbClr val="FF0000"/>
                </a:solidFill>
              </a:rPr>
              <a:t> </a:t>
            </a:r>
            <a:endParaRPr lang="en-US" altLang="zh-CN" sz="1575" b="1" dirty="0">
              <a:solidFill>
                <a:srgbClr val="FF0000"/>
              </a:solidFill>
            </a:endParaRPr>
          </a:p>
          <a:p>
            <a:pPr marL="0" indent="0">
              <a:lnSpc>
                <a:spcPct val="150000"/>
              </a:lnSpc>
              <a:spcBef>
                <a:spcPct val="0"/>
              </a:spcBef>
              <a:buClrTx/>
              <a:buFont typeface="Wingdings" panose="05000000000000000000" pitchFamily="2" charset="2"/>
              <a:buNone/>
              <a:defRPr/>
            </a:pPr>
            <a:r>
              <a:rPr lang="en-US" altLang="zh-CN" sz="1800" b="1" dirty="0">
                <a:solidFill>
                  <a:srgbClr val="FF0000"/>
                </a:solidFill>
              </a:rPr>
              <a:t>9. </a:t>
            </a:r>
            <a:r>
              <a:rPr lang="zh-CN" altLang="en-US" sz="1800" b="1" dirty="0"/>
              <a:t>对前述背包问题及数据，画出选取以第二件物品为第一个选择时，所对应</a:t>
            </a:r>
            <a:endParaRPr lang="en-US" altLang="zh-CN" sz="1800" b="1" dirty="0"/>
          </a:p>
          <a:p>
            <a:pPr marL="0" indent="0">
              <a:lnSpc>
                <a:spcPct val="150000"/>
              </a:lnSpc>
              <a:spcBef>
                <a:spcPct val="0"/>
              </a:spcBef>
              <a:buClrTx/>
              <a:buFont typeface="Wingdings" panose="05000000000000000000" pitchFamily="2" charset="2"/>
              <a:buNone/>
              <a:defRPr/>
            </a:pPr>
            <a:r>
              <a:rPr lang="en-US" altLang="zh-CN" sz="1800" b="1" dirty="0"/>
              <a:t>    </a:t>
            </a:r>
            <a:r>
              <a:rPr lang="zh-CN" altLang="en-US" sz="1800" b="1" dirty="0"/>
              <a:t>的求解树。</a:t>
            </a:r>
            <a:endParaRPr lang="en-US" altLang="zh-CN" sz="1800" b="1" dirty="0">
              <a:solidFill>
                <a:srgbClr val="FF0000"/>
              </a:solidFill>
            </a:endParaRPr>
          </a:p>
          <a:p>
            <a:pPr marL="0" indent="0">
              <a:lnSpc>
                <a:spcPct val="150000"/>
              </a:lnSpc>
              <a:spcBef>
                <a:spcPct val="0"/>
              </a:spcBef>
              <a:buClrTx/>
              <a:buFont typeface="Wingdings" panose="05000000000000000000" pitchFamily="2" charset="2"/>
              <a:buNone/>
              <a:defRPr/>
            </a:pPr>
            <a:r>
              <a:rPr lang="en-US" altLang="zh-CN" sz="1800" b="1" dirty="0">
                <a:solidFill>
                  <a:srgbClr val="FF0000"/>
                </a:solidFill>
              </a:rPr>
              <a:t>10.</a:t>
            </a:r>
            <a:r>
              <a:rPr lang="zh-CN" altLang="en-US" sz="1800" b="1" dirty="0"/>
              <a:t>完整实现求出从集合｛</a:t>
            </a:r>
            <a:r>
              <a:rPr lang="en-US" altLang="zh-CN" sz="1800" b="1" dirty="0"/>
              <a:t>1, 2, ..., </a:t>
            </a:r>
            <a:r>
              <a:rPr lang="en-US" altLang="zh-CN" sz="1800" b="1" i="1" dirty="0"/>
              <a:t>n</a:t>
            </a:r>
            <a:r>
              <a:rPr lang="zh-CN" altLang="en-US" sz="1800" b="1" dirty="0"/>
              <a:t>｝中取</a:t>
            </a:r>
            <a:r>
              <a:rPr lang="en-US" altLang="zh-CN" sz="1800" b="1" i="1" dirty="0"/>
              <a:t>k</a:t>
            </a:r>
            <a:r>
              <a:rPr lang="zh-CN" altLang="en-US" sz="1800" b="1" dirty="0"/>
              <a:t>个元素的所有组合的算法，并画出从</a:t>
            </a:r>
            <a:endParaRPr lang="en-US" altLang="zh-CN" sz="1800" b="1" dirty="0"/>
          </a:p>
          <a:p>
            <a:pPr marL="0" indent="0">
              <a:lnSpc>
                <a:spcPct val="150000"/>
              </a:lnSpc>
              <a:spcBef>
                <a:spcPct val="0"/>
              </a:spcBef>
              <a:buClrTx/>
              <a:buFont typeface="Wingdings" panose="05000000000000000000" pitchFamily="2" charset="2"/>
              <a:buNone/>
              <a:defRPr/>
            </a:pPr>
            <a:r>
              <a:rPr lang="en-US" altLang="zh-CN" sz="1800" b="1" dirty="0"/>
              <a:t>     {1,2,3,4,5}</a:t>
            </a:r>
            <a:r>
              <a:rPr lang="zh-CN" altLang="en-US" sz="1800" b="1" dirty="0"/>
              <a:t>中选</a:t>
            </a:r>
            <a:r>
              <a:rPr lang="en-US" altLang="zh-CN" sz="1800" b="1" dirty="0"/>
              <a:t>3</a:t>
            </a:r>
            <a:r>
              <a:rPr lang="zh-CN" altLang="en-US" sz="1800" b="1" dirty="0"/>
              <a:t>个元素的求解树。</a:t>
            </a:r>
            <a:endParaRPr lang="en-US" altLang="zh-CN" sz="1800" b="1" dirty="0">
              <a:solidFill>
                <a:srgbClr val="FF0000"/>
              </a:solidFill>
            </a:endParaRPr>
          </a:p>
          <a:p>
            <a:pPr marL="0" indent="0">
              <a:lnSpc>
                <a:spcPct val="150000"/>
              </a:lnSpc>
              <a:spcBef>
                <a:spcPct val="0"/>
              </a:spcBef>
              <a:buClrTx/>
              <a:buFont typeface="Wingdings" panose="05000000000000000000" pitchFamily="2" charset="2"/>
              <a:buNone/>
              <a:defRPr/>
            </a:pPr>
            <a:r>
              <a:rPr lang="en-US" altLang="zh-CN" sz="1800" b="1" dirty="0">
                <a:solidFill>
                  <a:srgbClr val="FF0000"/>
                </a:solidFill>
              </a:rPr>
              <a:t>11. </a:t>
            </a:r>
            <a:r>
              <a:rPr lang="zh-CN" altLang="en-US" sz="1800" b="1" dirty="0"/>
              <a:t>完整实现求集合｛</a:t>
            </a:r>
            <a:r>
              <a:rPr lang="en-US" altLang="zh-CN" sz="1800" b="1" dirty="0"/>
              <a:t>1, 2, ..., </a:t>
            </a:r>
            <a:r>
              <a:rPr lang="en-US" altLang="zh-CN" sz="1800" b="1" i="1" dirty="0"/>
              <a:t>n</a:t>
            </a:r>
            <a:r>
              <a:rPr lang="zh-CN" altLang="en-US" sz="1800" b="1" dirty="0"/>
              <a:t>｝的幂集的算法，并画出</a:t>
            </a:r>
            <a:r>
              <a:rPr lang="en-US" altLang="zh-CN" sz="1800" b="1" i="1" dirty="0"/>
              <a:t>n</a:t>
            </a:r>
            <a:r>
              <a:rPr lang="en-US" altLang="zh-CN" sz="1800" b="1" dirty="0"/>
              <a:t>=1, 2</a:t>
            </a:r>
            <a:r>
              <a:rPr lang="zh-CN" altLang="en-US" sz="1800" b="1" dirty="0"/>
              <a:t>，</a:t>
            </a:r>
            <a:r>
              <a:rPr lang="en-US" altLang="zh-CN" sz="1800" b="1" dirty="0"/>
              <a:t>3</a:t>
            </a:r>
            <a:r>
              <a:rPr lang="zh-CN" altLang="en-US" sz="1800" b="1" dirty="0"/>
              <a:t>，</a:t>
            </a:r>
            <a:r>
              <a:rPr lang="en-US" altLang="zh-CN" sz="1800" b="1" dirty="0"/>
              <a:t>5</a:t>
            </a:r>
            <a:r>
              <a:rPr lang="zh-CN" altLang="en-US" sz="1800" b="1" dirty="0"/>
              <a:t>时的求解树。</a:t>
            </a:r>
            <a:endParaRPr lang="zh-CN" altLang="en-US" sz="1800" b="1" dirty="0"/>
          </a:p>
          <a:p>
            <a:pPr marL="0" indent="403225">
              <a:defRPr/>
            </a:pPr>
            <a:endParaRPr lang="zh-CN" altLang="en-US" dirty="0"/>
          </a:p>
        </p:txBody>
      </p:sp>
      <p:sp>
        <p:nvSpPr>
          <p:cNvPr id="76804" name="AutoShape 5"/>
          <p:cNvSpPr/>
          <p:nvPr/>
        </p:nvSpPr>
        <p:spPr bwMode="auto">
          <a:xfrm>
            <a:off x="792243" y="2060848"/>
            <a:ext cx="148959" cy="1008112"/>
          </a:xfrm>
          <a:prstGeom prst="leftBrace">
            <a:avLst>
              <a:gd name="adj1" fmla="val 44737"/>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imes New Roman" panose="02020603050405020304" pitchFamily="18" charset="0"/>
                <a:ea typeface="楷体_GB2312" pitchFamily="49" charset="-122"/>
              </a:defRPr>
            </a:lvl1pPr>
            <a:lvl2pPr marL="742950" indent="-285750">
              <a:defRPr>
                <a:solidFill>
                  <a:schemeClr val="tx1"/>
                </a:solidFill>
                <a:latin typeface="Times New Roman" panose="02020603050405020304" pitchFamily="18" charset="0"/>
                <a:ea typeface="楷体_GB2312" pitchFamily="49" charset="-122"/>
              </a:defRPr>
            </a:lvl2pPr>
            <a:lvl3pPr marL="1143000" indent="-228600">
              <a:defRPr>
                <a:solidFill>
                  <a:schemeClr val="tx1"/>
                </a:solidFill>
                <a:latin typeface="Times New Roman" panose="02020603050405020304" pitchFamily="18" charset="0"/>
                <a:ea typeface="楷体_GB2312" pitchFamily="49" charset="-122"/>
              </a:defRPr>
            </a:lvl3pPr>
            <a:lvl4pPr marL="1600200" indent="-228600">
              <a:defRPr>
                <a:solidFill>
                  <a:schemeClr val="tx1"/>
                </a:solidFill>
                <a:latin typeface="Times New Roman" panose="02020603050405020304" pitchFamily="18" charset="0"/>
                <a:ea typeface="楷体_GB2312" pitchFamily="49" charset="-122"/>
              </a:defRPr>
            </a:lvl4pPr>
            <a:lvl5pPr marL="2057400" indent="-228600">
              <a:defRPr>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9pPr>
          </a:lstStyle>
          <a:p>
            <a:endParaRPr lang="zh-CN" altLang="en-US"/>
          </a:p>
        </p:txBody>
      </p:sp>
      <p:sp>
        <p:nvSpPr>
          <p:cNvPr id="76805" name="页脚占位符 1"/>
          <p:cNvSpPr>
            <a:spLocks noGrp="1" noChangeArrowheads="1"/>
          </p:cNvSpPr>
          <p:nvPr>
            <p:ph type="ftr"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楷体_GB2312" pitchFamily="49" charset="-122"/>
              </a:defRPr>
            </a:lvl1pPr>
            <a:lvl2pPr marL="742950" indent="-285750">
              <a:defRPr>
                <a:solidFill>
                  <a:schemeClr val="tx1"/>
                </a:solidFill>
                <a:latin typeface="Times New Roman" panose="02020603050405020304" pitchFamily="18" charset="0"/>
                <a:ea typeface="楷体_GB2312" pitchFamily="49" charset="-122"/>
              </a:defRPr>
            </a:lvl2pPr>
            <a:lvl3pPr marL="1143000" indent="-228600">
              <a:defRPr>
                <a:solidFill>
                  <a:schemeClr val="tx1"/>
                </a:solidFill>
                <a:latin typeface="Times New Roman" panose="02020603050405020304" pitchFamily="18" charset="0"/>
                <a:ea typeface="楷体_GB2312" pitchFamily="49" charset="-122"/>
              </a:defRPr>
            </a:lvl3pPr>
            <a:lvl4pPr marL="1600200" indent="-228600">
              <a:defRPr>
                <a:solidFill>
                  <a:schemeClr val="tx1"/>
                </a:solidFill>
                <a:latin typeface="Times New Roman" panose="02020603050405020304" pitchFamily="18" charset="0"/>
                <a:ea typeface="楷体_GB2312" pitchFamily="49" charset="-122"/>
              </a:defRPr>
            </a:lvl4pPr>
            <a:lvl5pPr marL="2057400" indent="-228600">
              <a:defRPr>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9pPr>
          </a:lstStyle>
          <a:p>
            <a:endParaRPr lang="zh-CN" altLang="en-US" dirty="0">
              <a:latin typeface="Verdana" panose="020B0604030504040204" pitchFamily="34" charset="0"/>
              <a:ea typeface="宋体" panose="02010600030101010101" pitchFamily="2" charset="-122"/>
            </a:endParaRPr>
          </a:p>
        </p:txBody>
      </p:sp>
      <p:grpSp>
        <p:nvGrpSpPr>
          <p:cNvPr id="8" name="组合 7"/>
          <p:cNvGrpSpPr/>
          <p:nvPr/>
        </p:nvGrpSpPr>
        <p:grpSpPr>
          <a:xfrm>
            <a:off x="539552" y="66293"/>
            <a:ext cx="1971209" cy="696929"/>
            <a:chOff x="973123" y="4906917"/>
            <a:chExt cx="1971209" cy="696929"/>
          </a:xfrm>
        </p:grpSpPr>
        <p:sp>
          <p:nvSpPr>
            <p:cNvPr id="9" name="矩形 8"/>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10" name="图片 9"/>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微信图片_20191019182251.jpg"/>
          <p:cNvPicPr>
            <a:picLocks noChangeAspect="1"/>
          </p:cNvPicPr>
          <p:nvPr/>
        </p:nvPicPr>
        <p:blipFill>
          <a:blip r:embed="rId1" cstate="print"/>
          <a:stretch>
            <a:fillRect/>
          </a:stretch>
        </p:blipFill>
        <p:spPr>
          <a:xfrm>
            <a:off x="6660232" y="3140968"/>
            <a:ext cx="2116102" cy="2116102"/>
          </a:xfrm>
          <a:prstGeom prst="rect">
            <a:avLst/>
          </a:prstGeom>
        </p:spPr>
      </p:pic>
      <p:grpSp>
        <p:nvGrpSpPr>
          <p:cNvPr id="5" name="组合 4"/>
          <p:cNvGrpSpPr/>
          <p:nvPr/>
        </p:nvGrpSpPr>
        <p:grpSpPr>
          <a:xfrm>
            <a:off x="1475656" y="3672894"/>
            <a:ext cx="6388100" cy="2708434"/>
            <a:chOff x="1520825" y="4834037"/>
            <a:chExt cx="6388100" cy="2708434"/>
          </a:xfrm>
        </p:grpSpPr>
        <p:sp>
          <p:nvSpPr>
            <p:cNvPr id="6" name="矩形 5"/>
            <p:cNvSpPr/>
            <p:nvPr/>
          </p:nvSpPr>
          <p:spPr>
            <a:xfrm>
              <a:off x="1520825" y="4834037"/>
              <a:ext cx="6388100" cy="2708434"/>
            </a:xfrm>
            <a:prstGeom prst="rect">
              <a:avLst/>
            </a:prstGeom>
          </p:spPr>
          <p:txBody>
            <a:bodyPr wrap="square">
              <a:spAutoFit/>
            </a:bodyPr>
            <a:lstStyle/>
            <a:p>
              <a:pPr algn="ctr" eaLnBrk="0" hangingPunct="0">
                <a:lnSpc>
                  <a:spcPct val="125000"/>
                </a:lnSpc>
              </a:pPr>
              <a:r>
                <a:rPr lang="zh-CN" altLang="en-US" sz="2000" b="1" dirty="0">
                  <a:latin typeface="Times New Roman" panose="02020603050405020304" pitchFamily="18" charset="0"/>
                  <a:ea typeface="黑体" panose="02010609060101010101" pitchFamily="49" charset="-122"/>
                </a:rPr>
                <a:t>李培培</a:t>
              </a:r>
              <a:endParaRPr lang="en-US" altLang="zh-CN" sz="2000" b="1" dirty="0">
                <a:latin typeface="Times New Roman" panose="02020603050405020304" pitchFamily="18" charset="0"/>
                <a:ea typeface="黑体" panose="02010609060101010101" pitchFamily="49" charset="-122"/>
              </a:endParaRPr>
            </a:p>
            <a:p>
              <a:pPr algn="ctr" eaLnBrk="0" hangingPunct="0">
                <a:lnSpc>
                  <a:spcPct val="125000"/>
                </a:lnSpc>
              </a:pPr>
              <a:r>
                <a:rPr lang="en-US" altLang="zh-CN" sz="2000" b="1" dirty="0">
                  <a:solidFill>
                    <a:srgbClr val="FF0000"/>
                  </a:solidFill>
                  <a:latin typeface="Times New Roman" panose="02020603050405020304" pitchFamily="18" charset="0"/>
                  <a:ea typeface="黑体" panose="02010609060101010101" pitchFamily="49" charset="-122"/>
                </a:rPr>
                <a:t>QQ</a:t>
              </a:r>
              <a:r>
                <a:rPr lang="zh-CN" altLang="en-US" sz="2000" b="1" dirty="0">
                  <a:latin typeface="Times New Roman" panose="02020603050405020304" pitchFamily="18" charset="0"/>
                  <a:ea typeface="黑体" panose="02010609060101010101" pitchFamily="49" charset="-122"/>
                </a:rPr>
                <a:t>：</a:t>
              </a:r>
              <a:r>
                <a:rPr lang="en-US" altLang="zh-CN" sz="2000" b="1" dirty="0">
                  <a:solidFill>
                    <a:srgbClr val="0000FF"/>
                  </a:solidFill>
                  <a:latin typeface="Times New Roman" panose="02020603050405020304" pitchFamily="18" charset="0"/>
                  <a:ea typeface="黑体" panose="02010609060101010101" pitchFamily="49" charset="-122"/>
                </a:rPr>
                <a:t>123452644</a:t>
              </a:r>
              <a:r>
                <a:rPr lang="zh-CN" altLang="en-US" sz="2000" b="1" dirty="0">
                  <a:latin typeface="Times New Roman" panose="02020603050405020304" pitchFamily="18" charset="0"/>
                  <a:ea typeface="黑体" panose="02010609060101010101" pitchFamily="49" charset="-122"/>
                </a:rPr>
                <a:t>，</a:t>
              </a:r>
              <a:r>
                <a:rPr lang="zh-CN" altLang="en-US" sz="2000" b="1" dirty="0">
                  <a:solidFill>
                    <a:srgbClr val="FF0000"/>
                  </a:solidFill>
                  <a:latin typeface="Times New Roman" panose="02020603050405020304" pitchFamily="18" charset="0"/>
                  <a:ea typeface="黑体" panose="02010609060101010101" pitchFamily="49" charset="-122"/>
                </a:rPr>
                <a:t> 微信：</a:t>
              </a:r>
              <a:r>
                <a:rPr lang="en-US" altLang="zh-CN" sz="2000" b="1" dirty="0">
                  <a:solidFill>
                    <a:srgbClr val="FF0000"/>
                  </a:solidFill>
                  <a:latin typeface="Times New Roman" panose="02020603050405020304" pitchFamily="18" charset="0"/>
                  <a:ea typeface="黑体" panose="02010609060101010101" pitchFamily="49" charset="-122"/>
                </a:rPr>
                <a:t>li123452644</a:t>
              </a:r>
              <a:endParaRPr lang="en-US" altLang="zh-CN" sz="2000" b="1" dirty="0">
                <a:solidFill>
                  <a:srgbClr val="FF0000"/>
                </a:solidFill>
                <a:latin typeface="Times New Roman" panose="02020603050405020304" pitchFamily="18" charset="0"/>
                <a:ea typeface="黑体" panose="02010609060101010101" pitchFamily="49" charset="-122"/>
              </a:endParaRPr>
            </a:p>
            <a:p>
              <a:pPr algn="ctr" eaLnBrk="0" hangingPunct="0">
                <a:lnSpc>
                  <a:spcPct val="125000"/>
                </a:lnSpc>
              </a:pPr>
              <a:r>
                <a:rPr lang="en-US" altLang="zh-CN" sz="2000" b="1" dirty="0">
                  <a:solidFill>
                    <a:srgbClr val="FF0000"/>
                  </a:solidFill>
                  <a:latin typeface="Times New Roman" panose="02020603050405020304" pitchFamily="18" charset="0"/>
                  <a:ea typeface="黑体" panose="02010609060101010101" pitchFamily="49" charset="-122"/>
                </a:rPr>
                <a:t>Email</a:t>
              </a:r>
              <a:r>
                <a:rPr lang="en-US" altLang="zh-CN" sz="2000" b="1" dirty="0">
                  <a:latin typeface="Times New Roman" panose="02020603050405020304" pitchFamily="18" charset="0"/>
                  <a:ea typeface="黑体" panose="02010609060101010101" pitchFamily="49" charset="-122"/>
                </a:rPr>
                <a:t>: </a:t>
              </a:r>
              <a:r>
                <a:rPr lang="en-US" altLang="zh-CN" sz="2000" b="1" dirty="0">
                  <a:solidFill>
                    <a:srgbClr val="0000FF"/>
                  </a:solidFill>
                  <a:latin typeface="Times New Roman" panose="02020603050405020304" pitchFamily="18" charset="0"/>
                  <a:ea typeface="黑体" panose="02010609060101010101" pitchFamily="49" charset="-122"/>
                </a:rPr>
                <a:t>peipeili@hfut.edu.cn</a:t>
              </a:r>
              <a:endParaRPr lang="en-US" altLang="zh-CN" sz="2000" b="1" dirty="0">
                <a:solidFill>
                  <a:srgbClr val="0000FF"/>
                </a:solidFill>
                <a:latin typeface="Times New Roman" panose="02020603050405020304" pitchFamily="18" charset="0"/>
                <a:ea typeface="黑体" panose="02010609060101010101" pitchFamily="49" charset="-122"/>
              </a:endParaRPr>
            </a:p>
            <a:p>
              <a:pPr algn="ctr" eaLnBrk="0" hangingPunct="0">
                <a:lnSpc>
                  <a:spcPct val="125000"/>
                </a:lnSpc>
              </a:pPr>
              <a:r>
                <a:rPr lang="zh-CN" altLang="en-US" sz="2000" b="1" dirty="0">
                  <a:solidFill>
                    <a:srgbClr val="FF0000"/>
                  </a:solidFill>
                  <a:latin typeface="Times New Roman" panose="02020603050405020304" pitchFamily="18" charset="0"/>
                  <a:ea typeface="黑体" panose="02010609060101010101" pitchFamily="49" charset="-122"/>
                </a:rPr>
                <a:t>手机号</a:t>
              </a:r>
              <a:r>
                <a:rPr lang="zh-CN" altLang="en-US" sz="2000" b="1" dirty="0">
                  <a:latin typeface="Times New Roman" panose="02020603050405020304" pitchFamily="18" charset="0"/>
                  <a:ea typeface="黑体" panose="02010609060101010101" pitchFamily="49" charset="-122"/>
                </a:rPr>
                <a:t>：</a:t>
              </a:r>
              <a:r>
                <a:rPr lang="en-US" altLang="zh-CN" sz="2000" b="1" dirty="0">
                  <a:solidFill>
                    <a:srgbClr val="0000FF"/>
                  </a:solidFill>
                  <a:latin typeface="Times New Roman" panose="02020603050405020304" pitchFamily="18" charset="0"/>
                  <a:ea typeface="黑体" panose="02010609060101010101" pitchFamily="49" charset="-122"/>
                </a:rPr>
                <a:t>13956043016</a:t>
              </a:r>
              <a:endParaRPr lang="en-US" altLang="zh-CN" sz="2000" b="1" dirty="0">
                <a:solidFill>
                  <a:srgbClr val="0000FF"/>
                </a:solidFill>
                <a:latin typeface="Times New Roman" panose="02020603050405020304" pitchFamily="18" charset="0"/>
                <a:ea typeface="黑体" panose="02010609060101010101" pitchFamily="49" charset="-122"/>
              </a:endParaRPr>
            </a:p>
            <a:p>
              <a:pPr marL="0" lvl="1" algn="ctr" eaLnBrk="0" hangingPunct="0">
                <a:lnSpc>
                  <a:spcPct val="125000"/>
                </a:lnSpc>
              </a:pPr>
              <a:r>
                <a:rPr lang="zh-CN" altLang="en-US" sz="2000" b="1" dirty="0">
                  <a:latin typeface="Times New Roman" panose="02020603050405020304" pitchFamily="18" charset="0"/>
                  <a:ea typeface="黑体" panose="02010609060101010101" pitchFamily="49" charset="-122"/>
                </a:rPr>
                <a:t>         合肥工业大学智能计算与数据挖掘千人团队 </a:t>
              </a:r>
              <a:r>
                <a:rPr lang="en-US" altLang="zh-CN" sz="2000" u="sng" dirty="0">
                  <a:solidFill>
                    <a:srgbClr val="0000FF"/>
                  </a:solidFill>
                </a:rPr>
                <a:t>http://dmic.bigke.org/</a:t>
              </a:r>
              <a:endParaRPr lang="en-US" altLang="zh-CN" sz="2000" b="1" u="sng" dirty="0">
                <a:solidFill>
                  <a:srgbClr val="0000FF"/>
                </a:solidFill>
                <a:latin typeface="Times New Roman" panose="02020603050405020304" pitchFamily="18" charset="0"/>
                <a:ea typeface="黑体" panose="02010609060101010101" pitchFamily="49" charset="-122"/>
              </a:endParaRPr>
            </a:p>
            <a:p>
              <a:pPr algn="ctr" eaLnBrk="0" hangingPunct="0"/>
              <a:r>
                <a:rPr lang="zh-CN" altLang="en-US" sz="2000" b="1" dirty="0">
                  <a:latin typeface="Times New Roman" panose="02020603050405020304" pitchFamily="18" charset="0"/>
                  <a:ea typeface="黑体" panose="02010609060101010101" pitchFamily="49" charset="-122"/>
                </a:rPr>
                <a:t> </a:t>
              </a:r>
              <a:endParaRPr lang="zh-CN" altLang="en-US" sz="2000" b="1" dirty="0">
                <a:latin typeface="Times New Roman" panose="02020603050405020304" pitchFamily="18" charset="0"/>
                <a:ea typeface="黑体" panose="02010609060101010101" pitchFamily="49" charset="-122"/>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80865" y="6418213"/>
              <a:ext cx="666651" cy="286658"/>
            </a:xfrm>
            <a:prstGeom prst="rect">
              <a:avLst/>
            </a:prstGeom>
          </p:spPr>
        </p:pic>
      </p:grpSp>
      <p:grpSp>
        <p:nvGrpSpPr>
          <p:cNvPr id="8" name="组合 7"/>
          <p:cNvGrpSpPr/>
          <p:nvPr/>
        </p:nvGrpSpPr>
        <p:grpSpPr>
          <a:xfrm>
            <a:off x="323528" y="3356992"/>
            <a:ext cx="2143084" cy="551837"/>
            <a:chOff x="728936" y="4175538"/>
            <a:chExt cx="2204016" cy="584775"/>
          </a:xfrm>
        </p:grpSpPr>
        <p:sp>
          <p:nvSpPr>
            <p:cNvPr id="9" name="矩形 8"/>
            <p:cNvSpPr/>
            <p:nvPr/>
          </p:nvSpPr>
          <p:spPr>
            <a:xfrm>
              <a:off x="1100399" y="4175538"/>
              <a:ext cx="1832553" cy="584775"/>
            </a:xfrm>
            <a:prstGeom prst="rect">
              <a:avLst/>
            </a:prstGeom>
          </p:spPr>
          <p:txBody>
            <a:bodyPr wrap="none">
              <a:spAutoFit/>
            </a:bodyPr>
            <a:lstStyle/>
            <a:p>
              <a:pPr>
                <a:buClr>
                  <a:srgbClr val="FF0000"/>
                </a:buClr>
              </a:pPr>
              <a:r>
                <a:rPr lang="zh-CN" altLang="en-US" sz="3000" b="1" dirty="0">
                  <a:latin typeface="Verdana" panose="020B0604030504040204" pitchFamily="34" charset="0"/>
                  <a:ea typeface="黑体" panose="02010609060101010101" pitchFamily="49" charset="-122"/>
                </a:rPr>
                <a:t>联系方式</a:t>
              </a:r>
              <a:endParaRPr lang="zh-CN" altLang="en-US" sz="3000" b="1" dirty="0">
                <a:latin typeface="Verdana" panose="020B0604030504040204" pitchFamily="34" charset="0"/>
                <a:ea typeface="黑体" panose="02010609060101010101" pitchFamily="49" charset="-122"/>
              </a:endParaRPr>
            </a:p>
          </p:txBody>
        </p:sp>
        <p:pic>
          <p:nvPicPr>
            <p:cNvPr id="10" name="图片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28936" y="4235450"/>
              <a:ext cx="401364" cy="434022"/>
            </a:xfrm>
            <a:prstGeom prst="rect">
              <a:avLst/>
            </a:prstGeom>
            <a:noFill/>
            <a:ln w="9525">
              <a:noFill/>
              <a:miter lim="800000"/>
              <a:headEnd/>
              <a:tailEnd/>
            </a:ln>
          </p:spPr>
        </p:pic>
      </p:grpSp>
      <p:sp>
        <p:nvSpPr>
          <p:cNvPr id="12" name="矩形 11"/>
          <p:cNvSpPr/>
          <p:nvPr/>
        </p:nvSpPr>
        <p:spPr>
          <a:xfrm>
            <a:off x="3707904" y="1916832"/>
            <a:ext cx="1574470" cy="646331"/>
          </a:xfrm>
          <a:prstGeom prst="rect">
            <a:avLst/>
          </a:prstGeom>
        </p:spPr>
        <p:txBody>
          <a:bodyPr wrap="none">
            <a:spAutoFit/>
          </a:bodyPr>
          <a:lstStyle/>
          <a:p>
            <a:pPr marL="514350" indent="-514350">
              <a:buClr>
                <a:srgbClr val="FF0000"/>
              </a:buClr>
            </a:pPr>
            <a:r>
              <a:rPr lang="zh-CN" altLang="en-US" sz="3600" b="1" dirty="0"/>
              <a:t>谢谢！</a:t>
            </a:r>
            <a:endParaRPr lang="zh-CN" altLang="zh-CN" sz="3600" b="1" dirty="0"/>
          </a:p>
        </p:txBody>
      </p:sp>
      <p:sp>
        <p:nvSpPr>
          <p:cNvPr id="3" name="页脚占位符 2"/>
          <p:cNvSpPr>
            <a:spLocks noGrp="1"/>
          </p:cNvSpPr>
          <p:nvPr>
            <p:ph type="ftr" sz="quarter" idx="3"/>
          </p:nvPr>
        </p:nvSpPr>
        <p:spPr/>
        <p:txBody>
          <a:bodyPr/>
          <a:lstStyle/>
          <a:p>
            <a:pPr>
              <a:defRPr/>
            </a:pPr>
            <a:endParaRPr lang="zh-CN" altLang="en-US" dirty="0"/>
          </a:p>
        </p:txBody>
      </p:sp>
    </p:spTree>
  </p:cSld>
  <p:clrMapOvr>
    <a:masterClrMapping/>
  </p:clrMapOvr>
  <p:transition spd="slow" advClick="0" advTm="1622">
    <p:pull dir="d"/>
  </p:transition>
  <p:timing>
    <p:tnLst>
      <p:par>
        <p:cTn id="1" dur="indefinite" restart="never" nodeType="tmRoot"/>
      </p:par>
    </p:tnLst>
  </p:timing>
</p:sld>
</file>

<file path=ppt/tags/tag1.xml><?xml version="1.0" encoding="utf-8"?>
<p:tagLst xmlns:p="http://schemas.openxmlformats.org/presentationml/2006/main">
  <p:tag name="KSO_WPP_MARK_KEY" val="1f803352-9270-4aa2-97eb-8b4d44fb2b2f"/>
  <p:tag name="COMMONDATA" val="eyJoZGlkIjoiODFlMTQyZGVlMGZmNGM1YWNmZjFlZDAxM2FlYjFjMTMifQ=="/>
  <p:tag name="commondata" val="eyJoZGlkIjoiODcyZDlmMzcxYTY3OWRkOTM4Yzc3MjUzY2U2YmQ0ND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27563</Words>
  <Application>WPS 演示</Application>
  <PresentationFormat>全屏显示(4:3)</PresentationFormat>
  <Paragraphs>2008</Paragraphs>
  <Slides>76</Slides>
  <Notes>2</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76</vt:i4>
      </vt:variant>
    </vt:vector>
  </HeadingPairs>
  <TitlesOfParts>
    <vt:vector size="98" baseType="lpstr">
      <vt:lpstr>Arial</vt:lpstr>
      <vt:lpstr>宋体</vt:lpstr>
      <vt:lpstr>Wingdings</vt:lpstr>
      <vt:lpstr>Times New Roman</vt:lpstr>
      <vt:lpstr>黑体</vt:lpstr>
      <vt:lpstr>Calibri</vt:lpstr>
      <vt:lpstr>仿宋</vt:lpstr>
      <vt:lpstr>Comic Sans MS</vt:lpstr>
      <vt:lpstr>MS PMincho</vt:lpstr>
      <vt:lpstr>Yu Gothic UI</vt:lpstr>
      <vt:lpstr>Garamond</vt:lpstr>
      <vt:lpstr>方正舒体</vt:lpstr>
      <vt:lpstr>微软雅黑</vt:lpstr>
      <vt:lpstr>Snap ITC</vt:lpstr>
      <vt:lpstr>Edwardian Script ITC</vt:lpstr>
      <vt:lpstr>Arial Unicode MS</vt:lpstr>
      <vt:lpstr>Cambria Math</vt:lpstr>
      <vt:lpstr>楷体_GB2312</vt:lpstr>
      <vt:lpstr>新宋体</vt:lpstr>
      <vt:lpstr>Verdana</vt:lpstr>
      <vt:lpstr>Wingdings</vt:lpstr>
      <vt:lpstr>Office 主题</vt:lpstr>
      <vt:lpstr>PowerPoint 演示文稿</vt:lpstr>
      <vt:lpstr>第7章 递归(Recursion)</vt:lpstr>
      <vt:lpstr>上文回顾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return Hcf(28,6)的执行结果</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7.7 递归技术应用</vt:lpstr>
      <vt:lpstr>7.7.1 递归算法设计举例</vt:lpstr>
      <vt:lpstr>PowerPoint 演示文稿</vt:lpstr>
      <vt:lpstr>PowerPoint 演示文稿</vt:lpstr>
      <vt:lpstr>7.7.2 递归算法设计举例</vt:lpstr>
      <vt:lpstr>7.7.2 递归算法设计举例</vt:lpstr>
      <vt:lpstr>7.7.2 递归算法设计举例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 究方向：多源海量动态信息处理 团队带头人：吴信东 所 在  学 校：合肥工业大学</dc:title>
  <dc:creator>Peipei Li</dc:creator>
  <cp:lastModifiedBy>Prime of life</cp:lastModifiedBy>
  <cp:revision>2688</cp:revision>
  <cp:lastPrinted>2012-11-20T01:52:00Z</cp:lastPrinted>
  <dcterms:created xsi:type="dcterms:W3CDTF">2012-10-13T08:41:00Z</dcterms:created>
  <dcterms:modified xsi:type="dcterms:W3CDTF">2024-04-07T15:40:22Z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3AEAD3CEFEAD4A578C41897BCD24FD7F</vt:lpwstr>
  </property>
  <property fmtid="{D5CDD505-2E9C-101B-9397-08002B2CF9AE}" pid="3" name="KSOProductBuildVer">
    <vt:lpwstr>2052-12.1.0.16417</vt:lpwstr>
  </property>
</Properties>
</file>