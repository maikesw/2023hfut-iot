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7" r:id="rId6"/>
    <p:sldId id="268" r:id="rId7"/>
    <p:sldId id="269" r:id="rId8"/>
    <p:sldId id="270" r:id="rId9"/>
    <p:sldId id="264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80" r:id="rId18"/>
    <p:sldId id="281" r:id="rId19"/>
    <p:sldId id="282" r:id="rId20"/>
    <p:sldId id="284" r:id="rId21"/>
    <p:sldId id="290" r:id="rId22"/>
    <p:sldId id="295" r:id="rId23"/>
    <p:sldId id="299" r:id="rId24"/>
    <p:sldId id="300" r:id="rId25"/>
    <p:sldId id="304" r:id="rId26"/>
    <p:sldId id="306" r:id="rId27"/>
    <p:sldId id="357" r:id="rId28"/>
    <p:sldId id="356" r:id="rId29"/>
    <p:sldId id="305" r:id="rId30"/>
    <p:sldId id="307" r:id="rId31"/>
    <p:sldId id="308" r:id="rId32"/>
    <p:sldId id="312" r:id="rId33"/>
    <p:sldId id="313" r:id="rId34"/>
    <p:sldId id="315" r:id="rId35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  <a:srgbClr val="9933FF"/>
    <a:srgbClr val="000099"/>
    <a:srgbClr val="FF0066"/>
    <a:srgbClr val="FF3300"/>
    <a:srgbClr val="18F618"/>
    <a:srgbClr val="C1E92D"/>
    <a:srgbClr val="E71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058"/>
    <p:restoredTop sz="99628"/>
  </p:normalViewPr>
  <p:slideViewPr>
    <p:cSldViewPr showGuides="1">
      <p:cViewPr varScale="1">
        <p:scale>
          <a:sx n="90" d="100"/>
          <a:sy n="90" d="100"/>
        </p:scale>
        <p:origin x="1338" y="84"/>
      </p:cViewPr>
      <p:guideLst>
        <p:guide orient="horz" pos="21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image" Target="../media/image26.wmf"/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e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42.wmf"/><Relationship Id="rId4" Type="http://schemas.openxmlformats.org/officeDocument/2006/relationships/image" Target="../media/image19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19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1" Type="http://schemas.openxmlformats.org/officeDocument/2006/relationships/image" Target="../media/image57.wmf"/><Relationship Id="rId10" Type="http://schemas.openxmlformats.org/officeDocument/2006/relationships/image" Target="../media/image46.wmf"/><Relationship Id="rId1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65.wmf"/><Relationship Id="rId7" Type="http://schemas.openxmlformats.org/officeDocument/2006/relationships/image" Target="../media/image64.e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2" Type="http://schemas.openxmlformats.org/officeDocument/2006/relationships/image" Target="../media/image68.emf"/><Relationship Id="rId11" Type="http://schemas.openxmlformats.org/officeDocument/2006/relationships/image" Target="../media/image67.wmf"/><Relationship Id="rId10" Type="http://schemas.openxmlformats.org/officeDocument/2006/relationships/image" Target="../media/image66.wmf"/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46.wmf"/><Relationship Id="rId1" Type="http://schemas.openxmlformats.org/officeDocument/2006/relationships/image" Target="../media/image72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0" Type="http://schemas.openxmlformats.org/officeDocument/2006/relationships/image" Target="../media/image46.wmf"/><Relationship Id="rId1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46.wmf"/><Relationship Id="rId1" Type="http://schemas.openxmlformats.org/officeDocument/2006/relationships/image" Target="../media/image85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75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95.wmf"/><Relationship Id="rId4" Type="http://schemas.openxmlformats.org/officeDocument/2006/relationships/image" Target="../media/image102.wmf"/><Relationship Id="rId3" Type="http://schemas.openxmlformats.org/officeDocument/2006/relationships/image" Target="../media/image75.wmf"/><Relationship Id="rId2" Type="http://schemas.openxmlformats.org/officeDocument/2006/relationships/image" Target="../media/image96.wmf"/><Relationship Id="rId1" Type="http://schemas.openxmlformats.org/officeDocument/2006/relationships/image" Target="../media/image101.w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75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9.wmf"/><Relationship Id="rId2" Type="http://schemas.openxmlformats.org/officeDocument/2006/relationships/image" Target="../media/image104.wmf"/><Relationship Id="rId1" Type="http://schemas.openxmlformats.org/officeDocument/2006/relationships/image" Target="../media/image9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2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3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9.e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w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3" Type="http://schemas.openxmlformats.org/officeDocument/2006/relationships/image" Target="../media/image142.wmf"/><Relationship Id="rId12" Type="http://schemas.openxmlformats.org/officeDocument/2006/relationships/image" Target="../media/image141.wmf"/><Relationship Id="rId11" Type="http://schemas.openxmlformats.org/officeDocument/2006/relationships/image" Target="../media/image140.wmf"/><Relationship Id="rId10" Type="http://schemas.openxmlformats.org/officeDocument/2006/relationships/image" Target="../media/image139.wmf"/><Relationship Id="rId1" Type="http://schemas.openxmlformats.org/officeDocument/2006/relationships/image" Target="../media/image13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8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58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1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sz="2400" dirty="0"/>
              <a:t>动态元件：电容（电感）元件的电流跟电压的约束关系（伏安关系</a:t>
            </a:r>
            <a:r>
              <a:rPr lang="en-US" altLang="zh-CN" sz="2400" dirty="0"/>
              <a:t>VCR</a:t>
            </a:r>
            <a:r>
              <a:rPr lang="zh-CN" altLang="en-US" sz="2400" dirty="0"/>
              <a:t>）是通过导数或微分来表达的，为动态关系。</a:t>
            </a:r>
            <a:endParaRPr lang="zh-CN" altLang="en-US" sz="24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R</a:t>
            </a:r>
            <a:r>
              <a:rPr lang="zh-CN" altLang="en-US" dirty="0"/>
              <a:t>上没有电流，是因为</a:t>
            </a:r>
            <a:r>
              <a:rPr lang="en-US" altLang="zh-CN" dirty="0"/>
              <a:t>Uc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=0</a:t>
            </a:r>
            <a:r>
              <a:rPr lang="zh-CN" altLang="en-US" dirty="0"/>
              <a:t>，即</a:t>
            </a:r>
            <a:r>
              <a:rPr lang="en-US" altLang="zh-CN" dirty="0"/>
              <a:t>Ur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=0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暂态响应：又称固有响应，稳态响应：又称强制响应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4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Freeform 6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00" y="55"/>
                </a:cxn>
                <a:cxn ang="0">
                  <a:pos x="1700" y="49"/>
                </a:cxn>
                <a:cxn ang="0">
                  <a:pos x="0" y="0"/>
                </a:cxn>
                <a:cxn ang="0">
                  <a:pos x="0" y="37"/>
                </a:cxn>
                <a:cxn ang="0">
                  <a:pos x="1700" y="55"/>
                </a:cxn>
                <a:cxn ang="0">
                  <a:pos x="1700" y="5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Freeform 8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64" y="48"/>
                </a:cxn>
                <a:cxn ang="0">
                  <a:pos x="96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64" y="48"/>
                </a:cxn>
                <a:cxn ang="0">
                  <a:pos x="96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Freeform 9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1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19" y="0"/>
                </a:cxn>
                <a:cxn ang="0">
                  <a:pos x="211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Freeform 11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49" y="276"/>
                </a:cxn>
                <a:cxn ang="0">
                  <a:pos x="2484" y="204"/>
                </a:cxn>
                <a:cxn ang="0">
                  <a:pos x="2227" y="0"/>
                </a:cxn>
                <a:cxn ang="0">
                  <a:pos x="0" y="276"/>
                </a:cxn>
                <a:cxn ang="0">
                  <a:pos x="2149" y="276"/>
                </a:cxn>
                <a:cxn ang="0">
                  <a:pos x="214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13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1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18" y="240"/>
                </a:cxn>
                <a:cxn ang="0">
                  <a:pos x="71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6" name="Freeform 15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18" y="318"/>
                </a:cxn>
                <a:cxn ang="0">
                  <a:pos x="71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18" y="318"/>
                </a:cxn>
                <a:cxn ang="0">
                  <a:pos x="71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70" name="Freeform 19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72" name="Freeform 21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76" name="Freeform 25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79" name="Freeform 28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0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81" name="Freeform 30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90" name="Group 39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3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21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5" name="Rectangle 4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48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6147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Freeform 6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00" y="55"/>
                </a:cxn>
                <a:cxn ang="0">
                  <a:pos x="1700" y="49"/>
                </a:cxn>
                <a:cxn ang="0">
                  <a:pos x="0" y="0"/>
                </a:cxn>
                <a:cxn ang="0">
                  <a:pos x="0" y="37"/>
                </a:cxn>
                <a:cxn ang="0">
                  <a:pos x="1700" y="55"/>
                </a:cxn>
                <a:cxn ang="0">
                  <a:pos x="1700" y="5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1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Freeform 8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64" y="48"/>
                </a:cxn>
                <a:cxn ang="0">
                  <a:pos x="96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64" y="48"/>
                </a:cxn>
                <a:cxn ang="0">
                  <a:pos x="96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Freeform 9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1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19" y="0"/>
                </a:cxn>
                <a:cxn ang="0">
                  <a:pos x="211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4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Freeform 11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49" y="276"/>
                </a:cxn>
                <a:cxn ang="0">
                  <a:pos x="2484" y="204"/>
                </a:cxn>
                <a:cxn ang="0">
                  <a:pos x="2227" y="0"/>
                </a:cxn>
                <a:cxn ang="0">
                  <a:pos x="0" y="276"/>
                </a:cxn>
                <a:cxn ang="0">
                  <a:pos x="2149" y="276"/>
                </a:cxn>
                <a:cxn ang="0">
                  <a:pos x="214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6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Freeform 13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1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18" y="240"/>
                </a:cxn>
                <a:cxn ang="0">
                  <a:pos x="71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8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15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18" y="318"/>
                </a:cxn>
                <a:cxn ang="0">
                  <a:pos x="71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18" y="318"/>
                </a:cxn>
                <a:cxn ang="0">
                  <a:pos x="71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0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61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62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Freeform 19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Freeform 21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6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67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68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Freeform 25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70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71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" name="Freeform 28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0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73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Freeform 30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75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76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77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78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79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80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81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82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66" name="Group 39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6184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85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18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88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20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8.bin"/><Relationship Id="rId3" Type="http://schemas.openxmlformats.org/officeDocument/2006/relationships/oleObject" Target="../embeddings/oleObject17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7.wmf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6.wmf"/><Relationship Id="rId17" Type="http://schemas.openxmlformats.org/officeDocument/2006/relationships/oleObject" Target="../embeddings/oleObject25.bin"/><Relationship Id="rId16" Type="http://schemas.openxmlformats.org/officeDocument/2006/relationships/oleObject" Target="../embeddings/oleObject24.bin"/><Relationship Id="rId15" Type="http://schemas.openxmlformats.org/officeDocument/2006/relationships/image" Target="../media/image25.wmf"/><Relationship Id="rId14" Type="http://schemas.openxmlformats.org/officeDocument/2006/relationships/oleObject" Target="../embeddings/oleObject23.bin"/><Relationship Id="rId13" Type="http://schemas.openxmlformats.org/officeDocument/2006/relationships/image" Target="../media/image24.wmf"/><Relationship Id="rId12" Type="http://schemas.openxmlformats.org/officeDocument/2006/relationships/oleObject" Target="../embeddings/oleObject22.bin"/><Relationship Id="rId11" Type="http://schemas.openxmlformats.org/officeDocument/2006/relationships/image" Target="../media/image23.wmf"/><Relationship Id="rId10" Type="http://schemas.openxmlformats.org/officeDocument/2006/relationships/oleObject" Target="../embeddings/oleObject21.bin"/><Relationship Id="rId1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19.wmf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oleObject" Target="../embeddings/oleObject38.bin"/><Relationship Id="rId7" Type="http://schemas.openxmlformats.org/officeDocument/2006/relationships/image" Target="../media/image35.wmf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19.w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2.xml"/><Relationship Id="rId14" Type="http://schemas.openxmlformats.org/officeDocument/2006/relationships/audio" Target="../media/audio1.wav"/><Relationship Id="rId13" Type="http://schemas.openxmlformats.org/officeDocument/2006/relationships/image" Target="../media/image38.emf"/><Relationship Id="rId12" Type="http://schemas.openxmlformats.org/officeDocument/2006/relationships/oleObject" Target="../embeddings/oleObject40.bin"/><Relationship Id="rId11" Type="http://schemas.openxmlformats.org/officeDocument/2006/relationships/image" Target="../media/image37.wmf"/><Relationship Id="rId10" Type="http://schemas.openxmlformats.org/officeDocument/2006/relationships/oleObject" Target="../embeddings/oleObject39.bin"/><Relationship Id="rId1" Type="http://schemas.openxmlformats.org/officeDocument/2006/relationships/oleObject" Target="../embeddings/oleObject3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39.wmf"/><Relationship Id="rId13" Type="http://schemas.openxmlformats.org/officeDocument/2006/relationships/vmlDrawing" Target="../drawings/vmlDrawing8.vml"/><Relationship Id="rId12" Type="http://schemas.openxmlformats.org/officeDocument/2006/relationships/slideLayout" Target="../slideLayouts/slideLayout12.xml"/><Relationship Id="rId11" Type="http://schemas.openxmlformats.org/officeDocument/2006/relationships/audio" Target="../media/audio2.wav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4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oleObject" Target="../embeddings/oleObject50.bin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3.wmf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2.xml"/><Relationship Id="rId11" Type="http://schemas.openxmlformats.org/officeDocument/2006/relationships/audio" Target="../media/audio2.wav"/><Relationship Id="rId10" Type="http://schemas.openxmlformats.org/officeDocument/2006/relationships/oleObject" Target="../embeddings/oleObject51.bin"/><Relationship Id="rId1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52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5.bin"/><Relationship Id="rId25" Type="http://schemas.openxmlformats.org/officeDocument/2006/relationships/vmlDrawing" Target="../drawings/vmlDrawing12.v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57.wmf"/><Relationship Id="rId22" Type="http://schemas.openxmlformats.org/officeDocument/2006/relationships/oleObject" Target="../embeddings/oleObject65.bin"/><Relationship Id="rId21" Type="http://schemas.openxmlformats.org/officeDocument/2006/relationships/image" Target="../media/image46.wmf"/><Relationship Id="rId20" Type="http://schemas.openxmlformats.org/officeDocument/2006/relationships/oleObject" Target="../embeddings/oleObject64.bin"/><Relationship Id="rId2" Type="http://schemas.openxmlformats.org/officeDocument/2006/relationships/image" Target="../media/image48.wmf"/><Relationship Id="rId19" Type="http://schemas.openxmlformats.org/officeDocument/2006/relationships/image" Target="../media/image56.wmf"/><Relationship Id="rId18" Type="http://schemas.openxmlformats.org/officeDocument/2006/relationships/oleObject" Target="../embeddings/oleObject63.bin"/><Relationship Id="rId17" Type="http://schemas.openxmlformats.org/officeDocument/2006/relationships/image" Target="../media/image55.wmf"/><Relationship Id="rId16" Type="http://schemas.openxmlformats.org/officeDocument/2006/relationships/oleObject" Target="../embeddings/oleObject62.bin"/><Relationship Id="rId15" Type="http://schemas.openxmlformats.org/officeDocument/2006/relationships/image" Target="../media/image54.wmf"/><Relationship Id="rId14" Type="http://schemas.openxmlformats.org/officeDocument/2006/relationships/oleObject" Target="../embeddings/oleObject61.bin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61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67.bin"/><Relationship Id="rId29" Type="http://schemas.openxmlformats.org/officeDocument/2006/relationships/notesSlide" Target="../notesSlides/notesSlide3.xml"/><Relationship Id="rId28" Type="http://schemas.openxmlformats.org/officeDocument/2006/relationships/vmlDrawing" Target="../drawings/vmlDrawing13.v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68.emf"/><Relationship Id="rId25" Type="http://schemas.openxmlformats.org/officeDocument/2006/relationships/oleObject" Target="../embeddings/oleObject79.bin"/><Relationship Id="rId24" Type="http://schemas.openxmlformats.org/officeDocument/2006/relationships/image" Target="../media/image67.wmf"/><Relationship Id="rId23" Type="http://schemas.openxmlformats.org/officeDocument/2006/relationships/oleObject" Target="../embeddings/oleObject78.bin"/><Relationship Id="rId22" Type="http://schemas.openxmlformats.org/officeDocument/2006/relationships/oleObject" Target="../embeddings/oleObject77.bin"/><Relationship Id="rId21" Type="http://schemas.openxmlformats.org/officeDocument/2006/relationships/image" Target="../media/image66.wmf"/><Relationship Id="rId20" Type="http://schemas.openxmlformats.org/officeDocument/2006/relationships/oleObject" Target="../embeddings/oleObject76.bin"/><Relationship Id="rId2" Type="http://schemas.openxmlformats.org/officeDocument/2006/relationships/image" Target="../media/image58.wmf"/><Relationship Id="rId19" Type="http://schemas.openxmlformats.org/officeDocument/2006/relationships/oleObject" Target="../embeddings/oleObject75.bin"/><Relationship Id="rId18" Type="http://schemas.openxmlformats.org/officeDocument/2006/relationships/image" Target="../media/image19.wmf"/><Relationship Id="rId17" Type="http://schemas.openxmlformats.org/officeDocument/2006/relationships/oleObject" Target="../embeddings/oleObject74.bin"/><Relationship Id="rId16" Type="http://schemas.openxmlformats.org/officeDocument/2006/relationships/image" Target="../media/image65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64.e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63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8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72.wmf"/><Relationship Id="rId15" Type="http://schemas.openxmlformats.org/officeDocument/2006/relationships/vmlDrawing" Target="../drawings/vmlDrawing15.vml"/><Relationship Id="rId14" Type="http://schemas.openxmlformats.org/officeDocument/2006/relationships/slideLayout" Target="../slideLayouts/slideLayout2.xml"/><Relationship Id="rId13" Type="http://schemas.openxmlformats.org/officeDocument/2006/relationships/audio" Target="../media/audio2.wav"/><Relationship Id="rId12" Type="http://schemas.openxmlformats.org/officeDocument/2006/relationships/oleObject" Target="../embeddings/oleObject89.bin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8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91.bin"/><Relationship Id="rId24" Type="http://schemas.openxmlformats.org/officeDocument/2006/relationships/vmlDrawing" Target="../drawings/vmlDrawing16.vml"/><Relationship Id="rId23" Type="http://schemas.openxmlformats.org/officeDocument/2006/relationships/slideLayout" Target="../slideLayouts/slideLayout2.xml"/><Relationship Id="rId22" Type="http://schemas.openxmlformats.org/officeDocument/2006/relationships/audio" Target="../media/audio2.wav"/><Relationship Id="rId21" Type="http://schemas.openxmlformats.org/officeDocument/2006/relationships/oleObject" Target="../embeddings/oleObject100.bin"/><Relationship Id="rId20" Type="http://schemas.openxmlformats.org/officeDocument/2006/relationships/image" Target="../media/image46.w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84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9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oleObject" Target="../embeddings/oleObject105.bin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85.wmf"/><Relationship Id="rId16" Type="http://schemas.openxmlformats.org/officeDocument/2006/relationships/vmlDrawing" Target="../drawings/vmlDrawing1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4.w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107.bin"/><Relationship Id="rId10" Type="http://schemas.openxmlformats.org/officeDocument/2006/relationships/oleObject" Target="../embeddings/oleObject106.bin"/><Relationship Id="rId1" Type="http://schemas.openxmlformats.org/officeDocument/2006/relationships/oleObject" Target="../embeddings/oleObject101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89.w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114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10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95.wmf"/><Relationship Id="rId19" Type="http://schemas.openxmlformats.org/officeDocument/2006/relationships/vmlDrawing" Target="../drawings/vmlDrawing19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00.wmf"/><Relationship Id="rId16" Type="http://schemas.openxmlformats.org/officeDocument/2006/relationships/oleObject" Target="../embeddings/oleObject124.bin"/><Relationship Id="rId15" Type="http://schemas.openxmlformats.org/officeDocument/2006/relationships/image" Target="../media/image99.wmf"/><Relationship Id="rId14" Type="http://schemas.openxmlformats.org/officeDocument/2006/relationships/oleObject" Target="../embeddings/oleObject123.bin"/><Relationship Id="rId13" Type="http://schemas.openxmlformats.org/officeDocument/2006/relationships/image" Target="../media/image98.wmf"/><Relationship Id="rId12" Type="http://schemas.openxmlformats.org/officeDocument/2006/relationships/oleObject" Target="../embeddings/oleObject122.bin"/><Relationship Id="rId11" Type="http://schemas.openxmlformats.org/officeDocument/2006/relationships/oleObject" Target="../embeddings/oleObject121.bin"/><Relationship Id="rId10" Type="http://schemas.openxmlformats.org/officeDocument/2006/relationships/oleObject" Target="../embeddings/oleObject120.bin"/><Relationship Id="rId1" Type="http://schemas.openxmlformats.org/officeDocument/2006/relationships/oleObject" Target="../embeddings/oleObject115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126.bin"/><Relationship Id="rId20" Type="http://schemas.openxmlformats.org/officeDocument/2006/relationships/vmlDrawing" Target="../drawings/vmlDrawing20.vml"/><Relationship Id="rId2" Type="http://schemas.openxmlformats.org/officeDocument/2006/relationships/image" Target="../media/image101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99.wmf"/><Relationship Id="rId17" Type="http://schemas.openxmlformats.org/officeDocument/2006/relationships/oleObject" Target="../embeddings/oleObject134.bin"/><Relationship Id="rId16" Type="http://schemas.openxmlformats.org/officeDocument/2006/relationships/image" Target="../media/image104.wmf"/><Relationship Id="rId15" Type="http://schemas.openxmlformats.org/officeDocument/2006/relationships/oleObject" Target="../embeddings/oleObject133.bin"/><Relationship Id="rId14" Type="http://schemas.openxmlformats.org/officeDocument/2006/relationships/image" Target="../media/image103.wmf"/><Relationship Id="rId13" Type="http://schemas.openxmlformats.org/officeDocument/2006/relationships/oleObject" Target="../embeddings/oleObject132.bin"/><Relationship Id="rId12" Type="http://schemas.openxmlformats.org/officeDocument/2006/relationships/oleObject" Target="../embeddings/oleObject131.bin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12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9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98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05.png"/><Relationship Id="rId15" Type="http://schemas.openxmlformats.org/officeDocument/2006/relationships/oleObject" Target="../embeddings/oleObject143.bin"/><Relationship Id="rId14" Type="http://schemas.openxmlformats.org/officeDocument/2006/relationships/oleObject" Target="../embeddings/oleObject142.bin"/><Relationship Id="rId13" Type="http://schemas.openxmlformats.org/officeDocument/2006/relationships/oleObject" Target="../embeddings/oleObject141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140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135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6.wmf"/><Relationship Id="rId1" Type="http://schemas.openxmlformats.org/officeDocument/2006/relationships/oleObject" Target="../embeddings/oleObject14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9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48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46.bin"/><Relationship Id="rId2" Type="http://schemas.openxmlformats.org/officeDocument/2006/relationships/image" Target="../media/image107.emf"/><Relationship Id="rId16" Type="http://schemas.openxmlformats.org/officeDocument/2006/relationships/vmlDrawing" Target="../drawings/vmlDrawing2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3.wmf"/><Relationship Id="rId13" Type="http://schemas.openxmlformats.org/officeDocument/2006/relationships/oleObject" Target="../embeddings/oleObject151.bin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150.bin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4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oleObject" Target="../embeddings/oleObject156.bin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14.wmf"/><Relationship Id="rId11" Type="http://schemas.openxmlformats.org/officeDocument/2006/relationships/vmlDrawing" Target="../drawings/vmlDrawing24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5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1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60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18.wmf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5.wmf"/><Relationship Id="rId15" Type="http://schemas.openxmlformats.org/officeDocument/2006/relationships/oleObject" Target="../embeddings/oleObject164.bin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63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62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5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9.e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26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16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3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72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70.bin"/><Relationship Id="rId29" Type="http://schemas.openxmlformats.org/officeDocument/2006/relationships/vmlDrawing" Target="../drawings/vmlDrawing27.vml"/><Relationship Id="rId28" Type="http://schemas.openxmlformats.org/officeDocument/2006/relationships/slideLayout" Target="../slideLayouts/slideLayout2.xml"/><Relationship Id="rId27" Type="http://schemas.openxmlformats.org/officeDocument/2006/relationships/audio" Target="../media/audio2.wav"/><Relationship Id="rId26" Type="http://schemas.openxmlformats.org/officeDocument/2006/relationships/image" Target="../media/image142.wmf"/><Relationship Id="rId25" Type="http://schemas.openxmlformats.org/officeDocument/2006/relationships/oleObject" Target="../embeddings/oleObject181.bin"/><Relationship Id="rId24" Type="http://schemas.openxmlformats.org/officeDocument/2006/relationships/image" Target="../media/image141.wmf"/><Relationship Id="rId23" Type="http://schemas.openxmlformats.org/officeDocument/2006/relationships/oleObject" Target="../embeddings/oleObject180.bin"/><Relationship Id="rId22" Type="http://schemas.openxmlformats.org/officeDocument/2006/relationships/image" Target="../media/image140.wmf"/><Relationship Id="rId21" Type="http://schemas.openxmlformats.org/officeDocument/2006/relationships/oleObject" Target="../embeddings/oleObject179.bin"/><Relationship Id="rId20" Type="http://schemas.openxmlformats.org/officeDocument/2006/relationships/image" Target="../media/image139.wmf"/><Relationship Id="rId2" Type="http://schemas.openxmlformats.org/officeDocument/2006/relationships/image" Target="../media/image130.wmf"/><Relationship Id="rId19" Type="http://schemas.openxmlformats.org/officeDocument/2006/relationships/oleObject" Target="../embeddings/oleObject178.bin"/><Relationship Id="rId18" Type="http://schemas.openxmlformats.org/officeDocument/2006/relationships/image" Target="../media/image138.wmf"/><Relationship Id="rId17" Type="http://schemas.openxmlformats.org/officeDocument/2006/relationships/oleObject" Target="../embeddings/oleObject177.bin"/><Relationship Id="rId16" Type="http://schemas.openxmlformats.org/officeDocument/2006/relationships/image" Target="../media/image137.wmf"/><Relationship Id="rId15" Type="http://schemas.openxmlformats.org/officeDocument/2006/relationships/oleObject" Target="../embeddings/oleObject176.bin"/><Relationship Id="rId14" Type="http://schemas.openxmlformats.org/officeDocument/2006/relationships/image" Target="../media/image136.wmf"/><Relationship Id="rId13" Type="http://schemas.openxmlformats.org/officeDocument/2006/relationships/oleObject" Target="../embeddings/oleObject175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74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6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84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83.bin"/><Relationship Id="rId2" Type="http://schemas.openxmlformats.org/officeDocument/2006/relationships/image" Target="../media/image98.wmf"/><Relationship Id="rId1" Type="http://schemas.openxmlformats.org/officeDocument/2006/relationships/oleObject" Target="../embeddings/oleObject18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7813"/>
            <a:ext cx="85344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第七章 一阶电路的时域分析</a:t>
            </a: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8448" name="Rectangle 16" descr="新闻纸"/>
          <p:cNvSpPr>
            <a:spLocks noChangeArrowheads="1"/>
          </p:cNvSpPr>
          <p:nvPr/>
        </p:nvSpPr>
        <p:spPr bwMode="auto">
          <a:xfrm>
            <a:off x="457200" y="1143000"/>
            <a:ext cx="8243888" cy="5334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F8F8F8">
                <a:gamma/>
                <a:shade val="60000"/>
                <a:invGamma/>
              </a:srgbClr>
            </a:prstShdw>
          </a:effectLst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7.1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动态电路的方程及其初始条件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50" name="Rectangle 18"/>
          <p:cNvSpPr/>
          <p:nvPr/>
        </p:nvSpPr>
        <p:spPr>
          <a:xfrm>
            <a:off x="76200" y="1905000"/>
            <a:ext cx="25146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i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动态电路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51" name="Text Box 19"/>
          <p:cNvSpPr txBox="1"/>
          <p:nvPr/>
        </p:nvSpPr>
        <p:spPr>
          <a:xfrm>
            <a:off x="2362200" y="1905000"/>
            <a:ext cx="62484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含有动态元件的电路称动态电路。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53" name="Text Box 21"/>
          <p:cNvSpPr txBox="1"/>
          <p:nvPr/>
        </p:nvSpPr>
        <p:spPr>
          <a:xfrm>
            <a:off x="533400" y="2438400"/>
            <a:ext cx="8382000" cy="1692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当动态电路状态发生改变时（换路）需要经历一个变化过程才能达到新的稳定状态。这个变化过程称为电路的过渡过程。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54" name="Text Box 22"/>
          <p:cNvSpPr txBox="1"/>
          <p:nvPr/>
        </p:nvSpPr>
        <p:spPr>
          <a:xfrm>
            <a:off x="76200" y="4191000"/>
            <a:ext cx="5029200" cy="51911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过渡过程产生的原因</a:t>
            </a:r>
            <a:r>
              <a:rPr lang="en-US" altLang="zh-CN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en-US" altLang="zh-CN" sz="28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55" name="Text Box 23"/>
          <p:cNvSpPr txBox="1"/>
          <p:nvPr/>
        </p:nvSpPr>
        <p:spPr>
          <a:xfrm>
            <a:off x="519113" y="4725035"/>
            <a:ext cx="8243887" cy="17068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电路内部含有储能元件</a:t>
            </a:r>
            <a:r>
              <a:rPr lang="en-US" altLang="zh-CN" sz="2800" dirty="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L</a:t>
            </a:r>
            <a:r>
              <a:rPr lang="zh-CN" altLang="en-US" sz="2800" dirty="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，</a:t>
            </a:r>
            <a:r>
              <a:rPr lang="en-US" altLang="zh-CN" sz="2800" dirty="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C</a:t>
            </a:r>
            <a:r>
              <a:rPr lang="zh-CN" altLang="en-US" sz="2800" dirty="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电路在换路时能量发生变化，而能量的储存和释放都需要一定的时间来完成。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"/>
                                        <p:tgtEl>
                                          <p:spTgt spid="18455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48" grpId="0"/>
      <p:bldP spid="18450" grpId="0"/>
      <p:bldP spid="18451" grpId="0"/>
      <p:bldP spid="18453" grpId="0"/>
      <p:bldP spid="18454" grpId="0"/>
      <p:bldP spid="1845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2.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电路的初始状态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26981" name="Text Box 5"/>
          <p:cNvSpPr txBox="1"/>
          <p:nvPr/>
        </p:nvSpPr>
        <p:spPr>
          <a:xfrm>
            <a:off x="152400" y="762000"/>
            <a:ext cx="8686800" cy="11176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）把某一时刻的电容电压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或电感电流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称该时刻的电路状态。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982" name="Text Box 6"/>
          <p:cNvSpPr txBox="1"/>
          <p:nvPr/>
        </p:nvSpPr>
        <p:spPr>
          <a:xfrm>
            <a:off x="152400" y="1919288"/>
            <a:ext cx="876300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）初始时刻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称电路的初始状态。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6"/>
          <p:cNvGrpSpPr/>
          <p:nvPr/>
        </p:nvGrpSpPr>
        <p:grpSpPr>
          <a:xfrm>
            <a:off x="152400" y="4876800"/>
            <a:ext cx="2771775" cy="1239838"/>
            <a:chOff x="340" y="1680"/>
            <a:chExt cx="1746" cy="781"/>
          </a:xfrm>
        </p:grpSpPr>
        <p:sp>
          <p:nvSpPr>
            <p:cNvPr id="6157" name="Text Box 97"/>
            <p:cNvSpPr txBox="1"/>
            <p:nvPr/>
          </p:nvSpPr>
          <p:spPr>
            <a:xfrm>
              <a:off x="541" y="1680"/>
              <a:ext cx="154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)= 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3600" b="1" baseline="-2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8" name="Text Box 98"/>
            <p:cNvSpPr txBox="1"/>
            <p:nvPr/>
          </p:nvSpPr>
          <p:spPr>
            <a:xfrm>
              <a:off x="569" y="2134"/>
              <a:ext cx="12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3600" b="1" baseline="-2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9" name="AutoShape 99"/>
            <p:cNvSpPr/>
            <p:nvPr/>
          </p:nvSpPr>
          <p:spPr>
            <a:xfrm>
              <a:off x="340" y="1842"/>
              <a:ext cx="91" cy="590"/>
            </a:xfrm>
            <a:prstGeom prst="leftBrace">
              <a:avLst>
                <a:gd name="adj1" fmla="val 54029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00"/>
          <p:cNvGrpSpPr/>
          <p:nvPr/>
        </p:nvGrpSpPr>
        <p:grpSpPr>
          <a:xfrm>
            <a:off x="76200" y="3378200"/>
            <a:ext cx="2825750" cy="1193800"/>
            <a:chOff x="340" y="728"/>
            <a:chExt cx="1780" cy="752"/>
          </a:xfrm>
        </p:grpSpPr>
        <p:sp>
          <p:nvSpPr>
            <p:cNvPr id="6154" name="Text Box 101"/>
            <p:cNvSpPr txBox="1"/>
            <p:nvPr/>
          </p:nvSpPr>
          <p:spPr>
            <a:xfrm>
              <a:off x="558" y="728"/>
              <a:ext cx="14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c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3600" b="1" baseline="-2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5" name="Text Box 102"/>
            <p:cNvSpPr txBox="1"/>
            <p:nvPr/>
          </p:nvSpPr>
          <p:spPr>
            <a:xfrm>
              <a:off x="561" y="1136"/>
              <a:ext cx="15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 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(0</a:t>
              </a:r>
              <a:r>
                <a:rPr lang="en-US" altLang="zh-CN" sz="3600" b="1" baseline="-2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6" name="AutoShape 103"/>
            <p:cNvSpPr/>
            <p:nvPr/>
          </p:nvSpPr>
          <p:spPr>
            <a:xfrm>
              <a:off x="340" y="845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27080" name="Rectangle 104"/>
          <p:cNvSpPr/>
          <p:nvPr/>
        </p:nvSpPr>
        <p:spPr>
          <a:xfrm>
            <a:off x="0" y="2605088"/>
            <a:ext cx="3962400" cy="519112"/>
          </a:xfrm>
          <a:prstGeom prst="rect">
            <a:avLst/>
          </a:prstGeom>
          <a:noFill/>
          <a:ln w="38100">
            <a:noFill/>
          </a:ln>
        </p:spPr>
        <p:txBody>
          <a:bodyPr lIns="234000" rIns="198000" anchor="ctr" anchorCtr="0">
            <a:spAutoFit/>
          </a:bodyPr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换路定律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27081" name="Text Box 105"/>
          <p:cNvSpPr txBox="1"/>
          <p:nvPr/>
        </p:nvSpPr>
        <p:spPr>
          <a:xfrm>
            <a:off x="2667000" y="4935538"/>
            <a:ext cx="7010400" cy="11604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换路瞬间，若电感电压保持为有限值，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则电感电流（磁链）换路前后保持不变。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082" name="Text Box 106"/>
          <p:cNvSpPr txBox="1"/>
          <p:nvPr/>
        </p:nvSpPr>
        <p:spPr>
          <a:xfrm>
            <a:off x="2473325" y="3352800"/>
            <a:ext cx="7280275" cy="11604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换路瞬间，若电容电流保持为有限值，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则电容电压（电荷）换路前后保持不变。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100"/>
                                        <p:tgtEl>
                                          <p:spTgt spid="12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"/>
                                        <p:tgtEl>
                                          <p:spTgt spid="12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/>
      <p:bldP spid="126981" grpId="0"/>
      <p:bldP spid="126982" grpId="0"/>
      <p:bldP spid="127080" grpId="0"/>
      <p:bldP spid="127081" grpId="0"/>
      <p:bldP spid="1270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>
            <a:spLocks noGrp="1"/>
          </p:cNvSpPr>
          <p:nvPr>
            <p:ph type="title"/>
          </p:nvPr>
        </p:nvSpPr>
        <p:spPr>
          <a:xfrm>
            <a:off x="0" y="57150"/>
            <a:ext cx="4800600" cy="6365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dirty="0">
                <a:solidFill>
                  <a:srgbClr val="FFFF00"/>
                </a:solidFill>
                <a:effectLst/>
                <a:latin typeface="宋体" panose="02010600030101010101" pitchFamily="2" charset="-122"/>
              </a:rPr>
              <a:t>4.</a:t>
            </a:r>
            <a:r>
              <a:rPr lang="zh-CN" altLang="en-US" sz="3200" dirty="0">
                <a:solidFill>
                  <a:srgbClr val="FFFF00"/>
                </a:solidFill>
                <a:effectLst/>
                <a:latin typeface="宋体" panose="02010600030101010101" pitchFamily="2" charset="-122"/>
              </a:rPr>
              <a:t>电路初始值的确定</a:t>
            </a:r>
            <a:endParaRPr lang="zh-CN" altLang="en-US" sz="3200" dirty="0">
              <a:effectLst/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043488" y="152400"/>
            <a:ext cx="4405312" cy="2025650"/>
            <a:chOff x="840" y="1509"/>
            <a:chExt cx="2583" cy="1276"/>
          </a:xfrm>
        </p:grpSpPr>
        <p:sp>
          <p:nvSpPr>
            <p:cNvPr id="7218" name="Line 5"/>
            <p:cNvSpPr/>
            <p:nvPr/>
          </p:nvSpPr>
          <p:spPr>
            <a:xfrm flipV="1">
              <a:off x="1059" y="2751"/>
              <a:ext cx="16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9" name="Text Box 6"/>
            <p:cNvSpPr txBox="1"/>
            <p:nvPr/>
          </p:nvSpPr>
          <p:spPr>
            <a:xfrm>
              <a:off x="1104" y="2234"/>
              <a:ext cx="64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10V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20" name="Line 7"/>
            <p:cNvSpPr/>
            <p:nvPr/>
          </p:nvSpPr>
          <p:spPr>
            <a:xfrm flipV="1">
              <a:off x="1059" y="1845"/>
              <a:ext cx="0" cy="8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1" name="Line 8"/>
            <p:cNvSpPr/>
            <p:nvPr/>
          </p:nvSpPr>
          <p:spPr>
            <a:xfrm flipH="1">
              <a:off x="1059" y="1852"/>
              <a:ext cx="1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2" name="Oval 9"/>
            <p:cNvSpPr/>
            <p:nvPr/>
          </p:nvSpPr>
          <p:spPr>
            <a:xfrm>
              <a:off x="963" y="2259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23" name="Text Box 10"/>
            <p:cNvSpPr txBox="1"/>
            <p:nvPr/>
          </p:nvSpPr>
          <p:spPr>
            <a:xfrm>
              <a:off x="840" y="2021"/>
              <a:ext cx="255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grpSp>
          <p:nvGrpSpPr>
            <p:cNvPr id="7224" name="Group 11"/>
            <p:cNvGrpSpPr/>
            <p:nvPr/>
          </p:nvGrpSpPr>
          <p:grpSpPr>
            <a:xfrm rot="5282384">
              <a:off x="1747" y="2253"/>
              <a:ext cx="243" cy="162"/>
              <a:chOff x="1206" y="1280"/>
              <a:chExt cx="243" cy="162"/>
            </a:xfrm>
          </p:grpSpPr>
          <p:sp>
            <p:nvSpPr>
              <p:cNvPr id="7246" name="Oval 12"/>
              <p:cNvSpPr/>
              <p:nvPr/>
            </p:nvSpPr>
            <p:spPr>
              <a:xfrm>
                <a:off x="1397" y="1395"/>
                <a:ext cx="52" cy="47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247" name="Oval 13"/>
              <p:cNvSpPr/>
              <p:nvPr/>
            </p:nvSpPr>
            <p:spPr>
              <a:xfrm>
                <a:off x="1206" y="1395"/>
                <a:ext cx="52" cy="47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248" name="Line 14"/>
              <p:cNvSpPr/>
              <p:nvPr/>
            </p:nvSpPr>
            <p:spPr>
              <a:xfrm flipV="1">
                <a:off x="1258" y="1280"/>
                <a:ext cx="191" cy="11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225" name="Rectangle 15"/>
            <p:cNvSpPr/>
            <p:nvPr/>
          </p:nvSpPr>
          <p:spPr>
            <a:xfrm>
              <a:off x="2096" y="1810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26" name="Line 16"/>
            <p:cNvSpPr/>
            <p:nvPr/>
          </p:nvSpPr>
          <p:spPr>
            <a:xfrm>
              <a:off x="2422" y="1870"/>
              <a:ext cx="31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7" name="Text Box 17"/>
            <p:cNvSpPr txBox="1"/>
            <p:nvPr/>
          </p:nvSpPr>
          <p:spPr>
            <a:xfrm>
              <a:off x="2146" y="1509"/>
              <a:ext cx="47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28" name="Line 18"/>
            <p:cNvSpPr/>
            <p:nvPr/>
          </p:nvSpPr>
          <p:spPr>
            <a:xfrm flipH="1" flipV="1">
              <a:off x="2732" y="1856"/>
              <a:ext cx="0" cy="2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9" name="Text Box 19"/>
            <p:cNvSpPr txBox="1"/>
            <p:nvPr/>
          </p:nvSpPr>
          <p:spPr>
            <a:xfrm>
              <a:off x="2432" y="2140"/>
              <a:ext cx="34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30" name="Arc 20"/>
            <p:cNvSpPr/>
            <p:nvPr/>
          </p:nvSpPr>
          <p:spPr>
            <a:xfrm rot="-5325118">
              <a:off x="2606" y="2383"/>
              <a:ext cx="141" cy="111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31" name="Arc 21"/>
            <p:cNvSpPr/>
            <p:nvPr/>
          </p:nvSpPr>
          <p:spPr>
            <a:xfrm rot="-5325118">
              <a:off x="2609" y="2240"/>
              <a:ext cx="141" cy="111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32" name="Arc 22"/>
            <p:cNvSpPr/>
            <p:nvPr/>
          </p:nvSpPr>
          <p:spPr>
            <a:xfrm rot="-5325118">
              <a:off x="2611" y="2097"/>
              <a:ext cx="142" cy="111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33" name="Line 23"/>
            <p:cNvSpPr/>
            <p:nvPr/>
          </p:nvSpPr>
          <p:spPr>
            <a:xfrm flipV="1">
              <a:off x="2722" y="2509"/>
              <a:ext cx="0" cy="2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34" name="Line 24"/>
            <p:cNvSpPr/>
            <p:nvPr/>
          </p:nvSpPr>
          <p:spPr>
            <a:xfrm flipH="1">
              <a:off x="1825" y="2468"/>
              <a:ext cx="0" cy="2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35" name="Line 25"/>
            <p:cNvSpPr/>
            <p:nvPr/>
          </p:nvSpPr>
          <p:spPr>
            <a:xfrm flipV="1">
              <a:off x="1813" y="1870"/>
              <a:ext cx="0" cy="3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36" name="Text Box 26"/>
            <p:cNvSpPr txBox="1"/>
            <p:nvPr/>
          </p:nvSpPr>
          <p:spPr>
            <a:xfrm>
              <a:off x="1224" y="1552"/>
              <a:ext cx="46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37" name="Oval 27"/>
            <p:cNvSpPr/>
            <p:nvPr/>
          </p:nvSpPr>
          <p:spPr>
            <a:xfrm>
              <a:off x="1801" y="270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38" name="Oval 28"/>
            <p:cNvSpPr/>
            <p:nvPr/>
          </p:nvSpPr>
          <p:spPr>
            <a:xfrm>
              <a:off x="1788" y="1816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39" name="Line 29"/>
            <p:cNvSpPr/>
            <p:nvPr/>
          </p:nvSpPr>
          <p:spPr>
            <a:xfrm>
              <a:off x="1562" y="1852"/>
              <a:ext cx="53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40" name="Rectangle 30"/>
            <p:cNvSpPr/>
            <p:nvPr/>
          </p:nvSpPr>
          <p:spPr>
            <a:xfrm>
              <a:off x="1222" y="1810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41" name="Text Box 31"/>
            <p:cNvSpPr txBox="1"/>
            <p:nvPr/>
          </p:nvSpPr>
          <p:spPr>
            <a:xfrm>
              <a:off x="2722" y="2221"/>
              <a:ext cx="70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0.1H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42" name="Text Box 32"/>
            <p:cNvSpPr txBox="1"/>
            <p:nvPr/>
          </p:nvSpPr>
          <p:spPr>
            <a:xfrm>
              <a:off x="2778" y="1858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43" name="Line 33"/>
            <p:cNvSpPr/>
            <p:nvPr/>
          </p:nvSpPr>
          <p:spPr>
            <a:xfrm>
              <a:off x="2734" y="1911"/>
              <a:ext cx="0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44" name="Text Box 34"/>
            <p:cNvSpPr txBox="1"/>
            <p:nvPr/>
          </p:nvSpPr>
          <p:spPr>
            <a:xfrm>
              <a:off x="1190" y="1894"/>
              <a:ext cx="4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1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7245" name="Text Box 35"/>
            <p:cNvSpPr txBox="1"/>
            <p:nvPr/>
          </p:nvSpPr>
          <p:spPr>
            <a:xfrm>
              <a:off x="2075" y="1891"/>
              <a:ext cx="4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4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  <p:sp>
        <p:nvSpPr>
          <p:cNvPr id="138276" name="Text Box 36"/>
          <p:cNvSpPr txBox="1"/>
          <p:nvPr/>
        </p:nvSpPr>
        <p:spPr>
          <a:xfrm>
            <a:off x="6724650" y="1558925"/>
            <a:ext cx="1449388" cy="4603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</a:rPr>
              <a:t>t =0</a:t>
            </a:r>
            <a:endParaRPr lang="en-US" altLang="zh-CN" sz="24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38277" name="Line 37"/>
          <p:cNvSpPr/>
          <p:nvPr/>
        </p:nvSpPr>
        <p:spPr>
          <a:xfrm flipH="1">
            <a:off x="6689725" y="1331913"/>
            <a:ext cx="198438" cy="31432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8278" name="Text Box 38"/>
          <p:cNvSpPr txBox="1"/>
          <p:nvPr/>
        </p:nvSpPr>
        <p:spPr>
          <a:xfrm>
            <a:off x="390525" y="765175"/>
            <a:ext cx="4702175" cy="163036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已知开关闭合前电路已达到稳定，求开关闭合后各电压、电流的初始值。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279" name="Text Box 39"/>
          <p:cNvSpPr txBox="1"/>
          <p:nvPr/>
        </p:nvSpPr>
        <p:spPr>
          <a:xfrm>
            <a:off x="4452938" y="2924175"/>
            <a:ext cx="4691062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2.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作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 =0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+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时刻的等效电路。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38280" name="Text Box 40"/>
          <p:cNvSpPr txBox="1"/>
          <p:nvPr/>
        </p:nvSpPr>
        <p:spPr>
          <a:xfrm>
            <a:off x="85725" y="2976563"/>
            <a:ext cx="1408113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  <a:ea typeface="方正行楷简体" pitchFamily="2" charset="-122"/>
              </a:rPr>
              <a:t>解：</a:t>
            </a:r>
            <a:endParaRPr lang="zh-CN" altLang="en-US" sz="2800" b="1" dirty="0">
              <a:solidFill>
                <a:schemeClr val="tx2"/>
              </a:solidFill>
              <a:latin typeface="_x0001_" pitchFamily="18" charset="0"/>
              <a:ea typeface="方正行楷简体" pitchFamily="2" charset="-122"/>
            </a:endParaRPr>
          </a:p>
        </p:txBody>
      </p:sp>
      <p:sp>
        <p:nvSpPr>
          <p:cNvPr id="138281" name="Text Box 41"/>
          <p:cNvSpPr txBox="1"/>
          <p:nvPr/>
        </p:nvSpPr>
        <p:spPr>
          <a:xfrm>
            <a:off x="100013" y="2895600"/>
            <a:ext cx="4319587" cy="16414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   1.</a:t>
            </a:r>
            <a:r>
              <a:rPr lang="en-US" altLang="zh-CN" sz="2800" b="1" dirty="0">
                <a:latin typeface="_x0001_" pitchFamily="18" charset="0"/>
              </a:rPr>
              <a:t> 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已知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 =0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时，电路达到稳定，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恒定，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=0 , 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即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graphicFrame>
        <p:nvGraphicFramePr>
          <p:cNvPr id="138282" name="Object 42"/>
          <p:cNvGraphicFramePr>
            <a:graphicFrameLocks noChangeAspect="1"/>
          </p:cNvGraphicFramePr>
          <p:nvPr/>
        </p:nvGraphicFramePr>
        <p:xfrm>
          <a:off x="300038" y="4572000"/>
          <a:ext cx="28956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82700" imgH="393700" progId="Equation.3">
                  <p:embed/>
                </p:oleObj>
              </mc:Choice>
              <mc:Fallback>
                <p:oleObj name="" r:id="rId1" imgW="128270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00038" y="4572000"/>
                        <a:ext cx="2895600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84" name="Object 44"/>
          <p:cNvGraphicFramePr>
            <a:graphicFrameLocks noChangeAspect="1"/>
          </p:cNvGraphicFramePr>
          <p:nvPr/>
        </p:nvGraphicFramePr>
        <p:xfrm>
          <a:off x="642938" y="5562600"/>
          <a:ext cx="2667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053465" imgH="215900" progId="Equation.3">
                  <p:embed/>
                </p:oleObj>
              </mc:Choice>
              <mc:Fallback>
                <p:oleObj name="" r:id="rId3" imgW="1053465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lum bright="89999"/>
                      </a:blip>
                      <a:stretch>
                        <a:fillRect/>
                      </a:stretch>
                    </p:blipFill>
                    <p:spPr>
                      <a:xfrm>
                        <a:off x="642938" y="5562600"/>
                        <a:ext cx="26670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87" name="Object 47"/>
          <p:cNvGraphicFramePr>
            <a:graphicFrameLocks noChangeAspect="1"/>
          </p:cNvGraphicFramePr>
          <p:nvPr/>
        </p:nvGraphicFramePr>
        <p:xfrm>
          <a:off x="533400" y="6248400"/>
          <a:ext cx="2362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901065" imgH="215900" progId="Equation.3">
                  <p:embed/>
                </p:oleObj>
              </mc:Choice>
              <mc:Fallback>
                <p:oleObj name="" r:id="rId5" imgW="901065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3400" y="6248400"/>
                        <a:ext cx="23622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89" name="Line 49"/>
          <p:cNvSpPr/>
          <p:nvPr/>
        </p:nvSpPr>
        <p:spPr>
          <a:xfrm>
            <a:off x="4365625" y="3016250"/>
            <a:ext cx="0" cy="323215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38290" name="Text Box 50"/>
          <p:cNvSpPr txBox="1"/>
          <p:nvPr/>
        </p:nvSpPr>
        <p:spPr>
          <a:xfrm>
            <a:off x="5181600" y="3505200"/>
            <a:ext cx="3443288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（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L→2A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的电流源</a:t>
            </a:r>
            <a:r>
              <a:rPr lang="zh-CN" altLang="en-US" sz="2800" b="1" dirty="0">
                <a:latin typeface="_x0001_" pitchFamily="18" charset="0"/>
              </a:rPr>
              <a:t>）</a:t>
            </a:r>
            <a:endParaRPr lang="zh-CN" altLang="en-US" sz="2800" b="1" dirty="0">
              <a:latin typeface="_x0001_" pitchFamily="18" charset="0"/>
            </a:endParaRPr>
          </a:p>
        </p:txBody>
      </p:sp>
      <p:grpSp>
        <p:nvGrpSpPr>
          <p:cNvPr id="4" name="Group 51"/>
          <p:cNvGrpSpPr/>
          <p:nvPr/>
        </p:nvGrpSpPr>
        <p:grpSpPr>
          <a:xfrm>
            <a:off x="4261048" y="4040505"/>
            <a:ext cx="4841360" cy="2133600"/>
            <a:chOff x="2719" y="2134"/>
            <a:chExt cx="2869" cy="1240"/>
          </a:xfrm>
        </p:grpSpPr>
        <p:sp>
          <p:nvSpPr>
            <p:cNvPr id="7188" name="Line 52"/>
            <p:cNvSpPr/>
            <p:nvPr/>
          </p:nvSpPr>
          <p:spPr>
            <a:xfrm flipV="1">
              <a:off x="3327" y="3340"/>
              <a:ext cx="16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9" name="Text Box 53"/>
            <p:cNvSpPr txBox="1"/>
            <p:nvPr/>
          </p:nvSpPr>
          <p:spPr>
            <a:xfrm>
              <a:off x="2719" y="2798"/>
              <a:ext cx="749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10V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190" name="Line 54"/>
            <p:cNvSpPr/>
            <p:nvPr/>
          </p:nvSpPr>
          <p:spPr>
            <a:xfrm flipV="1">
              <a:off x="3327" y="2434"/>
              <a:ext cx="0" cy="8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1" name="Line 55"/>
            <p:cNvSpPr/>
            <p:nvPr/>
          </p:nvSpPr>
          <p:spPr>
            <a:xfrm flipH="1">
              <a:off x="3309" y="2441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2" name="Oval 56"/>
            <p:cNvSpPr/>
            <p:nvPr/>
          </p:nvSpPr>
          <p:spPr>
            <a:xfrm>
              <a:off x="3231" y="2848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93" name="Text Box 57"/>
            <p:cNvSpPr txBox="1"/>
            <p:nvPr/>
          </p:nvSpPr>
          <p:spPr>
            <a:xfrm>
              <a:off x="3108" y="2610"/>
              <a:ext cx="255" cy="58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7194" name="Rectangle 58"/>
            <p:cNvSpPr/>
            <p:nvPr/>
          </p:nvSpPr>
          <p:spPr>
            <a:xfrm>
              <a:off x="4364" y="2399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95" name="Line 59"/>
            <p:cNvSpPr/>
            <p:nvPr/>
          </p:nvSpPr>
          <p:spPr>
            <a:xfrm>
              <a:off x="4690" y="2459"/>
              <a:ext cx="31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6" name="Text Box 60"/>
            <p:cNvSpPr txBox="1"/>
            <p:nvPr/>
          </p:nvSpPr>
          <p:spPr>
            <a:xfrm>
              <a:off x="4414" y="2134"/>
              <a:ext cx="624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197" name="Line 61"/>
            <p:cNvSpPr/>
            <p:nvPr/>
          </p:nvSpPr>
          <p:spPr>
            <a:xfrm flipV="1">
              <a:off x="4135" y="2459"/>
              <a:ext cx="0" cy="9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Text Box 62"/>
            <p:cNvSpPr txBox="1"/>
            <p:nvPr/>
          </p:nvSpPr>
          <p:spPr>
            <a:xfrm>
              <a:off x="3636" y="2141"/>
              <a:ext cx="39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199" name="Oval 63"/>
            <p:cNvSpPr/>
            <p:nvPr/>
          </p:nvSpPr>
          <p:spPr>
            <a:xfrm>
              <a:off x="4105" y="3297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00" name="Oval 64"/>
            <p:cNvSpPr/>
            <p:nvPr/>
          </p:nvSpPr>
          <p:spPr>
            <a:xfrm>
              <a:off x="4110" y="2405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01" name="Line 65"/>
            <p:cNvSpPr/>
            <p:nvPr/>
          </p:nvSpPr>
          <p:spPr>
            <a:xfrm>
              <a:off x="3939" y="2441"/>
              <a:ext cx="4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2" name="Rectangle 66"/>
            <p:cNvSpPr/>
            <p:nvPr/>
          </p:nvSpPr>
          <p:spPr>
            <a:xfrm>
              <a:off x="3598" y="2399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03" name="Text Box 67"/>
            <p:cNvSpPr txBox="1"/>
            <p:nvPr/>
          </p:nvSpPr>
          <p:spPr>
            <a:xfrm>
              <a:off x="5015" y="2422"/>
              <a:ext cx="573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04" name="Line 68"/>
            <p:cNvSpPr/>
            <p:nvPr/>
          </p:nvSpPr>
          <p:spPr>
            <a:xfrm>
              <a:off x="4141" y="2798"/>
              <a:ext cx="0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5" name="Text Box 69"/>
            <p:cNvSpPr txBox="1"/>
            <p:nvPr/>
          </p:nvSpPr>
          <p:spPr>
            <a:xfrm>
              <a:off x="3566" y="2483"/>
              <a:ext cx="477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1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7206" name="Text Box 70"/>
            <p:cNvSpPr txBox="1"/>
            <p:nvPr/>
          </p:nvSpPr>
          <p:spPr>
            <a:xfrm>
              <a:off x="4343" y="2480"/>
              <a:ext cx="477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4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7207" name="Oval 71"/>
            <p:cNvSpPr/>
            <p:nvPr/>
          </p:nvSpPr>
          <p:spPr>
            <a:xfrm>
              <a:off x="4892" y="2756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08" name="Line 72"/>
            <p:cNvSpPr/>
            <p:nvPr/>
          </p:nvSpPr>
          <p:spPr>
            <a:xfrm>
              <a:off x="4892" y="2859"/>
              <a:ext cx="1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9" name="Line 73"/>
            <p:cNvSpPr/>
            <p:nvPr/>
          </p:nvSpPr>
          <p:spPr>
            <a:xfrm>
              <a:off x="4982" y="2953"/>
              <a:ext cx="0" cy="4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0" name="Line 74"/>
            <p:cNvSpPr/>
            <p:nvPr/>
          </p:nvSpPr>
          <p:spPr>
            <a:xfrm flipH="1">
              <a:off x="4982" y="2462"/>
              <a:ext cx="0" cy="2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1" name="Text Box 75"/>
            <p:cNvSpPr txBox="1"/>
            <p:nvPr/>
          </p:nvSpPr>
          <p:spPr>
            <a:xfrm>
              <a:off x="5072" y="2843"/>
              <a:ext cx="396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2A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12" name="Line 76"/>
            <p:cNvSpPr/>
            <p:nvPr/>
          </p:nvSpPr>
          <p:spPr>
            <a:xfrm>
              <a:off x="4982" y="2536"/>
              <a:ext cx="0" cy="1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13" name="Text Box 77"/>
            <p:cNvSpPr txBox="1"/>
            <p:nvPr/>
          </p:nvSpPr>
          <p:spPr>
            <a:xfrm>
              <a:off x="3144" y="2134"/>
              <a:ext cx="573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14" name="Text Box 78"/>
            <p:cNvSpPr txBox="1"/>
            <p:nvPr/>
          </p:nvSpPr>
          <p:spPr>
            <a:xfrm>
              <a:off x="3636" y="2826"/>
              <a:ext cx="573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15" name="Line 79"/>
            <p:cNvSpPr/>
            <p:nvPr/>
          </p:nvSpPr>
          <p:spPr>
            <a:xfrm>
              <a:off x="3458" y="2441"/>
              <a:ext cx="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16" name="Text Box 80"/>
            <p:cNvSpPr txBox="1"/>
            <p:nvPr/>
          </p:nvSpPr>
          <p:spPr>
            <a:xfrm>
              <a:off x="4267" y="2685"/>
              <a:ext cx="758" cy="33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7217" name="Text Box 81"/>
            <p:cNvSpPr txBox="1"/>
            <p:nvPr/>
          </p:nvSpPr>
          <p:spPr>
            <a:xfrm>
              <a:off x="4722" y="2506"/>
              <a:ext cx="260" cy="6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+</a:t>
              </a:r>
              <a:endParaRPr lang="en-US" altLang="zh-CN" sz="28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38322" name="Rectangle 82"/>
          <p:cNvSpPr/>
          <p:nvPr/>
        </p:nvSpPr>
        <p:spPr>
          <a:xfrm>
            <a:off x="0" y="762000"/>
            <a:ext cx="6019800" cy="5603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</a:rPr>
              <a:t>7.1: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38324" name="Text Box 84"/>
          <p:cNvSpPr txBox="1"/>
          <p:nvPr/>
        </p:nvSpPr>
        <p:spPr>
          <a:xfrm>
            <a:off x="304800" y="2362200"/>
            <a:ext cx="400748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( t = 0</a:t>
            </a:r>
            <a:r>
              <a:rPr lang="en-US" altLang="zh-CN" sz="2400" b="1" baseline="-250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</a:t>
            </a:r>
            <a:r>
              <a: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zh-CN" sz="24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为换路前的瞬间</a:t>
            </a:r>
            <a:r>
              <a:rPr lang="en-US" altLang="zh-CN" sz="24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,</a:t>
            </a:r>
            <a:endParaRPr lang="en-US" altLang="zh-CN" sz="2400" dirty="0">
              <a:solidFill>
                <a:schemeClr val="tx2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38325" name="Text Box 85"/>
          <p:cNvSpPr txBox="1"/>
          <p:nvPr/>
        </p:nvSpPr>
        <p:spPr>
          <a:xfrm>
            <a:off x="3601085" y="2361883"/>
            <a:ext cx="3584575" cy="4603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 = 0</a:t>
            </a:r>
            <a:r>
              <a:rPr lang="en-US" altLang="zh-CN" sz="2400" b="1" baseline="-250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+   </a:t>
            </a:r>
            <a:r>
              <a:rPr lang="zh-CN" altLang="zh-CN" sz="24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为换路后的瞬间</a:t>
            </a:r>
            <a:r>
              <a: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)</a:t>
            </a:r>
            <a:endParaRPr lang="en-US" altLang="zh-CN" sz="2400" b="1" dirty="0">
              <a:solidFill>
                <a:schemeClr val="tx2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38328" name="Text Box 88"/>
          <p:cNvSpPr txBox="1"/>
          <p:nvPr/>
        </p:nvSpPr>
        <p:spPr>
          <a:xfrm>
            <a:off x="533400" y="3967163"/>
            <a:ext cx="3660775" cy="60769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L→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短路。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3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3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3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3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/>
      <p:bldP spid="138276" grpId="0"/>
      <p:bldP spid="138278" grpId="0"/>
      <p:bldP spid="138279" grpId="0"/>
      <p:bldP spid="138280" grpId="0"/>
      <p:bldP spid="138281" grpId="0"/>
      <p:bldP spid="138290" grpId="0"/>
      <p:bldP spid="138322" grpId="0"/>
      <p:bldP spid="138324" grpId="0"/>
      <p:bldP spid="138325" grpId="0"/>
      <p:bldP spid="1383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685800" y="1366838"/>
          <a:ext cx="25638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1040765" imgH="393700" progId="Equation.3">
                  <p:embed/>
                </p:oleObj>
              </mc:Choice>
              <mc:Fallback>
                <p:oleObj name="" r:id="rId1" imgW="1040765" imgH="393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1366838"/>
                        <a:ext cx="2563813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>
          <a:xfrm>
            <a:off x="4348612" y="1066800"/>
            <a:ext cx="4795388" cy="2133600"/>
            <a:chOff x="2690" y="2134"/>
            <a:chExt cx="2898" cy="1240"/>
          </a:xfrm>
        </p:grpSpPr>
        <p:sp>
          <p:nvSpPr>
            <p:cNvPr id="8202" name="Line 6"/>
            <p:cNvSpPr/>
            <p:nvPr/>
          </p:nvSpPr>
          <p:spPr>
            <a:xfrm flipV="1">
              <a:off x="3327" y="3340"/>
              <a:ext cx="16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3" name="Text Box 7"/>
            <p:cNvSpPr txBox="1"/>
            <p:nvPr/>
          </p:nvSpPr>
          <p:spPr>
            <a:xfrm>
              <a:off x="2690" y="2798"/>
              <a:ext cx="77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10V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04" name="Line 8"/>
            <p:cNvSpPr/>
            <p:nvPr/>
          </p:nvSpPr>
          <p:spPr>
            <a:xfrm flipV="1">
              <a:off x="3327" y="2434"/>
              <a:ext cx="0" cy="8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5" name="Line 9"/>
            <p:cNvSpPr/>
            <p:nvPr/>
          </p:nvSpPr>
          <p:spPr>
            <a:xfrm flipH="1">
              <a:off x="3309" y="2441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6" name="Oval 10"/>
            <p:cNvSpPr/>
            <p:nvPr/>
          </p:nvSpPr>
          <p:spPr>
            <a:xfrm>
              <a:off x="3231" y="2848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07" name="Text Box 11"/>
            <p:cNvSpPr txBox="1"/>
            <p:nvPr/>
          </p:nvSpPr>
          <p:spPr>
            <a:xfrm>
              <a:off x="3108" y="2610"/>
              <a:ext cx="255" cy="58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8208" name="Rectangle 12"/>
            <p:cNvSpPr/>
            <p:nvPr/>
          </p:nvSpPr>
          <p:spPr>
            <a:xfrm>
              <a:off x="4364" y="2399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09" name="Line 13"/>
            <p:cNvSpPr/>
            <p:nvPr/>
          </p:nvSpPr>
          <p:spPr>
            <a:xfrm>
              <a:off x="4690" y="2459"/>
              <a:ext cx="31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0" name="Text Box 14"/>
            <p:cNvSpPr txBox="1"/>
            <p:nvPr/>
          </p:nvSpPr>
          <p:spPr>
            <a:xfrm>
              <a:off x="4414" y="2134"/>
              <a:ext cx="47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11" name="Line 15"/>
            <p:cNvSpPr/>
            <p:nvPr/>
          </p:nvSpPr>
          <p:spPr>
            <a:xfrm flipV="1">
              <a:off x="4135" y="2459"/>
              <a:ext cx="0" cy="9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2" name="Text Box 16"/>
            <p:cNvSpPr txBox="1"/>
            <p:nvPr/>
          </p:nvSpPr>
          <p:spPr>
            <a:xfrm>
              <a:off x="3636" y="2141"/>
              <a:ext cx="39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13" name="Oval 17"/>
            <p:cNvSpPr/>
            <p:nvPr/>
          </p:nvSpPr>
          <p:spPr>
            <a:xfrm>
              <a:off x="4105" y="3297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14" name="Oval 18"/>
            <p:cNvSpPr/>
            <p:nvPr/>
          </p:nvSpPr>
          <p:spPr>
            <a:xfrm>
              <a:off x="4110" y="2405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15" name="Line 19"/>
            <p:cNvSpPr/>
            <p:nvPr/>
          </p:nvSpPr>
          <p:spPr>
            <a:xfrm>
              <a:off x="3939" y="2441"/>
              <a:ext cx="4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6" name="Rectangle 20"/>
            <p:cNvSpPr/>
            <p:nvPr/>
          </p:nvSpPr>
          <p:spPr>
            <a:xfrm>
              <a:off x="3598" y="2399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17" name="Text Box 21"/>
            <p:cNvSpPr txBox="1"/>
            <p:nvPr/>
          </p:nvSpPr>
          <p:spPr>
            <a:xfrm>
              <a:off x="5015" y="2422"/>
              <a:ext cx="573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18" name="Line 22"/>
            <p:cNvSpPr/>
            <p:nvPr/>
          </p:nvSpPr>
          <p:spPr>
            <a:xfrm>
              <a:off x="4141" y="2798"/>
              <a:ext cx="0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9" name="Text Box 23"/>
            <p:cNvSpPr txBox="1"/>
            <p:nvPr/>
          </p:nvSpPr>
          <p:spPr>
            <a:xfrm>
              <a:off x="3566" y="2483"/>
              <a:ext cx="477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1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8220" name="Text Box 24"/>
            <p:cNvSpPr txBox="1"/>
            <p:nvPr/>
          </p:nvSpPr>
          <p:spPr>
            <a:xfrm>
              <a:off x="4343" y="2480"/>
              <a:ext cx="477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4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8221" name="Oval 25"/>
            <p:cNvSpPr/>
            <p:nvPr/>
          </p:nvSpPr>
          <p:spPr>
            <a:xfrm>
              <a:off x="4892" y="2756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22" name="Line 26"/>
            <p:cNvSpPr/>
            <p:nvPr/>
          </p:nvSpPr>
          <p:spPr>
            <a:xfrm>
              <a:off x="4892" y="2859"/>
              <a:ext cx="1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3" name="Line 27"/>
            <p:cNvSpPr/>
            <p:nvPr/>
          </p:nvSpPr>
          <p:spPr>
            <a:xfrm>
              <a:off x="4982" y="2953"/>
              <a:ext cx="0" cy="4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4" name="Line 28"/>
            <p:cNvSpPr/>
            <p:nvPr/>
          </p:nvSpPr>
          <p:spPr>
            <a:xfrm flipH="1">
              <a:off x="4982" y="2462"/>
              <a:ext cx="0" cy="2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5" name="Text Box 29"/>
            <p:cNvSpPr txBox="1"/>
            <p:nvPr/>
          </p:nvSpPr>
          <p:spPr>
            <a:xfrm>
              <a:off x="5072" y="2843"/>
              <a:ext cx="396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2A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26" name="Line 30"/>
            <p:cNvSpPr/>
            <p:nvPr/>
          </p:nvSpPr>
          <p:spPr>
            <a:xfrm>
              <a:off x="4982" y="2536"/>
              <a:ext cx="0" cy="1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7" name="Text Box 31"/>
            <p:cNvSpPr txBox="1"/>
            <p:nvPr/>
          </p:nvSpPr>
          <p:spPr>
            <a:xfrm>
              <a:off x="3144" y="2134"/>
              <a:ext cx="573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28" name="Text Box 32"/>
            <p:cNvSpPr txBox="1"/>
            <p:nvPr/>
          </p:nvSpPr>
          <p:spPr>
            <a:xfrm>
              <a:off x="3636" y="2826"/>
              <a:ext cx="573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29" name="Line 33"/>
            <p:cNvSpPr/>
            <p:nvPr/>
          </p:nvSpPr>
          <p:spPr>
            <a:xfrm>
              <a:off x="3458" y="2441"/>
              <a:ext cx="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30" name="Text Box 34"/>
            <p:cNvSpPr txBox="1"/>
            <p:nvPr/>
          </p:nvSpPr>
          <p:spPr>
            <a:xfrm>
              <a:off x="4267" y="2685"/>
              <a:ext cx="758" cy="33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231" name="Text Box 35"/>
            <p:cNvSpPr txBox="1"/>
            <p:nvPr/>
          </p:nvSpPr>
          <p:spPr>
            <a:xfrm>
              <a:off x="4722" y="2506"/>
              <a:ext cx="260" cy="6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+</a:t>
              </a:r>
              <a:endParaRPr lang="en-US" altLang="zh-CN" sz="28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39300" name="Text Box 36"/>
          <p:cNvSpPr txBox="1"/>
          <p:nvPr/>
        </p:nvSpPr>
        <p:spPr>
          <a:xfrm>
            <a:off x="222250" y="436563"/>
            <a:ext cx="8921750" cy="60769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3.</a:t>
            </a:r>
            <a:r>
              <a:rPr lang="zh-CN" altLang="zh-CN" sz="2800" b="1" dirty="0">
                <a:latin typeface="宋体" panose="02010600030101010101" pitchFamily="2" charset="-122"/>
              </a:rPr>
              <a:t>根据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t =0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</a:rPr>
              <a:t>+</a:t>
            </a:r>
            <a:r>
              <a:rPr lang="zh-CN" altLang="en-US" sz="2800" b="1" dirty="0">
                <a:latin typeface="_x0001_" pitchFamily="18" charset="0"/>
              </a:rPr>
              <a:t>时的</a:t>
            </a:r>
            <a:r>
              <a:rPr lang="zh-CN" altLang="en-US" sz="2800" b="1" dirty="0">
                <a:latin typeface="宋体" panose="02010600030101010101" pitchFamily="2" charset="-122"/>
              </a:rPr>
              <a:t>等效电路，求各量的</a:t>
            </a:r>
            <a:r>
              <a:rPr lang="zh-CN" altLang="en-US" sz="2800" b="1" dirty="0">
                <a:latin typeface="_x0001_" pitchFamily="18" charset="0"/>
              </a:rPr>
              <a:t>初始值。</a:t>
            </a:r>
            <a:endParaRPr lang="zh-CN" altLang="en-US" sz="2800" b="1" dirty="0">
              <a:latin typeface="_x0001_" pitchFamily="18" charset="0"/>
            </a:endParaRPr>
          </a:p>
        </p:txBody>
      </p:sp>
      <p:graphicFrame>
        <p:nvGraphicFramePr>
          <p:cNvPr id="139301" name="Object 37"/>
          <p:cNvGraphicFramePr>
            <a:graphicFrameLocks noChangeAspect="1"/>
          </p:cNvGraphicFramePr>
          <p:nvPr/>
        </p:nvGraphicFramePr>
        <p:xfrm>
          <a:off x="685800" y="2582863"/>
          <a:ext cx="34702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409065" imgH="215900" progId="Equation.3">
                  <p:embed/>
                </p:oleObj>
              </mc:Choice>
              <mc:Fallback>
                <p:oleObj name="" r:id="rId3" imgW="1409065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2582863"/>
                        <a:ext cx="347027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02" name="Object 38"/>
          <p:cNvGraphicFramePr>
            <a:graphicFrameLocks noChangeAspect="1"/>
          </p:cNvGraphicFramePr>
          <p:nvPr/>
        </p:nvGraphicFramePr>
        <p:xfrm>
          <a:off x="617538" y="3359150"/>
          <a:ext cx="55022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2233930" imgH="215900" progId="Equation.3">
                  <p:embed/>
                </p:oleObj>
              </mc:Choice>
              <mc:Fallback>
                <p:oleObj name="" r:id="rId5" imgW="2233930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>
                        <a:lum bright="85999"/>
                      </a:blip>
                      <a:stretch>
                        <a:fillRect/>
                      </a:stretch>
                    </p:blipFill>
                    <p:spPr>
                      <a:xfrm>
                        <a:off x="617538" y="3359150"/>
                        <a:ext cx="550227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03" name="Object 39"/>
          <p:cNvGraphicFramePr>
            <a:graphicFrameLocks noChangeAspect="1"/>
          </p:cNvGraphicFramePr>
          <p:nvPr/>
        </p:nvGraphicFramePr>
        <p:xfrm>
          <a:off x="736600" y="4171950"/>
          <a:ext cx="45640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853565" imgH="215900" progId="Equation.3">
                  <p:embed/>
                </p:oleObj>
              </mc:Choice>
              <mc:Fallback>
                <p:oleObj name="" r:id="rId7" imgW="1853565" imgH="215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36600" y="4171950"/>
                        <a:ext cx="456406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04" name="Object 40"/>
          <p:cNvGraphicFramePr>
            <a:graphicFrameLocks noChangeAspect="1"/>
          </p:cNvGraphicFramePr>
          <p:nvPr/>
        </p:nvGraphicFramePr>
        <p:xfrm>
          <a:off x="714375" y="4953000"/>
          <a:ext cx="46577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9" imgW="1892300" imgH="215900" progId="Equation.3">
                  <p:embed/>
                </p:oleObj>
              </mc:Choice>
              <mc:Fallback>
                <p:oleObj name="" r:id="rId9" imgW="1892300" imgH="215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14375" y="4953000"/>
                        <a:ext cx="46577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05" name="Object 41"/>
          <p:cNvGraphicFramePr>
            <a:graphicFrameLocks noChangeAspect="1"/>
          </p:cNvGraphicFramePr>
          <p:nvPr/>
        </p:nvGraphicFramePr>
        <p:xfrm>
          <a:off x="827088" y="5797550"/>
          <a:ext cx="31257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1" imgW="1269365" imgH="215900" progId="Equation.3">
                  <p:embed/>
                </p:oleObj>
              </mc:Choice>
              <mc:Fallback>
                <p:oleObj name="" r:id="rId11" imgW="1269365" imgH="215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797550"/>
                        <a:ext cx="312578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2"/>
          <p:cNvSpPr>
            <a:spLocks noGrp="1"/>
          </p:cNvSpPr>
          <p:nvPr>
            <p:ph type="title"/>
          </p:nvPr>
        </p:nvSpPr>
        <p:spPr>
          <a:xfrm>
            <a:off x="0" y="49213"/>
            <a:ext cx="1981200" cy="865187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>
                <a:effectLst/>
              </a:rPr>
              <a:t>例</a:t>
            </a:r>
            <a:r>
              <a:rPr lang="en-US" altLang="zh-CN" sz="2800" dirty="0">
                <a:effectLst/>
              </a:rPr>
              <a:t>7.2:</a:t>
            </a:r>
            <a:endParaRPr lang="en-US" altLang="zh-CN" sz="2800" dirty="0">
              <a:effectLst/>
            </a:endParaRPr>
          </a:p>
        </p:txBody>
      </p:sp>
      <p:sp>
        <p:nvSpPr>
          <p:cNvPr id="140293" name="Text Box 5"/>
          <p:cNvSpPr txBox="1"/>
          <p:nvPr/>
        </p:nvSpPr>
        <p:spPr>
          <a:xfrm>
            <a:off x="406400" y="134938"/>
            <a:ext cx="4703763" cy="16192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35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已知开关打开前电路已达到稳定，求开关打开后各电压、电流的初始值。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105400" y="76200"/>
            <a:ext cx="4256088" cy="2393950"/>
            <a:chOff x="933" y="2090"/>
            <a:chExt cx="2681" cy="1508"/>
          </a:xfrm>
        </p:grpSpPr>
        <p:sp>
          <p:nvSpPr>
            <p:cNvPr id="9268" name="Text Box 7"/>
            <p:cNvSpPr txBox="1"/>
            <p:nvPr/>
          </p:nvSpPr>
          <p:spPr>
            <a:xfrm>
              <a:off x="1052" y="2745"/>
              <a:ext cx="71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华文仿宋" panose="02010600040101010101" charset="-122"/>
                  <a:ea typeface="华文仿宋" panose="02010600040101010101" charset="-122"/>
                </a:rPr>
                <a:t>10V</a:t>
              </a:r>
              <a:endParaRPr lang="en-US" altLang="zh-CN" sz="32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69" name="Line 8"/>
            <p:cNvSpPr/>
            <p:nvPr/>
          </p:nvSpPr>
          <p:spPr>
            <a:xfrm>
              <a:off x="1019" y="2426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0" name="Line 9"/>
            <p:cNvSpPr/>
            <p:nvPr/>
          </p:nvSpPr>
          <p:spPr>
            <a:xfrm>
              <a:off x="933" y="2767"/>
              <a:ext cx="19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1" name="Line 10"/>
            <p:cNvSpPr/>
            <p:nvPr/>
          </p:nvSpPr>
          <p:spPr>
            <a:xfrm>
              <a:off x="976" y="2850"/>
              <a:ext cx="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2" name="Line 11"/>
            <p:cNvSpPr/>
            <p:nvPr/>
          </p:nvSpPr>
          <p:spPr>
            <a:xfrm>
              <a:off x="1019" y="2850"/>
              <a:ext cx="0" cy="6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3" name="Line 12"/>
            <p:cNvSpPr/>
            <p:nvPr/>
          </p:nvSpPr>
          <p:spPr>
            <a:xfrm>
              <a:off x="1009" y="3538"/>
              <a:ext cx="15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4" name="Text Box 13"/>
            <p:cNvSpPr txBox="1"/>
            <p:nvPr/>
          </p:nvSpPr>
          <p:spPr>
            <a:xfrm>
              <a:off x="2579" y="2874"/>
              <a:ext cx="1035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latin typeface="华文仿宋" panose="02010600040101010101" charset="-122"/>
                  <a:ea typeface="华文仿宋" panose="02010600040101010101" charset="-122"/>
                </a:rPr>
                <a:t>0.1μf</a:t>
              </a:r>
              <a:endParaRPr lang="en-US" altLang="zh-CN" sz="32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75" name="Line 14"/>
            <p:cNvSpPr/>
            <p:nvPr/>
          </p:nvSpPr>
          <p:spPr>
            <a:xfrm>
              <a:off x="2579" y="2436"/>
              <a:ext cx="0" cy="3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6" name="Line 15"/>
            <p:cNvSpPr/>
            <p:nvPr/>
          </p:nvSpPr>
          <p:spPr>
            <a:xfrm>
              <a:off x="2579" y="2970"/>
              <a:ext cx="0" cy="5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7" name="Line 16"/>
            <p:cNvSpPr/>
            <p:nvPr/>
          </p:nvSpPr>
          <p:spPr>
            <a:xfrm>
              <a:off x="2492" y="2836"/>
              <a:ext cx="19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8" name="Line 17"/>
            <p:cNvSpPr/>
            <p:nvPr/>
          </p:nvSpPr>
          <p:spPr>
            <a:xfrm>
              <a:off x="2492" y="2954"/>
              <a:ext cx="19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9" name="Rectangle 18"/>
            <p:cNvSpPr/>
            <p:nvPr/>
          </p:nvSpPr>
          <p:spPr>
            <a:xfrm>
              <a:off x="1810" y="2632"/>
              <a:ext cx="80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0" name="Line 19"/>
            <p:cNvSpPr/>
            <p:nvPr/>
          </p:nvSpPr>
          <p:spPr>
            <a:xfrm>
              <a:off x="1843" y="2913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1" name="Line 20"/>
            <p:cNvSpPr/>
            <p:nvPr/>
          </p:nvSpPr>
          <p:spPr>
            <a:xfrm flipH="1" flipV="1">
              <a:off x="1855" y="2380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2" name="Oval 21"/>
            <p:cNvSpPr/>
            <p:nvPr/>
          </p:nvSpPr>
          <p:spPr>
            <a:xfrm>
              <a:off x="1786" y="3070"/>
              <a:ext cx="104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3" name="Text Box 22"/>
            <p:cNvSpPr txBox="1"/>
            <p:nvPr/>
          </p:nvSpPr>
          <p:spPr>
            <a:xfrm>
              <a:off x="1109" y="2090"/>
              <a:ext cx="78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20KΩ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84" name="Rectangle 23"/>
            <p:cNvSpPr/>
            <p:nvPr/>
          </p:nvSpPr>
          <p:spPr>
            <a:xfrm>
              <a:off x="1205" y="2373"/>
              <a:ext cx="297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5" name="Line 24"/>
            <p:cNvSpPr/>
            <p:nvPr/>
          </p:nvSpPr>
          <p:spPr>
            <a:xfrm flipH="1">
              <a:off x="1019" y="2436"/>
              <a:ext cx="18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6" name="Line 25"/>
            <p:cNvSpPr/>
            <p:nvPr/>
          </p:nvSpPr>
          <p:spPr>
            <a:xfrm>
              <a:off x="1502" y="2436"/>
              <a:ext cx="109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7" name="Oval 26"/>
            <p:cNvSpPr/>
            <p:nvPr/>
          </p:nvSpPr>
          <p:spPr>
            <a:xfrm>
              <a:off x="1810" y="2374"/>
              <a:ext cx="104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8" name="Oval 27"/>
            <p:cNvSpPr/>
            <p:nvPr/>
          </p:nvSpPr>
          <p:spPr>
            <a:xfrm>
              <a:off x="1775" y="3262"/>
              <a:ext cx="104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9" name="Oval 28"/>
            <p:cNvSpPr/>
            <p:nvPr/>
          </p:nvSpPr>
          <p:spPr>
            <a:xfrm>
              <a:off x="1775" y="3502"/>
              <a:ext cx="104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90" name="Line 29"/>
            <p:cNvSpPr/>
            <p:nvPr/>
          </p:nvSpPr>
          <p:spPr>
            <a:xfrm flipH="1">
              <a:off x="1831" y="3116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1" name="Line 30"/>
            <p:cNvSpPr/>
            <p:nvPr/>
          </p:nvSpPr>
          <p:spPr>
            <a:xfrm>
              <a:off x="1831" y="3358"/>
              <a:ext cx="0" cy="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2" name="Text Box 31"/>
            <p:cNvSpPr txBox="1"/>
            <p:nvPr/>
          </p:nvSpPr>
          <p:spPr>
            <a:xfrm>
              <a:off x="1866" y="2616"/>
              <a:ext cx="79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30KΩ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140320" name="Line 32"/>
          <p:cNvSpPr/>
          <p:nvPr/>
        </p:nvSpPr>
        <p:spPr>
          <a:xfrm flipV="1">
            <a:off x="6419850" y="1752600"/>
            <a:ext cx="319088" cy="188913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0321" name="Text Box 33"/>
          <p:cNvSpPr txBox="1"/>
          <p:nvPr/>
        </p:nvSpPr>
        <p:spPr>
          <a:xfrm>
            <a:off x="147638" y="2147888"/>
            <a:ext cx="1408112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  <a:ea typeface="方正行楷简体" pitchFamily="2" charset="-122"/>
              </a:rPr>
              <a:t>解：</a:t>
            </a:r>
            <a:endParaRPr lang="zh-CN" altLang="en-US" sz="2800" b="1" dirty="0">
              <a:solidFill>
                <a:schemeClr val="tx2"/>
              </a:solidFill>
              <a:latin typeface="_x0001_" pitchFamily="18" charset="0"/>
              <a:ea typeface="方正行楷简体" pitchFamily="2" charset="-122"/>
            </a:endParaRPr>
          </a:p>
        </p:txBody>
      </p:sp>
      <p:sp>
        <p:nvSpPr>
          <p:cNvPr id="140322" name="Text Box 34"/>
          <p:cNvSpPr txBox="1"/>
          <p:nvPr/>
        </p:nvSpPr>
        <p:spPr>
          <a:xfrm>
            <a:off x="304800" y="2133600"/>
            <a:ext cx="4089400" cy="112458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   1.</a:t>
            </a:r>
            <a:r>
              <a:rPr lang="en-US" altLang="zh-CN" sz="2800" b="1" dirty="0">
                <a:latin typeface="_x0001_" pitchFamily="18" charset="0"/>
              </a:rPr>
              <a:t>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t =0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</a:rPr>
              <a:t>-</a:t>
            </a:r>
            <a:r>
              <a:rPr lang="zh-CN" altLang="en-US" sz="2800" b="1" dirty="0">
                <a:latin typeface="宋体" panose="02010600030101010101" pitchFamily="2" charset="-122"/>
              </a:rPr>
              <a:t>时，</a:t>
            </a:r>
            <a:r>
              <a:rPr lang="zh-CN" altLang="en-US" sz="2800" b="1" dirty="0">
                <a:latin typeface="_x0001_" pitchFamily="18" charset="0"/>
              </a:rPr>
              <a:t>电路已达到稳定，即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u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</a:rPr>
              <a:t>C</a:t>
            </a:r>
            <a:r>
              <a:rPr lang="zh-CN" altLang="en-US" sz="2800" b="1" dirty="0">
                <a:latin typeface="_x0001_" pitchFamily="18" charset="0"/>
              </a:rPr>
              <a:t>恒定，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i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</a:rPr>
              <a:t>C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=0 , </a:t>
            </a:r>
            <a:endParaRPr lang="en-US" altLang="zh-CN" sz="28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graphicFrame>
        <p:nvGraphicFramePr>
          <p:cNvPr id="140323" name="Object 35"/>
          <p:cNvGraphicFramePr>
            <a:graphicFrameLocks noChangeAspect="1"/>
          </p:cNvGraphicFramePr>
          <p:nvPr/>
        </p:nvGraphicFramePr>
        <p:xfrm>
          <a:off x="0" y="3886200"/>
          <a:ext cx="42513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726565" imgH="393700" progId="Equation.3">
                  <p:embed/>
                </p:oleObj>
              </mc:Choice>
              <mc:Fallback>
                <p:oleObj name="" r:id="rId1" imgW="1726565" imgH="3937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0" y="3886200"/>
                        <a:ext cx="42513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6"/>
          <p:cNvGrpSpPr/>
          <p:nvPr/>
        </p:nvGrpSpPr>
        <p:grpSpPr>
          <a:xfrm>
            <a:off x="304800" y="5156200"/>
            <a:ext cx="3124200" cy="609600"/>
            <a:chOff x="182" y="3129"/>
            <a:chExt cx="2262" cy="448"/>
          </a:xfrm>
        </p:grpSpPr>
        <p:graphicFrame>
          <p:nvGraphicFramePr>
            <p:cNvPr id="9266" name="Object 37"/>
            <p:cNvGraphicFramePr>
              <a:graphicFrameLocks noChangeAspect="1"/>
            </p:cNvGraphicFramePr>
            <p:nvPr/>
          </p:nvGraphicFramePr>
          <p:xfrm>
            <a:off x="505" y="3129"/>
            <a:ext cx="1939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990600" imgH="228600" progId="Equation.3">
                    <p:embed/>
                  </p:oleObj>
                </mc:Choice>
                <mc:Fallback>
                  <p:oleObj name="" r:id="rId3" imgW="990600" imgH="2286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5" y="3129"/>
                          <a:ext cx="1939" cy="4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7" name="Text Box 38"/>
            <p:cNvSpPr txBox="1"/>
            <p:nvPr/>
          </p:nvSpPr>
          <p:spPr>
            <a:xfrm>
              <a:off x="182" y="3161"/>
              <a:ext cx="422" cy="38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_x0001_" pitchFamily="18" charset="0"/>
                </a:rPr>
                <a:t>由</a:t>
              </a:r>
              <a:endParaRPr lang="zh-CN" altLang="en-US" sz="2800" dirty="0">
                <a:latin typeface="_x0001_" pitchFamily="18" charset="0"/>
              </a:endParaRPr>
            </a:p>
          </p:txBody>
        </p:sp>
      </p:grpSp>
      <p:grpSp>
        <p:nvGrpSpPr>
          <p:cNvPr id="4" name="Group 39"/>
          <p:cNvGrpSpPr/>
          <p:nvPr/>
        </p:nvGrpSpPr>
        <p:grpSpPr>
          <a:xfrm>
            <a:off x="304800" y="5937250"/>
            <a:ext cx="2895600" cy="577850"/>
            <a:chOff x="182" y="3646"/>
            <a:chExt cx="1857" cy="448"/>
          </a:xfrm>
        </p:grpSpPr>
        <p:sp>
          <p:nvSpPr>
            <p:cNvPr id="9264" name="Text Box 40"/>
            <p:cNvSpPr txBox="1"/>
            <p:nvPr/>
          </p:nvSpPr>
          <p:spPr>
            <a:xfrm>
              <a:off x="182" y="3682"/>
              <a:ext cx="560" cy="402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_x0001_" pitchFamily="18" charset="0"/>
                </a:rPr>
                <a:t>知</a:t>
              </a:r>
              <a:endParaRPr lang="zh-CN" altLang="en-US" sz="2800" dirty="0">
                <a:latin typeface="_x0001_" pitchFamily="18" charset="0"/>
              </a:endParaRPr>
            </a:p>
          </p:txBody>
        </p:sp>
        <p:graphicFrame>
          <p:nvGraphicFramePr>
            <p:cNvPr id="9265" name="Object 41"/>
            <p:cNvGraphicFramePr>
              <a:graphicFrameLocks noChangeAspect="1"/>
            </p:cNvGraphicFramePr>
            <p:nvPr/>
          </p:nvGraphicFramePr>
          <p:xfrm>
            <a:off x="502" y="3646"/>
            <a:ext cx="1537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5" imgW="787400" imgH="228600" progId="Equation.3">
                    <p:embed/>
                  </p:oleObj>
                </mc:Choice>
                <mc:Fallback>
                  <p:oleObj name="" r:id="rId5" imgW="787400" imgH="2286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2" y="3646"/>
                          <a:ext cx="1537" cy="4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0330" name="Text Box 42"/>
          <p:cNvSpPr txBox="1"/>
          <p:nvPr/>
        </p:nvSpPr>
        <p:spPr>
          <a:xfrm>
            <a:off x="4343400" y="2819400"/>
            <a:ext cx="5605463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宋体" panose="02010600030101010101" pitchFamily="2" charset="-122"/>
              </a:rPr>
              <a:t>2.</a:t>
            </a:r>
            <a:r>
              <a:rPr lang="zh-CN" altLang="en-US" sz="2800" dirty="0">
                <a:latin typeface="宋体" panose="02010600030101010101" pitchFamily="2" charset="-122"/>
              </a:rPr>
              <a:t>作</a:t>
            </a:r>
            <a:r>
              <a:rPr lang="en-US" altLang="zh-CN" sz="3200" dirty="0">
                <a:latin typeface="华文仿宋" panose="02010600040101010101" charset="-122"/>
                <a:ea typeface="华文仿宋" panose="02010600040101010101" charset="-122"/>
              </a:rPr>
              <a:t>t =0</a:t>
            </a:r>
            <a:r>
              <a:rPr lang="en-US" altLang="zh-CN" sz="3200" baseline="-25000" dirty="0">
                <a:latin typeface="华文仿宋" panose="02010600040101010101" charset="-122"/>
                <a:ea typeface="华文仿宋" panose="02010600040101010101" charset="-122"/>
              </a:rPr>
              <a:t>+</a:t>
            </a:r>
            <a:r>
              <a:rPr lang="zh-CN" altLang="en-US" sz="2800" dirty="0">
                <a:latin typeface="宋体" panose="02010600030101010101" pitchFamily="2" charset="-122"/>
              </a:rPr>
              <a:t>时刻的等效电路</a:t>
            </a:r>
            <a:r>
              <a:rPr lang="zh-CN" altLang="en-US" sz="3200" dirty="0">
                <a:latin typeface="宋体" panose="02010600030101010101" pitchFamily="2" charset="-122"/>
              </a:rPr>
              <a:t>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140331" name="Text Box 43"/>
          <p:cNvSpPr txBox="1"/>
          <p:nvPr/>
        </p:nvSpPr>
        <p:spPr>
          <a:xfrm>
            <a:off x="4876800" y="3505200"/>
            <a:ext cx="3443288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_x0001_" pitchFamily="18" charset="0"/>
              </a:rPr>
              <a:t>（</a:t>
            </a:r>
            <a:r>
              <a:rPr lang="en-US" altLang="zh-CN" sz="28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C→6V</a:t>
            </a:r>
            <a:r>
              <a:rPr lang="zh-CN" altLang="en-US" sz="28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的电压源</a:t>
            </a:r>
            <a:r>
              <a:rPr lang="zh-CN" altLang="en-US" sz="2800" dirty="0">
                <a:latin typeface="_x0001_" pitchFamily="18" charset="0"/>
              </a:rPr>
              <a:t>）</a:t>
            </a:r>
            <a:endParaRPr lang="zh-CN" altLang="en-US" sz="2800" dirty="0">
              <a:latin typeface="_x0001_" pitchFamily="18" charset="0"/>
            </a:endParaRPr>
          </a:p>
        </p:txBody>
      </p:sp>
      <p:grpSp>
        <p:nvGrpSpPr>
          <p:cNvPr id="5" name="Group 44"/>
          <p:cNvGrpSpPr/>
          <p:nvPr/>
        </p:nvGrpSpPr>
        <p:grpSpPr>
          <a:xfrm>
            <a:off x="4800600" y="3962400"/>
            <a:ext cx="3962400" cy="2365375"/>
            <a:chOff x="3043" y="2726"/>
            <a:chExt cx="2496" cy="1490"/>
          </a:xfrm>
        </p:grpSpPr>
        <p:sp>
          <p:nvSpPr>
            <p:cNvPr id="9233" name="Text Box 45"/>
            <p:cNvSpPr txBox="1"/>
            <p:nvPr/>
          </p:nvSpPr>
          <p:spPr>
            <a:xfrm>
              <a:off x="3277" y="3363"/>
              <a:ext cx="786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华文仿宋" panose="02010600040101010101" charset="-122"/>
                  <a:ea typeface="华文仿宋" panose="02010600040101010101" charset="-122"/>
                </a:rPr>
                <a:t>10V</a:t>
              </a:r>
              <a:endParaRPr lang="en-US" altLang="zh-CN" sz="32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34" name="Line 46"/>
            <p:cNvSpPr/>
            <p:nvPr/>
          </p:nvSpPr>
          <p:spPr>
            <a:xfrm>
              <a:off x="3244" y="3062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5" name="Line 47"/>
            <p:cNvSpPr/>
            <p:nvPr/>
          </p:nvSpPr>
          <p:spPr>
            <a:xfrm>
              <a:off x="3158" y="3385"/>
              <a:ext cx="19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6" name="Line 48"/>
            <p:cNvSpPr/>
            <p:nvPr/>
          </p:nvSpPr>
          <p:spPr>
            <a:xfrm>
              <a:off x="3201" y="3468"/>
              <a:ext cx="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7" name="Line 49"/>
            <p:cNvSpPr/>
            <p:nvPr/>
          </p:nvSpPr>
          <p:spPr>
            <a:xfrm>
              <a:off x="3244" y="3468"/>
              <a:ext cx="0" cy="6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8" name="Line 50"/>
            <p:cNvSpPr/>
            <p:nvPr/>
          </p:nvSpPr>
          <p:spPr>
            <a:xfrm>
              <a:off x="3234" y="4156"/>
              <a:ext cx="15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9" name="Line 51"/>
            <p:cNvSpPr/>
            <p:nvPr/>
          </p:nvSpPr>
          <p:spPr>
            <a:xfrm>
              <a:off x="4804" y="3054"/>
              <a:ext cx="0" cy="11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0" name="Rectangle 52"/>
            <p:cNvSpPr/>
            <p:nvPr/>
          </p:nvSpPr>
          <p:spPr>
            <a:xfrm>
              <a:off x="4035" y="3250"/>
              <a:ext cx="80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41" name="Line 53"/>
            <p:cNvSpPr/>
            <p:nvPr/>
          </p:nvSpPr>
          <p:spPr>
            <a:xfrm>
              <a:off x="4068" y="3531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2" name="Line 54"/>
            <p:cNvSpPr/>
            <p:nvPr/>
          </p:nvSpPr>
          <p:spPr>
            <a:xfrm flipH="1" flipV="1">
              <a:off x="4080" y="2998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Oval 55"/>
            <p:cNvSpPr/>
            <p:nvPr/>
          </p:nvSpPr>
          <p:spPr>
            <a:xfrm>
              <a:off x="4011" y="3688"/>
              <a:ext cx="104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44" name="Text Box 56"/>
            <p:cNvSpPr txBox="1"/>
            <p:nvPr/>
          </p:nvSpPr>
          <p:spPr>
            <a:xfrm>
              <a:off x="3514" y="2726"/>
              <a:ext cx="65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20K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45" name="Rectangle 57"/>
            <p:cNvSpPr/>
            <p:nvPr/>
          </p:nvSpPr>
          <p:spPr>
            <a:xfrm>
              <a:off x="3574" y="2991"/>
              <a:ext cx="297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46" name="Line 58"/>
            <p:cNvSpPr/>
            <p:nvPr/>
          </p:nvSpPr>
          <p:spPr>
            <a:xfrm>
              <a:off x="3864" y="3054"/>
              <a:ext cx="9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7" name="Oval 59"/>
            <p:cNvSpPr/>
            <p:nvPr/>
          </p:nvSpPr>
          <p:spPr>
            <a:xfrm>
              <a:off x="4035" y="2992"/>
              <a:ext cx="104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48" name="Oval 60"/>
            <p:cNvSpPr/>
            <p:nvPr/>
          </p:nvSpPr>
          <p:spPr>
            <a:xfrm>
              <a:off x="4000" y="3880"/>
              <a:ext cx="104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49" name="Oval 61"/>
            <p:cNvSpPr/>
            <p:nvPr/>
          </p:nvSpPr>
          <p:spPr>
            <a:xfrm>
              <a:off x="4000" y="4120"/>
              <a:ext cx="104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0" name="Line 62"/>
            <p:cNvSpPr/>
            <p:nvPr/>
          </p:nvSpPr>
          <p:spPr>
            <a:xfrm>
              <a:off x="4056" y="3976"/>
              <a:ext cx="0" cy="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1" name="Text Box 63"/>
            <p:cNvSpPr txBox="1"/>
            <p:nvPr/>
          </p:nvSpPr>
          <p:spPr>
            <a:xfrm>
              <a:off x="4091" y="3282"/>
              <a:ext cx="65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30K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52" name="Line 64"/>
            <p:cNvSpPr/>
            <p:nvPr/>
          </p:nvSpPr>
          <p:spPr>
            <a:xfrm>
              <a:off x="4104" y="3784"/>
              <a:ext cx="172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3" name="Text Box 65"/>
            <p:cNvSpPr txBox="1"/>
            <p:nvPr/>
          </p:nvSpPr>
          <p:spPr>
            <a:xfrm>
              <a:off x="4896" y="3577"/>
              <a:ext cx="64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6V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54" name="Oval 66"/>
            <p:cNvSpPr/>
            <p:nvPr/>
          </p:nvSpPr>
          <p:spPr>
            <a:xfrm>
              <a:off x="4705" y="3576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5" name="Text Box 67"/>
            <p:cNvSpPr txBox="1"/>
            <p:nvPr/>
          </p:nvSpPr>
          <p:spPr>
            <a:xfrm flipH="1">
              <a:off x="4820" y="3219"/>
              <a:ext cx="305" cy="86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dirty="0">
                  <a:latin typeface="_x0001_" pitchFamily="18" charset="0"/>
                </a:rPr>
                <a:t>+</a:t>
              </a:r>
              <a:endParaRPr lang="en-US" altLang="zh-CN" sz="2400" dirty="0">
                <a:latin typeface="_x0001_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dirty="0">
                  <a:latin typeface="仿宋_GB2312" pitchFamily="49" charset="-122"/>
                  <a:ea typeface="仿宋_GB2312" pitchFamily="49" charset="-122"/>
                </a:rPr>
                <a:t>-</a:t>
              </a:r>
              <a:endParaRPr lang="en-US" altLang="zh-CN" sz="2400" dirty="0"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9256" name="Text Box 68"/>
            <p:cNvSpPr txBox="1"/>
            <p:nvPr/>
          </p:nvSpPr>
          <p:spPr>
            <a:xfrm>
              <a:off x="3622" y="3093"/>
              <a:ext cx="39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57" name="Line 69"/>
            <p:cNvSpPr/>
            <p:nvPr/>
          </p:nvSpPr>
          <p:spPr>
            <a:xfrm>
              <a:off x="3244" y="3062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8" name="Line 70"/>
            <p:cNvSpPr/>
            <p:nvPr/>
          </p:nvSpPr>
          <p:spPr>
            <a:xfrm>
              <a:off x="3407" y="3054"/>
              <a:ext cx="7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59" name="Line 71"/>
            <p:cNvSpPr/>
            <p:nvPr/>
          </p:nvSpPr>
          <p:spPr>
            <a:xfrm>
              <a:off x="4068" y="3093"/>
              <a:ext cx="0" cy="1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60" name="Line 72"/>
            <p:cNvSpPr/>
            <p:nvPr/>
          </p:nvSpPr>
          <p:spPr>
            <a:xfrm>
              <a:off x="4804" y="3192"/>
              <a:ext cx="0" cy="14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61" name="Text Box 73"/>
            <p:cNvSpPr txBox="1"/>
            <p:nvPr/>
          </p:nvSpPr>
          <p:spPr>
            <a:xfrm>
              <a:off x="4820" y="3088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aseline="-25000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62" name="Text Box 74"/>
            <p:cNvSpPr txBox="1"/>
            <p:nvPr/>
          </p:nvSpPr>
          <p:spPr>
            <a:xfrm>
              <a:off x="4092" y="3039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263" name="Text Box 75"/>
            <p:cNvSpPr txBox="1"/>
            <p:nvPr/>
          </p:nvSpPr>
          <p:spPr>
            <a:xfrm>
              <a:off x="3043" y="2752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aseline="-25000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140364" name="Line 76"/>
          <p:cNvSpPr/>
          <p:nvPr/>
        </p:nvSpPr>
        <p:spPr>
          <a:xfrm>
            <a:off x="4368800" y="3094038"/>
            <a:ext cx="0" cy="3598862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0365" name="Text Box 77"/>
          <p:cNvSpPr txBox="1"/>
          <p:nvPr/>
        </p:nvSpPr>
        <p:spPr>
          <a:xfrm>
            <a:off x="5638800" y="1676400"/>
            <a:ext cx="1274763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华文仿宋" panose="02010600040101010101" charset="-122"/>
                <a:ea typeface="华文仿宋" panose="02010600040101010101" charset="-122"/>
              </a:rPr>
              <a:t>t </a:t>
            </a:r>
            <a:r>
              <a:rPr lang="en-US" altLang="zh-CN" sz="2800" dirty="0">
                <a:latin typeface="华文仿宋" panose="02010600040101010101" charset="-122"/>
                <a:ea typeface="华文仿宋" panose="02010600040101010101" charset="-122"/>
              </a:rPr>
              <a:t>= 0</a:t>
            </a:r>
            <a:endParaRPr lang="en-US" altLang="zh-CN" sz="3200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0367" name="Text Box 79"/>
          <p:cNvSpPr txBox="1"/>
          <p:nvPr/>
        </p:nvSpPr>
        <p:spPr>
          <a:xfrm>
            <a:off x="1219200" y="3200400"/>
            <a:ext cx="3048000" cy="60769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</a:rPr>
              <a:t>    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C→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开路。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4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/>
      <p:bldP spid="140293" grpId="0"/>
      <p:bldP spid="140321" grpId="0"/>
      <p:bldP spid="140322" grpId="0"/>
      <p:bldP spid="140330" grpId="0"/>
      <p:bldP spid="140331" grpId="0"/>
      <p:bldP spid="140365" grpId="0"/>
      <p:bldP spid="1403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6" name="Text Box 4"/>
          <p:cNvSpPr txBox="1"/>
          <p:nvPr/>
        </p:nvSpPr>
        <p:spPr>
          <a:xfrm>
            <a:off x="0" y="533400"/>
            <a:ext cx="5383213" cy="112458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3.</a:t>
            </a:r>
            <a:r>
              <a:rPr lang="zh-CN" altLang="zh-CN" sz="2800" b="1" dirty="0">
                <a:latin typeface="宋体" panose="02010600030101010101" pitchFamily="2" charset="-122"/>
              </a:rPr>
              <a:t>根据</a:t>
            </a:r>
            <a:r>
              <a:rPr lang="en-US" altLang="zh-CN" sz="2800" b="1" dirty="0">
                <a:latin typeface="华文宋体" panose="02010600040101010101" charset="-122"/>
                <a:ea typeface="华文宋体" panose="02010600040101010101" charset="-122"/>
              </a:rPr>
              <a:t>t =0</a:t>
            </a:r>
            <a:r>
              <a:rPr lang="en-US" altLang="zh-CN" sz="2800" b="1" baseline="-25000" dirty="0">
                <a:latin typeface="华文宋体" panose="02010600040101010101" charset="-122"/>
                <a:ea typeface="华文宋体" panose="02010600040101010101" charset="-122"/>
              </a:rPr>
              <a:t>+</a:t>
            </a:r>
            <a:r>
              <a:rPr lang="zh-CN" altLang="en-US" sz="2800" b="1" dirty="0">
                <a:latin typeface="_x0001_" pitchFamily="18" charset="0"/>
              </a:rPr>
              <a:t>时的</a:t>
            </a:r>
            <a:r>
              <a:rPr lang="zh-CN" altLang="en-US" sz="2800" b="1" dirty="0">
                <a:latin typeface="宋体" panose="02010600030101010101" pitchFamily="2" charset="-122"/>
              </a:rPr>
              <a:t>等效电路，求各量的</a:t>
            </a:r>
            <a:r>
              <a:rPr lang="zh-CN" altLang="en-US" sz="2800" b="1" dirty="0">
                <a:latin typeface="_x0001_" pitchFamily="18" charset="0"/>
              </a:rPr>
              <a:t>初始值。</a:t>
            </a:r>
            <a:endParaRPr lang="zh-CN" altLang="en-US" sz="2800" b="1" dirty="0">
              <a:latin typeface="_x0001_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410200" y="762000"/>
            <a:ext cx="3962400" cy="2365375"/>
            <a:chOff x="3110" y="599"/>
            <a:chExt cx="2496" cy="1490"/>
          </a:xfrm>
        </p:grpSpPr>
        <p:sp>
          <p:nvSpPr>
            <p:cNvPr id="10247" name="Text Box 6"/>
            <p:cNvSpPr txBox="1"/>
            <p:nvPr/>
          </p:nvSpPr>
          <p:spPr>
            <a:xfrm>
              <a:off x="3344" y="1236"/>
              <a:ext cx="73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华文仿宋" panose="02010600040101010101" charset="-122"/>
                  <a:ea typeface="华文仿宋" panose="02010600040101010101" charset="-122"/>
                </a:rPr>
                <a:t>10V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248" name="Line 7"/>
            <p:cNvSpPr/>
            <p:nvPr/>
          </p:nvSpPr>
          <p:spPr>
            <a:xfrm>
              <a:off x="3311" y="935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49" name="Line 8"/>
            <p:cNvSpPr/>
            <p:nvPr/>
          </p:nvSpPr>
          <p:spPr>
            <a:xfrm>
              <a:off x="3225" y="1258"/>
              <a:ext cx="19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0" name="Line 9"/>
            <p:cNvSpPr/>
            <p:nvPr/>
          </p:nvSpPr>
          <p:spPr>
            <a:xfrm>
              <a:off x="3268" y="1341"/>
              <a:ext cx="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1" name="Line 10"/>
            <p:cNvSpPr/>
            <p:nvPr/>
          </p:nvSpPr>
          <p:spPr>
            <a:xfrm>
              <a:off x="3311" y="1341"/>
              <a:ext cx="0" cy="6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2" name="Line 11"/>
            <p:cNvSpPr/>
            <p:nvPr/>
          </p:nvSpPr>
          <p:spPr>
            <a:xfrm>
              <a:off x="3301" y="2029"/>
              <a:ext cx="15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3" name="Line 12"/>
            <p:cNvSpPr/>
            <p:nvPr/>
          </p:nvSpPr>
          <p:spPr>
            <a:xfrm>
              <a:off x="4871" y="927"/>
              <a:ext cx="0" cy="11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4" name="Rectangle 13"/>
            <p:cNvSpPr/>
            <p:nvPr/>
          </p:nvSpPr>
          <p:spPr>
            <a:xfrm>
              <a:off x="4102" y="1123"/>
              <a:ext cx="80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55" name="Line 14"/>
            <p:cNvSpPr/>
            <p:nvPr/>
          </p:nvSpPr>
          <p:spPr>
            <a:xfrm>
              <a:off x="4135" y="1404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6" name="Line 15"/>
            <p:cNvSpPr/>
            <p:nvPr/>
          </p:nvSpPr>
          <p:spPr>
            <a:xfrm flipH="1" flipV="1">
              <a:off x="4147" y="871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7" name="Oval 16"/>
            <p:cNvSpPr/>
            <p:nvPr/>
          </p:nvSpPr>
          <p:spPr>
            <a:xfrm>
              <a:off x="4078" y="1561"/>
              <a:ext cx="104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58" name="Text Box 17"/>
            <p:cNvSpPr txBox="1"/>
            <p:nvPr/>
          </p:nvSpPr>
          <p:spPr>
            <a:xfrm>
              <a:off x="3581" y="599"/>
              <a:ext cx="65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20K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259" name="Rectangle 18"/>
            <p:cNvSpPr/>
            <p:nvPr/>
          </p:nvSpPr>
          <p:spPr>
            <a:xfrm>
              <a:off x="3641" y="864"/>
              <a:ext cx="297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60" name="Line 19"/>
            <p:cNvSpPr/>
            <p:nvPr/>
          </p:nvSpPr>
          <p:spPr>
            <a:xfrm>
              <a:off x="3931" y="927"/>
              <a:ext cx="9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1" name="Oval 20"/>
            <p:cNvSpPr/>
            <p:nvPr/>
          </p:nvSpPr>
          <p:spPr>
            <a:xfrm>
              <a:off x="4102" y="865"/>
              <a:ext cx="104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62" name="Oval 21"/>
            <p:cNvSpPr/>
            <p:nvPr/>
          </p:nvSpPr>
          <p:spPr>
            <a:xfrm>
              <a:off x="4067" y="1753"/>
              <a:ext cx="104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63" name="Oval 22"/>
            <p:cNvSpPr/>
            <p:nvPr/>
          </p:nvSpPr>
          <p:spPr>
            <a:xfrm>
              <a:off x="4067" y="1993"/>
              <a:ext cx="104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64" name="Line 23"/>
            <p:cNvSpPr/>
            <p:nvPr/>
          </p:nvSpPr>
          <p:spPr>
            <a:xfrm>
              <a:off x="4123" y="1849"/>
              <a:ext cx="0" cy="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5" name="Text Box 24"/>
            <p:cNvSpPr txBox="1"/>
            <p:nvPr/>
          </p:nvSpPr>
          <p:spPr>
            <a:xfrm>
              <a:off x="4158" y="1155"/>
              <a:ext cx="65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30K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266" name="Line 25"/>
            <p:cNvSpPr/>
            <p:nvPr/>
          </p:nvSpPr>
          <p:spPr>
            <a:xfrm>
              <a:off x="4171" y="1657"/>
              <a:ext cx="172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7" name="Text Box 26"/>
            <p:cNvSpPr txBox="1"/>
            <p:nvPr/>
          </p:nvSpPr>
          <p:spPr>
            <a:xfrm>
              <a:off x="4963" y="1450"/>
              <a:ext cx="64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6V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268" name="Oval 27"/>
            <p:cNvSpPr/>
            <p:nvPr/>
          </p:nvSpPr>
          <p:spPr>
            <a:xfrm>
              <a:off x="4772" y="1449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69" name="Text Box 28"/>
            <p:cNvSpPr txBox="1"/>
            <p:nvPr/>
          </p:nvSpPr>
          <p:spPr>
            <a:xfrm flipH="1">
              <a:off x="4887" y="1092"/>
              <a:ext cx="305" cy="86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10270" name="Text Box 29"/>
            <p:cNvSpPr txBox="1"/>
            <p:nvPr/>
          </p:nvSpPr>
          <p:spPr>
            <a:xfrm>
              <a:off x="3689" y="966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10271" name="Line 30"/>
            <p:cNvSpPr/>
            <p:nvPr/>
          </p:nvSpPr>
          <p:spPr>
            <a:xfrm>
              <a:off x="3311" y="935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2" name="Line 31"/>
            <p:cNvSpPr/>
            <p:nvPr/>
          </p:nvSpPr>
          <p:spPr>
            <a:xfrm>
              <a:off x="3474" y="927"/>
              <a:ext cx="7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73" name="Line 32"/>
            <p:cNvSpPr/>
            <p:nvPr/>
          </p:nvSpPr>
          <p:spPr>
            <a:xfrm>
              <a:off x="4153" y="966"/>
              <a:ext cx="0" cy="1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74" name="Line 33"/>
            <p:cNvSpPr/>
            <p:nvPr/>
          </p:nvSpPr>
          <p:spPr>
            <a:xfrm>
              <a:off x="4871" y="1065"/>
              <a:ext cx="0" cy="14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75" name="Text Box 34"/>
            <p:cNvSpPr txBox="1"/>
            <p:nvPr/>
          </p:nvSpPr>
          <p:spPr>
            <a:xfrm>
              <a:off x="4887" y="961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276" name="Text Box 35"/>
            <p:cNvSpPr txBox="1"/>
            <p:nvPr/>
          </p:nvSpPr>
          <p:spPr>
            <a:xfrm>
              <a:off x="4159" y="912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277" name="Text Box 36"/>
            <p:cNvSpPr txBox="1"/>
            <p:nvPr/>
          </p:nvSpPr>
          <p:spPr>
            <a:xfrm>
              <a:off x="3110" y="625"/>
              <a:ext cx="57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(0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+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aphicFrame>
        <p:nvGraphicFramePr>
          <p:cNvPr id="141349" name="Object 37"/>
          <p:cNvGraphicFramePr>
            <a:graphicFrameLocks noChangeAspect="1"/>
          </p:cNvGraphicFramePr>
          <p:nvPr/>
        </p:nvGraphicFramePr>
        <p:xfrm>
          <a:off x="182563" y="1905000"/>
          <a:ext cx="49371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005965" imgH="393700" progId="Equation.3">
                  <p:embed/>
                </p:oleObj>
              </mc:Choice>
              <mc:Fallback>
                <p:oleObj name="" r:id="rId1" imgW="2005965" imgH="3937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82563" y="1905000"/>
                        <a:ext cx="49371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0" name="Object 38"/>
          <p:cNvGraphicFramePr>
            <a:graphicFrameLocks noChangeAspect="1"/>
          </p:cNvGraphicFramePr>
          <p:nvPr/>
        </p:nvGraphicFramePr>
        <p:xfrm>
          <a:off x="609600" y="2895600"/>
          <a:ext cx="14684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596900" imgH="215900" progId="Equation.3">
                  <p:embed/>
                </p:oleObj>
              </mc:Choice>
              <mc:Fallback>
                <p:oleObj name="" r:id="rId3" imgW="596900" imgH="2159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2895600"/>
                        <a:ext cx="14684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1" name="Object 39"/>
          <p:cNvGraphicFramePr>
            <a:graphicFrameLocks noChangeAspect="1"/>
          </p:cNvGraphicFramePr>
          <p:nvPr/>
        </p:nvGraphicFramePr>
        <p:xfrm>
          <a:off x="288925" y="3733800"/>
          <a:ext cx="48466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968500" imgH="215900" progId="Equation.3">
                  <p:embed/>
                </p:oleObj>
              </mc:Choice>
              <mc:Fallback>
                <p:oleObj name="" r:id="rId5" imgW="1968500" imgH="215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lum bright="95999"/>
                      </a:blip>
                      <a:stretch>
                        <a:fillRect/>
                      </a:stretch>
                    </p:blipFill>
                    <p:spPr>
                      <a:xfrm>
                        <a:off x="288925" y="3733800"/>
                        <a:ext cx="48466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>
                <a:effectLst/>
              </a:rPr>
              <a:t>求初始值的步骤</a:t>
            </a:r>
            <a:r>
              <a:rPr lang="en-US" altLang="zh-CN" sz="2800" dirty="0">
                <a:effectLst/>
              </a:rPr>
              <a:t>:</a:t>
            </a:r>
            <a:endParaRPr lang="en-US" altLang="zh-CN" sz="2800" dirty="0">
              <a:effectLst/>
            </a:endParaRPr>
          </a:p>
        </p:txBody>
      </p:sp>
      <p:sp>
        <p:nvSpPr>
          <p:cNvPr id="135228" name="Text Box 60"/>
          <p:cNvSpPr txBox="1"/>
          <p:nvPr/>
        </p:nvSpPr>
        <p:spPr>
          <a:xfrm>
            <a:off x="457200" y="990600"/>
            <a:ext cx="91440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在换路前电路中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(0</a:t>
            </a:r>
            <a:r>
              <a:rPr lang="zh-CN" altLang="en-US" sz="2800" baseline="-25000" dirty="0"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(0</a:t>
            </a:r>
            <a:r>
              <a:rPr lang="zh-CN" altLang="en-US" sz="2800" baseline="-25000" dirty="0"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5229" name="Text Box 61"/>
          <p:cNvSpPr txBox="1"/>
          <p:nvPr/>
        </p:nvSpPr>
        <p:spPr>
          <a:xfrm>
            <a:off x="990600" y="16764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由换路定律得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(0</a:t>
            </a:r>
            <a:r>
              <a:rPr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(0</a:t>
            </a:r>
            <a:r>
              <a:rPr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5230" name="Text Box 62"/>
          <p:cNvSpPr txBox="1"/>
          <p:nvPr/>
        </p:nvSpPr>
        <p:spPr>
          <a:xfrm>
            <a:off x="457200" y="2543175"/>
            <a:ext cx="5562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２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画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baseline="-25000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等效电路。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5231" name="Text Box 63"/>
          <p:cNvSpPr txBox="1"/>
          <p:nvPr/>
        </p:nvSpPr>
        <p:spPr>
          <a:xfrm>
            <a:off x="533400" y="4724400"/>
            <a:ext cx="80772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３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由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baseline="-25000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等效电路，求所需的</a:t>
            </a: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初始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值。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5232" name="Text Box 64"/>
          <p:cNvSpPr txBox="1"/>
          <p:nvPr/>
        </p:nvSpPr>
        <p:spPr>
          <a:xfrm>
            <a:off x="990600" y="3748088"/>
            <a:ext cx="74676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b.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电容用电压源代替，电感用电流源代替。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5233" name="Text Box 65"/>
          <p:cNvSpPr txBox="1"/>
          <p:nvPr/>
        </p:nvSpPr>
        <p:spPr>
          <a:xfrm>
            <a:off x="990600" y="3152775"/>
            <a:ext cx="54102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a.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换路后的电路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8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35228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9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35229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3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3523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/>
      <p:bldP spid="135228" grpId="0" build="p"/>
      <p:bldP spid="135229" grpId="0" build="p"/>
      <p:bldP spid="135230" grpId="0"/>
      <p:bldP spid="135231" grpId="0" build="p"/>
      <p:bldP spid="135232" grpId="0"/>
      <p:bldP spid="1352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365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ffectLst/>
              </a:rPr>
              <a:t>7.2</a:t>
            </a:r>
            <a:r>
              <a:rPr lang="zh-CN" altLang="en-US" sz="3600" dirty="0">
                <a:effectLst/>
              </a:rPr>
              <a:t>一阶电路的零输入响应</a:t>
            </a:r>
            <a:endParaRPr lang="zh-CN" altLang="en-US" sz="3600" dirty="0">
              <a:effectLst/>
            </a:endParaRPr>
          </a:p>
        </p:txBody>
      </p:sp>
      <p:sp>
        <p:nvSpPr>
          <p:cNvPr id="142413" name="Text Box 77"/>
          <p:cNvSpPr txBox="1"/>
          <p:nvPr/>
        </p:nvSpPr>
        <p:spPr>
          <a:xfrm>
            <a:off x="558800" y="1122363"/>
            <a:ext cx="7542213" cy="1600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零输入响应：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是指电路没有外加激励时的响应。由初始时刻电容中电场的储能，或电感中磁场的储能引起的。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79"/>
          <p:cNvGrpSpPr/>
          <p:nvPr/>
        </p:nvGrpSpPr>
        <p:grpSpPr>
          <a:xfrm>
            <a:off x="231775" y="3052763"/>
            <a:ext cx="4000500" cy="2128837"/>
            <a:chOff x="368" y="2665"/>
            <a:chExt cx="2520" cy="1341"/>
          </a:xfrm>
        </p:grpSpPr>
        <p:sp>
          <p:nvSpPr>
            <p:cNvPr id="14358" name="Text Box 80"/>
            <p:cNvSpPr txBox="1"/>
            <p:nvPr/>
          </p:nvSpPr>
          <p:spPr>
            <a:xfrm>
              <a:off x="464" y="3341"/>
              <a:ext cx="115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s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= 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grpSp>
          <p:nvGrpSpPr>
            <p:cNvPr id="14359" name="Group 81"/>
            <p:cNvGrpSpPr/>
            <p:nvPr/>
          </p:nvGrpSpPr>
          <p:grpSpPr>
            <a:xfrm>
              <a:off x="368" y="2889"/>
              <a:ext cx="2122" cy="1117"/>
              <a:chOff x="2320" y="2066"/>
              <a:chExt cx="2122" cy="1117"/>
            </a:xfrm>
          </p:grpSpPr>
          <p:grpSp>
            <p:nvGrpSpPr>
              <p:cNvPr id="14365" name="Group 82"/>
              <p:cNvGrpSpPr/>
              <p:nvPr/>
            </p:nvGrpSpPr>
            <p:grpSpPr>
              <a:xfrm>
                <a:off x="2320" y="2206"/>
                <a:ext cx="211" cy="925"/>
                <a:chOff x="2320" y="2206"/>
                <a:chExt cx="211" cy="925"/>
              </a:xfrm>
            </p:grpSpPr>
            <p:sp>
              <p:nvSpPr>
                <p:cNvPr id="14390" name="Line 83"/>
                <p:cNvSpPr/>
                <p:nvPr/>
              </p:nvSpPr>
              <p:spPr>
                <a:xfrm>
                  <a:off x="2416" y="2206"/>
                  <a:ext cx="0" cy="33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91" name="Line 84"/>
                <p:cNvSpPr/>
                <p:nvPr/>
              </p:nvSpPr>
              <p:spPr>
                <a:xfrm>
                  <a:off x="2320" y="2547"/>
                  <a:ext cx="21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92" name="Line 85"/>
                <p:cNvSpPr/>
                <p:nvPr/>
              </p:nvSpPr>
              <p:spPr>
                <a:xfrm>
                  <a:off x="2368" y="2630"/>
                  <a:ext cx="115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93" name="Line 86"/>
                <p:cNvSpPr/>
                <p:nvPr/>
              </p:nvSpPr>
              <p:spPr>
                <a:xfrm>
                  <a:off x="2416" y="2630"/>
                  <a:ext cx="0" cy="50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66" name="Group 87"/>
              <p:cNvGrpSpPr/>
              <p:nvPr/>
            </p:nvGrpSpPr>
            <p:grpSpPr>
              <a:xfrm>
                <a:off x="3312" y="2182"/>
                <a:ext cx="211" cy="981"/>
                <a:chOff x="2870" y="2230"/>
                <a:chExt cx="211" cy="981"/>
              </a:xfrm>
            </p:grpSpPr>
            <p:sp>
              <p:nvSpPr>
                <p:cNvPr id="14386" name="Line 88"/>
                <p:cNvSpPr/>
                <p:nvPr/>
              </p:nvSpPr>
              <p:spPr>
                <a:xfrm>
                  <a:off x="2966" y="2230"/>
                  <a:ext cx="0" cy="33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87" name="Line 89"/>
                <p:cNvSpPr/>
                <p:nvPr/>
              </p:nvSpPr>
              <p:spPr>
                <a:xfrm>
                  <a:off x="2966" y="2710"/>
                  <a:ext cx="0" cy="50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88" name="Line 90"/>
                <p:cNvSpPr/>
                <p:nvPr/>
              </p:nvSpPr>
              <p:spPr>
                <a:xfrm>
                  <a:off x="2870" y="2576"/>
                  <a:ext cx="211" cy="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89" name="Line 91"/>
                <p:cNvSpPr/>
                <p:nvPr/>
              </p:nvSpPr>
              <p:spPr>
                <a:xfrm>
                  <a:off x="2870" y="2694"/>
                  <a:ext cx="211" cy="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367" name="Line 92"/>
              <p:cNvSpPr/>
              <p:nvPr/>
            </p:nvSpPr>
            <p:spPr>
              <a:xfrm>
                <a:off x="2405" y="3131"/>
                <a:ext cx="1983" cy="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68" name="Oval 93"/>
              <p:cNvSpPr/>
              <p:nvPr/>
            </p:nvSpPr>
            <p:spPr>
              <a:xfrm>
                <a:off x="3347" y="3087"/>
                <a:ext cx="115" cy="96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4369" name="Group 94"/>
              <p:cNvGrpSpPr/>
              <p:nvPr/>
            </p:nvGrpSpPr>
            <p:grpSpPr>
              <a:xfrm>
                <a:off x="4328" y="2194"/>
                <a:ext cx="114" cy="941"/>
                <a:chOff x="3938" y="2206"/>
                <a:chExt cx="114" cy="941"/>
              </a:xfrm>
            </p:grpSpPr>
            <p:grpSp>
              <p:nvGrpSpPr>
                <p:cNvPr id="14382" name="Group 95"/>
                <p:cNvGrpSpPr/>
                <p:nvPr/>
              </p:nvGrpSpPr>
              <p:grpSpPr>
                <a:xfrm>
                  <a:off x="3938" y="2458"/>
                  <a:ext cx="114" cy="689"/>
                  <a:chOff x="3876" y="2230"/>
                  <a:chExt cx="114" cy="689"/>
                </a:xfrm>
              </p:grpSpPr>
              <p:sp>
                <p:nvSpPr>
                  <p:cNvPr id="14384" name="Rectangle 96"/>
                  <p:cNvSpPr/>
                  <p:nvPr/>
                </p:nvSpPr>
                <p:spPr>
                  <a:xfrm>
                    <a:off x="3876" y="2230"/>
                    <a:ext cx="114" cy="317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4385" name="Line 97"/>
                  <p:cNvSpPr/>
                  <p:nvPr/>
                </p:nvSpPr>
                <p:spPr>
                  <a:xfrm>
                    <a:off x="3924" y="2547"/>
                    <a:ext cx="0" cy="37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4383" name="Line 98"/>
                <p:cNvSpPr/>
                <p:nvPr/>
              </p:nvSpPr>
              <p:spPr>
                <a:xfrm flipV="1">
                  <a:off x="3986" y="2206"/>
                  <a:ext cx="0" cy="25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70" name="Group 99"/>
              <p:cNvGrpSpPr/>
              <p:nvPr/>
            </p:nvGrpSpPr>
            <p:grpSpPr>
              <a:xfrm>
                <a:off x="2405" y="2066"/>
                <a:ext cx="1983" cy="184"/>
                <a:chOff x="2543" y="2066"/>
                <a:chExt cx="1983" cy="184"/>
              </a:xfrm>
            </p:grpSpPr>
            <p:sp>
              <p:nvSpPr>
                <p:cNvPr id="14371" name="Oval 100"/>
                <p:cNvSpPr/>
                <p:nvPr/>
              </p:nvSpPr>
              <p:spPr>
                <a:xfrm>
                  <a:off x="3087" y="2146"/>
                  <a:ext cx="115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372" name="Oval 101"/>
                <p:cNvSpPr/>
                <p:nvPr/>
              </p:nvSpPr>
              <p:spPr>
                <a:xfrm>
                  <a:off x="3492" y="2146"/>
                  <a:ext cx="115" cy="96"/>
                </a:xfrm>
                <a:prstGeom prst="ellipse">
                  <a:avLst/>
                </a:prstGeom>
                <a:solidFill>
                  <a:schemeClr val="tx1"/>
                </a:solidFill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373" name="Line 102"/>
                <p:cNvSpPr/>
                <p:nvPr/>
              </p:nvSpPr>
              <p:spPr>
                <a:xfrm>
                  <a:off x="3202" y="2194"/>
                  <a:ext cx="6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74" name="Oval 103"/>
                <p:cNvSpPr/>
                <p:nvPr/>
              </p:nvSpPr>
              <p:spPr>
                <a:xfrm>
                  <a:off x="2826" y="2154"/>
                  <a:ext cx="115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4375" name="Group 104"/>
                <p:cNvGrpSpPr/>
                <p:nvPr/>
              </p:nvGrpSpPr>
              <p:grpSpPr>
                <a:xfrm>
                  <a:off x="3869" y="2066"/>
                  <a:ext cx="657" cy="184"/>
                  <a:chOff x="3869" y="2066"/>
                  <a:chExt cx="657" cy="184"/>
                </a:xfrm>
              </p:grpSpPr>
              <p:sp>
                <p:nvSpPr>
                  <p:cNvPr id="14378" name="Line 105"/>
                  <p:cNvSpPr/>
                  <p:nvPr/>
                </p:nvSpPr>
                <p:spPr>
                  <a:xfrm flipV="1">
                    <a:off x="3984" y="2066"/>
                    <a:ext cx="146" cy="136"/>
                  </a:xfrm>
                  <a:prstGeom prst="line">
                    <a:avLst/>
                  </a:prstGeom>
                  <a:ln w="57150" cap="flat" cmpd="sng">
                    <a:solidFill>
                      <a:srgbClr val="00FF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4379" name="Line 106"/>
                  <p:cNvSpPr/>
                  <p:nvPr/>
                </p:nvSpPr>
                <p:spPr>
                  <a:xfrm rot="10800000">
                    <a:off x="4246" y="2202"/>
                    <a:ext cx="280" cy="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4380" name="Oval 107"/>
                  <p:cNvSpPr/>
                  <p:nvPr/>
                </p:nvSpPr>
                <p:spPr>
                  <a:xfrm rot="10800000">
                    <a:off x="3869" y="2154"/>
                    <a:ext cx="115" cy="96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4381" name="Oval 108"/>
                  <p:cNvSpPr/>
                  <p:nvPr/>
                </p:nvSpPr>
                <p:spPr>
                  <a:xfrm rot="10800000">
                    <a:off x="4130" y="2154"/>
                    <a:ext cx="115" cy="96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376" name="Line 109"/>
                <p:cNvSpPr/>
                <p:nvPr/>
              </p:nvSpPr>
              <p:spPr>
                <a:xfrm>
                  <a:off x="2941" y="2202"/>
                  <a:ext cx="194" cy="0"/>
                </a:xfrm>
                <a:prstGeom prst="line">
                  <a:avLst/>
                </a:prstGeom>
                <a:ln w="57150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77" name="Line 110"/>
                <p:cNvSpPr/>
                <p:nvPr/>
              </p:nvSpPr>
              <p:spPr>
                <a:xfrm rot="10800000">
                  <a:off x="2543" y="2190"/>
                  <a:ext cx="280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4360" name="Text Box 111"/>
            <p:cNvSpPr txBox="1"/>
            <p:nvPr/>
          </p:nvSpPr>
          <p:spPr>
            <a:xfrm>
              <a:off x="1249" y="3089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4361" name="Text Box 112"/>
            <p:cNvSpPr txBox="1"/>
            <p:nvPr/>
          </p:nvSpPr>
          <p:spPr>
            <a:xfrm>
              <a:off x="1517" y="3165"/>
              <a:ext cx="32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4362" name="Text Box 113"/>
            <p:cNvSpPr txBox="1"/>
            <p:nvPr/>
          </p:nvSpPr>
          <p:spPr>
            <a:xfrm>
              <a:off x="2490" y="3298"/>
              <a:ext cx="39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4363" name="Text Box 114"/>
            <p:cNvSpPr txBox="1"/>
            <p:nvPr/>
          </p:nvSpPr>
          <p:spPr>
            <a:xfrm>
              <a:off x="956" y="2665"/>
              <a:ext cx="66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S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4364" name="Text Box 115"/>
            <p:cNvSpPr txBox="1"/>
            <p:nvPr/>
          </p:nvSpPr>
          <p:spPr>
            <a:xfrm>
              <a:off x="2046" y="2665"/>
              <a:ext cx="66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S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142452" name="Line 116"/>
          <p:cNvSpPr/>
          <p:nvPr/>
        </p:nvSpPr>
        <p:spPr>
          <a:xfrm flipH="1" flipV="1">
            <a:off x="1066800" y="3433763"/>
            <a:ext cx="152400" cy="328612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2453" name="Line 117"/>
          <p:cNvSpPr/>
          <p:nvPr/>
        </p:nvSpPr>
        <p:spPr>
          <a:xfrm>
            <a:off x="2590800" y="3433763"/>
            <a:ext cx="274638" cy="217487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0" name="Group 118"/>
          <p:cNvGrpSpPr/>
          <p:nvPr/>
        </p:nvGrpSpPr>
        <p:grpSpPr>
          <a:xfrm>
            <a:off x="3492500" y="3429000"/>
            <a:ext cx="1489075" cy="584201"/>
            <a:chOff x="2908" y="3796"/>
            <a:chExt cx="938" cy="368"/>
          </a:xfrm>
        </p:grpSpPr>
        <p:sp>
          <p:nvSpPr>
            <p:cNvPr id="14356" name="Line 119"/>
            <p:cNvSpPr/>
            <p:nvPr/>
          </p:nvSpPr>
          <p:spPr>
            <a:xfrm>
              <a:off x="2908" y="3921"/>
              <a:ext cx="0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7" name="Text Box 120"/>
            <p:cNvSpPr txBox="1"/>
            <p:nvPr/>
          </p:nvSpPr>
          <p:spPr>
            <a:xfrm>
              <a:off x="2949" y="3796"/>
              <a:ext cx="89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142457" name="Text Box 121"/>
          <p:cNvSpPr txBox="1"/>
          <p:nvPr/>
        </p:nvSpPr>
        <p:spPr>
          <a:xfrm>
            <a:off x="1752600" y="3052763"/>
            <a:ext cx="838200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t</a:t>
            </a:r>
            <a:r>
              <a: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= 0</a:t>
            </a:r>
            <a:endParaRPr lang="en-US" altLang="zh-CN" sz="3200" b="1" dirty="0">
              <a:solidFill>
                <a:schemeClr val="tx2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2458" name="Text Box 122"/>
          <p:cNvSpPr txBox="1"/>
          <p:nvPr/>
        </p:nvSpPr>
        <p:spPr>
          <a:xfrm>
            <a:off x="4343400" y="2667000"/>
            <a:ext cx="4572000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1.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 &lt;0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时，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被充电为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0</a:t>
            </a:r>
            <a:r>
              <a:rPr lang="zh-CN" altLang="en-US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。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2459" name="Text Box 123"/>
          <p:cNvSpPr txBox="1"/>
          <p:nvPr/>
        </p:nvSpPr>
        <p:spPr>
          <a:xfrm>
            <a:off x="4800600" y="3962400"/>
            <a:ext cx="4419600" cy="112458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因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上的电压不能突变，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(0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+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)= u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0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2460" name="Text Box 124"/>
          <p:cNvSpPr txBox="1"/>
          <p:nvPr/>
        </p:nvSpPr>
        <p:spPr>
          <a:xfrm>
            <a:off x="4389438" y="5257800"/>
            <a:ext cx="4144962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3. t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Symbol" panose="05050102010706020507" pitchFamily="18" charset="2"/>
              </a:rPr>
              <a:t>0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Symbol" panose="05050102010706020507" pitchFamily="18" charset="2"/>
              </a:rPr>
              <a:t>时，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换路后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……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。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2461" name="Text Box 125"/>
          <p:cNvSpPr txBox="1"/>
          <p:nvPr/>
        </p:nvSpPr>
        <p:spPr>
          <a:xfrm>
            <a:off x="4267200" y="3327400"/>
            <a:ext cx="4343400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_x0001_" pitchFamily="18" charset="0"/>
              </a:rPr>
              <a:t>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2. t = 0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时，换路的瞬间，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grpSp>
        <p:nvGrpSpPr>
          <p:cNvPr id="11" name="Group 126"/>
          <p:cNvGrpSpPr/>
          <p:nvPr/>
        </p:nvGrpSpPr>
        <p:grpSpPr>
          <a:xfrm>
            <a:off x="762000" y="3738563"/>
            <a:ext cx="1219200" cy="1295400"/>
            <a:chOff x="-1293" y="2746"/>
            <a:chExt cx="768" cy="816"/>
          </a:xfrm>
        </p:grpSpPr>
        <p:grpSp>
          <p:nvGrpSpPr>
            <p:cNvPr id="14352" name="Group 127"/>
            <p:cNvGrpSpPr/>
            <p:nvPr/>
          </p:nvGrpSpPr>
          <p:grpSpPr>
            <a:xfrm>
              <a:off x="-1293" y="2746"/>
              <a:ext cx="528" cy="816"/>
              <a:chOff x="3360" y="2352"/>
              <a:chExt cx="672" cy="816"/>
            </a:xfrm>
          </p:grpSpPr>
          <p:sp>
            <p:nvSpPr>
              <p:cNvPr id="14354" name="Arc 128"/>
              <p:cNvSpPr/>
              <p:nvPr/>
            </p:nvSpPr>
            <p:spPr>
              <a:xfrm>
                <a:off x="3360" y="2352"/>
                <a:ext cx="672" cy="768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2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5" name="Line 129"/>
              <p:cNvSpPr/>
              <p:nvPr/>
            </p:nvSpPr>
            <p:spPr>
              <a:xfrm flipH="1">
                <a:off x="3984" y="3072"/>
                <a:ext cx="48" cy="96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4353" name="Text Box 130"/>
            <p:cNvSpPr txBox="1"/>
            <p:nvPr/>
          </p:nvSpPr>
          <p:spPr>
            <a:xfrm>
              <a:off x="-1293" y="3274"/>
              <a:ext cx="7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tx2"/>
                  </a:solidFill>
                  <a:latin typeface="_x0001_" pitchFamily="18" charset="0"/>
                </a:rPr>
                <a:t>充电</a:t>
              </a:r>
              <a:endParaRPr lang="zh-CN" altLang="en-US" sz="32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</p:grpSp>
      <p:sp>
        <p:nvSpPr>
          <p:cNvPr id="142467" name="Text Box 131"/>
          <p:cNvSpPr txBox="1"/>
          <p:nvPr/>
        </p:nvSpPr>
        <p:spPr>
          <a:xfrm>
            <a:off x="6726238" y="4572000"/>
            <a:ext cx="2341562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i(t)= u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0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/R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。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2468" name="Text Box 132"/>
          <p:cNvSpPr txBox="1"/>
          <p:nvPr/>
        </p:nvSpPr>
        <p:spPr>
          <a:xfrm>
            <a:off x="1981200" y="4424680"/>
            <a:ext cx="2041525" cy="58356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华文仿宋" panose="02010600040101010101" charset="-122"/>
                <a:ea typeface="华文仿宋" panose="02010600040101010101" charset="-122"/>
              </a:rPr>
              <a:t>u</a:t>
            </a:r>
            <a:r>
              <a:rPr lang="en-US" altLang="zh-CN" sz="3200" b="1" baseline="-25000" dirty="0">
                <a:latin typeface="华文仿宋" panose="02010600040101010101" charset="-122"/>
                <a:ea typeface="华文仿宋" panose="02010600040101010101" charset="-122"/>
              </a:rPr>
              <a:t>c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</a:rPr>
              <a:t>(</a:t>
            </a:r>
            <a:r>
              <a:rPr lang="en-US" altLang="zh-CN" sz="2000" b="1" dirty="0">
                <a:latin typeface="华文仿宋" panose="02010600040101010101" charset="-122"/>
                <a:ea typeface="华文仿宋" panose="02010600040101010101" charset="-122"/>
              </a:rPr>
              <a:t>0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</a:rPr>
              <a:t>)</a:t>
            </a:r>
            <a:r>
              <a:rPr lang="en-US" altLang="zh-CN" sz="3200" b="1" dirty="0">
                <a:latin typeface="华文仿宋" panose="02010600040101010101" charset="-122"/>
                <a:ea typeface="华文仿宋" panose="02010600040101010101" charset="-122"/>
              </a:rPr>
              <a:t>= u</a:t>
            </a:r>
            <a:r>
              <a:rPr lang="en-US" altLang="zh-CN" sz="3200" b="1" baseline="-25000" dirty="0"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32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3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1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/>
      <p:bldP spid="142413" grpId="0"/>
      <p:bldP spid="142457" grpId="0"/>
      <p:bldP spid="142458" grpId="0"/>
      <p:bldP spid="142459" grpId="0"/>
      <p:bldP spid="142460" grpId="0"/>
      <p:bldP spid="142461" grpId="0"/>
      <p:bldP spid="142467" grpId="0"/>
      <p:bldP spid="1424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1.RC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电路的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零输入响应：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由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u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(0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+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产生的响应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3364" name="Text Box 4"/>
          <p:cNvSpPr txBox="1"/>
          <p:nvPr/>
        </p:nvSpPr>
        <p:spPr>
          <a:xfrm>
            <a:off x="3425825" y="609600"/>
            <a:ext cx="3833813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由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KVL:   </a:t>
            </a:r>
            <a:r>
              <a: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</a:t>
            </a:r>
            <a:r>
              <a:rPr lang="en-US" altLang="zh-CN" sz="32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R</a:t>
            </a:r>
            <a:r>
              <a: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-u</a:t>
            </a:r>
            <a:r>
              <a:rPr lang="en-US" altLang="zh-CN" sz="3200" b="1" baseline="-2500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= 0</a:t>
            </a:r>
            <a:endParaRPr lang="en-US" altLang="zh-CN" sz="24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79400" y="992188"/>
            <a:ext cx="2789238" cy="1633537"/>
            <a:chOff x="176" y="625"/>
            <a:chExt cx="1757" cy="1029"/>
          </a:xfrm>
        </p:grpSpPr>
        <p:sp>
          <p:nvSpPr>
            <p:cNvPr id="15390" name="Line 6"/>
            <p:cNvSpPr/>
            <p:nvPr/>
          </p:nvSpPr>
          <p:spPr>
            <a:xfrm>
              <a:off x="479" y="1638"/>
              <a:ext cx="968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1" name="Text Box 7"/>
            <p:cNvSpPr txBox="1"/>
            <p:nvPr/>
          </p:nvSpPr>
          <p:spPr>
            <a:xfrm>
              <a:off x="463" y="1241"/>
              <a:ext cx="127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</a:t>
              </a:r>
              <a:r>
                <a:rPr lang="en-US" altLang="zh-CN" sz="2000" b="1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= 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grpSp>
          <p:nvGrpSpPr>
            <p:cNvPr id="15392" name="Group 8"/>
            <p:cNvGrpSpPr/>
            <p:nvPr/>
          </p:nvGrpSpPr>
          <p:grpSpPr>
            <a:xfrm>
              <a:off x="383" y="673"/>
              <a:ext cx="211" cy="981"/>
              <a:chOff x="2870" y="2230"/>
              <a:chExt cx="211" cy="981"/>
            </a:xfrm>
          </p:grpSpPr>
          <p:sp>
            <p:nvSpPr>
              <p:cNvPr id="15407" name="Line 9"/>
              <p:cNvSpPr/>
              <p:nvPr/>
            </p:nvSpPr>
            <p:spPr>
              <a:xfrm>
                <a:off x="2966" y="2230"/>
                <a:ext cx="0" cy="33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8" name="Line 10"/>
              <p:cNvSpPr/>
              <p:nvPr/>
            </p:nvSpPr>
            <p:spPr>
              <a:xfrm>
                <a:off x="2966" y="2710"/>
                <a:ext cx="0" cy="50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9" name="Line 11"/>
              <p:cNvSpPr/>
              <p:nvPr/>
            </p:nvSpPr>
            <p:spPr>
              <a:xfrm>
                <a:off x="2870" y="2576"/>
                <a:ext cx="211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10" name="Line 12"/>
              <p:cNvSpPr/>
              <p:nvPr/>
            </p:nvSpPr>
            <p:spPr>
              <a:xfrm>
                <a:off x="2870" y="2694"/>
                <a:ext cx="211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5393" name="Group 13"/>
            <p:cNvGrpSpPr/>
            <p:nvPr/>
          </p:nvGrpSpPr>
          <p:grpSpPr>
            <a:xfrm>
              <a:off x="1383" y="701"/>
              <a:ext cx="114" cy="941"/>
              <a:chOff x="3938" y="2206"/>
              <a:chExt cx="114" cy="941"/>
            </a:xfrm>
          </p:grpSpPr>
          <p:grpSp>
            <p:nvGrpSpPr>
              <p:cNvPr id="15403" name="Group 14"/>
              <p:cNvGrpSpPr/>
              <p:nvPr/>
            </p:nvGrpSpPr>
            <p:grpSpPr>
              <a:xfrm>
                <a:off x="3938" y="2458"/>
                <a:ext cx="114" cy="689"/>
                <a:chOff x="3876" y="2230"/>
                <a:chExt cx="114" cy="689"/>
              </a:xfrm>
            </p:grpSpPr>
            <p:sp>
              <p:nvSpPr>
                <p:cNvPr id="15405" name="Rectangle 15"/>
                <p:cNvSpPr/>
                <p:nvPr/>
              </p:nvSpPr>
              <p:spPr>
                <a:xfrm>
                  <a:off x="3876" y="2230"/>
                  <a:ext cx="114" cy="31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06" name="Line 16"/>
                <p:cNvSpPr/>
                <p:nvPr/>
              </p:nvSpPr>
              <p:spPr>
                <a:xfrm>
                  <a:off x="3924" y="2547"/>
                  <a:ext cx="0" cy="37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404" name="Line 17"/>
              <p:cNvSpPr/>
              <p:nvPr/>
            </p:nvSpPr>
            <p:spPr>
              <a:xfrm flipV="1">
                <a:off x="3986" y="2206"/>
                <a:ext cx="0" cy="25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5394" name="Text Box 18"/>
            <p:cNvSpPr txBox="1"/>
            <p:nvPr/>
          </p:nvSpPr>
          <p:spPr>
            <a:xfrm>
              <a:off x="485" y="767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5395" name="Text Box 19"/>
            <p:cNvSpPr txBox="1"/>
            <p:nvPr/>
          </p:nvSpPr>
          <p:spPr>
            <a:xfrm>
              <a:off x="176" y="953"/>
              <a:ext cx="32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5396" name="Text Box 20"/>
            <p:cNvSpPr txBox="1"/>
            <p:nvPr/>
          </p:nvSpPr>
          <p:spPr>
            <a:xfrm>
              <a:off x="1165" y="953"/>
              <a:ext cx="39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grpSp>
          <p:nvGrpSpPr>
            <p:cNvPr id="15397" name="Group 21"/>
            <p:cNvGrpSpPr/>
            <p:nvPr/>
          </p:nvGrpSpPr>
          <p:grpSpPr>
            <a:xfrm>
              <a:off x="924" y="625"/>
              <a:ext cx="1009" cy="368"/>
              <a:chOff x="1053" y="2231"/>
              <a:chExt cx="1009" cy="368"/>
            </a:xfrm>
          </p:grpSpPr>
          <p:sp>
            <p:nvSpPr>
              <p:cNvPr id="15401" name="Line 22"/>
              <p:cNvSpPr/>
              <p:nvPr/>
            </p:nvSpPr>
            <p:spPr>
              <a:xfrm>
                <a:off x="1563" y="2324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5402" name="Text Box 23"/>
              <p:cNvSpPr txBox="1"/>
              <p:nvPr/>
            </p:nvSpPr>
            <p:spPr>
              <a:xfrm>
                <a:off x="1053" y="2231"/>
                <a:ext cx="1009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chemeClr val="tx2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i</a:t>
                </a:r>
                <a:r>
                  <a:rPr lang="en-US" altLang="zh-CN" sz="3200" b="1" baseline="-25000" dirty="0">
                    <a:solidFill>
                      <a:schemeClr val="tx2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c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(t)</a:t>
                </a:r>
                <a:endParaRPr lang="en-US" altLang="zh-CN" sz="32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</p:grpSp>
        <p:sp>
          <p:nvSpPr>
            <p:cNvPr id="15398" name="Line 24"/>
            <p:cNvSpPr/>
            <p:nvPr/>
          </p:nvSpPr>
          <p:spPr>
            <a:xfrm>
              <a:off x="485" y="685"/>
              <a:ext cx="9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9" name="Text Box 25"/>
            <p:cNvSpPr txBox="1"/>
            <p:nvPr/>
          </p:nvSpPr>
          <p:spPr>
            <a:xfrm>
              <a:off x="594" y="873"/>
              <a:ext cx="53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5400" name="Text Box 26"/>
            <p:cNvSpPr txBox="1"/>
            <p:nvPr/>
          </p:nvSpPr>
          <p:spPr>
            <a:xfrm>
              <a:off x="1479" y="705"/>
              <a:ext cx="422" cy="94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43387" name="Object 27"/>
          <p:cNvGraphicFramePr>
            <a:graphicFrameLocks noChangeAspect="1"/>
          </p:cNvGraphicFramePr>
          <p:nvPr/>
        </p:nvGraphicFramePr>
        <p:xfrm>
          <a:off x="7850188" y="3990975"/>
          <a:ext cx="10683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16865" imgH="177800" progId="Equation.3">
                  <p:embed/>
                </p:oleObj>
              </mc:Choice>
              <mc:Fallback>
                <p:oleObj name="" r:id="rId1" imgW="316865" imgH="177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lum bright="76001"/>
                      </a:blip>
                      <a:stretch>
                        <a:fillRect/>
                      </a:stretch>
                    </p:blipFill>
                    <p:spPr>
                      <a:xfrm>
                        <a:off x="7850188" y="3990975"/>
                        <a:ext cx="106838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8" name="Object 28"/>
          <p:cNvGraphicFramePr>
            <a:graphicFrameLocks noChangeAspect="1"/>
          </p:cNvGraphicFramePr>
          <p:nvPr/>
        </p:nvGraphicFramePr>
        <p:xfrm>
          <a:off x="6781800" y="731838"/>
          <a:ext cx="8382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316865" imgH="177800" progId="Equation.3">
                  <p:embed/>
                </p:oleObj>
              </mc:Choice>
              <mc:Fallback>
                <p:oleObj name="" r:id="rId3" imgW="316865" imgH="177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781800" y="731838"/>
                        <a:ext cx="838200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9"/>
          <p:cNvGrpSpPr/>
          <p:nvPr/>
        </p:nvGrpSpPr>
        <p:grpSpPr>
          <a:xfrm>
            <a:off x="3276600" y="1189038"/>
            <a:ext cx="5641975" cy="1393825"/>
            <a:chOff x="2063" y="1023"/>
            <a:chExt cx="3602" cy="915"/>
          </a:xfrm>
        </p:grpSpPr>
        <p:sp>
          <p:nvSpPr>
            <p:cNvPr id="15387" name="Text Box 30"/>
            <p:cNvSpPr txBox="1"/>
            <p:nvPr/>
          </p:nvSpPr>
          <p:spPr>
            <a:xfrm>
              <a:off x="2063" y="1170"/>
              <a:ext cx="3602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_x0001_" pitchFamily="18" charset="0"/>
                </a:rPr>
                <a:t>由元件的性质：                           代入上式</a:t>
              </a:r>
              <a:endParaRPr lang="zh-CN" altLang="en-US" sz="2400" b="1" dirty="0">
                <a:latin typeface="_x0001_" pitchFamily="18" charset="0"/>
              </a:endParaRPr>
            </a:p>
          </p:txBody>
        </p:sp>
        <p:graphicFrame>
          <p:nvGraphicFramePr>
            <p:cNvPr id="15388" name="Object 31"/>
            <p:cNvGraphicFramePr>
              <a:graphicFrameLocks noChangeAspect="1"/>
            </p:cNvGraphicFramePr>
            <p:nvPr/>
          </p:nvGraphicFramePr>
          <p:xfrm>
            <a:off x="3571" y="1023"/>
            <a:ext cx="1259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4" imgW="786765" imgH="635000" progId="Equation.3">
                    <p:embed/>
                  </p:oleObj>
                </mc:Choice>
                <mc:Fallback>
                  <p:oleObj name="" r:id="rId4" imgW="786765" imgH="6350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5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71" y="1023"/>
                          <a:ext cx="1259" cy="9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9" name="AutoShape 32"/>
            <p:cNvSpPr/>
            <p:nvPr/>
          </p:nvSpPr>
          <p:spPr>
            <a:xfrm>
              <a:off x="3376" y="1137"/>
              <a:ext cx="127" cy="501"/>
            </a:xfrm>
            <a:prstGeom prst="leftBrace">
              <a:avLst>
                <a:gd name="adj1" fmla="val 32874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43400" name="Text Box 40"/>
          <p:cNvSpPr txBox="1"/>
          <p:nvPr/>
        </p:nvSpPr>
        <p:spPr>
          <a:xfrm>
            <a:off x="304800" y="3990975"/>
            <a:ext cx="224155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_x0001_" pitchFamily="18" charset="0"/>
              </a:rPr>
              <a:t>特征方程</a:t>
            </a:r>
            <a:r>
              <a:rPr lang="en-US" altLang="zh-CN" sz="2400" b="1" dirty="0">
                <a:latin typeface="_x0001_" pitchFamily="18" charset="0"/>
              </a:rPr>
              <a:t>:  </a:t>
            </a:r>
            <a:endParaRPr lang="en-US" altLang="zh-CN" sz="2400" b="1" dirty="0">
              <a:latin typeface="_x0001_" pitchFamily="18" charset="0"/>
            </a:endParaRPr>
          </a:p>
        </p:txBody>
      </p:sp>
      <p:graphicFrame>
        <p:nvGraphicFramePr>
          <p:cNvPr id="143401" name="Object 41"/>
          <p:cNvGraphicFramePr>
            <a:graphicFrameLocks noChangeAspect="1"/>
          </p:cNvGraphicFramePr>
          <p:nvPr/>
        </p:nvGraphicFramePr>
        <p:xfrm>
          <a:off x="1958975" y="3994150"/>
          <a:ext cx="16430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6" imgW="736600" imgH="203200" progId="Equation.3">
                  <p:embed/>
                </p:oleObj>
              </mc:Choice>
              <mc:Fallback>
                <p:oleObj name="" r:id="rId6" imgW="736600" imgH="2032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7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58975" y="3994150"/>
                        <a:ext cx="1643063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2" name="Text Box 42"/>
          <p:cNvSpPr txBox="1"/>
          <p:nvPr/>
        </p:nvSpPr>
        <p:spPr>
          <a:xfrm>
            <a:off x="304800" y="4645025"/>
            <a:ext cx="2681288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_x0001_" pitchFamily="18" charset="0"/>
              </a:rPr>
              <a:t>特征方程根</a:t>
            </a:r>
            <a:r>
              <a:rPr lang="en-US" altLang="zh-CN" sz="2400" b="1" dirty="0">
                <a:latin typeface="_x0001_" pitchFamily="18" charset="0"/>
              </a:rPr>
              <a:t>:  </a:t>
            </a:r>
            <a:endParaRPr lang="en-US" altLang="zh-CN" sz="2400" b="1" dirty="0">
              <a:latin typeface="_x0001_" pitchFamily="18" charset="0"/>
            </a:endParaRPr>
          </a:p>
        </p:txBody>
      </p:sp>
      <p:graphicFrame>
        <p:nvGraphicFramePr>
          <p:cNvPr id="143403" name="Object 43"/>
          <p:cNvGraphicFramePr>
            <a:graphicFrameLocks noChangeAspect="1"/>
          </p:cNvGraphicFramePr>
          <p:nvPr/>
        </p:nvGraphicFramePr>
        <p:xfrm>
          <a:off x="3937000" y="3810000"/>
          <a:ext cx="36052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8" imgW="1422400" imgH="342900" progId="Equation.3">
                  <p:embed/>
                </p:oleObj>
              </mc:Choice>
              <mc:Fallback>
                <p:oleObj name="" r:id="rId8" imgW="1422400" imgH="342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937000" y="3810000"/>
                        <a:ext cx="3605213" cy="741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4" name="Object 44"/>
          <p:cNvGraphicFramePr>
            <a:graphicFrameLocks noChangeAspect="1"/>
          </p:cNvGraphicFramePr>
          <p:nvPr/>
        </p:nvGraphicFramePr>
        <p:xfrm>
          <a:off x="2209800" y="4475163"/>
          <a:ext cx="137160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0" imgW="635000" imgH="393700" progId="Equation.3">
                  <p:embed/>
                </p:oleObj>
              </mc:Choice>
              <mc:Fallback>
                <p:oleObj name="" r:id="rId10" imgW="635000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1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209800" y="4475163"/>
                        <a:ext cx="1371600" cy="706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5" name="Text Box 45"/>
          <p:cNvSpPr txBox="1"/>
          <p:nvPr/>
        </p:nvSpPr>
        <p:spPr>
          <a:xfrm>
            <a:off x="5381625" y="2819400"/>
            <a:ext cx="2809875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一阶齐次方程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3406" name="Object 46"/>
          <p:cNvGraphicFramePr>
            <a:graphicFrameLocks noChangeAspect="1"/>
          </p:cNvGraphicFramePr>
          <p:nvPr/>
        </p:nvGraphicFramePr>
        <p:xfrm>
          <a:off x="3962400" y="4572000"/>
          <a:ext cx="47752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2" imgW="1625600" imgH="342900" progId="Equation.3">
                  <p:embed/>
                </p:oleObj>
              </mc:Choice>
              <mc:Fallback>
                <p:oleObj name="" r:id="rId12" imgW="1625600" imgH="342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962400" y="4572000"/>
                        <a:ext cx="4775200" cy="67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7" name="Object 47"/>
          <p:cNvGraphicFramePr>
            <a:graphicFrameLocks noChangeAspect="1"/>
          </p:cNvGraphicFramePr>
          <p:nvPr/>
        </p:nvGraphicFramePr>
        <p:xfrm>
          <a:off x="2039938" y="5368925"/>
          <a:ext cx="27717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4" imgW="888365" imgH="342900" progId="Equation.3">
                  <p:embed/>
                </p:oleObj>
              </mc:Choice>
              <mc:Fallback>
                <p:oleObj name="" r:id="rId14" imgW="888365" imgH="342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5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039938" y="5368925"/>
                        <a:ext cx="2771775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8" name="Object 48"/>
          <p:cNvGraphicFramePr>
            <a:graphicFrameLocks noChangeAspect="1"/>
          </p:cNvGraphicFramePr>
          <p:nvPr/>
        </p:nvGraphicFramePr>
        <p:xfrm>
          <a:off x="5257800" y="5715000"/>
          <a:ext cx="10683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6" imgW="316865" imgH="177800" progId="Equation.3">
                  <p:embed/>
                </p:oleObj>
              </mc:Choice>
              <mc:Fallback>
                <p:oleObj name="" r:id="rId16" imgW="316865" imgH="177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257800" y="5715000"/>
                        <a:ext cx="1068388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9" name="Text Box 49"/>
          <p:cNvSpPr txBox="1"/>
          <p:nvPr/>
        </p:nvSpPr>
        <p:spPr>
          <a:xfrm>
            <a:off x="381000" y="5638800"/>
            <a:ext cx="19050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_x0001_" pitchFamily="18" charset="0"/>
              </a:rPr>
              <a:t>∴</a:t>
            </a: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</a:rPr>
              <a:t>解得：</a:t>
            </a:r>
            <a:endParaRPr lang="zh-CN" altLang="en-US" sz="28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graphicFrame>
        <p:nvGraphicFramePr>
          <p:cNvPr id="143410" name="Object 50"/>
          <p:cNvGraphicFramePr>
            <a:graphicFrameLocks noChangeAspect="1"/>
          </p:cNvGraphicFramePr>
          <p:nvPr/>
        </p:nvGraphicFramePr>
        <p:xfrm>
          <a:off x="1219200" y="2743200"/>
          <a:ext cx="2997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7" imgW="1497965" imgH="393700" progId="Equation.3">
                  <p:embed/>
                </p:oleObj>
              </mc:Choice>
              <mc:Fallback>
                <p:oleObj name="" r:id="rId17" imgW="1497965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219200" y="2743200"/>
                        <a:ext cx="2997200" cy="71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1" name="Text Box 51"/>
          <p:cNvSpPr txBox="1"/>
          <p:nvPr/>
        </p:nvSpPr>
        <p:spPr>
          <a:xfrm>
            <a:off x="533400" y="2819400"/>
            <a:ext cx="722313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_x0001_" pitchFamily="18" charset="0"/>
              </a:rPr>
              <a:t>得</a:t>
            </a:r>
            <a:r>
              <a:rPr lang="en-US" altLang="zh-CN" sz="2400" dirty="0">
                <a:latin typeface="_x0001_" pitchFamily="18" charset="0"/>
              </a:rPr>
              <a:t>:</a:t>
            </a:r>
            <a:endParaRPr lang="en-US" altLang="zh-CN" sz="2400" dirty="0">
              <a:latin typeface="_x0001_" pitchFamily="18" charset="0"/>
            </a:endParaRPr>
          </a:p>
        </p:txBody>
      </p:sp>
      <p:grpSp>
        <p:nvGrpSpPr>
          <p:cNvPr id="8" name="Group 53"/>
          <p:cNvGrpSpPr/>
          <p:nvPr/>
        </p:nvGrpSpPr>
        <p:grpSpPr>
          <a:xfrm>
            <a:off x="1219200" y="3429000"/>
            <a:ext cx="3605213" cy="517525"/>
            <a:chOff x="591" y="2264"/>
            <a:chExt cx="2649" cy="364"/>
          </a:xfrm>
        </p:grpSpPr>
        <p:sp>
          <p:nvSpPr>
            <p:cNvPr id="15385" name="Text Box 54"/>
            <p:cNvSpPr txBox="1"/>
            <p:nvPr/>
          </p:nvSpPr>
          <p:spPr>
            <a:xfrm>
              <a:off x="1463" y="2264"/>
              <a:ext cx="1777" cy="36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800" dirty="0">
                  <a:latin typeface="楷体_GB2312" pitchFamily="49" charset="-122"/>
                  <a:ea typeface="楷体_GB2312" pitchFamily="49" charset="-122"/>
                </a:rPr>
                <a:t>初始条件</a:t>
              </a:r>
              <a:endParaRPr lang="zh-CN" altLang="en-US" sz="2800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5386" name="Object 55"/>
            <p:cNvGraphicFramePr>
              <a:graphicFrameLocks noChangeAspect="1"/>
            </p:cNvGraphicFramePr>
            <p:nvPr/>
          </p:nvGraphicFramePr>
          <p:xfrm>
            <a:off x="591" y="2289"/>
            <a:ext cx="961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9" imgW="647700" imgH="228600" progId="Equation.3">
                    <p:embed/>
                  </p:oleObj>
                </mc:Choice>
                <mc:Fallback>
                  <p:oleObj name="" r:id="rId19" imgW="647700" imgH="2286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91" y="2289"/>
                          <a:ext cx="961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16" name="AutoShape 56"/>
          <p:cNvSpPr/>
          <p:nvPr/>
        </p:nvSpPr>
        <p:spPr>
          <a:xfrm>
            <a:off x="990600" y="2895600"/>
            <a:ext cx="188913" cy="971550"/>
          </a:xfrm>
          <a:prstGeom prst="leftBrace">
            <a:avLst>
              <a:gd name="adj1" fmla="val 42857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9" name="Group 60"/>
          <p:cNvGrpSpPr/>
          <p:nvPr/>
        </p:nvGrpSpPr>
        <p:grpSpPr>
          <a:xfrm>
            <a:off x="1219200" y="1295400"/>
            <a:ext cx="609600" cy="762000"/>
            <a:chOff x="144" y="1632"/>
            <a:chExt cx="384" cy="480"/>
          </a:xfrm>
        </p:grpSpPr>
        <p:sp>
          <p:nvSpPr>
            <p:cNvPr id="15383" name="Arc 58"/>
            <p:cNvSpPr/>
            <p:nvPr/>
          </p:nvSpPr>
          <p:spPr>
            <a:xfrm>
              <a:off x="144" y="1632"/>
              <a:ext cx="384" cy="43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E7130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84" name="Line 59"/>
            <p:cNvSpPr/>
            <p:nvPr/>
          </p:nvSpPr>
          <p:spPr>
            <a:xfrm>
              <a:off x="528" y="2016"/>
              <a:ext cx="0" cy="96"/>
            </a:xfrm>
            <a:prstGeom prst="line">
              <a:avLst/>
            </a:prstGeom>
            <a:ln w="38100" cap="flat" cmpd="sng">
              <a:solidFill>
                <a:srgbClr val="E71303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4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4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4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4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/>
      <p:bldP spid="143364" grpId="0"/>
      <p:bldP spid="143400" grpId="0"/>
      <p:bldP spid="143402" grpId="0"/>
      <p:bldP spid="143405" grpId="0"/>
      <p:bldP spid="143409" grpId="0"/>
      <p:bldP spid="143411" grpId="0"/>
      <p:bldP spid="1434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8" name="Text Box 4"/>
          <p:cNvSpPr txBox="1"/>
          <p:nvPr/>
        </p:nvSpPr>
        <p:spPr>
          <a:xfrm>
            <a:off x="6415088" y="3806825"/>
            <a:ext cx="1209675" cy="652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_x0001_" pitchFamily="18" charset="0"/>
              </a:rPr>
              <a:t>结论</a:t>
            </a:r>
            <a:r>
              <a:rPr lang="en-US" altLang="zh-CN" sz="3200" b="1" dirty="0">
                <a:solidFill>
                  <a:schemeClr val="tx2"/>
                </a:solidFill>
                <a:latin typeface="_x0001_" pitchFamily="18" charset="0"/>
              </a:rPr>
              <a:t>:</a:t>
            </a:r>
            <a:endParaRPr lang="en-US" altLang="zh-CN" sz="32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graphicFrame>
        <p:nvGraphicFramePr>
          <p:cNvPr id="144389" name="Object 5"/>
          <p:cNvGraphicFramePr>
            <a:graphicFrameLocks noChangeAspect="1"/>
          </p:cNvGraphicFramePr>
          <p:nvPr/>
        </p:nvGraphicFramePr>
        <p:xfrm>
          <a:off x="7786688" y="3157538"/>
          <a:ext cx="9239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16865" imgH="177800" progId="Equation.3">
                  <p:embed/>
                </p:oleObj>
              </mc:Choice>
              <mc:Fallback>
                <p:oleObj name="" r:id="rId1" imgW="316865" imgH="177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786688" y="3157538"/>
                        <a:ext cx="923925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817563" y="869950"/>
            <a:ext cx="2963862" cy="1250950"/>
            <a:chOff x="3729" y="2013"/>
            <a:chExt cx="1867" cy="788"/>
          </a:xfrm>
        </p:grpSpPr>
        <p:sp>
          <p:nvSpPr>
            <p:cNvPr id="16463" name="Arc 7"/>
            <p:cNvSpPr/>
            <p:nvPr/>
          </p:nvSpPr>
          <p:spPr>
            <a:xfrm flipH="1">
              <a:off x="4012" y="2013"/>
              <a:ext cx="1584" cy="788"/>
            </a:xfrm>
            <a:custGeom>
              <a:avLst/>
              <a:gdLst>
                <a:gd name="txL" fmla="*/ 0 w 21599"/>
                <a:gd name="txT" fmla="*/ 0 h 21598"/>
                <a:gd name="txR" fmla="*/ 21599 w 21599"/>
                <a:gd name="txB" fmla="*/ 21598 h 2159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599" h="21598" fill="none">
                  <a:moveTo>
                    <a:pt x="21598" y="251"/>
                  </a:moveTo>
                  <a:cubicBezTo>
                    <a:pt x="21461" y="11965"/>
                    <a:pt x="12012" y="21435"/>
                    <a:pt x="298" y="21597"/>
                  </a:cubicBezTo>
                </a:path>
                <a:path w="21599" h="21598" stroke="0">
                  <a:moveTo>
                    <a:pt x="21598" y="251"/>
                  </a:moveTo>
                  <a:cubicBezTo>
                    <a:pt x="21461" y="11965"/>
                    <a:pt x="12012" y="21435"/>
                    <a:pt x="298" y="21597"/>
                  </a:cubicBezTo>
                  <a:lnTo>
                    <a:pt x="0" y="0"/>
                  </a:lnTo>
                  <a:lnTo>
                    <a:pt x="21598" y="251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64" name="Line 8"/>
            <p:cNvSpPr/>
            <p:nvPr/>
          </p:nvSpPr>
          <p:spPr>
            <a:xfrm flipH="1">
              <a:off x="3729" y="2023"/>
              <a:ext cx="283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9"/>
          <p:cNvGrpSpPr/>
          <p:nvPr/>
        </p:nvGrpSpPr>
        <p:grpSpPr>
          <a:xfrm>
            <a:off x="596900" y="-58737"/>
            <a:ext cx="4675188" cy="3390900"/>
            <a:chOff x="1606" y="1869"/>
            <a:chExt cx="2945" cy="2136"/>
          </a:xfrm>
        </p:grpSpPr>
        <p:sp>
          <p:nvSpPr>
            <p:cNvPr id="16447" name="Text Box 10"/>
            <p:cNvSpPr txBox="1"/>
            <p:nvPr/>
          </p:nvSpPr>
          <p:spPr>
            <a:xfrm>
              <a:off x="3754" y="3086"/>
              <a:ext cx="79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t 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(s)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6448" name="Line 11"/>
            <p:cNvSpPr/>
            <p:nvPr/>
          </p:nvSpPr>
          <p:spPr>
            <a:xfrm>
              <a:off x="1606" y="3278"/>
              <a:ext cx="215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49" name="Line 12"/>
            <p:cNvSpPr/>
            <p:nvPr/>
          </p:nvSpPr>
          <p:spPr>
            <a:xfrm flipV="1">
              <a:off x="2011" y="2013"/>
              <a:ext cx="0" cy="14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50" name="Line 13"/>
            <p:cNvSpPr/>
            <p:nvPr/>
          </p:nvSpPr>
          <p:spPr>
            <a:xfrm>
              <a:off x="2384" y="3441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1" name="Line 14"/>
            <p:cNvSpPr/>
            <p:nvPr/>
          </p:nvSpPr>
          <p:spPr>
            <a:xfrm>
              <a:off x="2384" y="3441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2" name="Line 15"/>
            <p:cNvSpPr/>
            <p:nvPr/>
          </p:nvSpPr>
          <p:spPr>
            <a:xfrm>
              <a:off x="2700" y="3441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3" name="Line 16"/>
            <p:cNvSpPr/>
            <p:nvPr/>
          </p:nvSpPr>
          <p:spPr>
            <a:xfrm>
              <a:off x="2350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4" name="Line 17"/>
            <p:cNvSpPr/>
            <p:nvPr/>
          </p:nvSpPr>
          <p:spPr>
            <a:xfrm>
              <a:off x="2694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5" name="Line 18"/>
            <p:cNvSpPr/>
            <p:nvPr/>
          </p:nvSpPr>
          <p:spPr>
            <a:xfrm>
              <a:off x="3012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6" name="Line 19"/>
            <p:cNvSpPr/>
            <p:nvPr/>
          </p:nvSpPr>
          <p:spPr>
            <a:xfrm>
              <a:off x="3354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7" name="Text Box 20"/>
            <p:cNvSpPr txBox="1"/>
            <p:nvPr/>
          </p:nvSpPr>
          <p:spPr>
            <a:xfrm>
              <a:off x="2030" y="1869"/>
              <a:ext cx="66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6458" name="Text Box 21"/>
            <p:cNvSpPr txBox="1"/>
            <p:nvPr/>
          </p:nvSpPr>
          <p:spPr>
            <a:xfrm>
              <a:off x="1815" y="3262"/>
              <a:ext cx="68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0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16459" name="Text Box 22"/>
            <p:cNvSpPr txBox="1"/>
            <p:nvPr/>
          </p:nvSpPr>
          <p:spPr>
            <a:xfrm>
              <a:off x="3236" y="3230"/>
              <a:ext cx="776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6460" name="Text Box 23"/>
            <p:cNvSpPr txBox="1"/>
            <p:nvPr/>
          </p:nvSpPr>
          <p:spPr>
            <a:xfrm>
              <a:off x="2910" y="3224"/>
              <a:ext cx="326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3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6461" name="Text Box 24"/>
            <p:cNvSpPr txBox="1"/>
            <p:nvPr/>
          </p:nvSpPr>
          <p:spPr>
            <a:xfrm>
              <a:off x="2528" y="3230"/>
              <a:ext cx="451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2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6462" name="Text Box 25"/>
            <p:cNvSpPr txBox="1"/>
            <p:nvPr/>
          </p:nvSpPr>
          <p:spPr>
            <a:xfrm>
              <a:off x="2255" y="3230"/>
              <a:ext cx="239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44410" name="Text Box 26"/>
          <p:cNvSpPr txBox="1"/>
          <p:nvPr/>
        </p:nvSpPr>
        <p:spPr>
          <a:xfrm>
            <a:off x="792163" y="233363"/>
            <a:ext cx="550862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u</a:t>
            </a:r>
            <a:r>
              <a:rPr lang="en-US" altLang="zh-CN" sz="3200" b="1" baseline="-250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3200" b="1" dirty="0">
              <a:solidFill>
                <a:schemeClr val="tx2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4" name="Group 27"/>
          <p:cNvGrpSpPr/>
          <p:nvPr/>
        </p:nvGrpSpPr>
        <p:grpSpPr>
          <a:xfrm>
            <a:off x="1281113" y="1698625"/>
            <a:ext cx="544512" cy="508000"/>
            <a:chOff x="2011" y="2958"/>
            <a:chExt cx="343" cy="320"/>
          </a:xfrm>
        </p:grpSpPr>
        <p:sp>
          <p:nvSpPr>
            <p:cNvPr id="16445" name="Line 28"/>
            <p:cNvSpPr/>
            <p:nvPr/>
          </p:nvSpPr>
          <p:spPr>
            <a:xfrm flipH="1" flipV="1">
              <a:off x="2350" y="2958"/>
              <a:ext cx="4" cy="32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6446" name="Line 29"/>
            <p:cNvSpPr/>
            <p:nvPr/>
          </p:nvSpPr>
          <p:spPr>
            <a:xfrm flipH="1">
              <a:off x="2011" y="2970"/>
              <a:ext cx="343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144414" name="Text Box 30"/>
          <p:cNvSpPr txBox="1"/>
          <p:nvPr/>
        </p:nvSpPr>
        <p:spPr>
          <a:xfrm>
            <a:off x="58738" y="1341438"/>
            <a:ext cx="1557337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r>
              <a:rPr lang="en-US" altLang="en-US" sz="32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.</a:t>
            </a:r>
            <a:r>
              <a:rPr lang="en-US" altLang="en-US" sz="24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368</a:t>
            </a:r>
            <a:r>
              <a:rPr lang="en-US" altLang="zh-CN" sz="32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u</a:t>
            </a:r>
            <a:r>
              <a:rPr lang="en-US" altLang="zh-CN" sz="3200" b="1" baseline="-25000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4415" name="Text Box 31"/>
          <p:cNvSpPr txBox="1"/>
          <p:nvPr/>
        </p:nvSpPr>
        <p:spPr>
          <a:xfrm>
            <a:off x="3333750" y="1475105"/>
            <a:ext cx="2092325" cy="58356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r>
              <a:rPr lang="en-US" altLang="en-US" sz="32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.</a:t>
            </a:r>
            <a:r>
              <a:rPr lang="en-US" altLang="en-US" sz="24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0184</a:t>
            </a:r>
            <a:r>
              <a:rPr lang="en-US" altLang="zh-CN" sz="3200" b="1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u</a:t>
            </a:r>
            <a:r>
              <a:rPr lang="en-US" altLang="zh-CN" sz="3200" b="1" baseline="-25000" dirty="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4416" name="Line 32"/>
          <p:cNvSpPr/>
          <p:nvPr/>
        </p:nvSpPr>
        <p:spPr>
          <a:xfrm>
            <a:off x="3413125" y="2130425"/>
            <a:ext cx="0" cy="76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44417" name="Object 33"/>
          <p:cNvGraphicFramePr>
            <a:graphicFrameLocks noChangeAspect="1"/>
          </p:cNvGraphicFramePr>
          <p:nvPr/>
        </p:nvGraphicFramePr>
        <p:xfrm>
          <a:off x="1736725" y="568325"/>
          <a:ext cx="23653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888365" imgH="342900" progId="Equation.3">
                  <p:embed/>
                </p:oleObj>
              </mc:Choice>
              <mc:Fallback>
                <p:oleObj name="" r:id="rId3" imgW="888365" imgH="3429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736725" y="568325"/>
                        <a:ext cx="2365375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18" name="Object 34"/>
          <p:cNvGraphicFramePr>
            <a:graphicFrameLocks noChangeAspect="1"/>
          </p:cNvGraphicFramePr>
          <p:nvPr/>
        </p:nvGraphicFramePr>
        <p:xfrm>
          <a:off x="161925" y="2987675"/>
          <a:ext cx="26146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1066165" imgH="393700" progId="Equation.3">
                  <p:embed/>
                </p:oleObj>
              </mc:Choice>
              <mc:Fallback>
                <p:oleObj name="" r:id="rId5" imgW="1066165" imgH="3937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61925" y="2987675"/>
                        <a:ext cx="26146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5"/>
          <p:cNvGrpSpPr/>
          <p:nvPr/>
        </p:nvGrpSpPr>
        <p:grpSpPr>
          <a:xfrm>
            <a:off x="5105400" y="609600"/>
            <a:ext cx="2789238" cy="1633538"/>
            <a:chOff x="176" y="625"/>
            <a:chExt cx="1757" cy="1029"/>
          </a:xfrm>
        </p:grpSpPr>
        <p:sp>
          <p:nvSpPr>
            <p:cNvPr id="16424" name="Line 36"/>
            <p:cNvSpPr/>
            <p:nvPr/>
          </p:nvSpPr>
          <p:spPr>
            <a:xfrm>
              <a:off x="479" y="1638"/>
              <a:ext cx="968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5" name="Text Box 37"/>
            <p:cNvSpPr txBox="1"/>
            <p:nvPr/>
          </p:nvSpPr>
          <p:spPr>
            <a:xfrm>
              <a:off x="463" y="1241"/>
              <a:ext cx="127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</a:t>
              </a:r>
              <a:r>
                <a:rPr lang="en-US" altLang="zh-CN" sz="2000" b="1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)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= 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grpSp>
          <p:nvGrpSpPr>
            <p:cNvPr id="16426" name="Group 38"/>
            <p:cNvGrpSpPr/>
            <p:nvPr/>
          </p:nvGrpSpPr>
          <p:grpSpPr>
            <a:xfrm>
              <a:off x="383" y="673"/>
              <a:ext cx="211" cy="981"/>
              <a:chOff x="2870" y="2230"/>
              <a:chExt cx="211" cy="981"/>
            </a:xfrm>
          </p:grpSpPr>
          <p:sp>
            <p:nvSpPr>
              <p:cNvPr id="16441" name="Line 39"/>
              <p:cNvSpPr/>
              <p:nvPr/>
            </p:nvSpPr>
            <p:spPr>
              <a:xfrm>
                <a:off x="2966" y="2230"/>
                <a:ext cx="0" cy="33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42" name="Line 40"/>
              <p:cNvSpPr/>
              <p:nvPr/>
            </p:nvSpPr>
            <p:spPr>
              <a:xfrm>
                <a:off x="2966" y="2710"/>
                <a:ext cx="0" cy="50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43" name="Line 41"/>
              <p:cNvSpPr/>
              <p:nvPr/>
            </p:nvSpPr>
            <p:spPr>
              <a:xfrm>
                <a:off x="2870" y="2576"/>
                <a:ext cx="211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44" name="Line 42"/>
              <p:cNvSpPr/>
              <p:nvPr/>
            </p:nvSpPr>
            <p:spPr>
              <a:xfrm>
                <a:off x="2870" y="2694"/>
                <a:ext cx="211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6427" name="Group 43"/>
            <p:cNvGrpSpPr/>
            <p:nvPr/>
          </p:nvGrpSpPr>
          <p:grpSpPr>
            <a:xfrm>
              <a:off x="1383" y="701"/>
              <a:ext cx="114" cy="941"/>
              <a:chOff x="3938" y="2206"/>
              <a:chExt cx="114" cy="941"/>
            </a:xfrm>
          </p:grpSpPr>
          <p:grpSp>
            <p:nvGrpSpPr>
              <p:cNvPr id="16437" name="Group 44"/>
              <p:cNvGrpSpPr/>
              <p:nvPr/>
            </p:nvGrpSpPr>
            <p:grpSpPr>
              <a:xfrm>
                <a:off x="3938" y="2458"/>
                <a:ext cx="114" cy="689"/>
                <a:chOff x="3876" y="2230"/>
                <a:chExt cx="114" cy="689"/>
              </a:xfrm>
            </p:grpSpPr>
            <p:sp>
              <p:nvSpPr>
                <p:cNvPr id="16439" name="Rectangle 45"/>
                <p:cNvSpPr/>
                <p:nvPr/>
              </p:nvSpPr>
              <p:spPr>
                <a:xfrm>
                  <a:off x="3876" y="2230"/>
                  <a:ext cx="114" cy="31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440" name="Line 46"/>
                <p:cNvSpPr/>
                <p:nvPr/>
              </p:nvSpPr>
              <p:spPr>
                <a:xfrm>
                  <a:off x="3924" y="2547"/>
                  <a:ext cx="0" cy="37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6438" name="Line 47"/>
              <p:cNvSpPr/>
              <p:nvPr/>
            </p:nvSpPr>
            <p:spPr>
              <a:xfrm flipV="1">
                <a:off x="3986" y="2206"/>
                <a:ext cx="0" cy="25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428" name="Text Box 48"/>
            <p:cNvSpPr txBox="1"/>
            <p:nvPr/>
          </p:nvSpPr>
          <p:spPr>
            <a:xfrm>
              <a:off x="485" y="770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6429" name="Text Box 49"/>
            <p:cNvSpPr txBox="1"/>
            <p:nvPr/>
          </p:nvSpPr>
          <p:spPr>
            <a:xfrm>
              <a:off x="176" y="953"/>
              <a:ext cx="32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6430" name="Text Box 50"/>
            <p:cNvSpPr txBox="1"/>
            <p:nvPr/>
          </p:nvSpPr>
          <p:spPr>
            <a:xfrm>
              <a:off x="1165" y="953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grpSp>
          <p:nvGrpSpPr>
            <p:cNvPr id="16431" name="Group 51"/>
            <p:cNvGrpSpPr/>
            <p:nvPr/>
          </p:nvGrpSpPr>
          <p:grpSpPr>
            <a:xfrm>
              <a:off x="1036" y="625"/>
              <a:ext cx="897" cy="368"/>
              <a:chOff x="1165" y="2231"/>
              <a:chExt cx="897" cy="368"/>
            </a:xfrm>
          </p:grpSpPr>
          <p:sp>
            <p:nvSpPr>
              <p:cNvPr id="16435" name="Line 52"/>
              <p:cNvSpPr/>
              <p:nvPr/>
            </p:nvSpPr>
            <p:spPr>
              <a:xfrm>
                <a:off x="1563" y="2324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36" name="Text Box 53"/>
              <p:cNvSpPr txBox="1"/>
              <p:nvPr/>
            </p:nvSpPr>
            <p:spPr>
              <a:xfrm>
                <a:off x="1165" y="2231"/>
                <a:ext cx="897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chemeClr val="tx2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i</a:t>
                </a:r>
                <a:r>
                  <a:rPr lang="en-US" altLang="zh-CN" sz="3200" b="1" baseline="-25000" dirty="0">
                    <a:solidFill>
                      <a:schemeClr val="tx2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c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(t)</a:t>
                </a:r>
                <a:endParaRPr lang="en-US" altLang="zh-CN" sz="32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</p:grpSp>
        <p:sp>
          <p:nvSpPr>
            <p:cNvPr id="16432" name="Line 54"/>
            <p:cNvSpPr/>
            <p:nvPr/>
          </p:nvSpPr>
          <p:spPr>
            <a:xfrm>
              <a:off x="485" y="685"/>
              <a:ext cx="9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33" name="Text Box 55"/>
            <p:cNvSpPr txBox="1"/>
            <p:nvPr/>
          </p:nvSpPr>
          <p:spPr>
            <a:xfrm>
              <a:off x="594" y="873"/>
              <a:ext cx="53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solidFill>
                    <a:schemeClr val="tx2"/>
                  </a:solidFill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6434" name="Text Box 56"/>
            <p:cNvSpPr txBox="1"/>
            <p:nvPr/>
          </p:nvSpPr>
          <p:spPr>
            <a:xfrm>
              <a:off x="1479" y="705"/>
              <a:ext cx="422" cy="94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44442" name="Object 58"/>
          <p:cNvGraphicFramePr>
            <a:graphicFrameLocks noChangeAspect="1"/>
          </p:cNvGraphicFramePr>
          <p:nvPr/>
        </p:nvGraphicFramePr>
        <p:xfrm>
          <a:off x="5426075" y="2895600"/>
          <a:ext cx="17573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7" imgW="609600" imgH="419100" progId="Equation.3">
                  <p:embed/>
                </p:oleObj>
              </mc:Choice>
              <mc:Fallback>
                <p:oleObj name="" r:id="rId7" imgW="609600" imgH="4191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426075" y="2895600"/>
                        <a:ext cx="1757363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43" name="Object 59"/>
          <p:cNvGraphicFramePr>
            <a:graphicFrameLocks noChangeAspect="1"/>
          </p:cNvGraphicFramePr>
          <p:nvPr/>
        </p:nvGraphicFramePr>
        <p:xfrm>
          <a:off x="2819400" y="2895600"/>
          <a:ext cx="25431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9" imgW="1104900" imgH="482600" progId="Equation.3">
                  <p:embed/>
                </p:oleObj>
              </mc:Choice>
              <mc:Fallback>
                <p:oleObj name="" r:id="rId9" imgW="1104900" imgH="4826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2895600"/>
                        <a:ext cx="2543175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60"/>
          <p:cNvGrpSpPr/>
          <p:nvPr/>
        </p:nvGrpSpPr>
        <p:grpSpPr>
          <a:xfrm>
            <a:off x="4879658" y="69850"/>
            <a:ext cx="4675187" cy="3390900"/>
            <a:chOff x="1606" y="1869"/>
            <a:chExt cx="2945" cy="2136"/>
          </a:xfrm>
        </p:grpSpPr>
        <p:sp>
          <p:nvSpPr>
            <p:cNvPr id="16408" name="Text Box 61"/>
            <p:cNvSpPr txBox="1"/>
            <p:nvPr/>
          </p:nvSpPr>
          <p:spPr>
            <a:xfrm>
              <a:off x="3754" y="3086"/>
              <a:ext cx="79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t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(s)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6409" name="Line 62"/>
            <p:cNvSpPr/>
            <p:nvPr/>
          </p:nvSpPr>
          <p:spPr>
            <a:xfrm>
              <a:off x="1606" y="3278"/>
              <a:ext cx="215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10" name="Line 63"/>
            <p:cNvSpPr/>
            <p:nvPr/>
          </p:nvSpPr>
          <p:spPr>
            <a:xfrm flipV="1">
              <a:off x="2011" y="2013"/>
              <a:ext cx="0" cy="14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11" name="Line 64"/>
            <p:cNvSpPr/>
            <p:nvPr/>
          </p:nvSpPr>
          <p:spPr>
            <a:xfrm>
              <a:off x="2384" y="3441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2" name="Line 65"/>
            <p:cNvSpPr/>
            <p:nvPr/>
          </p:nvSpPr>
          <p:spPr>
            <a:xfrm>
              <a:off x="2384" y="3441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3" name="Line 66"/>
            <p:cNvSpPr/>
            <p:nvPr/>
          </p:nvSpPr>
          <p:spPr>
            <a:xfrm>
              <a:off x="2700" y="3441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4" name="Line 67"/>
            <p:cNvSpPr/>
            <p:nvPr/>
          </p:nvSpPr>
          <p:spPr>
            <a:xfrm>
              <a:off x="2350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5" name="Line 68"/>
            <p:cNvSpPr/>
            <p:nvPr/>
          </p:nvSpPr>
          <p:spPr>
            <a:xfrm>
              <a:off x="2694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6" name="Line 69"/>
            <p:cNvSpPr/>
            <p:nvPr/>
          </p:nvSpPr>
          <p:spPr>
            <a:xfrm>
              <a:off x="3012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7" name="Line 70"/>
            <p:cNvSpPr/>
            <p:nvPr/>
          </p:nvSpPr>
          <p:spPr>
            <a:xfrm>
              <a:off x="3354" y="3231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8" name="Text Box 71"/>
            <p:cNvSpPr txBox="1"/>
            <p:nvPr/>
          </p:nvSpPr>
          <p:spPr>
            <a:xfrm>
              <a:off x="2030" y="1869"/>
              <a:ext cx="66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c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6419" name="Text Box 72"/>
            <p:cNvSpPr txBox="1"/>
            <p:nvPr/>
          </p:nvSpPr>
          <p:spPr>
            <a:xfrm>
              <a:off x="1815" y="3262"/>
              <a:ext cx="68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0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16420" name="Text Box 73"/>
            <p:cNvSpPr txBox="1"/>
            <p:nvPr/>
          </p:nvSpPr>
          <p:spPr>
            <a:xfrm>
              <a:off x="3236" y="3230"/>
              <a:ext cx="397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6421" name="Text Box 74"/>
            <p:cNvSpPr txBox="1"/>
            <p:nvPr/>
          </p:nvSpPr>
          <p:spPr>
            <a:xfrm>
              <a:off x="2914" y="3230"/>
              <a:ext cx="322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3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6422" name="Text Box 75"/>
            <p:cNvSpPr txBox="1"/>
            <p:nvPr/>
          </p:nvSpPr>
          <p:spPr>
            <a:xfrm>
              <a:off x="2528" y="3230"/>
              <a:ext cx="354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2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6423" name="Text Box 76"/>
            <p:cNvSpPr txBox="1"/>
            <p:nvPr/>
          </p:nvSpPr>
          <p:spPr>
            <a:xfrm>
              <a:off x="2255" y="3230"/>
              <a:ext cx="211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44461" name="Arc 77"/>
          <p:cNvSpPr/>
          <p:nvPr/>
        </p:nvSpPr>
        <p:spPr>
          <a:xfrm flipH="1">
            <a:off x="5534025" y="746125"/>
            <a:ext cx="2503488" cy="1431925"/>
          </a:xfrm>
          <a:custGeom>
            <a:avLst/>
            <a:gdLst>
              <a:gd name="txL" fmla="*/ 0 w 21599"/>
              <a:gd name="txT" fmla="*/ 0 h 21597"/>
              <a:gd name="txR" fmla="*/ 21599 w 21599"/>
              <a:gd name="txB" fmla="*/ 21597 h 2159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599" h="21597" fill="none">
                <a:moveTo>
                  <a:pt x="21598" y="251"/>
                </a:moveTo>
                <a:cubicBezTo>
                  <a:pt x="21462" y="11950"/>
                  <a:pt x="12037" y="21413"/>
                  <a:pt x="340" y="21597"/>
                </a:cubicBezTo>
              </a:path>
              <a:path w="21599" h="21597" stroke="0">
                <a:moveTo>
                  <a:pt x="21598" y="251"/>
                </a:moveTo>
                <a:cubicBezTo>
                  <a:pt x="21462" y="11950"/>
                  <a:pt x="12037" y="21413"/>
                  <a:pt x="340" y="21597"/>
                </a:cubicBezTo>
                <a:lnTo>
                  <a:pt x="0" y="0"/>
                </a:lnTo>
                <a:lnTo>
                  <a:pt x="21598" y="251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4462" name="Line 78"/>
          <p:cNvSpPr/>
          <p:nvPr/>
        </p:nvSpPr>
        <p:spPr>
          <a:xfrm>
            <a:off x="5535613" y="946150"/>
            <a:ext cx="1587" cy="1284288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44463" name="Object 79"/>
          <p:cNvGraphicFramePr>
            <a:graphicFrameLocks noChangeAspect="1"/>
          </p:cNvGraphicFramePr>
          <p:nvPr/>
        </p:nvGraphicFramePr>
        <p:xfrm>
          <a:off x="4983163" y="350838"/>
          <a:ext cx="4984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1" imgW="203200" imgH="393700" progId="Equation.3">
                  <p:embed/>
                </p:oleObj>
              </mc:Choice>
              <mc:Fallback>
                <p:oleObj name="" r:id="rId11" imgW="203200" imgH="3937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983163" y="350838"/>
                        <a:ext cx="498475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64" name="Object 80"/>
          <p:cNvGraphicFramePr>
            <a:graphicFrameLocks noChangeAspect="1"/>
          </p:cNvGraphicFramePr>
          <p:nvPr/>
        </p:nvGraphicFramePr>
        <p:xfrm>
          <a:off x="6094730" y="793750"/>
          <a:ext cx="190055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901065" imgH="419100" progId="Equation.3">
                  <p:embed/>
                </p:oleObj>
              </mc:Choice>
              <mc:Fallback>
                <p:oleObj name="" r:id="rId13" imgW="901065" imgH="4191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94730" y="793750"/>
                        <a:ext cx="190055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66" name="Text Box 82"/>
          <p:cNvSpPr txBox="1">
            <a:spLocks noChangeArrowheads="1"/>
          </p:cNvSpPr>
          <p:nvPr/>
        </p:nvSpPr>
        <p:spPr bwMode="auto">
          <a:xfrm>
            <a:off x="5791200" y="3762375"/>
            <a:ext cx="2425700" cy="11988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</a:t>
            </a:r>
            <a:r>
              <a:rPr kumimoji="1" lang="en-US" altLang="zh-CN" sz="3600" b="1" kern="1200" cap="none" spc="0" normalizeH="0" baseline="-25000" noProof="0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</a:t>
            </a:r>
            <a:r>
              <a:rPr kumimoji="1" lang="zh-CN" altLang="en-US" sz="3200" b="1" kern="1200" cap="none" spc="0" normalizeH="0" baseline="0" noProof="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不能跃变，</a:t>
            </a:r>
            <a:r>
              <a:rPr kumimoji="1" lang="en-US" altLang="zh-CN" sz="3600" b="1" kern="1200" cap="none" spc="0" normalizeH="0" baseline="0" noProof="0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</a:t>
            </a:r>
            <a:r>
              <a:rPr kumimoji="1" lang="en-US" altLang="zh-CN" sz="3600" b="1" kern="1200" cap="none" spc="0" normalizeH="0" baseline="-25000" noProof="0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</a:t>
            </a:r>
            <a:r>
              <a:rPr kumimoji="1" lang="zh-CN" altLang="en-US" sz="3200" b="1" kern="1200" cap="none" spc="0" normalizeH="0" baseline="0" noProof="0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可以跃变。</a:t>
            </a:r>
            <a:endParaRPr kumimoji="1" lang="zh-CN" altLang="en-US" sz="3200" b="1" kern="1200" cap="none" spc="0" normalizeH="0" baseline="0" noProof="0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4467" name="Rectangle 83"/>
          <p:cNvSpPr/>
          <p:nvPr/>
        </p:nvSpPr>
        <p:spPr>
          <a:xfrm>
            <a:off x="152400" y="3733800"/>
            <a:ext cx="348615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en-US" altLang="zh-CN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时间常数</a:t>
            </a:r>
            <a:r>
              <a:rPr lang="zh-CN" altLang="en-US" sz="4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endParaRPr lang="zh-CN" altLang="en-US" sz="5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4468" name="Text Box 84"/>
          <p:cNvSpPr txBox="1"/>
          <p:nvPr/>
        </p:nvSpPr>
        <p:spPr>
          <a:xfrm>
            <a:off x="141288" y="4668838"/>
            <a:ext cx="8994775" cy="16764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RC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电路的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零输入响应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en-US" altLang="zh-CN" sz="3200" baseline="-25000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(t),i</a:t>
            </a:r>
            <a:r>
              <a:rPr lang="en-US" altLang="zh-CN" sz="3200" baseline="-25000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(t)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都是按指数规律衰减的，衰减的快慢由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决定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</a:t>
            </a:r>
            <a:r>
              <a:rPr lang="zh-CN" altLang="en-US" sz="4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en-US" altLang="zh-CN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=RC</a:t>
            </a:r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（秒）， 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zh-CN" altLang="en-US" sz="3200" dirty="0">
                <a:latin typeface="_x0001_" pitchFamily="18" charset="0"/>
                <a:ea typeface="楷体_GB2312" pitchFamily="49" charset="-122"/>
              </a:rPr>
              <a:t>越小</a:t>
            </a:r>
            <a:r>
              <a:rPr lang="zh-CN" altLang="en-US" sz="2800" dirty="0">
                <a:latin typeface="_x0001_" pitchFamily="18" charset="0"/>
              </a:rPr>
              <a:t>， 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en-US" altLang="zh-CN" sz="3200" baseline="-25000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(t),i</a:t>
            </a:r>
            <a:r>
              <a:rPr lang="en-US" altLang="zh-CN" sz="3200" baseline="-25000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(t)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衰减的</a:t>
            </a:r>
            <a:r>
              <a:rPr lang="zh-CN" altLang="en-US" sz="3200" dirty="0">
                <a:latin typeface="_x0001_" pitchFamily="18" charset="0"/>
                <a:ea typeface="楷体_GB2312" pitchFamily="49" charset="-122"/>
              </a:rPr>
              <a:t>越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快。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4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4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4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8" presetClass="entr" presetSubtype="3" fill="hold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2000"/>
                                        <p:tgtEl>
                                          <p:spTgt spid="14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4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14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4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4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/>
      <p:bldP spid="144410" grpId="0"/>
      <p:bldP spid="144414" grpId="0"/>
      <p:bldP spid="144415" grpId="0"/>
      <p:bldP spid="144466" grpId="0" bldLvl="0" animBg="1"/>
      <p:bldP spid="144466" grpId="1" bldLvl="0" animBg="1"/>
      <p:bldP spid="144467" grpId="0"/>
      <p:bldP spid="1444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Rectang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6019800" cy="7127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3.RL</a:t>
            </a:r>
            <a:r>
              <a:rPr lang="zh-CN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电路的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零输入响应：</a:t>
            </a:r>
            <a:endParaRPr lang="zh-CN" altLang="en-US" sz="32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564063" y="-15875"/>
            <a:ext cx="4849812" cy="2506663"/>
            <a:chOff x="408" y="741"/>
            <a:chExt cx="3055" cy="1579"/>
          </a:xfrm>
        </p:grpSpPr>
        <p:sp>
          <p:nvSpPr>
            <p:cNvPr id="17457" name="Text Box 6"/>
            <p:cNvSpPr txBox="1"/>
            <p:nvPr/>
          </p:nvSpPr>
          <p:spPr>
            <a:xfrm>
              <a:off x="408" y="1213"/>
              <a:ext cx="115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800" b="1" baseline="-25000" dirty="0">
                  <a:latin typeface="华文仿宋" panose="02010600040101010101" charset="-122"/>
                  <a:ea typeface="华文仿宋" panose="02010600040101010101" charset="-122"/>
                </a:rPr>
                <a:t>s</a:t>
              </a:r>
              <a:r>
                <a:rPr lang="en-US" altLang="zh-CN" sz="2800" b="1" dirty="0">
                  <a:latin typeface="华文仿宋" panose="02010600040101010101" charset="-122"/>
                  <a:ea typeface="华文仿宋" panose="02010600040101010101" charset="-122"/>
                </a:rPr>
                <a:t>= I</a:t>
              </a:r>
              <a:r>
                <a:rPr lang="en-US" altLang="zh-CN" sz="2800" b="1" baseline="-25000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7458" name="Line 7"/>
            <p:cNvSpPr/>
            <p:nvPr/>
          </p:nvSpPr>
          <p:spPr>
            <a:xfrm>
              <a:off x="1028" y="2259"/>
              <a:ext cx="1983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9" name="Oval 8"/>
            <p:cNvSpPr/>
            <p:nvPr/>
          </p:nvSpPr>
          <p:spPr>
            <a:xfrm>
              <a:off x="1970" y="2207"/>
              <a:ext cx="115" cy="113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7460" name="Group 9"/>
            <p:cNvGrpSpPr/>
            <p:nvPr/>
          </p:nvGrpSpPr>
          <p:grpSpPr>
            <a:xfrm>
              <a:off x="2951" y="1156"/>
              <a:ext cx="114" cy="1107"/>
              <a:chOff x="3938" y="2206"/>
              <a:chExt cx="114" cy="941"/>
            </a:xfrm>
          </p:grpSpPr>
          <p:grpSp>
            <p:nvGrpSpPr>
              <p:cNvPr id="17498" name="Group 10"/>
              <p:cNvGrpSpPr/>
              <p:nvPr/>
            </p:nvGrpSpPr>
            <p:grpSpPr>
              <a:xfrm>
                <a:off x="3938" y="2458"/>
                <a:ext cx="114" cy="689"/>
                <a:chOff x="3876" y="2230"/>
                <a:chExt cx="114" cy="689"/>
              </a:xfrm>
            </p:grpSpPr>
            <p:sp>
              <p:nvSpPr>
                <p:cNvPr id="17500" name="Rectangle 11"/>
                <p:cNvSpPr/>
                <p:nvPr/>
              </p:nvSpPr>
              <p:spPr>
                <a:xfrm>
                  <a:off x="3876" y="2230"/>
                  <a:ext cx="114" cy="31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501" name="Line 12"/>
                <p:cNvSpPr/>
                <p:nvPr/>
              </p:nvSpPr>
              <p:spPr>
                <a:xfrm>
                  <a:off x="3924" y="2547"/>
                  <a:ext cx="0" cy="37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7499" name="Line 13"/>
              <p:cNvSpPr/>
              <p:nvPr/>
            </p:nvSpPr>
            <p:spPr>
              <a:xfrm flipV="1">
                <a:off x="3986" y="2206"/>
                <a:ext cx="0" cy="25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461" name="Group 14"/>
            <p:cNvGrpSpPr/>
            <p:nvPr/>
          </p:nvGrpSpPr>
          <p:grpSpPr>
            <a:xfrm>
              <a:off x="1028" y="1005"/>
              <a:ext cx="1983" cy="217"/>
              <a:chOff x="2543" y="2066"/>
              <a:chExt cx="1983" cy="184"/>
            </a:xfrm>
          </p:grpSpPr>
          <p:sp>
            <p:nvSpPr>
              <p:cNvPr id="17487" name="Oval 15"/>
              <p:cNvSpPr/>
              <p:nvPr/>
            </p:nvSpPr>
            <p:spPr>
              <a:xfrm>
                <a:off x="3087" y="2146"/>
                <a:ext cx="115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488" name="Oval 16"/>
              <p:cNvSpPr/>
              <p:nvPr/>
            </p:nvSpPr>
            <p:spPr>
              <a:xfrm>
                <a:off x="3492" y="2146"/>
                <a:ext cx="115" cy="96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489" name="Line 17"/>
              <p:cNvSpPr/>
              <p:nvPr/>
            </p:nvSpPr>
            <p:spPr>
              <a:xfrm>
                <a:off x="3202" y="2194"/>
                <a:ext cx="66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90" name="Oval 18"/>
              <p:cNvSpPr/>
              <p:nvPr/>
            </p:nvSpPr>
            <p:spPr>
              <a:xfrm>
                <a:off x="2826" y="2154"/>
                <a:ext cx="115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7491" name="Group 19"/>
              <p:cNvGrpSpPr/>
              <p:nvPr/>
            </p:nvGrpSpPr>
            <p:grpSpPr>
              <a:xfrm>
                <a:off x="3869" y="2066"/>
                <a:ext cx="657" cy="184"/>
                <a:chOff x="3869" y="2066"/>
                <a:chExt cx="657" cy="184"/>
              </a:xfrm>
            </p:grpSpPr>
            <p:sp>
              <p:nvSpPr>
                <p:cNvPr id="17494" name="Line 20"/>
                <p:cNvSpPr/>
                <p:nvPr/>
              </p:nvSpPr>
              <p:spPr>
                <a:xfrm flipV="1">
                  <a:off x="3984" y="2066"/>
                  <a:ext cx="146" cy="136"/>
                </a:xfrm>
                <a:prstGeom prst="line">
                  <a:avLst/>
                </a:prstGeom>
                <a:ln w="571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495" name="Line 21"/>
                <p:cNvSpPr/>
                <p:nvPr/>
              </p:nvSpPr>
              <p:spPr>
                <a:xfrm rot="10800000">
                  <a:off x="4246" y="2202"/>
                  <a:ext cx="280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496" name="Oval 22"/>
                <p:cNvSpPr/>
                <p:nvPr/>
              </p:nvSpPr>
              <p:spPr>
                <a:xfrm rot="10800000">
                  <a:off x="3869" y="2154"/>
                  <a:ext cx="115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97" name="Oval 23"/>
                <p:cNvSpPr/>
                <p:nvPr/>
              </p:nvSpPr>
              <p:spPr>
                <a:xfrm rot="10800000">
                  <a:off x="4130" y="2154"/>
                  <a:ext cx="115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92" name="Line 24"/>
              <p:cNvSpPr/>
              <p:nvPr/>
            </p:nvSpPr>
            <p:spPr>
              <a:xfrm>
                <a:off x="2941" y="2202"/>
                <a:ext cx="194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93" name="Line 25"/>
              <p:cNvSpPr/>
              <p:nvPr/>
            </p:nvSpPr>
            <p:spPr>
              <a:xfrm rot="10800000">
                <a:off x="2543" y="2190"/>
                <a:ext cx="280" cy="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62" name="Text Box 26"/>
            <p:cNvSpPr txBox="1"/>
            <p:nvPr/>
          </p:nvSpPr>
          <p:spPr>
            <a:xfrm>
              <a:off x="1462" y="1324"/>
              <a:ext cx="534" cy="9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    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   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7463" name="Text Box 27"/>
            <p:cNvSpPr txBox="1"/>
            <p:nvPr/>
          </p:nvSpPr>
          <p:spPr>
            <a:xfrm>
              <a:off x="2092" y="1600"/>
              <a:ext cx="32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7464" name="Text Box 28"/>
            <p:cNvSpPr txBox="1"/>
            <p:nvPr/>
          </p:nvSpPr>
          <p:spPr>
            <a:xfrm>
              <a:off x="3065" y="1486"/>
              <a:ext cx="39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7465" name="Text Box 29"/>
            <p:cNvSpPr txBox="1"/>
            <p:nvPr/>
          </p:nvSpPr>
          <p:spPr>
            <a:xfrm>
              <a:off x="1531" y="741"/>
              <a:ext cx="66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S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7466" name="Text Box 30"/>
            <p:cNvSpPr txBox="1"/>
            <p:nvPr/>
          </p:nvSpPr>
          <p:spPr>
            <a:xfrm>
              <a:off x="2621" y="741"/>
              <a:ext cx="66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S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grpSp>
          <p:nvGrpSpPr>
            <p:cNvPr id="17467" name="Group 31"/>
            <p:cNvGrpSpPr/>
            <p:nvPr/>
          </p:nvGrpSpPr>
          <p:grpSpPr>
            <a:xfrm>
              <a:off x="1928" y="1470"/>
              <a:ext cx="112" cy="565"/>
              <a:chOff x="3743" y="2179"/>
              <a:chExt cx="112" cy="565"/>
            </a:xfrm>
          </p:grpSpPr>
          <p:sp>
            <p:nvSpPr>
              <p:cNvPr id="17483" name="Arc 32"/>
              <p:cNvSpPr/>
              <p:nvPr/>
            </p:nvSpPr>
            <p:spPr>
              <a:xfrm rot="-5325118">
                <a:off x="3724" y="2622"/>
                <a:ext cx="141" cy="103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84" name="Arc 33"/>
              <p:cNvSpPr/>
              <p:nvPr/>
            </p:nvSpPr>
            <p:spPr>
              <a:xfrm rot="-5325118">
                <a:off x="3727" y="2484"/>
                <a:ext cx="141" cy="103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85" name="Arc 34"/>
              <p:cNvSpPr/>
              <p:nvPr/>
            </p:nvSpPr>
            <p:spPr>
              <a:xfrm rot="-5325118">
                <a:off x="3730" y="2341"/>
                <a:ext cx="141" cy="103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86" name="Arc 35"/>
              <p:cNvSpPr/>
              <p:nvPr/>
            </p:nvSpPr>
            <p:spPr>
              <a:xfrm rot="-5325118">
                <a:off x="3732" y="2198"/>
                <a:ext cx="142" cy="103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7468" name="Line 36"/>
            <p:cNvSpPr/>
            <p:nvPr/>
          </p:nvSpPr>
          <p:spPr>
            <a:xfrm flipV="1">
              <a:off x="2025" y="2023"/>
              <a:ext cx="0" cy="2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69" name="Line 37"/>
            <p:cNvSpPr/>
            <p:nvPr/>
          </p:nvSpPr>
          <p:spPr>
            <a:xfrm>
              <a:off x="2031" y="1165"/>
              <a:ext cx="0" cy="3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70" name="Group 38"/>
            <p:cNvGrpSpPr/>
            <p:nvPr/>
          </p:nvGrpSpPr>
          <p:grpSpPr>
            <a:xfrm>
              <a:off x="898" y="1562"/>
              <a:ext cx="290" cy="282"/>
              <a:chOff x="936" y="2491"/>
              <a:chExt cx="290" cy="282"/>
            </a:xfrm>
          </p:grpSpPr>
          <p:sp>
            <p:nvSpPr>
              <p:cNvPr id="17481" name="Line 39"/>
              <p:cNvSpPr/>
              <p:nvPr/>
            </p:nvSpPr>
            <p:spPr>
              <a:xfrm>
                <a:off x="972" y="2639"/>
                <a:ext cx="21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82" name="Oval 40"/>
              <p:cNvSpPr/>
              <p:nvPr/>
            </p:nvSpPr>
            <p:spPr>
              <a:xfrm>
                <a:off x="936" y="2491"/>
                <a:ext cx="290" cy="282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471" name="Line 41"/>
            <p:cNvSpPr/>
            <p:nvPr/>
          </p:nvSpPr>
          <p:spPr>
            <a:xfrm>
              <a:off x="1042" y="1850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72" name="Line 42"/>
            <p:cNvSpPr/>
            <p:nvPr/>
          </p:nvSpPr>
          <p:spPr>
            <a:xfrm>
              <a:off x="1042" y="1151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73" name="Line 43"/>
            <p:cNvSpPr/>
            <p:nvPr/>
          </p:nvSpPr>
          <p:spPr>
            <a:xfrm flipV="1">
              <a:off x="1042" y="1330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74" name="Oval 44"/>
            <p:cNvSpPr/>
            <p:nvPr/>
          </p:nvSpPr>
          <p:spPr>
            <a:xfrm>
              <a:off x="1451" y="1378"/>
              <a:ext cx="115" cy="10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75" name="Line 45"/>
            <p:cNvSpPr/>
            <p:nvPr/>
          </p:nvSpPr>
          <p:spPr>
            <a:xfrm>
              <a:off x="1503" y="1486"/>
              <a:ext cx="0" cy="7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76" name="Oval 46"/>
            <p:cNvSpPr/>
            <p:nvPr/>
          </p:nvSpPr>
          <p:spPr>
            <a:xfrm>
              <a:off x="1451" y="2207"/>
              <a:ext cx="115" cy="108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77" name="Line 47"/>
            <p:cNvSpPr/>
            <p:nvPr/>
          </p:nvSpPr>
          <p:spPr>
            <a:xfrm>
              <a:off x="2031" y="1330"/>
              <a:ext cx="0" cy="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78" name="Text Box 48"/>
            <p:cNvSpPr txBox="1"/>
            <p:nvPr/>
          </p:nvSpPr>
          <p:spPr>
            <a:xfrm>
              <a:off x="1645" y="1139"/>
              <a:ext cx="24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7479" name="Text Box 49"/>
            <p:cNvSpPr txBox="1"/>
            <p:nvPr/>
          </p:nvSpPr>
          <p:spPr>
            <a:xfrm>
              <a:off x="1554" y="1324"/>
              <a:ext cx="22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7480" name="Text Box 50"/>
            <p:cNvSpPr txBox="1"/>
            <p:nvPr/>
          </p:nvSpPr>
          <p:spPr>
            <a:xfrm>
              <a:off x="2064" y="1195"/>
              <a:ext cx="53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i</a:t>
              </a:r>
              <a:r>
                <a:rPr lang="en-US" altLang="zh-CN" sz="24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145459" name="Line 51"/>
          <p:cNvSpPr/>
          <p:nvPr/>
        </p:nvSpPr>
        <p:spPr>
          <a:xfrm flipH="1">
            <a:off x="6264275" y="552450"/>
            <a:ext cx="147638" cy="442913"/>
          </a:xfrm>
          <a:prstGeom prst="line">
            <a:avLst/>
          </a:prstGeom>
          <a:ln w="57150" cap="flat" cmpd="sng">
            <a:solidFill>
              <a:srgbClr val="00FF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60" name="Line 52"/>
          <p:cNvSpPr/>
          <p:nvPr/>
        </p:nvSpPr>
        <p:spPr>
          <a:xfrm>
            <a:off x="7748588" y="403225"/>
            <a:ext cx="319087" cy="212725"/>
          </a:xfrm>
          <a:prstGeom prst="line">
            <a:avLst/>
          </a:prstGeom>
          <a:ln w="57150" cap="flat" cmpd="sng">
            <a:solidFill>
              <a:srgbClr val="00FF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61" name="Text Box 53"/>
          <p:cNvSpPr txBox="1"/>
          <p:nvPr/>
        </p:nvSpPr>
        <p:spPr>
          <a:xfrm>
            <a:off x="685800" y="878840"/>
            <a:ext cx="2297113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 &lt; 0</a:t>
            </a:r>
            <a:r>
              <a:rPr lang="zh-CN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时：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5462" name="Text Box 54"/>
          <p:cNvSpPr txBox="1"/>
          <p:nvPr/>
        </p:nvSpPr>
        <p:spPr>
          <a:xfrm>
            <a:off x="6705600" y="0"/>
            <a:ext cx="1147763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</a:rPr>
              <a:t>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t 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  <a:sym typeface="Symbol" panose="05050102010706020507" pitchFamily="18" charset="2"/>
              </a:rPr>
              <a:t>= 0</a:t>
            </a:r>
            <a:endParaRPr lang="en-US" altLang="zh-CN" sz="28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5463" name="Text Box 55"/>
          <p:cNvSpPr txBox="1"/>
          <p:nvPr/>
        </p:nvSpPr>
        <p:spPr>
          <a:xfrm>
            <a:off x="2473325" y="844550"/>
            <a:ext cx="1862138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i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</a:rPr>
              <a:t>L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(0)=I</a:t>
            </a:r>
            <a:r>
              <a:rPr lang="en-US" altLang="zh-CN" sz="2800" b="1" baseline="-25000" dirty="0"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28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9" name="Group 56"/>
          <p:cNvGrpSpPr/>
          <p:nvPr/>
        </p:nvGrpSpPr>
        <p:grpSpPr>
          <a:xfrm>
            <a:off x="5635626" y="2971800"/>
            <a:ext cx="3736974" cy="1835150"/>
            <a:chOff x="3280" y="2501"/>
            <a:chExt cx="2354" cy="1156"/>
          </a:xfrm>
        </p:grpSpPr>
        <p:grpSp>
          <p:nvGrpSpPr>
            <p:cNvPr id="17435" name="Group 57"/>
            <p:cNvGrpSpPr/>
            <p:nvPr/>
          </p:nvGrpSpPr>
          <p:grpSpPr>
            <a:xfrm>
              <a:off x="3280" y="2501"/>
              <a:ext cx="2039" cy="1156"/>
              <a:chOff x="3115" y="2906"/>
              <a:chExt cx="2039" cy="1156"/>
            </a:xfrm>
          </p:grpSpPr>
          <p:sp>
            <p:nvSpPr>
              <p:cNvPr id="17438" name="Line 58"/>
              <p:cNvSpPr/>
              <p:nvPr/>
            </p:nvSpPr>
            <p:spPr>
              <a:xfrm>
                <a:off x="3716" y="4013"/>
                <a:ext cx="986" cy="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7439" name="Group 59"/>
              <p:cNvGrpSpPr/>
              <p:nvPr/>
            </p:nvGrpSpPr>
            <p:grpSpPr>
              <a:xfrm>
                <a:off x="4642" y="2906"/>
                <a:ext cx="114" cy="1107"/>
                <a:chOff x="3938" y="2206"/>
                <a:chExt cx="114" cy="941"/>
              </a:xfrm>
            </p:grpSpPr>
            <p:grpSp>
              <p:nvGrpSpPr>
                <p:cNvPr id="17453" name="Group 60"/>
                <p:cNvGrpSpPr/>
                <p:nvPr/>
              </p:nvGrpSpPr>
              <p:grpSpPr>
                <a:xfrm>
                  <a:off x="3938" y="2458"/>
                  <a:ext cx="114" cy="689"/>
                  <a:chOff x="3876" y="2230"/>
                  <a:chExt cx="114" cy="689"/>
                </a:xfrm>
              </p:grpSpPr>
              <p:sp>
                <p:nvSpPr>
                  <p:cNvPr id="17455" name="Rectangle 61"/>
                  <p:cNvSpPr/>
                  <p:nvPr/>
                </p:nvSpPr>
                <p:spPr>
                  <a:xfrm>
                    <a:off x="3876" y="2230"/>
                    <a:ext cx="114" cy="317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7456" name="Line 62"/>
                  <p:cNvSpPr/>
                  <p:nvPr/>
                </p:nvSpPr>
                <p:spPr>
                  <a:xfrm>
                    <a:off x="3924" y="2547"/>
                    <a:ext cx="0" cy="37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7454" name="Line 63"/>
                <p:cNvSpPr/>
                <p:nvPr/>
              </p:nvSpPr>
              <p:spPr>
                <a:xfrm flipV="1">
                  <a:off x="3986" y="2206"/>
                  <a:ext cx="0" cy="25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7440" name="Text Box 64"/>
              <p:cNvSpPr txBox="1"/>
              <p:nvPr/>
            </p:nvSpPr>
            <p:spPr>
              <a:xfrm>
                <a:off x="3115" y="3074"/>
                <a:ext cx="622" cy="9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    +</a:t>
                </a:r>
                <a:endParaRPr lang="en-US" altLang="zh-CN" sz="2400" b="1" dirty="0">
                  <a:latin typeface="_x0001_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u</a:t>
                </a:r>
                <a:r>
                  <a:rPr lang="en-US" altLang="zh-CN" sz="2400" b="1" baseline="-25000" dirty="0">
                    <a:latin typeface="华文仿宋" panose="02010600040101010101" charset="-122"/>
                    <a:ea typeface="华文仿宋" panose="02010600040101010101" charset="-122"/>
                  </a:rPr>
                  <a:t>L</a:t>
                </a: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(t)</a:t>
                </a:r>
                <a:endParaRPr lang="en-US" altLang="zh-CN" sz="2400" b="1" dirty="0">
                  <a:latin typeface="华文仿宋" panose="02010600040101010101" charset="-122"/>
                  <a:ea typeface="华文仿宋" panose="02010600040101010101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   -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441" name="Text Box 65"/>
              <p:cNvSpPr txBox="1"/>
              <p:nvPr/>
            </p:nvSpPr>
            <p:spPr>
              <a:xfrm>
                <a:off x="3783" y="3350"/>
                <a:ext cx="322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L</a:t>
                </a:r>
                <a:endParaRPr lang="en-US" altLang="zh-CN" sz="24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17442" name="Text Box 66"/>
              <p:cNvSpPr txBox="1"/>
              <p:nvPr/>
            </p:nvSpPr>
            <p:spPr>
              <a:xfrm>
                <a:off x="4756" y="3236"/>
                <a:ext cx="398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R</a:t>
                </a:r>
                <a:endParaRPr lang="en-US" altLang="zh-CN" sz="24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grpSp>
            <p:nvGrpSpPr>
              <p:cNvPr id="17443" name="Group 67"/>
              <p:cNvGrpSpPr/>
              <p:nvPr/>
            </p:nvGrpSpPr>
            <p:grpSpPr>
              <a:xfrm>
                <a:off x="3619" y="3220"/>
                <a:ext cx="112" cy="565"/>
                <a:chOff x="3743" y="2179"/>
                <a:chExt cx="112" cy="565"/>
              </a:xfrm>
            </p:grpSpPr>
            <p:sp>
              <p:nvSpPr>
                <p:cNvPr id="17449" name="Arc 68"/>
                <p:cNvSpPr/>
                <p:nvPr/>
              </p:nvSpPr>
              <p:spPr>
                <a:xfrm rot="-5325118">
                  <a:off x="3724" y="2622"/>
                  <a:ext cx="141" cy="103"/>
                </a:xfrm>
                <a:custGeom>
                  <a:avLst/>
                  <a:gdLst>
                    <a:gd name="txL" fmla="*/ 0 w 43200"/>
                    <a:gd name="txT" fmla="*/ 0 h 33751"/>
                    <a:gd name="txR" fmla="*/ 43200 w 43200"/>
                    <a:gd name="txB" fmla="*/ 33751 h 33751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3200" h="33751" fill="none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lnTo>
                        <a:pt x="3700" y="3369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7450" name="Arc 69"/>
                <p:cNvSpPr/>
                <p:nvPr/>
              </p:nvSpPr>
              <p:spPr>
                <a:xfrm rot="-5325118">
                  <a:off x="3727" y="2484"/>
                  <a:ext cx="141" cy="103"/>
                </a:xfrm>
                <a:custGeom>
                  <a:avLst/>
                  <a:gdLst>
                    <a:gd name="txL" fmla="*/ 0 w 43200"/>
                    <a:gd name="txT" fmla="*/ 0 h 33751"/>
                    <a:gd name="txR" fmla="*/ 43200 w 43200"/>
                    <a:gd name="txB" fmla="*/ 33751 h 33751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3200" h="33751" fill="none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lnTo>
                        <a:pt x="3700" y="3369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7451" name="Arc 70"/>
                <p:cNvSpPr/>
                <p:nvPr/>
              </p:nvSpPr>
              <p:spPr>
                <a:xfrm rot="-5325118">
                  <a:off x="3730" y="2341"/>
                  <a:ext cx="141" cy="103"/>
                </a:xfrm>
                <a:custGeom>
                  <a:avLst/>
                  <a:gdLst>
                    <a:gd name="txL" fmla="*/ 0 w 43200"/>
                    <a:gd name="txT" fmla="*/ 0 h 33751"/>
                    <a:gd name="txR" fmla="*/ 43200 w 43200"/>
                    <a:gd name="txB" fmla="*/ 33751 h 33751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3200" h="33751" fill="none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lnTo>
                        <a:pt x="3700" y="3369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7452" name="Arc 71"/>
                <p:cNvSpPr/>
                <p:nvPr/>
              </p:nvSpPr>
              <p:spPr>
                <a:xfrm rot="-5325118">
                  <a:off x="3732" y="2198"/>
                  <a:ext cx="142" cy="103"/>
                </a:xfrm>
                <a:custGeom>
                  <a:avLst/>
                  <a:gdLst>
                    <a:gd name="txL" fmla="*/ 0 w 43200"/>
                    <a:gd name="txT" fmla="*/ 0 h 33751"/>
                    <a:gd name="txR" fmla="*/ 43200 w 43200"/>
                    <a:gd name="txB" fmla="*/ 33751 h 33751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3200" h="33751" fill="none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lnTo>
                        <a:pt x="3700" y="3369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7444" name="Line 72"/>
              <p:cNvSpPr/>
              <p:nvPr/>
            </p:nvSpPr>
            <p:spPr>
              <a:xfrm flipV="1">
                <a:off x="3716" y="3773"/>
                <a:ext cx="0" cy="2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5" name="Line 73"/>
              <p:cNvSpPr/>
              <p:nvPr/>
            </p:nvSpPr>
            <p:spPr>
              <a:xfrm>
                <a:off x="3722" y="2915"/>
                <a:ext cx="0" cy="32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6" name="Line 74"/>
              <p:cNvSpPr/>
              <p:nvPr/>
            </p:nvSpPr>
            <p:spPr>
              <a:xfrm>
                <a:off x="3722" y="3080"/>
                <a:ext cx="0" cy="4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7447" name="Text Box 75"/>
              <p:cNvSpPr txBox="1"/>
              <p:nvPr/>
            </p:nvSpPr>
            <p:spPr>
              <a:xfrm>
                <a:off x="3755" y="2945"/>
                <a:ext cx="533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i</a:t>
                </a:r>
                <a:r>
                  <a:rPr lang="en-US" altLang="zh-CN" sz="2400" b="1" baseline="-25000" dirty="0">
                    <a:latin typeface="华文仿宋" panose="02010600040101010101" charset="-122"/>
                    <a:ea typeface="华文仿宋" panose="02010600040101010101" charset="-122"/>
                  </a:rPr>
                  <a:t>L</a:t>
                </a: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(t)</a:t>
                </a:r>
                <a:endParaRPr lang="en-US" altLang="zh-CN" sz="24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17448" name="Line 76"/>
              <p:cNvSpPr/>
              <p:nvPr/>
            </p:nvSpPr>
            <p:spPr>
              <a:xfrm>
                <a:off x="3737" y="2906"/>
                <a:ext cx="965" cy="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36" name="Text Box 77"/>
            <p:cNvSpPr txBox="1"/>
            <p:nvPr/>
          </p:nvSpPr>
          <p:spPr>
            <a:xfrm>
              <a:off x="5058" y="2540"/>
              <a:ext cx="261" cy="826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+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宋体" panose="02010600030101010101" pitchFamily="2" charset="-122"/>
                </a:rPr>
                <a:t>-</a:t>
              </a:r>
              <a:endParaRPr lang="en-US" altLang="zh-CN" sz="3600" b="1" dirty="0">
                <a:latin typeface="_x0001_" pitchFamily="18" charset="0"/>
              </a:endParaRPr>
            </a:p>
          </p:txBody>
        </p:sp>
        <p:sp>
          <p:nvSpPr>
            <p:cNvPr id="17437" name="Text Box 78"/>
            <p:cNvSpPr txBox="1"/>
            <p:nvPr/>
          </p:nvSpPr>
          <p:spPr>
            <a:xfrm>
              <a:off x="5144" y="2815"/>
              <a:ext cx="49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R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145487" name="Text Box 79"/>
          <p:cNvSpPr txBox="1"/>
          <p:nvPr/>
        </p:nvSpPr>
        <p:spPr>
          <a:xfrm>
            <a:off x="585788" y="1371600"/>
            <a:ext cx="3833812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_x0001_" pitchFamily="18" charset="0"/>
              </a:rPr>
              <a:t>由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</a:rPr>
              <a:t>KVL:   </a:t>
            </a:r>
            <a:r>
              <a:rPr lang="en-US" altLang="zh-CN" sz="3200" b="1" dirty="0">
                <a:latin typeface="华文仿宋" panose="02010600040101010101" charset="-122"/>
                <a:ea typeface="华文仿宋" panose="02010600040101010101" charset="-122"/>
              </a:rPr>
              <a:t>u</a:t>
            </a:r>
            <a:r>
              <a:rPr lang="en-US" altLang="zh-CN" sz="3200" b="1" baseline="-25000" dirty="0">
                <a:latin typeface="华文仿宋" panose="02010600040101010101" charset="-122"/>
                <a:ea typeface="华文仿宋" panose="02010600040101010101" charset="-122"/>
              </a:rPr>
              <a:t>L</a:t>
            </a:r>
            <a:r>
              <a:rPr lang="en-US" altLang="zh-CN" sz="3200" b="1" dirty="0">
                <a:latin typeface="华文仿宋" panose="02010600040101010101" charset="-122"/>
                <a:ea typeface="华文仿宋" panose="02010600040101010101" charset="-122"/>
              </a:rPr>
              <a:t>-u</a:t>
            </a:r>
            <a:r>
              <a:rPr lang="en-US" altLang="zh-CN" sz="3200" b="1" baseline="-25000" dirty="0">
                <a:latin typeface="华文仿宋" panose="02010600040101010101" charset="-122"/>
                <a:ea typeface="华文仿宋" panose="02010600040101010101" charset="-122"/>
              </a:rPr>
              <a:t>R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</a:rPr>
              <a:t>= 0</a:t>
            </a:r>
            <a:endParaRPr lang="en-US" altLang="zh-CN" sz="24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graphicFrame>
        <p:nvGraphicFramePr>
          <p:cNvPr id="145488" name="Object 80"/>
          <p:cNvGraphicFramePr>
            <a:graphicFrameLocks noChangeAspect="1"/>
          </p:cNvGraphicFramePr>
          <p:nvPr/>
        </p:nvGraphicFramePr>
        <p:xfrm>
          <a:off x="3810000" y="1524000"/>
          <a:ext cx="9239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316865" imgH="177800" progId="Equation.3">
                  <p:embed/>
                </p:oleObj>
              </mc:Choice>
              <mc:Fallback>
                <p:oleObj name="" r:id="rId1" imgW="316865" imgH="1778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1524000"/>
                        <a:ext cx="9239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81"/>
          <p:cNvGrpSpPr/>
          <p:nvPr/>
        </p:nvGrpSpPr>
        <p:grpSpPr>
          <a:xfrm>
            <a:off x="109538" y="2149475"/>
            <a:ext cx="5718175" cy="1293813"/>
            <a:chOff x="196" y="3170"/>
            <a:chExt cx="3602" cy="815"/>
          </a:xfrm>
        </p:grpSpPr>
        <p:sp>
          <p:nvSpPr>
            <p:cNvPr id="17432" name="Text Box 82"/>
            <p:cNvSpPr txBox="1"/>
            <p:nvPr/>
          </p:nvSpPr>
          <p:spPr>
            <a:xfrm>
              <a:off x="196" y="3471"/>
              <a:ext cx="360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_x0001_" pitchFamily="18" charset="0"/>
                </a:rPr>
                <a:t>由元件的性质：                          代入上式</a:t>
              </a:r>
              <a:endParaRPr lang="zh-CN" altLang="en-US" sz="2400" b="1" dirty="0">
                <a:latin typeface="_x0001_" pitchFamily="18" charset="0"/>
              </a:endParaRPr>
            </a:p>
          </p:txBody>
        </p:sp>
        <p:graphicFrame>
          <p:nvGraphicFramePr>
            <p:cNvPr id="17433" name="Object 83"/>
            <p:cNvGraphicFramePr>
              <a:graphicFrameLocks noChangeAspect="1"/>
            </p:cNvGraphicFramePr>
            <p:nvPr/>
          </p:nvGraphicFramePr>
          <p:xfrm>
            <a:off x="1677" y="3170"/>
            <a:ext cx="1200" cy="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3" imgW="748665" imgH="635000" progId="Equation.3">
                    <p:embed/>
                  </p:oleObj>
                </mc:Choice>
                <mc:Fallback>
                  <p:oleObj name="" r:id="rId3" imgW="748665" imgH="6350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77" y="3170"/>
                          <a:ext cx="1200" cy="8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4" name="AutoShape 84"/>
            <p:cNvSpPr/>
            <p:nvPr/>
          </p:nvSpPr>
          <p:spPr>
            <a:xfrm>
              <a:off x="1558" y="3384"/>
              <a:ext cx="127" cy="501"/>
            </a:xfrm>
            <a:prstGeom prst="leftBrace">
              <a:avLst>
                <a:gd name="adj1" fmla="val 32874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85"/>
          <p:cNvGrpSpPr/>
          <p:nvPr/>
        </p:nvGrpSpPr>
        <p:grpSpPr>
          <a:xfrm>
            <a:off x="422275" y="3676650"/>
            <a:ext cx="5599113" cy="1317625"/>
            <a:chOff x="266" y="2454"/>
            <a:chExt cx="3527" cy="830"/>
          </a:xfrm>
        </p:grpSpPr>
        <p:graphicFrame>
          <p:nvGraphicFramePr>
            <p:cNvPr id="17427" name="Object 86"/>
            <p:cNvGraphicFramePr>
              <a:graphicFrameLocks noChangeAspect="1"/>
            </p:cNvGraphicFramePr>
            <p:nvPr/>
          </p:nvGraphicFramePr>
          <p:xfrm>
            <a:off x="2884" y="2497"/>
            <a:ext cx="636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5" imgW="316865" imgH="177800" progId="Equation.3">
                    <p:embed/>
                  </p:oleObj>
                </mc:Choice>
                <mc:Fallback>
                  <p:oleObj name="" r:id="rId5" imgW="316865" imgH="1778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4" y="2497"/>
                          <a:ext cx="636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8" name="Object 87"/>
            <p:cNvGraphicFramePr>
              <a:graphicFrameLocks noChangeAspect="1"/>
            </p:cNvGraphicFramePr>
            <p:nvPr/>
          </p:nvGraphicFramePr>
          <p:xfrm>
            <a:off x="1068" y="2454"/>
            <a:ext cx="1543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6" imgW="939165" imgH="635000" progId="Equation.3">
                    <p:embed/>
                  </p:oleObj>
                </mc:Choice>
                <mc:Fallback>
                  <p:oleObj name="" r:id="rId6" imgW="939165" imgH="6350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7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8" y="2454"/>
                          <a:ext cx="1543" cy="8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9" name="AutoShape 88"/>
            <p:cNvSpPr/>
            <p:nvPr/>
          </p:nvSpPr>
          <p:spPr>
            <a:xfrm>
              <a:off x="846" y="2465"/>
              <a:ext cx="152" cy="781"/>
            </a:xfrm>
            <a:prstGeom prst="leftBrace">
              <a:avLst>
                <a:gd name="adj1" fmla="val 42817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30" name="Text Box 89"/>
            <p:cNvSpPr txBox="1"/>
            <p:nvPr/>
          </p:nvSpPr>
          <p:spPr>
            <a:xfrm>
              <a:off x="266" y="2659"/>
              <a:ext cx="5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_x0001_" pitchFamily="18" charset="0"/>
                </a:rPr>
                <a:t>得：</a:t>
              </a:r>
              <a:endParaRPr lang="zh-CN" altLang="en-US" sz="2000" b="1" dirty="0">
                <a:latin typeface="_x0001_" pitchFamily="18" charset="0"/>
              </a:endParaRPr>
            </a:p>
          </p:txBody>
        </p:sp>
        <p:sp>
          <p:nvSpPr>
            <p:cNvPr id="17431" name="Text Box 90"/>
            <p:cNvSpPr txBox="1"/>
            <p:nvPr/>
          </p:nvSpPr>
          <p:spPr>
            <a:xfrm>
              <a:off x="2704" y="2905"/>
              <a:ext cx="108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初始条件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5499" name="Text Box 91"/>
          <p:cNvSpPr txBox="1"/>
          <p:nvPr/>
        </p:nvSpPr>
        <p:spPr>
          <a:xfrm>
            <a:off x="152400" y="5029200"/>
            <a:ext cx="224155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_x0001_" pitchFamily="18" charset="0"/>
              </a:rPr>
              <a:t>特征方程：</a:t>
            </a:r>
            <a:r>
              <a:rPr lang="zh-CN" altLang="en-US" sz="2000" b="1" dirty="0">
                <a:latin typeface="_x0001_" pitchFamily="18" charset="0"/>
              </a:rPr>
              <a:t>  </a:t>
            </a:r>
            <a:endParaRPr lang="zh-CN" altLang="en-US" sz="2000" b="1" dirty="0">
              <a:latin typeface="_x0001_" pitchFamily="18" charset="0"/>
            </a:endParaRPr>
          </a:p>
        </p:txBody>
      </p:sp>
      <p:graphicFrame>
        <p:nvGraphicFramePr>
          <p:cNvPr id="145500" name="Object 92"/>
          <p:cNvGraphicFramePr>
            <a:graphicFrameLocks noChangeAspect="1"/>
          </p:cNvGraphicFramePr>
          <p:nvPr/>
        </p:nvGraphicFramePr>
        <p:xfrm>
          <a:off x="2030413" y="5105400"/>
          <a:ext cx="16732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8" imgW="685800" imgH="203200" progId="Equation.3">
                  <p:embed/>
                </p:oleObj>
              </mc:Choice>
              <mc:Fallback>
                <p:oleObj name="" r:id="rId8" imgW="685800" imgH="2032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9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030413" y="5105400"/>
                        <a:ext cx="1673225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501" name="Text Box 93"/>
          <p:cNvSpPr txBox="1"/>
          <p:nvPr/>
        </p:nvSpPr>
        <p:spPr>
          <a:xfrm>
            <a:off x="174625" y="5695950"/>
            <a:ext cx="2598738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_x0001_" pitchFamily="18" charset="0"/>
              </a:rPr>
              <a:t>特征方程根：</a:t>
            </a:r>
            <a:r>
              <a:rPr lang="zh-CN" altLang="en-US" sz="2800" b="1" dirty="0">
                <a:latin typeface="_x0001_" pitchFamily="18" charset="0"/>
              </a:rPr>
              <a:t>  </a:t>
            </a:r>
            <a:endParaRPr lang="zh-CN" altLang="en-US" sz="2800" b="1" dirty="0">
              <a:latin typeface="_x0001_" pitchFamily="18" charset="0"/>
            </a:endParaRPr>
          </a:p>
        </p:txBody>
      </p:sp>
      <p:graphicFrame>
        <p:nvGraphicFramePr>
          <p:cNvPr id="145502" name="Object 94"/>
          <p:cNvGraphicFramePr>
            <a:graphicFrameLocks noChangeAspect="1"/>
          </p:cNvGraphicFramePr>
          <p:nvPr/>
        </p:nvGraphicFramePr>
        <p:xfrm>
          <a:off x="2373313" y="5688013"/>
          <a:ext cx="9794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0" imgW="533400" imgH="393700" progId="Equation.3">
                  <p:embed/>
                </p:oleObj>
              </mc:Choice>
              <mc:Fallback>
                <p:oleObj name="" r:id="rId10" imgW="533400" imgH="3937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1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373313" y="5688013"/>
                        <a:ext cx="979487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507" name="Object 99"/>
          <p:cNvGraphicFramePr>
            <a:graphicFrameLocks noGrp="1" noChangeAspect="1"/>
          </p:cNvGraphicFramePr>
          <p:nvPr>
            <p:ph idx="1"/>
          </p:nvPr>
        </p:nvGraphicFramePr>
        <p:xfrm>
          <a:off x="4587875" y="5240338"/>
          <a:ext cx="347345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2" imgW="1748155" imgH="322580" progId="Equation.3">
                  <p:embed/>
                </p:oleObj>
              </mc:Choice>
              <mc:Fallback>
                <p:oleObj name="" r:id="rId12" imgW="1748155" imgH="32258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FFFFFF"/>
                          </a:clrFrom>
                          <a:clrTo>
                            <a:srgbClr val="000099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87875" y="5240338"/>
                        <a:ext cx="3473450" cy="852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"/>
                                        <p:tgtEl>
                                          <p:spTgt spid="145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45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5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5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5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5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5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/>
      <p:bldP spid="145461" grpId="0"/>
      <p:bldP spid="145462" grpId="0"/>
      <p:bldP spid="145463" grpId="0"/>
      <p:bldP spid="145487" grpId="0"/>
      <p:bldP spid="145499" grpId="0"/>
      <p:bldP spid="1455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338138" y="228600"/>
          <a:ext cx="40751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536700" imgH="342900" progId="Equation.3">
                  <p:embed/>
                </p:oleObj>
              </mc:Choice>
              <mc:Fallback>
                <p:oleObj name="" r:id="rId1" imgW="1536700" imgH="342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38138" y="228600"/>
                        <a:ext cx="4075112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1" name="Object 5"/>
          <p:cNvGraphicFramePr>
            <a:graphicFrameLocks noChangeAspect="1"/>
          </p:cNvGraphicFramePr>
          <p:nvPr/>
        </p:nvGraphicFramePr>
        <p:xfrm>
          <a:off x="334963" y="1752600"/>
          <a:ext cx="375443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231265" imgH="342900" progId="Equation.3">
                  <p:embed/>
                </p:oleObj>
              </mc:Choice>
              <mc:Fallback>
                <p:oleObj name="" r:id="rId3" imgW="1231265" imgH="342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34963" y="1752600"/>
                        <a:ext cx="3754437" cy="687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414338" y="1093788"/>
          <a:ext cx="14224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520700" imgH="203200" progId="Equation.3">
                  <p:embed/>
                </p:oleObj>
              </mc:Choice>
              <mc:Fallback>
                <p:oleObj name="" r:id="rId5" imgW="520700" imgH="2032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lum bright="95999"/>
                      </a:blip>
                      <a:stretch>
                        <a:fillRect/>
                      </a:stretch>
                    </p:blipFill>
                    <p:spPr>
                      <a:xfrm>
                        <a:off x="414338" y="1093788"/>
                        <a:ext cx="14224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5033963" y="922338"/>
            <a:ext cx="2963862" cy="1250950"/>
            <a:chOff x="3729" y="2013"/>
            <a:chExt cx="1867" cy="788"/>
          </a:xfrm>
        </p:grpSpPr>
        <p:sp>
          <p:nvSpPr>
            <p:cNvPr id="18482" name="Arc 8"/>
            <p:cNvSpPr/>
            <p:nvPr/>
          </p:nvSpPr>
          <p:spPr>
            <a:xfrm flipH="1">
              <a:off x="4012" y="2013"/>
              <a:ext cx="1584" cy="788"/>
            </a:xfrm>
            <a:custGeom>
              <a:avLst/>
              <a:gdLst>
                <a:gd name="txL" fmla="*/ 0 w 21599"/>
                <a:gd name="txT" fmla="*/ 0 h 21598"/>
                <a:gd name="txR" fmla="*/ 21599 w 21599"/>
                <a:gd name="txB" fmla="*/ 21598 h 2159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599" h="21598" fill="none">
                  <a:moveTo>
                    <a:pt x="21598" y="251"/>
                  </a:moveTo>
                  <a:cubicBezTo>
                    <a:pt x="21461" y="11965"/>
                    <a:pt x="12012" y="21435"/>
                    <a:pt x="298" y="21597"/>
                  </a:cubicBezTo>
                </a:path>
                <a:path w="21599" h="21598" stroke="0">
                  <a:moveTo>
                    <a:pt x="21598" y="251"/>
                  </a:moveTo>
                  <a:cubicBezTo>
                    <a:pt x="21461" y="11965"/>
                    <a:pt x="12012" y="21435"/>
                    <a:pt x="298" y="21597"/>
                  </a:cubicBezTo>
                  <a:lnTo>
                    <a:pt x="0" y="0"/>
                  </a:lnTo>
                  <a:lnTo>
                    <a:pt x="21598" y="251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3" name="Line 9"/>
            <p:cNvSpPr/>
            <p:nvPr/>
          </p:nvSpPr>
          <p:spPr>
            <a:xfrm flipH="1">
              <a:off x="3729" y="2023"/>
              <a:ext cx="283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4846638" y="0"/>
            <a:ext cx="4675187" cy="3390900"/>
            <a:chOff x="361" y="12"/>
            <a:chExt cx="2945" cy="2136"/>
          </a:xfrm>
        </p:grpSpPr>
        <p:grpSp>
          <p:nvGrpSpPr>
            <p:cNvPr id="18465" name="Group 11"/>
            <p:cNvGrpSpPr/>
            <p:nvPr/>
          </p:nvGrpSpPr>
          <p:grpSpPr>
            <a:xfrm>
              <a:off x="361" y="12"/>
              <a:ext cx="2945" cy="1681"/>
              <a:chOff x="361" y="12"/>
              <a:chExt cx="2945" cy="1681"/>
            </a:xfrm>
          </p:grpSpPr>
          <p:sp>
            <p:nvSpPr>
              <p:cNvPr id="18470" name="Text Box 12"/>
              <p:cNvSpPr txBox="1"/>
              <p:nvPr/>
            </p:nvSpPr>
            <p:spPr>
              <a:xfrm>
                <a:off x="2509" y="1229"/>
                <a:ext cx="797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华文仿宋" panose="02010600040101010101" charset="-122"/>
                    <a:ea typeface="华文仿宋" panose="02010600040101010101" charset="-122"/>
                  </a:rPr>
                  <a:t>t</a:t>
                </a: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(s)</a:t>
                </a:r>
                <a:endParaRPr lang="en-US" altLang="zh-CN" sz="24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18471" name="Line 13"/>
              <p:cNvSpPr/>
              <p:nvPr/>
            </p:nvSpPr>
            <p:spPr>
              <a:xfrm>
                <a:off x="361" y="1421"/>
                <a:ext cx="215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472" name="Line 14"/>
              <p:cNvSpPr/>
              <p:nvPr/>
            </p:nvSpPr>
            <p:spPr>
              <a:xfrm flipV="1">
                <a:off x="766" y="156"/>
                <a:ext cx="0" cy="14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473" name="Line 15"/>
              <p:cNvSpPr/>
              <p:nvPr/>
            </p:nvSpPr>
            <p:spPr>
              <a:xfrm>
                <a:off x="1139" y="1584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4" name="Line 16"/>
              <p:cNvSpPr/>
              <p:nvPr/>
            </p:nvSpPr>
            <p:spPr>
              <a:xfrm>
                <a:off x="1139" y="1584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5" name="Line 17"/>
              <p:cNvSpPr/>
              <p:nvPr/>
            </p:nvSpPr>
            <p:spPr>
              <a:xfrm>
                <a:off x="1455" y="1584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6" name="Line 18"/>
              <p:cNvSpPr/>
              <p:nvPr/>
            </p:nvSpPr>
            <p:spPr>
              <a:xfrm>
                <a:off x="1105" y="1374"/>
                <a:ext cx="0" cy="8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7" name="Line 19"/>
              <p:cNvSpPr/>
              <p:nvPr/>
            </p:nvSpPr>
            <p:spPr>
              <a:xfrm>
                <a:off x="1449" y="1374"/>
                <a:ext cx="0" cy="8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8" name="Line 20"/>
              <p:cNvSpPr/>
              <p:nvPr/>
            </p:nvSpPr>
            <p:spPr>
              <a:xfrm>
                <a:off x="1767" y="1374"/>
                <a:ext cx="0" cy="8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9" name="Line 21"/>
              <p:cNvSpPr/>
              <p:nvPr/>
            </p:nvSpPr>
            <p:spPr>
              <a:xfrm>
                <a:off x="2109" y="1374"/>
                <a:ext cx="0" cy="8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80" name="Text Box 22"/>
              <p:cNvSpPr txBox="1"/>
              <p:nvPr/>
            </p:nvSpPr>
            <p:spPr>
              <a:xfrm>
                <a:off x="785" y="12"/>
                <a:ext cx="664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华文仿宋" panose="02010600040101010101" charset="-122"/>
                    <a:ea typeface="华文仿宋" panose="02010600040101010101" charset="-122"/>
                  </a:rPr>
                  <a:t>i</a:t>
                </a:r>
                <a:r>
                  <a:rPr lang="en-US" altLang="zh-CN" sz="3200" b="1" baseline="-25000" dirty="0">
                    <a:latin typeface="华文仿宋" panose="02010600040101010101" charset="-122"/>
                    <a:ea typeface="华文仿宋" panose="02010600040101010101" charset="-122"/>
                  </a:rPr>
                  <a:t>L</a:t>
                </a:r>
                <a:r>
                  <a:rPr lang="en-US" altLang="zh-CN" sz="2400" b="1" dirty="0">
                    <a:latin typeface="华文仿宋" panose="02010600040101010101" charset="-122"/>
                    <a:ea typeface="华文仿宋" panose="02010600040101010101" charset="-122"/>
                  </a:rPr>
                  <a:t>(t)</a:t>
                </a:r>
                <a:endParaRPr lang="en-US" altLang="zh-CN" sz="2400" b="1" dirty="0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18481" name="Text Box 23"/>
              <p:cNvSpPr txBox="1"/>
              <p:nvPr/>
            </p:nvSpPr>
            <p:spPr>
              <a:xfrm>
                <a:off x="570" y="1405"/>
                <a:ext cx="68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0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</p:grpSp>
        <p:sp>
          <p:nvSpPr>
            <p:cNvPr id="18466" name="Text Box 24"/>
            <p:cNvSpPr txBox="1"/>
            <p:nvPr/>
          </p:nvSpPr>
          <p:spPr>
            <a:xfrm>
              <a:off x="1991" y="1373"/>
              <a:ext cx="407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  <p:sp>
          <p:nvSpPr>
            <p:cNvPr id="18467" name="Text Box 25"/>
            <p:cNvSpPr txBox="1"/>
            <p:nvPr/>
          </p:nvSpPr>
          <p:spPr>
            <a:xfrm>
              <a:off x="1669" y="1373"/>
              <a:ext cx="354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3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  <p:sp>
          <p:nvSpPr>
            <p:cNvPr id="18468" name="Text Box 26"/>
            <p:cNvSpPr txBox="1"/>
            <p:nvPr/>
          </p:nvSpPr>
          <p:spPr>
            <a:xfrm>
              <a:off x="1283" y="1373"/>
              <a:ext cx="396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2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  <p:sp>
          <p:nvSpPr>
            <p:cNvPr id="18469" name="Text Box 27"/>
            <p:cNvSpPr txBox="1"/>
            <p:nvPr/>
          </p:nvSpPr>
          <p:spPr>
            <a:xfrm>
              <a:off x="1010" y="1373"/>
              <a:ext cx="241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47484" name="Text Box 28"/>
          <p:cNvSpPr txBox="1"/>
          <p:nvPr/>
        </p:nvSpPr>
        <p:spPr>
          <a:xfrm>
            <a:off x="4981575" y="358775"/>
            <a:ext cx="550863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I</a:t>
            </a:r>
            <a:r>
              <a:rPr lang="en-US" altLang="zh-CN" sz="3200" b="1" baseline="-250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3200" b="1" dirty="0">
              <a:solidFill>
                <a:schemeClr val="tx2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aphicFrame>
        <p:nvGraphicFramePr>
          <p:cNvPr id="147486" name="Object 30"/>
          <p:cNvGraphicFramePr>
            <a:graphicFrameLocks noChangeAspect="1"/>
          </p:cNvGraphicFramePr>
          <p:nvPr/>
        </p:nvGraphicFramePr>
        <p:xfrm>
          <a:off x="7581900" y="2970213"/>
          <a:ext cx="8318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7" imgW="316865" imgH="177800" progId="Equation.3">
                  <p:embed/>
                </p:oleObj>
              </mc:Choice>
              <mc:Fallback>
                <p:oleObj name="" r:id="rId7" imgW="316865" imgH="1778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581900" y="2970213"/>
                        <a:ext cx="83185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7" name="Object 31"/>
          <p:cNvGraphicFramePr>
            <a:graphicFrameLocks noChangeAspect="1"/>
          </p:cNvGraphicFramePr>
          <p:nvPr/>
        </p:nvGraphicFramePr>
        <p:xfrm>
          <a:off x="142875" y="2668588"/>
          <a:ext cx="70199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2578100" imgH="482600" progId="Equation.3">
                  <p:embed/>
                </p:oleObj>
              </mc:Choice>
              <mc:Fallback>
                <p:oleObj name="" r:id="rId9" imgW="2578100" imgH="4826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2875" y="2668588"/>
                        <a:ext cx="7019925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2"/>
          <p:cNvGrpSpPr/>
          <p:nvPr/>
        </p:nvGrpSpPr>
        <p:grpSpPr>
          <a:xfrm>
            <a:off x="144463" y="3711575"/>
            <a:ext cx="4675187" cy="2085975"/>
            <a:chOff x="150" y="3329"/>
            <a:chExt cx="2945" cy="1314"/>
          </a:xfrm>
        </p:grpSpPr>
        <p:sp>
          <p:nvSpPr>
            <p:cNvPr id="18449" name="Text Box 33"/>
            <p:cNvSpPr txBox="1"/>
            <p:nvPr/>
          </p:nvSpPr>
          <p:spPr>
            <a:xfrm>
              <a:off x="2298" y="3640"/>
              <a:ext cx="79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t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(s)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8450" name="Line 34"/>
            <p:cNvSpPr/>
            <p:nvPr/>
          </p:nvSpPr>
          <p:spPr>
            <a:xfrm>
              <a:off x="150" y="3832"/>
              <a:ext cx="215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51" name="Line 35"/>
            <p:cNvSpPr/>
            <p:nvPr/>
          </p:nvSpPr>
          <p:spPr>
            <a:xfrm flipV="1">
              <a:off x="555" y="3521"/>
              <a:ext cx="0" cy="1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52" name="Line 36"/>
            <p:cNvSpPr/>
            <p:nvPr/>
          </p:nvSpPr>
          <p:spPr>
            <a:xfrm>
              <a:off x="928" y="399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3" name="Line 37"/>
            <p:cNvSpPr/>
            <p:nvPr/>
          </p:nvSpPr>
          <p:spPr>
            <a:xfrm>
              <a:off x="928" y="399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4" name="Line 38"/>
            <p:cNvSpPr/>
            <p:nvPr/>
          </p:nvSpPr>
          <p:spPr>
            <a:xfrm>
              <a:off x="1244" y="399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5" name="Line 39"/>
            <p:cNvSpPr/>
            <p:nvPr/>
          </p:nvSpPr>
          <p:spPr>
            <a:xfrm>
              <a:off x="894" y="3785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6" name="Line 40"/>
            <p:cNvSpPr/>
            <p:nvPr/>
          </p:nvSpPr>
          <p:spPr>
            <a:xfrm>
              <a:off x="1238" y="3785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Line 41"/>
            <p:cNvSpPr/>
            <p:nvPr/>
          </p:nvSpPr>
          <p:spPr>
            <a:xfrm>
              <a:off x="1556" y="3785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8" name="Line 42"/>
            <p:cNvSpPr/>
            <p:nvPr/>
          </p:nvSpPr>
          <p:spPr>
            <a:xfrm>
              <a:off x="1898" y="3785"/>
              <a:ext cx="0" cy="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9" name="Text Box 43"/>
            <p:cNvSpPr txBox="1"/>
            <p:nvPr/>
          </p:nvSpPr>
          <p:spPr>
            <a:xfrm>
              <a:off x="587" y="3329"/>
              <a:ext cx="66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u</a:t>
              </a:r>
              <a:r>
                <a:rPr lang="en-US" altLang="zh-CN" sz="3200" b="1" baseline="-25000" dirty="0">
                  <a:latin typeface="华文仿宋" panose="02010600040101010101" charset="-122"/>
                  <a:ea typeface="华文仿宋" panose="02010600040101010101" charset="-122"/>
                </a:rPr>
                <a:t>L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8460" name="Text Box 44"/>
            <p:cNvSpPr txBox="1"/>
            <p:nvPr/>
          </p:nvSpPr>
          <p:spPr>
            <a:xfrm>
              <a:off x="359" y="3816"/>
              <a:ext cx="68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0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18461" name="Text Box 45"/>
            <p:cNvSpPr txBox="1"/>
            <p:nvPr/>
          </p:nvSpPr>
          <p:spPr>
            <a:xfrm>
              <a:off x="1780" y="3784"/>
              <a:ext cx="388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8462" name="Text Box 46"/>
            <p:cNvSpPr txBox="1"/>
            <p:nvPr/>
          </p:nvSpPr>
          <p:spPr>
            <a:xfrm>
              <a:off x="1458" y="3784"/>
              <a:ext cx="377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3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8463" name="Text Box 47"/>
            <p:cNvSpPr txBox="1"/>
            <p:nvPr/>
          </p:nvSpPr>
          <p:spPr>
            <a:xfrm>
              <a:off x="1072" y="3784"/>
              <a:ext cx="393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2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  <p:sp>
          <p:nvSpPr>
            <p:cNvPr id="18464" name="Text Box 48"/>
            <p:cNvSpPr txBox="1"/>
            <p:nvPr/>
          </p:nvSpPr>
          <p:spPr>
            <a:xfrm>
              <a:off x="799" y="3784"/>
              <a:ext cx="273" cy="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47505" name="Text Box 49"/>
          <p:cNvSpPr txBox="1">
            <a:spLocks noChangeArrowheads="1"/>
          </p:cNvSpPr>
          <p:nvPr/>
        </p:nvSpPr>
        <p:spPr bwMode="auto">
          <a:xfrm>
            <a:off x="4908550" y="4038600"/>
            <a:ext cx="3516313" cy="1077913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kern="1200" cap="none" spc="0" normalizeH="0" baseline="0" noProof="0" dirty="0">
                <a:solidFill>
                  <a:schemeClr val="tx2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3200" kern="120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结论</a:t>
            </a:r>
            <a:r>
              <a:rPr kumimoji="1" lang="en-US" altLang="zh-CN" sz="3200" kern="120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  </a:t>
            </a:r>
            <a:r>
              <a:rPr kumimoji="1" lang="en-US" altLang="zh-CN" sz="3200" kern="1200" cap="none" spc="0" normalizeH="0" baseline="0" noProof="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1" lang="en-US" altLang="zh-CN" sz="3200" kern="1200" cap="none" spc="0" normalizeH="0" baseline="-25000" noProof="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1" lang="zh-CN" altLang="en-US" sz="3200" kern="120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不能跃变，</a:t>
            </a:r>
            <a:r>
              <a:rPr kumimoji="1" lang="en-US" altLang="zh-CN" sz="3200" kern="1200" cap="none" spc="0" normalizeH="0" baseline="0" noProof="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1" lang="en-US" altLang="zh-CN" sz="3200" kern="1200" cap="none" spc="0" normalizeH="0" baseline="-25000" noProof="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1" lang="zh-CN" altLang="en-US" sz="3200" kern="120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可以跃变。</a:t>
            </a:r>
            <a:endParaRPr kumimoji="1" lang="zh-CN" altLang="en-US" sz="3200" kern="1200" cap="none" spc="0" normalizeH="0" baseline="0" noProof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7506" name="Arc 50"/>
          <p:cNvSpPr/>
          <p:nvPr/>
        </p:nvSpPr>
        <p:spPr>
          <a:xfrm rot="8195380" flipH="1">
            <a:off x="1162050" y="4457700"/>
            <a:ext cx="2398713" cy="2241550"/>
          </a:xfrm>
          <a:custGeom>
            <a:avLst/>
            <a:gdLst>
              <a:gd name="txL" fmla="*/ 0 w 22311"/>
              <a:gd name="txT" fmla="*/ 0 h 21600"/>
              <a:gd name="txR" fmla="*/ 22311 w 22311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22311" h="21600" fill="none">
                <a:moveTo>
                  <a:pt x="22311" y="13560"/>
                </a:moveTo>
                <a:cubicBezTo>
                  <a:pt x="18210" y="18644"/>
                  <a:pt x="12029" y="21599"/>
                  <a:pt x="5498" y="21600"/>
                </a:cubicBezTo>
                <a:cubicBezTo>
                  <a:pt x="3642" y="21600"/>
                  <a:pt x="1794" y="21360"/>
                  <a:pt x="-1" y="20888"/>
                </a:cubicBezTo>
              </a:path>
              <a:path w="22311" h="21600" stroke="0">
                <a:moveTo>
                  <a:pt x="22311" y="13560"/>
                </a:moveTo>
                <a:cubicBezTo>
                  <a:pt x="18210" y="18644"/>
                  <a:pt x="12029" y="21599"/>
                  <a:pt x="5498" y="21600"/>
                </a:cubicBezTo>
                <a:cubicBezTo>
                  <a:pt x="3642" y="21600"/>
                  <a:pt x="1794" y="21360"/>
                  <a:pt x="-1" y="20888"/>
                </a:cubicBezTo>
                <a:lnTo>
                  <a:pt x="5498" y="0"/>
                </a:lnTo>
                <a:lnTo>
                  <a:pt x="22311" y="13560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7507" name="Line 51"/>
          <p:cNvSpPr/>
          <p:nvPr/>
        </p:nvSpPr>
        <p:spPr>
          <a:xfrm>
            <a:off x="788988" y="4533900"/>
            <a:ext cx="0" cy="1077913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7509" name="Text Box 53"/>
          <p:cNvSpPr txBox="1"/>
          <p:nvPr/>
        </p:nvSpPr>
        <p:spPr>
          <a:xfrm>
            <a:off x="52705" y="5337175"/>
            <a:ext cx="119189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-RI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7510" name="Rectangle 54"/>
          <p:cNvSpPr/>
          <p:nvPr/>
        </p:nvSpPr>
        <p:spPr>
          <a:xfrm>
            <a:off x="1362075" y="5567363"/>
            <a:ext cx="2976563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时间常数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47511" name="Rectangle 55"/>
          <p:cNvSpPr/>
          <p:nvPr/>
        </p:nvSpPr>
        <p:spPr>
          <a:xfrm>
            <a:off x="3352800" y="5638800"/>
            <a:ext cx="3021013" cy="579438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=L/R=LG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（秒）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4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75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475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84" grpId="0"/>
      <p:bldP spid="147505" grpId="0" animBg="1"/>
      <p:bldP spid="147509" grpId="0"/>
      <p:bldP spid="147510" grpId="0"/>
      <p:bldP spid="1475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Rectangle 2"/>
          <p:cNvSpPr>
            <a:spLocks noGrp="1"/>
          </p:cNvSpPr>
          <p:nvPr>
            <p:ph type="title"/>
          </p:nvPr>
        </p:nvSpPr>
        <p:spPr>
          <a:xfrm>
            <a:off x="152400" y="201613"/>
            <a:ext cx="1828800" cy="560387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32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508" name="Text Box 4"/>
          <p:cNvSpPr txBox="1"/>
          <p:nvPr/>
        </p:nvSpPr>
        <p:spPr>
          <a:xfrm>
            <a:off x="365125" y="809625"/>
            <a:ext cx="7075488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零输入响应与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(0),i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(0),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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有关。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49509" name="Text Box 5"/>
          <p:cNvSpPr txBox="1"/>
          <p:nvPr/>
        </p:nvSpPr>
        <p:spPr>
          <a:xfrm>
            <a:off x="393700" y="1690688"/>
            <a:ext cx="506412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零输入响应的一般形式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/>
        </p:nvGraphicFramePr>
        <p:xfrm>
          <a:off x="4922838" y="1520825"/>
          <a:ext cx="23463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914400" imgH="330200" progId="Equation.3">
                  <p:embed/>
                </p:oleObj>
              </mc:Choice>
              <mc:Fallback>
                <p:oleObj name="" r:id="rId1" imgW="914400" imgH="330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922838" y="1520825"/>
                        <a:ext cx="2346325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/>
        </p:nvGraphicFramePr>
        <p:xfrm>
          <a:off x="7681913" y="1693863"/>
          <a:ext cx="10525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316865" imgH="177800" progId="Equation.3">
                  <p:embed/>
                </p:oleObj>
              </mc:Choice>
              <mc:Fallback>
                <p:oleObj name="" r:id="rId3" imgW="316865" imgH="1778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681913" y="1693863"/>
                        <a:ext cx="1052512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2" name="Object 8"/>
          <p:cNvGraphicFramePr>
            <a:graphicFrameLocks noChangeAspect="1"/>
          </p:cNvGraphicFramePr>
          <p:nvPr/>
        </p:nvGraphicFramePr>
        <p:xfrm>
          <a:off x="685800" y="3449638"/>
          <a:ext cx="28416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5" imgW="951865" imgH="330200" progId="Equation.3">
                  <p:embed/>
                </p:oleObj>
              </mc:Choice>
              <mc:Fallback>
                <p:oleObj name="" r:id="rId5" imgW="951865" imgH="3302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3449638"/>
                        <a:ext cx="2841625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3" name="Object 9"/>
          <p:cNvGraphicFramePr>
            <a:graphicFrameLocks noChangeAspect="1"/>
          </p:cNvGraphicFramePr>
          <p:nvPr/>
        </p:nvGraphicFramePr>
        <p:xfrm>
          <a:off x="3567113" y="3624263"/>
          <a:ext cx="9794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316865" imgH="177800" progId="Equation.3">
                  <p:embed/>
                </p:oleObj>
              </mc:Choice>
              <mc:Fallback>
                <p:oleObj name="" r:id="rId7" imgW="316865" imgH="1778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567113" y="3624263"/>
                        <a:ext cx="979487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4" name="Rectangle 10"/>
          <p:cNvSpPr/>
          <p:nvPr/>
        </p:nvSpPr>
        <p:spPr>
          <a:xfrm>
            <a:off x="4605338" y="3606800"/>
            <a:ext cx="1490662" cy="7016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en-US" altLang="zh-CN" sz="32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=LG</a:t>
            </a:r>
            <a:endParaRPr lang="en-US" altLang="zh-CN" sz="32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49515" name="Object 11"/>
          <p:cNvGraphicFramePr>
            <a:graphicFrameLocks noChangeAspect="1"/>
          </p:cNvGraphicFramePr>
          <p:nvPr/>
        </p:nvGraphicFramePr>
        <p:xfrm>
          <a:off x="685800" y="2362200"/>
          <a:ext cx="26352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8" imgW="1040765" imgH="342900" progId="Equation.3">
                  <p:embed/>
                </p:oleObj>
              </mc:Choice>
              <mc:Fallback>
                <p:oleObj name="" r:id="rId8" imgW="1040765" imgH="3429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9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2362200"/>
                        <a:ext cx="2635250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6" name="Object 12"/>
          <p:cNvGraphicFramePr>
            <a:graphicFrameLocks noChangeAspect="1"/>
          </p:cNvGraphicFramePr>
          <p:nvPr/>
        </p:nvGraphicFramePr>
        <p:xfrm>
          <a:off x="3627438" y="2667000"/>
          <a:ext cx="9779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0" imgW="316865" imgH="177800" progId="Equation.3">
                  <p:embed/>
                </p:oleObj>
              </mc:Choice>
              <mc:Fallback>
                <p:oleObj name="" r:id="rId10" imgW="316865" imgH="177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627438" y="2667000"/>
                        <a:ext cx="97790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7" name="Rectangle 13"/>
          <p:cNvSpPr/>
          <p:nvPr/>
        </p:nvSpPr>
        <p:spPr>
          <a:xfrm>
            <a:off x="4605338" y="2722563"/>
            <a:ext cx="1414462" cy="7016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en-US" altLang="zh-CN" sz="32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=RC</a:t>
            </a:r>
            <a:endParaRPr lang="en-US" altLang="zh-CN" sz="32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49518" name="Text Box 14"/>
          <p:cNvSpPr txBox="1"/>
          <p:nvPr/>
        </p:nvSpPr>
        <p:spPr>
          <a:xfrm>
            <a:off x="403225" y="4800600"/>
            <a:ext cx="8740775" cy="1073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零输入响应都是按指数规律衰减的，衰减的快慢由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决定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越小，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(t),i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衰减的越快。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5865813" y="2436813"/>
            <a:ext cx="3865562" cy="2216149"/>
            <a:chOff x="3701" y="1283"/>
            <a:chExt cx="2435" cy="1396"/>
          </a:xfrm>
        </p:grpSpPr>
        <p:sp>
          <p:nvSpPr>
            <p:cNvPr id="19471" name="Text Box 16"/>
            <p:cNvSpPr txBox="1"/>
            <p:nvPr/>
          </p:nvSpPr>
          <p:spPr>
            <a:xfrm>
              <a:off x="5339" y="2020"/>
              <a:ext cx="79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t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(s)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472" name="Arc 17"/>
            <p:cNvSpPr/>
            <p:nvPr/>
          </p:nvSpPr>
          <p:spPr>
            <a:xfrm flipH="1">
              <a:off x="4224" y="1630"/>
              <a:ext cx="1231" cy="700"/>
            </a:xfrm>
            <a:custGeom>
              <a:avLst/>
              <a:gdLst>
                <a:gd name="txL" fmla="*/ 0 w 21599"/>
                <a:gd name="txT" fmla="*/ 0 h 21598"/>
                <a:gd name="txR" fmla="*/ 21599 w 21599"/>
                <a:gd name="txB" fmla="*/ 21598 h 2159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599" h="21598" fill="none">
                  <a:moveTo>
                    <a:pt x="21598" y="251"/>
                  </a:moveTo>
                  <a:cubicBezTo>
                    <a:pt x="21461" y="11965"/>
                    <a:pt x="12012" y="21435"/>
                    <a:pt x="298" y="21597"/>
                  </a:cubicBezTo>
                </a:path>
                <a:path w="21599" h="21598" stroke="0">
                  <a:moveTo>
                    <a:pt x="21598" y="251"/>
                  </a:moveTo>
                  <a:cubicBezTo>
                    <a:pt x="21461" y="11965"/>
                    <a:pt x="12012" y="21435"/>
                    <a:pt x="298" y="21597"/>
                  </a:cubicBezTo>
                  <a:lnTo>
                    <a:pt x="0" y="0"/>
                  </a:lnTo>
                  <a:lnTo>
                    <a:pt x="21598" y="251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3" name="Line 18"/>
            <p:cNvSpPr/>
            <p:nvPr/>
          </p:nvSpPr>
          <p:spPr>
            <a:xfrm>
              <a:off x="4016" y="2345"/>
              <a:ext cx="15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74" name="Line 19"/>
            <p:cNvSpPr/>
            <p:nvPr/>
          </p:nvSpPr>
          <p:spPr>
            <a:xfrm flipV="1">
              <a:off x="4212" y="1400"/>
              <a:ext cx="0" cy="11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75" name="Line 20"/>
            <p:cNvSpPr/>
            <p:nvPr/>
          </p:nvSpPr>
          <p:spPr>
            <a:xfrm>
              <a:off x="4585" y="2500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6" name="Line 21"/>
            <p:cNvSpPr/>
            <p:nvPr/>
          </p:nvSpPr>
          <p:spPr>
            <a:xfrm>
              <a:off x="4585" y="2500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7" name="Line 22"/>
            <p:cNvSpPr/>
            <p:nvPr/>
          </p:nvSpPr>
          <p:spPr>
            <a:xfrm>
              <a:off x="4901" y="2500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8" name="Line 23"/>
            <p:cNvSpPr/>
            <p:nvPr/>
          </p:nvSpPr>
          <p:spPr>
            <a:xfrm>
              <a:off x="5213" y="2301"/>
              <a:ext cx="0" cy="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Text Box 24"/>
            <p:cNvSpPr txBox="1"/>
            <p:nvPr/>
          </p:nvSpPr>
          <p:spPr>
            <a:xfrm>
              <a:off x="4230" y="1283"/>
              <a:ext cx="66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</a:rPr>
                <a:t>f</a:t>
              </a: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</a:rPr>
                <a:t>(t)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480" name="Text Box 25"/>
            <p:cNvSpPr txBox="1"/>
            <p:nvPr/>
          </p:nvSpPr>
          <p:spPr>
            <a:xfrm>
              <a:off x="4016" y="2330"/>
              <a:ext cx="681" cy="25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华文仿宋" panose="02010600040101010101" charset="-122"/>
                  <a:ea typeface="华文仿宋" panose="02010600040101010101" charset="-122"/>
                </a:rPr>
                <a:t>0</a:t>
              </a:r>
              <a:endParaRPr lang="en-US" altLang="zh-CN" sz="2400" b="1" dirty="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481" name="Text Box 26"/>
            <p:cNvSpPr txBox="1"/>
            <p:nvPr/>
          </p:nvSpPr>
          <p:spPr>
            <a:xfrm>
              <a:off x="3701" y="1485"/>
              <a:ext cx="108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华文仿宋" panose="02010600040101010101" charset="-122"/>
                  <a:ea typeface="华文仿宋" panose="02010600040101010101" charset="-122"/>
                </a:rPr>
                <a:t>f(0)</a:t>
              </a:r>
              <a:endParaRPr lang="en-US" altLang="zh-CN" sz="2800" b="1" dirty="0">
                <a:solidFill>
                  <a:schemeClr val="tx2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482" name="Text Box 27"/>
            <p:cNvSpPr txBox="1"/>
            <p:nvPr/>
          </p:nvSpPr>
          <p:spPr>
            <a:xfrm>
              <a:off x="5063" y="2311"/>
              <a:ext cx="505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  <a:sym typeface="Symbol" panose="05050102010706020507" pitchFamily="18" charset="2"/>
                </a:rPr>
                <a:t></a:t>
              </a:r>
              <a:endParaRPr lang="en-US" altLang="zh-CN" sz="2800" b="1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/>
      <p:bldP spid="149508" grpId="0"/>
      <p:bldP spid="149509" grpId="0"/>
      <p:bldP spid="149514" grpId="0"/>
      <p:bldP spid="149517" grpId="0"/>
      <p:bldP spid="1495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Rectang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3962400" cy="7889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时间常数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的求法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:</a:t>
            </a:r>
            <a:endParaRPr lang="en-US" altLang="zh-CN" sz="32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685800" y="17049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4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33400" y="914400"/>
            <a:ext cx="5346700" cy="457200"/>
            <a:chOff x="432" y="612"/>
            <a:chExt cx="3368" cy="288"/>
          </a:xfrm>
        </p:grpSpPr>
        <p:sp>
          <p:nvSpPr>
            <p:cNvPr id="20561" name="Text Box 6"/>
            <p:cNvSpPr txBox="1"/>
            <p:nvPr/>
          </p:nvSpPr>
          <p:spPr>
            <a:xfrm>
              <a:off x="432" y="612"/>
              <a:ext cx="33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en-US" sz="2400" b="1" dirty="0">
                  <a:latin typeface="_x0001_" pitchFamily="18" charset="0"/>
                  <a:sym typeface="Webdings" panose="05030102010509060703" pitchFamily="18" charset="2"/>
                </a:rPr>
                <a:t></a:t>
              </a:r>
              <a:r>
                <a:rPr lang="zh-CN" altLang="en-US" sz="2400" b="1" dirty="0">
                  <a:latin typeface="_x0001_" pitchFamily="18" charset="0"/>
                </a:rPr>
                <a:t>在换路后</a:t>
              </a:r>
              <a:r>
                <a:rPr lang="en-US" altLang="zh-CN" sz="2400" b="1" dirty="0">
                  <a:latin typeface="_x0001_" pitchFamily="18" charset="0"/>
                </a:rPr>
                <a:t>(</a:t>
              </a:r>
              <a:r>
                <a:rPr lang="zh-CN" altLang="en-US" sz="2400" b="1" dirty="0">
                  <a:latin typeface="_x0001_" pitchFamily="18" charset="0"/>
                </a:rPr>
                <a:t>即</a:t>
              </a:r>
              <a:r>
                <a:rPr lang="en-US" altLang="en-US" sz="2400" b="1" dirty="0">
                  <a:latin typeface="_x0001_" pitchFamily="18" charset="0"/>
                </a:rPr>
                <a:t>          )</a:t>
              </a:r>
              <a:r>
                <a:rPr lang="zh-CN" altLang="en-US" sz="2400" b="1" dirty="0">
                  <a:latin typeface="_x0001_" pitchFamily="18" charset="0"/>
                </a:rPr>
                <a:t>的电路中求。</a:t>
              </a:r>
              <a:endParaRPr lang="zh-CN" altLang="en-US" sz="2400" b="1" dirty="0">
                <a:latin typeface="_x0001_" pitchFamily="18" charset="0"/>
              </a:endParaRPr>
            </a:p>
          </p:txBody>
        </p:sp>
        <p:graphicFrame>
          <p:nvGraphicFramePr>
            <p:cNvPr id="20562" name="Object 7"/>
            <p:cNvGraphicFramePr>
              <a:graphicFrameLocks noChangeAspect="1"/>
            </p:cNvGraphicFramePr>
            <p:nvPr/>
          </p:nvGraphicFramePr>
          <p:xfrm>
            <a:off x="1707" y="648"/>
            <a:ext cx="496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" imgW="316865" imgH="177800" progId="Equation.3">
                    <p:embed/>
                  </p:oleObj>
                </mc:Choice>
                <mc:Fallback>
                  <p:oleObj name="" r:id="rId1" imgW="316865" imgH="1778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7" y="648"/>
                          <a:ext cx="496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36" name="Text Box 8"/>
          <p:cNvSpPr txBox="1"/>
          <p:nvPr/>
        </p:nvSpPr>
        <p:spPr>
          <a:xfrm>
            <a:off x="533400" y="1514475"/>
            <a:ext cx="8458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_x0001_" pitchFamily="18" charset="0"/>
                <a:sym typeface="Webdings" panose="05030102010509060703" pitchFamily="18" charset="2"/>
              </a:rPr>
              <a:t></a:t>
            </a:r>
            <a:r>
              <a:rPr lang="en-US" altLang="zh-CN" sz="2400" b="1" dirty="0">
                <a:latin typeface="_x0001_" pitchFamily="18" charset="0"/>
              </a:rPr>
              <a:t>R</a:t>
            </a:r>
            <a:r>
              <a:rPr lang="zh-CN" altLang="zh-CN" sz="2400" b="1" dirty="0">
                <a:latin typeface="_x0001_" pitchFamily="18" charset="0"/>
              </a:rPr>
              <a:t>是从动态元件两端看进去的戴维宁等效电阻</a:t>
            </a:r>
            <a:r>
              <a:rPr lang="zh-CN" altLang="en-US" sz="2400" b="1" dirty="0">
                <a:latin typeface="_x0001_" pitchFamily="18" charset="0"/>
              </a:rPr>
              <a:t>。</a:t>
            </a:r>
            <a:endParaRPr lang="zh-CN" altLang="en-US" sz="2400" b="1" dirty="0">
              <a:latin typeface="_x0001_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/>
      <p:bldP spid="1505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27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ffectLst/>
              </a:rPr>
              <a:t>  7.3</a:t>
            </a:r>
            <a:r>
              <a:rPr lang="zh-CN" altLang="en-US" sz="3600" dirty="0">
                <a:effectLst/>
              </a:rPr>
              <a:t>一阶电路的零状态响应</a:t>
            </a:r>
            <a:endParaRPr lang="zh-CN" altLang="en-US" sz="3600" dirty="0">
              <a:effectLst/>
            </a:endParaRPr>
          </a:p>
        </p:txBody>
      </p:sp>
      <p:sp>
        <p:nvSpPr>
          <p:cNvPr id="153661" name="Text Box 61"/>
          <p:cNvSpPr txBox="1"/>
          <p:nvPr/>
        </p:nvSpPr>
        <p:spPr>
          <a:xfrm>
            <a:off x="20638" y="1730375"/>
            <a:ext cx="4765675" cy="52228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.RC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电路零状态响应 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62" name="Text Box 62"/>
          <p:cNvSpPr txBox="1"/>
          <p:nvPr/>
        </p:nvSpPr>
        <p:spPr>
          <a:xfrm>
            <a:off x="285750" y="663575"/>
            <a:ext cx="8675688" cy="95408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动态元件本身没有储能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(0)=0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(0)=0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。响应仅与外加激励有关。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64"/>
          <p:cNvGrpSpPr/>
          <p:nvPr/>
        </p:nvGrpSpPr>
        <p:grpSpPr>
          <a:xfrm>
            <a:off x="285750" y="2590800"/>
            <a:ext cx="5559425" cy="1600200"/>
            <a:chOff x="398" y="2434"/>
            <a:chExt cx="3502" cy="1008"/>
          </a:xfrm>
        </p:grpSpPr>
        <p:sp>
          <p:nvSpPr>
            <p:cNvPr id="22570" name="Line 65"/>
            <p:cNvSpPr/>
            <p:nvPr/>
          </p:nvSpPr>
          <p:spPr>
            <a:xfrm>
              <a:off x="988" y="3405"/>
              <a:ext cx="203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1" name="Line 66"/>
            <p:cNvSpPr/>
            <p:nvPr/>
          </p:nvSpPr>
          <p:spPr>
            <a:xfrm>
              <a:off x="2035" y="2566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2" name="Line 67"/>
            <p:cNvSpPr/>
            <p:nvPr/>
          </p:nvSpPr>
          <p:spPr>
            <a:xfrm>
              <a:off x="2035" y="3046"/>
              <a:ext cx="0" cy="3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3" name="Line 68"/>
            <p:cNvSpPr/>
            <p:nvPr/>
          </p:nvSpPr>
          <p:spPr>
            <a:xfrm>
              <a:off x="1939" y="2912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4" name="Line 69"/>
            <p:cNvSpPr/>
            <p:nvPr/>
          </p:nvSpPr>
          <p:spPr>
            <a:xfrm>
              <a:off x="1939" y="3030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5" name="Rectangle 70"/>
            <p:cNvSpPr/>
            <p:nvPr/>
          </p:nvSpPr>
          <p:spPr>
            <a:xfrm>
              <a:off x="2957" y="2828"/>
              <a:ext cx="11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76" name="Line 71"/>
            <p:cNvSpPr/>
            <p:nvPr/>
          </p:nvSpPr>
          <p:spPr>
            <a:xfrm flipH="1">
              <a:off x="3005" y="3145"/>
              <a:ext cx="0" cy="2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7" name="Line 72"/>
            <p:cNvSpPr/>
            <p:nvPr/>
          </p:nvSpPr>
          <p:spPr>
            <a:xfrm flipV="1">
              <a:off x="3005" y="2576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8" name="Text Box 73"/>
            <p:cNvSpPr txBox="1"/>
            <p:nvPr/>
          </p:nvSpPr>
          <p:spPr>
            <a:xfrm>
              <a:off x="2041" y="2660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2579" name="Text Box 74"/>
            <p:cNvSpPr txBox="1"/>
            <p:nvPr/>
          </p:nvSpPr>
          <p:spPr>
            <a:xfrm>
              <a:off x="1732" y="2846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C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2580" name="Text Box 75"/>
            <p:cNvSpPr txBox="1"/>
            <p:nvPr/>
          </p:nvSpPr>
          <p:spPr>
            <a:xfrm>
              <a:off x="2721" y="2846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2581" name="Line 76"/>
            <p:cNvSpPr/>
            <p:nvPr/>
          </p:nvSpPr>
          <p:spPr>
            <a:xfrm flipH="1">
              <a:off x="2035" y="2470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2" name="Text Box 77"/>
            <p:cNvSpPr txBox="1"/>
            <p:nvPr/>
          </p:nvSpPr>
          <p:spPr>
            <a:xfrm>
              <a:off x="1603" y="2463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2583" name="Line 78"/>
            <p:cNvSpPr/>
            <p:nvPr/>
          </p:nvSpPr>
          <p:spPr>
            <a:xfrm>
              <a:off x="988" y="2470"/>
              <a:ext cx="201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4" name="Text Box 79"/>
            <p:cNvSpPr txBox="1"/>
            <p:nvPr/>
          </p:nvSpPr>
          <p:spPr>
            <a:xfrm>
              <a:off x="2150" y="2766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sp>
          <p:nvSpPr>
            <p:cNvPr id="22585" name="Line 80"/>
            <p:cNvSpPr/>
            <p:nvPr/>
          </p:nvSpPr>
          <p:spPr>
            <a:xfrm>
              <a:off x="3005" y="2463"/>
              <a:ext cx="0" cy="25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6" name="Text Box 81"/>
            <p:cNvSpPr txBox="1"/>
            <p:nvPr/>
          </p:nvSpPr>
          <p:spPr>
            <a:xfrm>
              <a:off x="3003" y="2481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R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grpSp>
          <p:nvGrpSpPr>
            <p:cNvPr id="22587" name="Group 82"/>
            <p:cNvGrpSpPr/>
            <p:nvPr/>
          </p:nvGrpSpPr>
          <p:grpSpPr>
            <a:xfrm>
              <a:off x="849" y="2766"/>
              <a:ext cx="282" cy="331"/>
              <a:chOff x="4686" y="3293"/>
              <a:chExt cx="354" cy="331"/>
            </a:xfrm>
          </p:grpSpPr>
          <p:sp>
            <p:nvSpPr>
              <p:cNvPr id="22602" name="Oval 83"/>
              <p:cNvSpPr/>
              <p:nvPr/>
            </p:nvSpPr>
            <p:spPr>
              <a:xfrm>
                <a:off x="4686" y="3293"/>
                <a:ext cx="354" cy="331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03" name="Line 84"/>
              <p:cNvSpPr/>
              <p:nvPr/>
            </p:nvSpPr>
            <p:spPr>
              <a:xfrm flipV="1">
                <a:off x="4686" y="3461"/>
                <a:ext cx="354" cy="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588" name="Line 85"/>
            <p:cNvSpPr/>
            <p:nvPr/>
          </p:nvSpPr>
          <p:spPr>
            <a:xfrm>
              <a:off x="988" y="3097"/>
              <a:ext cx="0" cy="3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9" name="Line 86"/>
            <p:cNvSpPr/>
            <p:nvPr/>
          </p:nvSpPr>
          <p:spPr>
            <a:xfrm>
              <a:off x="988" y="247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0" name="Line 87"/>
            <p:cNvSpPr/>
            <p:nvPr/>
          </p:nvSpPr>
          <p:spPr>
            <a:xfrm>
              <a:off x="1422" y="2463"/>
              <a:ext cx="0" cy="3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1" name="Line 88"/>
            <p:cNvSpPr/>
            <p:nvPr/>
          </p:nvSpPr>
          <p:spPr>
            <a:xfrm>
              <a:off x="1422" y="3046"/>
              <a:ext cx="0" cy="3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2" name="Oval 89"/>
            <p:cNvSpPr/>
            <p:nvPr/>
          </p:nvSpPr>
          <p:spPr>
            <a:xfrm>
              <a:off x="1394" y="2965"/>
              <a:ext cx="59" cy="7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93" name="Oval 90"/>
            <p:cNvSpPr/>
            <p:nvPr/>
          </p:nvSpPr>
          <p:spPr>
            <a:xfrm>
              <a:off x="1393" y="2756"/>
              <a:ext cx="59" cy="7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94" name="Oval 91"/>
            <p:cNvSpPr/>
            <p:nvPr/>
          </p:nvSpPr>
          <p:spPr>
            <a:xfrm>
              <a:off x="1394" y="2434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95" name="Oval 92"/>
            <p:cNvSpPr/>
            <p:nvPr/>
          </p:nvSpPr>
          <p:spPr>
            <a:xfrm>
              <a:off x="2001" y="3365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96" name="Oval 93"/>
            <p:cNvSpPr/>
            <p:nvPr/>
          </p:nvSpPr>
          <p:spPr>
            <a:xfrm>
              <a:off x="1394" y="3365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97" name="Oval 94"/>
            <p:cNvSpPr/>
            <p:nvPr/>
          </p:nvSpPr>
          <p:spPr>
            <a:xfrm>
              <a:off x="1995" y="2435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98" name="Line 95"/>
            <p:cNvSpPr/>
            <p:nvPr/>
          </p:nvSpPr>
          <p:spPr>
            <a:xfrm>
              <a:off x="1422" y="2828"/>
              <a:ext cx="0" cy="1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9" name="Text Box 96"/>
            <p:cNvSpPr txBox="1"/>
            <p:nvPr/>
          </p:nvSpPr>
          <p:spPr>
            <a:xfrm>
              <a:off x="1206" y="2754"/>
              <a:ext cx="39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S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2600" name="Text Box 97"/>
            <p:cNvSpPr txBox="1"/>
            <p:nvPr/>
          </p:nvSpPr>
          <p:spPr>
            <a:xfrm>
              <a:off x="398" y="2486"/>
              <a:ext cx="73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i</a:t>
              </a:r>
              <a:r>
                <a:rPr lang="en-US" altLang="zh-CN" sz="2400" b="1" baseline="-25000" dirty="0">
                  <a:latin typeface="_x0001_" pitchFamily="18" charset="0"/>
                </a:rPr>
                <a:t>s</a:t>
              </a:r>
              <a:r>
                <a:rPr lang="en-US" altLang="zh-CN" sz="2400" b="1" dirty="0">
                  <a:latin typeface="_x0001_" pitchFamily="18" charset="0"/>
                </a:rPr>
                <a:t>(t)=I</a:t>
              </a:r>
              <a:r>
                <a:rPr lang="en-US" altLang="zh-CN" sz="2400" b="1" baseline="-25000" dirty="0">
                  <a:latin typeface="_x0001_" pitchFamily="18" charset="0"/>
                </a:rPr>
                <a:t>s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2601" name="Line 98"/>
            <p:cNvSpPr/>
            <p:nvPr/>
          </p:nvSpPr>
          <p:spPr>
            <a:xfrm flipV="1">
              <a:off x="988" y="2576"/>
              <a:ext cx="0" cy="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3699" name="Line 99"/>
          <p:cNvSpPr/>
          <p:nvPr/>
        </p:nvSpPr>
        <p:spPr>
          <a:xfrm flipV="1">
            <a:off x="1568450" y="3187700"/>
            <a:ext cx="630238" cy="2921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00" name="Text Box 100"/>
          <p:cNvSpPr txBox="1"/>
          <p:nvPr/>
        </p:nvSpPr>
        <p:spPr>
          <a:xfrm>
            <a:off x="5486400" y="2827338"/>
            <a:ext cx="3116263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t = 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时,开关打开。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103"/>
          <p:cNvGrpSpPr/>
          <p:nvPr/>
        </p:nvGrpSpPr>
        <p:grpSpPr>
          <a:xfrm>
            <a:off x="0" y="4649788"/>
            <a:ext cx="5073650" cy="1598612"/>
            <a:chOff x="1076" y="758"/>
            <a:chExt cx="3196" cy="1007"/>
          </a:xfrm>
        </p:grpSpPr>
        <p:sp>
          <p:nvSpPr>
            <p:cNvPr id="22543" name="Line 104"/>
            <p:cNvSpPr/>
            <p:nvPr/>
          </p:nvSpPr>
          <p:spPr>
            <a:xfrm>
              <a:off x="1666" y="1728"/>
              <a:ext cx="17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4" name="Line 105"/>
            <p:cNvSpPr/>
            <p:nvPr/>
          </p:nvSpPr>
          <p:spPr>
            <a:xfrm>
              <a:off x="2407" y="889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5" name="Line 106"/>
            <p:cNvSpPr/>
            <p:nvPr/>
          </p:nvSpPr>
          <p:spPr>
            <a:xfrm>
              <a:off x="2407" y="1369"/>
              <a:ext cx="0" cy="3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6" name="Line 107"/>
            <p:cNvSpPr/>
            <p:nvPr/>
          </p:nvSpPr>
          <p:spPr>
            <a:xfrm>
              <a:off x="2311" y="1235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7" name="Line 108"/>
            <p:cNvSpPr/>
            <p:nvPr/>
          </p:nvSpPr>
          <p:spPr>
            <a:xfrm>
              <a:off x="2311" y="1353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8" name="Rectangle 109"/>
            <p:cNvSpPr/>
            <p:nvPr/>
          </p:nvSpPr>
          <p:spPr>
            <a:xfrm>
              <a:off x="3329" y="1151"/>
              <a:ext cx="11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49" name="Line 110"/>
            <p:cNvSpPr/>
            <p:nvPr/>
          </p:nvSpPr>
          <p:spPr>
            <a:xfrm flipH="1">
              <a:off x="3377" y="1468"/>
              <a:ext cx="0" cy="2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0" name="Line 111"/>
            <p:cNvSpPr/>
            <p:nvPr/>
          </p:nvSpPr>
          <p:spPr>
            <a:xfrm flipV="1">
              <a:off x="3377" y="899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1" name="Text Box 112"/>
            <p:cNvSpPr txBox="1"/>
            <p:nvPr/>
          </p:nvSpPr>
          <p:spPr>
            <a:xfrm>
              <a:off x="2413" y="983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2552" name="Text Box 113"/>
            <p:cNvSpPr txBox="1"/>
            <p:nvPr/>
          </p:nvSpPr>
          <p:spPr>
            <a:xfrm>
              <a:off x="2104" y="1169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C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2553" name="Text Box 114"/>
            <p:cNvSpPr txBox="1"/>
            <p:nvPr/>
          </p:nvSpPr>
          <p:spPr>
            <a:xfrm>
              <a:off x="3093" y="1169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2554" name="Line 115"/>
            <p:cNvSpPr/>
            <p:nvPr/>
          </p:nvSpPr>
          <p:spPr>
            <a:xfrm flipH="1">
              <a:off x="2407" y="793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55" name="Text Box 116"/>
            <p:cNvSpPr txBox="1"/>
            <p:nvPr/>
          </p:nvSpPr>
          <p:spPr>
            <a:xfrm>
              <a:off x="1975" y="786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2556" name="Line 117"/>
            <p:cNvSpPr/>
            <p:nvPr/>
          </p:nvSpPr>
          <p:spPr>
            <a:xfrm flipV="1">
              <a:off x="1666" y="793"/>
              <a:ext cx="1709" cy="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7" name="Text Box 118"/>
            <p:cNvSpPr txBox="1"/>
            <p:nvPr/>
          </p:nvSpPr>
          <p:spPr>
            <a:xfrm>
              <a:off x="2522" y="1089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sp>
          <p:nvSpPr>
            <p:cNvPr id="22558" name="Line 119"/>
            <p:cNvSpPr/>
            <p:nvPr/>
          </p:nvSpPr>
          <p:spPr>
            <a:xfrm>
              <a:off x="3377" y="786"/>
              <a:ext cx="0" cy="25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59" name="Text Box 120"/>
            <p:cNvSpPr txBox="1"/>
            <p:nvPr/>
          </p:nvSpPr>
          <p:spPr>
            <a:xfrm>
              <a:off x="3375" y="804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R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2560" name="Oval 121"/>
            <p:cNvSpPr/>
            <p:nvPr/>
          </p:nvSpPr>
          <p:spPr>
            <a:xfrm>
              <a:off x="2373" y="168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1" name="Oval 122"/>
            <p:cNvSpPr/>
            <p:nvPr/>
          </p:nvSpPr>
          <p:spPr>
            <a:xfrm>
              <a:off x="2367" y="75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2562" name="Group 123"/>
            <p:cNvGrpSpPr/>
            <p:nvPr/>
          </p:nvGrpSpPr>
          <p:grpSpPr>
            <a:xfrm>
              <a:off x="1076" y="793"/>
              <a:ext cx="733" cy="935"/>
              <a:chOff x="770" y="793"/>
              <a:chExt cx="733" cy="935"/>
            </a:xfrm>
          </p:grpSpPr>
          <p:grpSp>
            <p:nvGrpSpPr>
              <p:cNvPr id="22563" name="Group 124"/>
              <p:cNvGrpSpPr/>
              <p:nvPr/>
            </p:nvGrpSpPr>
            <p:grpSpPr>
              <a:xfrm>
                <a:off x="1221" y="1089"/>
                <a:ext cx="282" cy="331"/>
                <a:chOff x="4686" y="3293"/>
                <a:chExt cx="354" cy="331"/>
              </a:xfrm>
            </p:grpSpPr>
            <p:sp>
              <p:nvSpPr>
                <p:cNvPr id="22568" name="Oval 125"/>
                <p:cNvSpPr/>
                <p:nvPr/>
              </p:nvSpPr>
              <p:spPr>
                <a:xfrm>
                  <a:off x="4686" y="3293"/>
                  <a:ext cx="354" cy="331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69" name="Line 126"/>
                <p:cNvSpPr/>
                <p:nvPr/>
              </p:nvSpPr>
              <p:spPr>
                <a:xfrm flipV="1">
                  <a:off x="4686" y="3461"/>
                  <a:ext cx="354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564" name="Line 127"/>
              <p:cNvSpPr/>
              <p:nvPr/>
            </p:nvSpPr>
            <p:spPr>
              <a:xfrm>
                <a:off x="1360" y="1420"/>
                <a:ext cx="0" cy="3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5" name="Line 128"/>
              <p:cNvSpPr/>
              <p:nvPr/>
            </p:nvSpPr>
            <p:spPr>
              <a:xfrm>
                <a:off x="1360" y="793"/>
                <a:ext cx="0" cy="2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6" name="Text Box 129"/>
              <p:cNvSpPr txBox="1"/>
              <p:nvPr/>
            </p:nvSpPr>
            <p:spPr>
              <a:xfrm>
                <a:off x="770" y="809"/>
                <a:ext cx="73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r>
                  <a:rPr lang="en-US" altLang="zh-CN" sz="2400" b="1" dirty="0">
                    <a:latin typeface="_x0001_" pitchFamily="18" charset="0"/>
                  </a:rPr>
                  <a:t>(t)=I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2567" name="Line 130"/>
              <p:cNvSpPr/>
              <p:nvPr/>
            </p:nvSpPr>
            <p:spPr>
              <a:xfrm flipV="1">
                <a:off x="1360" y="89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153731" name="Text Box 131"/>
          <p:cNvSpPr txBox="1"/>
          <p:nvPr/>
        </p:nvSpPr>
        <p:spPr>
          <a:xfrm>
            <a:off x="4959350" y="3817938"/>
            <a:ext cx="438785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_x0001_" pitchFamily="18" charset="0"/>
              </a:rPr>
              <a:t>因电容上的电压不能突变</a:t>
            </a:r>
            <a:endParaRPr lang="zh-CN" altLang="en-US" sz="2400" b="1" dirty="0">
              <a:latin typeface="_x0001_" pitchFamily="18" charset="0"/>
            </a:endParaRPr>
          </a:p>
        </p:txBody>
      </p:sp>
      <p:graphicFrame>
        <p:nvGraphicFramePr>
          <p:cNvPr id="153732" name="Object 132"/>
          <p:cNvGraphicFramePr>
            <a:graphicFrameLocks noChangeAspect="1"/>
          </p:cNvGraphicFramePr>
          <p:nvPr/>
        </p:nvGraphicFramePr>
        <p:xfrm>
          <a:off x="5062538" y="4343400"/>
          <a:ext cx="29384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1295400" imgH="228600" progId="Equation.3">
                  <p:embed/>
                </p:oleObj>
              </mc:Choice>
              <mc:Fallback>
                <p:oleObj name="" r:id="rId1" imgW="12954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062538" y="4343400"/>
                        <a:ext cx="2938462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33"/>
          <p:cNvGrpSpPr/>
          <p:nvPr/>
        </p:nvGrpSpPr>
        <p:grpSpPr>
          <a:xfrm>
            <a:off x="1143000" y="5035550"/>
            <a:ext cx="460375" cy="922338"/>
            <a:chOff x="899" y="2836"/>
            <a:chExt cx="435" cy="799"/>
          </a:xfrm>
        </p:grpSpPr>
        <p:sp>
          <p:nvSpPr>
            <p:cNvPr id="22541" name="Arc 134"/>
            <p:cNvSpPr/>
            <p:nvPr/>
          </p:nvSpPr>
          <p:spPr>
            <a:xfrm>
              <a:off x="899" y="2836"/>
              <a:ext cx="435" cy="654"/>
            </a:xfrm>
            <a:custGeom>
              <a:avLst/>
              <a:gdLst>
                <a:gd name="txL" fmla="*/ 0 w 21376"/>
                <a:gd name="txT" fmla="*/ 0 h 21600"/>
                <a:gd name="txR" fmla="*/ 21376 w 21376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376" h="21600" fill="none">
                  <a:moveTo>
                    <a:pt x="-1" y="0"/>
                  </a:moveTo>
                  <a:cubicBezTo>
                    <a:pt x="10731" y="0"/>
                    <a:pt x="19834" y="7878"/>
                    <a:pt x="21376" y="18497"/>
                  </a:cubicBezTo>
                </a:path>
                <a:path w="21376" h="21600" stroke="0">
                  <a:moveTo>
                    <a:pt x="-1" y="0"/>
                  </a:moveTo>
                  <a:cubicBezTo>
                    <a:pt x="10731" y="0"/>
                    <a:pt x="19834" y="7878"/>
                    <a:pt x="21376" y="184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42" name="Line 135"/>
            <p:cNvSpPr/>
            <p:nvPr/>
          </p:nvSpPr>
          <p:spPr>
            <a:xfrm>
              <a:off x="1321" y="3290"/>
              <a:ext cx="0" cy="345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3736" name="Text Box 136"/>
          <p:cNvSpPr txBox="1"/>
          <p:nvPr/>
        </p:nvSpPr>
        <p:spPr>
          <a:xfrm>
            <a:off x="4708525" y="5059363"/>
            <a:ext cx="4283075" cy="11144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 b="1" dirty="0">
                <a:latin typeface="_x0001_" pitchFamily="18" charset="0"/>
              </a:rPr>
              <a:t>∴t =0</a:t>
            </a:r>
            <a:r>
              <a:rPr lang="en-US" altLang="zh-CN" sz="2400" b="1" baseline="-25000" dirty="0">
                <a:latin typeface="_x0001_" pitchFamily="18" charset="0"/>
              </a:rPr>
              <a:t>+</a:t>
            </a:r>
            <a:r>
              <a:rPr lang="zh-CN" altLang="en-US" sz="2400" b="1" dirty="0">
                <a:latin typeface="_x0001_" pitchFamily="18" charset="0"/>
              </a:rPr>
              <a:t>时， </a:t>
            </a:r>
            <a:r>
              <a:rPr lang="en-US" altLang="zh-CN" sz="2400" b="1" dirty="0">
                <a:latin typeface="_x0001_" pitchFamily="18" charset="0"/>
              </a:rPr>
              <a:t>R</a:t>
            </a:r>
            <a:r>
              <a:rPr lang="zh-CN" altLang="en-US" sz="2400" b="1" dirty="0">
                <a:latin typeface="_x0001_" pitchFamily="18" charset="0"/>
              </a:rPr>
              <a:t>上没有电流，全部电流都流过</a:t>
            </a:r>
            <a:r>
              <a:rPr lang="en-US" altLang="zh-CN" sz="2400" b="1" dirty="0">
                <a:latin typeface="_x0001_" pitchFamily="18" charset="0"/>
              </a:rPr>
              <a:t>C</a:t>
            </a:r>
            <a:r>
              <a:rPr lang="zh-CN" altLang="en-US" sz="2400" b="1" dirty="0">
                <a:latin typeface="_x0001_" pitchFamily="18" charset="0"/>
              </a:rPr>
              <a:t>，使</a:t>
            </a:r>
            <a:r>
              <a:rPr lang="en-US" altLang="zh-CN" sz="2400" b="1" dirty="0">
                <a:latin typeface="_x0001_" pitchFamily="18" charset="0"/>
              </a:rPr>
              <a:t>C</a:t>
            </a:r>
            <a:r>
              <a:rPr lang="zh-CN" altLang="en-US" sz="2400" b="1" dirty="0">
                <a:latin typeface="_x0001_" pitchFamily="18" charset="0"/>
              </a:rPr>
              <a:t>充电。</a:t>
            </a:r>
            <a:endParaRPr lang="zh-CN" altLang="en-US" sz="2400" b="1" dirty="0">
              <a:latin typeface="_x0001_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536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61" grpId="0"/>
      <p:bldP spid="153662" grpId="0"/>
      <p:bldP spid="153700" grpId="0"/>
      <p:bldP spid="153731" grpId="0"/>
      <p:bldP spid="1537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4628" name="Object 4"/>
          <p:cNvGraphicFramePr>
            <a:graphicFrameLocks noChangeAspect="1"/>
          </p:cNvGraphicFramePr>
          <p:nvPr/>
        </p:nvGraphicFramePr>
        <p:xfrm>
          <a:off x="296863" y="152400"/>
          <a:ext cx="29797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1218565" imgH="393700" progId="Equation.3">
                  <p:embed/>
                </p:oleObj>
              </mc:Choice>
              <mc:Fallback>
                <p:oleObj name="" r:id="rId1" imgW="1218565" imgH="3937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96863" y="152400"/>
                        <a:ext cx="2979737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29" name="Text Box 5"/>
          <p:cNvSpPr txBox="1"/>
          <p:nvPr/>
        </p:nvSpPr>
        <p:spPr>
          <a:xfrm>
            <a:off x="220663" y="1858963"/>
            <a:ext cx="8770937" cy="12890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</a:rPr>
              <a:t>∴t →∞</a:t>
            </a:r>
            <a:r>
              <a:rPr lang="zh-CN" altLang="en-US" sz="2800" b="1" dirty="0">
                <a:latin typeface="_x0001_" pitchFamily="18" charset="0"/>
              </a:rPr>
              <a:t>时</a:t>
            </a:r>
            <a:r>
              <a:rPr lang="en-US" altLang="zh-CN" sz="2800" b="1" dirty="0">
                <a:latin typeface="_x0001_" pitchFamily="18" charset="0"/>
              </a:rPr>
              <a:t>,C</a:t>
            </a:r>
            <a:r>
              <a:rPr lang="zh-CN" altLang="en-US" sz="2800" b="1" dirty="0">
                <a:latin typeface="_x0001_" pitchFamily="18" charset="0"/>
              </a:rPr>
              <a:t>上没有电流，</a:t>
            </a:r>
            <a:r>
              <a:rPr lang="en-US" altLang="zh-CN" sz="2800" b="1" dirty="0">
                <a:latin typeface="_x0001_" pitchFamily="18" charset="0"/>
              </a:rPr>
              <a:t>u</a:t>
            </a:r>
            <a:r>
              <a:rPr lang="en-US" altLang="zh-CN" sz="2800" b="1" baseline="-25000" dirty="0">
                <a:latin typeface="_x0001_" pitchFamily="18" charset="0"/>
              </a:rPr>
              <a:t>C</a:t>
            </a:r>
            <a:r>
              <a:rPr lang="zh-CN" altLang="zh-CN" sz="2800" b="1" dirty="0">
                <a:latin typeface="_x0001_" pitchFamily="18" charset="0"/>
              </a:rPr>
              <a:t>恒定，</a:t>
            </a:r>
            <a:r>
              <a:rPr lang="en-US" altLang="zh-CN" sz="2800" b="1" dirty="0">
                <a:latin typeface="_x0001_" pitchFamily="18" charset="0"/>
              </a:rPr>
              <a:t>C</a:t>
            </a:r>
            <a:r>
              <a:rPr lang="zh-CN" altLang="en-US" sz="2800" b="1" dirty="0">
                <a:latin typeface="_x0001_" pitchFamily="18" charset="0"/>
              </a:rPr>
              <a:t>相当与开路，全部的电流都流过</a:t>
            </a:r>
            <a:r>
              <a:rPr lang="en-US" altLang="zh-CN" sz="2800" b="1" dirty="0">
                <a:latin typeface="_x0001_" pitchFamily="18" charset="0"/>
              </a:rPr>
              <a:t>R</a:t>
            </a:r>
            <a:r>
              <a:rPr lang="zh-CN" altLang="en-US" sz="2800" b="1" dirty="0">
                <a:latin typeface="_x0001_" pitchFamily="18" charset="0"/>
              </a:rPr>
              <a:t>。</a:t>
            </a:r>
            <a:endParaRPr lang="zh-CN" altLang="en-US" sz="2800" b="1" dirty="0">
              <a:latin typeface="_x0001_" pitchFamily="18" charset="0"/>
            </a:endParaRPr>
          </a:p>
        </p:txBody>
      </p:sp>
      <p:graphicFrame>
        <p:nvGraphicFramePr>
          <p:cNvPr id="154630" name="Object 6"/>
          <p:cNvGraphicFramePr>
            <a:graphicFrameLocks noChangeAspect="1"/>
          </p:cNvGraphicFramePr>
          <p:nvPr/>
        </p:nvGraphicFramePr>
        <p:xfrm>
          <a:off x="4800600" y="1181100"/>
          <a:ext cx="1206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482600" imgH="228600" progId="Equation.3">
                  <p:embed/>
                </p:oleObj>
              </mc:Choice>
              <mc:Fallback>
                <p:oleObj name="" r:id="rId3" imgW="482600" imgH="2286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00600" y="1181100"/>
                        <a:ext cx="12065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/>
          <p:cNvGraphicFramePr>
            <a:graphicFrameLocks noChangeAspect="1"/>
          </p:cNvGraphicFramePr>
          <p:nvPr/>
        </p:nvGraphicFramePr>
        <p:xfrm>
          <a:off x="4343400" y="1219200"/>
          <a:ext cx="3508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139700" imgH="203200" progId="Equation.3">
                  <p:embed/>
                </p:oleObj>
              </mc:Choice>
              <mc:Fallback>
                <p:oleObj name="" r:id="rId5" imgW="139700" imgH="2032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1219200"/>
                        <a:ext cx="350838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2" name="Object 8"/>
          <p:cNvGraphicFramePr>
            <a:graphicFrameLocks noChangeAspect="1"/>
          </p:cNvGraphicFramePr>
          <p:nvPr/>
        </p:nvGraphicFramePr>
        <p:xfrm>
          <a:off x="6096000" y="1219200"/>
          <a:ext cx="3508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7" imgW="139700" imgH="203200" progId="Equation.3">
                  <p:embed/>
                </p:oleObj>
              </mc:Choice>
              <mc:Fallback>
                <p:oleObj name="" r:id="rId7" imgW="139700" imgH="2032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96000" y="1219200"/>
                        <a:ext cx="350838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3" name="Object 9"/>
          <p:cNvGraphicFramePr>
            <a:graphicFrameLocks noChangeAspect="1"/>
          </p:cNvGraphicFramePr>
          <p:nvPr/>
        </p:nvGraphicFramePr>
        <p:xfrm>
          <a:off x="6553200" y="1181100"/>
          <a:ext cx="19383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9" imgW="774065" imgH="228600" progId="Equation.3">
                  <p:embed/>
                </p:oleObj>
              </mc:Choice>
              <mc:Fallback>
                <p:oleObj name="" r:id="rId9" imgW="774065" imgH="2286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553200" y="1181100"/>
                        <a:ext cx="1938338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4" name="Object 10"/>
          <p:cNvGraphicFramePr>
            <a:graphicFrameLocks noChangeAspect="1"/>
          </p:cNvGraphicFramePr>
          <p:nvPr/>
        </p:nvGraphicFramePr>
        <p:xfrm>
          <a:off x="1879600" y="990600"/>
          <a:ext cx="23876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1" imgW="951865" imgH="393700" progId="Equation.3">
                  <p:embed/>
                </p:oleObj>
              </mc:Choice>
              <mc:Fallback>
                <p:oleObj name="" r:id="rId11" imgW="951865" imgH="3937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879600" y="990600"/>
                        <a:ext cx="2387600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5" name="Object 11"/>
          <p:cNvGraphicFramePr>
            <a:graphicFrameLocks noChangeAspect="1"/>
          </p:cNvGraphicFramePr>
          <p:nvPr/>
        </p:nvGraphicFramePr>
        <p:xfrm>
          <a:off x="1447800" y="1246188"/>
          <a:ext cx="3508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3" imgW="139700" imgH="203200" progId="Equation.3">
                  <p:embed/>
                </p:oleObj>
              </mc:Choice>
              <mc:Fallback>
                <p:oleObj name="" r:id="rId13" imgW="139700" imgH="2032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1246188"/>
                        <a:ext cx="350838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6" name="Object 12"/>
          <p:cNvGraphicFramePr>
            <a:graphicFrameLocks noChangeAspect="1"/>
          </p:cNvGraphicFramePr>
          <p:nvPr/>
        </p:nvGraphicFramePr>
        <p:xfrm>
          <a:off x="466725" y="1247775"/>
          <a:ext cx="8556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4" imgW="342900" imgH="228600" progId="Equation.3">
                  <p:embed/>
                </p:oleObj>
              </mc:Choice>
              <mc:Fallback>
                <p:oleObj name="" r:id="rId14" imgW="342900" imgH="2286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5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66725" y="1247775"/>
                        <a:ext cx="85566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/>
          <p:nvPr/>
        </p:nvGrpSpPr>
        <p:grpSpPr>
          <a:xfrm>
            <a:off x="4406900" y="2819400"/>
            <a:ext cx="5314950" cy="1598613"/>
            <a:chOff x="924" y="758"/>
            <a:chExt cx="3348" cy="1007"/>
          </a:xfrm>
        </p:grpSpPr>
        <p:sp>
          <p:nvSpPr>
            <p:cNvPr id="24601" name="Line 14"/>
            <p:cNvSpPr/>
            <p:nvPr/>
          </p:nvSpPr>
          <p:spPr>
            <a:xfrm>
              <a:off x="1666" y="1728"/>
              <a:ext cx="17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2" name="Line 15"/>
            <p:cNvSpPr/>
            <p:nvPr/>
          </p:nvSpPr>
          <p:spPr>
            <a:xfrm>
              <a:off x="2407" y="889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3" name="Line 16"/>
            <p:cNvSpPr/>
            <p:nvPr/>
          </p:nvSpPr>
          <p:spPr>
            <a:xfrm>
              <a:off x="2407" y="1369"/>
              <a:ext cx="0" cy="3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4" name="Line 17"/>
            <p:cNvSpPr/>
            <p:nvPr/>
          </p:nvSpPr>
          <p:spPr>
            <a:xfrm>
              <a:off x="2311" y="1235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5" name="Line 18"/>
            <p:cNvSpPr/>
            <p:nvPr/>
          </p:nvSpPr>
          <p:spPr>
            <a:xfrm>
              <a:off x="2311" y="1353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6" name="Rectangle 19"/>
            <p:cNvSpPr/>
            <p:nvPr/>
          </p:nvSpPr>
          <p:spPr>
            <a:xfrm>
              <a:off x="3329" y="1151"/>
              <a:ext cx="11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07" name="Line 20"/>
            <p:cNvSpPr/>
            <p:nvPr/>
          </p:nvSpPr>
          <p:spPr>
            <a:xfrm flipH="1">
              <a:off x="3377" y="1468"/>
              <a:ext cx="0" cy="2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8" name="Line 21"/>
            <p:cNvSpPr/>
            <p:nvPr/>
          </p:nvSpPr>
          <p:spPr>
            <a:xfrm flipV="1">
              <a:off x="3377" y="899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9" name="Text Box 22"/>
            <p:cNvSpPr txBox="1"/>
            <p:nvPr/>
          </p:nvSpPr>
          <p:spPr>
            <a:xfrm>
              <a:off x="2413" y="983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4610" name="Text Box 23"/>
            <p:cNvSpPr txBox="1"/>
            <p:nvPr/>
          </p:nvSpPr>
          <p:spPr>
            <a:xfrm>
              <a:off x="2104" y="1169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C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4611" name="Text Box 24"/>
            <p:cNvSpPr txBox="1"/>
            <p:nvPr/>
          </p:nvSpPr>
          <p:spPr>
            <a:xfrm>
              <a:off x="3093" y="1169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4612" name="Line 25"/>
            <p:cNvSpPr/>
            <p:nvPr/>
          </p:nvSpPr>
          <p:spPr>
            <a:xfrm flipH="1">
              <a:off x="2407" y="793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13" name="Text Box 26"/>
            <p:cNvSpPr txBox="1"/>
            <p:nvPr/>
          </p:nvSpPr>
          <p:spPr>
            <a:xfrm>
              <a:off x="1975" y="786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4614" name="Line 27"/>
            <p:cNvSpPr/>
            <p:nvPr/>
          </p:nvSpPr>
          <p:spPr>
            <a:xfrm flipV="1">
              <a:off x="1666" y="793"/>
              <a:ext cx="1709" cy="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5" name="Text Box 28"/>
            <p:cNvSpPr txBox="1"/>
            <p:nvPr/>
          </p:nvSpPr>
          <p:spPr>
            <a:xfrm>
              <a:off x="2522" y="1089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sp>
          <p:nvSpPr>
            <p:cNvPr id="24616" name="Line 29"/>
            <p:cNvSpPr/>
            <p:nvPr/>
          </p:nvSpPr>
          <p:spPr>
            <a:xfrm>
              <a:off x="3377" y="786"/>
              <a:ext cx="0" cy="25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17" name="Text Box 30"/>
            <p:cNvSpPr txBox="1"/>
            <p:nvPr/>
          </p:nvSpPr>
          <p:spPr>
            <a:xfrm>
              <a:off x="3375" y="804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R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4618" name="Oval 31"/>
            <p:cNvSpPr/>
            <p:nvPr/>
          </p:nvSpPr>
          <p:spPr>
            <a:xfrm>
              <a:off x="2373" y="168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19" name="Oval 32"/>
            <p:cNvSpPr/>
            <p:nvPr/>
          </p:nvSpPr>
          <p:spPr>
            <a:xfrm>
              <a:off x="2367" y="75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620" name="Group 33"/>
            <p:cNvGrpSpPr/>
            <p:nvPr/>
          </p:nvGrpSpPr>
          <p:grpSpPr>
            <a:xfrm>
              <a:off x="924" y="793"/>
              <a:ext cx="885" cy="935"/>
              <a:chOff x="618" y="793"/>
              <a:chExt cx="885" cy="935"/>
            </a:xfrm>
          </p:grpSpPr>
          <p:grpSp>
            <p:nvGrpSpPr>
              <p:cNvPr id="24621" name="Group 34"/>
              <p:cNvGrpSpPr/>
              <p:nvPr/>
            </p:nvGrpSpPr>
            <p:grpSpPr>
              <a:xfrm>
                <a:off x="1221" y="1089"/>
                <a:ext cx="282" cy="331"/>
                <a:chOff x="4686" y="3293"/>
                <a:chExt cx="354" cy="331"/>
              </a:xfrm>
            </p:grpSpPr>
            <p:sp>
              <p:nvSpPr>
                <p:cNvPr id="24626" name="Oval 35"/>
                <p:cNvSpPr/>
                <p:nvPr/>
              </p:nvSpPr>
              <p:spPr>
                <a:xfrm>
                  <a:off x="4686" y="3293"/>
                  <a:ext cx="354" cy="331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627" name="Line 36"/>
                <p:cNvSpPr/>
                <p:nvPr/>
              </p:nvSpPr>
              <p:spPr>
                <a:xfrm flipV="1">
                  <a:off x="4686" y="3461"/>
                  <a:ext cx="354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4622" name="Line 37"/>
              <p:cNvSpPr/>
              <p:nvPr/>
            </p:nvSpPr>
            <p:spPr>
              <a:xfrm>
                <a:off x="1360" y="1420"/>
                <a:ext cx="0" cy="3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23" name="Line 38"/>
              <p:cNvSpPr/>
              <p:nvPr/>
            </p:nvSpPr>
            <p:spPr>
              <a:xfrm>
                <a:off x="1360" y="793"/>
                <a:ext cx="0" cy="2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24" name="Text Box 39"/>
              <p:cNvSpPr txBox="1"/>
              <p:nvPr/>
            </p:nvSpPr>
            <p:spPr>
              <a:xfrm>
                <a:off x="618" y="809"/>
                <a:ext cx="885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r>
                  <a:rPr lang="en-US" altLang="zh-CN" sz="2400" b="1" dirty="0">
                    <a:latin typeface="_x0001_" pitchFamily="18" charset="0"/>
                  </a:rPr>
                  <a:t>(t)=I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4625" name="Line 40"/>
              <p:cNvSpPr/>
              <p:nvPr/>
            </p:nvSpPr>
            <p:spPr>
              <a:xfrm flipV="1">
                <a:off x="1360" y="89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154665" name="Text Box 41"/>
          <p:cNvSpPr txBox="1"/>
          <p:nvPr/>
        </p:nvSpPr>
        <p:spPr>
          <a:xfrm>
            <a:off x="633413" y="3306763"/>
            <a:ext cx="3833812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由</a:t>
            </a:r>
            <a:r>
              <a:rPr lang="en-US" altLang="zh-CN" sz="2800" b="1" dirty="0">
                <a:latin typeface="_x0001_" pitchFamily="18" charset="0"/>
              </a:rPr>
              <a:t>KCL:   </a:t>
            </a:r>
            <a:r>
              <a:rPr lang="en-US" altLang="zh-CN" sz="3200" b="1" i="1" dirty="0">
                <a:latin typeface="_x0001_" pitchFamily="18" charset="0"/>
              </a:rPr>
              <a:t>i</a:t>
            </a:r>
            <a:r>
              <a:rPr lang="en-US" altLang="zh-CN" sz="3200" b="1" i="1" baseline="-25000" dirty="0">
                <a:latin typeface="_x0001_" pitchFamily="18" charset="0"/>
              </a:rPr>
              <a:t>c</a:t>
            </a:r>
            <a:r>
              <a:rPr lang="en-US" altLang="zh-CN" sz="3200" b="1" i="1" dirty="0">
                <a:latin typeface="_x0001_" pitchFamily="18" charset="0"/>
              </a:rPr>
              <a:t>+i</a:t>
            </a:r>
            <a:r>
              <a:rPr lang="en-US" altLang="zh-CN" sz="3200" b="1" i="1" baseline="-25000" dirty="0">
                <a:latin typeface="_x0001_" pitchFamily="18" charset="0"/>
              </a:rPr>
              <a:t>R</a:t>
            </a:r>
            <a:r>
              <a:rPr lang="en-US" altLang="zh-CN" sz="3200" b="1" i="1" dirty="0">
                <a:latin typeface="_x0001_" pitchFamily="18" charset="0"/>
              </a:rPr>
              <a:t>= I</a:t>
            </a:r>
            <a:r>
              <a:rPr lang="en-US" altLang="zh-CN" sz="3200" b="1" i="1" baseline="-25000" dirty="0">
                <a:latin typeface="_x0001_" pitchFamily="18" charset="0"/>
              </a:rPr>
              <a:t>s</a:t>
            </a:r>
            <a:endParaRPr lang="en-US" altLang="zh-CN" sz="3200" b="1" i="1" dirty="0">
              <a:latin typeface="_x0001_" pitchFamily="18" charset="0"/>
            </a:endParaRPr>
          </a:p>
        </p:txBody>
      </p:sp>
      <p:grpSp>
        <p:nvGrpSpPr>
          <p:cNvPr id="5" name="Group 42"/>
          <p:cNvGrpSpPr/>
          <p:nvPr/>
        </p:nvGrpSpPr>
        <p:grpSpPr>
          <a:xfrm>
            <a:off x="296863" y="3962400"/>
            <a:ext cx="6310312" cy="1143000"/>
            <a:chOff x="590" y="2605"/>
            <a:chExt cx="3975" cy="720"/>
          </a:xfrm>
        </p:grpSpPr>
        <p:sp>
          <p:nvSpPr>
            <p:cNvPr id="24598" name="Text Box 43"/>
            <p:cNvSpPr txBox="1"/>
            <p:nvPr/>
          </p:nvSpPr>
          <p:spPr>
            <a:xfrm>
              <a:off x="590" y="2911"/>
              <a:ext cx="397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_x0001_" pitchFamily="18" charset="0"/>
                </a:rPr>
                <a:t>由元件的性质：                           代入上式得</a:t>
              </a:r>
              <a:endParaRPr lang="zh-CN" altLang="en-US" sz="2400" b="1" dirty="0">
                <a:latin typeface="_x0001_" pitchFamily="18" charset="0"/>
              </a:endParaRPr>
            </a:p>
          </p:txBody>
        </p:sp>
        <p:graphicFrame>
          <p:nvGraphicFramePr>
            <p:cNvPr id="24599" name="Object 44"/>
            <p:cNvGraphicFramePr>
              <a:graphicFrameLocks noChangeAspect="1"/>
            </p:cNvGraphicFramePr>
            <p:nvPr/>
          </p:nvGraphicFramePr>
          <p:xfrm>
            <a:off x="2184" y="2605"/>
            <a:ext cx="907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6" imgW="698500" imgH="812165" progId="Equation.3">
                    <p:embed/>
                  </p:oleObj>
                </mc:Choice>
                <mc:Fallback>
                  <p:oleObj name="" r:id="rId16" imgW="698500" imgH="812165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7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84" y="2605"/>
                          <a:ext cx="907" cy="7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0" name="AutoShape 45"/>
            <p:cNvSpPr/>
            <p:nvPr/>
          </p:nvSpPr>
          <p:spPr>
            <a:xfrm>
              <a:off x="1952" y="2824"/>
              <a:ext cx="127" cy="501"/>
            </a:xfrm>
            <a:prstGeom prst="leftBrace">
              <a:avLst>
                <a:gd name="adj1" fmla="val 32874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46"/>
          <p:cNvGrpSpPr/>
          <p:nvPr/>
        </p:nvGrpSpPr>
        <p:grpSpPr>
          <a:xfrm>
            <a:off x="533400" y="5165725"/>
            <a:ext cx="4800600" cy="1463675"/>
            <a:chOff x="891" y="0"/>
            <a:chExt cx="3024" cy="922"/>
          </a:xfrm>
        </p:grpSpPr>
        <p:graphicFrame>
          <p:nvGraphicFramePr>
            <p:cNvPr id="24594" name="Object 47"/>
            <p:cNvGraphicFramePr>
              <a:graphicFrameLocks noChangeAspect="1"/>
            </p:cNvGraphicFramePr>
            <p:nvPr/>
          </p:nvGraphicFramePr>
          <p:xfrm>
            <a:off x="1007" y="0"/>
            <a:ext cx="1479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18" imgW="1015365" imgH="635000" progId="Equation.3">
                    <p:embed/>
                  </p:oleObj>
                </mc:Choice>
                <mc:Fallback>
                  <p:oleObj name="" r:id="rId18" imgW="1015365" imgH="6350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9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07" y="0"/>
                          <a:ext cx="1479" cy="9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5" name="AutoShape 48"/>
            <p:cNvSpPr/>
            <p:nvPr/>
          </p:nvSpPr>
          <p:spPr>
            <a:xfrm>
              <a:off x="891" y="216"/>
              <a:ext cx="90" cy="634"/>
            </a:xfrm>
            <a:prstGeom prst="leftBrace">
              <a:avLst>
                <a:gd name="adj1" fmla="val 58703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4596" name="Object 49"/>
            <p:cNvGraphicFramePr>
              <a:graphicFrameLocks noChangeAspect="1"/>
            </p:cNvGraphicFramePr>
            <p:nvPr/>
          </p:nvGraphicFramePr>
          <p:xfrm>
            <a:off x="2736" y="153"/>
            <a:ext cx="56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20" imgW="316865" imgH="177800" progId="Equation.3">
                    <p:embed/>
                  </p:oleObj>
                </mc:Choice>
                <mc:Fallback>
                  <p:oleObj name="" r:id="rId20" imgW="316865" imgH="1778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1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6" y="153"/>
                          <a:ext cx="563" cy="2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Text Box 50"/>
            <p:cNvSpPr txBox="1"/>
            <p:nvPr/>
          </p:nvSpPr>
          <p:spPr>
            <a:xfrm>
              <a:off x="2528" y="553"/>
              <a:ext cx="1387" cy="33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初始条件</a:t>
              </a:r>
              <a:endPara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4675" name="Text Box 51"/>
          <p:cNvSpPr txBox="1"/>
          <p:nvPr/>
        </p:nvSpPr>
        <p:spPr>
          <a:xfrm>
            <a:off x="4989513" y="5480050"/>
            <a:ext cx="2809875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一阶非齐次方程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4676" name="Object 52"/>
          <p:cNvGraphicFramePr>
            <a:graphicFrameLocks noChangeAspect="1"/>
          </p:cNvGraphicFramePr>
          <p:nvPr/>
        </p:nvGraphicFramePr>
        <p:xfrm>
          <a:off x="6629400" y="77788"/>
          <a:ext cx="235267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22" imgW="761365" imgH="469900" progId="Equation.3">
                  <p:embed/>
                </p:oleObj>
              </mc:Choice>
              <mc:Fallback>
                <p:oleObj name="" r:id="rId22" imgW="761365" imgH="4699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3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629400" y="77788"/>
                        <a:ext cx="2352675" cy="912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77" name="Text Box 53"/>
          <p:cNvSpPr txBox="1"/>
          <p:nvPr/>
        </p:nvSpPr>
        <p:spPr>
          <a:xfrm>
            <a:off x="3124200" y="260350"/>
            <a:ext cx="41068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  <a:sym typeface="Symbol" panose="05050102010706020507" pitchFamily="18" charset="2"/>
              </a:rPr>
              <a:t></a:t>
            </a:r>
            <a:r>
              <a:rPr lang="zh-CN" altLang="en-US" sz="2800" b="1" dirty="0">
                <a:latin typeface="_x0001_" pitchFamily="18" charset="0"/>
              </a:rPr>
              <a:t>电容电压的变化率：</a:t>
            </a:r>
            <a:endParaRPr lang="zh-CN" altLang="en-US" sz="2800" b="1" dirty="0">
              <a:latin typeface="_x0001_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5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9" grpId="0"/>
      <p:bldP spid="154665" grpId="0"/>
      <p:bldP spid="154675" grpId="0"/>
      <p:bldP spid="1546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5652" name="Object 4"/>
          <p:cNvGraphicFramePr>
            <a:graphicFrameLocks noChangeAspect="1"/>
          </p:cNvGraphicFramePr>
          <p:nvPr/>
        </p:nvGraphicFramePr>
        <p:xfrm>
          <a:off x="1371600" y="0"/>
          <a:ext cx="32988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1244600" imgH="241300" progId="Equation.3">
                  <p:embed/>
                </p:oleObj>
              </mc:Choice>
              <mc:Fallback>
                <p:oleObj name="" r:id="rId1" imgW="1244600" imgH="2413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0"/>
                        <a:ext cx="3298825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4" name="Line 6"/>
          <p:cNvSpPr/>
          <p:nvPr/>
        </p:nvSpPr>
        <p:spPr>
          <a:xfrm>
            <a:off x="2466975" y="530225"/>
            <a:ext cx="914400" cy="1588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5655" name="Line 7"/>
          <p:cNvSpPr/>
          <p:nvPr/>
        </p:nvSpPr>
        <p:spPr>
          <a:xfrm>
            <a:off x="3733800" y="533400"/>
            <a:ext cx="1085850" cy="1588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55658" name="Object 10"/>
          <p:cNvGraphicFramePr>
            <a:graphicFrameLocks noChangeAspect="1"/>
          </p:cNvGraphicFramePr>
          <p:nvPr/>
        </p:nvGraphicFramePr>
        <p:xfrm>
          <a:off x="1520825" y="1066800"/>
          <a:ext cx="19843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3" imgW="812165" imgH="342900" progId="Equation.3">
                  <p:embed/>
                </p:oleObj>
              </mc:Choice>
              <mc:Fallback>
                <p:oleObj name="" r:id="rId3" imgW="812165" imgH="3429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20825" y="1066800"/>
                        <a:ext cx="198437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9" name="Text Box 11"/>
          <p:cNvSpPr txBox="1"/>
          <p:nvPr/>
        </p:nvSpPr>
        <p:spPr>
          <a:xfrm>
            <a:off x="1981200" y="2376488"/>
            <a:ext cx="193992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暂态响应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660" name="Text Box 12"/>
          <p:cNvSpPr txBox="1"/>
          <p:nvPr/>
        </p:nvSpPr>
        <p:spPr>
          <a:xfrm>
            <a:off x="3429000" y="2401888"/>
            <a:ext cx="2033588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稳态响应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5661" name="Object 13"/>
          <p:cNvGraphicFramePr>
            <a:graphicFrameLocks noChangeAspect="1"/>
          </p:cNvGraphicFramePr>
          <p:nvPr/>
        </p:nvGraphicFramePr>
        <p:xfrm>
          <a:off x="4100513" y="1066800"/>
          <a:ext cx="30622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5" imgW="1257300" imgH="241300" progId="Equation.3">
                  <p:embed/>
                </p:oleObj>
              </mc:Choice>
              <mc:Fallback>
                <p:oleObj name="" r:id="rId5" imgW="1257300" imgH="2413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00513" y="1066800"/>
                        <a:ext cx="3062287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2" name="Object 14"/>
          <p:cNvGraphicFramePr>
            <a:graphicFrameLocks noChangeAspect="1"/>
          </p:cNvGraphicFramePr>
          <p:nvPr/>
        </p:nvGraphicFramePr>
        <p:xfrm>
          <a:off x="1477963" y="1752600"/>
          <a:ext cx="296862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7" imgW="1167765" imgH="342900" progId="Equation.3">
                  <p:embed/>
                </p:oleObj>
              </mc:Choice>
              <mc:Fallback>
                <p:oleObj name="" r:id="rId7" imgW="1167765" imgH="3429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77963" y="1752600"/>
                        <a:ext cx="2968625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3" name="Text Box 15"/>
          <p:cNvSpPr txBox="1"/>
          <p:nvPr/>
        </p:nvSpPr>
        <p:spPr>
          <a:xfrm>
            <a:off x="36513" y="1981200"/>
            <a:ext cx="1792287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_x0001_" pitchFamily="18" charset="0"/>
                <a:sym typeface="Symbol" panose="05050102010706020507" pitchFamily="18" charset="2"/>
              </a:rPr>
              <a:t></a:t>
            </a:r>
            <a:r>
              <a:rPr lang="zh-CN" altLang="en-US" sz="2400" b="1" dirty="0">
                <a:latin typeface="_x0001_" pitchFamily="18" charset="0"/>
              </a:rPr>
              <a:t>完全解</a:t>
            </a:r>
            <a:r>
              <a:rPr lang="en-US" altLang="zh-CN" sz="2400" b="1" dirty="0">
                <a:latin typeface="_x0001_" pitchFamily="18" charset="0"/>
              </a:rPr>
              <a:t>:</a:t>
            </a:r>
            <a:endParaRPr lang="en-US" altLang="zh-CN" sz="2400" b="1" dirty="0">
              <a:latin typeface="_x0001_" pitchFamily="18" charset="0"/>
            </a:endParaRPr>
          </a:p>
        </p:txBody>
      </p:sp>
      <p:graphicFrame>
        <p:nvGraphicFramePr>
          <p:cNvPr id="155664" name="Object 16"/>
          <p:cNvGraphicFramePr>
            <a:graphicFrameLocks noChangeAspect="1"/>
          </p:cNvGraphicFramePr>
          <p:nvPr/>
        </p:nvGraphicFramePr>
        <p:xfrm>
          <a:off x="322263" y="3352800"/>
          <a:ext cx="30940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9" imgW="1333500" imgH="228600" progId="Equation.3">
                  <p:embed/>
                </p:oleObj>
              </mc:Choice>
              <mc:Fallback>
                <p:oleObj name="" r:id="rId9" imgW="1333500" imgH="2286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22263" y="3352800"/>
                        <a:ext cx="3094037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6"/>
          <p:cNvGrpSpPr/>
          <p:nvPr/>
        </p:nvGrpSpPr>
        <p:grpSpPr>
          <a:xfrm>
            <a:off x="5791200" y="1720850"/>
            <a:ext cx="3254375" cy="946150"/>
            <a:chOff x="3360" y="1104"/>
            <a:chExt cx="2050" cy="596"/>
          </a:xfrm>
        </p:grpSpPr>
        <p:sp>
          <p:nvSpPr>
            <p:cNvPr id="25628" name="Text Box 18"/>
            <p:cNvSpPr txBox="1"/>
            <p:nvPr/>
          </p:nvSpPr>
          <p:spPr>
            <a:xfrm>
              <a:off x="3399" y="1104"/>
              <a:ext cx="2011" cy="596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稳态时，</a:t>
              </a:r>
              <a:r>
                <a:rPr lang="en-US" altLang="zh-CN" sz="28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lang="en-US" altLang="zh-CN" sz="2800" baseline="-250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en-US" sz="28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恒定，电容相当于开路。</a:t>
              </a:r>
              <a:endPara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9" name="AutoShape 19"/>
            <p:cNvSpPr/>
            <p:nvPr/>
          </p:nvSpPr>
          <p:spPr>
            <a:xfrm>
              <a:off x="3360" y="1104"/>
              <a:ext cx="1916" cy="596"/>
            </a:xfrm>
            <a:prstGeom prst="wedgeRoundRectCallout">
              <a:avLst>
                <a:gd name="adj1" fmla="val -64194"/>
                <a:gd name="adj2" fmla="val 52347"/>
                <a:gd name="adj3" fmla="val 16667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zh-CN" sz="2400" b="1" dirty="0">
                <a:latin typeface="_x0001_" pitchFamily="18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3565525" y="3344863"/>
            <a:ext cx="2786063" cy="520700"/>
            <a:chOff x="147" y="2166"/>
            <a:chExt cx="1755" cy="414"/>
          </a:xfrm>
        </p:grpSpPr>
        <p:graphicFrame>
          <p:nvGraphicFramePr>
            <p:cNvPr id="25626" name="Object 21"/>
            <p:cNvGraphicFramePr>
              <a:graphicFrameLocks noChangeAspect="1"/>
            </p:cNvGraphicFramePr>
            <p:nvPr/>
          </p:nvGraphicFramePr>
          <p:xfrm>
            <a:off x="774" y="2166"/>
            <a:ext cx="1128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11" imgW="622300" imgH="228600" progId="Equation.3">
                    <p:embed/>
                  </p:oleObj>
                </mc:Choice>
                <mc:Fallback>
                  <p:oleObj name="" r:id="rId11" imgW="622300" imgH="2286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74" y="2166"/>
                          <a:ext cx="1128" cy="4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7" name="Text Box 22"/>
            <p:cNvSpPr txBox="1"/>
            <p:nvPr/>
          </p:nvSpPr>
          <p:spPr>
            <a:xfrm>
              <a:off x="147" y="2166"/>
              <a:ext cx="821" cy="41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latin typeface="_x0001_" pitchFamily="18" charset="0"/>
                </a:rPr>
                <a:t>解得</a:t>
              </a:r>
              <a:r>
                <a:rPr lang="en-US" altLang="zh-CN" sz="2800" b="1" dirty="0">
                  <a:latin typeface="_x0001_" pitchFamily="18" charset="0"/>
                </a:rPr>
                <a:t>: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55671" name="Text Box 23"/>
          <p:cNvSpPr txBox="1"/>
          <p:nvPr/>
        </p:nvSpPr>
        <p:spPr>
          <a:xfrm>
            <a:off x="0" y="76200"/>
            <a:ext cx="1524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_x0001_" pitchFamily="18" charset="0"/>
                <a:ea typeface="方正行楷简体" pitchFamily="2" charset="-122"/>
              </a:rPr>
              <a:t>方程解：</a:t>
            </a:r>
            <a:endParaRPr lang="zh-CN" altLang="en-US" sz="2400" b="1" dirty="0">
              <a:solidFill>
                <a:schemeClr val="tx2"/>
              </a:solidFill>
              <a:latin typeface="_x0001_" pitchFamily="18" charset="0"/>
              <a:ea typeface="方正行楷简体" pitchFamily="2" charset="-122"/>
            </a:endParaRPr>
          </a:p>
        </p:txBody>
      </p:sp>
      <p:sp>
        <p:nvSpPr>
          <p:cNvPr id="155672" name="Text Box 24"/>
          <p:cNvSpPr txBox="1"/>
          <p:nvPr/>
        </p:nvSpPr>
        <p:spPr>
          <a:xfrm>
            <a:off x="1524000" y="533400"/>
            <a:ext cx="6324600" cy="523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齐次方程通解     </a:t>
            </a:r>
            <a:r>
              <a:rPr lang="zh-CN" altLang="en-US" sz="2800" dirty="0">
                <a:solidFill>
                  <a:srgbClr val="66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非齐次方程特解</a:t>
            </a:r>
            <a:endParaRPr lang="zh-CN" altLang="en-US" sz="2800" dirty="0">
              <a:solidFill>
                <a:srgbClr val="66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5674" name="Object 26"/>
          <p:cNvGraphicFramePr>
            <a:graphicFrameLocks noChangeAspect="1"/>
          </p:cNvGraphicFramePr>
          <p:nvPr/>
        </p:nvGraphicFramePr>
        <p:xfrm>
          <a:off x="-38100" y="3729038"/>
          <a:ext cx="3695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3" imgW="2111375" imgH="335915" progId="Equation.3">
                  <p:embed/>
                </p:oleObj>
              </mc:Choice>
              <mc:Fallback>
                <p:oleObj name="" r:id="rId13" imgW="2111375" imgH="335915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-38100" y="3729038"/>
                        <a:ext cx="36957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75" name="Object 27"/>
          <p:cNvGraphicFramePr>
            <a:graphicFrameLocks noChangeAspect="1"/>
          </p:cNvGraphicFramePr>
          <p:nvPr/>
        </p:nvGraphicFramePr>
        <p:xfrm>
          <a:off x="79375" y="4722813"/>
          <a:ext cx="678497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5" imgW="2933700" imgH="508000" progId="Equation.3">
                  <p:embed/>
                </p:oleObj>
              </mc:Choice>
              <mc:Fallback>
                <p:oleObj name="" r:id="rId15" imgW="2933700" imgH="5080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9375" y="4722813"/>
                        <a:ext cx="6784975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76" name="Object 28"/>
          <p:cNvGraphicFramePr>
            <a:graphicFrameLocks noChangeAspect="1"/>
          </p:cNvGraphicFramePr>
          <p:nvPr/>
        </p:nvGraphicFramePr>
        <p:xfrm>
          <a:off x="7108825" y="5159375"/>
          <a:ext cx="1108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7" imgW="316865" imgH="177800" progId="Equation.3">
                  <p:embed/>
                </p:oleObj>
              </mc:Choice>
              <mc:Fallback>
                <p:oleObj name="" r:id="rId17" imgW="316865" imgH="1778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108825" y="5159375"/>
                        <a:ext cx="1108075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77" name="Object 29"/>
          <p:cNvGraphicFramePr>
            <a:graphicFrameLocks noChangeAspect="1"/>
          </p:cNvGraphicFramePr>
          <p:nvPr/>
        </p:nvGraphicFramePr>
        <p:xfrm>
          <a:off x="5562600" y="5786438"/>
          <a:ext cx="9874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9" imgW="316865" imgH="177800" progId="Equation.3">
                  <p:embed/>
                </p:oleObj>
              </mc:Choice>
              <mc:Fallback>
                <p:oleObj name="" r:id="rId19" imgW="316865" imgH="1778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562600" y="5786438"/>
                        <a:ext cx="987425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78" name="Object 30"/>
          <p:cNvGraphicFramePr>
            <a:graphicFrameLocks noChangeAspect="1"/>
          </p:cNvGraphicFramePr>
          <p:nvPr/>
        </p:nvGraphicFramePr>
        <p:xfrm>
          <a:off x="115888" y="5557838"/>
          <a:ext cx="5105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0" imgW="1790700" imgH="482600" progId="Equation.3">
                  <p:embed/>
                </p:oleObj>
              </mc:Choice>
              <mc:Fallback>
                <p:oleObj name="" r:id="rId20" imgW="1790700" imgH="4826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1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15888" y="5557838"/>
                        <a:ext cx="5105400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79" name="Object 31"/>
          <p:cNvGraphicFramePr>
            <a:graphicFrameLocks noChangeAspect="1"/>
          </p:cNvGraphicFramePr>
          <p:nvPr/>
        </p:nvGraphicFramePr>
        <p:xfrm>
          <a:off x="7775575" y="4667250"/>
          <a:ext cx="14081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22" imgW="316865" imgH="177800" progId="Equation.3">
                  <p:embed/>
                </p:oleObj>
              </mc:Choice>
              <mc:Fallback>
                <p:oleObj name="" r:id="rId22" imgW="316865" imgH="1778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775575" y="4667250"/>
                        <a:ext cx="1408113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0" name="Object 32"/>
          <p:cNvGraphicFramePr>
            <a:graphicFrameLocks noChangeAspect="1"/>
          </p:cNvGraphicFramePr>
          <p:nvPr/>
        </p:nvGraphicFramePr>
        <p:xfrm>
          <a:off x="5791200" y="3754438"/>
          <a:ext cx="3411538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23" imgW="1129665" imgH="482600" progId="Equation.3">
                  <p:embed/>
                </p:oleObj>
              </mc:Choice>
              <mc:Fallback>
                <p:oleObj name="" r:id="rId23" imgW="1129665" imgH="4826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791200" y="3754438"/>
                        <a:ext cx="3411538" cy="1062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1" name="Object 33"/>
          <p:cNvGraphicFramePr>
            <a:graphicFrameLocks noChangeAspect="1"/>
          </p:cNvGraphicFramePr>
          <p:nvPr/>
        </p:nvGraphicFramePr>
        <p:xfrm>
          <a:off x="3657600" y="3733800"/>
          <a:ext cx="22098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25" imgW="1264285" imgH="537845" progId="Equation.3">
                  <p:embed/>
                </p:oleObj>
              </mc:Choice>
              <mc:Fallback>
                <p:oleObj name="" r:id="rId25" imgW="1264285" imgH="53784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3733800"/>
                        <a:ext cx="2209800" cy="1062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85" name="Text Box 37"/>
          <p:cNvSpPr txBox="1"/>
          <p:nvPr/>
        </p:nvSpPr>
        <p:spPr>
          <a:xfrm>
            <a:off x="1981200" y="2833688"/>
            <a:ext cx="193992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自由分量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686" name="Text Box 38"/>
          <p:cNvSpPr txBox="1"/>
          <p:nvPr/>
        </p:nvSpPr>
        <p:spPr>
          <a:xfrm>
            <a:off x="3775075" y="2833688"/>
            <a:ext cx="193992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强制分量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5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5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5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5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15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5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5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55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15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15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15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000"/>
                                        <p:tgtEl>
                                          <p:spTgt spid="15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9" grpId="0"/>
      <p:bldP spid="155660" grpId="0"/>
      <p:bldP spid="155663" grpId="0"/>
      <p:bldP spid="155671" grpId="0"/>
      <p:bldP spid="155672" grpId="0"/>
      <p:bldP spid="155685" grpId="0"/>
      <p:bldP spid="1556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8229600" cy="7127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0" dirty="0">
                <a:effectLst/>
                <a:ea typeface="楷体_GB2312" pitchFamily="49" charset="-122"/>
              </a:rPr>
              <a:t>电路中各输出波形：</a:t>
            </a:r>
            <a:endParaRPr lang="zh-CN" altLang="en-US" sz="2800" b="0" dirty="0">
              <a:effectLst/>
              <a:ea typeface="楷体_GB2312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724400" y="1019175"/>
            <a:ext cx="5073650" cy="1598613"/>
            <a:chOff x="1076" y="758"/>
            <a:chExt cx="3196" cy="1007"/>
          </a:xfrm>
        </p:grpSpPr>
        <p:sp>
          <p:nvSpPr>
            <p:cNvPr id="27708" name="Line 5"/>
            <p:cNvSpPr/>
            <p:nvPr/>
          </p:nvSpPr>
          <p:spPr>
            <a:xfrm>
              <a:off x="1666" y="1728"/>
              <a:ext cx="17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6"/>
            <p:cNvSpPr/>
            <p:nvPr/>
          </p:nvSpPr>
          <p:spPr>
            <a:xfrm>
              <a:off x="2407" y="889"/>
              <a:ext cx="0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7"/>
            <p:cNvSpPr/>
            <p:nvPr/>
          </p:nvSpPr>
          <p:spPr>
            <a:xfrm>
              <a:off x="2407" y="1369"/>
              <a:ext cx="0" cy="3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8"/>
            <p:cNvSpPr/>
            <p:nvPr/>
          </p:nvSpPr>
          <p:spPr>
            <a:xfrm>
              <a:off x="2311" y="1235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9"/>
            <p:cNvSpPr/>
            <p:nvPr/>
          </p:nvSpPr>
          <p:spPr>
            <a:xfrm>
              <a:off x="2311" y="1353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Rectangle 10"/>
            <p:cNvSpPr/>
            <p:nvPr/>
          </p:nvSpPr>
          <p:spPr>
            <a:xfrm>
              <a:off x="3329" y="1151"/>
              <a:ext cx="11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14" name="Line 11"/>
            <p:cNvSpPr/>
            <p:nvPr/>
          </p:nvSpPr>
          <p:spPr>
            <a:xfrm flipH="1">
              <a:off x="3377" y="1468"/>
              <a:ext cx="0" cy="2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Line 12"/>
            <p:cNvSpPr/>
            <p:nvPr/>
          </p:nvSpPr>
          <p:spPr>
            <a:xfrm flipV="1">
              <a:off x="3377" y="899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6" name="Text Box 13"/>
            <p:cNvSpPr txBox="1"/>
            <p:nvPr/>
          </p:nvSpPr>
          <p:spPr>
            <a:xfrm>
              <a:off x="2413" y="983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7717" name="Text Box 14"/>
            <p:cNvSpPr txBox="1"/>
            <p:nvPr/>
          </p:nvSpPr>
          <p:spPr>
            <a:xfrm>
              <a:off x="2104" y="1169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C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7718" name="Text Box 15"/>
            <p:cNvSpPr txBox="1"/>
            <p:nvPr/>
          </p:nvSpPr>
          <p:spPr>
            <a:xfrm>
              <a:off x="3093" y="1169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27719" name="Line 16"/>
            <p:cNvSpPr/>
            <p:nvPr/>
          </p:nvSpPr>
          <p:spPr>
            <a:xfrm flipH="1">
              <a:off x="2407" y="793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20" name="Text Box 17"/>
            <p:cNvSpPr txBox="1"/>
            <p:nvPr/>
          </p:nvSpPr>
          <p:spPr>
            <a:xfrm>
              <a:off x="1975" y="786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7721" name="Line 18"/>
            <p:cNvSpPr/>
            <p:nvPr/>
          </p:nvSpPr>
          <p:spPr>
            <a:xfrm flipV="1">
              <a:off x="1666" y="793"/>
              <a:ext cx="1709" cy="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2" name="Text Box 19"/>
            <p:cNvSpPr txBox="1"/>
            <p:nvPr/>
          </p:nvSpPr>
          <p:spPr>
            <a:xfrm>
              <a:off x="2522" y="1089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sp>
          <p:nvSpPr>
            <p:cNvPr id="27723" name="Line 20"/>
            <p:cNvSpPr/>
            <p:nvPr/>
          </p:nvSpPr>
          <p:spPr>
            <a:xfrm>
              <a:off x="3377" y="786"/>
              <a:ext cx="0" cy="25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24" name="Text Box 21"/>
            <p:cNvSpPr txBox="1"/>
            <p:nvPr/>
          </p:nvSpPr>
          <p:spPr>
            <a:xfrm>
              <a:off x="3375" y="804"/>
              <a:ext cx="8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i</a:t>
              </a:r>
              <a:r>
                <a:rPr lang="en-US" altLang="zh-CN" sz="3200" b="1" baseline="-25000" dirty="0">
                  <a:latin typeface="_x0001_" pitchFamily="18" charset="0"/>
                </a:rPr>
                <a:t>R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3200" b="1" dirty="0">
                <a:latin typeface="_x0001_" pitchFamily="18" charset="0"/>
              </a:endParaRPr>
            </a:p>
          </p:txBody>
        </p:sp>
        <p:sp>
          <p:nvSpPr>
            <p:cNvPr id="27725" name="Oval 22"/>
            <p:cNvSpPr/>
            <p:nvPr/>
          </p:nvSpPr>
          <p:spPr>
            <a:xfrm>
              <a:off x="2373" y="168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26" name="Oval 23"/>
            <p:cNvSpPr/>
            <p:nvPr/>
          </p:nvSpPr>
          <p:spPr>
            <a:xfrm>
              <a:off x="2367" y="75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727" name="Group 24"/>
            <p:cNvGrpSpPr/>
            <p:nvPr/>
          </p:nvGrpSpPr>
          <p:grpSpPr>
            <a:xfrm>
              <a:off x="1076" y="793"/>
              <a:ext cx="733" cy="935"/>
              <a:chOff x="770" y="793"/>
              <a:chExt cx="733" cy="935"/>
            </a:xfrm>
          </p:grpSpPr>
          <p:grpSp>
            <p:nvGrpSpPr>
              <p:cNvPr id="27728" name="Group 25"/>
              <p:cNvGrpSpPr/>
              <p:nvPr/>
            </p:nvGrpSpPr>
            <p:grpSpPr>
              <a:xfrm>
                <a:off x="1221" y="1089"/>
                <a:ext cx="282" cy="331"/>
                <a:chOff x="4686" y="3293"/>
                <a:chExt cx="354" cy="331"/>
              </a:xfrm>
            </p:grpSpPr>
            <p:sp>
              <p:nvSpPr>
                <p:cNvPr id="27733" name="Oval 26"/>
                <p:cNvSpPr/>
                <p:nvPr/>
              </p:nvSpPr>
              <p:spPr>
                <a:xfrm>
                  <a:off x="4686" y="3293"/>
                  <a:ext cx="354" cy="331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34" name="Line 27"/>
                <p:cNvSpPr/>
                <p:nvPr/>
              </p:nvSpPr>
              <p:spPr>
                <a:xfrm flipV="1">
                  <a:off x="4686" y="3461"/>
                  <a:ext cx="354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29" name="Line 28"/>
              <p:cNvSpPr/>
              <p:nvPr/>
            </p:nvSpPr>
            <p:spPr>
              <a:xfrm>
                <a:off x="1360" y="1420"/>
                <a:ext cx="0" cy="3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30" name="Line 29"/>
              <p:cNvSpPr/>
              <p:nvPr/>
            </p:nvSpPr>
            <p:spPr>
              <a:xfrm>
                <a:off x="1360" y="793"/>
                <a:ext cx="0" cy="2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31" name="Text Box 30"/>
              <p:cNvSpPr txBox="1"/>
              <p:nvPr/>
            </p:nvSpPr>
            <p:spPr>
              <a:xfrm>
                <a:off x="770" y="809"/>
                <a:ext cx="73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r>
                  <a:rPr lang="en-US" altLang="zh-CN" sz="2400" b="1" dirty="0">
                    <a:latin typeface="_x0001_" pitchFamily="18" charset="0"/>
                  </a:rPr>
                  <a:t>(t)</a:t>
                </a:r>
                <a:r>
                  <a:rPr lang="en-US" altLang="zh-CN" sz="2000" b="1" dirty="0">
                    <a:latin typeface="_x0001_" pitchFamily="18" charset="0"/>
                  </a:rPr>
                  <a:t>=</a:t>
                </a:r>
                <a:r>
                  <a:rPr lang="en-US" altLang="zh-CN" sz="2400" b="1" dirty="0">
                    <a:latin typeface="_x0001_" pitchFamily="18" charset="0"/>
                  </a:rPr>
                  <a:t>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732" name="Line 31"/>
              <p:cNvSpPr/>
              <p:nvPr/>
            </p:nvSpPr>
            <p:spPr>
              <a:xfrm flipV="1">
                <a:off x="1360" y="89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157728" name="Arc 32"/>
          <p:cNvSpPr/>
          <p:nvPr/>
        </p:nvSpPr>
        <p:spPr>
          <a:xfrm flipH="1">
            <a:off x="938213" y="4259263"/>
            <a:ext cx="2476500" cy="1479550"/>
          </a:xfrm>
          <a:custGeom>
            <a:avLst/>
            <a:gdLst>
              <a:gd name="txL" fmla="*/ 0 w 21370"/>
              <a:gd name="txT" fmla="*/ 0 h 21597"/>
              <a:gd name="txR" fmla="*/ 21370 w 21370"/>
              <a:gd name="txB" fmla="*/ 21597 h 2159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370" h="21597" fill="none">
                <a:moveTo>
                  <a:pt x="21370" y="3142"/>
                </a:moveTo>
                <a:cubicBezTo>
                  <a:pt x="19830" y="13616"/>
                  <a:pt x="10925" y="21430"/>
                  <a:pt x="340" y="21597"/>
                </a:cubicBezTo>
              </a:path>
              <a:path w="21370" h="21597" stroke="0">
                <a:moveTo>
                  <a:pt x="21370" y="3142"/>
                </a:moveTo>
                <a:cubicBezTo>
                  <a:pt x="19830" y="13616"/>
                  <a:pt x="10925" y="21430"/>
                  <a:pt x="340" y="21597"/>
                </a:cubicBezTo>
                <a:lnTo>
                  <a:pt x="0" y="0"/>
                </a:lnTo>
                <a:lnTo>
                  <a:pt x="21370" y="3142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5" name="Group 33"/>
          <p:cNvGrpSpPr/>
          <p:nvPr/>
        </p:nvGrpSpPr>
        <p:grpSpPr>
          <a:xfrm>
            <a:off x="4724400" y="3797300"/>
            <a:ext cx="4675188" cy="2473325"/>
            <a:chOff x="268" y="2795"/>
            <a:chExt cx="2945" cy="1558"/>
          </a:xfrm>
        </p:grpSpPr>
        <p:graphicFrame>
          <p:nvGraphicFramePr>
            <p:cNvPr id="27694" name="Object 34"/>
            <p:cNvGraphicFramePr>
              <a:graphicFrameLocks noChangeAspect="1"/>
            </p:cNvGraphicFramePr>
            <p:nvPr/>
          </p:nvGraphicFramePr>
          <p:xfrm>
            <a:off x="753" y="2795"/>
            <a:ext cx="1438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1116965" imgH="482600" progId="Equation.3">
                    <p:embed/>
                  </p:oleObj>
                </mc:Choice>
                <mc:Fallback>
                  <p:oleObj name="" r:id="rId1" imgW="1116965" imgH="4826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3" y="2795"/>
                          <a:ext cx="1438" cy="5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95" name="Group 35"/>
            <p:cNvGrpSpPr/>
            <p:nvPr/>
          </p:nvGrpSpPr>
          <p:grpSpPr>
            <a:xfrm>
              <a:off x="268" y="2912"/>
              <a:ext cx="2945" cy="1441"/>
              <a:chOff x="308" y="904"/>
              <a:chExt cx="2945" cy="1182"/>
            </a:xfrm>
          </p:grpSpPr>
          <p:sp>
            <p:nvSpPr>
              <p:cNvPr id="27696" name="Text Box 36"/>
              <p:cNvSpPr txBox="1"/>
              <p:nvPr/>
            </p:nvSpPr>
            <p:spPr>
              <a:xfrm>
                <a:off x="2456" y="1681"/>
                <a:ext cx="797" cy="2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_x0001_" pitchFamily="18" charset="0"/>
                  </a:rPr>
                  <a:t>t </a:t>
                </a:r>
                <a:r>
                  <a:rPr lang="en-US" altLang="zh-CN" sz="2400" b="1" dirty="0">
                    <a:latin typeface="_x0001_" pitchFamily="18" charset="0"/>
                  </a:rPr>
                  <a:t>(s)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697" name="Line 37"/>
              <p:cNvSpPr/>
              <p:nvPr/>
            </p:nvSpPr>
            <p:spPr>
              <a:xfrm>
                <a:off x="308" y="1822"/>
                <a:ext cx="215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98" name="Line 38"/>
              <p:cNvSpPr/>
              <p:nvPr/>
            </p:nvSpPr>
            <p:spPr>
              <a:xfrm flipV="1">
                <a:off x="713" y="904"/>
                <a:ext cx="0" cy="107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99" name="Line 39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0" name="Line 40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1" name="Line 41"/>
              <p:cNvSpPr/>
              <p:nvPr/>
            </p:nvSpPr>
            <p:spPr>
              <a:xfrm>
                <a:off x="1402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2" name="Line 42"/>
              <p:cNvSpPr/>
              <p:nvPr/>
            </p:nvSpPr>
            <p:spPr>
              <a:xfrm>
                <a:off x="1052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3" name="Line 43"/>
              <p:cNvSpPr/>
              <p:nvPr/>
            </p:nvSpPr>
            <p:spPr>
              <a:xfrm>
                <a:off x="139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4" name="Line 44"/>
              <p:cNvSpPr/>
              <p:nvPr/>
            </p:nvSpPr>
            <p:spPr>
              <a:xfrm>
                <a:off x="1714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5" name="Line 45"/>
              <p:cNvSpPr/>
              <p:nvPr/>
            </p:nvSpPr>
            <p:spPr>
              <a:xfrm>
                <a:off x="205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06" name="Text Box 46"/>
              <p:cNvSpPr txBox="1"/>
              <p:nvPr/>
            </p:nvSpPr>
            <p:spPr>
              <a:xfrm>
                <a:off x="517" y="1811"/>
                <a:ext cx="681" cy="23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0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707" name="Text Box 47"/>
              <p:cNvSpPr txBox="1"/>
              <p:nvPr/>
            </p:nvSpPr>
            <p:spPr>
              <a:xfrm>
                <a:off x="1938" y="1787"/>
                <a:ext cx="776" cy="2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3200" b="1" dirty="0">
                    <a:latin typeface="_x0001_" pitchFamily="18" charset="0"/>
                    <a:sym typeface="Symbol" panose="05050102010706020507" pitchFamily="18" charset="2"/>
                  </a:rPr>
                  <a:t></a:t>
                </a:r>
                <a:endParaRPr lang="en-US" altLang="zh-CN" sz="2800" b="1" dirty="0">
                  <a:latin typeface="_x0001_" pitchFamily="18" charset="0"/>
                </a:endParaRPr>
              </a:p>
            </p:txBody>
          </p:sp>
        </p:grpSp>
      </p:grpSp>
      <p:grpSp>
        <p:nvGrpSpPr>
          <p:cNvPr id="7" name="Group 48"/>
          <p:cNvGrpSpPr/>
          <p:nvPr/>
        </p:nvGrpSpPr>
        <p:grpSpPr>
          <a:xfrm>
            <a:off x="295275" y="3811588"/>
            <a:ext cx="4675188" cy="2459037"/>
            <a:chOff x="268" y="1384"/>
            <a:chExt cx="2945" cy="1549"/>
          </a:xfrm>
        </p:grpSpPr>
        <p:graphicFrame>
          <p:nvGraphicFramePr>
            <p:cNvPr id="27680" name="Object 49"/>
            <p:cNvGraphicFramePr>
              <a:graphicFrameLocks noChangeAspect="1"/>
            </p:cNvGraphicFramePr>
            <p:nvPr/>
          </p:nvGraphicFramePr>
          <p:xfrm>
            <a:off x="747" y="1384"/>
            <a:ext cx="1207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3" imgW="748665" imgH="342900" progId="Equation.3">
                    <p:embed/>
                  </p:oleObj>
                </mc:Choice>
                <mc:Fallback>
                  <p:oleObj name="" r:id="rId3" imgW="748665" imgH="3429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7" y="1384"/>
                          <a:ext cx="1207" cy="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81" name="Group 50"/>
            <p:cNvGrpSpPr/>
            <p:nvPr/>
          </p:nvGrpSpPr>
          <p:grpSpPr>
            <a:xfrm>
              <a:off x="268" y="1492"/>
              <a:ext cx="2945" cy="1441"/>
              <a:chOff x="308" y="904"/>
              <a:chExt cx="2945" cy="1182"/>
            </a:xfrm>
          </p:grpSpPr>
          <p:sp>
            <p:nvSpPr>
              <p:cNvPr id="27682" name="Text Box 51"/>
              <p:cNvSpPr txBox="1"/>
              <p:nvPr/>
            </p:nvSpPr>
            <p:spPr>
              <a:xfrm>
                <a:off x="2456" y="1681"/>
                <a:ext cx="797" cy="2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_x0001_" pitchFamily="18" charset="0"/>
                  </a:rPr>
                  <a:t>t </a:t>
                </a:r>
                <a:r>
                  <a:rPr lang="en-US" altLang="zh-CN" sz="2400" b="1" dirty="0">
                    <a:latin typeface="_x0001_" pitchFamily="18" charset="0"/>
                  </a:rPr>
                  <a:t>(s)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683" name="Line 52"/>
              <p:cNvSpPr/>
              <p:nvPr/>
            </p:nvSpPr>
            <p:spPr>
              <a:xfrm>
                <a:off x="308" y="1822"/>
                <a:ext cx="215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84" name="Line 53"/>
              <p:cNvSpPr/>
              <p:nvPr/>
            </p:nvSpPr>
            <p:spPr>
              <a:xfrm flipV="1">
                <a:off x="713" y="904"/>
                <a:ext cx="0" cy="107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85" name="Line 54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6" name="Line 55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7" name="Line 56"/>
              <p:cNvSpPr/>
              <p:nvPr/>
            </p:nvSpPr>
            <p:spPr>
              <a:xfrm>
                <a:off x="1402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8" name="Line 57"/>
              <p:cNvSpPr/>
              <p:nvPr/>
            </p:nvSpPr>
            <p:spPr>
              <a:xfrm>
                <a:off x="1052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9" name="Line 58"/>
              <p:cNvSpPr/>
              <p:nvPr/>
            </p:nvSpPr>
            <p:spPr>
              <a:xfrm>
                <a:off x="139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0" name="Line 59"/>
              <p:cNvSpPr/>
              <p:nvPr/>
            </p:nvSpPr>
            <p:spPr>
              <a:xfrm>
                <a:off x="1714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1" name="Line 60"/>
              <p:cNvSpPr/>
              <p:nvPr/>
            </p:nvSpPr>
            <p:spPr>
              <a:xfrm>
                <a:off x="205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2" name="Text Box 61"/>
              <p:cNvSpPr txBox="1"/>
              <p:nvPr/>
            </p:nvSpPr>
            <p:spPr>
              <a:xfrm>
                <a:off x="517" y="1811"/>
                <a:ext cx="681" cy="23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0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693" name="Text Box 62"/>
              <p:cNvSpPr txBox="1"/>
              <p:nvPr/>
            </p:nvSpPr>
            <p:spPr>
              <a:xfrm>
                <a:off x="1938" y="1787"/>
                <a:ext cx="776" cy="2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3200" b="1" dirty="0">
                    <a:latin typeface="_x0001_" pitchFamily="18" charset="0"/>
                    <a:sym typeface="Symbol" panose="05050102010706020507" pitchFamily="18" charset="2"/>
                  </a:rPr>
                  <a:t></a:t>
                </a:r>
                <a:endParaRPr lang="en-US" altLang="zh-CN" sz="2800" b="1" dirty="0">
                  <a:latin typeface="_x0001_" pitchFamily="18" charset="0"/>
                </a:endParaRPr>
              </a:p>
            </p:txBody>
          </p:sp>
        </p:grpSp>
      </p:grpSp>
      <p:sp>
        <p:nvSpPr>
          <p:cNvPr id="157759" name="Line 63"/>
          <p:cNvSpPr/>
          <p:nvPr/>
        </p:nvSpPr>
        <p:spPr>
          <a:xfrm>
            <a:off x="938213" y="4459288"/>
            <a:ext cx="0" cy="132715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7760" name="Text Box 64"/>
          <p:cNvSpPr txBox="1"/>
          <p:nvPr/>
        </p:nvSpPr>
        <p:spPr>
          <a:xfrm>
            <a:off x="276225" y="1801813"/>
            <a:ext cx="711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_x0001_" pitchFamily="18" charset="0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_x0001_" pitchFamily="18" charset="0"/>
              </a:rPr>
              <a:t>S</a:t>
            </a:r>
            <a:r>
              <a:rPr lang="en-US" altLang="zh-CN" sz="2400" b="1" baseline="30000" dirty="0">
                <a:solidFill>
                  <a:schemeClr val="tx2"/>
                </a:solidFill>
                <a:latin typeface="_x0001_" pitchFamily="18" charset="0"/>
              </a:rPr>
              <a:t>.</a:t>
            </a:r>
            <a:r>
              <a:rPr lang="en-US" altLang="zh-CN" sz="2400" b="1" dirty="0">
                <a:solidFill>
                  <a:schemeClr val="tx2"/>
                </a:solidFill>
                <a:latin typeface="_x0001_" pitchFamily="18" charset="0"/>
              </a:rPr>
              <a:t>R</a:t>
            </a:r>
            <a:endParaRPr lang="en-US" altLang="zh-CN" sz="24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sp>
        <p:nvSpPr>
          <p:cNvPr id="157761" name="Text Box 65"/>
          <p:cNvSpPr txBox="1"/>
          <p:nvPr/>
        </p:nvSpPr>
        <p:spPr>
          <a:xfrm>
            <a:off x="4970463" y="4356100"/>
            <a:ext cx="711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_x0001_" pitchFamily="18" charset="0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_x0001_" pitchFamily="18" charset="0"/>
              </a:rPr>
              <a:t>S</a:t>
            </a:r>
            <a:endParaRPr lang="en-US" altLang="zh-CN" sz="24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sp>
        <p:nvSpPr>
          <p:cNvPr id="157762" name="Text Box 66"/>
          <p:cNvSpPr txBox="1"/>
          <p:nvPr/>
        </p:nvSpPr>
        <p:spPr>
          <a:xfrm>
            <a:off x="525463" y="4249738"/>
            <a:ext cx="711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_x0001_" pitchFamily="18" charset="0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_x0001_" pitchFamily="18" charset="0"/>
              </a:rPr>
              <a:t>S</a:t>
            </a:r>
            <a:endParaRPr lang="en-US" altLang="zh-CN" sz="24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sp>
        <p:nvSpPr>
          <p:cNvPr id="157763" name="Arc 67"/>
          <p:cNvSpPr/>
          <p:nvPr/>
        </p:nvSpPr>
        <p:spPr>
          <a:xfrm>
            <a:off x="5416550" y="4613275"/>
            <a:ext cx="2636838" cy="1892300"/>
          </a:xfrm>
          <a:custGeom>
            <a:avLst/>
            <a:gdLst>
              <a:gd name="txL" fmla="*/ 0 w 19791"/>
              <a:gd name="txT" fmla="*/ 0 h 21600"/>
              <a:gd name="txR" fmla="*/ 19791 w 19791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791" h="21600" fill="none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</a:path>
              <a:path w="19791" h="21600" stroke="0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  <a:lnTo>
                  <a:pt x="19624" y="21600"/>
                </a:lnTo>
                <a:lnTo>
                  <a:pt x="0" y="1257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7764" name="Arc 68"/>
          <p:cNvSpPr/>
          <p:nvPr/>
        </p:nvSpPr>
        <p:spPr>
          <a:xfrm>
            <a:off x="952500" y="1989138"/>
            <a:ext cx="2636838" cy="1892300"/>
          </a:xfrm>
          <a:custGeom>
            <a:avLst/>
            <a:gdLst>
              <a:gd name="txL" fmla="*/ 0 w 19791"/>
              <a:gd name="txT" fmla="*/ 0 h 21600"/>
              <a:gd name="txR" fmla="*/ 19791 w 19791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791" h="21600" fill="none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</a:path>
              <a:path w="19791" h="21600" stroke="0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  <a:lnTo>
                  <a:pt x="19624" y="21600"/>
                </a:lnTo>
                <a:lnTo>
                  <a:pt x="0" y="1257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7765" name="Line 69"/>
          <p:cNvSpPr/>
          <p:nvPr/>
        </p:nvSpPr>
        <p:spPr>
          <a:xfrm>
            <a:off x="5367338" y="4613275"/>
            <a:ext cx="2132012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57766" name="Line 70"/>
          <p:cNvSpPr/>
          <p:nvPr/>
        </p:nvSpPr>
        <p:spPr>
          <a:xfrm>
            <a:off x="952500" y="2017713"/>
            <a:ext cx="2019300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57767" name="Line 71"/>
          <p:cNvSpPr/>
          <p:nvPr/>
        </p:nvSpPr>
        <p:spPr>
          <a:xfrm flipV="1">
            <a:off x="3070225" y="2070100"/>
            <a:ext cx="0" cy="100965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57768" name="Line 72"/>
          <p:cNvSpPr/>
          <p:nvPr/>
        </p:nvSpPr>
        <p:spPr>
          <a:xfrm flipV="1">
            <a:off x="7499350" y="4613275"/>
            <a:ext cx="0" cy="1125538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9" name="Group 73"/>
          <p:cNvGrpSpPr/>
          <p:nvPr/>
        </p:nvGrpSpPr>
        <p:grpSpPr>
          <a:xfrm>
            <a:off x="295275" y="933450"/>
            <a:ext cx="4675188" cy="2654300"/>
            <a:chOff x="190" y="588"/>
            <a:chExt cx="2945" cy="1672"/>
          </a:xfrm>
        </p:grpSpPr>
        <p:grpSp>
          <p:nvGrpSpPr>
            <p:cNvPr id="27666" name="Group 74"/>
            <p:cNvGrpSpPr/>
            <p:nvPr/>
          </p:nvGrpSpPr>
          <p:grpSpPr>
            <a:xfrm>
              <a:off x="190" y="767"/>
              <a:ext cx="2945" cy="1493"/>
              <a:chOff x="308" y="904"/>
              <a:chExt cx="2945" cy="1168"/>
            </a:xfrm>
          </p:grpSpPr>
          <p:sp>
            <p:nvSpPr>
              <p:cNvPr id="27668" name="Text Box 75"/>
              <p:cNvSpPr txBox="1"/>
              <p:nvPr/>
            </p:nvSpPr>
            <p:spPr>
              <a:xfrm>
                <a:off x="2456" y="1681"/>
                <a:ext cx="797" cy="2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_x0001_" pitchFamily="18" charset="0"/>
                  </a:rPr>
                  <a:t>t </a:t>
                </a:r>
                <a:r>
                  <a:rPr lang="en-US" altLang="zh-CN" sz="2400" b="1" dirty="0">
                    <a:latin typeface="_x0001_" pitchFamily="18" charset="0"/>
                  </a:rPr>
                  <a:t>(s)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669" name="Line 76"/>
              <p:cNvSpPr/>
              <p:nvPr/>
            </p:nvSpPr>
            <p:spPr>
              <a:xfrm>
                <a:off x="308" y="1822"/>
                <a:ext cx="215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70" name="Line 77"/>
              <p:cNvSpPr/>
              <p:nvPr/>
            </p:nvSpPr>
            <p:spPr>
              <a:xfrm flipV="1">
                <a:off x="713" y="904"/>
                <a:ext cx="0" cy="107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71" name="Line 78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2" name="Line 79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3" name="Line 80"/>
              <p:cNvSpPr/>
              <p:nvPr/>
            </p:nvSpPr>
            <p:spPr>
              <a:xfrm>
                <a:off x="1402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4" name="Line 81"/>
              <p:cNvSpPr/>
              <p:nvPr/>
            </p:nvSpPr>
            <p:spPr>
              <a:xfrm>
                <a:off x="1052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5" name="Line 82"/>
              <p:cNvSpPr/>
              <p:nvPr/>
            </p:nvSpPr>
            <p:spPr>
              <a:xfrm>
                <a:off x="139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6" name="Line 83"/>
              <p:cNvSpPr/>
              <p:nvPr/>
            </p:nvSpPr>
            <p:spPr>
              <a:xfrm>
                <a:off x="1714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7" name="Line 84"/>
              <p:cNvSpPr/>
              <p:nvPr/>
            </p:nvSpPr>
            <p:spPr>
              <a:xfrm>
                <a:off x="205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8" name="Text Box 85"/>
              <p:cNvSpPr txBox="1"/>
              <p:nvPr/>
            </p:nvSpPr>
            <p:spPr>
              <a:xfrm>
                <a:off x="517" y="1810"/>
                <a:ext cx="681" cy="2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0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7679" name="Text Box 86"/>
              <p:cNvSpPr txBox="1"/>
              <p:nvPr/>
            </p:nvSpPr>
            <p:spPr>
              <a:xfrm>
                <a:off x="1938" y="1787"/>
                <a:ext cx="776" cy="2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3200" b="1" dirty="0">
                    <a:latin typeface="_x0001_" pitchFamily="18" charset="0"/>
                    <a:sym typeface="Symbol" panose="05050102010706020507" pitchFamily="18" charset="2"/>
                  </a:rPr>
                  <a:t></a:t>
                </a:r>
                <a:endParaRPr lang="en-US" altLang="zh-CN" sz="2800" b="1" dirty="0">
                  <a:latin typeface="_x0001_" pitchFamily="18" charset="0"/>
                </a:endParaRPr>
              </a:p>
            </p:txBody>
          </p:sp>
        </p:grpSp>
        <p:graphicFrame>
          <p:nvGraphicFramePr>
            <p:cNvPr id="27667" name="Object 87"/>
            <p:cNvGraphicFramePr>
              <a:graphicFrameLocks noChangeAspect="1"/>
            </p:cNvGraphicFramePr>
            <p:nvPr/>
          </p:nvGraphicFramePr>
          <p:xfrm>
            <a:off x="637" y="588"/>
            <a:ext cx="1746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5" imgW="1231265" imgH="482600" progId="Equation.3">
                    <p:embed/>
                  </p:oleObj>
                </mc:Choice>
                <mc:Fallback>
                  <p:oleObj name="" r:id="rId5" imgW="1231265" imgH="4826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7" y="588"/>
                          <a:ext cx="1746" cy="6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5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7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7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7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7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5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5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500"/>
                                        <p:tgtEl>
                                          <p:spTgt spid="15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5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15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/>
      <p:bldP spid="157760" grpId="0"/>
      <p:bldP spid="157761" grpId="0"/>
      <p:bldP spid="1577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2"/>
          <p:cNvSpPr>
            <a:spLocks noGrp="1"/>
          </p:cNvSpPr>
          <p:nvPr>
            <p:ph type="title"/>
          </p:nvPr>
        </p:nvSpPr>
        <p:spPr>
          <a:xfrm>
            <a:off x="152400" y="152400"/>
            <a:ext cx="1981200" cy="6365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0" dirty="0">
                <a:effectLst/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en-US" altLang="zh-CN" sz="3200" b="0" dirty="0">
                <a:effectLst/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3200" b="0" dirty="0">
                <a:effectLst/>
                <a:latin typeface="楷体_GB2312" pitchFamily="49" charset="-122"/>
                <a:ea typeface="楷体_GB2312" pitchFamily="49" charset="-122"/>
              </a:rPr>
              <a:t>总结</a:t>
            </a:r>
            <a:r>
              <a:rPr lang="en-US" altLang="zh-CN" sz="3200" b="0" dirty="0">
                <a:effectLst/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3200" b="0" dirty="0"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44" name="Text Box 4"/>
          <p:cNvSpPr txBox="1"/>
          <p:nvPr/>
        </p:nvSpPr>
        <p:spPr>
          <a:xfrm>
            <a:off x="152400" y="809625"/>
            <a:ext cx="5141913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_x0001_" pitchFamily="18" charset="0"/>
                <a:ea typeface="楷体_GB2312" pitchFamily="49" charset="-122"/>
              </a:rPr>
              <a:t>A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零状态响应的一般形式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32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3845" name="Object 5"/>
          <p:cNvGraphicFramePr>
            <a:graphicFrameLocks noChangeAspect="1"/>
          </p:cNvGraphicFramePr>
          <p:nvPr/>
        </p:nvGraphicFramePr>
        <p:xfrm>
          <a:off x="455613" y="1490663"/>
          <a:ext cx="40671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1282700" imgH="482600" progId="Equation.3">
                  <p:embed/>
                </p:oleObj>
              </mc:Choice>
              <mc:Fallback>
                <p:oleObj name="" r:id="rId1" imgW="1282700" imgH="4826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5613" y="1490663"/>
                        <a:ext cx="4067175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4891088" y="1676400"/>
          <a:ext cx="10636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316865" imgH="177800" progId="Equation.3">
                  <p:embed/>
                </p:oleObj>
              </mc:Choice>
              <mc:Fallback>
                <p:oleObj name="" r:id="rId3" imgW="316865" imgH="1778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91088" y="1676400"/>
                        <a:ext cx="106362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7"/>
          <p:cNvGraphicFramePr>
            <a:graphicFrameLocks noChangeAspect="1"/>
          </p:cNvGraphicFramePr>
          <p:nvPr/>
        </p:nvGraphicFramePr>
        <p:xfrm>
          <a:off x="301625" y="4059238"/>
          <a:ext cx="423227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1447165" imgH="482600" progId="Equation.3">
                  <p:embed/>
                </p:oleObj>
              </mc:Choice>
              <mc:Fallback>
                <p:oleObj name="" r:id="rId5" imgW="1447165" imgH="4826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01625" y="4059238"/>
                        <a:ext cx="4232275" cy="995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8" name="Rectangle 8"/>
          <p:cNvSpPr/>
          <p:nvPr/>
        </p:nvSpPr>
        <p:spPr>
          <a:xfrm>
            <a:off x="6445250" y="4059238"/>
            <a:ext cx="1022350" cy="7016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en-US" altLang="zh-CN" sz="32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=LG</a:t>
            </a:r>
            <a:endParaRPr lang="en-US" altLang="zh-CN" sz="32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63849" name="Object 9"/>
          <p:cNvGraphicFramePr>
            <a:graphicFrameLocks noChangeAspect="1"/>
          </p:cNvGraphicFramePr>
          <p:nvPr/>
        </p:nvGraphicFramePr>
        <p:xfrm>
          <a:off x="266700" y="2741613"/>
          <a:ext cx="42481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7" imgW="1536700" imgH="482600" progId="Equation.3">
                  <p:embed/>
                </p:oleObj>
              </mc:Choice>
              <mc:Fallback>
                <p:oleObj name="" r:id="rId7" imgW="1536700" imgH="4826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66700" y="2741613"/>
                        <a:ext cx="424815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0" name="Rectangle 10"/>
          <p:cNvSpPr/>
          <p:nvPr/>
        </p:nvSpPr>
        <p:spPr>
          <a:xfrm>
            <a:off x="6473825" y="2693988"/>
            <a:ext cx="1022350" cy="7016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en-US" altLang="zh-CN" sz="32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=RC</a:t>
            </a:r>
            <a:endParaRPr lang="en-US" altLang="zh-CN" sz="32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63851" name="Text Box 11"/>
          <p:cNvSpPr txBox="1"/>
          <p:nvPr/>
        </p:nvSpPr>
        <p:spPr>
          <a:xfrm>
            <a:off x="163513" y="5024438"/>
            <a:ext cx="8740775" cy="11890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_x0001_" pitchFamily="18" charset="0"/>
              </a:rPr>
              <a:t>B.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零状态响应都是按指数规律上升的，上升的快慢由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决定</a:t>
            </a:r>
            <a:r>
              <a:rPr lang="en-US" altLang="zh-CN" sz="36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4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</a:t>
            </a:r>
            <a:r>
              <a:rPr lang="zh-CN" altLang="en-US" sz="3200" dirty="0">
                <a:latin typeface="_x0001_" pitchFamily="18" charset="0"/>
                <a:ea typeface="楷体_GB2312" pitchFamily="49" charset="-122"/>
              </a:rPr>
              <a:t>越小</a:t>
            </a:r>
            <a:r>
              <a:rPr lang="zh-CN" altLang="en-US" sz="2800" dirty="0">
                <a:latin typeface="_x0001_" pitchFamily="18" charset="0"/>
              </a:rPr>
              <a:t>， 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en-US" altLang="zh-CN" sz="3200" baseline="-25000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(t),i</a:t>
            </a:r>
            <a:r>
              <a:rPr lang="en-US" altLang="zh-CN" sz="3200" baseline="-25000" dirty="0">
                <a:latin typeface="楷体_GB2312" pitchFamily="49" charset="-122"/>
                <a:ea typeface="楷体_GB2312" pitchFamily="49" charset="-122"/>
              </a:rPr>
              <a:t>L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(t)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上升的</a:t>
            </a:r>
            <a:r>
              <a:rPr lang="zh-CN" altLang="en-US" sz="3200" dirty="0">
                <a:latin typeface="_x0001_" pitchFamily="18" charset="0"/>
                <a:ea typeface="楷体_GB2312" pitchFamily="49" charset="-122"/>
              </a:rPr>
              <a:t>越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快。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5680075" y="400050"/>
            <a:ext cx="3684588" cy="2589213"/>
            <a:chOff x="3583" y="252"/>
            <a:chExt cx="2321" cy="1631"/>
          </a:xfrm>
        </p:grpSpPr>
        <p:grpSp>
          <p:nvGrpSpPr>
            <p:cNvPr id="28686" name="Group 13"/>
            <p:cNvGrpSpPr/>
            <p:nvPr/>
          </p:nvGrpSpPr>
          <p:grpSpPr>
            <a:xfrm>
              <a:off x="3756" y="286"/>
              <a:ext cx="2148" cy="1441"/>
              <a:chOff x="308" y="904"/>
              <a:chExt cx="2945" cy="1182"/>
            </a:xfrm>
          </p:grpSpPr>
          <p:sp>
            <p:nvSpPr>
              <p:cNvPr id="28691" name="Text Box 14"/>
              <p:cNvSpPr txBox="1"/>
              <p:nvPr/>
            </p:nvSpPr>
            <p:spPr>
              <a:xfrm>
                <a:off x="2456" y="1681"/>
                <a:ext cx="797" cy="2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_x0001_" pitchFamily="18" charset="0"/>
                  </a:rPr>
                  <a:t>t </a:t>
                </a:r>
                <a:r>
                  <a:rPr lang="en-US" altLang="zh-CN" sz="2400" b="1" dirty="0">
                    <a:latin typeface="_x0001_" pitchFamily="18" charset="0"/>
                  </a:rPr>
                  <a:t>(s)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8692" name="Line 15"/>
              <p:cNvSpPr/>
              <p:nvPr/>
            </p:nvSpPr>
            <p:spPr>
              <a:xfrm>
                <a:off x="308" y="1822"/>
                <a:ext cx="215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8693" name="Line 16"/>
              <p:cNvSpPr/>
              <p:nvPr/>
            </p:nvSpPr>
            <p:spPr>
              <a:xfrm flipV="1">
                <a:off x="713" y="904"/>
                <a:ext cx="0" cy="107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8694" name="Line 17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5" name="Line 18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6" name="Line 19"/>
              <p:cNvSpPr/>
              <p:nvPr/>
            </p:nvSpPr>
            <p:spPr>
              <a:xfrm>
                <a:off x="1402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7" name="Line 20"/>
              <p:cNvSpPr/>
              <p:nvPr/>
            </p:nvSpPr>
            <p:spPr>
              <a:xfrm>
                <a:off x="1052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8" name="Line 21"/>
              <p:cNvSpPr/>
              <p:nvPr/>
            </p:nvSpPr>
            <p:spPr>
              <a:xfrm>
                <a:off x="139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9" name="Line 22"/>
              <p:cNvSpPr/>
              <p:nvPr/>
            </p:nvSpPr>
            <p:spPr>
              <a:xfrm>
                <a:off x="1714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0" name="Line 23"/>
              <p:cNvSpPr/>
              <p:nvPr/>
            </p:nvSpPr>
            <p:spPr>
              <a:xfrm>
                <a:off x="205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1" name="Text Box 24"/>
              <p:cNvSpPr txBox="1"/>
              <p:nvPr/>
            </p:nvSpPr>
            <p:spPr>
              <a:xfrm>
                <a:off x="516" y="1811"/>
                <a:ext cx="682" cy="23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0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28702" name="Text Box 25"/>
              <p:cNvSpPr txBox="1"/>
              <p:nvPr/>
            </p:nvSpPr>
            <p:spPr>
              <a:xfrm>
                <a:off x="1938" y="1787"/>
                <a:ext cx="776" cy="2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3200" b="1" dirty="0">
                    <a:latin typeface="_x0001_" pitchFamily="18" charset="0"/>
                    <a:sym typeface="Symbol" panose="05050102010706020507" pitchFamily="18" charset="2"/>
                  </a:rPr>
                  <a:t></a:t>
                </a:r>
                <a:endParaRPr lang="en-US" altLang="zh-CN" sz="2800" b="1" dirty="0">
                  <a:latin typeface="_x0001_" pitchFamily="18" charset="0"/>
                </a:endParaRPr>
              </a:p>
            </p:txBody>
          </p:sp>
        </p:grpSp>
        <p:sp>
          <p:nvSpPr>
            <p:cNvPr id="28687" name="Arc 26"/>
            <p:cNvSpPr/>
            <p:nvPr/>
          </p:nvSpPr>
          <p:spPr>
            <a:xfrm>
              <a:off x="4070" y="691"/>
              <a:ext cx="1159" cy="1192"/>
            </a:xfrm>
            <a:custGeom>
              <a:avLst/>
              <a:gdLst>
                <a:gd name="txL" fmla="*/ 0 w 23633"/>
                <a:gd name="txT" fmla="*/ 0 h 21600"/>
                <a:gd name="txR" fmla="*/ 23633 w 23633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3633" h="21600" fill="none">
                  <a:moveTo>
                    <a:pt x="0" y="12824"/>
                  </a:moveTo>
                  <a:cubicBezTo>
                    <a:pt x="3467" y="5025"/>
                    <a:pt x="11202" y="-1"/>
                    <a:pt x="19737" y="0"/>
                  </a:cubicBezTo>
                  <a:cubicBezTo>
                    <a:pt x="21043" y="0"/>
                    <a:pt x="22347" y="118"/>
                    <a:pt x="23632" y="354"/>
                  </a:cubicBezTo>
                </a:path>
                <a:path w="23633" h="21600" stroke="0">
                  <a:moveTo>
                    <a:pt x="0" y="12824"/>
                  </a:moveTo>
                  <a:cubicBezTo>
                    <a:pt x="3467" y="5025"/>
                    <a:pt x="11202" y="-1"/>
                    <a:pt x="19737" y="0"/>
                  </a:cubicBezTo>
                  <a:cubicBezTo>
                    <a:pt x="21043" y="0"/>
                    <a:pt x="22347" y="118"/>
                    <a:pt x="23632" y="354"/>
                  </a:cubicBezTo>
                  <a:lnTo>
                    <a:pt x="19737" y="21600"/>
                  </a:lnTo>
                  <a:lnTo>
                    <a:pt x="0" y="1282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8" name="Line 27"/>
            <p:cNvSpPr/>
            <p:nvPr/>
          </p:nvSpPr>
          <p:spPr>
            <a:xfrm>
              <a:off x="4047" y="652"/>
              <a:ext cx="1272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8689" name="Text Box 28"/>
            <p:cNvSpPr txBox="1"/>
            <p:nvPr/>
          </p:nvSpPr>
          <p:spPr>
            <a:xfrm>
              <a:off x="4222" y="252"/>
              <a:ext cx="62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f (t)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graphicFrame>
          <p:nvGraphicFramePr>
            <p:cNvPr id="28690" name="Object 29"/>
            <p:cNvGraphicFramePr>
              <a:graphicFrameLocks noChangeAspect="1"/>
            </p:cNvGraphicFramePr>
            <p:nvPr/>
          </p:nvGraphicFramePr>
          <p:xfrm>
            <a:off x="3583" y="540"/>
            <a:ext cx="43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9" imgW="355600" imgH="215900" progId="Equation.3">
                    <p:embed/>
                  </p:oleObj>
                </mc:Choice>
                <mc:Fallback>
                  <p:oleObj name="" r:id="rId9" imgW="355600" imgH="2159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83" y="540"/>
                          <a:ext cx="433" cy="2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70" name="Object 30"/>
          <p:cNvGraphicFramePr>
            <a:graphicFrameLocks noChangeAspect="1"/>
          </p:cNvGraphicFramePr>
          <p:nvPr/>
        </p:nvGraphicFramePr>
        <p:xfrm>
          <a:off x="4852988" y="2895600"/>
          <a:ext cx="1101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1" imgW="316865" imgH="177800" progId="Equation.3">
                  <p:embed/>
                </p:oleObj>
              </mc:Choice>
              <mc:Fallback>
                <p:oleObj name="" r:id="rId11" imgW="316865" imgH="1778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52988" y="2895600"/>
                        <a:ext cx="11017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1" name="Object 31"/>
          <p:cNvGraphicFramePr>
            <a:graphicFrameLocks noChangeAspect="1"/>
          </p:cNvGraphicFramePr>
          <p:nvPr/>
        </p:nvGraphicFramePr>
        <p:xfrm>
          <a:off x="4891088" y="4343400"/>
          <a:ext cx="10636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2" imgW="316865" imgH="177800" progId="Equation.3">
                  <p:embed/>
                </p:oleObj>
              </mc:Choice>
              <mc:Fallback>
                <p:oleObj name="" r:id="rId12" imgW="316865" imgH="1778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91088" y="4343400"/>
                        <a:ext cx="1063625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/>
      <p:bldP spid="163844" grpId="0"/>
      <p:bldP spid="163848" grpId="0"/>
      <p:bldP spid="163850" grpId="0"/>
      <p:bldP spid="1638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889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 7.4 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一阶电路的全响应</a:t>
            </a:r>
            <a:endParaRPr kumimoji="0" lang="zh-CN" altLang="en-US" sz="36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graphicFrame>
        <p:nvGraphicFramePr>
          <p:cNvPr id="170021" name="Object 37"/>
          <p:cNvGraphicFramePr>
            <a:graphicFrameLocks noChangeAspect="1"/>
          </p:cNvGraphicFramePr>
          <p:nvPr/>
        </p:nvGraphicFramePr>
        <p:xfrm>
          <a:off x="381000" y="2133600"/>
          <a:ext cx="38100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1422400" imgH="228600" progId="Equation.3">
                  <p:embed/>
                </p:oleObj>
              </mc:Choice>
              <mc:Fallback>
                <p:oleObj name="" r:id="rId1" imgW="1422400" imgH="2286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81000" y="2133600"/>
                        <a:ext cx="381000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2" name="Object 38"/>
          <p:cNvGraphicFramePr>
            <a:graphicFrameLocks noChangeAspect="1"/>
          </p:cNvGraphicFramePr>
          <p:nvPr/>
        </p:nvGraphicFramePr>
        <p:xfrm>
          <a:off x="739775" y="2974975"/>
          <a:ext cx="36036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3" imgW="1143000" imgH="393700" progId="Equation.3">
                  <p:embed/>
                </p:oleObj>
              </mc:Choice>
              <mc:Fallback>
                <p:oleObj name="" r:id="rId3" imgW="1143000" imgH="3937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39775" y="2974975"/>
                        <a:ext cx="360362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3" name="Object 39"/>
          <p:cNvGraphicFramePr>
            <a:graphicFrameLocks noChangeAspect="1"/>
          </p:cNvGraphicFramePr>
          <p:nvPr/>
        </p:nvGraphicFramePr>
        <p:xfrm>
          <a:off x="804863" y="3962400"/>
          <a:ext cx="19288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5" imgW="673100" imgH="228600" progId="Equation.3">
                  <p:embed/>
                </p:oleObj>
              </mc:Choice>
              <mc:Fallback>
                <p:oleObj name="" r:id="rId5" imgW="673100" imgH="2286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04863" y="3962400"/>
                        <a:ext cx="1928812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4" name="AutoShape 40"/>
          <p:cNvSpPr/>
          <p:nvPr/>
        </p:nvSpPr>
        <p:spPr>
          <a:xfrm>
            <a:off x="523875" y="3048000"/>
            <a:ext cx="166688" cy="1381125"/>
          </a:xfrm>
          <a:prstGeom prst="leftBrace">
            <a:avLst>
              <a:gd name="adj1" fmla="val 69047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0025" name="Object 41"/>
          <p:cNvGraphicFramePr>
            <a:graphicFrameLocks noChangeAspect="1"/>
          </p:cNvGraphicFramePr>
          <p:nvPr/>
        </p:nvGraphicFramePr>
        <p:xfrm>
          <a:off x="323850" y="4800600"/>
          <a:ext cx="39433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7" imgW="1066800" imgH="241300" progId="Equation.3">
                  <p:embed/>
                </p:oleObj>
              </mc:Choice>
              <mc:Fallback>
                <p:oleObj name="" r:id="rId7" imgW="1066800" imgH="2413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4800600"/>
                        <a:ext cx="394335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6" name="Object 42"/>
          <p:cNvGraphicFramePr>
            <a:graphicFrameLocks noChangeAspect="1"/>
          </p:cNvGraphicFramePr>
          <p:nvPr/>
        </p:nvGraphicFramePr>
        <p:xfrm>
          <a:off x="69850" y="5624513"/>
          <a:ext cx="416083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9" imgW="1383665" imgH="355600" progId="Equation.3">
                  <p:embed/>
                </p:oleObj>
              </mc:Choice>
              <mc:Fallback>
                <p:oleObj name="" r:id="rId9" imgW="1383665" imgH="3556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9850" y="5624513"/>
                        <a:ext cx="4160838" cy="868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7" name="Line 43"/>
          <p:cNvSpPr/>
          <p:nvPr/>
        </p:nvSpPr>
        <p:spPr>
          <a:xfrm>
            <a:off x="4419600" y="3203575"/>
            <a:ext cx="0" cy="315595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70028" name="Object 44"/>
          <p:cNvGraphicFramePr>
            <a:graphicFrameLocks noChangeAspect="1"/>
          </p:cNvGraphicFramePr>
          <p:nvPr/>
        </p:nvGraphicFramePr>
        <p:xfrm>
          <a:off x="4572000" y="3048000"/>
          <a:ext cx="33147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1" imgW="1219200" imgH="228600" progId="Equation.3">
                  <p:embed/>
                </p:oleObj>
              </mc:Choice>
              <mc:Fallback>
                <p:oleObj name="" r:id="rId11" imgW="1219200" imgH="2286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048000"/>
                        <a:ext cx="3314700" cy="620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9" name="Object 45"/>
          <p:cNvGraphicFramePr>
            <a:graphicFrameLocks noChangeAspect="1"/>
          </p:cNvGraphicFramePr>
          <p:nvPr/>
        </p:nvGraphicFramePr>
        <p:xfrm>
          <a:off x="4572000" y="3810000"/>
          <a:ext cx="231616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3" imgW="889000" imgH="228600" progId="Equation.3">
                  <p:embed/>
                </p:oleObj>
              </mc:Choice>
              <mc:Fallback>
                <p:oleObj name="" r:id="rId13" imgW="889000" imgH="2286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810000"/>
                        <a:ext cx="2316163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0" name="Object 46"/>
          <p:cNvGraphicFramePr>
            <a:graphicFrameLocks noChangeAspect="1"/>
          </p:cNvGraphicFramePr>
          <p:nvPr/>
        </p:nvGraphicFramePr>
        <p:xfrm>
          <a:off x="4572000" y="4572000"/>
          <a:ext cx="43386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5" imgW="1676400" imgH="342900" progId="Equation.3">
                  <p:embed/>
                </p:oleObj>
              </mc:Choice>
              <mc:Fallback>
                <p:oleObj name="" r:id="rId15" imgW="1676400" imgH="3429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4572000"/>
                        <a:ext cx="4338638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1" name="Object 47"/>
          <p:cNvGraphicFramePr>
            <a:graphicFrameLocks noChangeAspect="1"/>
          </p:cNvGraphicFramePr>
          <p:nvPr/>
        </p:nvGraphicFramePr>
        <p:xfrm>
          <a:off x="4572000" y="5562600"/>
          <a:ext cx="347186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7" imgW="1282700" imgH="342900" progId="Equation.3">
                  <p:embed/>
                </p:oleObj>
              </mc:Choice>
              <mc:Fallback>
                <p:oleObj name="" r:id="rId17" imgW="1282700" imgH="3429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5562600"/>
                        <a:ext cx="3471863" cy="801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2" name="Object 48"/>
          <p:cNvGraphicFramePr>
            <a:graphicFrameLocks noChangeAspect="1"/>
          </p:cNvGraphicFramePr>
          <p:nvPr/>
        </p:nvGraphicFramePr>
        <p:xfrm>
          <a:off x="8123238" y="5795963"/>
          <a:ext cx="10509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9" imgW="316865" imgH="177800" progId="Equation.3">
                  <p:embed/>
                </p:oleObj>
              </mc:Choice>
              <mc:Fallback>
                <p:oleObj name="" r:id="rId19" imgW="316865" imgH="1778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123238" y="5795963"/>
                        <a:ext cx="1050925" cy="45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3" name="Object 49"/>
          <p:cNvGraphicFramePr>
            <a:graphicFrameLocks noChangeAspect="1"/>
          </p:cNvGraphicFramePr>
          <p:nvPr/>
        </p:nvGraphicFramePr>
        <p:xfrm>
          <a:off x="1371600" y="1398588"/>
          <a:ext cx="19161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21" imgW="673100" imgH="228600" progId="Equation.3">
                  <p:embed/>
                </p:oleObj>
              </mc:Choice>
              <mc:Fallback>
                <p:oleObj name="" r:id="rId21" imgW="673100" imgH="2286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1398588"/>
                        <a:ext cx="1916113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34" name="Text Box 50"/>
          <p:cNvSpPr txBox="1"/>
          <p:nvPr/>
        </p:nvSpPr>
        <p:spPr>
          <a:xfrm>
            <a:off x="228600" y="1371600"/>
            <a:ext cx="29337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已知：</a:t>
            </a:r>
            <a:endParaRPr lang="zh-CN" altLang="en-US" sz="2800" b="1" dirty="0">
              <a:latin typeface="_x0001_" pitchFamily="18" charset="0"/>
            </a:endParaRPr>
          </a:p>
        </p:txBody>
      </p:sp>
      <p:sp>
        <p:nvSpPr>
          <p:cNvPr id="170053" name="Line 69"/>
          <p:cNvSpPr/>
          <p:nvPr/>
        </p:nvSpPr>
        <p:spPr>
          <a:xfrm>
            <a:off x="5849938" y="1143000"/>
            <a:ext cx="228600" cy="3810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0054" name="Text Box 70"/>
          <p:cNvSpPr txBox="1"/>
          <p:nvPr/>
        </p:nvSpPr>
        <p:spPr>
          <a:xfrm>
            <a:off x="5545138" y="838200"/>
            <a:ext cx="1219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</a:rPr>
              <a:t>S (t=0)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grpSp>
        <p:nvGrpSpPr>
          <p:cNvPr id="2" name="Group 82"/>
          <p:cNvGrpSpPr/>
          <p:nvPr/>
        </p:nvGrpSpPr>
        <p:grpSpPr>
          <a:xfrm>
            <a:off x="4984750" y="838200"/>
            <a:ext cx="4159250" cy="2093913"/>
            <a:chOff x="3140" y="480"/>
            <a:chExt cx="2620" cy="1319"/>
          </a:xfrm>
        </p:grpSpPr>
        <p:sp>
          <p:nvSpPr>
            <p:cNvPr id="30741" name="Line 52"/>
            <p:cNvSpPr/>
            <p:nvPr/>
          </p:nvSpPr>
          <p:spPr>
            <a:xfrm>
              <a:off x="3279" y="1786"/>
              <a:ext cx="187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2" name="Line 53"/>
            <p:cNvSpPr/>
            <p:nvPr/>
          </p:nvSpPr>
          <p:spPr>
            <a:xfrm>
              <a:off x="5029" y="1293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3" name="Line 54"/>
            <p:cNvSpPr/>
            <p:nvPr/>
          </p:nvSpPr>
          <p:spPr>
            <a:xfrm>
              <a:off x="5029" y="1411"/>
              <a:ext cx="21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4" name="Rectangle 55"/>
            <p:cNvSpPr/>
            <p:nvPr/>
          </p:nvSpPr>
          <p:spPr>
            <a:xfrm rot="5400000">
              <a:off x="4335" y="701"/>
              <a:ext cx="136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45" name="Line 56"/>
            <p:cNvSpPr/>
            <p:nvPr/>
          </p:nvSpPr>
          <p:spPr>
            <a:xfrm>
              <a:off x="5141" y="1400"/>
              <a:ext cx="0" cy="39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6" name="Line 57"/>
            <p:cNvSpPr/>
            <p:nvPr/>
          </p:nvSpPr>
          <p:spPr>
            <a:xfrm flipV="1">
              <a:off x="5141" y="854"/>
              <a:ext cx="0" cy="4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7" name="Text Box 58"/>
            <p:cNvSpPr txBox="1"/>
            <p:nvPr/>
          </p:nvSpPr>
          <p:spPr>
            <a:xfrm>
              <a:off x="5125" y="1008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0748" name="Text Box 59"/>
            <p:cNvSpPr txBox="1"/>
            <p:nvPr/>
          </p:nvSpPr>
          <p:spPr>
            <a:xfrm>
              <a:off x="4755" y="1200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C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0749" name="Text Box 60"/>
            <p:cNvSpPr txBox="1"/>
            <p:nvPr/>
          </p:nvSpPr>
          <p:spPr>
            <a:xfrm>
              <a:off x="4261" y="528"/>
              <a:ext cx="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R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0750" name="Line 61"/>
            <p:cNvSpPr/>
            <p:nvPr/>
          </p:nvSpPr>
          <p:spPr>
            <a:xfrm flipV="1">
              <a:off x="3968" y="851"/>
              <a:ext cx="27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1" name="Text Box 62"/>
            <p:cNvSpPr txBox="1"/>
            <p:nvPr/>
          </p:nvSpPr>
          <p:spPr>
            <a:xfrm>
              <a:off x="5221" y="1152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sp>
          <p:nvSpPr>
            <p:cNvPr id="30752" name="Oval 63"/>
            <p:cNvSpPr/>
            <p:nvPr/>
          </p:nvSpPr>
          <p:spPr>
            <a:xfrm>
              <a:off x="3140" y="1166"/>
              <a:ext cx="272" cy="27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53" name="Line 64"/>
            <p:cNvSpPr/>
            <p:nvPr/>
          </p:nvSpPr>
          <p:spPr>
            <a:xfrm>
              <a:off x="3279" y="870"/>
              <a:ext cx="0" cy="9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4" name="Oval 65"/>
            <p:cNvSpPr/>
            <p:nvPr/>
          </p:nvSpPr>
          <p:spPr>
            <a:xfrm>
              <a:off x="3909" y="819"/>
              <a:ext cx="77" cy="7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55" name="Oval 66"/>
            <p:cNvSpPr/>
            <p:nvPr/>
          </p:nvSpPr>
          <p:spPr>
            <a:xfrm>
              <a:off x="3541" y="832"/>
              <a:ext cx="77" cy="7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56" name="Line 67"/>
            <p:cNvSpPr/>
            <p:nvPr/>
          </p:nvSpPr>
          <p:spPr>
            <a:xfrm flipH="1">
              <a:off x="3271" y="870"/>
              <a:ext cx="2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7" name="Line 68"/>
            <p:cNvSpPr/>
            <p:nvPr/>
          </p:nvSpPr>
          <p:spPr>
            <a:xfrm flipV="1">
              <a:off x="3605" y="768"/>
              <a:ext cx="336" cy="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8" name="Line 71"/>
            <p:cNvSpPr/>
            <p:nvPr/>
          </p:nvSpPr>
          <p:spPr>
            <a:xfrm>
              <a:off x="4573" y="856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59" name="Group 72"/>
            <p:cNvGrpSpPr/>
            <p:nvPr/>
          </p:nvGrpSpPr>
          <p:grpSpPr>
            <a:xfrm>
              <a:off x="4085" y="930"/>
              <a:ext cx="591" cy="366"/>
              <a:chOff x="815" y="773"/>
              <a:chExt cx="598" cy="353"/>
            </a:xfrm>
          </p:grpSpPr>
          <p:grpSp>
            <p:nvGrpSpPr>
              <p:cNvPr id="30765" name="Group 73"/>
              <p:cNvGrpSpPr/>
              <p:nvPr/>
            </p:nvGrpSpPr>
            <p:grpSpPr>
              <a:xfrm>
                <a:off x="815" y="773"/>
                <a:ext cx="598" cy="278"/>
                <a:chOff x="815" y="773"/>
                <a:chExt cx="598" cy="278"/>
              </a:xfrm>
            </p:grpSpPr>
            <p:sp>
              <p:nvSpPr>
                <p:cNvPr id="30767" name="Text Box 74"/>
                <p:cNvSpPr txBox="1"/>
                <p:nvPr/>
              </p:nvSpPr>
              <p:spPr>
                <a:xfrm>
                  <a:off x="815" y="773"/>
                  <a:ext cx="228" cy="27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</a:rPr>
                    <a:t>+</a:t>
                  </a:r>
                  <a:endParaRPr lang="en-US" altLang="zh-CN" sz="2400" b="1" dirty="0">
                    <a:solidFill>
                      <a:srgbClr val="FFFF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768" name="Text Box 75"/>
                <p:cNvSpPr txBox="1"/>
                <p:nvPr/>
              </p:nvSpPr>
              <p:spPr>
                <a:xfrm>
                  <a:off x="1198" y="773"/>
                  <a:ext cx="215" cy="27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</a:rPr>
                    <a:t>–</a:t>
                  </a:r>
                  <a:endParaRPr lang="en-US" altLang="zh-CN" sz="2400" b="1" dirty="0">
                    <a:solidFill>
                      <a:srgbClr val="FFFFFF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66" name="Text Box 76"/>
              <p:cNvSpPr txBox="1"/>
              <p:nvPr/>
            </p:nvSpPr>
            <p:spPr>
              <a:xfrm>
                <a:off x="951" y="774"/>
                <a:ext cx="347" cy="35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400" b="1" i="1" baseline="-25000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R</a:t>
                </a:r>
                <a:endParaRPr lang="en-US" altLang="zh-CN" sz="2400" b="1" baseline="-250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60" name="Group 77"/>
            <p:cNvGrpSpPr/>
            <p:nvPr/>
          </p:nvGrpSpPr>
          <p:grpSpPr>
            <a:xfrm>
              <a:off x="4741" y="480"/>
              <a:ext cx="238" cy="365"/>
              <a:chOff x="1871" y="438"/>
              <a:chExt cx="241" cy="353"/>
            </a:xfrm>
          </p:grpSpPr>
          <p:sp>
            <p:nvSpPr>
              <p:cNvPr id="30763" name="Line 78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64" name="Text Box 79"/>
              <p:cNvSpPr txBox="1"/>
              <p:nvPr/>
            </p:nvSpPr>
            <p:spPr>
              <a:xfrm>
                <a:off x="1871" y="438"/>
                <a:ext cx="189" cy="35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i</a:t>
                </a:r>
                <a:endParaRPr lang="en-US" altLang="zh-CN" sz="2400" b="1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61" name="Text Box 80"/>
            <p:cNvSpPr txBox="1"/>
            <p:nvPr/>
          </p:nvSpPr>
          <p:spPr>
            <a:xfrm>
              <a:off x="3397" y="1152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i="1" baseline="-25000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2" name="Text Box 81"/>
            <p:cNvSpPr txBox="1"/>
            <p:nvPr/>
          </p:nvSpPr>
          <p:spPr>
            <a:xfrm>
              <a:off x="3301" y="960"/>
              <a:ext cx="261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70067" name="Text Box 83"/>
          <p:cNvSpPr txBox="1"/>
          <p:nvPr/>
        </p:nvSpPr>
        <p:spPr>
          <a:xfrm>
            <a:off x="152400" y="685800"/>
            <a:ext cx="22860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Arial" panose="020B0604020202020204" pitchFamily="34" charset="0"/>
              </a:rPr>
              <a:t>1.</a:t>
            </a: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</a:rPr>
              <a:t>全响应</a:t>
            </a:r>
            <a:endParaRPr lang="zh-CN" altLang="en-US" sz="32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7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0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0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0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/>
      <p:bldP spid="170024" grpId="0" animBg="1"/>
      <p:bldP spid="170034" grpId="0"/>
      <p:bldP spid="170054" grpId="0"/>
      <p:bldP spid="1700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38" name="Object 58"/>
          <p:cNvGraphicFramePr>
            <a:graphicFrameLocks noChangeAspect="1"/>
          </p:cNvGraphicFramePr>
          <p:nvPr/>
        </p:nvGraphicFramePr>
        <p:xfrm>
          <a:off x="228600" y="106363"/>
          <a:ext cx="52451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1714500" imgH="342900" progId="Equation.3">
                  <p:embed/>
                </p:oleObj>
              </mc:Choice>
              <mc:Fallback>
                <p:oleObj name="" r:id="rId1" imgW="1714500" imgH="3429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106363"/>
                        <a:ext cx="5245100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9" name="Object 59"/>
          <p:cNvGraphicFramePr>
            <a:graphicFrameLocks noChangeAspect="1"/>
          </p:cNvGraphicFramePr>
          <p:nvPr/>
        </p:nvGraphicFramePr>
        <p:xfrm>
          <a:off x="5884863" y="381000"/>
          <a:ext cx="10683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" imgW="316865" imgH="177800" progId="Equation.3">
                  <p:embed/>
                </p:oleObj>
              </mc:Choice>
              <mc:Fallback>
                <p:oleObj name="" r:id="rId3" imgW="316865" imgH="1778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884863" y="381000"/>
                        <a:ext cx="1068387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0" name="Text Box 60"/>
          <p:cNvSpPr txBox="1"/>
          <p:nvPr/>
        </p:nvSpPr>
        <p:spPr>
          <a:xfrm>
            <a:off x="101600" y="1624013"/>
            <a:ext cx="2497138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_x0001_" pitchFamily="18" charset="0"/>
                <a:ea typeface="楷体_GB2312" pitchFamily="49" charset="-122"/>
              </a:rPr>
              <a:t>若</a:t>
            </a:r>
            <a:r>
              <a:rPr lang="en-US" altLang="zh-CN" sz="3200" dirty="0">
                <a:latin typeface="_x0001_" pitchFamily="18" charset="0"/>
              </a:rPr>
              <a:t>U</a:t>
            </a:r>
            <a:r>
              <a:rPr lang="en-US" altLang="zh-CN" sz="3200" baseline="-25000" dirty="0">
                <a:latin typeface="_x0001_" pitchFamily="18" charset="0"/>
              </a:rPr>
              <a:t>S</a:t>
            </a:r>
            <a:r>
              <a:rPr lang="en-US" altLang="zh-CN" sz="3200" dirty="0">
                <a:latin typeface="_x0001_" pitchFamily="18" charset="0"/>
              </a:rPr>
              <a:t>=0:</a:t>
            </a:r>
            <a:endParaRPr lang="en-US" altLang="zh-CN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41" name="Text Box 61"/>
          <p:cNvSpPr txBox="1"/>
          <p:nvPr/>
        </p:nvSpPr>
        <p:spPr>
          <a:xfrm>
            <a:off x="5986463" y="1495425"/>
            <a:ext cx="3425825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零输入响应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42" name="Text Box 62"/>
          <p:cNvSpPr txBox="1"/>
          <p:nvPr/>
        </p:nvSpPr>
        <p:spPr>
          <a:xfrm>
            <a:off x="6999288" y="2460625"/>
            <a:ext cx="2384425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零状态响应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43" name="Text Box 63"/>
          <p:cNvSpPr txBox="1"/>
          <p:nvPr/>
        </p:nvSpPr>
        <p:spPr>
          <a:xfrm>
            <a:off x="6986588" y="292100"/>
            <a:ext cx="2711450" cy="584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latin typeface="_x0001_" pitchFamily="18" charset="0"/>
                <a:ea typeface="楷体_GB2312" pitchFamily="49" charset="-122"/>
              </a:rPr>
              <a:t>完全</a:t>
            </a:r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响应</a:t>
            </a:r>
            <a:endParaRPr lang="zh-CN" altLang="en-US" sz="3200" dirty="0">
              <a:solidFill>
                <a:schemeClr val="tx2"/>
              </a:solidFill>
              <a:latin typeface="_x0001_" pitchFamily="18" charset="0"/>
            </a:endParaRPr>
          </a:p>
        </p:txBody>
      </p:sp>
      <p:sp>
        <p:nvSpPr>
          <p:cNvPr id="174144" name="Text Box 64"/>
          <p:cNvSpPr txBox="1"/>
          <p:nvPr/>
        </p:nvSpPr>
        <p:spPr>
          <a:xfrm>
            <a:off x="228600" y="3168650"/>
            <a:ext cx="7794625" cy="6413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chemeClr val="tx2"/>
                </a:solidFill>
                <a:latin typeface="_x0001_" pitchFamily="18" charset="0"/>
                <a:ea typeface="楷体_GB2312" pitchFamily="49" charset="-122"/>
                <a:sym typeface="Symbol" panose="05050102010706020507" pitchFamily="18" charset="2"/>
              </a:rPr>
              <a:t></a:t>
            </a:r>
            <a:r>
              <a:rPr lang="zh-CN" altLang="en-US" sz="3600" dirty="0">
                <a:solidFill>
                  <a:schemeClr val="tx2"/>
                </a:solidFill>
                <a:latin typeface="_x0001_" pitchFamily="18" charset="0"/>
                <a:ea typeface="楷体_GB2312" pitchFamily="49" charset="-122"/>
              </a:rPr>
              <a:t>完全</a:t>
            </a:r>
            <a:r>
              <a:rPr lang="zh-CN" altLang="en-US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响应</a:t>
            </a:r>
            <a:r>
              <a:rPr lang="en-US" altLang="zh-CN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zh-CN" altLang="en-US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零输入响应</a:t>
            </a:r>
            <a:r>
              <a:rPr lang="en-US" altLang="zh-CN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零状态响应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65"/>
          <p:cNvGrpSpPr/>
          <p:nvPr/>
        </p:nvGrpSpPr>
        <p:grpSpPr>
          <a:xfrm>
            <a:off x="2473325" y="2438400"/>
            <a:ext cx="4525963" cy="730250"/>
            <a:chOff x="1560" y="1461"/>
            <a:chExt cx="2964" cy="511"/>
          </a:xfrm>
        </p:grpSpPr>
        <p:graphicFrame>
          <p:nvGraphicFramePr>
            <p:cNvPr id="31792" name="Object 66"/>
            <p:cNvGraphicFramePr>
              <a:graphicFrameLocks noChangeAspect="1"/>
            </p:cNvGraphicFramePr>
            <p:nvPr/>
          </p:nvGraphicFramePr>
          <p:xfrm>
            <a:off x="1560" y="1461"/>
            <a:ext cx="2104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5" imgW="1091565" imgH="266700" progId="Equation.3">
                    <p:embed/>
                  </p:oleObj>
                </mc:Choice>
                <mc:Fallback>
                  <p:oleObj name="" r:id="rId5" imgW="1091565" imgH="2667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0" y="1461"/>
                          <a:ext cx="2104" cy="5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93" name="Object 67"/>
            <p:cNvGraphicFramePr>
              <a:graphicFrameLocks noChangeAspect="1"/>
            </p:cNvGraphicFramePr>
            <p:nvPr/>
          </p:nvGraphicFramePr>
          <p:xfrm>
            <a:off x="3851" y="1520"/>
            <a:ext cx="67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7" imgW="316865" imgH="177800" progId="Equation.3">
                    <p:embed/>
                  </p:oleObj>
                </mc:Choice>
                <mc:Fallback>
                  <p:oleObj name="" r:id="rId7" imgW="316865" imgH="1778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1" y="1520"/>
                          <a:ext cx="673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48" name="Object 68"/>
          <p:cNvGraphicFramePr>
            <a:graphicFrameLocks noChangeAspect="1"/>
          </p:cNvGraphicFramePr>
          <p:nvPr/>
        </p:nvGraphicFramePr>
        <p:xfrm>
          <a:off x="1709738" y="1295400"/>
          <a:ext cx="2481262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8" imgW="812165" imgH="342900" progId="Equation.3">
                  <p:embed/>
                </p:oleObj>
              </mc:Choice>
              <mc:Fallback>
                <p:oleObj name="" r:id="rId8" imgW="812165" imgH="3429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9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709738" y="1295400"/>
                        <a:ext cx="2481262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9" name="Object 69"/>
          <p:cNvGraphicFramePr>
            <a:graphicFrameLocks noChangeAspect="1"/>
          </p:cNvGraphicFramePr>
          <p:nvPr/>
        </p:nvGraphicFramePr>
        <p:xfrm>
          <a:off x="4387850" y="1700213"/>
          <a:ext cx="10683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0" imgW="316865" imgH="177800" progId="Equation.3">
                  <p:embed/>
                </p:oleObj>
              </mc:Choice>
              <mc:Fallback>
                <p:oleObj name="" r:id="rId10" imgW="316865" imgH="1778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387850" y="1700213"/>
                        <a:ext cx="1068388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0"/>
          <p:cNvGrpSpPr/>
          <p:nvPr/>
        </p:nvGrpSpPr>
        <p:grpSpPr>
          <a:xfrm>
            <a:off x="131763" y="2565400"/>
            <a:ext cx="2455862" cy="638175"/>
            <a:chOff x="144" y="1556"/>
            <a:chExt cx="1547" cy="402"/>
          </a:xfrm>
        </p:grpSpPr>
        <p:sp>
          <p:nvSpPr>
            <p:cNvPr id="31790" name="Text Box 71"/>
            <p:cNvSpPr txBox="1"/>
            <p:nvPr/>
          </p:nvSpPr>
          <p:spPr>
            <a:xfrm>
              <a:off x="144" y="1556"/>
              <a:ext cx="154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latin typeface="楷体_GB2312" pitchFamily="49" charset="-122"/>
                  <a:ea typeface="楷体_GB2312" pitchFamily="49" charset="-122"/>
                </a:rPr>
                <a:t>若</a:t>
              </a:r>
              <a:r>
                <a:rPr lang="en-US" altLang="en-US" sz="3200" b="1" dirty="0">
                  <a:latin typeface="_x0001_" pitchFamily="18" charset="0"/>
                  <a:ea typeface="楷体_GB2312" pitchFamily="49" charset="-122"/>
                </a:rPr>
                <a:t>                 </a:t>
              </a:r>
              <a:r>
                <a:rPr lang="en-US" altLang="zh-CN" sz="3200" dirty="0">
                  <a:latin typeface="楷体_GB2312" pitchFamily="49" charset="-122"/>
                  <a:ea typeface="楷体_GB2312" pitchFamily="49" charset="-122"/>
                </a:rPr>
                <a:t>:</a:t>
              </a:r>
              <a:endParaRPr lang="en-US" altLang="zh-CN" sz="3200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31791" name="Object 72"/>
            <p:cNvGraphicFramePr>
              <a:graphicFrameLocks noChangeAspect="1"/>
            </p:cNvGraphicFramePr>
            <p:nvPr/>
          </p:nvGraphicFramePr>
          <p:xfrm>
            <a:off x="427" y="1556"/>
            <a:ext cx="1007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11" imgW="571500" imgH="228600" progId="Equation.3">
                    <p:embed/>
                  </p:oleObj>
                </mc:Choice>
                <mc:Fallback>
                  <p:oleObj name="" r:id="rId11" imgW="571500" imgH="22860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7" y="1556"/>
                          <a:ext cx="1007" cy="4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53" name="Text Box 73"/>
          <p:cNvSpPr txBox="1"/>
          <p:nvPr/>
        </p:nvSpPr>
        <p:spPr>
          <a:xfrm>
            <a:off x="1443038" y="4860925"/>
            <a:ext cx="711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_x0001_" pitchFamily="18" charset="0"/>
              </a:rPr>
              <a:t>U</a:t>
            </a:r>
            <a:r>
              <a:rPr lang="en-US" altLang="zh-CN" sz="2400" b="1" baseline="-25000" dirty="0">
                <a:latin typeface="_x0001_" pitchFamily="18" charset="0"/>
              </a:rPr>
              <a:t>S</a:t>
            </a:r>
            <a:endParaRPr lang="en-US" altLang="zh-CN" sz="2400" b="1" dirty="0">
              <a:latin typeface="_x0001_" pitchFamily="18" charset="0"/>
            </a:endParaRPr>
          </a:p>
        </p:txBody>
      </p:sp>
      <p:sp>
        <p:nvSpPr>
          <p:cNvPr id="174154" name="Text Box 74"/>
          <p:cNvSpPr txBox="1"/>
          <p:nvPr/>
        </p:nvSpPr>
        <p:spPr>
          <a:xfrm>
            <a:off x="1604963" y="4318000"/>
            <a:ext cx="7112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_x0001_" pitchFamily="18" charset="0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_x0001_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sp>
        <p:nvSpPr>
          <p:cNvPr id="174155" name="Line 75"/>
          <p:cNvSpPr/>
          <p:nvPr/>
        </p:nvSpPr>
        <p:spPr>
          <a:xfrm>
            <a:off x="2162175" y="5060950"/>
            <a:ext cx="2663825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4" name="Group 76"/>
          <p:cNvGrpSpPr/>
          <p:nvPr/>
        </p:nvGrpSpPr>
        <p:grpSpPr>
          <a:xfrm>
            <a:off x="1446213" y="3827463"/>
            <a:ext cx="5060950" cy="2943225"/>
            <a:chOff x="3357" y="2393"/>
            <a:chExt cx="3188" cy="1854"/>
          </a:xfrm>
        </p:grpSpPr>
        <p:graphicFrame>
          <p:nvGraphicFramePr>
            <p:cNvPr id="31776" name="Object 77"/>
            <p:cNvGraphicFramePr>
              <a:graphicFrameLocks noChangeAspect="1"/>
            </p:cNvGraphicFramePr>
            <p:nvPr/>
          </p:nvGraphicFramePr>
          <p:xfrm>
            <a:off x="3743" y="2393"/>
            <a:ext cx="57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3" imgW="342900" imgH="228600" progId="Equation.3">
                    <p:embed/>
                  </p:oleObj>
                </mc:Choice>
                <mc:Fallback>
                  <p:oleObj name="" r:id="rId13" imgW="342900" imgH="2286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43" y="2393"/>
                          <a:ext cx="577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77" name="Group 78"/>
            <p:cNvGrpSpPr/>
            <p:nvPr/>
          </p:nvGrpSpPr>
          <p:grpSpPr>
            <a:xfrm>
              <a:off x="3357" y="2602"/>
              <a:ext cx="3188" cy="1645"/>
              <a:chOff x="308" y="904"/>
              <a:chExt cx="2945" cy="1135"/>
            </a:xfrm>
          </p:grpSpPr>
          <p:sp>
            <p:nvSpPr>
              <p:cNvPr id="31778" name="Text Box 79"/>
              <p:cNvSpPr txBox="1"/>
              <p:nvPr/>
            </p:nvSpPr>
            <p:spPr>
              <a:xfrm>
                <a:off x="2456" y="1681"/>
                <a:ext cx="797" cy="25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_x0001_" pitchFamily="18" charset="0"/>
                  </a:rPr>
                  <a:t>t </a:t>
                </a:r>
                <a:r>
                  <a:rPr lang="en-US" altLang="zh-CN" sz="2400" b="1" dirty="0">
                    <a:latin typeface="_x0001_" pitchFamily="18" charset="0"/>
                  </a:rPr>
                  <a:t>(s)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31779" name="Line 80"/>
              <p:cNvSpPr/>
              <p:nvPr/>
            </p:nvSpPr>
            <p:spPr>
              <a:xfrm>
                <a:off x="308" y="1822"/>
                <a:ext cx="215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1780" name="Line 81"/>
              <p:cNvSpPr/>
              <p:nvPr/>
            </p:nvSpPr>
            <p:spPr>
              <a:xfrm flipV="1">
                <a:off x="713" y="904"/>
                <a:ext cx="0" cy="107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1781" name="Line 82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2" name="Line 83"/>
              <p:cNvSpPr/>
              <p:nvPr/>
            </p:nvSpPr>
            <p:spPr>
              <a:xfrm>
                <a:off x="1086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3" name="Line 84"/>
              <p:cNvSpPr/>
              <p:nvPr/>
            </p:nvSpPr>
            <p:spPr>
              <a:xfrm>
                <a:off x="1402" y="1940"/>
                <a:ext cx="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4" name="Line 85"/>
              <p:cNvSpPr/>
              <p:nvPr/>
            </p:nvSpPr>
            <p:spPr>
              <a:xfrm>
                <a:off x="1052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5" name="Line 86"/>
              <p:cNvSpPr/>
              <p:nvPr/>
            </p:nvSpPr>
            <p:spPr>
              <a:xfrm>
                <a:off x="139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6" name="Line 87"/>
              <p:cNvSpPr/>
              <p:nvPr/>
            </p:nvSpPr>
            <p:spPr>
              <a:xfrm>
                <a:off x="1714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7" name="Line 88"/>
              <p:cNvSpPr/>
              <p:nvPr/>
            </p:nvSpPr>
            <p:spPr>
              <a:xfrm>
                <a:off x="2056" y="1787"/>
                <a:ext cx="0" cy="6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8" name="Text Box 89"/>
              <p:cNvSpPr txBox="1"/>
              <p:nvPr/>
            </p:nvSpPr>
            <p:spPr>
              <a:xfrm>
                <a:off x="517" y="1811"/>
                <a:ext cx="681" cy="1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0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31789" name="Text Box 90"/>
              <p:cNvSpPr txBox="1"/>
              <p:nvPr/>
            </p:nvSpPr>
            <p:spPr>
              <a:xfrm>
                <a:off x="1938" y="1787"/>
                <a:ext cx="776" cy="25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3200" b="1" dirty="0">
                    <a:latin typeface="_x0001_" pitchFamily="18" charset="0"/>
                    <a:sym typeface="Symbol" panose="05050102010706020507" pitchFamily="18" charset="2"/>
                  </a:rPr>
                  <a:t></a:t>
                </a:r>
                <a:endParaRPr lang="en-US" altLang="zh-CN" sz="2800" b="1" dirty="0">
                  <a:latin typeface="_x0001_" pitchFamily="18" charset="0"/>
                </a:endParaRPr>
              </a:p>
            </p:txBody>
          </p:sp>
        </p:grpSp>
      </p:grpSp>
      <p:grpSp>
        <p:nvGrpSpPr>
          <p:cNvPr id="6" name="Group 91"/>
          <p:cNvGrpSpPr/>
          <p:nvPr/>
        </p:nvGrpSpPr>
        <p:grpSpPr>
          <a:xfrm>
            <a:off x="2162175" y="4575175"/>
            <a:ext cx="2786063" cy="485775"/>
            <a:chOff x="-2201" y="3495"/>
            <a:chExt cx="1755" cy="306"/>
          </a:xfrm>
        </p:grpSpPr>
        <p:sp>
          <p:nvSpPr>
            <p:cNvPr id="31774" name="Arc 92"/>
            <p:cNvSpPr/>
            <p:nvPr/>
          </p:nvSpPr>
          <p:spPr>
            <a:xfrm flipH="1">
              <a:off x="-2201" y="3541"/>
              <a:ext cx="1755" cy="260"/>
            </a:xfrm>
            <a:custGeom>
              <a:avLst/>
              <a:gdLst>
                <a:gd name="txL" fmla="*/ 0 w 24036"/>
                <a:gd name="txT" fmla="*/ 0 h 21600"/>
                <a:gd name="txR" fmla="*/ 24036 w 24036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036" h="21600" fill="none">
                  <a:moveTo>
                    <a:pt x="24036" y="2034"/>
                  </a:moveTo>
                  <a:cubicBezTo>
                    <a:pt x="22986" y="13125"/>
                    <a:pt x="13673" y="21599"/>
                    <a:pt x="2532" y="21600"/>
                  </a:cubicBezTo>
                  <a:cubicBezTo>
                    <a:pt x="1685" y="21600"/>
                    <a:pt x="840" y="21550"/>
                    <a:pt x="-1" y="21451"/>
                  </a:cubicBezTo>
                </a:path>
                <a:path w="24036" h="21600" stroke="0">
                  <a:moveTo>
                    <a:pt x="24036" y="2034"/>
                  </a:moveTo>
                  <a:cubicBezTo>
                    <a:pt x="22986" y="13125"/>
                    <a:pt x="13673" y="21599"/>
                    <a:pt x="2532" y="21600"/>
                  </a:cubicBezTo>
                  <a:cubicBezTo>
                    <a:pt x="1685" y="21600"/>
                    <a:pt x="840" y="21550"/>
                    <a:pt x="-1" y="21451"/>
                  </a:cubicBezTo>
                  <a:lnTo>
                    <a:pt x="2532" y="0"/>
                  </a:lnTo>
                  <a:lnTo>
                    <a:pt x="24036" y="2034"/>
                  </a:lnTo>
                  <a:close/>
                </a:path>
              </a:pathLst>
            </a:custGeom>
            <a:noFill/>
            <a:ln w="38100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75" name="Text Box 93"/>
            <p:cNvSpPr txBox="1"/>
            <p:nvPr/>
          </p:nvSpPr>
          <p:spPr>
            <a:xfrm>
              <a:off x="-1618" y="3495"/>
              <a:ext cx="71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66FFFF"/>
                  </a:solidFill>
                  <a:latin typeface="_x0001_" pitchFamily="18" charset="0"/>
                </a:rPr>
                <a:t>1+2</a:t>
              </a:r>
              <a:endParaRPr lang="en-US" altLang="zh-CN" sz="2400" b="1" dirty="0">
                <a:solidFill>
                  <a:srgbClr val="66FFFF"/>
                </a:solidFill>
                <a:latin typeface="_x0001_" pitchFamily="18" charset="0"/>
              </a:endParaRPr>
            </a:p>
          </p:txBody>
        </p:sp>
      </p:grpSp>
      <p:grpSp>
        <p:nvGrpSpPr>
          <p:cNvPr id="7" name="Group 94"/>
          <p:cNvGrpSpPr/>
          <p:nvPr/>
        </p:nvGrpSpPr>
        <p:grpSpPr>
          <a:xfrm>
            <a:off x="2133600" y="4487863"/>
            <a:ext cx="2786063" cy="1731962"/>
            <a:chOff x="3246" y="2476"/>
            <a:chExt cx="1755" cy="1091"/>
          </a:xfrm>
        </p:grpSpPr>
        <p:sp>
          <p:nvSpPr>
            <p:cNvPr id="31772" name="Arc 95"/>
            <p:cNvSpPr/>
            <p:nvPr/>
          </p:nvSpPr>
          <p:spPr>
            <a:xfrm flipH="1">
              <a:off x="3246" y="2476"/>
              <a:ext cx="1755" cy="1086"/>
            </a:xfrm>
            <a:custGeom>
              <a:avLst/>
              <a:gdLst>
                <a:gd name="txL" fmla="*/ 0 w 24036"/>
                <a:gd name="txT" fmla="*/ 0 h 21600"/>
                <a:gd name="txR" fmla="*/ 24036 w 24036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036" h="21600" fill="none">
                  <a:moveTo>
                    <a:pt x="24036" y="2034"/>
                  </a:moveTo>
                  <a:cubicBezTo>
                    <a:pt x="22986" y="13125"/>
                    <a:pt x="13673" y="21599"/>
                    <a:pt x="2532" y="21600"/>
                  </a:cubicBezTo>
                  <a:cubicBezTo>
                    <a:pt x="1685" y="21600"/>
                    <a:pt x="840" y="21550"/>
                    <a:pt x="-1" y="21451"/>
                  </a:cubicBezTo>
                </a:path>
                <a:path w="24036" h="21600" stroke="0">
                  <a:moveTo>
                    <a:pt x="24036" y="2034"/>
                  </a:moveTo>
                  <a:cubicBezTo>
                    <a:pt x="22986" y="13125"/>
                    <a:pt x="13673" y="21599"/>
                    <a:pt x="2532" y="21600"/>
                  </a:cubicBezTo>
                  <a:cubicBezTo>
                    <a:pt x="1685" y="21600"/>
                    <a:pt x="840" y="21550"/>
                    <a:pt x="-1" y="21451"/>
                  </a:cubicBezTo>
                  <a:lnTo>
                    <a:pt x="2532" y="0"/>
                  </a:lnTo>
                  <a:lnTo>
                    <a:pt x="24036" y="203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73" name="Text Box 96"/>
            <p:cNvSpPr txBox="1"/>
            <p:nvPr/>
          </p:nvSpPr>
          <p:spPr>
            <a:xfrm>
              <a:off x="4468" y="3279"/>
              <a:ext cx="1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_x0001_" pitchFamily="18" charset="0"/>
                </a:rPr>
                <a:t>1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</p:grpSp>
      <p:grpSp>
        <p:nvGrpSpPr>
          <p:cNvPr id="8" name="Group 97"/>
          <p:cNvGrpSpPr/>
          <p:nvPr/>
        </p:nvGrpSpPr>
        <p:grpSpPr>
          <a:xfrm>
            <a:off x="2154238" y="5118100"/>
            <a:ext cx="2636837" cy="1892300"/>
            <a:chOff x="3516" y="2882"/>
            <a:chExt cx="1661" cy="1192"/>
          </a:xfrm>
        </p:grpSpPr>
        <p:sp>
          <p:nvSpPr>
            <p:cNvPr id="31770" name="Arc 98"/>
            <p:cNvSpPr/>
            <p:nvPr/>
          </p:nvSpPr>
          <p:spPr>
            <a:xfrm>
              <a:off x="3516" y="2882"/>
              <a:ext cx="1661" cy="1192"/>
            </a:xfrm>
            <a:custGeom>
              <a:avLst/>
              <a:gdLst>
                <a:gd name="txL" fmla="*/ 0 w 19791"/>
                <a:gd name="txT" fmla="*/ 0 h 21600"/>
                <a:gd name="txR" fmla="*/ 19791 w 19791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791" h="21600" fill="none">
                  <a:moveTo>
                    <a:pt x="0" y="12574"/>
                  </a:moveTo>
                  <a:cubicBezTo>
                    <a:pt x="3525" y="4910"/>
                    <a:pt x="11188" y="-1"/>
                    <a:pt x="19624" y="0"/>
                  </a:cubicBezTo>
                  <a:cubicBezTo>
                    <a:pt x="19679" y="0"/>
                    <a:pt x="19735" y="0"/>
                    <a:pt x="19791" y="0"/>
                  </a:cubicBezTo>
                </a:path>
                <a:path w="19791" h="21600" stroke="0">
                  <a:moveTo>
                    <a:pt x="0" y="12574"/>
                  </a:moveTo>
                  <a:cubicBezTo>
                    <a:pt x="3525" y="4910"/>
                    <a:pt x="11188" y="-1"/>
                    <a:pt x="19624" y="0"/>
                  </a:cubicBezTo>
                  <a:cubicBezTo>
                    <a:pt x="19679" y="0"/>
                    <a:pt x="19735" y="0"/>
                    <a:pt x="19791" y="0"/>
                  </a:cubicBezTo>
                  <a:lnTo>
                    <a:pt x="19624" y="21600"/>
                  </a:lnTo>
                  <a:lnTo>
                    <a:pt x="0" y="1257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71" name="Text Box 99"/>
            <p:cNvSpPr txBox="1"/>
            <p:nvPr/>
          </p:nvSpPr>
          <p:spPr>
            <a:xfrm>
              <a:off x="4872" y="2937"/>
              <a:ext cx="1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_x0001_" pitchFamily="18" charset="0"/>
                </a:rPr>
                <a:t>2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</p:grpSp>
      <p:grpSp>
        <p:nvGrpSpPr>
          <p:cNvPr id="9" name="Group 100"/>
          <p:cNvGrpSpPr/>
          <p:nvPr/>
        </p:nvGrpSpPr>
        <p:grpSpPr>
          <a:xfrm>
            <a:off x="1878013" y="990600"/>
            <a:ext cx="1169987" cy="457200"/>
            <a:chOff x="-1499" y="1002"/>
            <a:chExt cx="737" cy="288"/>
          </a:xfrm>
        </p:grpSpPr>
        <p:sp>
          <p:nvSpPr>
            <p:cNvPr id="31768" name="Line 101"/>
            <p:cNvSpPr/>
            <p:nvPr/>
          </p:nvSpPr>
          <p:spPr>
            <a:xfrm>
              <a:off x="-1499" y="1002"/>
              <a:ext cx="737" cy="0"/>
            </a:xfrm>
            <a:prstGeom prst="line">
              <a:avLst/>
            </a:prstGeom>
            <a:ln w="57150" cap="rnd" cmpd="sng">
              <a:solidFill>
                <a:srgbClr val="00FF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1769" name="Text Box 102"/>
            <p:cNvSpPr txBox="1"/>
            <p:nvPr/>
          </p:nvSpPr>
          <p:spPr>
            <a:xfrm>
              <a:off x="-1274" y="1002"/>
              <a:ext cx="1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66FFFF"/>
                  </a:solidFill>
                  <a:latin typeface="_x0001_" pitchFamily="18" charset="0"/>
                </a:rPr>
                <a:t>1</a:t>
              </a:r>
              <a:endParaRPr lang="en-US" altLang="zh-CN" sz="2400" b="1" dirty="0">
                <a:solidFill>
                  <a:srgbClr val="66FFFF"/>
                </a:solidFill>
                <a:latin typeface="_x0001_" pitchFamily="18" charset="0"/>
              </a:endParaRPr>
            </a:p>
          </p:txBody>
        </p:sp>
      </p:grpSp>
      <p:grpSp>
        <p:nvGrpSpPr>
          <p:cNvPr id="10" name="Group 103"/>
          <p:cNvGrpSpPr/>
          <p:nvPr/>
        </p:nvGrpSpPr>
        <p:grpSpPr>
          <a:xfrm>
            <a:off x="3354388" y="990600"/>
            <a:ext cx="2139950" cy="457200"/>
            <a:chOff x="-2440" y="2188"/>
            <a:chExt cx="1348" cy="288"/>
          </a:xfrm>
        </p:grpSpPr>
        <p:sp>
          <p:nvSpPr>
            <p:cNvPr id="31766" name="Line 104"/>
            <p:cNvSpPr/>
            <p:nvPr/>
          </p:nvSpPr>
          <p:spPr>
            <a:xfrm>
              <a:off x="-2440" y="2206"/>
              <a:ext cx="1348" cy="0"/>
            </a:xfrm>
            <a:prstGeom prst="line">
              <a:avLst/>
            </a:prstGeom>
            <a:ln w="57150" cap="rnd" cmpd="sng">
              <a:solidFill>
                <a:srgbClr val="00FF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1767" name="Text Box 105"/>
            <p:cNvSpPr txBox="1"/>
            <p:nvPr/>
          </p:nvSpPr>
          <p:spPr>
            <a:xfrm>
              <a:off x="-1726" y="2188"/>
              <a:ext cx="1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66FFFF"/>
                  </a:solidFill>
                  <a:latin typeface="_x0001_" pitchFamily="18" charset="0"/>
                </a:rPr>
                <a:t>2</a:t>
              </a:r>
              <a:endParaRPr lang="en-US" altLang="zh-CN" sz="2400" b="1" dirty="0">
                <a:solidFill>
                  <a:srgbClr val="66FFFF"/>
                </a:solidFill>
                <a:latin typeface="_x0001_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7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0" grpId="0"/>
      <p:bldP spid="174141" grpId="0"/>
      <p:bldP spid="174142" grpId="0"/>
      <p:bldP spid="174143" grpId="0"/>
      <p:bldP spid="174144" grpId="0"/>
      <p:bldP spid="174153" grpId="0"/>
      <p:bldP spid="1741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75106" name="Rectangle 2"/>
          <p:cNvSpPr>
            <a:spLocks noGrp="1"/>
          </p:cNvSpPr>
          <p:nvPr>
            <p:ph type="title"/>
          </p:nvPr>
        </p:nvSpPr>
        <p:spPr>
          <a:xfrm>
            <a:off x="0" y="76200"/>
            <a:ext cx="1524000" cy="6365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>
                <a:effectLst/>
                <a:latin typeface="宋体" panose="02010600030101010101" pitchFamily="2" charset="-122"/>
              </a:rPr>
              <a:t>例</a:t>
            </a:r>
            <a:r>
              <a:rPr lang="en-US" altLang="zh-CN" sz="2800" dirty="0">
                <a:effectLst/>
                <a:latin typeface="宋体" panose="02010600030101010101" pitchFamily="2" charset="-122"/>
              </a:rPr>
              <a:t>7.13:</a:t>
            </a:r>
            <a:endParaRPr lang="en-US" altLang="zh-CN" sz="2800" dirty="0">
              <a:effectLst/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699125" y="269875"/>
            <a:ext cx="3522663" cy="1970088"/>
            <a:chOff x="3012" y="811"/>
            <a:chExt cx="2219" cy="1241"/>
          </a:xfrm>
        </p:grpSpPr>
        <p:sp>
          <p:nvSpPr>
            <p:cNvPr id="32822" name="Line 5"/>
            <p:cNvSpPr/>
            <p:nvPr/>
          </p:nvSpPr>
          <p:spPr>
            <a:xfrm flipV="1">
              <a:off x="3381" y="1915"/>
              <a:ext cx="11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23" name="Text Box 6"/>
            <p:cNvSpPr txBox="1"/>
            <p:nvPr/>
          </p:nvSpPr>
          <p:spPr>
            <a:xfrm>
              <a:off x="4645" y="1483"/>
              <a:ext cx="58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24" name="Line 7"/>
            <p:cNvSpPr/>
            <p:nvPr/>
          </p:nvSpPr>
          <p:spPr>
            <a:xfrm>
              <a:off x="4435" y="1632"/>
              <a:ext cx="21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25" name="Line 8"/>
            <p:cNvSpPr/>
            <p:nvPr/>
          </p:nvSpPr>
          <p:spPr>
            <a:xfrm>
              <a:off x="4435" y="1734"/>
              <a:ext cx="21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26" name="Text Box 9"/>
            <p:cNvSpPr txBox="1"/>
            <p:nvPr/>
          </p:nvSpPr>
          <p:spPr>
            <a:xfrm>
              <a:off x="4560" y="1321"/>
              <a:ext cx="260" cy="73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+</a:t>
              </a:r>
              <a:endParaRPr lang="en-US" altLang="zh-CN" sz="28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2827" name="Text Box 10"/>
            <p:cNvSpPr txBox="1"/>
            <p:nvPr/>
          </p:nvSpPr>
          <p:spPr>
            <a:xfrm>
              <a:off x="4116" y="1549"/>
              <a:ext cx="51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5F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28" name="Text Box 11"/>
            <p:cNvSpPr txBox="1"/>
            <p:nvPr/>
          </p:nvSpPr>
          <p:spPr>
            <a:xfrm>
              <a:off x="3012" y="1398"/>
              <a:ext cx="42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29" name="Rectangle 12"/>
            <p:cNvSpPr/>
            <p:nvPr/>
          </p:nvSpPr>
          <p:spPr>
            <a:xfrm>
              <a:off x="3950" y="1064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30" name="Line 13"/>
            <p:cNvSpPr/>
            <p:nvPr/>
          </p:nvSpPr>
          <p:spPr>
            <a:xfrm>
              <a:off x="4276" y="1124"/>
              <a:ext cx="26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1" name="Text Box 14"/>
            <p:cNvSpPr txBox="1"/>
            <p:nvPr/>
          </p:nvSpPr>
          <p:spPr>
            <a:xfrm>
              <a:off x="4000" y="811"/>
              <a:ext cx="31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32" name="Line 15"/>
            <p:cNvSpPr/>
            <p:nvPr/>
          </p:nvSpPr>
          <p:spPr>
            <a:xfrm flipH="1">
              <a:off x="3777" y="1117"/>
              <a:ext cx="173" cy="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3" name="Line 16"/>
            <p:cNvSpPr/>
            <p:nvPr/>
          </p:nvSpPr>
          <p:spPr>
            <a:xfrm flipV="1">
              <a:off x="3381" y="1117"/>
              <a:ext cx="0" cy="7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4" name="Line 17"/>
            <p:cNvSpPr/>
            <p:nvPr/>
          </p:nvSpPr>
          <p:spPr>
            <a:xfrm>
              <a:off x="4544" y="1734"/>
              <a:ext cx="0" cy="1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5" name="Line 18"/>
            <p:cNvSpPr/>
            <p:nvPr/>
          </p:nvSpPr>
          <p:spPr>
            <a:xfrm flipV="1">
              <a:off x="4544" y="1333"/>
              <a:ext cx="0" cy="2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6" name="Text Box 19"/>
            <p:cNvSpPr txBox="1"/>
            <p:nvPr/>
          </p:nvSpPr>
          <p:spPr>
            <a:xfrm>
              <a:off x="4524" y="1048"/>
              <a:ext cx="67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r>
                <a:rPr lang="en-US" altLang="zh-CN" sz="2400" b="1" dirty="0">
                  <a:latin typeface="_x0001_" pitchFamily="18" charset="0"/>
                </a:rPr>
                <a:t> 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2837" name="Oval 20"/>
            <p:cNvSpPr/>
            <p:nvPr/>
          </p:nvSpPr>
          <p:spPr>
            <a:xfrm>
              <a:off x="3719" y="1099"/>
              <a:ext cx="52" cy="4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38" name="Oval 21"/>
            <p:cNvSpPr/>
            <p:nvPr/>
          </p:nvSpPr>
          <p:spPr>
            <a:xfrm>
              <a:off x="3528" y="1099"/>
              <a:ext cx="52" cy="4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39" name="Line 22"/>
            <p:cNvSpPr/>
            <p:nvPr/>
          </p:nvSpPr>
          <p:spPr>
            <a:xfrm flipH="1">
              <a:off x="3381" y="1124"/>
              <a:ext cx="1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0" name="Oval 23"/>
            <p:cNvSpPr/>
            <p:nvPr/>
          </p:nvSpPr>
          <p:spPr>
            <a:xfrm>
              <a:off x="3285" y="1423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41" name="Text Box 24"/>
            <p:cNvSpPr txBox="1"/>
            <p:nvPr/>
          </p:nvSpPr>
          <p:spPr>
            <a:xfrm>
              <a:off x="3186" y="1197"/>
              <a:ext cx="255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2842" name="Line 25"/>
            <p:cNvSpPr/>
            <p:nvPr/>
          </p:nvSpPr>
          <p:spPr>
            <a:xfrm>
              <a:off x="3580" y="1117"/>
              <a:ext cx="13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3" name="Line 26"/>
            <p:cNvSpPr/>
            <p:nvPr/>
          </p:nvSpPr>
          <p:spPr>
            <a:xfrm>
              <a:off x="4544" y="1124"/>
              <a:ext cx="0" cy="2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44" name="Text Box 27"/>
            <p:cNvSpPr txBox="1"/>
            <p:nvPr/>
          </p:nvSpPr>
          <p:spPr>
            <a:xfrm>
              <a:off x="3950" y="1142"/>
              <a:ext cx="4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45" name="Text Box 28"/>
            <p:cNvSpPr txBox="1"/>
            <p:nvPr/>
          </p:nvSpPr>
          <p:spPr>
            <a:xfrm>
              <a:off x="3463" y="1378"/>
              <a:ext cx="895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12V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5133" name="Text Box 29"/>
          <p:cNvSpPr txBox="1"/>
          <p:nvPr/>
        </p:nvSpPr>
        <p:spPr>
          <a:xfrm>
            <a:off x="1285875" y="157480"/>
            <a:ext cx="5878830" cy="52197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已知：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(0)= 4V,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zh-CN" altLang="en-US" sz="2800" b="1" dirty="0">
                <a:latin typeface="_x0001_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,u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(t)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134" name="Text Box 30"/>
          <p:cNvSpPr txBox="1"/>
          <p:nvPr/>
        </p:nvSpPr>
        <p:spPr>
          <a:xfrm>
            <a:off x="112713" y="685800"/>
            <a:ext cx="4302125" cy="523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方正行楷简体" pitchFamily="2" charset="-122"/>
                <a:ea typeface="方正行楷简体" pitchFamily="2" charset="-122"/>
              </a:rPr>
              <a:t>解：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零输入响应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31"/>
          <p:cNvGrpSpPr/>
          <p:nvPr/>
        </p:nvGrpSpPr>
        <p:grpSpPr>
          <a:xfrm>
            <a:off x="6075680" y="2041525"/>
            <a:ext cx="3122295" cy="1978647"/>
            <a:chOff x="3666" y="1286"/>
            <a:chExt cx="1763" cy="1246"/>
          </a:xfrm>
        </p:grpSpPr>
        <p:sp>
          <p:nvSpPr>
            <p:cNvPr id="32806" name="Line 32"/>
            <p:cNvSpPr/>
            <p:nvPr/>
          </p:nvSpPr>
          <p:spPr>
            <a:xfrm flipV="1">
              <a:off x="3666" y="2390"/>
              <a:ext cx="8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7" name="Text Box 33"/>
            <p:cNvSpPr txBox="1"/>
            <p:nvPr/>
          </p:nvSpPr>
          <p:spPr>
            <a:xfrm>
              <a:off x="4595" y="1958"/>
              <a:ext cx="834" cy="36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(0)=4V</a:t>
              </a:r>
              <a:endPara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08" name="Line 34"/>
            <p:cNvSpPr/>
            <p:nvPr/>
          </p:nvSpPr>
          <p:spPr>
            <a:xfrm>
              <a:off x="4385" y="2107"/>
              <a:ext cx="21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9" name="Line 35"/>
            <p:cNvSpPr/>
            <p:nvPr/>
          </p:nvSpPr>
          <p:spPr>
            <a:xfrm>
              <a:off x="4385" y="2209"/>
              <a:ext cx="21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0" name="Text Box 36"/>
            <p:cNvSpPr txBox="1"/>
            <p:nvPr/>
          </p:nvSpPr>
          <p:spPr>
            <a:xfrm>
              <a:off x="4510" y="1796"/>
              <a:ext cx="260" cy="736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+</a:t>
              </a:r>
              <a:endParaRPr lang="en-US" altLang="zh-CN" sz="28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2811" name="Text Box 37"/>
            <p:cNvSpPr txBox="1"/>
            <p:nvPr/>
          </p:nvSpPr>
          <p:spPr>
            <a:xfrm>
              <a:off x="4066" y="2024"/>
              <a:ext cx="51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5F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12" name="Rectangle 38"/>
            <p:cNvSpPr/>
            <p:nvPr/>
          </p:nvSpPr>
          <p:spPr>
            <a:xfrm>
              <a:off x="3900" y="1539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3" name="Line 39"/>
            <p:cNvSpPr/>
            <p:nvPr/>
          </p:nvSpPr>
          <p:spPr>
            <a:xfrm>
              <a:off x="4226" y="1599"/>
              <a:ext cx="26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4" name="Text Box 40"/>
            <p:cNvSpPr txBox="1"/>
            <p:nvPr/>
          </p:nvSpPr>
          <p:spPr>
            <a:xfrm>
              <a:off x="3950" y="1286"/>
              <a:ext cx="31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15" name="Line 41"/>
            <p:cNvSpPr/>
            <p:nvPr/>
          </p:nvSpPr>
          <p:spPr>
            <a:xfrm flipH="1">
              <a:off x="3666" y="1592"/>
              <a:ext cx="234" cy="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6" name="Line 42"/>
            <p:cNvSpPr/>
            <p:nvPr/>
          </p:nvSpPr>
          <p:spPr>
            <a:xfrm>
              <a:off x="4494" y="2209"/>
              <a:ext cx="0" cy="1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7" name="Line 43"/>
            <p:cNvSpPr/>
            <p:nvPr/>
          </p:nvSpPr>
          <p:spPr>
            <a:xfrm flipV="1">
              <a:off x="4494" y="1808"/>
              <a:ext cx="0" cy="2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8" name="Text Box 44"/>
            <p:cNvSpPr txBox="1"/>
            <p:nvPr/>
          </p:nvSpPr>
          <p:spPr>
            <a:xfrm>
              <a:off x="4474" y="1523"/>
              <a:ext cx="67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19" name="Line 45"/>
            <p:cNvSpPr/>
            <p:nvPr/>
          </p:nvSpPr>
          <p:spPr>
            <a:xfrm>
              <a:off x="4494" y="1599"/>
              <a:ext cx="0" cy="2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20" name="Text Box 46"/>
            <p:cNvSpPr txBox="1"/>
            <p:nvPr/>
          </p:nvSpPr>
          <p:spPr>
            <a:xfrm>
              <a:off x="3900" y="1617"/>
              <a:ext cx="4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21" name="Line 47"/>
            <p:cNvSpPr/>
            <p:nvPr/>
          </p:nvSpPr>
          <p:spPr>
            <a:xfrm flipV="1">
              <a:off x="3666" y="1599"/>
              <a:ext cx="0" cy="8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75152" name="Object 48"/>
          <p:cNvGraphicFramePr>
            <a:graphicFrameLocks noChangeAspect="1"/>
          </p:cNvGraphicFramePr>
          <p:nvPr/>
        </p:nvGraphicFramePr>
        <p:xfrm>
          <a:off x="228600" y="1295400"/>
          <a:ext cx="24463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" imgW="1116965" imgH="177800" progId="Equation.3">
                  <p:embed/>
                </p:oleObj>
              </mc:Choice>
              <mc:Fallback>
                <p:oleObj name="" r:id="rId1" imgW="1116965" imgH="1778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2446338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53" name="Object 49"/>
          <p:cNvGraphicFramePr>
            <a:graphicFrameLocks noChangeAspect="1"/>
          </p:cNvGraphicFramePr>
          <p:nvPr/>
        </p:nvGraphicFramePr>
        <p:xfrm>
          <a:off x="228600" y="1676400"/>
          <a:ext cx="40084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" imgW="1333500" imgH="342900" progId="Equation.3">
                  <p:embed/>
                </p:oleObj>
              </mc:Choice>
              <mc:Fallback>
                <p:oleObj name="" r:id="rId3" imgW="1333500" imgH="3429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1676400"/>
                        <a:ext cx="4008438" cy="808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54" name="Text Box 50"/>
          <p:cNvSpPr txBox="1"/>
          <p:nvPr/>
        </p:nvSpPr>
        <p:spPr>
          <a:xfrm>
            <a:off x="130175" y="2590800"/>
            <a:ext cx="2784475" cy="523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零状态响应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Group 51"/>
          <p:cNvGrpSpPr/>
          <p:nvPr/>
        </p:nvGrpSpPr>
        <p:grpSpPr>
          <a:xfrm>
            <a:off x="5937250" y="4027488"/>
            <a:ext cx="3351213" cy="2239963"/>
            <a:chOff x="3393" y="2639"/>
            <a:chExt cx="2111" cy="1411"/>
          </a:xfrm>
        </p:grpSpPr>
        <p:sp>
          <p:nvSpPr>
            <p:cNvPr id="32785" name="Line 52"/>
            <p:cNvSpPr/>
            <p:nvPr/>
          </p:nvSpPr>
          <p:spPr>
            <a:xfrm>
              <a:off x="3749" y="3736"/>
              <a:ext cx="1084" cy="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Text Box 53"/>
            <p:cNvSpPr txBox="1"/>
            <p:nvPr/>
          </p:nvSpPr>
          <p:spPr>
            <a:xfrm>
              <a:off x="4918" y="3311"/>
              <a:ext cx="58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7" name="Line 54"/>
            <p:cNvSpPr/>
            <p:nvPr/>
          </p:nvSpPr>
          <p:spPr>
            <a:xfrm>
              <a:off x="4708" y="3460"/>
              <a:ext cx="21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8" name="Line 55"/>
            <p:cNvSpPr/>
            <p:nvPr/>
          </p:nvSpPr>
          <p:spPr>
            <a:xfrm>
              <a:off x="4708" y="3562"/>
              <a:ext cx="21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9" name="Text Box 56"/>
            <p:cNvSpPr txBox="1"/>
            <p:nvPr/>
          </p:nvSpPr>
          <p:spPr>
            <a:xfrm>
              <a:off x="4833" y="3149"/>
              <a:ext cx="260" cy="73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+</a:t>
              </a:r>
              <a:endParaRPr lang="en-US" altLang="zh-CN" sz="28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2790" name="Text Box 57"/>
            <p:cNvSpPr txBox="1"/>
            <p:nvPr/>
          </p:nvSpPr>
          <p:spPr>
            <a:xfrm>
              <a:off x="4389" y="3377"/>
              <a:ext cx="51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5F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91" name="Text Box 58"/>
            <p:cNvSpPr txBox="1"/>
            <p:nvPr/>
          </p:nvSpPr>
          <p:spPr>
            <a:xfrm>
              <a:off x="3393" y="3226"/>
              <a:ext cx="42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92" name="Rectangle 59"/>
            <p:cNvSpPr/>
            <p:nvPr/>
          </p:nvSpPr>
          <p:spPr>
            <a:xfrm>
              <a:off x="4223" y="2892"/>
              <a:ext cx="326" cy="1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793" name="Line 60"/>
            <p:cNvSpPr/>
            <p:nvPr/>
          </p:nvSpPr>
          <p:spPr>
            <a:xfrm>
              <a:off x="4549" y="2952"/>
              <a:ext cx="26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4" name="Text Box 61"/>
            <p:cNvSpPr txBox="1"/>
            <p:nvPr/>
          </p:nvSpPr>
          <p:spPr>
            <a:xfrm>
              <a:off x="4273" y="2639"/>
              <a:ext cx="316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95" name="Line 62"/>
            <p:cNvSpPr/>
            <p:nvPr/>
          </p:nvSpPr>
          <p:spPr>
            <a:xfrm flipH="1">
              <a:off x="3762" y="2945"/>
              <a:ext cx="4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6" name="Line 63"/>
            <p:cNvSpPr/>
            <p:nvPr/>
          </p:nvSpPr>
          <p:spPr>
            <a:xfrm flipV="1">
              <a:off x="3762" y="2945"/>
              <a:ext cx="0" cy="7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7" name="Line 64"/>
            <p:cNvSpPr/>
            <p:nvPr/>
          </p:nvSpPr>
          <p:spPr>
            <a:xfrm>
              <a:off x="4817" y="3562"/>
              <a:ext cx="0" cy="1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8" name="Line 65"/>
            <p:cNvSpPr/>
            <p:nvPr/>
          </p:nvSpPr>
          <p:spPr>
            <a:xfrm flipV="1">
              <a:off x="4817" y="3161"/>
              <a:ext cx="0" cy="2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9" name="Text Box 66"/>
            <p:cNvSpPr txBox="1"/>
            <p:nvPr/>
          </p:nvSpPr>
          <p:spPr>
            <a:xfrm>
              <a:off x="4797" y="2876"/>
              <a:ext cx="67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="1" baseline="-25000" dirty="0">
                  <a:latin typeface="_x0001_" pitchFamily="18" charset="0"/>
                </a:rPr>
                <a:t> </a:t>
              </a:r>
              <a:r>
                <a:rPr lang="en-US" altLang="zh-CN" sz="2400" b="1" dirty="0">
                  <a:latin typeface="_x0001_" pitchFamily="18" charset="0"/>
                </a:rPr>
                <a:t> 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2800" name="Oval 67"/>
            <p:cNvSpPr/>
            <p:nvPr/>
          </p:nvSpPr>
          <p:spPr>
            <a:xfrm>
              <a:off x="3666" y="3251"/>
              <a:ext cx="191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01" name="Text Box 68"/>
            <p:cNvSpPr txBox="1"/>
            <p:nvPr/>
          </p:nvSpPr>
          <p:spPr>
            <a:xfrm>
              <a:off x="3567" y="3025"/>
              <a:ext cx="255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2802" name="Line 69"/>
            <p:cNvSpPr/>
            <p:nvPr/>
          </p:nvSpPr>
          <p:spPr>
            <a:xfrm>
              <a:off x="4817" y="2952"/>
              <a:ext cx="0" cy="2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3" name="Text Box 70"/>
            <p:cNvSpPr txBox="1"/>
            <p:nvPr/>
          </p:nvSpPr>
          <p:spPr>
            <a:xfrm>
              <a:off x="4223" y="2970"/>
              <a:ext cx="4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04" name="Text Box 71"/>
            <p:cNvSpPr txBox="1"/>
            <p:nvPr/>
          </p:nvSpPr>
          <p:spPr>
            <a:xfrm>
              <a:off x="3832" y="3239"/>
              <a:ext cx="895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12V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05" name="Text Box 72"/>
            <p:cNvSpPr txBox="1"/>
            <p:nvPr/>
          </p:nvSpPr>
          <p:spPr>
            <a:xfrm>
              <a:off x="3992" y="3682"/>
              <a:ext cx="1165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(0)=0</a:t>
              </a:r>
              <a:endPara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5177" name="Object 73"/>
          <p:cNvGraphicFramePr>
            <a:graphicFrameLocks noChangeAspect="1"/>
          </p:cNvGraphicFramePr>
          <p:nvPr/>
        </p:nvGraphicFramePr>
        <p:xfrm>
          <a:off x="228600" y="3124200"/>
          <a:ext cx="54705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5" imgW="2247900" imgH="482600" progId="Equation.3">
                  <p:embed/>
                </p:oleObj>
              </mc:Choice>
              <mc:Fallback>
                <p:oleObj name="" r:id="rId5" imgW="2247900" imgH="4826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3124200"/>
                        <a:ext cx="5470525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78" name="Text Box 74"/>
          <p:cNvSpPr txBox="1"/>
          <p:nvPr/>
        </p:nvSpPr>
        <p:spPr>
          <a:xfrm>
            <a:off x="60325" y="4114800"/>
            <a:ext cx="2711450" cy="523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_x0001_" pitchFamily="18" charset="0"/>
                <a:ea typeface="楷体_GB2312" pitchFamily="49" charset="-122"/>
              </a:rPr>
              <a:t>完全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响应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dirty="0">
              <a:solidFill>
                <a:schemeClr val="tx2"/>
              </a:solidFill>
              <a:latin typeface="_x0001_" pitchFamily="18" charset="0"/>
            </a:endParaRPr>
          </a:p>
        </p:txBody>
      </p:sp>
      <p:graphicFrame>
        <p:nvGraphicFramePr>
          <p:cNvPr id="175179" name="Object 75"/>
          <p:cNvGraphicFramePr>
            <a:graphicFrameLocks noChangeAspect="1"/>
          </p:cNvGraphicFramePr>
          <p:nvPr/>
        </p:nvGraphicFramePr>
        <p:xfrm>
          <a:off x="242888" y="4724400"/>
          <a:ext cx="5472112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7" imgW="2247900" imgH="482600" progId="Equation.3">
                  <p:embed/>
                </p:oleObj>
              </mc:Choice>
              <mc:Fallback>
                <p:oleObj name="" r:id="rId7" imgW="2247900" imgH="4826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42888" y="4724400"/>
                        <a:ext cx="5472112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76"/>
          <p:cNvGrpSpPr/>
          <p:nvPr/>
        </p:nvGrpSpPr>
        <p:grpSpPr>
          <a:xfrm>
            <a:off x="1060450" y="5943600"/>
            <a:ext cx="3282950" cy="723900"/>
            <a:chOff x="677" y="3856"/>
            <a:chExt cx="2068" cy="456"/>
          </a:xfrm>
        </p:grpSpPr>
        <p:graphicFrame>
          <p:nvGraphicFramePr>
            <p:cNvPr id="32783" name="Object 77"/>
            <p:cNvGraphicFramePr>
              <a:graphicFrameLocks noChangeAspect="1"/>
            </p:cNvGraphicFramePr>
            <p:nvPr/>
          </p:nvGraphicFramePr>
          <p:xfrm>
            <a:off x="677" y="3856"/>
            <a:ext cx="110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9" imgW="685800" imgH="304800" progId="Equation.3">
                    <p:embed/>
                  </p:oleObj>
                </mc:Choice>
                <mc:Fallback>
                  <p:oleObj name="" r:id="rId9" imgW="685800" imgH="3048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77" y="3856"/>
                          <a:ext cx="1108" cy="4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4" name="Object 78"/>
            <p:cNvGraphicFramePr>
              <a:graphicFrameLocks noChangeAspect="1"/>
            </p:cNvGraphicFramePr>
            <p:nvPr/>
          </p:nvGraphicFramePr>
          <p:xfrm>
            <a:off x="2125" y="4008"/>
            <a:ext cx="62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11" imgW="316865" imgH="177800" progId="Equation.3">
                    <p:embed/>
                  </p:oleObj>
                </mc:Choice>
                <mc:Fallback>
                  <p:oleObj name="" r:id="rId11" imgW="316865" imgH="1778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25" y="4008"/>
                          <a:ext cx="62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/>
      <p:bldP spid="175133" grpId="0"/>
      <p:bldP spid="175134" grpId="0"/>
      <p:bldP spid="175154" grpId="0"/>
      <p:bldP spid="17517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Rectangle 2"/>
          <p:cNvSpPr>
            <a:spLocks noGrp="1"/>
          </p:cNvSpPr>
          <p:nvPr>
            <p:ph type="title"/>
          </p:nvPr>
        </p:nvSpPr>
        <p:spPr>
          <a:xfrm>
            <a:off x="0" y="1473200"/>
            <a:ext cx="3200400" cy="7127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  <a:effectLst/>
              </a:rPr>
              <a:t>1.f (t)</a:t>
            </a:r>
            <a:r>
              <a:rPr lang="zh-CN" altLang="zh-CN" sz="2800" dirty="0">
                <a:solidFill>
                  <a:schemeClr val="tx1"/>
                </a:solidFill>
                <a:effectLst/>
              </a:rPr>
              <a:t>增长的情况：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</p:txBody>
      </p:sp>
      <p:sp>
        <p:nvSpPr>
          <p:cNvPr id="182276" name="Text Box 4"/>
          <p:cNvSpPr txBox="1"/>
          <p:nvPr/>
        </p:nvSpPr>
        <p:spPr>
          <a:xfrm>
            <a:off x="203200" y="31750"/>
            <a:ext cx="8559800" cy="157988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3200" b="1" dirty="0">
                <a:latin typeface="_x0001_" pitchFamily="18" charset="0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zh-CN" altLang="zh-CN" sz="2800" b="1" dirty="0">
                <a:latin typeface="_x0001_" pitchFamily="18" charset="0"/>
              </a:rPr>
              <a:t>电路或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zh-CN" altLang="zh-CN" sz="2800" b="1" dirty="0">
                <a:latin typeface="_x0001_" pitchFamily="18" charset="0"/>
              </a:rPr>
              <a:t>电路在直流输入的情况下</a:t>
            </a:r>
            <a:r>
              <a:rPr lang="en-US" altLang="zh-CN" sz="2800" b="1" dirty="0">
                <a:latin typeface="_x0001_" pitchFamily="18" charset="0"/>
              </a:rPr>
              <a:t>,</a:t>
            </a:r>
            <a:r>
              <a:rPr lang="zh-CN" altLang="zh-CN" sz="2800" b="1" dirty="0">
                <a:latin typeface="_x0001_" pitchFamily="18" charset="0"/>
              </a:rPr>
              <a:t>（包括零输入）电路的电压或电流无非是按两种规律变化，一是指数衰减，二是指数上升。</a:t>
            </a:r>
            <a:endParaRPr lang="zh-CN" altLang="en-US" sz="2800" b="1" dirty="0">
              <a:latin typeface="_x0001_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76263" y="2178050"/>
            <a:ext cx="4702175" cy="2268538"/>
            <a:chOff x="810" y="1949"/>
            <a:chExt cx="2962" cy="1429"/>
          </a:xfrm>
        </p:grpSpPr>
        <p:graphicFrame>
          <p:nvGraphicFramePr>
            <p:cNvPr id="35875" name="Object 6"/>
            <p:cNvGraphicFramePr>
              <a:graphicFrameLocks noChangeAspect="1"/>
            </p:cNvGraphicFramePr>
            <p:nvPr/>
          </p:nvGraphicFramePr>
          <p:xfrm>
            <a:off x="1050" y="1949"/>
            <a:ext cx="3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1" imgW="292100" imgH="215900" progId="Equation.3">
                    <p:embed/>
                  </p:oleObj>
                </mc:Choice>
                <mc:Fallback>
                  <p:oleObj name="" r:id="rId1" imgW="292100" imgH="2159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0" y="1949"/>
                          <a:ext cx="37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6" name="Text Box 7"/>
            <p:cNvSpPr txBox="1"/>
            <p:nvPr/>
          </p:nvSpPr>
          <p:spPr>
            <a:xfrm>
              <a:off x="2909" y="2859"/>
              <a:ext cx="86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77" name="Line 8"/>
            <p:cNvSpPr/>
            <p:nvPr/>
          </p:nvSpPr>
          <p:spPr>
            <a:xfrm flipV="1">
              <a:off x="810" y="3063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8" name="Line 9"/>
            <p:cNvSpPr/>
            <p:nvPr/>
          </p:nvSpPr>
          <p:spPr>
            <a:xfrm flipV="1">
              <a:off x="1022" y="2003"/>
              <a:ext cx="0" cy="1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9" name="Line 10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0" name="Line 11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1" name="Line 12"/>
            <p:cNvSpPr/>
            <p:nvPr/>
          </p:nvSpPr>
          <p:spPr>
            <a:xfrm>
              <a:off x="1768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2" name="Line 13"/>
            <p:cNvSpPr/>
            <p:nvPr/>
          </p:nvSpPr>
          <p:spPr>
            <a:xfrm>
              <a:off x="1389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3" name="Line 14"/>
            <p:cNvSpPr/>
            <p:nvPr/>
          </p:nvSpPr>
          <p:spPr>
            <a:xfrm>
              <a:off x="1762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4" name="Line 15"/>
            <p:cNvSpPr/>
            <p:nvPr/>
          </p:nvSpPr>
          <p:spPr>
            <a:xfrm>
              <a:off x="210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5" name="Line 16"/>
            <p:cNvSpPr/>
            <p:nvPr/>
          </p:nvSpPr>
          <p:spPr>
            <a:xfrm>
              <a:off x="247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6" name="Text Box 17"/>
            <p:cNvSpPr txBox="1"/>
            <p:nvPr/>
          </p:nvSpPr>
          <p:spPr>
            <a:xfrm>
              <a:off x="810" y="3048"/>
              <a:ext cx="73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87" name="Text Box 18"/>
            <p:cNvSpPr txBox="1"/>
            <p:nvPr/>
          </p:nvSpPr>
          <p:spPr>
            <a:xfrm>
              <a:off x="2348" y="3013"/>
              <a:ext cx="841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82291" name="Arc 19"/>
          <p:cNvSpPr/>
          <p:nvPr/>
        </p:nvSpPr>
        <p:spPr>
          <a:xfrm>
            <a:off x="914400" y="2819400"/>
            <a:ext cx="2636838" cy="1892300"/>
          </a:xfrm>
          <a:custGeom>
            <a:avLst/>
            <a:gdLst>
              <a:gd name="txL" fmla="*/ 0 w 19791"/>
              <a:gd name="txT" fmla="*/ 0 h 21600"/>
              <a:gd name="txR" fmla="*/ 19791 w 19791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791" h="21600" fill="none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</a:path>
              <a:path w="19791" h="21600" stroke="0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  <a:lnTo>
                  <a:pt x="19624" y="21600"/>
                </a:lnTo>
                <a:lnTo>
                  <a:pt x="0" y="1257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82292" name="Object 20"/>
          <p:cNvGraphicFramePr>
            <a:graphicFrameLocks noChangeAspect="1"/>
          </p:cNvGraphicFramePr>
          <p:nvPr/>
        </p:nvGraphicFramePr>
        <p:xfrm>
          <a:off x="150813" y="3563938"/>
          <a:ext cx="762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3" imgW="393065" imgH="215900" progId="Equation.3">
                  <p:embed/>
                </p:oleObj>
              </mc:Choice>
              <mc:Fallback>
                <p:oleObj name="" r:id="rId3" imgW="393065" imgH="2159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0813" y="3563938"/>
                        <a:ext cx="7620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93" name="Object 21"/>
          <p:cNvGraphicFramePr>
            <a:graphicFrameLocks noChangeAspect="1"/>
          </p:cNvGraphicFramePr>
          <p:nvPr/>
        </p:nvGraphicFramePr>
        <p:xfrm>
          <a:off x="150813" y="2636838"/>
          <a:ext cx="708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5" imgW="355600" imgH="215900" progId="Equation.3">
                  <p:embed/>
                </p:oleObj>
              </mc:Choice>
              <mc:Fallback>
                <p:oleObj name="" r:id="rId5" imgW="355600" imgH="2159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0813" y="2636838"/>
                        <a:ext cx="7080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94" name="Line 22"/>
          <p:cNvSpPr/>
          <p:nvPr/>
        </p:nvSpPr>
        <p:spPr>
          <a:xfrm flipH="1">
            <a:off x="890588" y="2836863"/>
            <a:ext cx="2644775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82295" name="Text Box 23"/>
          <p:cNvSpPr txBox="1"/>
          <p:nvPr/>
        </p:nvSpPr>
        <p:spPr>
          <a:xfrm>
            <a:off x="4513263" y="1600200"/>
            <a:ext cx="4530725" cy="4603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初</a:t>
            </a:r>
            <a:r>
              <a:rPr lang="zh-CN" altLang="zh-CN" sz="2400" b="1" dirty="0">
                <a:latin typeface="_x0001_" pitchFamily="18" charset="0"/>
              </a:rPr>
              <a:t>始值为零时，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(0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2296" name="Object 24"/>
          <p:cNvGraphicFramePr>
            <a:graphicFrameLocks noChangeAspect="1"/>
          </p:cNvGraphicFramePr>
          <p:nvPr/>
        </p:nvGraphicFramePr>
        <p:xfrm>
          <a:off x="4935538" y="2057400"/>
          <a:ext cx="27844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7" imgW="1282700" imgH="482600" progId="Equation.3">
                  <p:embed/>
                </p:oleObj>
              </mc:Choice>
              <mc:Fallback>
                <p:oleObj name="" r:id="rId7" imgW="1282700" imgH="4826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935538" y="2057400"/>
                        <a:ext cx="2784475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97" name="Text Box 25"/>
          <p:cNvSpPr txBox="1"/>
          <p:nvPr/>
        </p:nvSpPr>
        <p:spPr>
          <a:xfrm>
            <a:off x="4935538" y="3048000"/>
            <a:ext cx="2373312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零状态响应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571500" y="4343400"/>
            <a:ext cx="4491038" cy="2273301"/>
            <a:chOff x="810" y="1949"/>
            <a:chExt cx="2962" cy="1432"/>
          </a:xfrm>
        </p:grpSpPr>
        <p:graphicFrame>
          <p:nvGraphicFramePr>
            <p:cNvPr id="35862" name="Object 27"/>
            <p:cNvGraphicFramePr>
              <a:graphicFrameLocks noChangeAspect="1"/>
            </p:cNvGraphicFramePr>
            <p:nvPr/>
          </p:nvGraphicFramePr>
          <p:xfrm>
            <a:off x="1050" y="1949"/>
            <a:ext cx="3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" name="" r:id="rId9" imgW="292100" imgH="215900" progId="Equation.3">
                    <p:embed/>
                  </p:oleObj>
                </mc:Choice>
                <mc:Fallback>
                  <p:oleObj name="" r:id="rId9" imgW="292100" imgH="21590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0" y="1949"/>
                          <a:ext cx="37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3" name="Text Box 28"/>
            <p:cNvSpPr txBox="1"/>
            <p:nvPr/>
          </p:nvSpPr>
          <p:spPr>
            <a:xfrm>
              <a:off x="2909" y="2859"/>
              <a:ext cx="86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4" name="Line 29"/>
            <p:cNvSpPr/>
            <p:nvPr/>
          </p:nvSpPr>
          <p:spPr>
            <a:xfrm flipV="1">
              <a:off x="810" y="3063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65" name="Line 30"/>
            <p:cNvSpPr/>
            <p:nvPr/>
          </p:nvSpPr>
          <p:spPr>
            <a:xfrm flipV="1">
              <a:off x="1022" y="2003"/>
              <a:ext cx="0" cy="1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66" name="Line 31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7" name="Line 32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8" name="Line 33"/>
            <p:cNvSpPr/>
            <p:nvPr/>
          </p:nvSpPr>
          <p:spPr>
            <a:xfrm>
              <a:off x="1768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9" name="Line 34"/>
            <p:cNvSpPr/>
            <p:nvPr/>
          </p:nvSpPr>
          <p:spPr>
            <a:xfrm>
              <a:off x="1389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0" name="Line 35"/>
            <p:cNvSpPr/>
            <p:nvPr/>
          </p:nvSpPr>
          <p:spPr>
            <a:xfrm>
              <a:off x="1762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1" name="Line 36"/>
            <p:cNvSpPr/>
            <p:nvPr/>
          </p:nvSpPr>
          <p:spPr>
            <a:xfrm>
              <a:off x="210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2" name="Line 37"/>
            <p:cNvSpPr/>
            <p:nvPr/>
          </p:nvSpPr>
          <p:spPr>
            <a:xfrm>
              <a:off x="247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3" name="Text Box 38"/>
            <p:cNvSpPr txBox="1"/>
            <p:nvPr/>
          </p:nvSpPr>
          <p:spPr>
            <a:xfrm>
              <a:off x="810" y="3048"/>
              <a:ext cx="73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74" name="Text Box 39"/>
            <p:cNvSpPr txBox="1"/>
            <p:nvPr/>
          </p:nvSpPr>
          <p:spPr>
            <a:xfrm>
              <a:off x="2348" y="3013"/>
              <a:ext cx="841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_x0001_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 altLang="zh-CN" sz="3200" b="1" dirty="0">
                <a:latin typeface="_x0001_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82312" name="Arc 40"/>
          <p:cNvSpPr/>
          <p:nvPr/>
        </p:nvSpPr>
        <p:spPr>
          <a:xfrm>
            <a:off x="895350" y="4935538"/>
            <a:ext cx="2636838" cy="1497012"/>
          </a:xfrm>
          <a:custGeom>
            <a:avLst/>
            <a:gdLst>
              <a:gd name="txL" fmla="*/ 0 w 19791"/>
              <a:gd name="txT" fmla="*/ 0 h 21600"/>
              <a:gd name="txR" fmla="*/ 19791 w 19791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791" h="21600" fill="none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</a:path>
              <a:path w="19791" h="21600" stroke="0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  <a:lnTo>
                  <a:pt x="19624" y="21600"/>
                </a:lnTo>
                <a:lnTo>
                  <a:pt x="0" y="1257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82313" name="Object 41"/>
          <p:cNvGraphicFramePr>
            <a:graphicFrameLocks noChangeAspect="1"/>
          </p:cNvGraphicFramePr>
          <p:nvPr/>
        </p:nvGraphicFramePr>
        <p:xfrm>
          <a:off x="152400" y="5586413"/>
          <a:ext cx="762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0" imgW="393065" imgH="215900" progId="Equation.3">
                  <p:embed/>
                </p:oleObj>
              </mc:Choice>
              <mc:Fallback>
                <p:oleObj name="" r:id="rId10" imgW="393065" imgH="2159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2400" y="5586413"/>
                        <a:ext cx="7620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14" name="Object 42"/>
          <p:cNvGraphicFramePr>
            <a:graphicFrameLocks noChangeAspect="1"/>
          </p:cNvGraphicFramePr>
          <p:nvPr/>
        </p:nvGraphicFramePr>
        <p:xfrm>
          <a:off x="158750" y="4745038"/>
          <a:ext cx="708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1" imgW="355600" imgH="215900" progId="Equation.3">
                  <p:embed/>
                </p:oleObj>
              </mc:Choice>
              <mc:Fallback>
                <p:oleObj name="" r:id="rId11" imgW="355600" imgH="2159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8750" y="4745038"/>
                        <a:ext cx="7080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15" name="Line 43"/>
          <p:cNvSpPr/>
          <p:nvPr/>
        </p:nvSpPr>
        <p:spPr>
          <a:xfrm flipH="1">
            <a:off x="866775" y="4906963"/>
            <a:ext cx="2794000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82316" name="Text Box 44"/>
          <p:cNvSpPr txBox="1"/>
          <p:nvPr/>
        </p:nvSpPr>
        <p:spPr>
          <a:xfrm>
            <a:off x="4708525" y="3505200"/>
            <a:ext cx="2987675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初</a:t>
            </a:r>
            <a:r>
              <a:rPr lang="zh-CN" altLang="zh-CN" sz="2400" b="1" dirty="0">
                <a:latin typeface="_x0001_" pitchFamily="18" charset="0"/>
              </a:rPr>
              <a:t>始值不为零时，</a:t>
            </a:r>
            <a:endParaRPr lang="zh-CN" altLang="en-US" sz="2400" b="1" dirty="0">
              <a:latin typeface="_x0001_" pitchFamily="18" charset="0"/>
            </a:endParaRPr>
          </a:p>
        </p:txBody>
      </p:sp>
      <p:graphicFrame>
        <p:nvGraphicFramePr>
          <p:cNvPr id="182317" name="Object 45"/>
          <p:cNvGraphicFramePr>
            <a:graphicFrameLocks noChangeAspect="1"/>
          </p:cNvGraphicFramePr>
          <p:nvPr/>
        </p:nvGraphicFramePr>
        <p:xfrm>
          <a:off x="3886200" y="4191000"/>
          <a:ext cx="52578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2" imgW="2324100" imgH="482600" progId="Equation.3">
                  <p:embed/>
                </p:oleObj>
              </mc:Choice>
              <mc:Fallback>
                <p:oleObj name="" r:id="rId12" imgW="2324100" imgH="4826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3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4191000"/>
                        <a:ext cx="5257800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18" name="Object 46"/>
          <p:cNvGraphicFramePr>
            <a:graphicFrameLocks noChangeAspect="1"/>
          </p:cNvGraphicFramePr>
          <p:nvPr/>
        </p:nvGraphicFramePr>
        <p:xfrm>
          <a:off x="4572000" y="5181600"/>
          <a:ext cx="41148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14" imgW="1688465" imgH="482600" progId="Equation.3">
                  <p:embed/>
                </p:oleObj>
              </mc:Choice>
              <mc:Fallback>
                <p:oleObj name="" r:id="rId14" imgW="1688465" imgH="48260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15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5181600"/>
                        <a:ext cx="4114800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19" name="Text Box 47"/>
          <p:cNvSpPr txBox="1"/>
          <p:nvPr/>
        </p:nvSpPr>
        <p:spPr>
          <a:xfrm>
            <a:off x="6280150" y="6262688"/>
            <a:ext cx="271145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  <a:ea typeface="楷体_GB2312" pitchFamily="49" charset="-122"/>
              </a:rPr>
              <a:t>完全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响应</a:t>
            </a:r>
            <a:endParaRPr lang="zh-CN" altLang="en-US" sz="28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graphicFrame>
        <p:nvGraphicFramePr>
          <p:cNvPr id="182320" name="Object 48"/>
          <p:cNvGraphicFramePr>
            <a:graphicFrameLocks noChangeAspect="1"/>
          </p:cNvGraphicFramePr>
          <p:nvPr/>
        </p:nvGraphicFramePr>
        <p:xfrm>
          <a:off x="7277100" y="3505200"/>
          <a:ext cx="13335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6" imgW="622300" imgH="215900" progId="Equation.3">
                  <p:embed/>
                </p:oleObj>
              </mc:Choice>
              <mc:Fallback>
                <p:oleObj name="" r:id="rId16" imgW="622300" imgH="2159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17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277100" y="3505200"/>
                        <a:ext cx="13335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8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18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8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/>
      <p:bldP spid="182276" grpId="0"/>
      <p:bldP spid="182295" grpId="0"/>
      <p:bldP spid="182297" grpId="0"/>
      <p:bldP spid="182316" grpId="0"/>
      <p:bldP spid="1823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" y="-12700"/>
            <a:ext cx="38862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2.f (t)</a:t>
            </a:r>
            <a:r>
              <a: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衰减的情况：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36600" y="596900"/>
            <a:ext cx="4702175" cy="2281238"/>
            <a:chOff x="810" y="1941"/>
            <a:chExt cx="2962" cy="1437"/>
          </a:xfrm>
        </p:grpSpPr>
        <p:graphicFrame>
          <p:nvGraphicFramePr>
            <p:cNvPr id="36899" name="Object 6"/>
            <p:cNvGraphicFramePr>
              <a:graphicFrameLocks noChangeAspect="1"/>
            </p:cNvGraphicFramePr>
            <p:nvPr/>
          </p:nvGraphicFramePr>
          <p:xfrm>
            <a:off x="1050" y="1941"/>
            <a:ext cx="37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1" imgW="292100" imgH="228600" progId="Equation.3">
                    <p:embed/>
                  </p:oleObj>
                </mc:Choice>
                <mc:Fallback>
                  <p:oleObj name="" r:id="rId1" imgW="292100" imgH="2286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0" y="1941"/>
                          <a:ext cx="376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0" name="Text Box 7"/>
            <p:cNvSpPr txBox="1"/>
            <p:nvPr/>
          </p:nvSpPr>
          <p:spPr>
            <a:xfrm>
              <a:off x="2909" y="2859"/>
              <a:ext cx="86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1" name="Line 8"/>
            <p:cNvSpPr/>
            <p:nvPr/>
          </p:nvSpPr>
          <p:spPr>
            <a:xfrm flipV="1">
              <a:off x="810" y="3063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2" name="Line 9"/>
            <p:cNvSpPr/>
            <p:nvPr/>
          </p:nvSpPr>
          <p:spPr>
            <a:xfrm flipV="1">
              <a:off x="1022" y="2003"/>
              <a:ext cx="0" cy="1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3" name="Line 10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4" name="Line 11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5" name="Line 12"/>
            <p:cNvSpPr/>
            <p:nvPr/>
          </p:nvSpPr>
          <p:spPr>
            <a:xfrm>
              <a:off x="1768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6" name="Line 13"/>
            <p:cNvSpPr/>
            <p:nvPr/>
          </p:nvSpPr>
          <p:spPr>
            <a:xfrm>
              <a:off x="1389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7" name="Line 14"/>
            <p:cNvSpPr/>
            <p:nvPr/>
          </p:nvSpPr>
          <p:spPr>
            <a:xfrm>
              <a:off x="1762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8" name="Line 15"/>
            <p:cNvSpPr/>
            <p:nvPr/>
          </p:nvSpPr>
          <p:spPr>
            <a:xfrm>
              <a:off x="210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9" name="Line 16"/>
            <p:cNvSpPr/>
            <p:nvPr/>
          </p:nvSpPr>
          <p:spPr>
            <a:xfrm>
              <a:off x="247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0" name="Text Box 17"/>
            <p:cNvSpPr txBox="1"/>
            <p:nvPr/>
          </p:nvSpPr>
          <p:spPr>
            <a:xfrm>
              <a:off x="810" y="3048"/>
              <a:ext cx="73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0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6911" name="Text Box 18"/>
            <p:cNvSpPr txBox="1"/>
            <p:nvPr/>
          </p:nvSpPr>
          <p:spPr>
            <a:xfrm>
              <a:off x="2348" y="3013"/>
              <a:ext cx="841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84339" name="Arc 19"/>
          <p:cNvSpPr/>
          <p:nvPr/>
        </p:nvSpPr>
        <p:spPr>
          <a:xfrm flipH="1">
            <a:off x="1060450" y="1077913"/>
            <a:ext cx="2786063" cy="1277937"/>
          </a:xfrm>
          <a:custGeom>
            <a:avLst/>
            <a:gdLst>
              <a:gd name="txL" fmla="*/ 0 w 24036"/>
              <a:gd name="txT" fmla="*/ 0 h 21600"/>
              <a:gd name="txR" fmla="*/ 24036 w 24036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24036" h="21600" fill="none">
                <a:moveTo>
                  <a:pt x="24036" y="2034"/>
                </a:moveTo>
                <a:cubicBezTo>
                  <a:pt x="22986" y="13125"/>
                  <a:pt x="13673" y="21599"/>
                  <a:pt x="2532" y="21600"/>
                </a:cubicBezTo>
                <a:cubicBezTo>
                  <a:pt x="1685" y="21600"/>
                  <a:pt x="840" y="21550"/>
                  <a:pt x="-1" y="21451"/>
                </a:cubicBezTo>
              </a:path>
              <a:path w="24036" h="21600" stroke="0">
                <a:moveTo>
                  <a:pt x="24036" y="2034"/>
                </a:moveTo>
                <a:cubicBezTo>
                  <a:pt x="22986" y="13125"/>
                  <a:pt x="13673" y="21599"/>
                  <a:pt x="2532" y="21600"/>
                </a:cubicBezTo>
                <a:cubicBezTo>
                  <a:pt x="1685" y="21600"/>
                  <a:pt x="840" y="21550"/>
                  <a:pt x="-1" y="21451"/>
                </a:cubicBezTo>
                <a:lnTo>
                  <a:pt x="2532" y="0"/>
                </a:lnTo>
                <a:lnTo>
                  <a:pt x="24036" y="203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84340" name="Object 20"/>
          <p:cNvGraphicFramePr>
            <a:graphicFrameLocks noChangeAspect="1"/>
          </p:cNvGraphicFramePr>
          <p:nvPr/>
        </p:nvGraphicFramePr>
        <p:xfrm>
          <a:off x="311150" y="1077913"/>
          <a:ext cx="762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3" imgW="393065" imgH="215900" progId="Equation.3">
                  <p:embed/>
                </p:oleObj>
              </mc:Choice>
              <mc:Fallback>
                <p:oleObj name="" r:id="rId3" imgW="393065" imgH="2159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11150" y="1077913"/>
                        <a:ext cx="7620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41" name="Object 21"/>
          <p:cNvGraphicFramePr>
            <a:graphicFrameLocks noChangeAspect="1"/>
          </p:cNvGraphicFramePr>
          <p:nvPr/>
        </p:nvGraphicFramePr>
        <p:xfrm>
          <a:off x="339725" y="1905000"/>
          <a:ext cx="708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5" imgW="355600" imgH="215900" progId="Equation.3">
                  <p:embed/>
                </p:oleObj>
              </mc:Choice>
              <mc:Fallback>
                <p:oleObj name="" r:id="rId5" imgW="355600" imgH="2159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39725" y="1905000"/>
                        <a:ext cx="7080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42" name="Text Box 22"/>
          <p:cNvSpPr txBox="1"/>
          <p:nvPr/>
        </p:nvSpPr>
        <p:spPr>
          <a:xfrm>
            <a:off x="4084638" y="457200"/>
            <a:ext cx="4584700" cy="48514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  <a:sym typeface="Symbol" panose="05050102010706020507" pitchFamily="18" charset="2"/>
              </a:rPr>
              <a:t>稳态</a:t>
            </a:r>
            <a:r>
              <a:rPr lang="zh-CN" altLang="zh-CN" sz="2800" b="1" dirty="0">
                <a:latin typeface="_x0001_" pitchFamily="18" charset="0"/>
              </a:rPr>
              <a:t>值为零时</a:t>
            </a:r>
            <a:r>
              <a:rPr lang="zh-CN" altLang="zh-CN" sz="3200" b="1" dirty="0">
                <a:latin typeface="_x0001_" pitchFamily="18" charset="0"/>
              </a:rPr>
              <a:t>，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) =0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4343" name="Object 23"/>
          <p:cNvGraphicFramePr>
            <a:graphicFrameLocks noChangeAspect="1"/>
          </p:cNvGraphicFramePr>
          <p:nvPr/>
        </p:nvGraphicFramePr>
        <p:xfrm>
          <a:off x="4897438" y="960438"/>
          <a:ext cx="2286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7" imgW="977900" imgH="330200" progId="Equation.3">
                  <p:embed/>
                </p:oleObj>
              </mc:Choice>
              <mc:Fallback>
                <p:oleObj name="" r:id="rId7" imgW="977900" imgH="3302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97438" y="960438"/>
                        <a:ext cx="2286000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44" name="Text Box 24"/>
          <p:cNvSpPr txBox="1"/>
          <p:nvPr/>
        </p:nvSpPr>
        <p:spPr>
          <a:xfrm>
            <a:off x="5303838" y="1828800"/>
            <a:ext cx="3290887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零输入响应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25"/>
          <p:cNvGrpSpPr/>
          <p:nvPr/>
        </p:nvGrpSpPr>
        <p:grpSpPr>
          <a:xfrm>
            <a:off x="784225" y="2895600"/>
            <a:ext cx="4702175" cy="2268538"/>
            <a:chOff x="810" y="1949"/>
            <a:chExt cx="2962" cy="1429"/>
          </a:xfrm>
        </p:grpSpPr>
        <p:graphicFrame>
          <p:nvGraphicFramePr>
            <p:cNvPr id="36886" name="Object 26"/>
            <p:cNvGraphicFramePr>
              <a:graphicFrameLocks noChangeAspect="1"/>
            </p:cNvGraphicFramePr>
            <p:nvPr/>
          </p:nvGraphicFramePr>
          <p:xfrm>
            <a:off x="1050" y="1949"/>
            <a:ext cx="3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9" imgW="292100" imgH="215900" progId="Equation.3">
                    <p:embed/>
                  </p:oleObj>
                </mc:Choice>
                <mc:Fallback>
                  <p:oleObj name="" r:id="rId9" imgW="292100" imgH="2159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0" y="1949"/>
                          <a:ext cx="37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7" name="Text Box 27"/>
            <p:cNvSpPr txBox="1"/>
            <p:nvPr/>
          </p:nvSpPr>
          <p:spPr>
            <a:xfrm>
              <a:off x="2909" y="2859"/>
              <a:ext cx="86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8" name="Line 28"/>
            <p:cNvSpPr/>
            <p:nvPr/>
          </p:nvSpPr>
          <p:spPr>
            <a:xfrm flipV="1">
              <a:off x="810" y="3063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9" name="Line 29"/>
            <p:cNvSpPr/>
            <p:nvPr/>
          </p:nvSpPr>
          <p:spPr>
            <a:xfrm flipV="1">
              <a:off x="1022" y="2003"/>
              <a:ext cx="0" cy="1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90" name="Line 30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1" name="Line 31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2" name="Line 32"/>
            <p:cNvSpPr/>
            <p:nvPr/>
          </p:nvSpPr>
          <p:spPr>
            <a:xfrm>
              <a:off x="1768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3" name="Line 33"/>
            <p:cNvSpPr/>
            <p:nvPr/>
          </p:nvSpPr>
          <p:spPr>
            <a:xfrm>
              <a:off x="1389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4" name="Line 34"/>
            <p:cNvSpPr/>
            <p:nvPr/>
          </p:nvSpPr>
          <p:spPr>
            <a:xfrm>
              <a:off x="1762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5" name="Line 35"/>
            <p:cNvSpPr/>
            <p:nvPr/>
          </p:nvSpPr>
          <p:spPr>
            <a:xfrm>
              <a:off x="210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6" name="Line 36"/>
            <p:cNvSpPr/>
            <p:nvPr/>
          </p:nvSpPr>
          <p:spPr>
            <a:xfrm>
              <a:off x="247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7" name="Text Box 37"/>
            <p:cNvSpPr txBox="1"/>
            <p:nvPr/>
          </p:nvSpPr>
          <p:spPr>
            <a:xfrm>
              <a:off x="810" y="3048"/>
              <a:ext cx="73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0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36898" name="Text Box 38"/>
            <p:cNvSpPr txBox="1"/>
            <p:nvPr/>
          </p:nvSpPr>
          <p:spPr>
            <a:xfrm>
              <a:off x="2348" y="3013"/>
              <a:ext cx="841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_x0001_" pitchFamily="18" charset="0"/>
                  <a:sym typeface="Symbol" panose="05050102010706020507" pitchFamily="18" charset="2"/>
                </a:rPr>
                <a:t>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184359" name="Arc 39"/>
          <p:cNvSpPr/>
          <p:nvPr/>
        </p:nvSpPr>
        <p:spPr>
          <a:xfrm flipH="1">
            <a:off x="1149350" y="3189288"/>
            <a:ext cx="2786063" cy="1150937"/>
          </a:xfrm>
          <a:custGeom>
            <a:avLst/>
            <a:gdLst>
              <a:gd name="txL" fmla="*/ 0 w 24036"/>
              <a:gd name="txT" fmla="*/ 0 h 21600"/>
              <a:gd name="txR" fmla="*/ 24036 w 24036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24036" h="21600" fill="none">
                <a:moveTo>
                  <a:pt x="24036" y="2034"/>
                </a:moveTo>
                <a:cubicBezTo>
                  <a:pt x="22986" y="13125"/>
                  <a:pt x="13673" y="21599"/>
                  <a:pt x="2532" y="21600"/>
                </a:cubicBezTo>
                <a:cubicBezTo>
                  <a:pt x="1685" y="21600"/>
                  <a:pt x="840" y="21550"/>
                  <a:pt x="-1" y="21451"/>
                </a:cubicBezTo>
              </a:path>
              <a:path w="24036" h="21600" stroke="0">
                <a:moveTo>
                  <a:pt x="24036" y="2034"/>
                </a:moveTo>
                <a:cubicBezTo>
                  <a:pt x="22986" y="13125"/>
                  <a:pt x="13673" y="21599"/>
                  <a:pt x="2532" y="21600"/>
                </a:cubicBezTo>
                <a:cubicBezTo>
                  <a:pt x="1685" y="21600"/>
                  <a:pt x="840" y="21550"/>
                  <a:pt x="-1" y="21451"/>
                </a:cubicBezTo>
                <a:lnTo>
                  <a:pt x="2532" y="0"/>
                </a:lnTo>
                <a:lnTo>
                  <a:pt x="24036" y="203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84360" name="Object 40"/>
          <p:cNvGraphicFramePr>
            <a:graphicFrameLocks noChangeAspect="1"/>
          </p:cNvGraphicFramePr>
          <p:nvPr/>
        </p:nvGraphicFramePr>
        <p:xfrm>
          <a:off x="355600" y="3189288"/>
          <a:ext cx="762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1" imgW="393065" imgH="215900" progId="Equation.3">
                  <p:embed/>
                </p:oleObj>
              </mc:Choice>
              <mc:Fallback>
                <p:oleObj name="" r:id="rId11" imgW="393065" imgH="2159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55600" y="3189288"/>
                        <a:ext cx="7620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1" name="Object 41"/>
          <p:cNvGraphicFramePr>
            <a:graphicFrameLocks noChangeAspect="1"/>
          </p:cNvGraphicFramePr>
          <p:nvPr/>
        </p:nvGraphicFramePr>
        <p:xfrm>
          <a:off x="409575" y="4156075"/>
          <a:ext cx="708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12" imgW="355600" imgH="215900" progId="Equation.3">
                  <p:embed/>
                </p:oleObj>
              </mc:Choice>
              <mc:Fallback>
                <p:oleObj name="" r:id="rId12" imgW="355600" imgH="215900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09575" y="4156075"/>
                        <a:ext cx="7080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2" name="Line 42"/>
          <p:cNvSpPr/>
          <p:nvPr/>
        </p:nvSpPr>
        <p:spPr>
          <a:xfrm>
            <a:off x="1149350" y="4397375"/>
            <a:ext cx="2786063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4" name="Group 43"/>
          <p:cNvGrpSpPr/>
          <p:nvPr/>
        </p:nvGrpSpPr>
        <p:grpSpPr>
          <a:xfrm>
            <a:off x="4789488" y="2386013"/>
            <a:ext cx="5018087" cy="474662"/>
            <a:chOff x="2875" y="2598"/>
            <a:chExt cx="3161" cy="299"/>
          </a:xfrm>
        </p:grpSpPr>
        <p:graphicFrame>
          <p:nvGraphicFramePr>
            <p:cNvPr id="36884" name="Object 44"/>
            <p:cNvGraphicFramePr>
              <a:graphicFrameLocks noChangeAspect="1"/>
            </p:cNvGraphicFramePr>
            <p:nvPr/>
          </p:nvGraphicFramePr>
          <p:xfrm>
            <a:off x="5335" y="2598"/>
            <a:ext cx="29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13" imgW="139700" imgH="139700" progId="Equation.3">
                    <p:embed/>
                  </p:oleObj>
                </mc:Choice>
                <mc:Fallback>
                  <p:oleObj name="" r:id="rId13" imgW="139700" imgH="139700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35" y="2598"/>
                          <a:ext cx="299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5" name="Text Box 45"/>
            <p:cNvSpPr txBox="1"/>
            <p:nvPr/>
          </p:nvSpPr>
          <p:spPr>
            <a:xfrm>
              <a:off x="2875" y="2598"/>
              <a:ext cx="3161" cy="27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_x0001_" pitchFamily="18" charset="0"/>
                  <a:sym typeface="Symbol" panose="05050102010706020507" pitchFamily="18" charset="2"/>
                </a:rPr>
                <a:t>稳态</a:t>
              </a:r>
              <a:r>
                <a:rPr lang="zh-CN" altLang="zh-CN" sz="2800" b="1" dirty="0">
                  <a:latin typeface="_x0001_" pitchFamily="18" charset="0"/>
                </a:rPr>
                <a:t>值不为零时， </a:t>
              </a:r>
              <a:r>
                <a:rPr lang="en-US" altLang="zh-CN" sz="2800" b="1" dirty="0">
                  <a:latin typeface="_x0001_" pitchFamily="18" charset="0"/>
                </a:rPr>
                <a:t>f (</a:t>
              </a:r>
              <a:r>
                <a:rPr lang="en-US" altLang="zh-CN" sz="2800" b="1" dirty="0">
                  <a:latin typeface="_x0001_" pitchFamily="18" charset="0"/>
                  <a:sym typeface="Symbol" panose="05050102010706020507" pitchFamily="18" charset="2"/>
                </a:rPr>
                <a:t>)</a:t>
              </a:r>
              <a:r>
                <a:rPr lang="en-US" altLang="zh-CN" sz="2800" b="1" dirty="0">
                  <a:latin typeface="Viner Hand ITC" panose="03070502030502020203" pitchFamily="66" charset="0"/>
                  <a:sym typeface="Symbol" panose="05050102010706020507" pitchFamily="18" charset="2"/>
                </a:rPr>
                <a:t>≠</a:t>
              </a:r>
              <a:r>
                <a:rPr lang="en-US" altLang="zh-CN" sz="2800" b="1" dirty="0">
                  <a:latin typeface="_x0001_" pitchFamily="18" charset="0"/>
                  <a:sym typeface="Symbol" panose="05050102010706020507" pitchFamily="18" charset="2"/>
                </a:rPr>
                <a:t> 0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</p:grpSp>
      <p:graphicFrame>
        <p:nvGraphicFramePr>
          <p:cNvPr id="184366" name="Object 46"/>
          <p:cNvGraphicFramePr>
            <a:graphicFrameLocks noChangeAspect="1"/>
          </p:cNvGraphicFramePr>
          <p:nvPr/>
        </p:nvGraphicFramePr>
        <p:xfrm>
          <a:off x="4125913" y="2819400"/>
          <a:ext cx="46847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5" imgW="1943100" imgH="330200" progId="Equation.3">
                  <p:embed/>
                </p:oleObj>
              </mc:Choice>
              <mc:Fallback>
                <p:oleObj name="" r:id="rId15" imgW="1943100" imgH="3302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25913" y="2819400"/>
                        <a:ext cx="4684712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7" name="Object 47"/>
          <p:cNvGraphicFramePr>
            <a:graphicFrameLocks noChangeAspect="1"/>
          </p:cNvGraphicFramePr>
          <p:nvPr/>
        </p:nvGraphicFramePr>
        <p:xfrm>
          <a:off x="4841875" y="3657600"/>
          <a:ext cx="37020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7" imgW="1688465" imgH="482600" progId="Equation.3">
                  <p:embed/>
                </p:oleObj>
              </mc:Choice>
              <mc:Fallback>
                <p:oleObj name="" r:id="rId17" imgW="1688465" imgH="4826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41875" y="3657600"/>
                        <a:ext cx="370205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8" name="Text Box 48"/>
          <p:cNvSpPr txBox="1"/>
          <p:nvPr/>
        </p:nvSpPr>
        <p:spPr>
          <a:xfrm>
            <a:off x="5441950" y="4724400"/>
            <a:ext cx="271145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  <a:ea typeface="楷体_GB2312" pitchFamily="49" charset="-122"/>
              </a:rPr>
              <a:t>完全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响应</a:t>
            </a:r>
            <a:endParaRPr lang="zh-CN" altLang="en-US" sz="2800" b="1" dirty="0">
              <a:solidFill>
                <a:schemeClr val="tx2"/>
              </a:solidFill>
              <a:latin typeface="_x0001_" pitchFamily="18" charset="0"/>
            </a:endParaRPr>
          </a:p>
        </p:txBody>
      </p:sp>
      <p:sp>
        <p:nvSpPr>
          <p:cNvPr id="184369" name="Text Box 49"/>
          <p:cNvSpPr txBox="1"/>
          <p:nvPr/>
        </p:nvSpPr>
        <p:spPr>
          <a:xfrm>
            <a:off x="63500" y="5029200"/>
            <a:ext cx="8978900" cy="119824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latin typeface="_x0001_" pitchFamily="18" charset="0"/>
              </a:rPr>
              <a:t>    </a:t>
            </a:r>
            <a:r>
              <a:rPr lang="zh-CN" altLang="en-US" sz="2800" b="1" dirty="0">
                <a:latin typeface="_x0001_" pitchFamily="18" charset="0"/>
              </a:rPr>
              <a:t>分析电路时，只需求出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(0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﹑f 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﹑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  </a:t>
            </a:r>
            <a:r>
              <a:rPr lang="zh-CN" altLang="en-US" sz="2800" b="1" dirty="0">
                <a:latin typeface="_x0001_" pitchFamily="18" charset="0"/>
              </a:rPr>
              <a:t>这三个要素就能画出波形，并能迅速写出相应的表达式。</a:t>
            </a:r>
            <a:endParaRPr lang="zh-CN" altLang="en-US" sz="3200" b="1" dirty="0">
              <a:latin typeface="_x0001_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8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8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42" grpId="0"/>
      <p:bldP spid="184344" grpId="0"/>
      <p:bldP spid="184368" grpId="0"/>
      <p:bldP spid="18436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 Box 4"/>
          <p:cNvSpPr txBox="1"/>
          <p:nvPr/>
        </p:nvSpPr>
        <p:spPr>
          <a:xfrm>
            <a:off x="0" y="95250"/>
            <a:ext cx="8559800" cy="902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latin typeface="_x0001_" pitchFamily="18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zh-CN" altLang="zh-CN" sz="2400" b="1" dirty="0">
                <a:latin typeface="_x0001_" pitchFamily="18" charset="0"/>
              </a:rPr>
              <a:t>电路或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zh-CN" altLang="zh-CN" sz="2400" b="1" dirty="0">
                <a:latin typeface="_x0001_" pitchFamily="18" charset="0"/>
              </a:rPr>
              <a:t>电路在直流输入的情况下</a:t>
            </a:r>
            <a:r>
              <a:rPr lang="en-US" altLang="zh-CN" sz="2400" b="1" dirty="0">
                <a:latin typeface="_x0001_" pitchFamily="18" charset="0"/>
              </a:rPr>
              <a:t>,</a:t>
            </a:r>
            <a:r>
              <a:rPr lang="zh-CN" altLang="zh-CN" sz="2400" b="1" dirty="0">
                <a:latin typeface="_x0001_" pitchFamily="18" charset="0"/>
              </a:rPr>
              <a:t> 电路的电压或电流无非是按两种规律变化，一是指数衰减，二是指数上升。</a:t>
            </a:r>
            <a:endParaRPr lang="zh-CN" altLang="en-US" sz="2400" b="1" dirty="0">
              <a:latin typeface="_x0001_" pitchFamily="18" charset="0"/>
            </a:endParaRPr>
          </a:p>
        </p:txBody>
      </p:sp>
      <p:graphicFrame>
        <p:nvGraphicFramePr>
          <p:cNvPr id="182317" name="Object 45"/>
          <p:cNvGraphicFramePr>
            <a:graphicFrameLocks noChangeAspect="1"/>
          </p:cNvGraphicFramePr>
          <p:nvPr/>
        </p:nvGraphicFramePr>
        <p:xfrm>
          <a:off x="4699000" y="3432175"/>
          <a:ext cx="43195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" imgW="2324100" imgH="482600" progId="Equation.3">
                  <p:embed/>
                </p:oleObj>
              </mc:Choice>
              <mc:Fallback>
                <p:oleObj name="" r:id="rId1" imgW="2324100" imgH="4826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699000" y="3432175"/>
                        <a:ext cx="4319588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6"/>
          <p:cNvGraphicFramePr>
            <a:graphicFrameLocks noChangeAspect="1"/>
          </p:cNvGraphicFramePr>
          <p:nvPr/>
        </p:nvGraphicFramePr>
        <p:xfrm>
          <a:off x="211138" y="3400425"/>
          <a:ext cx="39893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3" imgW="1943100" imgH="330200" progId="Equation.3">
                  <p:embed/>
                </p:oleObj>
              </mc:Choice>
              <mc:Fallback>
                <p:oleObj name="" r:id="rId3" imgW="1943100" imgH="3302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11138" y="3400425"/>
                        <a:ext cx="3989387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7"/>
          <p:cNvGraphicFramePr>
            <a:graphicFrameLocks noChangeAspect="1"/>
          </p:cNvGraphicFramePr>
          <p:nvPr/>
        </p:nvGraphicFramePr>
        <p:xfrm>
          <a:off x="2386013" y="4348163"/>
          <a:ext cx="4319587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5" imgW="1688465" imgH="482600" progId="Equation.3">
                  <p:embed/>
                </p:oleObj>
              </mc:Choice>
              <mc:Fallback>
                <p:oleObj name="" r:id="rId5" imgW="1688465" imgH="4826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386013" y="4348163"/>
                        <a:ext cx="4319587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49"/>
          <p:cNvSpPr txBox="1"/>
          <p:nvPr/>
        </p:nvSpPr>
        <p:spPr>
          <a:xfrm>
            <a:off x="185738" y="5637213"/>
            <a:ext cx="8978900" cy="119824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latin typeface="_x0001_" pitchFamily="18" charset="0"/>
              </a:rPr>
              <a:t>    </a:t>
            </a:r>
            <a:r>
              <a:rPr lang="zh-CN" altLang="en-US" sz="2800" b="1" dirty="0">
                <a:latin typeface="_x0001_" pitchFamily="18" charset="0"/>
              </a:rPr>
              <a:t>分析电路时，只需求出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(0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﹑f 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﹑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  </a:t>
            </a:r>
            <a:r>
              <a:rPr lang="zh-CN" altLang="en-US" sz="2800" b="1" dirty="0">
                <a:latin typeface="_x0001_" pitchFamily="18" charset="0"/>
              </a:rPr>
              <a:t>这三个要素就能画出波形，并能迅速写出相应的表达式。</a:t>
            </a:r>
            <a:endParaRPr lang="zh-CN" altLang="en-US" sz="3200" b="1" dirty="0">
              <a:latin typeface="_x0001_" pitchFamily="18" charset="0"/>
            </a:endParaRPr>
          </a:p>
        </p:txBody>
      </p:sp>
      <p:grpSp>
        <p:nvGrpSpPr>
          <p:cNvPr id="37895" name="Group 26"/>
          <p:cNvGrpSpPr/>
          <p:nvPr/>
        </p:nvGrpSpPr>
        <p:grpSpPr>
          <a:xfrm>
            <a:off x="5181600" y="931863"/>
            <a:ext cx="4491038" cy="2273299"/>
            <a:chOff x="810" y="1949"/>
            <a:chExt cx="2962" cy="1432"/>
          </a:xfrm>
        </p:grpSpPr>
        <p:graphicFrame>
          <p:nvGraphicFramePr>
            <p:cNvPr id="37919" name="Object 27"/>
            <p:cNvGraphicFramePr>
              <a:graphicFrameLocks noChangeAspect="1"/>
            </p:cNvGraphicFramePr>
            <p:nvPr/>
          </p:nvGraphicFramePr>
          <p:xfrm>
            <a:off x="1050" y="1949"/>
            <a:ext cx="3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7" name="" r:id="rId7" imgW="292100" imgH="215900" progId="Equation.3">
                    <p:embed/>
                  </p:oleObj>
                </mc:Choice>
                <mc:Fallback>
                  <p:oleObj name="" r:id="rId7" imgW="292100" imgH="215900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0" y="1949"/>
                          <a:ext cx="37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0" name="Text Box 28"/>
            <p:cNvSpPr txBox="1"/>
            <p:nvPr/>
          </p:nvSpPr>
          <p:spPr>
            <a:xfrm>
              <a:off x="2909" y="2859"/>
              <a:ext cx="86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21" name="Line 29"/>
            <p:cNvSpPr/>
            <p:nvPr/>
          </p:nvSpPr>
          <p:spPr>
            <a:xfrm flipV="1">
              <a:off x="810" y="3063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2" name="Line 30"/>
            <p:cNvSpPr/>
            <p:nvPr/>
          </p:nvSpPr>
          <p:spPr>
            <a:xfrm flipV="1">
              <a:off x="1022" y="2003"/>
              <a:ext cx="0" cy="1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3" name="Line 31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4" name="Line 32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5" name="Line 33"/>
            <p:cNvSpPr/>
            <p:nvPr/>
          </p:nvSpPr>
          <p:spPr>
            <a:xfrm>
              <a:off x="1768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6" name="Line 34"/>
            <p:cNvSpPr/>
            <p:nvPr/>
          </p:nvSpPr>
          <p:spPr>
            <a:xfrm>
              <a:off x="1389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7" name="Line 35"/>
            <p:cNvSpPr/>
            <p:nvPr/>
          </p:nvSpPr>
          <p:spPr>
            <a:xfrm>
              <a:off x="1762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8" name="Line 36"/>
            <p:cNvSpPr/>
            <p:nvPr/>
          </p:nvSpPr>
          <p:spPr>
            <a:xfrm>
              <a:off x="210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9" name="Line 37"/>
            <p:cNvSpPr/>
            <p:nvPr/>
          </p:nvSpPr>
          <p:spPr>
            <a:xfrm>
              <a:off x="247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0" name="Text Box 38"/>
            <p:cNvSpPr txBox="1"/>
            <p:nvPr/>
          </p:nvSpPr>
          <p:spPr>
            <a:xfrm>
              <a:off x="810" y="3048"/>
              <a:ext cx="73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31" name="Text Box 39"/>
            <p:cNvSpPr txBox="1"/>
            <p:nvPr/>
          </p:nvSpPr>
          <p:spPr>
            <a:xfrm>
              <a:off x="2348" y="3013"/>
              <a:ext cx="841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896" name="Arc 40"/>
          <p:cNvSpPr/>
          <p:nvPr/>
        </p:nvSpPr>
        <p:spPr>
          <a:xfrm>
            <a:off x="5510213" y="1524000"/>
            <a:ext cx="2636837" cy="1497013"/>
          </a:xfrm>
          <a:custGeom>
            <a:avLst/>
            <a:gdLst>
              <a:gd name="txL" fmla="*/ 0 w 19791"/>
              <a:gd name="txT" fmla="*/ 0 h 21600"/>
              <a:gd name="txR" fmla="*/ 19791 w 19791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791" h="21600" fill="none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</a:path>
              <a:path w="19791" h="21600" stroke="0">
                <a:moveTo>
                  <a:pt x="0" y="12574"/>
                </a:moveTo>
                <a:cubicBezTo>
                  <a:pt x="3525" y="4910"/>
                  <a:pt x="11188" y="-1"/>
                  <a:pt x="19624" y="0"/>
                </a:cubicBezTo>
                <a:cubicBezTo>
                  <a:pt x="19679" y="0"/>
                  <a:pt x="19735" y="0"/>
                  <a:pt x="19791" y="0"/>
                </a:cubicBezTo>
                <a:lnTo>
                  <a:pt x="19624" y="21600"/>
                </a:lnTo>
                <a:lnTo>
                  <a:pt x="0" y="1257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7897" name="Object 41"/>
          <p:cNvGraphicFramePr>
            <a:graphicFrameLocks noChangeAspect="1"/>
          </p:cNvGraphicFramePr>
          <p:nvPr/>
        </p:nvGraphicFramePr>
        <p:xfrm>
          <a:off x="4767263" y="2174875"/>
          <a:ext cx="7620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9" imgW="393065" imgH="215900" progId="Equation.3">
                  <p:embed/>
                </p:oleObj>
              </mc:Choice>
              <mc:Fallback>
                <p:oleObj name="" r:id="rId9" imgW="393065" imgH="2159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767263" y="2174875"/>
                        <a:ext cx="762000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42"/>
          <p:cNvGraphicFramePr>
            <a:graphicFrameLocks noChangeAspect="1"/>
          </p:cNvGraphicFramePr>
          <p:nvPr/>
        </p:nvGraphicFramePr>
        <p:xfrm>
          <a:off x="4773613" y="1333500"/>
          <a:ext cx="708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1" imgW="355600" imgH="215900" progId="Equation.3">
                  <p:embed/>
                </p:oleObj>
              </mc:Choice>
              <mc:Fallback>
                <p:oleObj name="" r:id="rId11" imgW="355600" imgH="2159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773613" y="1333500"/>
                        <a:ext cx="7080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Line 43"/>
          <p:cNvSpPr/>
          <p:nvPr/>
        </p:nvSpPr>
        <p:spPr>
          <a:xfrm flipH="1">
            <a:off x="5481638" y="1495425"/>
            <a:ext cx="2794000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37900" name="Group 25"/>
          <p:cNvGrpSpPr/>
          <p:nvPr/>
        </p:nvGrpSpPr>
        <p:grpSpPr>
          <a:xfrm>
            <a:off x="423863" y="1025525"/>
            <a:ext cx="4702175" cy="2273301"/>
            <a:chOff x="810" y="1949"/>
            <a:chExt cx="2962" cy="1432"/>
          </a:xfrm>
        </p:grpSpPr>
        <p:graphicFrame>
          <p:nvGraphicFramePr>
            <p:cNvPr id="37906" name="Object 26"/>
            <p:cNvGraphicFramePr>
              <a:graphicFrameLocks noChangeAspect="1"/>
            </p:cNvGraphicFramePr>
            <p:nvPr/>
          </p:nvGraphicFramePr>
          <p:xfrm>
            <a:off x="1050" y="1949"/>
            <a:ext cx="3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13" imgW="292100" imgH="215900" progId="Equation.3">
                    <p:embed/>
                  </p:oleObj>
                </mc:Choice>
                <mc:Fallback>
                  <p:oleObj name="" r:id="rId13" imgW="292100" imgH="2159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0" y="1949"/>
                          <a:ext cx="37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7" name="Text Box 27"/>
            <p:cNvSpPr txBox="1"/>
            <p:nvPr/>
          </p:nvSpPr>
          <p:spPr>
            <a:xfrm>
              <a:off x="2909" y="2859"/>
              <a:ext cx="86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08" name="Line 28"/>
            <p:cNvSpPr/>
            <p:nvPr/>
          </p:nvSpPr>
          <p:spPr>
            <a:xfrm flipV="1">
              <a:off x="810" y="3063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09" name="Line 29"/>
            <p:cNvSpPr/>
            <p:nvPr/>
          </p:nvSpPr>
          <p:spPr>
            <a:xfrm flipV="1">
              <a:off x="1022" y="2003"/>
              <a:ext cx="0" cy="1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0" name="Line 30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1" name="Line 31"/>
            <p:cNvSpPr/>
            <p:nvPr/>
          </p:nvSpPr>
          <p:spPr>
            <a:xfrm>
              <a:off x="1426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2" name="Line 32"/>
            <p:cNvSpPr/>
            <p:nvPr/>
          </p:nvSpPr>
          <p:spPr>
            <a:xfrm>
              <a:off x="1768" y="3235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3" name="Line 33"/>
            <p:cNvSpPr/>
            <p:nvPr/>
          </p:nvSpPr>
          <p:spPr>
            <a:xfrm>
              <a:off x="1389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4" name="Line 34"/>
            <p:cNvSpPr/>
            <p:nvPr/>
          </p:nvSpPr>
          <p:spPr>
            <a:xfrm>
              <a:off x="1762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5" name="Line 35"/>
            <p:cNvSpPr/>
            <p:nvPr/>
          </p:nvSpPr>
          <p:spPr>
            <a:xfrm>
              <a:off x="210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6" name="Line 36"/>
            <p:cNvSpPr/>
            <p:nvPr/>
          </p:nvSpPr>
          <p:spPr>
            <a:xfrm>
              <a:off x="2476" y="3013"/>
              <a:ext cx="0" cy="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7" name="Text Box 37"/>
            <p:cNvSpPr txBox="1"/>
            <p:nvPr/>
          </p:nvSpPr>
          <p:spPr>
            <a:xfrm>
              <a:off x="810" y="3048"/>
              <a:ext cx="73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18" name="Text Box 38"/>
            <p:cNvSpPr txBox="1"/>
            <p:nvPr/>
          </p:nvSpPr>
          <p:spPr>
            <a:xfrm>
              <a:off x="2348" y="3013"/>
              <a:ext cx="841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901" name="Arc 39"/>
          <p:cNvSpPr/>
          <p:nvPr/>
        </p:nvSpPr>
        <p:spPr>
          <a:xfrm flipH="1">
            <a:off x="793750" y="1319213"/>
            <a:ext cx="2786063" cy="1150937"/>
          </a:xfrm>
          <a:custGeom>
            <a:avLst/>
            <a:gdLst>
              <a:gd name="txL" fmla="*/ 0 w 24036"/>
              <a:gd name="txT" fmla="*/ 0 h 21600"/>
              <a:gd name="txR" fmla="*/ 24036 w 24036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24036" h="21600" fill="none">
                <a:moveTo>
                  <a:pt x="24036" y="2034"/>
                </a:moveTo>
                <a:cubicBezTo>
                  <a:pt x="22986" y="13125"/>
                  <a:pt x="13673" y="21599"/>
                  <a:pt x="2532" y="21600"/>
                </a:cubicBezTo>
                <a:cubicBezTo>
                  <a:pt x="1685" y="21600"/>
                  <a:pt x="840" y="21550"/>
                  <a:pt x="-1" y="21451"/>
                </a:cubicBezTo>
              </a:path>
              <a:path w="24036" h="21600" stroke="0">
                <a:moveTo>
                  <a:pt x="24036" y="2034"/>
                </a:moveTo>
                <a:cubicBezTo>
                  <a:pt x="22986" y="13125"/>
                  <a:pt x="13673" y="21599"/>
                  <a:pt x="2532" y="21600"/>
                </a:cubicBezTo>
                <a:cubicBezTo>
                  <a:pt x="1685" y="21600"/>
                  <a:pt x="840" y="21550"/>
                  <a:pt x="-1" y="21451"/>
                </a:cubicBezTo>
                <a:lnTo>
                  <a:pt x="2532" y="0"/>
                </a:lnTo>
                <a:lnTo>
                  <a:pt x="24036" y="2034"/>
                </a:lnTo>
                <a:close/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7902" name="Object 40"/>
          <p:cNvGraphicFramePr>
            <a:graphicFrameLocks noChangeAspect="1"/>
          </p:cNvGraphicFramePr>
          <p:nvPr/>
        </p:nvGraphicFramePr>
        <p:xfrm>
          <a:off x="0" y="1319213"/>
          <a:ext cx="762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4" imgW="393065" imgH="215900" progId="Equation.3">
                  <p:embed/>
                </p:oleObj>
              </mc:Choice>
              <mc:Fallback>
                <p:oleObj name="" r:id="rId14" imgW="393065" imgH="21590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0" y="1319213"/>
                        <a:ext cx="7620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3" name="Object 41"/>
          <p:cNvGraphicFramePr>
            <a:graphicFrameLocks noChangeAspect="1"/>
          </p:cNvGraphicFramePr>
          <p:nvPr/>
        </p:nvGraphicFramePr>
        <p:xfrm>
          <a:off x="53975" y="2286000"/>
          <a:ext cx="708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5" imgW="355600" imgH="215900" progId="Equation.3">
                  <p:embed/>
                </p:oleObj>
              </mc:Choice>
              <mc:Fallback>
                <p:oleObj name="" r:id="rId15" imgW="355600" imgH="2159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975" y="2286000"/>
                        <a:ext cx="7080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Line 42"/>
          <p:cNvSpPr/>
          <p:nvPr/>
        </p:nvSpPr>
        <p:spPr>
          <a:xfrm>
            <a:off x="793750" y="2527300"/>
            <a:ext cx="2786063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25776" y="4714173"/>
            <a:ext cx="1819578" cy="430887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2" name="Text Box 4"/>
          <p:cNvSpPr txBox="1"/>
          <p:nvPr/>
        </p:nvSpPr>
        <p:spPr>
          <a:xfrm>
            <a:off x="352425" y="3355975"/>
            <a:ext cx="24892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三要素为：</a:t>
            </a:r>
            <a:endParaRPr lang="zh-CN" altLang="en-US" sz="2800" b="1" dirty="0">
              <a:latin typeface="_x0001_" pitchFamily="18" charset="0"/>
            </a:endParaRPr>
          </a:p>
        </p:txBody>
      </p:sp>
      <p:sp>
        <p:nvSpPr>
          <p:cNvPr id="263173" name="Text Box 5"/>
          <p:cNvSpPr txBox="1"/>
          <p:nvPr/>
        </p:nvSpPr>
        <p:spPr>
          <a:xfrm>
            <a:off x="533400" y="609600"/>
            <a:ext cx="8077200" cy="163036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</a:rPr>
              <a:t>        </a:t>
            </a:r>
            <a:r>
              <a:rPr lang="zh-CN" altLang="en-US" sz="2800" b="1" dirty="0">
                <a:latin typeface="_x0001_" pitchFamily="18" charset="0"/>
              </a:rPr>
              <a:t>三要素法是一种很重要的分析方法。它适用于在直流电源作用下，有损耗的一阶电路（即有电阻的电路，只有这样的电路才能进入稳态）。</a:t>
            </a:r>
            <a:endParaRPr lang="zh-CN" altLang="en-US" sz="2800" b="1" dirty="0">
              <a:latin typeface="_x0001_" pitchFamily="18" charset="0"/>
            </a:endParaRPr>
          </a:p>
        </p:txBody>
      </p:sp>
      <p:sp>
        <p:nvSpPr>
          <p:cNvPr id="263174" name="Text Box 6"/>
          <p:cNvSpPr txBox="1"/>
          <p:nvPr/>
        </p:nvSpPr>
        <p:spPr>
          <a:xfrm>
            <a:off x="2392363" y="5205413"/>
            <a:ext cx="7261225" cy="43561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zh-CN" sz="2800" b="1" dirty="0">
                <a:latin typeface="_x0001_" pitchFamily="18" charset="0"/>
                <a:sym typeface="Symbol" panose="05050102010706020507" pitchFamily="18" charset="2"/>
              </a:rPr>
              <a:t>         </a:t>
            </a:r>
            <a:r>
              <a:rPr lang="zh-CN" altLang="en-US" sz="2800" b="1" dirty="0">
                <a:latin typeface="_x0001_" pitchFamily="18" charset="0"/>
                <a:sym typeface="Symbol" panose="05050102010706020507" pitchFamily="18" charset="2"/>
              </a:rPr>
              <a:t>时间常数    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=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RC, =L/R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dirty="0">
                <a:latin typeface="_x0001_" pitchFamily="18" charset="0"/>
                <a:sym typeface="Symbol" panose="05050102010706020507" pitchFamily="18" charset="2"/>
              </a:rPr>
              <a:t>            </a:t>
            </a:r>
            <a:endParaRPr lang="en-US" altLang="zh-CN" sz="2800" b="1" dirty="0">
              <a:solidFill>
                <a:schemeClr val="tx2"/>
              </a:solidFill>
              <a:latin typeface="_x0001_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335213" y="2336800"/>
            <a:ext cx="5437187" cy="1354138"/>
            <a:chOff x="1483" y="1962"/>
            <a:chExt cx="3425" cy="853"/>
          </a:xfrm>
        </p:grpSpPr>
        <p:graphicFrame>
          <p:nvGraphicFramePr>
            <p:cNvPr id="38922" name="Object 8"/>
            <p:cNvGraphicFramePr>
              <a:graphicFrameLocks noChangeAspect="1"/>
            </p:cNvGraphicFramePr>
            <p:nvPr/>
          </p:nvGraphicFramePr>
          <p:xfrm>
            <a:off x="3215" y="1962"/>
            <a:ext cx="1693" cy="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" name="" r:id="rId1" imgW="939800" imgH="457200" progId="Equation.3">
                    <p:embed/>
                  </p:oleObj>
                </mc:Choice>
                <mc:Fallback>
                  <p:oleObj name="" r:id="rId1" imgW="939800" imgH="457200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5" y="1962"/>
                          <a:ext cx="1693" cy="7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rgbClr val="FFFF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3" name="Text Box 9"/>
            <p:cNvSpPr txBox="1"/>
            <p:nvPr/>
          </p:nvSpPr>
          <p:spPr>
            <a:xfrm>
              <a:off x="1483" y="2079"/>
              <a:ext cx="2168" cy="736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(0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zh-CN" sz="2800" b="1" dirty="0">
                  <a:latin typeface="_x0001_" pitchFamily="18" charset="0"/>
                </a:rPr>
                <a:t> 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初</a:t>
              </a:r>
              <a:r>
                <a:rPr lang="zh-CN" altLang="zh-CN" sz="2800" b="1" dirty="0">
                  <a:latin typeface="_x0001_" pitchFamily="18" charset="0"/>
                </a:rPr>
                <a:t>始值</a:t>
              </a:r>
              <a:endParaRPr lang="zh-CN" altLang="zh-CN" sz="2800" b="1" dirty="0">
                <a:latin typeface="_x0001_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800" b="1" dirty="0">
                <a:latin typeface="_x0001_" pitchFamily="18" charset="0"/>
              </a:endParaRPr>
            </a:p>
          </p:txBody>
        </p:sp>
      </p:grpSp>
      <p:sp>
        <p:nvSpPr>
          <p:cNvPr id="263178" name="Text Box 10"/>
          <p:cNvSpPr txBox="1"/>
          <p:nvPr/>
        </p:nvSpPr>
        <p:spPr>
          <a:xfrm>
            <a:off x="2365375" y="3827463"/>
            <a:ext cx="3319463" cy="43561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)</a:t>
            </a:r>
            <a:r>
              <a:rPr lang="en-US" altLang="zh-CN" sz="2800" b="1" dirty="0">
                <a:latin typeface="_x0001_" pitchFamily="18" charset="0"/>
                <a:sym typeface="Symbol" panose="05050102010706020507" pitchFamily="18" charset="2"/>
              </a:rPr>
              <a:t>    </a:t>
            </a:r>
            <a:r>
              <a:rPr lang="zh-CN" altLang="en-US" sz="2800" b="1" dirty="0">
                <a:latin typeface="_x0001_" pitchFamily="18" charset="0"/>
                <a:sym typeface="Symbol" panose="05050102010706020507" pitchFamily="18" charset="2"/>
              </a:rPr>
              <a:t>稳态</a:t>
            </a:r>
            <a:r>
              <a:rPr lang="zh-CN" altLang="zh-CN" sz="2800" b="1" dirty="0">
                <a:latin typeface="_x0001_" pitchFamily="18" charset="0"/>
              </a:rPr>
              <a:t>值</a:t>
            </a:r>
            <a:endParaRPr lang="zh-CN" altLang="zh-CN" sz="2800" b="1" dirty="0">
              <a:latin typeface="_x0001_" pitchFamily="18" charset="0"/>
              <a:sym typeface="Symbol" panose="05050102010706020507" pitchFamily="18" charset="2"/>
            </a:endParaRPr>
          </a:p>
        </p:txBody>
      </p:sp>
      <p:sp>
        <p:nvSpPr>
          <p:cNvPr id="263179" name="Text Box 11"/>
          <p:cNvSpPr txBox="1"/>
          <p:nvPr/>
        </p:nvSpPr>
        <p:spPr>
          <a:xfrm>
            <a:off x="4724400" y="3792538"/>
            <a:ext cx="4519613" cy="116046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稳态时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电容相当于开路。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稳态时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电感相当于短路。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63180" name="Text Box 12"/>
          <p:cNvSpPr txBox="1"/>
          <p:nvPr/>
        </p:nvSpPr>
        <p:spPr>
          <a:xfrm>
            <a:off x="5019675" y="6043613"/>
            <a:ext cx="3819525" cy="43338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zh-CN" sz="2800" b="1" dirty="0">
                <a:latin typeface="_x0001_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</a:rPr>
              <a:t>（同一电路</a:t>
            </a:r>
            <a:r>
              <a:rPr lang="zh-CN" altLang="zh-CN" sz="2800" b="1" dirty="0">
                <a:solidFill>
                  <a:schemeClr val="tx2"/>
                </a:solidFill>
                <a:latin typeface="_x0001_" pitchFamily="18" charset="0"/>
                <a:sym typeface="Symbol" panose="05050102010706020507" pitchFamily="18" charset="2"/>
              </a:rPr>
              <a:t> 相同）</a:t>
            </a:r>
            <a:endParaRPr lang="zh-CN" altLang="en-US" sz="2800" b="1" dirty="0">
              <a:solidFill>
                <a:schemeClr val="tx2"/>
              </a:solidFill>
              <a:latin typeface="_x0001_" pitchFamily="18" charset="0"/>
              <a:sym typeface="Symbol" panose="05050102010706020507" pitchFamily="18" charset="2"/>
            </a:endParaRPr>
          </a:p>
        </p:txBody>
      </p:sp>
      <p:sp>
        <p:nvSpPr>
          <p:cNvPr id="263181" name="Rectangle 13"/>
          <p:cNvSpPr/>
          <p:nvPr/>
        </p:nvSpPr>
        <p:spPr>
          <a:xfrm>
            <a:off x="533400" y="0"/>
            <a:ext cx="3124200" cy="7127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三要素法：</a:t>
            </a:r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/>
      <p:bldP spid="263173" grpId="0"/>
      <p:bldP spid="263174" grpId="0"/>
      <p:bldP spid="263178" grpId="0"/>
      <p:bldP spid="263179" grpId="0"/>
      <p:bldP spid="263180" grpId="0"/>
      <p:bldP spid="26318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8229600" cy="7889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方正行楷简体" pitchFamily="2" charset="-122"/>
                <a:cs typeface="+mj-cs"/>
              </a:rPr>
              <a:t>总结：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 = 0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+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t =∞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方正行楷简体" pitchFamily="2" charset="-122"/>
                <a:cs typeface="+mj-cs"/>
              </a:rPr>
              <a:t>时的等效电路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方正行楷简体" pitchFamily="2" charset="-122"/>
              <a:cs typeface="+mj-cs"/>
            </a:endParaRPr>
          </a:p>
        </p:txBody>
      </p:sp>
      <p:sp>
        <p:nvSpPr>
          <p:cNvPr id="183301" name="Text Box 5"/>
          <p:cNvSpPr txBox="1"/>
          <p:nvPr/>
        </p:nvSpPr>
        <p:spPr>
          <a:xfrm>
            <a:off x="304800" y="166688"/>
            <a:ext cx="868680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电压、电流的初始值，稳态值的计算：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graphicFrame>
        <p:nvGraphicFramePr>
          <p:cNvPr id="183482" name="Object 186"/>
          <p:cNvGraphicFramePr>
            <a:graphicFrameLocks noChangeAspect="1"/>
          </p:cNvGraphicFramePr>
          <p:nvPr/>
        </p:nvGraphicFramePr>
        <p:xfrm>
          <a:off x="-5067300" y="1524000"/>
          <a:ext cx="27698700" cy="782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1" imgW="5632450" imgH="1593850" progId="Word.Document.8">
                  <p:embed/>
                </p:oleObj>
              </mc:Choice>
              <mc:Fallback>
                <p:oleObj name="" r:id="rId1" imgW="5632450" imgH="1593850" progId="Word.Document.8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5067300" y="1524000"/>
                        <a:ext cx="27698700" cy="782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7"/>
          <p:cNvGrpSpPr/>
          <p:nvPr/>
        </p:nvGrpSpPr>
        <p:grpSpPr>
          <a:xfrm>
            <a:off x="550863" y="2286000"/>
            <a:ext cx="3030537" cy="989013"/>
            <a:chOff x="1371" y="2385"/>
            <a:chExt cx="1909" cy="623"/>
          </a:xfrm>
        </p:grpSpPr>
        <p:sp>
          <p:nvSpPr>
            <p:cNvPr id="40023" name="Line 188"/>
            <p:cNvSpPr/>
            <p:nvPr/>
          </p:nvSpPr>
          <p:spPr>
            <a:xfrm>
              <a:off x="1467" y="2481"/>
              <a:ext cx="5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4" name="Line 189"/>
            <p:cNvSpPr/>
            <p:nvPr/>
          </p:nvSpPr>
          <p:spPr>
            <a:xfrm>
              <a:off x="2091" y="2481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5" name="Line 190"/>
            <p:cNvSpPr/>
            <p:nvPr/>
          </p:nvSpPr>
          <p:spPr>
            <a:xfrm>
              <a:off x="1995" y="2385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6" name="Line 191"/>
            <p:cNvSpPr/>
            <p:nvPr/>
          </p:nvSpPr>
          <p:spPr>
            <a:xfrm>
              <a:off x="2091" y="2385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7" name="Oval 192"/>
            <p:cNvSpPr/>
            <p:nvPr/>
          </p:nvSpPr>
          <p:spPr>
            <a:xfrm>
              <a:off x="1371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28" name="Oval 193"/>
            <p:cNvSpPr/>
            <p:nvPr/>
          </p:nvSpPr>
          <p:spPr>
            <a:xfrm>
              <a:off x="2571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29" name="Text Box 194"/>
            <p:cNvSpPr txBox="1"/>
            <p:nvPr/>
          </p:nvSpPr>
          <p:spPr>
            <a:xfrm>
              <a:off x="1611" y="2415"/>
              <a:ext cx="166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_x0001_" pitchFamily="18" charset="0"/>
                </a:rPr>
                <a:t>+        </a:t>
              </a:r>
              <a:r>
                <a:rPr lang="en-US" altLang="zh-CN" sz="2800" dirty="0"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0030" name="Object 195"/>
            <p:cNvGraphicFramePr>
              <a:graphicFrameLocks noChangeAspect="1"/>
            </p:cNvGraphicFramePr>
            <p:nvPr/>
          </p:nvGraphicFramePr>
          <p:xfrm>
            <a:off x="1590" y="2667"/>
            <a:ext cx="96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" r:id="rId3" imgW="647700" imgH="228600" progId="Equation.3">
                    <p:embed/>
                  </p:oleObj>
                </mc:Choice>
                <mc:Fallback>
                  <p:oleObj name="" r:id="rId3" imgW="647700" imgH="228600" progId="Equation.3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90" y="2667"/>
                          <a:ext cx="966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6"/>
          <p:cNvGrpSpPr/>
          <p:nvPr/>
        </p:nvGrpSpPr>
        <p:grpSpPr>
          <a:xfrm>
            <a:off x="550863" y="4495800"/>
            <a:ext cx="3030537" cy="914400"/>
            <a:chOff x="1371" y="2385"/>
            <a:chExt cx="1909" cy="576"/>
          </a:xfrm>
        </p:grpSpPr>
        <p:graphicFrame>
          <p:nvGraphicFramePr>
            <p:cNvPr id="40015" name="Object 197"/>
            <p:cNvGraphicFramePr>
              <a:graphicFrameLocks noChangeAspect="1"/>
            </p:cNvGraphicFramePr>
            <p:nvPr/>
          </p:nvGraphicFramePr>
          <p:xfrm>
            <a:off x="1629" y="2643"/>
            <a:ext cx="88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5" imgW="647700" imgH="228600" progId="Equation.3">
                    <p:embed/>
                  </p:oleObj>
                </mc:Choice>
                <mc:Fallback>
                  <p:oleObj name="" r:id="rId5" imgW="647700" imgH="228600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29" y="2643"/>
                          <a:ext cx="883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16" name="Line 198"/>
            <p:cNvSpPr/>
            <p:nvPr/>
          </p:nvSpPr>
          <p:spPr>
            <a:xfrm>
              <a:off x="1467" y="2481"/>
              <a:ext cx="5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7" name="Line 199"/>
            <p:cNvSpPr/>
            <p:nvPr/>
          </p:nvSpPr>
          <p:spPr>
            <a:xfrm>
              <a:off x="2091" y="2481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8" name="Line 200"/>
            <p:cNvSpPr/>
            <p:nvPr/>
          </p:nvSpPr>
          <p:spPr>
            <a:xfrm>
              <a:off x="1995" y="2385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9" name="Line 201"/>
            <p:cNvSpPr/>
            <p:nvPr/>
          </p:nvSpPr>
          <p:spPr>
            <a:xfrm>
              <a:off x="2091" y="2385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0" name="Oval 202"/>
            <p:cNvSpPr/>
            <p:nvPr/>
          </p:nvSpPr>
          <p:spPr>
            <a:xfrm>
              <a:off x="1371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21" name="Oval 203"/>
            <p:cNvSpPr/>
            <p:nvPr/>
          </p:nvSpPr>
          <p:spPr>
            <a:xfrm>
              <a:off x="2571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22" name="Text Box 204"/>
            <p:cNvSpPr txBox="1"/>
            <p:nvPr/>
          </p:nvSpPr>
          <p:spPr>
            <a:xfrm>
              <a:off x="1611" y="2415"/>
              <a:ext cx="166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_x0001_" pitchFamily="18" charset="0"/>
                </a:rPr>
                <a:t>+        </a:t>
              </a:r>
              <a:r>
                <a:rPr lang="en-US" altLang="zh-CN" sz="2800" dirty="0"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05"/>
          <p:cNvGrpSpPr/>
          <p:nvPr/>
        </p:nvGrpSpPr>
        <p:grpSpPr>
          <a:xfrm>
            <a:off x="457200" y="3581400"/>
            <a:ext cx="2266950" cy="781050"/>
            <a:chOff x="1431" y="1098"/>
            <a:chExt cx="1428" cy="492"/>
          </a:xfrm>
        </p:grpSpPr>
        <p:sp>
          <p:nvSpPr>
            <p:cNvPr id="40005" name="Arc 206"/>
            <p:cNvSpPr/>
            <p:nvPr/>
          </p:nvSpPr>
          <p:spPr>
            <a:xfrm>
              <a:off x="1851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06" name="Arc 207"/>
            <p:cNvSpPr/>
            <p:nvPr/>
          </p:nvSpPr>
          <p:spPr>
            <a:xfrm>
              <a:off x="1990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07" name="Arc 208"/>
            <p:cNvSpPr/>
            <p:nvPr/>
          </p:nvSpPr>
          <p:spPr>
            <a:xfrm>
              <a:off x="2134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08" name="Arc 209"/>
            <p:cNvSpPr/>
            <p:nvPr/>
          </p:nvSpPr>
          <p:spPr>
            <a:xfrm>
              <a:off x="2278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09" name="Line 210"/>
            <p:cNvSpPr/>
            <p:nvPr/>
          </p:nvSpPr>
          <p:spPr>
            <a:xfrm>
              <a:off x="2403" y="1194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0" name="Line 211"/>
            <p:cNvSpPr/>
            <p:nvPr/>
          </p:nvSpPr>
          <p:spPr>
            <a:xfrm flipH="1">
              <a:off x="1503" y="1194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1" name="Oval 212"/>
            <p:cNvSpPr/>
            <p:nvPr/>
          </p:nvSpPr>
          <p:spPr>
            <a:xfrm>
              <a:off x="2763" y="1146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12" name="Oval 213"/>
            <p:cNvSpPr/>
            <p:nvPr/>
          </p:nvSpPr>
          <p:spPr>
            <a:xfrm>
              <a:off x="1431" y="1146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13" name="Line 214"/>
            <p:cNvSpPr/>
            <p:nvPr/>
          </p:nvSpPr>
          <p:spPr>
            <a:xfrm>
              <a:off x="1602" y="1200"/>
              <a:ext cx="1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014" name="Object 215"/>
            <p:cNvGraphicFramePr>
              <a:graphicFrameLocks noChangeAspect="1"/>
            </p:cNvGraphicFramePr>
            <p:nvPr/>
          </p:nvGraphicFramePr>
          <p:xfrm>
            <a:off x="1760" y="1266"/>
            <a:ext cx="82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" r:id="rId7" imgW="545465" imgH="215900" progId="Equation.3">
                    <p:embed/>
                  </p:oleObj>
                </mc:Choice>
                <mc:Fallback>
                  <p:oleObj name="" r:id="rId7" imgW="545465" imgH="215900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0" y="1266"/>
                          <a:ext cx="823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16"/>
          <p:cNvGrpSpPr/>
          <p:nvPr/>
        </p:nvGrpSpPr>
        <p:grpSpPr>
          <a:xfrm>
            <a:off x="457200" y="5562600"/>
            <a:ext cx="2266950" cy="806450"/>
            <a:chOff x="1431" y="1098"/>
            <a:chExt cx="1428" cy="508"/>
          </a:xfrm>
        </p:grpSpPr>
        <p:sp>
          <p:nvSpPr>
            <p:cNvPr id="39995" name="Arc 217"/>
            <p:cNvSpPr/>
            <p:nvPr/>
          </p:nvSpPr>
          <p:spPr>
            <a:xfrm>
              <a:off x="1851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96" name="Arc 218"/>
            <p:cNvSpPr/>
            <p:nvPr/>
          </p:nvSpPr>
          <p:spPr>
            <a:xfrm>
              <a:off x="1990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97" name="Arc 219"/>
            <p:cNvSpPr/>
            <p:nvPr/>
          </p:nvSpPr>
          <p:spPr>
            <a:xfrm>
              <a:off x="2134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98" name="Arc 220"/>
            <p:cNvSpPr/>
            <p:nvPr/>
          </p:nvSpPr>
          <p:spPr>
            <a:xfrm>
              <a:off x="2278" y="1098"/>
              <a:ext cx="142" cy="102"/>
            </a:xfrm>
            <a:custGeom>
              <a:avLst/>
              <a:gdLst>
                <a:gd name="txL" fmla="*/ 0 w 43200"/>
                <a:gd name="txT" fmla="*/ 0 h 33751"/>
                <a:gd name="txR" fmla="*/ 43200 w 43200"/>
                <a:gd name="txB" fmla="*/ 33751 h 3375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33751" fill="none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</a:path>
                <a:path w="43200" h="33751" stroke="0">
                  <a:moveTo>
                    <a:pt x="3700" y="33690"/>
                  </a:moveTo>
                  <a:cubicBezTo>
                    <a:pt x="1288" y="30119"/>
                    <a:pt x="0" y="259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934"/>
                    <a:pt x="41896" y="30167"/>
                    <a:pt x="39458" y="33751"/>
                  </a:cubicBezTo>
                  <a:lnTo>
                    <a:pt x="21600" y="21600"/>
                  </a:lnTo>
                  <a:lnTo>
                    <a:pt x="3700" y="3369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99" name="Line 221"/>
            <p:cNvSpPr/>
            <p:nvPr/>
          </p:nvSpPr>
          <p:spPr>
            <a:xfrm>
              <a:off x="2403" y="1194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0" name="Line 222"/>
            <p:cNvSpPr/>
            <p:nvPr/>
          </p:nvSpPr>
          <p:spPr>
            <a:xfrm flipH="1">
              <a:off x="1503" y="1194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1" name="Oval 223"/>
            <p:cNvSpPr/>
            <p:nvPr/>
          </p:nvSpPr>
          <p:spPr>
            <a:xfrm>
              <a:off x="2763" y="1146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02" name="Oval 224"/>
            <p:cNvSpPr/>
            <p:nvPr/>
          </p:nvSpPr>
          <p:spPr>
            <a:xfrm>
              <a:off x="1431" y="1146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003" name="Line 225"/>
            <p:cNvSpPr/>
            <p:nvPr/>
          </p:nvSpPr>
          <p:spPr>
            <a:xfrm>
              <a:off x="1602" y="1200"/>
              <a:ext cx="1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004" name="Object 226"/>
            <p:cNvGraphicFramePr>
              <a:graphicFrameLocks noChangeAspect="1"/>
            </p:cNvGraphicFramePr>
            <p:nvPr/>
          </p:nvGraphicFramePr>
          <p:xfrm>
            <a:off x="1750" y="1290"/>
            <a:ext cx="88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9" imgW="584200" imgH="228600" progId="Equation.3">
                    <p:embed/>
                  </p:oleObj>
                </mc:Choice>
                <mc:Fallback>
                  <p:oleObj name="" r:id="rId9" imgW="584200" imgH="2286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50" y="1290"/>
                          <a:ext cx="881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27"/>
          <p:cNvGrpSpPr/>
          <p:nvPr/>
        </p:nvGrpSpPr>
        <p:grpSpPr>
          <a:xfrm>
            <a:off x="6421438" y="4724400"/>
            <a:ext cx="2057400" cy="168275"/>
            <a:chOff x="2403" y="2427"/>
            <a:chExt cx="1296" cy="106"/>
          </a:xfrm>
        </p:grpSpPr>
        <p:sp>
          <p:nvSpPr>
            <p:cNvPr id="39989" name="Oval 228"/>
            <p:cNvSpPr/>
            <p:nvPr/>
          </p:nvSpPr>
          <p:spPr>
            <a:xfrm>
              <a:off x="3156" y="242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90" name="Oval 229"/>
            <p:cNvSpPr/>
            <p:nvPr/>
          </p:nvSpPr>
          <p:spPr>
            <a:xfrm>
              <a:off x="2841" y="242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91" name="Line 230"/>
            <p:cNvSpPr/>
            <p:nvPr/>
          </p:nvSpPr>
          <p:spPr>
            <a:xfrm>
              <a:off x="2499" y="2481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2" name="Oval 231"/>
            <p:cNvSpPr/>
            <p:nvPr/>
          </p:nvSpPr>
          <p:spPr>
            <a:xfrm>
              <a:off x="2403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93" name="Oval 232"/>
            <p:cNvSpPr/>
            <p:nvPr/>
          </p:nvSpPr>
          <p:spPr>
            <a:xfrm>
              <a:off x="3603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94" name="Line 233"/>
            <p:cNvSpPr/>
            <p:nvPr/>
          </p:nvSpPr>
          <p:spPr>
            <a:xfrm>
              <a:off x="3246" y="2481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234"/>
          <p:cNvGrpSpPr/>
          <p:nvPr/>
        </p:nvGrpSpPr>
        <p:grpSpPr>
          <a:xfrm>
            <a:off x="6400800" y="2438400"/>
            <a:ext cx="2057400" cy="168275"/>
            <a:chOff x="2403" y="2427"/>
            <a:chExt cx="1296" cy="106"/>
          </a:xfrm>
        </p:grpSpPr>
        <p:sp>
          <p:nvSpPr>
            <p:cNvPr id="39983" name="Oval 235"/>
            <p:cNvSpPr/>
            <p:nvPr/>
          </p:nvSpPr>
          <p:spPr>
            <a:xfrm>
              <a:off x="3156" y="242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4" name="Oval 236"/>
            <p:cNvSpPr/>
            <p:nvPr/>
          </p:nvSpPr>
          <p:spPr>
            <a:xfrm>
              <a:off x="2841" y="242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5" name="Line 237"/>
            <p:cNvSpPr/>
            <p:nvPr/>
          </p:nvSpPr>
          <p:spPr>
            <a:xfrm>
              <a:off x="2499" y="2481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6" name="Oval 238"/>
            <p:cNvSpPr/>
            <p:nvPr/>
          </p:nvSpPr>
          <p:spPr>
            <a:xfrm>
              <a:off x="2403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7" name="Oval 239"/>
            <p:cNvSpPr/>
            <p:nvPr/>
          </p:nvSpPr>
          <p:spPr>
            <a:xfrm>
              <a:off x="3603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8" name="Line 240"/>
            <p:cNvSpPr/>
            <p:nvPr/>
          </p:nvSpPr>
          <p:spPr>
            <a:xfrm>
              <a:off x="3246" y="2481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241"/>
          <p:cNvGrpSpPr/>
          <p:nvPr/>
        </p:nvGrpSpPr>
        <p:grpSpPr>
          <a:xfrm>
            <a:off x="3505200" y="3733800"/>
            <a:ext cx="2057400" cy="168275"/>
            <a:chOff x="2403" y="2427"/>
            <a:chExt cx="1296" cy="106"/>
          </a:xfrm>
        </p:grpSpPr>
        <p:sp>
          <p:nvSpPr>
            <p:cNvPr id="39977" name="Oval 242"/>
            <p:cNvSpPr/>
            <p:nvPr/>
          </p:nvSpPr>
          <p:spPr>
            <a:xfrm>
              <a:off x="3156" y="242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8" name="Oval 243"/>
            <p:cNvSpPr/>
            <p:nvPr/>
          </p:nvSpPr>
          <p:spPr>
            <a:xfrm>
              <a:off x="2841" y="242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9" name="Line 244"/>
            <p:cNvSpPr/>
            <p:nvPr/>
          </p:nvSpPr>
          <p:spPr>
            <a:xfrm>
              <a:off x="2499" y="2481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0" name="Oval 245"/>
            <p:cNvSpPr/>
            <p:nvPr/>
          </p:nvSpPr>
          <p:spPr>
            <a:xfrm>
              <a:off x="2403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1" name="Oval 246"/>
            <p:cNvSpPr/>
            <p:nvPr/>
          </p:nvSpPr>
          <p:spPr>
            <a:xfrm>
              <a:off x="3603" y="243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2" name="Line 247"/>
            <p:cNvSpPr/>
            <p:nvPr/>
          </p:nvSpPr>
          <p:spPr>
            <a:xfrm>
              <a:off x="3246" y="2481"/>
              <a:ext cx="3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248"/>
          <p:cNvGrpSpPr/>
          <p:nvPr/>
        </p:nvGrpSpPr>
        <p:grpSpPr>
          <a:xfrm>
            <a:off x="3429000" y="2438400"/>
            <a:ext cx="2000250" cy="152400"/>
            <a:chOff x="2752" y="3144"/>
            <a:chExt cx="1260" cy="96"/>
          </a:xfrm>
        </p:grpSpPr>
        <p:sp>
          <p:nvSpPr>
            <p:cNvPr id="39974" name="Line 249"/>
            <p:cNvSpPr/>
            <p:nvPr/>
          </p:nvSpPr>
          <p:spPr>
            <a:xfrm>
              <a:off x="2848" y="3188"/>
              <a:ext cx="10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5" name="Oval 250"/>
            <p:cNvSpPr/>
            <p:nvPr/>
          </p:nvSpPr>
          <p:spPr>
            <a:xfrm>
              <a:off x="2752" y="31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6" name="Oval 251"/>
            <p:cNvSpPr/>
            <p:nvPr/>
          </p:nvSpPr>
          <p:spPr>
            <a:xfrm>
              <a:off x="3916" y="31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252"/>
          <p:cNvGrpSpPr/>
          <p:nvPr/>
        </p:nvGrpSpPr>
        <p:grpSpPr>
          <a:xfrm>
            <a:off x="6400800" y="5791200"/>
            <a:ext cx="2000250" cy="152400"/>
            <a:chOff x="2752" y="3144"/>
            <a:chExt cx="1260" cy="96"/>
          </a:xfrm>
        </p:grpSpPr>
        <p:sp>
          <p:nvSpPr>
            <p:cNvPr id="39971" name="Line 253"/>
            <p:cNvSpPr/>
            <p:nvPr/>
          </p:nvSpPr>
          <p:spPr>
            <a:xfrm>
              <a:off x="2848" y="3188"/>
              <a:ext cx="10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2" name="Oval 254"/>
            <p:cNvSpPr/>
            <p:nvPr/>
          </p:nvSpPr>
          <p:spPr>
            <a:xfrm>
              <a:off x="2752" y="31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3" name="Oval 255"/>
            <p:cNvSpPr/>
            <p:nvPr/>
          </p:nvSpPr>
          <p:spPr>
            <a:xfrm>
              <a:off x="3916" y="31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256"/>
          <p:cNvGrpSpPr/>
          <p:nvPr/>
        </p:nvGrpSpPr>
        <p:grpSpPr>
          <a:xfrm>
            <a:off x="6400800" y="3733800"/>
            <a:ext cx="2000250" cy="152400"/>
            <a:chOff x="2752" y="3144"/>
            <a:chExt cx="1260" cy="96"/>
          </a:xfrm>
        </p:grpSpPr>
        <p:sp>
          <p:nvSpPr>
            <p:cNvPr id="39968" name="Line 257"/>
            <p:cNvSpPr/>
            <p:nvPr/>
          </p:nvSpPr>
          <p:spPr>
            <a:xfrm>
              <a:off x="2848" y="3188"/>
              <a:ext cx="10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9" name="Oval 258"/>
            <p:cNvSpPr/>
            <p:nvPr/>
          </p:nvSpPr>
          <p:spPr>
            <a:xfrm>
              <a:off x="2752" y="31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0" name="Oval 259"/>
            <p:cNvSpPr/>
            <p:nvPr/>
          </p:nvSpPr>
          <p:spPr>
            <a:xfrm>
              <a:off x="3916" y="31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260"/>
          <p:cNvGrpSpPr/>
          <p:nvPr/>
        </p:nvGrpSpPr>
        <p:grpSpPr>
          <a:xfrm>
            <a:off x="3505200" y="5532438"/>
            <a:ext cx="2019300" cy="868362"/>
            <a:chOff x="956" y="3002"/>
            <a:chExt cx="1272" cy="547"/>
          </a:xfrm>
        </p:grpSpPr>
        <p:sp>
          <p:nvSpPr>
            <p:cNvPr id="39960" name="Line 261"/>
            <p:cNvSpPr/>
            <p:nvPr/>
          </p:nvSpPr>
          <p:spPr>
            <a:xfrm>
              <a:off x="1046" y="3134"/>
              <a:ext cx="41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1" name="Line 262"/>
            <p:cNvSpPr/>
            <p:nvPr/>
          </p:nvSpPr>
          <p:spPr>
            <a:xfrm flipV="1">
              <a:off x="1755" y="3134"/>
              <a:ext cx="3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2" name="Line 263"/>
            <p:cNvSpPr/>
            <p:nvPr/>
          </p:nvSpPr>
          <p:spPr>
            <a:xfrm>
              <a:off x="1616" y="3038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9963" name="Object 264"/>
            <p:cNvGraphicFramePr>
              <a:graphicFrameLocks noChangeAspect="1"/>
            </p:cNvGraphicFramePr>
            <p:nvPr/>
          </p:nvGraphicFramePr>
          <p:xfrm>
            <a:off x="1225" y="3204"/>
            <a:ext cx="22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" r:id="rId11" imgW="152400" imgH="228600" progId="Equation.DSMT4">
                    <p:embed/>
                  </p:oleObj>
                </mc:Choice>
                <mc:Fallback>
                  <p:oleObj name="" r:id="rId11" imgW="152400" imgH="228600" progId="Equation.DSMT4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25" y="3204"/>
                          <a:ext cx="229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4" name="Oval 265"/>
            <p:cNvSpPr/>
            <p:nvPr/>
          </p:nvSpPr>
          <p:spPr>
            <a:xfrm>
              <a:off x="2132" y="3080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65" name="Oval 266"/>
            <p:cNvSpPr/>
            <p:nvPr/>
          </p:nvSpPr>
          <p:spPr>
            <a:xfrm>
              <a:off x="956" y="3080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66" name="Oval 267"/>
            <p:cNvSpPr/>
            <p:nvPr/>
          </p:nvSpPr>
          <p:spPr>
            <a:xfrm>
              <a:off x="1464" y="3002"/>
              <a:ext cx="291" cy="231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67" name="Line 268"/>
            <p:cNvSpPr/>
            <p:nvPr/>
          </p:nvSpPr>
          <p:spPr>
            <a:xfrm>
              <a:off x="1052" y="3134"/>
              <a:ext cx="3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" name="Group 269"/>
          <p:cNvGrpSpPr/>
          <p:nvPr/>
        </p:nvGrpSpPr>
        <p:grpSpPr>
          <a:xfrm>
            <a:off x="3505200" y="4495800"/>
            <a:ext cx="3028950" cy="952500"/>
            <a:chOff x="2752" y="3062"/>
            <a:chExt cx="1908" cy="600"/>
          </a:xfrm>
        </p:grpSpPr>
        <p:graphicFrame>
          <p:nvGraphicFramePr>
            <p:cNvPr id="39953" name="Object 270"/>
            <p:cNvGraphicFramePr>
              <a:graphicFrameLocks noChangeAspect="1"/>
            </p:cNvGraphicFramePr>
            <p:nvPr/>
          </p:nvGraphicFramePr>
          <p:xfrm>
            <a:off x="3251" y="3321"/>
            <a:ext cx="30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" r:id="rId13" imgW="203200" imgH="228600" progId="Equation.DSMT4">
                    <p:embed/>
                  </p:oleObj>
                </mc:Choice>
                <mc:Fallback>
                  <p:oleObj name="" r:id="rId13" imgW="203200" imgH="228600" progId="Equation.DSMT4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51" y="3321"/>
                          <a:ext cx="300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Text Box 271"/>
            <p:cNvSpPr txBox="1"/>
            <p:nvPr/>
          </p:nvSpPr>
          <p:spPr>
            <a:xfrm>
              <a:off x="2991" y="3204"/>
              <a:ext cx="166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_x0001_" pitchFamily="18" charset="0"/>
                </a:rPr>
                <a:t>+        </a:t>
              </a:r>
              <a:r>
                <a:rPr lang="en-US" altLang="zh-CN" sz="2800" dirty="0"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  <p:grpSp>
          <p:nvGrpSpPr>
            <p:cNvPr id="39955" name="Group 272"/>
            <p:cNvGrpSpPr/>
            <p:nvPr/>
          </p:nvGrpSpPr>
          <p:grpSpPr>
            <a:xfrm>
              <a:off x="2752" y="3144"/>
              <a:ext cx="1260" cy="96"/>
              <a:chOff x="2752" y="3144"/>
              <a:chExt cx="1260" cy="96"/>
            </a:xfrm>
          </p:grpSpPr>
          <p:sp>
            <p:nvSpPr>
              <p:cNvPr id="39957" name="Line 273"/>
              <p:cNvSpPr/>
              <p:nvPr/>
            </p:nvSpPr>
            <p:spPr>
              <a:xfrm>
                <a:off x="2848" y="3188"/>
                <a:ext cx="105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58" name="Oval 274"/>
              <p:cNvSpPr/>
              <p:nvPr/>
            </p:nvSpPr>
            <p:spPr>
              <a:xfrm>
                <a:off x="2752" y="3144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959" name="Oval 275"/>
              <p:cNvSpPr/>
              <p:nvPr/>
            </p:nvSpPr>
            <p:spPr>
              <a:xfrm>
                <a:off x="3916" y="3144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956" name="Oval 276"/>
            <p:cNvSpPr/>
            <p:nvPr/>
          </p:nvSpPr>
          <p:spPr>
            <a:xfrm>
              <a:off x="3261" y="3062"/>
              <a:ext cx="291" cy="231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/>
      <p:bldP spid="1833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1828800" cy="7127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>
                <a:effectLst/>
                <a:latin typeface="宋体" panose="02010600030101010101" pitchFamily="2" charset="-122"/>
              </a:rPr>
              <a:t>例</a:t>
            </a:r>
            <a:r>
              <a:rPr lang="en-US" altLang="zh-CN" sz="2800" dirty="0">
                <a:effectLst/>
                <a:latin typeface="宋体" panose="02010600030101010101" pitchFamily="2" charset="-122"/>
              </a:rPr>
              <a:t>7.15:</a:t>
            </a:r>
            <a:endParaRPr lang="en-US" altLang="zh-CN" sz="2800" dirty="0">
              <a:effectLst/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887913" y="527050"/>
            <a:ext cx="4446587" cy="1776413"/>
            <a:chOff x="2959" y="236"/>
            <a:chExt cx="2801" cy="1119"/>
          </a:xfrm>
        </p:grpSpPr>
        <p:grpSp>
          <p:nvGrpSpPr>
            <p:cNvPr id="41010" name="Group 5"/>
            <p:cNvGrpSpPr/>
            <p:nvPr/>
          </p:nvGrpSpPr>
          <p:grpSpPr>
            <a:xfrm>
              <a:off x="3007" y="236"/>
              <a:ext cx="2753" cy="1119"/>
              <a:chOff x="2971" y="1914"/>
              <a:chExt cx="2753" cy="1119"/>
            </a:xfrm>
          </p:grpSpPr>
          <p:sp>
            <p:nvSpPr>
              <p:cNvPr id="41012" name="Line 6"/>
              <p:cNvSpPr/>
              <p:nvPr/>
            </p:nvSpPr>
            <p:spPr>
              <a:xfrm flipV="1">
                <a:off x="3236" y="2996"/>
                <a:ext cx="1980" cy="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1013" name="Group 7"/>
              <p:cNvGrpSpPr/>
              <p:nvPr/>
            </p:nvGrpSpPr>
            <p:grpSpPr>
              <a:xfrm>
                <a:off x="5133" y="2054"/>
                <a:ext cx="114" cy="938"/>
                <a:chOff x="5133" y="2054"/>
                <a:chExt cx="114" cy="938"/>
              </a:xfrm>
            </p:grpSpPr>
            <p:sp>
              <p:nvSpPr>
                <p:cNvPr id="41044" name="Rectangle 8"/>
                <p:cNvSpPr/>
                <p:nvPr/>
              </p:nvSpPr>
              <p:spPr>
                <a:xfrm>
                  <a:off x="5133" y="2419"/>
                  <a:ext cx="114" cy="31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045" name="Line 9"/>
                <p:cNvSpPr/>
                <p:nvPr/>
              </p:nvSpPr>
              <p:spPr>
                <a:xfrm flipH="1">
                  <a:off x="5199" y="2736"/>
                  <a:ext cx="0" cy="25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1046" name="Line 10"/>
                <p:cNvSpPr/>
                <p:nvPr/>
              </p:nvSpPr>
              <p:spPr>
                <a:xfrm flipV="1">
                  <a:off x="5199" y="2054"/>
                  <a:ext cx="0" cy="34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1014" name="Text Box 11"/>
              <p:cNvSpPr txBox="1"/>
              <p:nvPr/>
            </p:nvSpPr>
            <p:spPr>
              <a:xfrm>
                <a:off x="3314" y="2086"/>
                <a:ext cx="261" cy="81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lnSpc>
                    <a:spcPct val="14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+</a:t>
                </a:r>
                <a:endParaRPr lang="en-US" altLang="zh-CN" sz="2400" b="1" dirty="0">
                  <a:latin typeface="_x0001_" pitchFamily="18" charset="0"/>
                </a:endParaRPr>
              </a:p>
              <a:p>
                <a:pPr eaLnBrk="1" hangingPunct="1">
                  <a:lnSpc>
                    <a:spcPct val="14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-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015" name="Text Box 12"/>
              <p:cNvSpPr txBox="1"/>
              <p:nvPr/>
            </p:nvSpPr>
            <p:spPr>
              <a:xfrm>
                <a:off x="4538" y="2437"/>
                <a:ext cx="56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3 F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41016" name="Line 13"/>
              <p:cNvSpPr/>
              <p:nvPr/>
            </p:nvSpPr>
            <p:spPr>
              <a:xfrm flipV="1">
                <a:off x="3236" y="2061"/>
                <a:ext cx="136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17" name="Text Box 14"/>
              <p:cNvSpPr txBox="1"/>
              <p:nvPr/>
            </p:nvSpPr>
            <p:spPr>
              <a:xfrm>
                <a:off x="3368" y="2371"/>
                <a:ext cx="539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_x0001_" pitchFamily="18" charset="0"/>
                  </a:rPr>
                  <a:t>u</a:t>
                </a:r>
                <a:r>
                  <a:rPr lang="en-US" altLang="zh-CN" sz="3200" b="1" baseline="-25000" dirty="0">
                    <a:latin typeface="_x0001_" pitchFamily="18" charset="0"/>
                  </a:rPr>
                  <a:t>c</a:t>
                </a:r>
                <a:r>
                  <a:rPr lang="en-US" altLang="zh-CN" sz="2400" b="1" dirty="0">
                    <a:latin typeface="_x0001_" pitchFamily="18" charset="0"/>
                  </a:rPr>
                  <a:t>(t)</a:t>
                </a:r>
                <a:endParaRPr lang="en-US" altLang="zh-CN" sz="2400" b="1" dirty="0">
                  <a:solidFill>
                    <a:schemeClr val="tx2"/>
                  </a:solidFill>
                  <a:latin typeface="_x0001_" pitchFamily="18" charset="0"/>
                </a:endParaRPr>
              </a:p>
            </p:txBody>
          </p:sp>
          <p:grpSp>
            <p:nvGrpSpPr>
              <p:cNvPr id="41018" name="Group 15"/>
              <p:cNvGrpSpPr/>
              <p:nvPr/>
            </p:nvGrpSpPr>
            <p:grpSpPr>
              <a:xfrm>
                <a:off x="4331" y="2026"/>
                <a:ext cx="211" cy="1007"/>
                <a:chOff x="4241" y="2026"/>
                <a:chExt cx="211" cy="1007"/>
              </a:xfrm>
            </p:grpSpPr>
            <p:sp>
              <p:nvSpPr>
                <p:cNvPr id="41038" name="Line 16"/>
                <p:cNvSpPr/>
                <p:nvPr/>
              </p:nvSpPr>
              <p:spPr>
                <a:xfrm>
                  <a:off x="4337" y="2077"/>
                  <a:ext cx="0" cy="41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1039" name="Line 17"/>
                <p:cNvSpPr/>
                <p:nvPr/>
              </p:nvSpPr>
              <p:spPr>
                <a:xfrm>
                  <a:off x="4337" y="2637"/>
                  <a:ext cx="0" cy="355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1040" name="Line 18"/>
                <p:cNvSpPr/>
                <p:nvPr/>
              </p:nvSpPr>
              <p:spPr>
                <a:xfrm>
                  <a:off x="4241" y="2503"/>
                  <a:ext cx="211" cy="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1041" name="Line 19"/>
                <p:cNvSpPr/>
                <p:nvPr/>
              </p:nvSpPr>
              <p:spPr>
                <a:xfrm>
                  <a:off x="4241" y="2621"/>
                  <a:ext cx="211" cy="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1042" name="Oval 20"/>
                <p:cNvSpPr/>
                <p:nvPr/>
              </p:nvSpPr>
              <p:spPr>
                <a:xfrm>
                  <a:off x="4303" y="2956"/>
                  <a:ext cx="59" cy="77"/>
                </a:xfrm>
                <a:prstGeom prst="ellipse">
                  <a:avLst/>
                </a:prstGeom>
                <a:solidFill>
                  <a:schemeClr val="tx1"/>
                </a:solidFill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043" name="Oval 21"/>
                <p:cNvSpPr/>
                <p:nvPr/>
              </p:nvSpPr>
              <p:spPr>
                <a:xfrm>
                  <a:off x="4297" y="2026"/>
                  <a:ext cx="59" cy="77"/>
                </a:xfrm>
                <a:prstGeom prst="ellipse">
                  <a:avLst/>
                </a:prstGeom>
                <a:solidFill>
                  <a:schemeClr val="tx1"/>
                </a:solidFill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019" name="Group 22"/>
              <p:cNvGrpSpPr/>
              <p:nvPr/>
            </p:nvGrpSpPr>
            <p:grpSpPr>
              <a:xfrm>
                <a:off x="3098" y="2376"/>
                <a:ext cx="282" cy="261"/>
                <a:chOff x="4686" y="3293"/>
                <a:chExt cx="354" cy="331"/>
              </a:xfrm>
            </p:grpSpPr>
            <p:sp>
              <p:nvSpPr>
                <p:cNvPr id="41036" name="Oval 23"/>
                <p:cNvSpPr/>
                <p:nvPr/>
              </p:nvSpPr>
              <p:spPr>
                <a:xfrm>
                  <a:off x="4686" y="3293"/>
                  <a:ext cx="354" cy="331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037" name="Line 24"/>
                <p:cNvSpPr/>
                <p:nvPr/>
              </p:nvSpPr>
              <p:spPr>
                <a:xfrm flipV="1">
                  <a:off x="4686" y="3461"/>
                  <a:ext cx="354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1020" name="Line 25"/>
              <p:cNvSpPr/>
              <p:nvPr/>
            </p:nvSpPr>
            <p:spPr>
              <a:xfrm>
                <a:off x="3237" y="2637"/>
                <a:ext cx="0" cy="37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21" name="Line 26"/>
              <p:cNvSpPr/>
              <p:nvPr/>
            </p:nvSpPr>
            <p:spPr>
              <a:xfrm>
                <a:off x="3237" y="2080"/>
                <a:ext cx="0" cy="2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22" name="Text Box 27"/>
              <p:cNvSpPr txBox="1"/>
              <p:nvPr/>
            </p:nvSpPr>
            <p:spPr>
              <a:xfrm>
                <a:off x="2971" y="2096"/>
                <a:ext cx="26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I</a:t>
                </a:r>
                <a:r>
                  <a:rPr lang="en-US" altLang="zh-CN" sz="2400" b="1" baseline="-25000" dirty="0">
                    <a:latin typeface="_x0001_" pitchFamily="18" charset="0"/>
                  </a:rPr>
                  <a:t>S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41023" name="Line 28"/>
              <p:cNvSpPr/>
              <p:nvPr/>
            </p:nvSpPr>
            <p:spPr>
              <a:xfrm flipV="1">
                <a:off x="3237" y="2186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1024" name="Oval 29"/>
              <p:cNvSpPr/>
              <p:nvPr/>
            </p:nvSpPr>
            <p:spPr>
              <a:xfrm>
                <a:off x="3902" y="2956"/>
                <a:ext cx="59" cy="77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5" name="Oval 30"/>
              <p:cNvSpPr/>
              <p:nvPr/>
            </p:nvSpPr>
            <p:spPr>
              <a:xfrm>
                <a:off x="4879" y="2015"/>
                <a:ext cx="59" cy="77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6" name="Oval 31"/>
              <p:cNvSpPr/>
              <p:nvPr/>
            </p:nvSpPr>
            <p:spPr>
              <a:xfrm>
                <a:off x="4604" y="2015"/>
                <a:ext cx="59" cy="77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7" name="Line 32"/>
              <p:cNvSpPr/>
              <p:nvPr/>
            </p:nvSpPr>
            <p:spPr>
              <a:xfrm>
                <a:off x="4938" y="2061"/>
                <a:ext cx="27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1028" name="Group 33"/>
              <p:cNvGrpSpPr/>
              <p:nvPr/>
            </p:nvGrpSpPr>
            <p:grpSpPr>
              <a:xfrm>
                <a:off x="3884" y="2054"/>
                <a:ext cx="114" cy="938"/>
                <a:chOff x="5133" y="2054"/>
                <a:chExt cx="114" cy="938"/>
              </a:xfrm>
            </p:grpSpPr>
            <p:sp>
              <p:nvSpPr>
                <p:cNvPr id="41033" name="Rectangle 34"/>
                <p:cNvSpPr/>
                <p:nvPr/>
              </p:nvSpPr>
              <p:spPr>
                <a:xfrm>
                  <a:off x="5133" y="2419"/>
                  <a:ext cx="114" cy="31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034" name="Line 35"/>
                <p:cNvSpPr/>
                <p:nvPr/>
              </p:nvSpPr>
              <p:spPr>
                <a:xfrm flipH="1">
                  <a:off x="5199" y="2736"/>
                  <a:ext cx="0" cy="25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1035" name="Line 36"/>
                <p:cNvSpPr/>
                <p:nvPr/>
              </p:nvSpPr>
              <p:spPr>
                <a:xfrm flipV="1">
                  <a:off x="5199" y="2054"/>
                  <a:ext cx="0" cy="34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1029" name="Line 37"/>
              <p:cNvSpPr/>
              <p:nvPr/>
            </p:nvSpPr>
            <p:spPr>
              <a:xfrm flipV="1">
                <a:off x="4650" y="1914"/>
                <a:ext cx="229" cy="1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30" name="Text Box 38"/>
              <p:cNvSpPr txBox="1"/>
              <p:nvPr/>
            </p:nvSpPr>
            <p:spPr>
              <a:xfrm>
                <a:off x="5247" y="2484"/>
                <a:ext cx="477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1</a:t>
                </a: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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41031" name="Text Box 39"/>
              <p:cNvSpPr txBox="1"/>
              <p:nvPr/>
            </p:nvSpPr>
            <p:spPr>
              <a:xfrm>
                <a:off x="3998" y="2556"/>
                <a:ext cx="477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2</a:t>
                </a:r>
                <a:r>
                  <a:rPr lang="en-US" altLang="zh-CN" sz="2400" b="1" dirty="0">
                    <a:latin typeface="_x0001_" pitchFamily="18" charset="0"/>
                    <a:sym typeface="Symbol" panose="05050102010706020507" pitchFamily="18" charset="2"/>
                  </a:rPr>
                  <a:t></a:t>
                </a:r>
                <a:endParaRPr lang="en-US" altLang="zh-CN" sz="2400" b="1" dirty="0">
                  <a:latin typeface="_x0001_" pitchFamily="18" charset="0"/>
                </a:endParaRPr>
              </a:p>
            </p:txBody>
          </p:sp>
          <p:sp>
            <p:nvSpPr>
              <p:cNvPr id="41032" name="Oval 40"/>
              <p:cNvSpPr/>
              <p:nvPr/>
            </p:nvSpPr>
            <p:spPr>
              <a:xfrm>
                <a:off x="3903" y="2026"/>
                <a:ext cx="59" cy="77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1011" name="Text Box 41"/>
            <p:cNvSpPr txBox="1"/>
            <p:nvPr/>
          </p:nvSpPr>
          <p:spPr>
            <a:xfrm>
              <a:off x="2959" y="887"/>
              <a:ext cx="866" cy="2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15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5386" name="Text Box 42"/>
          <p:cNvSpPr txBox="1"/>
          <p:nvPr/>
        </p:nvSpPr>
        <p:spPr>
          <a:xfrm>
            <a:off x="304800" y="0"/>
            <a:ext cx="5368925" cy="11176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</a:rPr>
              <a:t>           </a:t>
            </a:r>
            <a:r>
              <a:rPr lang="zh-CN" altLang="en-US" sz="2800" b="1" dirty="0">
                <a:latin typeface="_x0001_" pitchFamily="18" charset="0"/>
              </a:rPr>
              <a:t>已知开关闭合前电路已达到稳定，用三要素法求</a:t>
            </a:r>
            <a:r>
              <a:rPr lang="en-US" altLang="zh-CN" sz="2800" b="1" dirty="0">
                <a:latin typeface="_x0001_" pitchFamily="18" charset="0"/>
              </a:rPr>
              <a:t>u</a:t>
            </a:r>
            <a:r>
              <a:rPr lang="en-US" altLang="zh-CN" sz="2800" b="1" baseline="-25000" dirty="0">
                <a:latin typeface="_x0001_" pitchFamily="18" charset="0"/>
              </a:rPr>
              <a:t>C</a:t>
            </a:r>
            <a:r>
              <a:rPr lang="en-US" altLang="zh-CN" sz="2800" b="1" dirty="0">
                <a:latin typeface="_x0001_" pitchFamily="18" charset="0"/>
              </a:rPr>
              <a:t>(t)</a:t>
            </a:r>
            <a:r>
              <a:rPr lang="zh-CN" altLang="en-US" sz="2800" b="1" dirty="0">
                <a:latin typeface="_x0001_" pitchFamily="18" charset="0"/>
              </a:rPr>
              <a:t>。</a:t>
            </a:r>
            <a:endParaRPr lang="zh-CN" altLang="en-US" sz="2800" b="1" dirty="0">
              <a:latin typeface="_x0001_" pitchFamily="18" charset="0"/>
            </a:endParaRPr>
          </a:p>
        </p:txBody>
      </p:sp>
      <p:sp>
        <p:nvSpPr>
          <p:cNvPr id="185387" name="Text Box 43"/>
          <p:cNvSpPr txBox="1"/>
          <p:nvPr/>
        </p:nvSpPr>
        <p:spPr>
          <a:xfrm>
            <a:off x="7021513" y="230188"/>
            <a:ext cx="1397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_x0001_" pitchFamily="18" charset="0"/>
              </a:rPr>
              <a:t>t =0</a:t>
            </a:r>
            <a:endParaRPr lang="en-US" altLang="zh-CN" sz="2400" b="1" dirty="0">
              <a:latin typeface="_x0001_" pitchFamily="18" charset="0"/>
            </a:endParaRPr>
          </a:p>
        </p:txBody>
      </p:sp>
      <p:sp>
        <p:nvSpPr>
          <p:cNvPr id="185388" name="Line 44"/>
          <p:cNvSpPr/>
          <p:nvPr/>
        </p:nvSpPr>
        <p:spPr>
          <a:xfrm>
            <a:off x="7677150" y="420688"/>
            <a:ext cx="314325" cy="328612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5389" name="Text Box 45"/>
          <p:cNvSpPr txBox="1"/>
          <p:nvPr/>
        </p:nvSpPr>
        <p:spPr>
          <a:xfrm>
            <a:off x="152400" y="1295400"/>
            <a:ext cx="3525838" cy="6048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  <a:ea typeface="方正行楷简体" pitchFamily="2" charset="-122"/>
              </a:rPr>
              <a:t>解：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求</a:t>
            </a:r>
            <a:r>
              <a:rPr lang="en-US" altLang="zh-CN" sz="2800" b="1" dirty="0">
                <a:latin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C</a:t>
            </a:r>
            <a:r>
              <a:rPr lang="en-US" altLang="zh-CN" sz="2800" b="1" dirty="0">
                <a:latin typeface="宋体" panose="02010600030101010101" pitchFamily="2" charset="-122"/>
              </a:rPr>
              <a:t>(0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+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en-US" altLang="zh-CN" sz="2800" b="1" dirty="0">
                <a:latin typeface="_x0001_" pitchFamily="18" charset="0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: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85390" name="Object 46"/>
          <p:cNvGraphicFramePr>
            <a:graphicFrameLocks noChangeAspect="1"/>
          </p:cNvGraphicFramePr>
          <p:nvPr/>
        </p:nvGraphicFramePr>
        <p:xfrm>
          <a:off x="304800" y="3886200"/>
          <a:ext cx="36893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" imgW="1447800" imgH="228600" progId="Equation.3">
                  <p:embed/>
                </p:oleObj>
              </mc:Choice>
              <mc:Fallback>
                <p:oleObj name="" r:id="rId1" imgW="1447800" imgH="2286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3886200"/>
                        <a:ext cx="3689350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91" name="Object 47"/>
          <p:cNvGraphicFramePr>
            <a:graphicFrameLocks noChangeAspect="1"/>
          </p:cNvGraphicFramePr>
          <p:nvPr/>
        </p:nvGraphicFramePr>
        <p:xfrm>
          <a:off x="381000" y="3276600"/>
          <a:ext cx="30638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3" imgW="1244600" imgH="228600" progId="Equation.3">
                  <p:embed/>
                </p:oleObj>
              </mc:Choice>
              <mc:Fallback>
                <p:oleObj name="" r:id="rId3" imgW="1244600" imgH="2286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81000" y="3276600"/>
                        <a:ext cx="3063875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92" name="Text Box 48"/>
          <p:cNvSpPr txBox="1"/>
          <p:nvPr/>
        </p:nvSpPr>
        <p:spPr>
          <a:xfrm>
            <a:off x="152400" y="1827213"/>
            <a:ext cx="4676775" cy="137318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en-US" altLang="zh-CN" sz="3200" b="1" dirty="0">
                <a:latin typeface="_x0001_" pitchFamily="18" charset="0"/>
              </a:rPr>
              <a:t>t =0</a:t>
            </a:r>
            <a:r>
              <a:rPr lang="en-US" altLang="zh-CN" sz="3200" b="1" baseline="-25000" dirty="0">
                <a:latin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</a:rPr>
              <a:t>时，</a:t>
            </a:r>
            <a:r>
              <a:rPr lang="zh-CN" altLang="en-US" sz="2800" b="1" dirty="0">
                <a:latin typeface="_x0001_" pitchFamily="18" charset="0"/>
              </a:rPr>
              <a:t>电路已达到稳定，即</a:t>
            </a:r>
            <a:r>
              <a:rPr lang="en-US" altLang="zh-CN" sz="2800" b="1" dirty="0">
                <a:latin typeface="_x0001_" pitchFamily="18" charset="0"/>
              </a:rPr>
              <a:t>t→∞ </a:t>
            </a:r>
            <a:r>
              <a:rPr lang="zh-CN" altLang="en-US" sz="2800" b="1" dirty="0">
                <a:latin typeface="_x0001_" pitchFamily="18" charset="0"/>
              </a:rPr>
              <a:t>时，</a:t>
            </a:r>
            <a:r>
              <a:rPr lang="en-US" altLang="zh-CN" sz="2800" b="1" dirty="0">
                <a:latin typeface="_x0001_" pitchFamily="18" charset="0"/>
              </a:rPr>
              <a:t>C→</a:t>
            </a:r>
            <a:r>
              <a:rPr lang="zh-CN" altLang="en-US" sz="2800" b="1" dirty="0">
                <a:latin typeface="_x0001_" pitchFamily="18" charset="0"/>
              </a:rPr>
              <a:t>开路。</a:t>
            </a:r>
            <a:endParaRPr lang="zh-CN" altLang="en-US" sz="3200" b="1" dirty="0">
              <a:latin typeface="宋体" panose="02010600030101010101" pitchFamily="2" charset="-122"/>
            </a:endParaRPr>
          </a:p>
        </p:txBody>
      </p:sp>
      <p:sp>
        <p:nvSpPr>
          <p:cNvPr id="185393" name="Line 49"/>
          <p:cNvSpPr/>
          <p:nvPr/>
        </p:nvSpPr>
        <p:spPr>
          <a:xfrm>
            <a:off x="4725988" y="2851150"/>
            <a:ext cx="0" cy="3630613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8" name="Group 50"/>
          <p:cNvGrpSpPr/>
          <p:nvPr/>
        </p:nvGrpSpPr>
        <p:grpSpPr>
          <a:xfrm>
            <a:off x="4953000" y="2743200"/>
            <a:ext cx="4370388" cy="1624013"/>
            <a:chOff x="2925" y="2598"/>
            <a:chExt cx="2753" cy="1023"/>
          </a:xfrm>
        </p:grpSpPr>
        <p:sp>
          <p:nvSpPr>
            <p:cNvPr id="40978" name="Line 51"/>
            <p:cNvSpPr/>
            <p:nvPr/>
          </p:nvSpPr>
          <p:spPr>
            <a:xfrm flipV="1">
              <a:off x="3173" y="3554"/>
              <a:ext cx="1980" cy="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0979" name="Group 52"/>
            <p:cNvGrpSpPr/>
            <p:nvPr/>
          </p:nvGrpSpPr>
          <p:grpSpPr>
            <a:xfrm>
              <a:off x="5087" y="2629"/>
              <a:ext cx="114" cy="938"/>
              <a:chOff x="5133" y="2054"/>
              <a:chExt cx="114" cy="938"/>
            </a:xfrm>
          </p:grpSpPr>
          <p:sp>
            <p:nvSpPr>
              <p:cNvPr id="41007" name="Rectangle 53"/>
              <p:cNvSpPr/>
              <p:nvPr/>
            </p:nvSpPr>
            <p:spPr>
              <a:xfrm>
                <a:off x="5133" y="2419"/>
                <a:ext cx="114" cy="31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8" name="Line 54"/>
              <p:cNvSpPr/>
              <p:nvPr/>
            </p:nvSpPr>
            <p:spPr>
              <a:xfrm flipH="1">
                <a:off x="5199" y="2736"/>
                <a:ext cx="0" cy="2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09" name="Line 55"/>
              <p:cNvSpPr/>
              <p:nvPr/>
            </p:nvSpPr>
            <p:spPr>
              <a:xfrm flipV="1">
                <a:off x="5199" y="2054"/>
                <a:ext cx="0" cy="34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980" name="Text Box 56"/>
            <p:cNvSpPr txBox="1"/>
            <p:nvPr/>
          </p:nvSpPr>
          <p:spPr>
            <a:xfrm>
              <a:off x="3268" y="2661"/>
              <a:ext cx="261" cy="81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0981" name="Line 57"/>
            <p:cNvSpPr/>
            <p:nvPr/>
          </p:nvSpPr>
          <p:spPr>
            <a:xfrm flipV="1">
              <a:off x="3190" y="2636"/>
              <a:ext cx="136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2" name="Text Box 58"/>
            <p:cNvSpPr txBox="1"/>
            <p:nvPr/>
          </p:nvSpPr>
          <p:spPr>
            <a:xfrm>
              <a:off x="3322" y="2946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sp>
          <p:nvSpPr>
            <p:cNvPr id="40983" name="Line 59"/>
            <p:cNvSpPr/>
            <p:nvPr/>
          </p:nvSpPr>
          <p:spPr>
            <a:xfrm>
              <a:off x="4530" y="2598"/>
              <a:ext cx="0" cy="4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4" name="Line 60"/>
            <p:cNvSpPr/>
            <p:nvPr/>
          </p:nvSpPr>
          <p:spPr>
            <a:xfrm>
              <a:off x="4530" y="3266"/>
              <a:ext cx="0" cy="3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5" name="Oval 61"/>
            <p:cNvSpPr/>
            <p:nvPr/>
          </p:nvSpPr>
          <p:spPr>
            <a:xfrm>
              <a:off x="4496" y="3531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986" name="Oval 62"/>
            <p:cNvSpPr/>
            <p:nvPr/>
          </p:nvSpPr>
          <p:spPr>
            <a:xfrm>
              <a:off x="4490" y="2601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0987" name="Group 63"/>
            <p:cNvGrpSpPr/>
            <p:nvPr/>
          </p:nvGrpSpPr>
          <p:grpSpPr>
            <a:xfrm>
              <a:off x="3052" y="2951"/>
              <a:ext cx="282" cy="261"/>
              <a:chOff x="4686" y="3293"/>
              <a:chExt cx="354" cy="331"/>
            </a:xfrm>
          </p:grpSpPr>
          <p:sp>
            <p:nvSpPr>
              <p:cNvPr id="41005" name="Oval 64"/>
              <p:cNvSpPr/>
              <p:nvPr/>
            </p:nvSpPr>
            <p:spPr>
              <a:xfrm>
                <a:off x="4686" y="3293"/>
                <a:ext cx="354" cy="331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6" name="Line 65"/>
              <p:cNvSpPr/>
              <p:nvPr/>
            </p:nvSpPr>
            <p:spPr>
              <a:xfrm flipV="1">
                <a:off x="4686" y="3461"/>
                <a:ext cx="354" cy="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988" name="Line 66"/>
            <p:cNvSpPr/>
            <p:nvPr/>
          </p:nvSpPr>
          <p:spPr>
            <a:xfrm>
              <a:off x="3191" y="3212"/>
              <a:ext cx="0" cy="3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9" name="Line 67"/>
            <p:cNvSpPr/>
            <p:nvPr/>
          </p:nvSpPr>
          <p:spPr>
            <a:xfrm>
              <a:off x="3191" y="2655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0" name="Text Box 68"/>
            <p:cNvSpPr txBox="1"/>
            <p:nvPr/>
          </p:nvSpPr>
          <p:spPr>
            <a:xfrm>
              <a:off x="2925" y="2671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I</a:t>
              </a:r>
              <a:r>
                <a:rPr lang="en-US" altLang="zh-CN" sz="2400" b="1" baseline="-25000" dirty="0">
                  <a:latin typeface="_x0001_" pitchFamily="18" charset="0"/>
                </a:rPr>
                <a:t>S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0991" name="Line 69"/>
            <p:cNvSpPr/>
            <p:nvPr/>
          </p:nvSpPr>
          <p:spPr>
            <a:xfrm flipV="1">
              <a:off x="3191" y="2761"/>
              <a:ext cx="0" cy="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2" name="Oval 70"/>
            <p:cNvSpPr/>
            <p:nvPr/>
          </p:nvSpPr>
          <p:spPr>
            <a:xfrm>
              <a:off x="3874" y="3531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993" name="Oval 71"/>
            <p:cNvSpPr/>
            <p:nvPr/>
          </p:nvSpPr>
          <p:spPr>
            <a:xfrm>
              <a:off x="4501" y="292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994" name="Oval 72"/>
            <p:cNvSpPr/>
            <p:nvPr/>
          </p:nvSpPr>
          <p:spPr>
            <a:xfrm>
              <a:off x="4489" y="3275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995" name="Line 73"/>
            <p:cNvSpPr/>
            <p:nvPr/>
          </p:nvSpPr>
          <p:spPr>
            <a:xfrm>
              <a:off x="4501" y="2629"/>
              <a:ext cx="669" cy="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0996" name="Group 74"/>
            <p:cNvGrpSpPr/>
            <p:nvPr/>
          </p:nvGrpSpPr>
          <p:grpSpPr>
            <a:xfrm>
              <a:off x="3838" y="2629"/>
              <a:ext cx="114" cy="938"/>
              <a:chOff x="5133" y="2054"/>
              <a:chExt cx="114" cy="938"/>
            </a:xfrm>
          </p:grpSpPr>
          <p:sp>
            <p:nvSpPr>
              <p:cNvPr id="41002" name="Rectangle 75"/>
              <p:cNvSpPr/>
              <p:nvPr/>
            </p:nvSpPr>
            <p:spPr>
              <a:xfrm>
                <a:off x="5133" y="2419"/>
                <a:ext cx="114" cy="31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3" name="Line 76"/>
              <p:cNvSpPr/>
              <p:nvPr/>
            </p:nvSpPr>
            <p:spPr>
              <a:xfrm flipH="1">
                <a:off x="5199" y="2736"/>
                <a:ext cx="0" cy="2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04" name="Line 77"/>
              <p:cNvSpPr/>
              <p:nvPr/>
            </p:nvSpPr>
            <p:spPr>
              <a:xfrm flipV="1">
                <a:off x="5199" y="2054"/>
                <a:ext cx="0" cy="34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997" name="Text Box 78"/>
            <p:cNvSpPr txBox="1"/>
            <p:nvPr/>
          </p:nvSpPr>
          <p:spPr>
            <a:xfrm>
              <a:off x="5201" y="3059"/>
              <a:ext cx="47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1</a:t>
              </a: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0998" name="Text Box 79"/>
            <p:cNvSpPr txBox="1"/>
            <p:nvPr/>
          </p:nvSpPr>
          <p:spPr>
            <a:xfrm>
              <a:off x="3952" y="3131"/>
              <a:ext cx="47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2</a:t>
              </a: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0999" name="Oval 80"/>
            <p:cNvSpPr/>
            <p:nvPr/>
          </p:nvSpPr>
          <p:spPr>
            <a:xfrm>
              <a:off x="3875" y="2601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1000" name="Object 81"/>
            <p:cNvGraphicFramePr>
              <a:graphicFrameLocks noChangeAspect="1"/>
            </p:cNvGraphicFramePr>
            <p:nvPr/>
          </p:nvGraphicFramePr>
          <p:xfrm>
            <a:off x="4525" y="3030"/>
            <a:ext cx="51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5" imgW="406400" imgH="228600" progId="Equation.3">
                    <p:embed/>
                  </p:oleObj>
                </mc:Choice>
                <mc:Fallback>
                  <p:oleObj name="" r:id="rId5" imgW="406400" imgH="2286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25" y="3030"/>
                          <a:ext cx="516" cy="292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1" name="Text Box 82"/>
            <p:cNvSpPr txBox="1"/>
            <p:nvPr/>
          </p:nvSpPr>
          <p:spPr>
            <a:xfrm>
              <a:off x="4615" y="2714"/>
              <a:ext cx="382" cy="81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-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</p:grpSp>
      <p:grpSp>
        <p:nvGrpSpPr>
          <p:cNvPr id="12" name="Group 83"/>
          <p:cNvGrpSpPr/>
          <p:nvPr/>
        </p:nvGrpSpPr>
        <p:grpSpPr>
          <a:xfrm>
            <a:off x="381000" y="4572000"/>
            <a:ext cx="3414713" cy="622300"/>
            <a:chOff x="3199" y="1517"/>
            <a:chExt cx="2151" cy="392"/>
          </a:xfrm>
        </p:grpSpPr>
        <p:graphicFrame>
          <p:nvGraphicFramePr>
            <p:cNvPr id="40976" name="Object 84"/>
            <p:cNvGraphicFramePr>
              <a:graphicFrameLocks noChangeAspect="1"/>
            </p:cNvGraphicFramePr>
            <p:nvPr/>
          </p:nvGraphicFramePr>
          <p:xfrm>
            <a:off x="3789" y="1517"/>
            <a:ext cx="693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" r:id="rId7" imgW="406400" imgH="228600" progId="Equation.3">
                    <p:embed/>
                  </p:oleObj>
                </mc:Choice>
                <mc:Fallback>
                  <p:oleObj name="" r:id="rId7" imgW="406400" imgH="228600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9" y="1517"/>
                          <a:ext cx="693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7" name="Text Box 85"/>
            <p:cNvSpPr txBox="1"/>
            <p:nvPr/>
          </p:nvSpPr>
          <p:spPr>
            <a:xfrm>
              <a:off x="3199" y="1544"/>
              <a:ext cx="2151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2</a:t>
              </a:r>
              <a:r>
                <a:rPr lang="en-US" altLang="zh-CN" sz="3200" b="1" dirty="0">
                  <a:latin typeface="宋体" panose="02010600030101010101" pitchFamily="2" charset="-122"/>
                </a:rPr>
                <a:t>.</a:t>
              </a:r>
              <a:r>
                <a:rPr lang="zh-CN" altLang="en-US" sz="3200" b="1" dirty="0">
                  <a:latin typeface="宋体" panose="02010600030101010101" pitchFamily="2" charset="-122"/>
                </a:rPr>
                <a:t>求      ：</a:t>
              </a:r>
              <a:endParaRPr lang="zh-CN" altLang="en-US" sz="3200" b="1" dirty="0">
                <a:latin typeface="_x0001_" pitchFamily="18" charset="0"/>
              </a:endParaRPr>
            </a:p>
          </p:txBody>
        </p:sp>
      </p:grpSp>
      <p:sp>
        <p:nvSpPr>
          <p:cNvPr id="185430" name="Text Box 86"/>
          <p:cNvSpPr txBox="1"/>
          <p:nvPr/>
        </p:nvSpPr>
        <p:spPr>
          <a:xfrm>
            <a:off x="304800" y="5334000"/>
            <a:ext cx="3810000" cy="6048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_x0001_" pitchFamily="18" charset="0"/>
              </a:rPr>
              <a:t>t→∞ </a:t>
            </a:r>
            <a:r>
              <a:rPr lang="zh-CN" altLang="en-US" sz="2800" b="1" dirty="0">
                <a:latin typeface="_x0001_" pitchFamily="18" charset="0"/>
              </a:rPr>
              <a:t>时，</a:t>
            </a:r>
            <a:r>
              <a:rPr lang="en-US" altLang="zh-CN" sz="2800" b="1" dirty="0">
                <a:latin typeface="_x0001_" pitchFamily="18" charset="0"/>
              </a:rPr>
              <a:t>C→</a:t>
            </a:r>
            <a:r>
              <a:rPr lang="zh-CN" altLang="en-US" sz="2800" b="1" dirty="0">
                <a:latin typeface="_x0001_" pitchFamily="18" charset="0"/>
              </a:rPr>
              <a:t>开路</a:t>
            </a:r>
            <a:endParaRPr lang="zh-CN" altLang="en-US" sz="2400" b="1" dirty="0">
              <a:latin typeface="_x0001_" pitchFamily="18" charset="0"/>
            </a:endParaRPr>
          </a:p>
        </p:txBody>
      </p:sp>
      <p:graphicFrame>
        <p:nvGraphicFramePr>
          <p:cNvPr id="185431" name="Object 87"/>
          <p:cNvGraphicFramePr>
            <a:graphicFrameLocks noChangeAspect="1"/>
          </p:cNvGraphicFramePr>
          <p:nvPr/>
        </p:nvGraphicFramePr>
        <p:xfrm>
          <a:off x="5181600" y="4572000"/>
          <a:ext cx="33718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8" imgW="1333500" imgH="393700" progId="Equation.3">
                  <p:embed/>
                </p:oleObj>
              </mc:Choice>
              <mc:Fallback>
                <p:oleObj name="" r:id="rId8" imgW="1333500" imgH="3937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9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181600" y="4572000"/>
                        <a:ext cx="3371850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8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86" grpId="0"/>
      <p:bldP spid="185387" grpId="0"/>
      <p:bldP spid="185389" grpId="0"/>
      <p:bldP spid="185392" grpId="0"/>
      <p:bldP spid="1854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5002213" y="457200"/>
            <a:ext cx="4370387" cy="1616075"/>
            <a:chOff x="3010" y="337"/>
            <a:chExt cx="2753" cy="1018"/>
          </a:xfrm>
        </p:grpSpPr>
        <p:sp>
          <p:nvSpPr>
            <p:cNvPr id="42015" name="Line 5"/>
            <p:cNvSpPr/>
            <p:nvPr/>
          </p:nvSpPr>
          <p:spPr>
            <a:xfrm flipV="1">
              <a:off x="3275" y="1318"/>
              <a:ext cx="1980" cy="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16" name="Group 6"/>
            <p:cNvGrpSpPr/>
            <p:nvPr/>
          </p:nvGrpSpPr>
          <p:grpSpPr>
            <a:xfrm>
              <a:off x="5172" y="376"/>
              <a:ext cx="114" cy="938"/>
              <a:chOff x="5133" y="2054"/>
              <a:chExt cx="114" cy="938"/>
            </a:xfrm>
          </p:grpSpPr>
          <p:sp>
            <p:nvSpPr>
              <p:cNvPr id="42047" name="Rectangle 7"/>
              <p:cNvSpPr/>
              <p:nvPr/>
            </p:nvSpPr>
            <p:spPr>
              <a:xfrm>
                <a:off x="5133" y="2419"/>
                <a:ext cx="114" cy="31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48" name="Line 8"/>
              <p:cNvSpPr/>
              <p:nvPr/>
            </p:nvSpPr>
            <p:spPr>
              <a:xfrm flipH="1">
                <a:off x="5199" y="2736"/>
                <a:ext cx="0" cy="2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9" name="Line 9"/>
              <p:cNvSpPr/>
              <p:nvPr/>
            </p:nvSpPr>
            <p:spPr>
              <a:xfrm flipV="1">
                <a:off x="5199" y="2054"/>
                <a:ext cx="0" cy="34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17" name="Text Box 10"/>
            <p:cNvSpPr txBox="1"/>
            <p:nvPr/>
          </p:nvSpPr>
          <p:spPr>
            <a:xfrm>
              <a:off x="3353" y="408"/>
              <a:ext cx="261" cy="81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2018" name="Text Box 11"/>
            <p:cNvSpPr txBox="1"/>
            <p:nvPr/>
          </p:nvSpPr>
          <p:spPr>
            <a:xfrm>
              <a:off x="4577" y="759"/>
              <a:ext cx="56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3 F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2019" name="Line 12"/>
            <p:cNvSpPr/>
            <p:nvPr/>
          </p:nvSpPr>
          <p:spPr>
            <a:xfrm flipV="1">
              <a:off x="3275" y="383"/>
              <a:ext cx="136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0" name="Text Box 13"/>
            <p:cNvSpPr txBox="1"/>
            <p:nvPr/>
          </p:nvSpPr>
          <p:spPr>
            <a:xfrm>
              <a:off x="3407" y="693"/>
              <a:ext cx="53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u</a:t>
              </a:r>
              <a:r>
                <a:rPr lang="en-US" altLang="zh-CN" sz="3200" b="1" baseline="-25000" dirty="0">
                  <a:latin typeface="_x0001_" pitchFamily="18" charset="0"/>
                </a:rPr>
                <a:t>c</a:t>
              </a:r>
              <a:r>
                <a:rPr lang="en-US" altLang="zh-CN" sz="2400" b="1" dirty="0">
                  <a:latin typeface="_x0001_" pitchFamily="18" charset="0"/>
                </a:rPr>
                <a:t>(t)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grpSp>
          <p:nvGrpSpPr>
            <p:cNvPr id="42021" name="Group 14"/>
            <p:cNvGrpSpPr/>
            <p:nvPr/>
          </p:nvGrpSpPr>
          <p:grpSpPr>
            <a:xfrm>
              <a:off x="4370" y="348"/>
              <a:ext cx="211" cy="1007"/>
              <a:chOff x="4241" y="2026"/>
              <a:chExt cx="211" cy="1007"/>
            </a:xfrm>
          </p:grpSpPr>
          <p:sp>
            <p:nvSpPr>
              <p:cNvPr id="42041" name="Line 15"/>
              <p:cNvSpPr/>
              <p:nvPr/>
            </p:nvSpPr>
            <p:spPr>
              <a:xfrm>
                <a:off x="4337" y="2077"/>
                <a:ext cx="0" cy="41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2" name="Line 16"/>
              <p:cNvSpPr/>
              <p:nvPr/>
            </p:nvSpPr>
            <p:spPr>
              <a:xfrm>
                <a:off x="4337" y="2637"/>
                <a:ext cx="0" cy="3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3" name="Line 17"/>
              <p:cNvSpPr/>
              <p:nvPr/>
            </p:nvSpPr>
            <p:spPr>
              <a:xfrm>
                <a:off x="4241" y="2503"/>
                <a:ext cx="211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4" name="Line 18"/>
              <p:cNvSpPr/>
              <p:nvPr/>
            </p:nvSpPr>
            <p:spPr>
              <a:xfrm>
                <a:off x="4241" y="2621"/>
                <a:ext cx="211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5" name="Oval 19"/>
              <p:cNvSpPr/>
              <p:nvPr/>
            </p:nvSpPr>
            <p:spPr>
              <a:xfrm>
                <a:off x="4303" y="2956"/>
                <a:ext cx="59" cy="77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46" name="Oval 20"/>
              <p:cNvSpPr/>
              <p:nvPr/>
            </p:nvSpPr>
            <p:spPr>
              <a:xfrm>
                <a:off x="4297" y="2026"/>
                <a:ext cx="59" cy="77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2022" name="Group 21"/>
            <p:cNvGrpSpPr/>
            <p:nvPr/>
          </p:nvGrpSpPr>
          <p:grpSpPr>
            <a:xfrm>
              <a:off x="3137" y="698"/>
              <a:ext cx="282" cy="261"/>
              <a:chOff x="4686" y="3293"/>
              <a:chExt cx="354" cy="331"/>
            </a:xfrm>
          </p:grpSpPr>
          <p:sp>
            <p:nvSpPr>
              <p:cNvPr id="42039" name="Oval 22"/>
              <p:cNvSpPr/>
              <p:nvPr/>
            </p:nvSpPr>
            <p:spPr>
              <a:xfrm>
                <a:off x="4686" y="3293"/>
                <a:ext cx="354" cy="331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40" name="Line 23"/>
              <p:cNvSpPr/>
              <p:nvPr/>
            </p:nvSpPr>
            <p:spPr>
              <a:xfrm flipV="1">
                <a:off x="4686" y="3461"/>
                <a:ext cx="354" cy="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23" name="Line 24"/>
            <p:cNvSpPr/>
            <p:nvPr/>
          </p:nvSpPr>
          <p:spPr>
            <a:xfrm>
              <a:off x="3276" y="959"/>
              <a:ext cx="0" cy="3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4" name="Line 25"/>
            <p:cNvSpPr/>
            <p:nvPr/>
          </p:nvSpPr>
          <p:spPr>
            <a:xfrm>
              <a:off x="3276" y="402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5" name="Text Box 26"/>
            <p:cNvSpPr txBox="1"/>
            <p:nvPr/>
          </p:nvSpPr>
          <p:spPr>
            <a:xfrm>
              <a:off x="3010" y="418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I</a:t>
              </a:r>
              <a:r>
                <a:rPr lang="en-US" altLang="zh-CN" sz="2400" b="1" baseline="-25000" dirty="0">
                  <a:latin typeface="_x0001_" pitchFamily="18" charset="0"/>
                </a:rPr>
                <a:t>S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2026" name="Line 27"/>
            <p:cNvSpPr/>
            <p:nvPr/>
          </p:nvSpPr>
          <p:spPr>
            <a:xfrm flipV="1">
              <a:off x="3276" y="508"/>
              <a:ext cx="0" cy="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7" name="Oval 28"/>
            <p:cNvSpPr/>
            <p:nvPr/>
          </p:nvSpPr>
          <p:spPr>
            <a:xfrm>
              <a:off x="3941" y="127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28" name="Oval 29"/>
            <p:cNvSpPr/>
            <p:nvPr/>
          </p:nvSpPr>
          <p:spPr>
            <a:xfrm>
              <a:off x="4918" y="337"/>
              <a:ext cx="59" cy="7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29" name="Oval 30"/>
            <p:cNvSpPr/>
            <p:nvPr/>
          </p:nvSpPr>
          <p:spPr>
            <a:xfrm>
              <a:off x="4643" y="337"/>
              <a:ext cx="59" cy="7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30" name="Line 31"/>
            <p:cNvSpPr/>
            <p:nvPr/>
          </p:nvSpPr>
          <p:spPr>
            <a:xfrm>
              <a:off x="4977" y="383"/>
              <a:ext cx="27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31" name="Group 32"/>
            <p:cNvGrpSpPr/>
            <p:nvPr/>
          </p:nvGrpSpPr>
          <p:grpSpPr>
            <a:xfrm>
              <a:off x="3923" y="376"/>
              <a:ext cx="114" cy="938"/>
              <a:chOff x="5133" y="2054"/>
              <a:chExt cx="114" cy="938"/>
            </a:xfrm>
          </p:grpSpPr>
          <p:sp>
            <p:nvSpPr>
              <p:cNvPr id="42036" name="Rectangle 33"/>
              <p:cNvSpPr/>
              <p:nvPr/>
            </p:nvSpPr>
            <p:spPr>
              <a:xfrm>
                <a:off x="5133" y="2419"/>
                <a:ext cx="114" cy="31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37" name="Line 34"/>
              <p:cNvSpPr/>
              <p:nvPr/>
            </p:nvSpPr>
            <p:spPr>
              <a:xfrm flipH="1">
                <a:off x="5199" y="2736"/>
                <a:ext cx="0" cy="2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8" name="Line 35"/>
              <p:cNvSpPr/>
              <p:nvPr/>
            </p:nvSpPr>
            <p:spPr>
              <a:xfrm flipV="1">
                <a:off x="5199" y="2054"/>
                <a:ext cx="0" cy="34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32" name="Line 36"/>
            <p:cNvSpPr/>
            <p:nvPr/>
          </p:nvSpPr>
          <p:spPr>
            <a:xfrm flipV="1">
              <a:off x="4689" y="376"/>
              <a:ext cx="22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3" name="Text Box 37"/>
            <p:cNvSpPr txBox="1"/>
            <p:nvPr/>
          </p:nvSpPr>
          <p:spPr>
            <a:xfrm>
              <a:off x="5286" y="806"/>
              <a:ext cx="47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1</a:t>
              </a: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2034" name="Text Box 38"/>
            <p:cNvSpPr txBox="1"/>
            <p:nvPr/>
          </p:nvSpPr>
          <p:spPr>
            <a:xfrm>
              <a:off x="4037" y="878"/>
              <a:ext cx="47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2</a:t>
              </a: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2035" name="Oval 39"/>
            <p:cNvSpPr/>
            <p:nvPr/>
          </p:nvSpPr>
          <p:spPr>
            <a:xfrm>
              <a:off x="3942" y="348"/>
              <a:ext cx="59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6408" name="Text Box 40"/>
          <p:cNvSpPr txBox="1"/>
          <p:nvPr/>
        </p:nvSpPr>
        <p:spPr>
          <a:xfrm>
            <a:off x="96838" y="228600"/>
            <a:ext cx="2354262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3.</a:t>
            </a:r>
            <a:r>
              <a:rPr lang="zh-CN" altLang="en-US" sz="2800" b="1" dirty="0">
                <a:latin typeface="宋体" panose="02010600030101010101" pitchFamily="2" charset="-122"/>
              </a:rPr>
              <a:t>求</a:t>
            </a:r>
            <a:r>
              <a:rPr lang="en-US" altLang="zh-CN" sz="2800" b="1" dirty="0">
                <a:latin typeface="宋体" panose="02010600030101010101" pitchFamily="2" charset="-122"/>
              </a:rPr>
              <a:t>τ</a:t>
            </a:r>
            <a:r>
              <a:rPr lang="zh-CN" altLang="en-US" sz="2800" b="1" dirty="0">
                <a:latin typeface="宋体" panose="02010600030101010101" pitchFamily="2" charset="-122"/>
              </a:rPr>
              <a:t>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86409" name="Object 41"/>
          <p:cNvGraphicFramePr>
            <a:graphicFrameLocks noChangeAspect="1"/>
          </p:cNvGraphicFramePr>
          <p:nvPr/>
        </p:nvGraphicFramePr>
        <p:xfrm>
          <a:off x="1676400" y="260350"/>
          <a:ext cx="24780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1" imgW="1002665" imgH="393700" progId="Equation.3">
                  <p:embed/>
                </p:oleObj>
              </mc:Choice>
              <mc:Fallback>
                <p:oleObj name="" r:id="rId1" imgW="1002665" imgH="3937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676400" y="260350"/>
                        <a:ext cx="2478088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10" name="Object 42"/>
          <p:cNvGraphicFramePr>
            <a:graphicFrameLocks noChangeAspect="1"/>
          </p:cNvGraphicFramePr>
          <p:nvPr/>
        </p:nvGraphicFramePr>
        <p:xfrm>
          <a:off x="457200" y="1347788"/>
          <a:ext cx="34290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3" imgW="1320165" imgH="393700" progId="Equation.3">
                  <p:embed/>
                </p:oleObj>
              </mc:Choice>
              <mc:Fallback>
                <p:oleObj name="" r:id="rId3" imgW="1320165" imgH="3937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" y="1347788"/>
                        <a:ext cx="3429000" cy="862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3"/>
          <p:cNvGrpSpPr/>
          <p:nvPr/>
        </p:nvGrpSpPr>
        <p:grpSpPr>
          <a:xfrm>
            <a:off x="381000" y="3908425"/>
            <a:ext cx="5127625" cy="2797175"/>
            <a:chOff x="303" y="2408"/>
            <a:chExt cx="3230" cy="1762"/>
          </a:xfrm>
        </p:grpSpPr>
        <p:graphicFrame>
          <p:nvGraphicFramePr>
            <p:cNvPr id="41996" name="Object 44"/>
            <p:cNvGraphicFramePr>
              <a:graphicFrameLocks noChangeAspect="1"/>
            </p:cNvGraphicFramePr>
            <p:nvPr/>
          </p:nvGraphicFramePr>
          <p:xfrm>
            <a:off x="869" y="2408"/>
            <a:ext cx="43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5" imgW="342900" imgH="228600" progId="Equation.3">
                    <p:embed/>
                  </p:oleObj>
                </mc:Choice>
                <mc:Fallback>
                  <p:oleObj name="" r:id="rId5" imgW="342900" imgH="2286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69" y="2408"/>
                          <a:ext cx="439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7" name="Text Box 45"/>
            <p:cNvSpPr txBox="1"/>
            <p:nvPr/>
          </p:nvSpPr>
          <p:spPr>
            <a:xfrm>
              <a:off x="2670" y="3600"/>
              <a:ext cx="86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latin typeface="_x0001_" pitchFamily="18" charset="0"/>
                </a:rPr>
                <a:t>t </a:t>
              </a:r>
              <a:r>
                <a:rPr lang="en-US" altLang="zh-CN" sz="2400" b="1" dirty="0">
                  <a:latin typeface="_x0001_" pitchFamily="18" charset="0"/>
                </a:rPr>
                <a:t>(s)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1998" name="Line 46"/>
            <p:cNvSpPr/>
            <p:nvPr/>
          </p:nvSpPr>
          <p:spPr>
            <a:xfrm flipV="1">
              <a:off x="571" y="3864"/>
              <a:ext cx="21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9" name="Line 47"/>
            <p:cNvSpPr/>
            <p:nvPr/>
          </p:nvSpPr>
          <p:spPr>
            <a:xfrm flipV="1">
              <a:off x="783" y="2493"/>
              <a:ext cx="0" cy="15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00" name="Line 48"/>
            <p:cNvSpPr/>
            <p:nvPr/>
          </p:nvSpPr>
          <p:spPr>
            <a:xfrm>
              <a:off x="1187" y="4086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1" name="Line 49"/>
            <p:cNvSpPr/>
            <p:nvPr/>
          </p:nvSpPr>
          <p:spPr>
            <a:xfrm>
              <a:off x="1187" y="4086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2" name="Line 50"/>
            <p:cNvSpPr/>
            <p:nvPr/>
          </p:nvSpPr>
          <p:spPr>
            <a:xfrm>
              <a:off x="1529" y="4086"/>
              <a:ext cx="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3" name="Line 51"/>
            <p:cNvSpPr/>
            <p:nvPr/>
          </p:nvSpPr>
          <p:spPr>
            <a:xfrm>
              <a:off x="1150" y="3799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4" name="Line 52"/>
            <p:cNvSpPr/>
            <p:nvPr/>
          </p:nvSpPr>
          <p:spPr>
            <a:xfrm>
              <a:off x="1523" y="3799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5" name="Line 53"/>
            <p:cNvSpPr/>
            <p:nvPr/>
          </p:nvSpPr>
          <p:spPr>
            <a:xfrm>
              <a:off x="1867" y="3799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6" name="Line 54"/>
            <p:cNvSpPr/>
            <p:nvPr/>
          </p:nvSpPr>
          <p:spPr>
            <a:xfrm>
              <a:off x="2237" y="3799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7" name="Text Box 55"/>
            <p:cNvSpPr txBox="1"/>
            <p:nvPr/>
          </p:nvSpPr>
          <p:spPr>
            <a:xfrm>
              <a:off x="571" y="3844"/>
              <a:ext cx="73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0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2008" name="Text Box 56"/>
            <p:cNvSpPr txBox="1"/>
            <p:nvPr/>
          </p:nvSpPr>
          <p:spPr>
            <a:xfrm>
              <a:off x="1043" y="3882"/>
              <a:ext cx="18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  <a:sym typeface="Symbol" panose="05050102010706020507" pitchFamily="18" charset="2"/>
                </a:rPr>
                <a:t>2      4     6      8  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  <p:sp>
          <p:nvSpPr>
            <p:cNvPr id="42009" name="Arc 57"/>
            <p:cNvSpPr/>
            <p:nvPr/>
          </p:nvSpPr>
          <p:spPr>
            <a:xfrm flipH="1">
              <a:off x="801" y="2942"/>
              <a:ext cx="1755" cy="725"/>
            </a:xfrm>
            <a:custGeom>
              <a:avLst/>
              <a:gdLst>
                <a:gd name="txL" fmla="*/ 0 w 24036"/>
                <a:gd name="txT" fmla="*/ 0 h 21600"/>
                <a:gd name="txR" fmla="*/ 24036 w 24036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036" h="21600" fill="none">
                  <a:moveTo>
                    <a:pt x="24036" y="2034"/>
                  </a:moveTo>
                  <a:cubicBezTo>
                    <a:pt x="22986" y="13125"/>
                    <a:pt x="13673" y="21599"/>
                    <a:pt x="2532" y="21600"/>
                  </a:cubicBezTo>
                  <a:cubicBezTo>
                    <a:pt x="1685" y="21600"/>
                    <a:pt x="840" y="21550"/>
                    <a:pt x="-1" y="21451"/>
                  </a:cubicBezTo>
                </a:path>
                <a:path w="24036" h="21600" stroke="0">
                  <a:moveTo>
                    <a:pt x="24036" y="2034"/>
                  </a:moveTo>
                  <a:cubicBezTo>
                    <a:pt x="22986" y="13125"/>
                    <a:pt x="13673" y="21599"/>
                    <a:pt x="2532" y="21600"/>
                  </a:cubicBezTo>
                  <a:cubicBezTo>
                    <a:pt x="1685" y="21600"/>
                    <a:pt x="840" y="21550"/>
                    <a:pt x="-1" y="21451"/>
                  </a:cubicBezTo>
                  <a:lnTo>
                    <a:pt x="2532" y="0"/>
                  </a:lnTo>
                  <a:lnTo>
                    <a:pt x="24036" y="203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42010" name="Object 58"/>
            <p:cNvGraphicFramePr>
              <a:graphicFrameLocks noChangeAspect="1"/>
            </p:cNvGraphicFramePr>
            <p:nvPr/>
          </p:nvGraphicFramePr>
          <p:xfrm>
            <a:off x="315" y="2789"/>
            <a:ext cx="45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7" imgW="368300" imgH="228600" progId="Equation.3">
                    <p:embed/>
                  </p:oleObj>
                </mc:Choice>
                <mc:Fallback>
                  <p:oleObj name="" r:id="rId7" imgW="368300" imgH="2286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5" y="2789"/>
                          <a:ext cx="451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rgbClr val="FFFF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1" name="Object 59"/>
            <p:cNvGraphicFramePr>
              <a:graphicFrameLocks noChangeAspect="1"/>
            </p:cNvGraphicFramePr>
            <p:nvPr/>
          </p:nvGraphicFramePr>
          <p:xfrm>
            <a:off x="303" y="3434"/>
            <a:ext cx="51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9" imgW="406400" imgH="228600" progId="Equation.3">
                    <p:embed/>
                  </p:oleObj>
                </mc:Choice>
                <mc:Fallback>
                  <p:oleObj name="" r:id="rId9" imgW="406400" imgH="2286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3" y="3434"/>
                          <a:ext cx="51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rgbClr val="FFFF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2" name="Line 60"/>
            <p:cNvSpPr/>
            <p:nvPr/>
          </p:nvSpPr>
          <p:spPr>
            <a:xfrm>
              <a:off x="801" y="3703"/>
              <a:ext cx="1755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2013" name="Text Box 61"/>
            <p:cNvSpPr txBox="1"/>
            <p:nvPr/>
          </p:nvSpPr>
          <p:spPr>
            <a:xfrm>
              <a:off x="303" y="3648"/>
              <a:ext cx="54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2/3V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  <p:sp>
          <p:nvSpPr>
            <p:cNvPr id="42014" name="Text Box 62"/>
            <p:cNvSpPr txBox="1"/>
            <p:nvPr/>
          </p:nvSpPr>
          <p:spPr>
            <a:xfrm>
              <a:off x="411" y="2980"/>
              <a:ext cx="64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2V</a:t>
              </a:r>
              <a:endParaRPr lang="en-US" altLang="zh-CN" sz="2400" b="1" dirty="0">
                <a:latin typeface="_x0001_" pitchFamily="18" charset="0"/>
              </a:endParaRPr>
            </a:p>
          </p:txBody>
        </p:sp>
      </p:grpSp>
      <p:graphicFrame>
        <p:nvGraphicFramePr>
          <p:cNvPr id="186431" name="Object 63"/>
          <p:cNvGraphicFramePr>
            <a:graphicFrameLocks noChangeAspect="1"/>
          </p:cNvGraphicFramePr>
          <p:nvPr/>
        </p:nvGraphicFramePr>
        <p:xfrm>
          <a:off x="1447800" y="2362200"/>
          <a:ext cx="62452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1" imgW="2057400" imgH="342900" progId="Equation.3">
                  <p:embed/>
                </p:oleObj>
              </mc:Choice>
              <mc:Fallback>
                <p:oleObj name="" r:id="rId11" imgW="2057400" imgH="3429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2362200"/>
                        <a:ext cx="624522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32" name="Object 64"/>
          <p:cNvGraphicFramePr>
            <a:graphicFrameLocks noChangeAspect="1"/>
          </p:cNvGraphicFramePr>
          <p:nvPr/>
        </p:nvGraphicFramePr>
        <p:xfrm>
          <a:off x="3216275" y="4572000"/>
          <a:ext cx="57753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3" imgW="2044700" imgH="482600" progId="Equation.3">
                  <p:embed/>
                </p:oleObj>
              </mc:Choice>
              <mc:Fallback>
                <p:oleObj name="" r:id="rId13" imgW="2044700" imgH="4826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216275" y="4572000"/>
                        <a:ext cx="5775325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Group 65"/>
          <p:cNvGrpSpPr/>
          <p:nvPr/>
        </p:nvGrpSpPr>
        <p:grpSpPr bwMode="auto">
          <a:xfrm>
            <a:off x="2514600" y="3429000"/>
            <a:ext cx="6010275" cy="990600"/>
            <a:chOff x="1756" y="2151"/>
            <a:chExt cx="3868" cy="743"/>
          </a:xfrm>
          <a:solidFill>
            <a:schemeClr val="tx1"/>
          </a:solidFill>
        </p:grpSpPr>
      </p:grpSp>
      <p:graphicFrame>
        <p:nvGraphicFramePr>
          <p:cNvPr id="186436" name="Object 68"/>
          <p:cNvGraphicFramePr>
            <a:graphicFrameLocks noChangeAspect="1"/>
          </p:cNvGraphicFramePr>
          <p:nvPr/>
        </p:nvGraphicFramePr>
        <p:xfrm>
          <a:off x="5413375" y="5800725"/>
          <a:ext cx="30448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5" imgW="1143000" imgH="419100" progId="Equation.3">
                  <p:embed/>
                </p:oleObj>
              </mc:Choice>
              <mc:Fallback>
                <p:oleObj name="" r:id="rId15" imgW="1143000" imgH="4191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413375" y="5800725"/>
                        <a:ext cx="3044825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37" name="Text Box 69"/>
          <p:cNvSpPr txBox="1"/>
          <p:nvPr/>
        </p:nvSpPr>
        <p:spPr>
          <a:xfrm>
            <a:off x="2514600" y="4662488"/>
            <a:ext cx="113347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</a:rPr>
              <a:t>或：</a:t>
            </a:r>
            <a:endParaRPr lang="zh-CN" altLang="en-US" sz="2400" b="1" dirty="0">
              <a:latin typeface="_x0001_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08" grpId="0"/>
      <p:bldP spid="1864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Rectang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1676400" cy="63658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>
                <a:effectLst/>
                <a:latin typeface="宋体" panose="02010600030101010101" pitchFamily="2" charset="-122"/>
              </a:rPr>
              <a:t>例</a:t>
            </a:r>
            <a:r>
              <a:rPr lang="en-US" altLang="zh-CN" sz="2800" dirty="0">
                <a:effectLst/>
                <a:latin typeface="宋体" panose="02010600030101010101" pitchFamily="2" charset="-122"/>
              </a:rPr>
              <a:t>7.17:</a:t>
            </a:r>
            <a:endParaRPr lang="en-US" altLang="zh-CN" sz="2800" dirty="0">
              <a:effectLst/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337050" y="180975"/>
            <a:ext cx="5149850" cy="2297113"/>
            <a:chOff x="1691" y="176"/>
            <a:chExt cx="3244" cy="1447"/>
          </a:xfrm>
        </p:grpSpPr>
        <p:sp>
          <p:nvSpPr>
            <p:cNvPr id="43062" name="Text Box 5"/>
            <p:cNvSpPr txBox="1"/>
            <p:nvPr/>
          </p:nvSpPr>
          <p:spPr>
            <a:xfrm>
              <a:off x="4274" y="1161"/>
              <a:ext cx="66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10V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63" name="Line 6"/>
            <p:cNvSpPr/>
            <p:nvPr/>
          </p:nvSpPr>
          <p:spPr>
            <a:xfrm>
              <a:off x="3346" y="1233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4" name="Line 7"/>
            <p:cNvSpPr/>
            <p:nvPr/>
          </p:nvSpPr>
          <p:spPr>
            <a:xfrm>
              <a:off x="4068" y="1243"/>
              <a:ext cx="2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5" name="Line 8"/>
            <p:cNvSpPr/>
            <p:nvPr/>
          </p:nvSpPr>
          <p:spPr>
            <a:xfrm>
              <a:off x="4114" y="1326"/>
              <a:ext cx="1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6" name="Line 9"/>
            <p:cNvSpPr/>
            <p:nvPr/>
          </p:nvSpPr>
          <p:spPr>
            <a:xfrm>
              <a:off x="4161" y="1326"/>
              <a:ext cx="0" cy="2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7" name="Line 10"/>
            <p:cNvSpPr/>
            <p:nvPr/>
          </p:nvSpPr>
          <p:spPr>
            <a:xfrm>
              <a:off x="2527" y="1582"/>
              <a:ext cx="1636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8" name="Line 11"/>
            <p:cNvSpPr/>
            <p:nvPr/>
          </p:nvSpPr>
          <p:spPr>
            <a:xfrm>
              <a:off x="4161" y="1052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9" name="Oval 12"/>
            <p:cNvSpPr/>
            <p:nvPr/>
          </p:nvSpPr>
          <p:spPr>
            <a:xfrm>
              <a:off x="3271" y="460"/>
              <a:ext cx="112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70" name="Line 13"/>
            <p:cNvSpPr/>
            <p:nvPr/>
          </p:nvSpPr>
          <p:spPr>
            <a:xfrm>
              <a:off x="2527" y="521"/>
              <a:ext cx="2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1" name="Rectangle 14"/>
            <p:cNvSpPr/>
            <p:nvPr/>
          </p:nvSpPr>
          <p:spPr>
            <a:xfrm>
              <a:off x="2768" y="460"/>
              <a:ext cx="319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72" name="Line 15"/>
            <p:cNvSpPr/>
            <p:nvPr/>
          </p:nvSpPr>
          <p:spPr>
            <a:xfrm flipV="1">
              <a:off x="3626" y="508"/>
              <a:ext cx="21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3" name="Line 16"/>
            <p:cNvSpPr/>
            <p:nvPr/>
          </p:nvSpPr>
          <p:spPr>
            <a:xfrm>
              <a:off x="2527" y="510"/>
              <a:ext cx="0" cy="10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4" name="Text Box 17"/>
            <p:cNvSpPr txBox="1"/>
            <p:nvPr/>
          </p:nvSpPr>
          <p:spPr>
            <a:xfrm>
              <a:off x="2681" y="176"/>
              <a:ext cx="60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75" name="Oval 18"/>
            <p:cNvSpPr/>
            <p:nvPr/>
          </p:nvSpPr>
          <p:spPr>
            <a:xfrm>
              <a:off x="3290" y="1527"/>
              <a:ext cx="112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76" name="Oval 19"/>
            <p:cNvSpPr/>
            <p:nvPr/>
          </p:nvSpPr>
          <p:spPr>
            <a:xfrm>
              <a:off x="3525" y="460"/>
              <a:ext cx="112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77" name="Rectangle 20"/>
            <p:cNvSpPr/>
            <p:nvPr/>
          </p:nvSpPr>
          <p:spPr>
            <a:xfrm>
              <a:off x="4114" y="742"/>
              <a:ext cx="87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78" name="Line 21"/>
            <p:cNvSpPr/>
            <p:nvPr/>
          </p:nvSpPr>
          <p:spPr>
            <a:xfrm flipH="1" flipV="1">
              <a:off x="4149" y="490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9" name="Text Box 22"/>
            <p:cNvSpPr txBox="1"/>
            <p:nvPr/>
          </p:nvSpPr>
          <p:spPr>
            <a:xfrm>
              <a:off x="4200" y="765"/>
              <a:ext cx="72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80" name="Text Box 23"/>
            <p:cNvSpPr txBox="1"/>
            <p:nvPr/>
          </p:nvSpPr>
          <p:spPr>
            <a:xfrm>
              <a:off x="3346" y="648"/>
              <a:ext cx="591" cy="742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pSp>
          <p:nvGrpSpPr>
            <p:cNvPr id="43081" name="Group 24"/>
            <p:cNvGrpSpPr/>
            <p:nvPr/>
          </p:nvGrpSpPr>
          <p:grpSpPr>
            <a:xfrm>
              <a:off x="3246" y="818"/>
              <a:ext cx="117" cy="427"/>
              <a:chOff x="3246" y="818"/>
              <a:chExt cx="117" cy="427"/>
            </a:xfrm>
          </p:grpSpPr>
          <p:sp>
            <p:nvSpPr>
              <p:cNvPr id="43090" name="Arc 25"/>
              <p:cNvSpPr/>
              <p:nvPr/>
            </p:nvSpPr>
            <p:spPr>
              <a:xfrm rot="-5325118">
                <a:off x="3231" y="1119"/>
                <a:ext cx="141" cy="111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91" name="Arc 26"/>
              <p:cNvSpPr/>
              <p:nvPr/>
            </p:nvSpPr>
            <p:spPr>
              <a:xfrm rot="-5325118">
                <a:off x="3234" y="976"/>
                <a:ext cx="141" cy="111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92" name="Arc 27"/>
              <p:cNvSpPr/>
              <p:nvPr/>
            </p:nvSpPr>
            <p:spPr>
              <a:xfrm rot="-5325118">
                <a:off x="3236" y="833"/>
                <a:ext cx="142" cy="111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3082" name="Text Box 28"/>
            <p:cNvSpPr txBox="1"/>
            <p:nvPr/>
          </p:nvSpPr>
          <p:spPr>
            <a:xfrm>
              <a:off x="2930" y="873"/>
              <a:ext cx="58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2H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83" name="Oval 29"/>
            <p:cNvSpPr/>
            <p:nvPr/>
          </p:nvSpPr>
          <p:spPr>
            <a:xfrm>
              <a:off x="3837" y="460"/>
              <a:ext cx="112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84" name="Line 30"/>
            <p:cNvSpPr/>
            <p:nvPr/>
          </p:nvSpPr>
          <p:spPr>
            <a:xfrm>
              <a:off x="3937" y="490"/>
              <a:ext cx="215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85" name="Line 31"/>
            <p:cNvSpPr/>
            <p:nvPr/>
          </p:nvSpPr>
          <p:spPr>
            <a:xfrm>
              <a:off x="3087" y="512"/>
              <a:ext cx="4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86" name="Line 32"/>
            <p:cNvSpPr/>
            <p:nvPr/>
          </p:nvSpPr>
          <p:spPr>
            <a:xfrm>
              <a:off x="3334" y="488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87" name="Text Box 33"/>
            <p:cNvSpPr txBox="1"/>
            <p:nvPr/>
          </p:nvSpPr>
          <p:spPr>
            <a:xfrm>
              <a:off x="2279" y="682"/>
              <a:ext cx="591" cy="74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endParaRPr lang="en-US" altLang="zh-CN" sz="2400" b="1" baseline="-25000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3088" name="Text Box 34"/>
            <p:cNvSpPr txBox="1"/>
            <p:nvPr/>
          </p:nvSpPr>
          <p:spPr>
            <a:xfrm>
              <a:off x="1691" y="972"/>
              <a:ext cx="939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89" name="AutoShape 35"/>
            <p:cNvSpPr/>
            <p:nvPr/>
          </p:nvSpPr>
          <p:spPr>
            <a:xfrm>
              <a:off x="2364" y="873"/>
              <a:ext cx="341" cy="288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990600" y="2705100"/>
            <a:ext cx="3251200" cy="2316163"/>
            <a:chOff x="2527" y="176"/>
            <a:chExt cx="2048" cy="1459"/>
          </a:xfrm>
        </p:grpSpPr>
        <p:sp>
          <p:nvSpPr>
            <p:cNvPr id="43043" name="Text Box 37"/>
            <p:cNvSpPr txBox="1"/>
            <p:nvPr/>
          </p:nvSpPr>
          <p:spPr>
            <a:xfrm>
              <a:off x="3914" y="1161"/>
              <a:ext cx="66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10V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44" name="Line 38"/>
            <p:cNvSpPr/>
            <p:nvPr/>
          </p:nvSpPr>
          <p:spPr>
            <a:xfrm>
              <a:off x="3708" y="1243"/>
              <a:ext cx="2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5" name="Line 39"/>
            <p:cNvSpPr/>
            <p:nvPr/>
          </p:nvSpPr>
          <p:spPr>
            <a:xfrm>
              <a:off x="3754" y="1326"/>
              <a:ext cx="1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6" name="Line 40"/>
            <p:cNvSpPr/>
            <p:nvPr/>
          </p:nvSpPr>
          <p:spPr>
            <a:xfrm>
              <a:off x="3801" y="1326"/>
              <a:ext cx="0" cy="2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7" name="Line 41"/>
            <p:cNvSpPr/>
            <p:nvPr/>
          </p:nvSpPr>
          <p:spPr>
            <a:xfrm>
              <a:off x="2527" y="1582"/>
              <a:ext cx="1274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8" name="Line 42"/>
            <p:cNvSpPr/>
            <p:nvPr/>
          </p:nvSpPr>
          <p:spPr>
            <a:xfrm>
              <a:off x="3801" y="1052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9" name="Oval 43"/>
            <p:cNvSpPr/>
            <p:nvPr/>
          </p:nvSpPr>
          <p:spPr>
            <a:xfrm>
              <a:off x="3271" y="460"/>
              <a:ext cx="112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50" name="Line 44"/>
            <p:cNvSpPr/>
            <p:nvPr/>
          </p:nvSpPr>
          <p:spPr>
            <a:xfrm>
              <a:off x="2527" y="509"/>
              <a:ext cx="2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1" name="Rectangle 45"/>
            <p:cNvSpPr/>
            <p:nvPr/>
          </p:nvSpPr>
          <p:spPr>
            <a:xfrm>
              <a:off x="2768" y="460"/>
              <a:ext cx="319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52" name="Line 46"/>
            <p:cNvSpPr/>
            <p:nvPr/>
          </p:nvSpPr>
          <p:spPr>
            <a:xfrm>
              <a:off x="2539" y="510"/>
              <a:ext cx="0" cy="10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3" name="Text Box 47"/>
            <p:cNvSpPr txBox="1"/>
            <p:nvPr/>
          </p:nvSpPr>
          <p:spPr>
            <a:xfrm>
              <a:off x="2681" y="176"/>
              <a:ext cx="60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54" name="Oval 48"/>
            <p:cNvSpPr/>
            <p:nvPr/>
          </p:nvSpPr>
          <p:spPr>
            <a:xfrm>
              <a:off x="3278" y="1539"/>
              <a:ext cx="112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55" name="Rectangle 49"/>
            <p:cNvSpPr/>
            <p:nvPr/>
          </p:nvSpPr>
          <p:spPr>
            <a:xfrm>
              <a:off x="3754" y="742"/>
              <a:ext cx="87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56" name="Line 50"/>
            <p:cNvSpPr/>
            <p:nvPr/>
          </p:nvSpPr>
          <p:spPr>
            <a:xfrm flipH="1" flipV="1">
              <a:off x="3789" y="490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7" name="Text Box 51"/>
            <p:cNvSpPr txBox="1"/>
            <p:nvPr/>
          </p:nvSpPr>
          <p:spPr>
            <a:xfrm>
              <a:off x="3840" y="765"/>
              <a:ext cx="72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58" name="Text Box 52"/>
            <p:cNvSpPr txBox="1"/>
            <p:nvPr/>
          </p:nvSpPr>
          <p:spPr>
            <a:xfrm>
              <a:off x="2799" y="817"/>
              <a:ext cx="591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59" name="Line 53"/>
            <p:cNvSpPr/>
            <p:nvPr/>
          </p:nvSpPr>
          <p:spPr>
            <a:xfrm>
              <a:off x="3087" y="500"/>
              <a:ext cx="70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0" name="Line 54"/>
            <p:cNvSpPr/>
            <p:nvPr/>
          </p:nvSpPr>
          <p:spPr>
            <a:xfrm>
              <a:off x="3334" y="488"/>
              <a:ext cx="0" cy="10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1" name="Line 55"/>
            <p:cNvSpPr/>
            <p:nvPr/>
          </p:nvSpPr>
          <p:spPr>
            <a:xfrm>
              <a:off x="3334" y="962"/>
              <a:ext cx="0" cy="9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96664" name="Text Box 56"/>
          <p:cNvSpPr txBox="1"/>
          <p:nvPr/>
        </p:nvSpPr>
        <p:spPr>
          <a:xfrm>
            <a:off x="6964363" y="76200"/>
            <a:ext cx="1182687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665" name="Line 57"/>
          <p:cNvSpPr/>
          <p:nvPr/>
        </p:nvSpPr>
        <p:spPr>
          <a:xfrm flipH="1" flipV="1">
            <a:off x="7426325" y="509588"/>
            <a:ext cx="317500" cy="334962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6666" name="Text Box 58"/>
          <p:cNvSpPr txBox="1"/>
          <p:nvPr/>
        </p:nvSpPr>
        <p:spPr>
          <a:xfrm>
            <a:off x="1371600" y="139700"/>
            <a:ext cx="4308475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求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 </a:t>
            </a:r>
            <a:r>
              <a:rPr lang="zh-CN" altLang="en-US" sz="2800" b="1" dirty="0">
                <a:latin typeface="_x0001_" pitchFamily="18" charset="0"/>
                <a:sym typeface="Symbol" panose="05050102010706020507" pitchFamily="18" charset="2"/>
              </a:rPr>
              <a:t>时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,u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(t)</a:t>
            </a:r>
            <a:r>
              <a:rPr lang="zh-CN" altLang="en-US" sz="2800" b="1" dirty="0">
                <a:latin typeface="_x0001_" pitchFamily="18" charset="0"/>
                <a:sym typeface="Symbol" panose="05050102010706020507" pitchFamily="18" charset="2"/>
              </a:rPr>
              <a:t>。</a:t>
            </a:r>
            <a:endParaRPr lang="zh-CN" altLang="en-US" sz="2800" b="1" dirty="0">
              <a:latin typeface="_x0001_" pitchFamily="18" charset="0"/>
            </a:endParaRPr>
          </a:p>
        </p:txBody>
      </p:sp>
      <p:sp>
        <p:nvSpPr>
          <p:cNvPr id="196667" name="Text Box 59"/>
          <p:cNvSpPr txBox="1"/>
          <p:nvPr/>
        </p:nvSpPr>
        <p:spPr>
          <a:xfrm>
            <a:off x="165100" y="1295400"/>
            <a:ext cx="4254500" cy="145669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(a).  t = 0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CN" altLang="en-US" sz="2400" b="1" dirty="0">
                <a:latin typeface="宋体" panose="02010600030101010101" pitchFamily="2" charset="-122"/>
              </a:rPr>
              <a:t>时，</a:t>
            </a:r>
            <a:r>
              <a:rPr lang="zh-CN" altLang="en-US" sz="2400" b="1" dirty="0">
                <a:latin typeface="_x0001_" pitchFamily="18" charset="0"/>
              </a:rPr>
              <a:t>电路已达到稳定，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L→</a:t>
            </a:r>
            <a:r>
              <a:rPr lang="zh-CN" altLang="en-US" sz="2400" b="1" dirty="0">
                <a:latin typeface="_x0001_" pitchFamily="18" charset="0"/>
              </a:rPr>
              <a:t>短路。</a:t>
            </a:r>
            <a:endParaRPr lang="zh-CN" altLang="en-US" sz="2400" b="1" dirty="0">
              <a:latin typeface="_x0001_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0, </a:t>
            </a:r>
            <a:r>
              <a:rPr lang="en-US" altLang="zh-CN" sz="2400" b="1" dirty="0">
                <a:latin typeface="_x0001_" pitchFamily="18" charset="0"/>
              </a:rPr>
              <a:t>∴</a:t>
            </a:r>
            <a:r>
              <a:rPr lang="zh-CN" altLang="zh-CN" sz="2400" b="1" dirty="0">
                <a:latin typeface="_x0001_" pitchFamily="18" charset="0"/>
              </a:rPr>
              <a:t>受控源也为零。</a:t>
            </a:r>
            <a:endParaRPr lang="zh-CN" altLang="en-US" sz="2400" b="1" dirty="0">
              <a:latin typeface="_x0001_" pitchFamily="18" charset="0"/>
            </a:endParaRPr>
          </a:p>
        </p:txBody>
      </p:sp>
      <p:sp>
        <p:nvSpPr>
          <p:cNvPr id="196668" name="Text Box 60"/>
          <p:cNvSpPr txBox="1"/>
          <p:nvPr/>
        </p:nvSpPr>
        <p:spPr>
          <a:xfrm>
            <a:off x="228600" y="690563"/>
            <a:ext cx="4362450" cy="60769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  <a:ea typeface="方正行楷简体" pitchFamily="2" charset="-122"/>
              </a:rPr>
              <a:t>解：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1.</a:t>
            </a:r>
            <a:r>
              <a:rPr lang="en-US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</a:rPr>
              <a:t>先求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669" name="Line 61"/>
          <p:cNvSpPr/>
          <p:nvPr/>
        </p:nvSpPr>
        <p:spPr>
          <a:xfrm>
            <a:off x="4343400" y="2895600"/>
            <a:ext cx="0" cy="370205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96670" name="Object 62"/>
          <p:cNvGraphicFramePr>
            <a:graphicFrameLocks noChangeAspect="1"/>
          </p:cNvGraphicFramePr>
          <p:nvPr/>
        </p:nvGraphicFramePr>
        <p:xfrm>
          <a:off x="533400" y="6127750"/>
          <a:ext cx="31242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1" imgW="1320165" imgH="215900" progId="Equation.3">
                  <p:embed/>
                </p:oleObj>
              </mc:Choice>
              <mc:Fallback>
                <p:oleObj name="" r:id="rId1" imgW="1320165" imgH="2159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3400" y="6127750"/>
                        <a:ext cx="31242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71" name="Object 63"/>
          <p:cNvGraphicFramePr>
            <a:graphicFrameLocks noChangeAspect="1"/>
          </p:cNvGraphicFramePr>
          <p:nvPr/>
        </p:nvGraphicFramePr>
        <p:xfrm>
          <a:off x="990600" y="5181600"/>
          <a:ext cx="22415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3" imgW="1016000" imgH="393700" progId="Equation.3">
                  <p:embed/>
                </p:oleObj>
              </mc:Choice>
              <mc:Fallback>
                <p:oleObj name="" r:id="rId3" imgW="1016000" imgH="3937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5181600"/>
                        <a:ext cx="22415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72" name="Text Box 64"/>
          <p:cNvSpPr txBox="1"/>
          <p:nvPr/>
        </p:nvSpPr>
        <p:spPr>
          <a:xfrm>
            <a:off x="5257800" y="2628900"/>
            <a:ext cx="3443288" cy="5219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_x0001_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L→1A</a:t>
            </a:r>
            <a:r>
              <a:rPr lang="zh-CN" altLang="en-US" sz="2800" b="1" dirty="0">
                <a:latin typeface="_x0001_" pitchFamily="18" charset="0"/>
              </a:rPr>
              <a:t>的电流源）</a:t>
            </a:r>
            <a:endParaRPr lang="zh-CN" altLang="en-US" sz="2800" b="1" dirty="0">
              <a:latin typeface="_x0001_" pitchFamily="18" charset="0"/>
            </a:endParaRPr>
          </a:p>
        </p:txBody>
      </p:sp>
      <p:grpSp>
        <p:nvGrpSpPr>
          <p:cNvPr id="5" name="Group 65"/>
          <p:cNvGrpSpPr/>
          <p:nvPr/>
        </p:nvGrpSpPr>
        <p:grpSpPr>
          <a:xfrm>
            <a:off x="4876800" y="3035300"/>
            <a:ext cx="4156075" cy="2239963"/>
            <a:chOff x="1595" y="176"/>
            <a:chExt cx="2618" cy="1411"/>
          </a:xfrm>
        </p:grpSpPr>
        <p:sp>
          <p:nvSpPr>
            <p:cNvPr id="43025" name="Line 66"/>
            <p:cNvSpPr/>
            <p:nvPr/>
          </p:nvSpPr>
          <p:spPr>
            <a:xfrm>
              <a:off x="3526" y="1161"/>
              <a:ext cx="0" cy="4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6" name="Line 67"/>
            <p:cNvSpPr/>
            <p:nvPr/>
          </p:nvSpPr>
          <p:spPr>
            <a:xfrm>
              <a:off x="2527" y="1582"/>
              <a:ext cx="99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7" name="Line 68"/>
            <p:cNvSpPr/>
            <p:nvPr/>
          </p:nvSpPr>
          <p:spPr>
            <a:xfrm>
              <a:off x="2527" y="521"/>
              <a:ext cx="2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8" name="Rectangle 69"/>
            <p:cNvSpPr/>
            <p:nvPr/>
          </p:nvSpPr>
          <p:spPr>
            <a:xfrm>
              <a:off x="2768" y="460"/>
              <a:ext cx="319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29" name="Line 70"/>
            <p:cNvSpPr/>
            <p:nvPr/>
          </p:nvSpPr>
          <p:spPr>
            <a:xfrm>
              <a:off x="2527" y="510"/>
              <a:ext cx="0" cy="10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0" name="Text Box 71"/>
            <p:cNvSpPr txBox="1"/>
            <p:nvPr/>
          </p:nvSpPr>
          <p:spPr>
            <a:xfrm>
              <a:off x="2681" y="176"/>
              <a:ext cx="60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31" name="Text Box 72"/>
            <p:cNvSpPr txBox="1"/>
            <p:nvPr/>
          </p:nvSpPr>
          <p:spPr>
            <a:xfrm>
              <a:off x="3255" y="565"/>
              <a:ext cx="591" cy="98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en-US" altLang="zh-CN" sz="2400" b="1" baseline="-25000" dirty="0">
                <a:latin typeface="_x0001_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3032" name="Line 73"/>
            <p:cNvSpPr/>
            <p:nvPr/>
          </p:nvSpPr>
          <p:spPr>
            <a:xfrm>
              <a:off x="3087" y="512"/>
              <a:ext cx="4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3" name="Line 74"/>
            <p:cNvSpPr/>
            <p:nvPr/>
          </p:nvSpPr>
          <p:spPr>
            <a:xfrm>
              <a:off x="3514" y="52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4" name="Text Box 75"/>
            <p:cNvSpPr txBox="1"/>
            <p:nvPr/>
          </p:nvSpPr>
          <p:spPr>
            <a:xfrm>
              <a:off x="2279" y="682"/>
              <a:ext cx="591" cy="74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endParaRPr lang="en-US" altLang="zh-CN" sz="2400" b="1" baseline="-25000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3035" name="Text Box 76"/>
            <p:cNvSpPr txBox="1"/>
            <p:nvPr/>
          </p:nvSpPr>
          <p:spPr>
            <a:xfrm>
              <a:off x="1595" y="972"/>
              <a:ext cx="939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36" name="AutoShape 77"/>
            <p:cNvSpPr/>
            <p:nvPr/>
          </p:nvSpPr>
          <p:spPr>
            <a:xfrm>
              <a:off x="2364" y="873"/>
              <a:ext cx="341" cy="288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37" name="Text Box 78"/>
            <p:cNvSpPr txBox="1"/>
            <p:nvPr/>
          </p:nvSpPr>
          <p:spPr>
            <a:xfrm>
              <a:off x="3604" y="889"/>
              <a:ext cx="60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1A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38" name="Text Box 79"/>
            <p:cNvSpPr txBox="1"/>
            <p:nvPr/>
          </p:nvSpPr>
          <p:spPr>
            <a:xfrm>
              <a:off x="3592" y="565"/>
              <a:ext cx="591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39" name="Oval 80"/>
            <p:cNvSpPr/>
            <p:nvPr/>
          </p:nvSpPr>
          <p:spPr>
            <a:xfrm>
              <a:off x="3390" y="889"/>
              <a:ext cx="249" cy="27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40" name="Line 81"/>
            <p:cNvSpPr/>
            <p:nvPr/>
          </p:nvSpPr>
          <p:spPr>
            <a:xfrm>
              <a:off x="3390" y="1020"/>
              <a:ext cx="24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1" name="Text Box 82"/>
            <p:cNvSpPr txBox="1"/>
            <p:nvPr/>
          </p:nvSpPr>
          <p:spPr>
            <a:xfrm>
              <a:off x="2834" y="961"/>
              <a:ext cx="770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42" name="Line 83"/>
            <p:cNvSpPr/>
            <p:nvPr/>
          </p:nvSpPr>
          <p:spPr>
            <a:xfrm>
              <a:off x="3514" y="661"/>
              <a:ext cx="0" cy="10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196692" name="Object 84"/>
          <p:cNvGraphicFramePr>
            <a:graphicFrameLocks noChangeAspect="1"/>
          </p:cNvGraphicFramePr>
          <p:nvPr/>
        </p:nvGraphicFramePr>
        <p:xfrm>
          <a:off x="4591050" y="5448300"/>
          <a:ext cx="4451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5" imgW="1943100" imgH="215900" progId="Equation.3">
                  <p:embed/>
                </p:oleObj>
              </mc:Choice>
              <mc:Fallback>
                <p:oleObj name="" r:id="rId5" imgW="1943100" imgH="21590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91050" y="5448300"/>
                        <a:ext cx="44513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93" name="Object 85"/>
          <p:cNvGraphicFramePr>
            <a:graphicFrameLocks noChangeAspect="1"/>
          </p:cNvGraphicFramePr>
          <p:nvPr/>
        </p:nvGraphicFramePr>
        <p:xfrm>
          <a:off x="6096000" y="6049963"/>
          <a:ext cx="265588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7" imgW="1344930" imgH="161290" progId="Equation.3">
                  <p:embed/>
                </p:oleObj>
              </mc:Choice>
              <mc:Fallback>
                <p:oleObj name="" r:id="rId7" imgW="1344930" imgH="16129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96000" y="6049963"/>
                        <a:ext cx="2655888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/>
      <p:bldP spid="196664" grpId="0"/>
      <p:bldP spid="196666" grpId="0"/>
      <p:bldP spid="196667" grpId="0"/>
      <p:bldP spid="196668" grpId="0"/>
      <p:bldP spid="19667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4037013" y="0"/>
            <a:ext cx="5149850" cy="2297113"/>
            <a:chOff x="2699" y="152"/>
            <a:chExt cx="3244" cy="1447"/>
          </a:xfrm>
        </p:grpSpPr>
        <p:sp>
          <p:nvSpPr>
            <p:cNvPr id="44094" name="Text Box 5"/>
            <p:cNvSpPr txBox="1"/>
            <p:nvPr/>
          </p:nvSpPr>
          <p:spPr>
            <a:xfrm>
              <a:off x="5282" y="1137"/>
              <a:ext cx="66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10V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95" name="Line 6"/>
            <p:cNvSpPr/>
            <p:nvPr/>
          </p:nvSpPr>
          <p:spPr>
            <a:xfrm>
              <a:off x="4354" y="1209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6" name="Line 7"/>
            <p:cNvSpPr/>
            <p:nvPr/>
          </p:nvSpPr>
          <p:spPr>
            <a:xfrm>
              <a:off x="5076" y="1219"/>
              <a:ext cx="2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7" name="Line 8"/>
            <p:cNvSpPr/>
            <p:nvPr/>
          </p:nvSpPr>
          <p:spPr>
            <a:xfrm>
              <a:off x="5122" y="1302"/>
              <a:ext cx="1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8" name="Line 9"/>
            <p:cNvSpPr/>
            <p:nvPr/>
          </p:nvSpPr>
          <p:spPr>
            <a:xfrm>
              <a:off x="5169" y="1302"/>
              <a:ext cx="0" cy="2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9" name="Line 10"/>
            <p:cNvSpPr/>
            <p:nvPr/>
          </p:nvSpPr>
          <p:spPr>
            <a:xfrm>
              <a:off x="3535" y="1558"/>
              <a:ext cx="1636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0" name="Line 11"/>
            <p:cNvSpPr/>
            <p:nvPr/>
          </p:nvSpPr>
          <p:spPr>
            <a:xfrm>
              <a:off x="5169" y="1028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1" name="Oval 12"/>
            <p:cNvSpPr/>
            <p:nvPr/>
          </p:nvSpPr>
          <p:spPr>
            <a:xfrm>
              <a:off x="4279" y="436"/>
              <a:ext cx="112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02" name="Line 13"/>
            <p:cNvSpPr/>
            <p:nvPr/>
          </p:nvSpPr>
          <p:spPr>
            <a:xfrm>
              <a:off x="3535" y="497"/>
              <a:ext cx="2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3" name="Rectangle 14"/>
            <p:cNvSpPr/>
            <p:nvPr/>
          </p:nvSpPr>
          <p:spPr>
            <a:xfrm>
              <a:off x="3776" y="436"/>
              <a:ext cx="319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04" name="Line 15"/>
            <p:cNvSpPr/>
            <p:nvPr/>
          </p:nvSpPr>
          <p:spPr>
            <a:xfrm>
              <a:off x="3535" y="486"/>
              <a:ext cx="0" cy="10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5" name="Text Box 16"/>
            <p:cNvSpPr txBox="1"/>
            <p:nvPr/>
          </p:nvSpPr>
          <p:spPr>
            <a:xfrm>
              <a:off x="3689" y="152"/>
              <a:ext cx="60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06" name="Oval 17"/>
            <p:cNvSpPr/>
            <p:nvPr/>
          </p:nvSpPr>
          <p:spPr>
            <a:xfrm>
              <a:off x="4298" y="1503"/>
              <a:ext cx="112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07" name="Oval 18"/>
            <p:cNvSpPr/>
            <p:nvPr/>
          </p:nvSpPr>
          <p:spPr>
            <a:xfrm>
              <a:off x="4533" y="436"/>
              <a:ext cx="112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08" name="Rectangle 19"/>
            <p:cNvSpPr/>
            <p:nvPr/>
          </p:nvSpPr>
          <p:spPr>
            <a:xfrm>
              <a:off x="5122" y="718"/>
              <a:ext cx="87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09" name="Line 20"/>
            <p:cNvSpPr/>
            <p:nvPr/>
          </p:nvSpPr>
          <p:spPr>
            <a:xfrm flipH="1" flipV="1">
              <a:off x="5157" y="466"/>
              <a:ext cx="0" cy="2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0" name="Text Box 21"/>
            <p:cNvSpPr txBox="1"/>
            <p:nvPr/>
          </p:nvSpPr>
          <p:spPr>
            <a:xfrm>
              <a:off x="5208" y="741"/>
              <a:ext cx="72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11" name="Text Box 22"/>
            <p:cNvSpPr txBox="1"/>
            <p:nvPr/>
          </p:nvSpPr>
          <p:spPr>
            <a:xfrm>
              <a:off x="4354" y="624"/>
              <a:ext cx="591" cy="742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pSp>
          <p:nvGrpSpPr>
            <p:cNvPr id="44112" name="Group 23"/>
            <p:cNvGrpSpPr/>
            <p:nvPr/>
          </p:nvGrpSpPr>
          <p:grpSpPr>
            <a:xfrm>
              <a:off x="4254" y="794"/>
              <a:ext cx="117" cy="427"/>
              <a:chOff x="3246" y="818"/>
              <a:chExt cx="117" cy="427"/>
            </a:xfrm>
          </p:grpSpPr>
          <p:sp>
            <p:nvSpPr>
              <p:cNvPr id="44122" name="Arc 24"/>
              <p:cNvSpPr/>
              <p:nvPr/>
            </p:nvSpPr>
            <p:spPr>
              <a:xfrm rot="-5325118">
                <a:off x="3231" y="1119"/>
                <a:ext cx="141" cy="111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123" name="Arc 25"/>
              <p:cNvSpPr/>
              <p:nvPr/>
            </p:nvSpPr>
            <p:spPr>
              <a:xfrm rot="-5325118">
                <a:off x="3234" y="976"/>
                <a:ext cx="141" cy="111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124" name="Arc 26"/>
              <p:cNvSpPr/>
              <p:nvPr/>
            </p:nvSpPr>
            <p:spPr>
              <a:xfrm rot="-5325118">
                <a:off x="3236" y="833"/>
                <a:ext cx="142" cy="111"/>
              </a:xfrm>
              <a:custGeom>
                <a:avLst/>
                <a:gdLst>
                  <a:gd name="txL" fmla="*/ 0 w 43200"/>
                  <a:gd name="txT" fmla="*/ 0 h 33751"/>
                  <a:gd name="txR" fmla="*/ 43200 w 43200"/>
                  <a:gd name="txB" fmla="*/ 33751 h 3375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33751" fill="none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lnTo>
                      <a:pt x="3700" y="3369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4113" name="Text Box 27"/>
            <p:cNvSpPr txBox="1"/>
            <p:nvPr/>
          </p:nvSpPr>
          <p:spPr>
            <a:xfrm>
              <a:off x="3938" y="849"/>
              <a:ext cx="48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2H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14" name="Oval 28"/>
            <p:cNvSpPr/>
            <p:nvPr/>
          </p:nvSpPr>
          <p:spPr>
            <a:xfrm>
              <a:off x="4845" y="436"/>
              <a:ext cx="112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15" name="Line 29"/>
            <p:cNvSpPr/>
            <p:nvPr/>
          </p:nvSpPr>
          <p:spPr>
            <a:xfrm>
              <a:off x="4945" y="466"/>
              <a:ext cx="215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6" name="Line 30"/>
            <p:cNvSpPr/>
            <p:nvPr/>
          </p:nvSpPr>
          <p:spPr>
            <a:xfrm>
              <a:off x="4095" y="488"/>
              <a:ext cx="4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7" name="Line 31"/>
            <p:cNvSpPr/>
            <p:nvPr/>
          </p:nvSpPr>
          <p:spPr>
            <a:xfrm>
              <a:off x="4342" y="46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8" name="Text Box 32"/>
            <p:cNvSpPr txBox="1"/>
            <p:nvPr/>
          </p:nvSpPr>
          <p:spPr>
            <a:xfrm>
              <a:off x="3287" y="658"/>
              <a:ext cx="591" cy="74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endParaRPr lang="en-US" altLang="zh-CN" sz="2400" b="1" baseline="-25000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4119" name="Text Box 33"/>
            <p:cNvSpPr txBox="1"/>
            <p:nvPr/>
          </p:nvSpPr>
          <p:spPr>
            <a:xfrm>
              <a:off x="2699" y="948"/>
              <a:ext cx="939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20" name="AutoShape 34"/>
            <p:cNvSpPr/>
            <p:nvPr/>
          </p:nvSpPr>
          <p:spPr>
            <a:xfrm>
              <a:off x="3372" y="849"/>
              <a:ext cx="341" cy="288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21" name="Line 35"/>
            <p:cNvSpPr/>
            <p:nvPr/>
          </p:nvSpPr>
          <p:spPr>
            <a:xfrm flipV="1">
              <a:off x="4645" y="317"/>
              <a:ext cx="200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7668" name="Text Box 36"/>
          <p:cNvSpPr txBox="1"/>
          <p:nvPr/>
        </p:nvSpPr>
        <p:spPr>
          <a:xfrm>
            <a:off x="76200" y="3276600"/>
            <a:ext cx="1931988" cy="68199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宋体" panose="02010600030101010101" pitchFamily="2" charset="-122"/>
              </a:rPr>
              <a:t>3.</a:t>
            </a:r>
            <a:r>
              <a:rPr lang="en-US" altLang="en-US" sz="32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</a:rPr>
              <a:t>求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669" name="Text Box 37"/>
          <p:cNvSpPr txBox="1"/>
          <p:nvPr/>
        </p:nvSpPr>
        <p:spPr>
          <a:xfrm>
            <a:off x="1676400" y="3286125"/>
            <a:ext cx="2566988" cy="68199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先求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8"/>
          <p:cNvGrpSpPr/>
          <p:nvPr/>
        </p:nvGrpSpPr>
        <p:grpSpPr>
          <a:xfrm>
            <a:off x="6429375" y="533400"/>
            <a:ext cx="477838" cy="1679575"/>
            <a:chOff x="4044" y="488"/>
            <a:chExt cx="301" cy="1058"/>
          </a:xfrm>
        </p:grpSpPr>
        <p:graphicFrame>
          <p:nvGraphicFramePr>
            <p:cNvPr id="44092" name="Object 39"/>
            <p:cNvGraphicFramePr>
              <a:graphicFrameLocks noChangeAspect="1"/>
            </p:cNvGraphicFramePr>
            <p:nvPr/>
          </p:nvGraphicFramePr>
          <p:xfrm>
            <a:off x="4062" y="1231"/>
            <a:ext cx="28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6" name="" r:id="rId1" imgW="114300" imgH="127000" progId="Equation.DSMT4">
                    <p:embed/>
                  </p:oleObj>
                </mc:Choice>
                <mc:Fallback>
                  <p:oleObj name="" r:id="rId1" imgW="114300" imgH="127000" progId="Equation.DSMT4">
                    <p:embed/>
                    <p:pic>
                      <p:nvPicPr>
                        <p:cNvPr id="0" name="图片 32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62" y="1231"/>
                          <a:ext cx="283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st="12700">
                            <a:srgbClr val="FF00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93" name="Object 40"/>
            <p:cNvGraphicFramePr>
              <a:graphicFrameLocks noChangeAspect="1"/>
            </p:cNvGraphicFramePr>
            <p:nvPr/>
          </p:nvGraphicFramePr>
          <p:xfrm>
            <a:off x="4044" y="488"/>
            <a:ext cx="28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5" name="" r:id="rId3" imgW="114300" imgH="127000" progId="Equation.DSMT4">
                    <p:embed/>
                  </p:oleObj>
                </mc:Choice>
                <mc:Fallback>
                  <p:oleObj name="" r:id="rId3" imgW="114300" imgH="127000" progId="Equation.DSMT4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44" y="488"/>
                          <a:ext cx="283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st="12700">
                            <a:srgbClr val="FF00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1"/>
          <p:cNvGrpSpPr/>
          <p:nvPr/>
        </p:nvGrpSpPr>
        <p:grpSpPr>
          <a:xfrm>
            <a:off x="6838950" y="1174750"/>
            <a:ext cx="1338263" cy="522288"/>
            <a:chOff x="5760" y="2101"/>
            <a:chExt cx="843" cy="329"/>
          </a:xfrm>
        </p:grpSpPr>
        <p:sp>
          <p:nvSpPr>
            <p:cNvPr id="44090" name="Line 42"/>
            <p:cNvSpPr/>
            <p:nvPr/>
          </p:nvSpPr>
          <p:spPr>
            <a:xfrm flipH="1" flipV="1">
              <a:off x="5760" y="2392"/>
              <a:ext cx="472" cy="0"/>
            </a:xfrm>
            <a:prstGeom prst="line">
              <a:avLst/>
            </a:prstGeom>
            <a:ln w="5715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91" name="Text Box 43"/>
            <p:cNvSpPr txBox="1"/>
            <p:nvPr/>
          </p:nvSpPr>
          <p:spPr>
            <a:xfrm>
              <a:off x="6015" y="2101"/>
              <a:ext cx="58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44"/>
          <p:cNvGrpSpPr/>
          <p:nvPr/>
        </p:nvGrpSpPr>
        <p:grpSpPr>
          <a:xfrm>
            <a:off x="152400" y="3886200"/>
            <a:ext cx="4090988" cy="1903413"/>
            <a:chOff x="50" y="404"/>
            <a:chExt cx="2577" cy="1199"/>
          </a:xfrm>
        </p:grpSpPr>
        <p:sp>
          <p:nvSpPr>
            <p:cNvPr id="44071" name="Text Box 45"/>
            <p:cNvSpPr txBox="1"/>
            <p:nvPr/>
          </p:nvSpPr>
          <p:spPr>
            <a:xfrm flipH="1">
              <a:off x="2098" y="718"/>
              <a:ext cx="529" cy="84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_x0001_" pitchFamily="18" charset="0"/>
                </a:rPr>
                <a:t>+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u(t)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_x0001_" pitchFamily="18" charset="0"/>
                </a:rPr>
                <a:t>-</a:t>
              </a:r>
              <a:endParaRPr lang="en-US" altLang="zh-CN" sz="2400" b="1" dirty="0">
                <a:solidFill>
                  <a:schemeClr val="tx2"/>
                </a:solidFill>
                <a:latin typeface="_x0001_" pitchFamily="18" charset="0"/>
              </a:endParaRPr>
            </a:p>
          </p:txBody>
        </p:sp>
        <p:grpSp>
          <p:nvGrpSpPr>
            <p:cNvPr id="44072" name="Group 46"/>
            <p:cNvGrpSpPr/>
            <p:nvPr/>
          </p:nvGrpSpPr>
          <p:grpSpPr>
            <a:xfrm>
              <a:off x="50" y="404"/>
              <a:ext cx="2048" cy="1199"/>
              <a:chOff x="50" y="404"/>
              <a:chExt cx="2048" cy="1199"/>
            </a:xfrm>
          </p:grpSpPr>
          <p:sp>
            <p:nvSpPr>
              <p:cNvPr id="44073" name="Line 47"/>
              <p:cNvSpPr/>
              <p:nvPr/>
            </p:nvSpPr>
            <p:spPr>
              <a:xfrm>
                <a:off x="886" y="1562"/>
                <a:ext cx="834" cy="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4" name="Oval 48"/>
              <p:cNvSpPr/>
              <p:nvPr/>
            </p:nvSpPr>
            <p:spPr>
              <a:xfrm>
                <a:off x="1720" y="692"/>
                <a:ext cx="112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75" name="Line 49"/>
              <p:cNvSpPr/>
              <p:nvPr/>
            </p:nvSpPr>
            <p:spPr>
              <a:xfrm>
                <a:off x="886" y="753"/>
                <a:ext cx="2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6" name="Rectangle 50"/>
              <p:cNvSpPr/>
              <p:nvPr/>
            </p:nvSpPr>
            <p:spPr>
              <a:xfrm>
                <a:off x="1127" y="692"/>
                <a:ext cx="319" cy="11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77" name="Line 51"/>
              <p:cNvSpPr/>
              <p:nvPr/>
            </p:nvSpPr>
            <p:spPr>
              <a:xfrm>
                <a:off x="886" y="742"/>
                <a:ext cx="0" cy="81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8" name="Text Box 52"/>
              <p:cNvSpPr txBox="1"/>
              <p:nvPr/>
            </p:nvSpPr>
            <p:spPr>
              <a:xfrm>
                <a:off x="1040" y="408"/>
                <a:ext cx="609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079" name="Oval 53"/>
              <p:cNvSpPr/>
              <p:nvPr/>
            </p:nvSpPr>
            <p:spPr>
              <a:xfrm>
                <a:off x="1720" y="1507"/>
                <a:ext cx="112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80" name="Line 54"/>
              <p:cNvSpPr/>
              <p:nvPr/>
            </p:nvSpPr>
            <p:spPr>
              <a:xfrm flipV="1">
                <a:off x="1446" y="742"/>
                <a:ext cx="274" cy="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81" name="Text Box 55"/>
              <p:cNvSpPr txBox="1"/>
              <p:nvPr/>
            </p:nvSpPr>
            <p:spPr>
              <a:xfrm>
                <a:off x="638" y="860"/>
                <a:ext cx="591" cy="74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latin typeface="_x0001_" pitchFamily="18" charset="0"/>
                  </a:rPr>
                  <a:t>+</a:t>
                </a:r>
                <a:endParaRPr lang="en-US" altLang="zh-CN" sz="2400" b="1" dirty="0">
                  <a:latin typeface="_x0001_" pitchFamily="18" charset="0"/>
                </a:endParaRPr>
              </a:p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endParaRPr lang="en-US" altLang="zh-CN" sz="2400" b="1" baseline="-25000" dirty="0">
                  <a:latin typeface="_x0001_" pitchFamily="18" charset="0"/>
                </a:endParaRPr>
              </a:p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-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4082" name="Text Box 56"/>
              <p:cNvSpPr txBox="1"/>
              <p:nvPr/>
            </p:nvSpPr>
            <p:spPr>
              <a:xfrm>
                <a:off x="50" y="1168"/>
                <a:ext cx="939" cy="2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 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083" name="AutoShape 57"/>
              <p:cNvSpPr/>
              <p:nvPr/>
            </p:nvSpPr>
            <p:spPr>
              <a:xfrm>
                <a:off x="723" y="1015"/>
                <a:ext cx="341" cy="288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84" name="Line 58"/>
              <p:cNvSpPr/>
              <p:nvPr/>
            </p:nvSpPr>
            <p:spPr>
              <a:xfrm flipH="1">
                <a:off x="1524" y="753"/>
                <a:ext cx="125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4085" name="Line 59"/>
              <p:cNvSpPr/>
              <p:nvPr/>
            </p:nvSpPr>
            <p:spPr>
              <a:xfrm>
                <a:off x="2008" y="738"/>
                <a:ext cx="0" cy="847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86" name="Oval 60"/>
              <p:cNvSpPr/>
              <p:nvPr/>
            </p:nvSpPr>
            <p:spPr>
              <a:xfrm>
                <a:off x="1907" y="1011"/>
                <a:ext cx="191" cy="197"/>
              </a:xfrm>
              <a:prstGeom prst="ellipse">
                <a:avLst/>
              </a:prstGeom>
              <a:noFill/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87" name="Text Box 61"/>
              <p:cNvSpPr txBox="1"/>
              <p:nvPr/>
            </p:nvSpPr>
            <p:spPr>
              <a:xfrm>
                <a:off x="1464" y="404"/>
                <a:ext cx="573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i(t)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088" name="Line 62"/>
              <p:cNvSpPr/>
              <p:nvPr/>
            </p:nvSpPr>
            <p:spPr>
              <a:xfrm flipH="1">
                <a:off x="1832" y="1562"/>
                <a:ext cx="176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89" name="Line 63"/>
              <p:cNvSpPr/>
              <p:nvPr/>
            </p:nvSpPr>
            <p:spPr>
              <a:xfrm flipH="1">
                <a:off x="1832" y="742"/>
                <a:ext cx="176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197696" name="Object 64"/>
          <p:cNvGraphicFramePr>
            <a:graphicFrameLocks noChangeAspect="1"/>
          </p:cNvGraphicFramePr>
          <p:nvPr/>
        </p:nvGraphicFramePr>
        <p:xfrm>
          <a:off x="1371600" y="5849938"/>
          <a:ext cx="144780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5" imgW="546100" imgH="419100" progId="Equation.3">
                  <p:embed/>
                </p:oleObj>
              </mc:Choice>
              <mc:Fallback>
                <p:oleObj name="" r:id="rId5" imgW="546100" imgH="4191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5849938"/>
                        <a:ext cx="1447800" cy="931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97" name="Object 65"/>
          <p:cNvGraphicFramePr>
            <a:graphicFrameLocks noChangeAspect="1"/>
          </p:cNvGraphicFramePr>
          <p:nvPr/>
        </p:nvGraphicFramePr>
        <p:xfrm>
          <a:off x="4687888" y="2362200"/>
          <a:ext cx="330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7" imgW="1345565" imgH="215900" progId="Equation.3">
                  <p:embed/>
                </p:oleObj>
              </mc:Choice>
              <mc:Fallback>
                <p:oleObj name="" r:id="rId7" imgW="1345565" imgH="215900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687888" y="2362200"/>
                        <a:ext cx="3302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98" name="Object 66"/>
          <p:cNvGraphicFramePr>
            <a:graphicFrameLocks noChangeAspect="1"/>
          </p:cNvGraphicFramePr>
          <p:nvPr/>
        </p:nvGraphicFramePr>
        <p:xfrm>
          <a:off x="4114800" y="2895600"/>
          <a:ext cx="24145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9" imgW="1091565" imgH="419100" progId="Equation.3">
                  <p:embed/>
                </p:oleObj>
              </mc:Choice>
              <mc:Fallback>
                <p:oleObj name="" r:id="rId9" imgW="1091565" imgH="4191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2895600"/>
                        <a:ext cx="2414588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99" name="Object 67"/>
          <p:cNvGraphicFramePr>
            <a:graphicFrameLocks noChangeAspect="1"/>
          </p:cNvGraphicFramePr>
          <p:nvPr/>
        </p:nvGraphicFramePr>
        <p:xfrm>
          <a:off x="6548438" y="2895600"/>
          <a:ext cx="25082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11" imgW="1282700" imgH="393700" progId="Equation.3">
                  <p:embed/>
                </p:oleObj>
              </mc:Choice>
              <mc:Fallback>
                <p:oleObj name="" r:id="rId11" imgW="1282700" imgH="393700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548438" y="2895600"/>
                        <a:ext cx="25082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700" name="Object 68"/>
          <p:cNvGraphicFramePr>
            <a:graphicFrameLocks noChangeAspect="1"/>
          </p:cNvGraphicFramePr>
          <p:nvPr/>
        </p:nvGraphicFramePr>
        <p:xfrm>
          <a:off x="4114800" y="3810000"/>
          <a:ext cx="26733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13" imgW="1104900" imgH="330200" progId="Equation.3">
                  <p:embed/>
                </p:oleObj>
              </mc:Choice>
              <mc:Fallback>
                <p:oleObj name="" r:id="rId13" imgW="1104900" imgH="3302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3810000"/>
                        <a:ext cx="267335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701" name="Object 69"/>
          <p:cNvGraphicFramePr>
            <a:graphicFrameLocks noChangeAspect="1"/>
          </p:cNvGraphicFramePr>
          <p:nvPr/>
        </p:nvGraphicFramePr>
        <p:xfrm>
          <a:off x="6861175" y="4038600"/>
          <a:ext cx="20177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5" imgW="951865" imgH="228600" progId="Equation.3">
                  <p:embed/>
                </p:oleObj>
              </mc:Choice>
              <mc:Fallback>
                <p:oleObj name="" r:id="rId15" imgW="951865" imgH="22860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61175" y="4038600"/>
                        <a:ext cx="2017713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702" name="Line 70"/>
          <p:cNvSpPr/>
          <p:nvPr/>
        </p:nvSpPr>
        <p:spPr>
          <a:xfrm>
            <a:off x="4038600" y="2895600"/>
            <a:ext cx="0" cy="3787775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8" name="Group 71"/>
          <p:cNvGrpSpPr/>
          <p:nvPr/>
        </p:nvGrpSpPr>
        <p:grpSpPr>
          <a:xfrm>
            <a:off x="4648200" y="4610100"/>
            <a:ext cx="4648200" cy="2162175"/>
            <a:chOff x="2663" y="2829"/>
            <a:chExt cx="2928" cy="1362"/>
          </a:xfrm>
        </p:grpSpPr>
        <p:sp>
          <p:nvSpPr>
            <p:cNvPr id="44061" name="Line 72"/>
            <p:cNvSpPr/>
            <p:nvPr/>
          </p:nvSpPr>
          <p:spPr>
            <a:xfrm>
              <a:off x="2928" y="3245"/>
              <a:ext cx="218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2" name="Line 73"/>
            <p:cNvSpPr/>
            <p:nvPr/>
          </p:nvSpPr>
          <p:spPr>
            <a:xfrm flipV="1">
              <a:off x="3251" y="2829"/>
              <a:ext cx="9" cy="12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4063" name="Object 74"/>
            <p:cNvGraphicFramePr>
              <a:graphicFrameLocks noChangeAspect="1"/>
            </p:cNvGraphicFramePr>
            <p:nvPr/>
          </p:nvGraphicFramePr>
          <p:xfrm>
            <a:off x="3312" y="2829"/>
            <a:ext cx="49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" name="" r:id="rId17" imgW="330200" imgH="215900" progId="Equation.3">
                    <p:embed/>
                  </p:oleObj>
                </mc:Choice>
                <mc:Fallback>
                  <p:oleObj name="" r:id="rId17" imgW="330200" imgH="215900" progId="Equation.3">
                    <p:embed/>
                    <p:pic>
                      <p:nvPicPr>
                        <p:cNvPr id="0" name="图片 3282"/>
                        <p:cNvPicPr/>
                        <p:nvPr/>
                      </p:nvPicPr>
                      <p:blipFill>
                        <a:blip r:embed="rId1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12" y="2829"/>
                          <a:ext cx="498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4" name="Object 75"/>
            <p:cNvGraphicFramePr>
              <a:graphicFrameLocks noChangeAspect="1"/>
            </p:cNvGraphicFramePr>
            <p:nvPr/>
          </p:nvGraphicFramePr>
          <p:xfrm>
            <a:off x="4489" y="2979"/>
            <a:ext cx="304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" name="" r:id="rId19" imgW="203200" imgH="177800" progId="Equation.3">
                    <p:embed/>
                  </p:oleObj>
                </mc:Choice>
                <mc:Fallback>
                  <p:oleObj name="" r:id="rId19" imgW="203200" imgH="177800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2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89" y="2979"/>
                          <a:ext cx="304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5" name="Object 76"/>
            <p:cNvGraphicFramePr>
              <a:graphicFrameLocks noChangeAspect="1"/>
            </p:cNvGraphicFramePr>
            <p:nvPr/>
          </p:nvGraphicFramePr>
          <p:xfrm>
            <a:off x="2672" y="3274"/>
            <a:ext cx="556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" name="" r:id="rId21" imgW="393065" imgH="215900" progId="Equation.3">
                    <p:embed/>
                  </p:oleObj>
                </mc:Choice>
                <mc:Fallback>
                  <p:oleObj name="" r:id="rId21" imgW="393065" imgH="215900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2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72" y="3274"/>
                          <a:ext cx="556" cy="2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6" name="Object 77"/>
            <p:cNvGraphicFramePr>
              <a:graphicFrameLocks noChangeAspect="1"/>
            </p:cNvGraphicFramePr>
            <p:nvPr/>
          </p:nvGraphicFramePr>
          <p:xfrm>
            <a:off x="2663" y="3720"/>
            <a:ext cx="57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" name="" r:id="rId23" imgW="355600" imgH="215900" progId="Equation.3">
                    <p:embed/>
                  </p:oleObj>
                </mc:Choice>
                <mc:Fallback>
                  <p:oleObj name="" r:id="rId23" imgW="355600" imgH="215900" progId="Equation.3">
                    <p:embed/>
                    <p:pic>
                      <p:nvPicPr>
                        <p:cNvPr id="0" name="图片 3285"/>
                        <p:cNvPicPr/>
                        <p:nvPr/>
                      </p:nvPicPr>
                      <p:blipFill>
                        <a:blip r:embed="rId2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63" y="3720"/>
                          <a:ext cx="576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7" name="Line 78"/>
            <p:cNvSpPr/>
            <p:nvPr/>
          </p:nvSpPr>
          <p:spPr>
            <a:xfrm>
              <a:off x="4609" y="3212"/>
              <a:ext cx="0" cy="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8" name="Line 79"/>
            <p:cNvSpPr/>
            <p:nvPr/>
          </p:nvSpPr>
          <p:spPr>
            <a:xfrm>
              <a:off x="3228" y="3822"/>
              <a:ext cx="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9" name="Text Box 80"/>
            <p:cNvSpPr txBox="1"/>
            <p:nvPr/>
          </p:nvSpPr>
          <p:spPr>
            <a:xfrm>
              <a:off x="5065" y="3208"/>
              <a:ext cx="5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_x0001_" pitchFamily="18" charset="0"/>
                </a:rPr>
                <a:t>t</a:t>
              </a:r>
              <a:endParaRPr lang="en-US" altLang="zh-CN" sz="2800" b="1" dirty="0">
                <a:latin typeface="_x0001_" pitchFamily="18" charset="0"/>
              </a:endParaRPr>
            </a:p>
          </p:txBody>
        </p:sp>
        <p:sp>
          <p:nvSpPr>
            <p:cNvPr id="44070" name="Arc 81"/>
            <p:cNvSpPr/>
            <p:nvPr/>
          </p:nvSpPr>
          <p:spPr>
            <a:xfrm>
              <a:off x="3260" y="3248"/>
              <a:ext cx="1661" cy="943"/>
            </a:xfrm>
            <a:custGeom>
              <a:avLst/>
              <a:gdLst>
                <a:gd name="txL" fmla="*/ 0 w 19791"/>
                <a:gd name="txT" fmla="*/ 0 h 21600"/>
                <a:gd name="txR" fmla="*/ 19791 w 19791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791" h="21600" fill="none">
                  <a:moveTo>
                    <a:pt x="0" y="12574"/>
                  </a:moveTo>
                  <a:cubicBezTo>
                    <a:pt x="3525" y="4910"/>
                    <a:pt x="11188" y="-1"/>
                    <a:pt x="19624" y="0"/>
                  </a:cubicBezTo>
                  <a:cubicBezTo>
                    <a:pt x="19679" y="0"/>
                    <a:pt x="19735" y="0"/>
                    <a:pt x="19791" y="0"/>
                  </a:cubicBezTo>
                </a:path>
                <a:path w="19791" h="21600" stroke="0">
                  <a:moveTo>
                    <a:pt x="0" y="12574"/>
                  </a:moveTo>
                  <a:cubicBezTo>
                    <a:pt x="3525" y="4910"/>
                    <a:pt x="11188" y="-1"/>
                    <a:pt x="19624" y="0"/>
                  </a:cubicBezTo>
                  <a:cubicBezTo>
                    <a:pt x="19679" y="0"/>
                    <a:pt x="19735" y="0"/>
                    <a:pt x="19791" y="0"/>
                  </a:cubicBezTo>
                  <a:lnTo>
                    <a:pt x="19624" y="21600"/>
                  </a:lnTo>
                  <a:lnTo>
                    <a:pt x="0" y="1257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" name="Group 82"/>
          <p:cNvGrpSpPr/>
          <p:nvPr/>
        </p:nvGrpSpPr>
        <p:grpSpPr>
          <a:xfrm>
            <a:off x="638175" y="1601788"/>
            <a:ext cx="1846263" cy="1827212"/>
            <a:chOff x="2623" y="2093"/>
            <a:chExt cx="1163" cy="1151"/>
          </a:xfrm>
        </p:grpSpPr>
        <p:sp>
          <p:nvSpPr>
            <p:cNvPr id="44052" name="Line 83"/>
            <p:cNvSpPr/>
            <p:nvPr/>
          </p:nvSpPr>
          <p:spPr>
            <a:xfrm>
              <a:off x="2623" y="3226"/>
              <a:ext cx="8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3" name="Line 84"/>
            <p:cNvSpPr/>
            <p:nvPr/>
          </p:nvSpPr>
          <p:spPr>
            <a:xfrm>
              <a:off x="2623" y="2441"/>
              <a:ext cx="2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4" name="Rectangle 85"/>
            <p:cNvSpPr/>
            <p:nvPr/>
          </p:nvSpPr>
          <p:spPr>
            <a:xfrm>
              <a:off x="2864" y="2380"/>
              <a:ext cx="319" cy="1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55" name="Line 86"/>
            <p:cNvSpPr/>
            <p:nvPr/>
          </p:nvSpPr>
          <p:spPr>
            <a:xfrm>
              <a:off x="2623" y="2430"/>
              <a:ext cx="0" cy="7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6" name="Text Box 87"/>
            <p:cNvSpPr txBox="1"/>
            <p:nvPr/>
          </p:nvSpPr>
          <p:spPr>
            <a:xfrm>
              <a:off x="2810" y="2093"/>
              <a:ext cx="72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57" name="Line 88"/>
            <p:cNvSpPr/>
            <p:nvPr/>
          </p:nvSpPr>
          <p:spPr>
            <a:xfrm>
              <a:off x="3183" y="2432"/>
              <a:ext cx="24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8" name="Line 89"/>
            <p:cNvSpPr/>
            <p:nvPr/>
          </p:nvSpPr>
          <p:spPr>
            <a:xfrm>
              <a:off x="3430" y="2444"/>
              <a:ext cx="0" cy="8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9" name="Text Box 90"/>
            <p:cNvSpPr txBox="1"/>
            <p:nvPr/>
          </p:nvSpPr>
          <p:spPr>
            <a:xfrm>
              <a:off x="3195" y="2497"/>
              <a:ext cx="591" cy="74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_x0001_" pitchFamily="18" charset="0"/>
                </a:rPr>
                <a:t>+</a:t>
              </a:r>
              <a:endParaRPr lang="en-US" altLang="zh-CN" sz="2400" b="1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endParaRPr lang="en-US" altLang="zh-CN" sz="2400" b="1" baseline="-25000" dirty="0">
                <a:latin typeface="_x0001_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baseline="-25000" dirty="0">
                  <a:latin typeface="宋体" panose="02010600030101010101" pitchFamily="2" charset="-122"/>
                </a:rPr>
                <a:t>-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4060" name="Text Box 91"/>
            <p:cNvSpPr txBox="1"/>
            <p:nvPr/>
          </p:nvSpPr>
          <p:spPr>
            <a:xfrm>
              <a:off x="2834" y="2732"/>
              <a:ext cx="939" cy="274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(∞)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97724" name="Object 92"/>
          <p:cNvGraphicFramePr>
            <a:graphicFrameLocks noChangeAspect="1"/>
          </p:cNvGraphicFramePr>
          <p:nvPr/>
        </p:nvGraphicFramePr>
        <p:xfrm>
          <a:off x="2057400" y="2209800"/>
          <a:ext cx="19081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25" imgW="748665" imgH="215900" progId="Equation.3">
                  <p:embed/>
                </p:oleObj>
              </mc:Choice>
              <mc:Fallback>
                <p:oleObj name="" r:id="rId25" imgW="748665" imgH="2159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2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057400" y="2209800"/>
                        <a:ext cx="190817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725" name="Text Box 93"/>
          <p:cNvSpPr txBox="1"/>
          <p:nvPr/>
        </p:nvSpPr>
        <p:spPr>
          <a:xfrm>
            <a:off x="31750" y="76200"/>
            <a:ext cx="2711450" cy="68199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宋体" panose="02010600030101010101" pitchFamily="2" charset="-122"/>
              </a:rPr>
              <a:t>2.</a:t>
            </a:r>
            <a:r>
              <a:rPr lang="en-US" altLang="en-US" sz="32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_x0001_" pitchFamily="18" charset="0"/>
              </a:rPr>
              <a:t>求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(∞)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726" name="Text Box 94"/>
          <p:cNvSpPr txBox="1"/>
          <p:nvPr/>
        </p:nvSpPr>
        <p:spPr>
          <a:xfrm>
            <a:off x="381000" y="762000"/>
            <a:ext cx="4114800" cy="9890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t→∞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时，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L→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短路。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∴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受控源也为零。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7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7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68" grpId="0"/>
      <p:bldP spid="197669" grpId="0"/>
      <p:bldP spid="197725" grpId="0"/>
      <p:bldP spid="1977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9"/>
          <p:cNvSpPr txBox="1"/>
          <p:nvPr/>
        </p:nvSpPr>
        <p:spPr>
          <a:xfrm>
            <a:off x="228600" y="838200"/>
            <a:ext cx="8610600" cy="130937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_x0001_" pitchFamily="18" charset="0"/>
              </a:rPr>
              <a:t>        </a:t>
            </a:r>
            <a:r>
              <a:rPr lang="zh-CN" altLang="en-US" sz="3600" b="1" dirty="0">
                <a:solidFill>
                  <a:schemeClr val="tx2"/>
                </a:solidFill>
                <a:latin typeface="_x0001_" pitchFamily="18" charset="0"/>
              </a:rPr>
              <a:t>用三要素法求响应，只需求出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(0</a:t>
            </a:r>
            <a:r>
              <a:rPr lang="en-US" altLang="zh-CN" sz="36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(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) 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zh-CN" altLang="en-US" sz="3600" b="1" dirty="0">
                <a:solidFill>
                  <a:schemeClr val="tx2"/>
                </a:solidFill>
                <a:latin typeface="_x0001_" pitchFamily="18" charset="0"/>
                <a:sym typeface="Symbol" panose="05050102010706020507" pitchFamily="18" charset="2"/>
              </a:rPr>
              <a:t> </a:t>
            </a:r>
            <a:r>
              <a:rPr lang="zh-CN" altLang="en-US" sz="3600" b="1" dirty="0">
                <a:solidFill>
                  <a:schemeClr val="tx2"/>
                </a:solidFill>
                <a:latin typeface="_x0001_" pitchFamily="18" charset="0"/>
              </a:rPr>
              <a:t>这三个量就能写出相应的表达式</a:t>
            </a:r>
            <a:r>
              <a:rPr lang="zh-CN" altLang="en-US" sz="3600" b="1" dirty="0">
                <a:solidFill>
                  <a:schemeClr val="tx2"/>
                </a:solidFill>
                <a:latin typeface="宋体" panose="02010600030101010101" pitchFamily="2" charset="-122"/>
              </a:rPr>
              <a:t>：</a:t>
            </a:r>
            <a:endParaRPr lang="zh-CN" altLang="en-US" sz="3600" b="1" dirty="0">
              <a:solidFill>
                <a:schemeClr val="tx2"/>
              </a:solidFill>
              <a:latin typeface="_x0001_" pitchFamily="18" charset="0"/>
              <a:sym typeface="Symbol" panose="05050102010706020507" pitchFamily="18" charset="2"/>
            </a:endParaRPr>
          </a:p>
        </p:txBody>
      </p:sp>
      <p:grpSp>
        <p:nvGrpSpPr>
          <p:cNvPr id="8" name="Group 10"/>
          <p:cNvGrpSpPr/>
          <p:nvPr/>
        </p:nvGrpSpPr>
        <p:grpSpPr bwMode="auto">
          <a:xfrm>
            <a:off x="912813" y="5257800"/>
            <a:ext cx="6480175" cy="1143000"/>
            <a:chOff x="741" y="3368"/>
            <a:chExt cx="4082" cy="720"/>
          </a:xfrm>
          <a:solidFill>
            <a:schemeClr val="tx1"/>
          </a:solidFill>
        </p:grpSpPr>
      </p:grpSp>
      <p:graphicFrame>
        <p:nvGraphicFramePr>
          <p:cNvPr id="45060" name="对象 1"/>
          <p:cNvGraphicFramePr>
            <a:graphicFrameLocks noChangeAspect="1"/>
          </p:cNvGraphicFramePr>
          <p:nvPr/>
        </p:nvGraphicFramePr>
        <p:xfrm>
          <a:off x="1131888" y="3509963"/>
          <a:ext cx="6781800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1" imgW="2324100" imgH="482600" progId="Equation.3">
                  <p:embed/>
                </p:oleObj>
              </mc:Choice>
              <mc:Fallback>
                <p:oleObj name="" r:id="rId1" imgW="2324100" imgH="4826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131888" y="3509963"/>
                        <a:ext cx="6781800" cy="1258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对象 3"/>
          <p:cNvGraphicFramePr>
            <a:graphicFrameLocks noChangeAspect="1"/>
          </p:cNvGraphicFramePr>
          <p:nvPr/>
        </p:nvGraphicFramePr>
        <p:xfrm>
          <a:off x="2133600" y="4910138"/>
          <a:ext cx="5943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3" imgW="1688465" imgH="482600" progId="Equation.3">
                  <p:embed/>
                </p:oleObj>
              </mc:Choice>
              <mc:Fallback>
                <p:oleObj name="" r:id="rId3" imgW="1688465" imgH="48260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133600" y="4910138"/>
                        <a:ext cx="5943600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46"/>
          <p:cNvGraphicFramePr>
            <a:graphicFrameLocks noChangeAspect="1"/>
          </p:cNvGraphicFramePr>
          <p:nvPr/>
        </p:nvGraphicFramePr>
        <p:xfrm>
          <a:off x="1143000" y="2157413"/>
          <a:ext cx="56388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5" imgW="1943100" imgH="330200" progId="Equation.3">
                  <p:embed/>
                </p:oleObj>
              </mc:Choice>
              <mc:Fallback>
                <p:oleObj name="" r:id="rId5" imgW="1943100" imgH="3302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2157413"/>
                        <a:ext cx="5638800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rgbClr val="FFFF0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NmZjMzdkNDRjZWQxNDBhNWNjOTM1ZmFmMDNjMDlmMTgifQ=="/>
  <p:tag name="commondata" val="eyJoZGlkIjoiOGE2NjJiZDBlYTVkODZiY2Q0YmRiYmEyN2YwNDYzOTMifQ=="/>
</p:tagLst>
</file>

<file path=ppt/theme/theme1.xml><?xml version="1.0" encoding="utf-8"?>
<a:theme xmlns:a="http://schemas.openxmlformats.org/drawingml/2006/main" name="Beam">
  <a:themeElements>
    <a:clrScheme name="Beam 10">
      <a:dk1>
        <a:srgbClr val="000080"/>
      </a:dk1>
      <a:lt1>
        <a:srgbClr val="FFFFFF"/>
      </a:lt1>
      <a:dk2>
        <a:srgbClr val="000099"/>
      </a:dk2>
      <a:lt2>
        <a:srgbClr val="FFFF00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 10">
        <a:dk1>
          <a:srgbClr val="000080"/>
        </a:dk1>
        <a:lt1>
          <a:srgbClr val="FFFFFF"/>
        </a:lt1>
        <a:dk2>
          <a:srgbClr val="000099"/>
        </a:dk2>
        <a:lt2>
          <a:srgbClr val="FFFF00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0</TotalTime>
  <Words>3894</Words>
  <Application>WPS 演示</Application>
  <PresentationFormat/>
  <Paragraphs>1030</Paragraphs>
  <Slides>32</Slides>
  <Notes>3</Notes>
  <HiddenSlides>6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184</vt:i4>
      </vt:variant>
      <vt:variant>
        <vt:lpstr>幻灯片标题</vt:lpstr>
      </vt:variant>
      <vt:variant>
        <vt:i4>32</vt:i4>
      </vt:variant>
    </vt:vector>
  </HeadingPairs>
  <TitlesOfParts>
    <vt:vector size="235" baseType="lpstr">
      <vt:lpstr>Arial</vt:lpstr>
      <vt:lpstr>宋体</vt:lpstr>
      <vt:lpstr>Wingdings</vt:lpstr>
      <vt:lpstr>微软雅黑</vt:lpstr>
      <vt:lpstr>华文宋体</vt:lpstr>
      <vt:lpstr>Times New Roman</vt:lpstr>
      <vt:lpstr>Symbol</vt:lpstr>
      <vt:lpstr>楷体_GB2312</vt:lpstr>
      <vt:lpstr>新宋体</vt:lpstr>
      <vt:lpstr>华文仿宋</vt:lpstr>
      <vt:lpstr>_x0001_</vt:lpstr>
      <vt:lpstr>Segoe Print</vt:lpstr>
      <vt:lpstr>方正行楷简体</vt:lpstr>
      <vt:lpstr>仿宋_GB2312</vt:lpstr>
      <vt:lpstr>Arial Unicode MS</vt:lpstr>
      <vt:lpstr>Webdings</vt:lpstr>
      <vt:lpstr>Viner Hand ITC</vt:lpstr>
      <vt:lpstr>仿宋</vt:lpstr>
      <vt:lpstr>Beam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第七章 一阶电路的时域分析</vt:lpstr>
      <vt:lpstr>2.电路的初始状态</vt:lpstr>
      <vt:lpstr>4.电路初始值的确定</vt:lpstr>
      <vt:lpstr>PowerPoint 演示文稿</vt:lpstr>
      <vt:lpstr>例7.2:</vt:lpstr>
      <vt:lpstr>PowerPoint 演示文稿</vt:lpstr>
      <vt:lpstr>求初始值的步骤:</vt:lpstr>
      <vt:lpstr>7.2一阶电路的零输入响应</vt:lpstr>
      <vt:lpstr>1.RC电路的零输入响应：(由uc(0+)产生的响应)</vt:lpstr>
      <vt:lpstr>PowerPoint 演示文稿</vt:lpstr>
      <vt:lpstr>3.RL电路的零输入响应：</vt:lpstr>
      <vt:lpstr>PowerPoint 演示文稿</vt:lpstr>
      <vt:lpstr>4.总结:</vt:lpstr>
      <vt:lpstr>D.时间常数的求法:</vt:lpstr>
      <vt:lpstr>  7.3一阶电路的零状态响应</vt:lpstr>
      <vt:lpstr>PowerPoint 演示文稿</vt:lpstr>
      <vt:lpstr>PowerPoint 演示文稿</vt:lpstr>
      <vt:lpstr>电路中各输出波形：</vt:lpstr>
      <vt:lpstr>三.总结:</vt:lpstr>
      <vt:lpstr> 7.4 一阶电路的全响应</vt:lpstr>
      <vt:lpstr>PowerPoint 演示文稿</vt:lpstr>
      <vt:lpstr>例7.13:</vt:lpstr>
      <vt:lpstr>1.f (t)增长的情况：</vt:lpstr>
      <vt:lpstr>2.f (t)衰减的情况：</vt:lpstr>
      <vt:lpstr>PowerPoint 演示文稿</vt:lpstr>
      <vt:lpstr>PowerPoint 演示文稿</vt:lpstr>
      <vt:lpstr>总结：t = 0+ ﹑ t =∞时的等效电路</vt:lpstr>
      <vt:lpstr>例7.15:</vt:lpstr>
      <vt:lpstr>PowerPoint 演示文稿</vt:lpstr>
      <vt:lpstr>例7.17: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淡如清水</cp:lastModifiedBy>
  <cp:revision>292</cp:revision>
  <dcterms:created xsi:type="dcterms:W3CDTF">2021-04-15T15:17:00Z</dcterms:created>
  <dcterms:modified xsi:type="dcterms:W3CDTF">2024-03-25T06:50:36Z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E6E1783C22154DAC9CA012B4C239BC26</vt:lpwstr>
  </property>
  <property fmtid="{D5CDD505-2E9C-101B-9397-08002B2CF9AE}" pid="4" name="KSOProductBuildVer">
    <vt:lpwstr>2052-12.1.0.16388</vt:lpwstr>
  </property>
</Properties>
</file>