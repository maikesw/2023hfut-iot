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9" r:id="rId6"/>
    <p:sldId id="270" r:id="rId7"/>
    <p:sldId id="271" r:id="rId8"/>
    <p:sldId id="272" r:id="rId9"/>
    <p:sldId id="273" r:id="rId10"/>
    <p:sldId id="274" r:id="rId11"/>
    <p:sldId id="261" r:id="rId12"/>
    <p:sldId id="262" r:id="rId13"/>
    <p:sldId id="275" r:id="rId14"/>
    <p:sldId id="276" r:id="rId15"/>
    <p:sldId id="264" r:id="rId16"/>
    <p:sldId id="265" r:id="rId17"/>
    <p:sldId id="266" r:id="rId18"/>
    <p:sldId id="267" r:id="rId19"/>
    <p:sldId id="268" r:id="rId20"/>
    <p:sldId id="277" r:id="rId21"/>
    <p:sldId id="278" r:id="rId22"/>
    <p:sldId id="285" r:id="rId23"/>
    <p:sldId id="279" r:id="rId24"/>
    <p:sldId id="280" r:id="rId25"/>
    <p:sldId id="281" r:id="rId26"/>
    <p:sldId id="282" r:id="rId27"/>
    <p:sldId id="283" r:id="rId28"/>
    <p:sldId id="284" r:id="rId29"/>
    <p:sldId id="287" r:id="rId30"/>
    <p:sldId id="288" r:id="rId31"/>
    <p:sldId id="289" r:id="rId32"/>
    <p:sldId id="291" r:id="rId33"/>
    <p:sldId id="292" r:id="rId34"/>
    <p:sldId id="297" r:id="rId35"/>
    <p:sldId id="293" r:id="rId36"/>
    <p:sldId id="294" r:id="rId37"/>
    <p:sldId id="295" r:id="rId38"/>
    <p:sldId id="296" r:id="rId39"/>
    <p:sldId id="298" r:id="rId40"/>
    <p:sldId id="299" r:id="rId41"/>
    <p:sldId id="308" r:id="rId42"/>
    <p:sldId id="300" r:id="rId43"/>
    <p:sldId id="301" r:id="rId44"/>
    <p:sldId id="302" r:id="rId45"/>
    <p:sldId id="303" r:id="rId46"/>
    <p:sldId id="304" r:id="rId47"/>
    <p:sldId id="305" r:id="rId48"/>
    <p:sldId id="307" r:id="rId49"/>
    <p:sldId id="310" r:id="rId50"/>
    <p:sldId id="311" r:id="rId51"/>
    <p:sldId id="312" r:id="rId52"/>
    <p:sldId id="313" r:id="rId53"/>
    <p:sldId id="314" r:id="rId54"/>
    <p:sldId id="315" r:id="rId55"/>
  </p:sldIdLst>
  <p:sldSz cx="9144000" cy="6480175"/>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4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86" autoAdjust="0"/>
  </p:normalViewPr>
  <p:slideViewPr>
    <p:cSldViewPr>
      <p:cViewPr varScale="1">
        <p:scale>
          <a:sx n="91" d="100"/>
          <a:sy n="91" d="100"/>
        </p:scale>
        <p:origin x="786" y="72"/>
      </p:cViewPr>
      <p:guideLst>
        <p:guide orient="horz" pos="2041"/>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image" Target="../media/image38.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40.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4A50C6-3BCD-4F98-8C5F-654FA876B102}"/>
              </a:ext>
            </a:extLst>
          </p:cNvPr>
          <p:cNvSpPr>
            <a:spLocks noGrp="1"/>
          </p:cNvSpPr>
          <p:nvPr>
            <p:ph type="ctrTitle"/>
          </p:nvPr>
        </p:nvSpPr>
        <p:spPr>
          <a:xfrm>
            <a:off x="1143000" y="1060450"/>
            <a:ext cx="6858000" cy="2255838"/>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B38A0E8-9D1E-4F72-877C-BF8DEC7D8467}"/>
              </a:ext>
            </a:extLst>
          </p:cNvPr>
          <p:cNvSpPr>
            <a:spLocks noGrp="1"/>
          </p:cNvSpPr>
          <p:nvPr>
            <p:ph type="subTitle" idx="1"/>
          </p:nvPr>
        </p:nvSpPr>
        <p:spPr>
          <a:xfrm>
            <a:off x="1143000" y="3403600"/>
            <a:ext cx="6858000" cy="15652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EE413D3-B2C4-4477-AA05-D22517AEFF6E}"/>
              </a:ext>
            </a:extLst>
          </p:cNvPr>
          <p:cNvSpPr>
            <a:spLocks noGrp="1"/>
          </p:cNvSpPr>
          <p:nvPr>
            <p:ph type="dt" sz="half" idx="10"/>
          </p:nvPr>
        </p:nvSpPr>
        <p:spPr/>
        <p:txBody>
          <a:bodyPr/>
          <a:lstStyle>
            <a:lvl1pPr>
              <a:defRPr/>
            </a:lvl1pPr>
          </a:lstStyle>
          <a:p>
            <a:endParaRPr lang="zh-CN" altLang="zh-CN"/>
          </a:p>
        </p:txBody>
      </p:sp>
      <p:sp>
        <p:nvSpPr>
          <p:cNvPr id="5" name="页脚占位符 4">
            <a:extLst>
              <a:ext uri="{FF2B5EF4-FFF2-40B4-BE49-F238E27FC236}">
                <a16:creationId xmlns:a16="http://schemas.microsoft.com/office/drawing/2014/main" id="{B1222777-CAE1-4DA7-B294-931ED7947D73}"/>
              </a:ext>
            </a:extLst>
          </p:cNvPr>
          <p:cNvSpPr>
            <a:spLocks noGrp="1"/>
          </p:cNvSpPr>
          <p:nvPr>
            <p:ph type="ftr" sz="quarter" idx="11"/>
          </p:nvPr>
        </p:nvSpPr>
        <p:spPr/>
        <p:txBody>
          <a:bodyPr/>
          <a:lstStyle>
            <a:lvl1pPr>
              <a:defRPr/>
            </a:lvl1pPr>
          </a:lstStyle>
          <a:p>
            <a:endParaRPr lang="zh-CN" altLang="zh-CN"/>
          </a:p>
        </p:txBody>
      </p:sp>
      <p:sp>
        <p:nvSpPr>
          <p:cNvPr id="6" name="灯片编号占位符 5">
            <a:extLst>
              <a:ext uri="{FF2B5EF4-FFF2-40B4-BE49-F238E27FC236}">
                <a16:creationId xmlns:a16="http://schemas.microsoft.com/office/drawing/2014/main" id="{CA592E42-2E6D-4C09-8187-9B19C12D44CF}"/>
              </a:ext>
            </a:extLst>
          </p:cNvPr>
          <p:cNvSpPr>
            <a:spLocks noGrp="1"/>
          </p:cNvSpPr>
          <p:nvPr>
            <p:ph type="sldNum" sz="quarter" idx="12"/>
          </p:nvPr>
        </p:nvSpPr>
        <p:spPr/>
        <p:txBody>
          <a:bodyPr/>
          <a:lstStyle>
            <a:lvl1pPr>
              <a:defRPr/>
            </a:lvl1pPr>
          </a:lstStyle>
          <a:p>
            <a:fld id="{DD27D9F7-5EBF-4D14-8ECF-8BD32E3E0185}" type="slidenum">
              <a:rPr lang="zh-CN" altLang="zh-CN"/>
              <a:pPr/>
              <a:t>‹#›</a:t>
            </a:fld>
            <a:endParaRPr lang="zh-CN" altLang="zh-CN"/>
          </a:p>
        </p:txBody>
      </p:sp>
    </p:spTree>
    <p:extLst>
      <p:ext uri="{BB962C8B-B14F-4D97-AF65-F5344CB8AC3E}">
        <p14:creationId xmlns:p14="http://schemas.microsoft.com/office/powerpoint/2010/main" val="3235313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0D950D-2525-41E2-92D4-14362A54AAD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006713E-C0AC-4394-956F-43C35123407C}"/>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32A15C0-D70D-45F3-90E7-DD61EA466883}"/>
              </a:ext>
            </a:extLst>
          </p:cNvPr>
          <p:cNvSpPr>
            <a:spLocks noGrp="1"/>
          </p:cNvSpPr>
          <p:nvPr>
            <p:ph type="dt" sz="half" idx="10"/>
          </p:nvPr>
        </p:nvSpPr>
        <p:spPr/>
        <p:txBody>
          <a:bodyPr/>
          <a:lstStyle>
            <a:lvl1pPr>
              <a:defRPr/>
            </a:lvl1pPr>
          </a:lstStyle>
          <a:p>
            <a:endParaRPr lang="zh-CN" altLang="zh-CN"/>
          </a:p>
        </p:txBody>
      </p:sp>
      <p:sp>
        <p:nvSpPr>
          <p:cNvPr id="5" name="页脚占位符 4">
            <a:extLst>
              <a:ext uri="{FF2B5EF4-FFF2-40B4-BE49-F238E27FC236}">
                <a16:creationId xmlns:a16="http://schemas.microsoft.com/office/drawing/2014/main" id="{57E85DFF-8E9D-460D-AD02-264926848D4D}"/>
              </a:ext>
            </a:extLst>
          </p:cNvPr>
          <p:cNvSpPr>
            <a:spLocks noGrp="1"/>
          </p:cNvSpPr>
          <p:nvPr>
            <p:ph type="ftr" sz="quarter" idx="11"/>
          </p:nvPr>
        </p:nvSpPr>
        <p:spPr/>
        <p:txBody>
          <a:bodyPr/>
          <a:lstStyle>
            <a:lvl1pPr>
              <a:defRPr/>
            </a:lvl1pPr>
          </a:lstStyle>
          <a:p>
            <a:endParaRPr lang="zh-CN" altLang="zh-CN"/>
          </a:p>
        </p:txBody>
      </p:sp>
      <p:sp>
        <p:nvSpPr>
          <p:cNvPr id="6" name="灯片编号占位符 5">
            <a:extLst>
              <a:ext uri="{FF2B5EF4-FFF2-40B4-BE49-F238E27FC236}">
                <a16:creationId xmlns:a16="http://schemas.microsoft.com/office/drawing/2014/main" id="{863004A5-C42C-472F-9115-A27D74A1F745}"/>
              </a:ext>
            </a:extLst>
          </p:cNvPr>
          <p:cNvSpPr>
            <a:spLocks noGrp="1"/>
          </p:cNvSpPr>
          <p:nvPr>
            <p:ph type="sldNum" sz="quarter" idx="12"/>
          </p:nvPr>
        </p:nvSpPr>
        <p:spPr/>
        <p:txBody>
          <a:bodyPr/>
          <a:lstStyle>
            <a:lvl1pPr>
              <a:defRPr/>
            </a:lvl1pPr>
          </a:lstStyle>
          <a:p>
            <a:fld id="{083EDECD-95C5-4A35-AD98-594ADB05E13B}" type="slidenum">
              <a:rPr lang="zh-CN" altLang="zh-CN"/>
              <a:pPr/>
              <a:t>‹#›</a:t>
            </a:fld>
            <a:endParaRPr lang="zh-CN" altLang="zh-CN"/>
          </a:p>
        </p:txBody>
      </p:sp>
    </p:spTree>
    <p:extLst>
      <p:ext uri="{BB962C8B-B14F-4D97-AF65-F5344CB8AC3E}">
        <p14:creationId xmlns:p14="http://schemas.microsoft.com/office/powerpoint/2010/main" val="2160961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0D49DA-EF7C-4656-AB4F-99D9FC9C6CC6}"/>
              </a:ext>
            </a:extLst>
          </p:cNvPr>
          <p:cNvSpPr>
            <a:spLocks noGrp="1"/>
          </p:cNvSpPr>
          <p:nvPr>
            <p:ph type="title"/>
          </p:nvPr>
        </p:nvSpPr>
        <p:spPr>
          <a:xfrm>
            <a:off x="623888" y="1616075"/>
            <a:ext cx="7886700" cy="2695575"/>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0F4CB2D-A1DF-4604-8E1F-BAD12F835889}"/>
              </a:ext>
            </a:extLst>
          </p:cNvPr>
          <p:cNvSpPr>
            <a:spLocks noGrp="1"/>
          </p:cNvSpPr>
          <p:nvPr>
            <p:ph type="body" idx="1"/>
          </p:nvPr>
        </p:nvSpPr>
        <p:spPr>
          <a:xfrm>
            <a:off x="623888" y="4337050"/>
            <a:ext cx="7886700" cy="141763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a:extLst>
              <a:ext uri="{FF2B5EF4-FFF2-40B4-BE49-F238E27FC236}">
                <a16:creationId xmlns:a16="http://schemas.microsoft.com/office/drawing/2014/main" id="{579FE429-047D-4C1E-A622-DE43064EF6CB}"/>
              </a:ext>
            </a:extLst>
          </p:cNvPr>
          <p:cNvSpPr>
            <a:spLocks noGrp="1"/>
          </p:cNvSpPr>
          <p:nvPr>
            <p:ph type="dt" sz="half" idx="10"/>
          </p:nvPr>
        </p:nvSpPr>
        <p:spPr/>
        <p:txBody>
          <a:bodyPr/>
          <a:lstStyle>
            <a:lvl1pPr>
              <a:defRPr/>
            </a:lvl1pPr>
          </a:lstStyle>
          <a:p>
            <a:endParaRPr lang="zh-CN" altLang="zh-CN"/>
          </a:p>
        </p:txBody>
      </p:sp>
      <p:sp>
        <p:nvSpPr>
          <p:cNvPr id="5" name="页脚占位符 4">
            <a:extLst>
              <a:ext uri="{FF2B5EF4-FFF2-40B4-BE49-F238E27FC236}">
                <a16:creationId xmlns:a16="http://schemas.microsoft.com/office/drawing/2014/main" id="{4C1DAA3A-BF1C-4F72-9F02-D07A9CD4189E}"/>
              </a:ext>
            </a:extLst>
          </p:cNvPr>
          <p:cNvSpPr>
            <a:spLocks noGrp="1"/>
          </p:cNvSpPr>
          <p:nvPr>
            <p:ph type="ftr" sz="quarter" idx="11"/>
          </p:nvPr>
        </p:nvSpPr>
        <p:spPr/>
        <p:txBody>
          <a:bodyPr/>
          <a:lstStyle>
            <a:lvl1pPr>
              <a:defRPr/>
            </a:lvl1pPr>
          </a:lstStyle>
          <a:p>
            <a:endParaRPr lang="zh-CN" altLang="zh-CN"/>
          </a:p>
        </p:txBody>
      </p:sp>
      <p:sp>
        <p:nvSpPr>
          <p:cNvPr id="6" name="灯片编号占位符 5">
            <a:extLst>
              <a:ext uri="{FF2B5EF4-FFF2-40B4-BE49-F238E27FC236}">
                <a16:creationId xmlns:a16="http://schemas.microsoft.com/office/drawing/2014/main" id="{EBA8EECC-9748-46C3-A11C-E696DFBCBEE1}"/>
              </a:ext>
            </a:extLst>
          </p:cNvPr>
          <p:cNvSpPr>
            <a:spLocks noGrp="1"/>
          </p:cNvSpPr>
          <p:nvPr>
            <p:ph type="sldNum" sz="quarter" idx="12"/>
          </p:nvPr>
        </p:nvSpPr>
        <p:spPr/>
        <p:txBody>
          <a:bodyPr/>
          <a:lstStyle>
            <a:lvl1pPr>
              <a:defRPr/>
            </a:lvl1pPr>
          </a:lstStyle>
          <a:p>
            <a:fld id="{218EA149-D97F-47CD-9E0F-1F16359A09AC}" type="slidenum">
              <a:rPr lang="zh-CN" altLang="zh-CN"/>
              <a:pPr/>
              <a:t>‹#›</a:t>
            </a:fld>
            <a:endParaRPr lang="zh-CN" altLang="zh-CN"/>
          </a:p>
        </p:txBody>
      </p:sp>
    </p:spTree>
    <p:extLst>
      <p:ext uri="{BB962C8B-B14F-4D97-AF65-F5344CB8AC3E}">
        <p14:creationId xmlns:p14="http://schemas.microsoft.com/office/powerpoint/2010/main" val="641461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86F16F-32F2-4E8E-8380-C04CD7DD437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1DC72D4-B951-4E9B-A7E1-AC0121987D6E}"/>
              </a:ext>
            </a:extLst>
          </p:cNvPr>
          <p:cNvSpPr>
            <a:spLocks noGrp="1"/>
          </p:cNvSpPr>
          <p:nvPr>
            <p:ph sz="half" idx="1"/>
          </p:nvPr>
        </p:nvSpPr>
        <p:spPr>
          <a:xfrm>
            <a:off x="457200" y="1511300"/>
            <a:ext cx="4038600" cy="4276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0FBD79F-D61F-48CF-87A9-6FE44BFF0469}"/>
              </a:ext>
            </a:extLst>
          </p:cNvPr>
          <p:cNvSpPr>
            <a:spLocks noGrp="1"/>
          </p:cNvSpPr>
          <p:nvPr>
            <p:ph sz="half" idx="2"/>
          </p:nvPr>
        </p:nvSpPr>
        <p:spPr>
          <a:xfrm>
            <a:off x="4648200" y="1511300"/>
            <a:ext cx="4038600" cy="4276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B1A2F84-21ED-49B3-A339-A2834CE87636}"/>
              </a:ext>
            </a:extLst>
          </p:cNvPr>
          <p:cNvSpPr>
            <a:spLocks noGrp="1"/>
          </p:cNvSpPr>
          <p:nvPr>
            <p:ph type="dt" sz="half" idx="10"/>
          </p:nvPr>
        </p:nvSpPr>
        <p:spPr/>
        <p:txBody>
          <a:bodyPr/>
          <a:lstStyle>
            <a:lvl1pPr>
              <a:defRPr/>
            </a:lvl1pPr>
          </a:lstStyle>
          <a:p>
            <a:endParaRPr lang="zh-CN" altLang="zh-CN"/>
          </a:p>
        </p:txBody>
      </p:sp>
      <p:sp>
        <p:nvSpPr>
          <p:cNvPr id="6" name="页脚占位符 5">
            <a:extLst>
              <a:ext uri="{FF2B5EF4-FFF2-40B4-BE49-F238E27FC236}">
                <a16:creationId xmlns:a16="http://schemas.microsoft.com/office/drawing/2014/main" id="{C09DD841-21E9-42CF-B74F-DF8CF7B1CA05}"/>
              </a:ext>
            </a:extLst>
          </p:cNvPr>
          <p:cNvSpPr>
            <a:spLocks noGrp="1"/>
          </p:cNvSpPr>
          <p:nvPr>
            <p:ph type="ftr" sz="quarter" idx="11"/>
          </p:nvPr>
        </p:nvSpPr>
        <p:spPr/>
        <p:txBody>
          <a:bodyPr/>
          <a:lstStyle>
            <a:lvl1pPr>
              <a:defRPr/>
            </a:lvl1pPr>
          </a:lstStyle>
          <a:p>
            <a:endParaRPr lang="zh-CN" altLang="zh-CN"/>
          </a:p>
        </p:txBody>
      </p:sp>
      <p:sp>
        <p:nvSpPr>
          <p:cNvPr id="7" name="灯片编号占位符 6">
            <a:extLst>
              <a:ext uri="{FF2B5EF4-FFF2-40B4-BE49-F238E27FC236}">
                <a16:creationId xmlns:a16="http://schemas.microsoft.com/office/drawing/2014/main" id="{4318EF03-BAC9-4D80-B5FD-1570E2A85CA9}"/>
              </a:ext>
            </a:extLst>
          </p:cNvPr>
          <p:cNvSpPr>
            <a:spLocks noGrp="1"/>
          </p:cNvSpPr>
          <p:nvPr>
            <p:ph type="sldNum" sz="quarter" idx="12"/>
          </p:nvPr>
        </p:nvSpPr>
        <p:spPr/>
        <p:txBody>
          <a:bodyPr/>
          <a:lstStyle>
            <a:lvl1pPr>
              <a:defRPr/>
            </a:lvl1pPr>
          </a:lstStyle>
          <a:p>
            <a:fld id="{88271605-D50E-4D7D-8F0E-0ED775F893DE}" type="slidenum">
              <a:rPr lang="zh-CN" altLang="zh-CN"/>
              <a:pPr/>
              <a:t>‹#›</a:t>
            </a:fld>
            <a:endParaRPr lang="zh-CN" altLang="zh-CN"/>
          </a:p>
        </p:txBody>
      </p:sp>
    </p:spTree>
    <p:extLst>
      <p:ext uri="{BB962C8B-B14F-4D97-AF65-F5344CB8AC3E}">
        <p14:creationId xmlns:p14="http://schemas.microsoft.com/office/powerpoint/2010/main" val="1046648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4D7ED5-8991-426A-AB2F-0A6BB079A14B}"/>
              </a:ext>
            </a:extLst>
          </p:cNvPr>
          <p:cNvSpPr>
            <a:spLocks noGrp="1"/>
          </p:cNvSpPr>
          <p:nvPr>
            <p:ph type="title"/>
          </p:nvPr>
        </p:nvSpPr>
        <p:spPr>
          <a:xfrm>
            <a:off x="630238" y="344488"/>
            <a:ext cx="7886700" cy="1252537"/>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0CA3542-8BA1-4B81-BEB8-525B9EE93980}"/>
              </a:ext>
            </a:extLst>
          </p:cNvPr>
          <p:cNvSpPr>
            <a:spLocks noGrp="1"/>
          </p:cNvSpPr>
          <p:nvPr>
            <p:ph type="body" idx="1"/>
          </p:nvPr>
        </p:nvSpPr>
        <p:spPr>
          <a:xfrm>
            <a:off x="630238" y="1589088"/>
            <a:ext cx="3868737" cy="7778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CB407CE-D7AF-4632-BC10-9E51671A9506}"/>
              </a:ext>
            </a:extLst>
          </p:cNvPr>
          <p:cNvSpPr>
            <a:spLocks noGrp="1"/>
          </p:cNvSpPr>
          <p:nvPr>
            <p:ph sz="half" idx="2"/>
          </p:nvPr>
        </p:nvSpPr>
        <p:spPr>
          <a:xfrm>
            <a:off x="630238" y="2366963"/>
            <a:ext cx="3868737" cy="348138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60F8F1D7-F11A-4BBC-B480-E6F8092BD0EF}"/>
              </a:ext>
            </a:extLst>
          </p:cNvPr>
          <p:cNvSpPr>
            <a:spLocks noGrp="1"/>
          </p:cNvSpPr>
          <p:nvPr>
            <p:ph type="body" sz="quarter" idx="3"/>
          </p:nvPr>
        </p:nvSpPr>
        <p:spPr>
          <a:xfrm>
            <a:off x="4629150" y="1589088"/>
            <a:ext cx="3887788" cy="7778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61F1905-0B56-4BC9-8836-A2F7E311D75B}"/>
              </a:ext>
            </a:extLst>
          </p:cNvPr>
          <p:cNvSpPr>
            <a:spLocks noGrp="1"/>
          </p:cNvSpPr>
          <p:nvPr>
            <p:ph sz="quarter" idx="4"/>
          </p:nvPr>
        </p:nvSpPr>
        <p:spPr>
          <a:xfrm>
            <a:off x="4629150" y="2366963"/>
            <a:ext cx="3887788" cy="348138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76FA34A5-C691-41F4-81DF-76E6DE2604C0}"/>
              </a:ext>
            </a:extLst>
          </p:cNvPr>
          <p:cNvSpPr>
            <a:spLocks noGrp="1"/>
          </p:cNvSpPr>
          <p:nvPr>
            <p:ph type="dt" sz="half" idx="10"/>
          </p:nvPr>
        </p:nvSpPr>
        <p:spPr/>
        <p:txBody>
          <a:bodyPr/>
          <a:lstStyle>
            <a:lvl1pPr>
              <a:defRPr/>
            </a:lvl1pPr>
          </a:lstStyle>
          <a:p>
            <a:endParaRPr lang="zh-CN" altLang="zh-CN"/>
          </a:p>
        </p:txBody>
      </p:sp>
      <p:sp>
        <p:nvSpPr>
          <p:cNvPr id="8" name="页脚占位符 7">
            <a:extLst>
              <a:ext uri="{FF2B5EF4-FFF2-40B4-BE49-F238E27FC236}">
                <a16:creationId xmlns:a16="http://schemas.microsoft.com/office/drawing/2014/main" id="{1ABA66DE-4430-447D-8A92-D469561ECA5E}"/>
              </a:ext>
            </a:extLst>
          </p:cNvPr>
          <p:cNvSpPr>
            <a:spLocks noGrp="1"/>
          </p:cNvSpPr>
          <p:nvPr>
            <p:ph type="ftr" sz="quarter" idx="11"/>
          </p:nvPr>
        </p:nvSpPr>
        <p:spPr/>
        <p:txBody>
          <a:bodyPr/>
          <a:lstStyle>
            <a:lvl1pPr>
              <a:defRPr/>
            </a:lvl1pPr>
          </a:lstStyle>
          <a:p>
            <a:endParaRPr lang="zh-CN" altLang="zh-CN"/>
          </a:p>
        </p:txBody>
      </p:sp>
      <p:sp>
        <p:nvSpPr>
          <p:cNvPr id="9" name="灯片编号占位符 8">
            <a:extLst>
              <a:ext uri="{FF2B5EF4-FFF2-40B4-BE49-F238E27FC236}">
                <a16:creationId xmlns:a16="http://schemas.microsoft.com/office/drawing/2014/main" id="{8861D9DF-156D-4585-8A43-D9C166D717F6}"/>
              </a:ext>
            </a:extLst>
          </p:cNvPr>
          <p:cNvSpPr>
            <a:spLocks noGrp="1"/>
          </p:cNvSpPr>
          <p:nvPr>
            <p:ph type="sldNum" sz="quarter" idx="12"/>
          </p:nvPr>
        </p:nvSpPr>
        <p:spPr/>
        <p:txBody>
          <a:bodyPr/>
          <a:lstStyle>
            <a:lvl1pPr>
              <a:defRPr/>
            </a:lvl1pPr>
          </a:lstStyle>
          <a:p>
            <a:fld id="{B8CAABC3-CCE7-47FB-857E-E34C94C2FED8}" type="slidenum">
              <a:rPr lang="zh-CN" altLang="zh-CN"/>
              <a:pPr/>
              <a:t>‹#›</a:t>
            </a:fld>
            <a:endParaRPr lang="zh-CN" altLang="zh-CN"/>
          </a:p>
        </p:txBody>
      </p:sp>
    </p:spTree>
    <p:extLst>
      <p:ext uri="{BB962C8B-B14F-4D97-AF65-F5344CB8AC3E}">
        <p14:creationId xmlns:p14="http://schemas.microsoft.com/office/powerpoint/2010/main" val="741917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DE0DB9-E4EB-45FF-8291-E34D44357EA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7BAF3AD-531E-46EF-8368-CD3E54F50BE9}"/>
              </a:ext>
            </a:extLst>
          </p:cNvPr>
          <p:cNvSpPr>
            <a:spLocks noGrp="1"/>
          </p:cNvSpPr>
          <p:nvPr>
            <p:ph type="dt" sz="half" idx="10"/>
          </p:nvPr>
        </p:nvSpPr>
        <p:spPr/>
        <p:txBody>
          <a:bodyPr/>
          <a:lstStyle>
            <a:lvl1pPr>
              <a:defRPr/>
            </a:lvl1pPr>
          </a:lstStyle>
          <a:p>
            <a:endParaRPr lang="zh-CN" altLang="zh-CN"/>
          </a:p>
        </p:txBody>
      </p:sp>
      <p:sp>
        <p:nvSpPr>
          <p:cNvPr id="4" name="页脚占位符 3">
            <a:extLst>
              <a:ext uri="{FF2B5EF4-FFF2-40B4-BE49-F238E27FC236}">
                <a16:creationId xmlns:a16="http://schemas.microsoft.com/office/drawing/2014/main" id="{32B5BBB7-AFFF-4E02-A5B1-DC236CB3DF8F}"/>
              </a:ext>
            </a:extLst>
          </p:cNvPr>
          <p:cNvSpPr>
            <a:spLocks noGrp="1"/>
          </p:cNvSpPr>
          <p:nvPr>
            <p:ph type="ftr" sz="quarter" idx="11"/>
          </p:nvPr>
        </p:nvSpPr>
        <p:spPr/>
        <p:txBody>
          <a:bodyPr/>
          <a:lstStyle>
            <a:lvl1pPr>
              <a:defRPr/>
            </a:lvl1pPr>
          </a:lstStyle>
          <a:p>
            <a:endParaRPr lang="zh-CN" altLang="zh-CN"/>
          </a:p>
        </p:txBody>
      </p:sp>
      <p:sp>
        <p:nvSpPr>
          <p:cNvPr id="5" name="灯片编号占位符 4">
            <a:extLst>
              <a:ext uri="{FF2B5EF4-FFF2-40B4-BE49-F238E27FC236}">
                <a16:creationId xmlns:a16="http://schemas.microsoft.com/office/drawing/2014/main" id="{A7AB6C4E-22EE-474D-BFEF-DC00D883CD71}"/>
              </a:ext>
            </a:extLst>
          </p:cNvPr>
          <p:cNvSpPr>
            <a:spLocks noGrp="1"/>
          </p:cNvSpPr>
          <p:nvPr>
            <p:ph type="sldNum" sz="quarter" idx="12"/>
          </p:nvPr>
        </p:nvSpPr>
        <p:spPr/>
        <p:txBody>
          <a:bodyPr/>
          <a:lstStyle>
            <a:lvl1pPr>
              <a:defRPr/>
            </a:lvl1pPr>
          </a:lstStyle>
          <a:p>
            <a:fld id="{F5E796DC-3FC0-4F4C-AFCE-3AE909F9B54A}" type="slidenum">
              <a:rPr lang="zh-CN" altLang="zh-CN"/>
              <a:pPr/>
              <a:t>‹#›</a:t>
            </a:fld>
            <a:endParaRPr lang="zh-CN" altLang="zh-CN"/>
          </a:p>
        </p:txBody>
      </p:sp>
    </p:spTree>
    <p:extLst>
      <p:ext uri="{BB962C8B-B14F-4D97-AF65-F5344CB8AC3E}">
        <p14:creationId xmlns:p14="http://schemas.microsoft.com/office/powerpoint/2010/main" val="847496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75B74E8-8194-45E8-8BFB-7D20A1327504}"/>
              </a:ext>
            </a:extLst>
          </p:cNvPr>
          <p:cNvSpPr>
            <a:spLocks noGrp="1"/>
          </p:cNvSpPr>
          <p:nvPr>
            <p:ph type="dt" sz="half" idx="10"/>
          </p:nvPr>
        </p:nvSpPr>
        <p:spPr/>
        <p:txBody>
          <a:bodyPr/>
          <a:lstStyle>
            <a:lvl1pPr>
              <a:defRPr/>
            </a:lvl1pPr>
          </a:lstStyle>
          <a:p>
            <a:endParaRPr lang="zh-CN" altLang="zh-CN"/>
          </a:p>
        </p:txBody>
      </p:sp>
      <p:sp>
        <p:nvSpPr>
          <p:cNvPr id="3" name="页脚占位符 2">
            <a:extLst>
              <a:ext uri="{FF2B5EF4-FFF2-40B4-BE49-F238E27FC236}">
                <a16:creationId xmlns:a16="http://schemas.microsoft.com/office/drawing/2014/main" id="{0F3E0866-E46C-47DA-9077-C26A62651747}"/>
              </a:ext>
            </a:extLst>
          </p:cNvPr>
          <p:cNvSpPr>
            <a:spLocks noGrp="1"/>
          </p:cNvSpPr>
          <p:nvPr>
            <p:ph type="ftr" sz="quarter" idx="11"/>
          </p:nvPr>
        </p:nvSpPr>
        <p:spPr/>
        <p:txBody>
          <a:bodyPr/>
          <a:lstStyle>
            <a:lvl1pPr>
              <a:defRPr/>
            </a:lvl1pPr>
          </a:lstStyle>
          <a:p>
            <a:endParaRPr lang="zh-CN" altLang="zh-CN"/>
          </a:p>
        </p:txBody>
      </p:sp>
      <p:sp>
        <p:nvSpPr>
          <p:cNvPr id="4" name="灯片编号占位符 3">
            <a:extLst>
              <a:ext uri="{FF2B5EF4-FFF2-40B4-BE49-F238E27FC236}">
                <a16:creationId xmlns:a16="http://schemas.microsoft.com/office/drawing/2014/main" id="{F5AB13D2-0B1B-4443-8D6B-5809E132B2D1}"/>
              </a:ext>
            </a:extLst>
          </p:cNvPr>
          <p:cNvSpPr>
            <a:spLocks noGrp="1"/>
          </p:cNvSpPr>
          <p:nvPr>
            <p:ph type="sldNum" sz="quarter" idx="12"/>
          </p:nvPr>
        </p:nvSpPr>
        <p:spPr/>
        <p:txBody>
          <a:bodyPr/>
          <a:lstStyle>
            <a:lvl1pPr>
              <a:defRPr/>
            </a:lvl1pPr>
          </a:lstStyle>
          <a:p>
            <a:fld id="{63EB905B-62A7-498D-B695-EE0E1E83822A}" type="slidenum">
              <a:rPr lang="zh-CN" altLang="zh-CN"/>
              <a:pPr/>
              <a:t>‹#›</a:t>
            </a:fld>
            <a:endParaRPr lang="zh-CN" altLang="zh-CN"/>
          </a:p>
        </p:txBody>
      </p:sp>
    </p:spTree>
    <p:extLst>
      <p:ext uri="{BB962C8B-B14F-4D97-AF65-F5344CB8AC3E}">
        <p14:creationId xmlns:p14="http://schemas.microsoft.com/office/powerpoint/2010/main" val="2125542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23F564-1266-4871-B9FC-64D9835E2D2B}"/>
              </a:ext>
            </a:extLst>
          </p:cNvPr>
          <p:cNvSpPr>
            <a:spLocks noGrp="1"/>
          </p:cNvSpPr>
          <p:nvPr>
            <p:ph type="title"/>
          </p:nvPr>
        </p:nvSpPr>
        <p:spPr>
          <a:xfrm>
            <a:off x="630238" y="431800"/>
            <a:ext cx="2949575" cy="1512888"/>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D6F02F3-2DAA-433C-A013-8C30EFBF06BD}"/>
              </a:ext>
            </a:extLst>
          </p:cNvPr>
          <p:cNvSpPr>
            <a:spLocks noGrp="1"/>
          </p:cNvSpPr>
          <p:nvPr>
            <p:ph idx="1"/>
          </p:nvPr>
        </p:nvSpPr>
        <p:spPr>
          <a:xfrm>
            <a:off x="3887788" y="933450"/>
            <a:ext cx="4629150" cy="46053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9C781F3A-08BD-471F-8BFF-FC5836B9E862}"/>
              </a:ext>
            </a:extLst>
          </p:cNvPr>
          <p:cNvSpPr>
            <a:spLocks noGrp="1"/>
          </p:cNvSpPr>
          <p:nvPr>
            <p:ph type="body" sz="half" idx="2"/>
          </p:nvPr>
        </p:nvSpPr>
        <p:spPr>
          <a:xfrm>
            <a:off x="630238" y="1944688"/>
            <a:ext cx="2949575" cy="36004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E29C6C6D-0A1F-4D50-BFA3-458F400405B7}"/>
              </a:ext>
            </a:extLst>
          </p:cNvPr>
          <p:cNvSpPr>
            <a:spLocks noGrp="1"/>
          </p:cNvSpPr>
          <p:nvPr>
            <p:ph type="dt" sz="half" idx="10"/>
          </p:nvPr>
        </p:nvSpPr>
        <p:spPr/>
        <p:txBody>
          <a:bodyPr/>
          <a:lstStyle>
            <a:lvl1pPr>
              <a:defRPr/>
            </a:lvl1pPr>
          </a:lstStyle>
          <a:p>
            <a:endParaRPr lang="zh-CN" altLang="zh-CN"/>
          </a:p>
        </p:txBody>
      </p:sp>
      <p:sp>
        <p:nvSpPr>
          <p:cNvPr id="6" name="页脚占位符 5">
            <a:extLst>
              <a:ext uri="{FF2B5EF4-FFF2-40B4-BE49-F238E27FC236}">
                <a16:creationId xmlns:a16="http://schemas.microsoft.com/office/drawing/2014/main" id="{EE4DEABF-1D45-4ADF-8A1D-BDC9801BF0CF}"/>
              </a:ext>
            </a:extLst>
          </p:cNvPr>
          <p:cNvSpPr>
            <a:spLocks noGrp="1"/>
          </p:cNvSpPr>
          <p:nvPr>
            <p:ph type="ftr" sz="quarter" idx="11"/>
          </p:nvPr>
        </p:nvSpPr>
        <p:spPr/>
        <p:txBody>
          <a:bodyPr/>
          <a:lstStyle>
            <a:lvl1pPr>
              <a:defRPr/>
            </a:lvl1pPr>
          </a:lstStyle>
          <a:p>
            <a:endParaRPr lang="zh-CN" altLang="zh-CN"/>
          </a:p>
        </p:txBody>
      </p:sp>
      <p:sp>
        <p:nvSpPr>
          <p:cNvPr id="7" name="灯片编号占位符 6">
            <a:extLst>
              <a:ext uri="{FF2B5EF4-FFF2-40B4-BE49-F238E27FC236}">
                <a16:creationId xmlns:a16="http://schemas.microsoft.com/office/drawing/2014/main" id="{81F0B117-C377-49B4-B69B-5CFEC75EE8DA}"/>
              </a:ext>
            </a:extLst>
          </p:cNvPr>
          <p:cNvSpPr>
            <a:spLocks noGrp="1"/>
          </p:cNvSpPr>
          <p:nvPr>
            <p:ph type="sldNum" sz="quarter" idx="12"/>
          </p:nvPr>
        </p:nvSpPr>
        <p:spPr/>
        <p:txBody>
          <a:bodyPr/>
          <a:lstStyle>
            <a:lvl1pPr>
              <a:defRPr/>
            </a:lvl1pPr>
          </a:lstStyle>
          <a:p>
            <a:fld id="{CC30BCB2-17C6-4A7C-91C4-E1CBC1861909}" type="slidenum">
              <a:rPr lang="zh-CN" altLang="zh-CN"/>
              <a:pPr/>
              <a:t>‹#›</a:t>
            </a:fld>
            <a:endParaRPr lang="zh-CN" altLang="zh-CN"/>
          </a:p>
        </p:txBody>
      </p:sp>
    </p:spTree>
    <p:extLst>
      <p:ext uri="{BB962C8B-B14F-4D97-AF65-F5344CB8AC3E}">
        <p14:creationId xmlns:p14="http://schemas.microsoft.com/office/powerpoint/2010/main" val="1721528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3A0A39-D1F1-485B-A41F-7BFB8E09CF04}"/>
              </a:ext>
            </a:extLst>
          </p:cNvPr>
          <p:cNvSpPr>
            <a:spLocks noGrp="1"/>
          </p:cNvSpPr>
          <p:nvPr>
            <p:ph type="title"/>
          </p:nvPr>
        </p:nvSpPr>
        <p:spPr>
          <a:xfrm>
            <a:off x="630238" y="431800"/>
            <a:ext cx="2949575" cy="1512888"/>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F35893A-2D6F-4C93-B209-863D0E21ECA8}"/>
              </a:ext>
            </a:extLst>
          </p:cNvPr>
          <p:cNvSpPr>
            <a:spLocks noGrp="1"/>
          </p:cNvSpPr>
          <p:nvPr>
            <p:ph type="pic" idx="1"/>
          </p:nvPr>
        </p:nvSpPr>
        <p:spPr>
          <a:xfrm>
            <a:off x="3887788" y="933450"/>
            <a:ext cx="4629150" cy="4605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9FFD8F2-E03D-4F6D-A431-8356C56B9078}"/>
              </a:ext>
            </a:extLst>
          </p:cNvPr>
          <p:cNvSpPr>
            <a:spLocks noGrp="1"/>
          </p:cNvSpPr>
          <p:nvPr>
            <p:ph type="body" sz="half" idx="2"/>
          </p:nvPr>
        </p:nvSpPr>
        <p:spPr>
          <a:xfrm>
            <a:off x="630238" y="1944688"/>
            <a:ext cx="2949575" cy="36004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B9A78E8-712C-49E9-88A9-9B5740999D88}"/>
              </a:ext>
            </a:extLst>
          </p:cNvPr>
          <p:cNvSpPr>
            <a:spLocks noGrp="1"/>
          </p:cNvSpPr>
          <p:nvPr>
            <p:ph type="dt" sz="half" idx="10"/>
          </p:nvPr>
        </p:nvSpPr>
        <p:spPr/>
        <p:txBody>
          <a:bodyPr/>
          <a:lstStyle>
            <a:lvl1pPr>
              <a:defRPr/>
            </a:lvl1pPr>
          </a:lstStyle>
          <a:p>
            <a:endParaRPr lang="zh-CN" altLang="zh-CN"/>
          </a:p>
        </p:txBody>
      </p:sp>
      <p:sp>
        <p:nvSpPr>
          <p:cNvPr id="6" name="页脚占位符 5">
            <a:extLst>
              <a:ext uri="{FF2B5EF4-FFF2-40B4-BE49-F238E27FC236}">
                <a16:creationId xmlns:a16="http://schemas.microsoft.com/office/drawing/2014/main" id="{EEC1BFF8-7A09-442C-814F-3BE7895F26A6}"/>
              </a:ext>
            </a:extLst>
          </p:cNvPr>
          <p:cNvSpPr>
            <a:spLocks noGrp="1"/>
          </p:cNvSpPr>
          <p:nvPr>
            <p:ph type="ftr" sz="quarter" idx="11"/>
          </p:nvPr>
        </p:nvSpPr>
        <p:spPr/>
        <p:txBody>
          <a:bodyPr/>
          <a:lstStyle>
            <a:lvl1pPr>
              <a:defRPr/>
            </a:lvl1pPr>
          </a:lstStyle>
          <a:p>
            <a:endParaRPr lang="zh-CN" altLang="zh-CN"/>
          </a:p>
        </p:txBody>
      </p:sp>
      <p:sp>
        <p:nvSpPr>
          <p:cNvPr id="7" name="灯片编号占位符 6">
            <a:extLst>
              <a:ext uri="{FF2B5EF4-FFF2-40B4-BE49-F238E27FC236}">
                <a16:creationId xmlns:a16="http://schemas.microsoft.com/office/drawing/2014/main" id="{E413AA73-8122-478C-BEC9-1E66262F8EE1}"/>
              </a:ext>
            </a:extLst>
          </p:cNvPr>
          <p:cNvSpPr>
            <a:spLocks noGrp="1"/>
          </p:cNvSpPr>
          <p:nvPr>
            <p:ph type="sldNum" sz="quarter" idx="12"/>
          </p:nvPr>
        </p:nvSpPr>
        <p:spPr/>
        <p:txBody>
          <a:bodyPr/>
          <a:lstStyle>
            <a:lvl1pPr>
              <a:defRPr/>
            </a:lvl1pPr>
          </a:lstStyle>
          <a:p>
            <a:fld id="{696F9AF3-53A7-49E2-BAB1-6977649950CE}" type="slidenum">
              <a:rPr lang="zh-CN" altLang="zh-CN"/>
              <a:pPr/>
              <a:t>‹#›</a:t>
            </a:fld>
            <a:endParaRPr lang="zh-CN" altLang="zh-CN"/>
          </a:p>
        </p:txBody>
      </p:sp>
    </p:spTree>
    <p:extLst>
      <p:ext uri="{BB962C8B-B14F-4D97-AF65-F5344CB8AC3E}">
        <p14:creationId xmlns:p14="http://schemas.microsoft.com/office/powerpoint/2010/main" val="751451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9E3C01-8AF7-4F6F-ADE1-2FB14CF42E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6AD06CA-D210-4E02-AC87-5BD1EB82CF44}"/>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449FA09-20A1-4E7E-8A54-3DB7E57763BD}"/>
              </a:ext>
            </a:extLst>
          </p:cNvPr>
          <p:cNvSpPr>
            <a:spLocks noGrp="1"/>
          </p:cNvSpPr>
          <p:nvPr>
            <p:ph type="dt" sz="half" idx="10"/>
          </p:nvPr>
        </p:nvSpPr>
        <p:spPr/>
        <p:txBody>
          <a:bodyPr/>
          <a:lstStyle>
            <a:lvl1pPr>
              <a:defRPr/>
            </a:lvl1pPr>
          </a:lstStyle>
          <a:p>
            <a:endParaRPr lang="zh-CN" altLang="zh-CN"/>
          </a:p>
        </p:txBody>
      </p:sp>
      <p:sp>
        <p:nvSpPr>
          <p:cNvPr id="5" name="页脚占位符 4">
            <a:extLst>
              <a:ext uri="{FF2B5EF4-FFF2-40B4-BE49-F238E27FC236}">
                <a16:creationId xmlns:a16="http://schemas.microsoft.com/office/drawing/2014/main" id="{38011B75-0251-4624-A588-DE431B2618F8}"/>
              </a:ext>
            </a:extLst>
          </p:cNvPr>
          <p:cNvSpPr>
            <a:spLocks noGrp="1"/>
          </p:cNvSpPr>
          <p:nvPr>
            <p:ph type="ftr" sz="quarter" idx="11"/>
          </p:nvPr>
        </p:nvSpPr>
        <p:spPr/>
        <p:txBody>
          <a:bodyPr/>
          <a:lstStyle>
            <a:lvl1pPr>
              <a:defRPr/>
            </a:lvl1pPr>
          </a:lstStyle>
          <a:p>
            <a:endParaRPr lang="zh-CN" altLang="zh-CN"/>
          </a:p>
        </p:txBody>
      </p:sp>
      <p:sp>
        <p:nvSpPr>
          <p:cNvPr id="6" name="灯片编号占位符 5">
            <a:extLst>
              <a:ext uri="{FF2B5EF4-FFF2-40B4-BE49-F238E27FC236}">
                <a16:creationId xmlns:a16="http://schemas.microsoft.com/office/drawing/2014/main" id="{ACB17106-25A1-4B68-8DA3-1B0EDFE2DBF9}"/>
              </a:ext>
            </a:extLst>
          </p:cNvPr>
          <p:cNvSpPr>
            <a:spLocks noGrp="1"/>
          </p:cNvSpPr>
          <p:nvPr>
            <p:ph type="sldNum" sz="quarter" idx="12"/>
          </p:nvPr>
        </p:nvSpPr>
        <p:spPr/>
        <p:txBody>
          <a:bodyPr/>
          <a:lstStyle>
            <a:lvl1pPr>
              <a:defRPr/>
            </a:lvl1pPr>
          </a:lstStyle>
          <a:p>
            <a:fld id="{4CC5A8D8-6358-46DC-AB30-1859528FD2C9}" type="slidenum">
              <a:rPr lang="zh-CN" altLang="zh-CN"/>
              <a:pPr/>
              <a:t>‹#›</a:t>
            </a:fld>
            <a:endParaRPr lang="zh-CN" altLang="zh-CN"/>
          </a:p>
        </p:txBody>
      </p:sp>
    </p:spTree>
    <p:extLst>
      <p:ext uri="{BB962C8B-B14F-4D97-AF65-F5344CB8AC3E}">
        <p14:creationId xmlns:p14="http://schemas.microsoft.com/office/powerpoint/2010/main" val="1693717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37E8E97-C7D6-44C9-926F-E136DCE9E0EC}"/>
              </a:ext>
            </a:extLst>
          </p:cNvPr>
          <p:cNvSpPr>
            <a:spLocks noGrp="1"/>
          </p:cNvSpPr>
          <p:nvPr>
            <p:ph type="title" orient="vert"/>
          </p:nvPr>
        </p:nvSpPr>
        <p:spPr>
          <a:xfrm>
            <a:off x="6629400" y="260350"/>
            <a:ext cx="2057400" cy="552767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5E1A4C0-7B9A-4BB0-90C4-80F34DD65A2A}"/>
              </a:ext>
            </a:extLst>
          </p:cNvPr>
          <p:cNvSpPr>
            <a:spLocks noGrp="1"/>
          </p:cNvSpPr>
          <p:nvPr>
            <p:ph type="body" orient="vert" idx="1"/>
          </p:nvPr>
        </p:nvSpPr>
        <p:spPr>
          <a:xfrm>
            <a:off x="457200" y="260350"/>
            <a:ext cx="6019800" cy="552767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DF7012D-7C44-4045-8085-2E8C0AAC8F6D}"/>
              </a:ext>
            </a:extLst>
          </p:cNvPr>
          <p:cNvSpPr>
            <a:spLocks noGrp="1"/>
          </p:cNvSpPr>
          <p:nvPr>
            <p:ph type="dt" sz="half" idx="10"/>
          </p:nvPr>
        </p:nvSpPr>
        <p:spPr/>
        <p:txBody>
          <a:bodyPr/>
          <a:lstStyle>
            <a:lvl1pPr>
              <a:defRPr/>
            </a:lvl1pPr>
          </a:lstStyle>
          <a:p>
            <a:endParaRPr lang="zh-CN" altLang="zh-CN"/>
          </a:p>
        </p:txBody>
      </p:sp>
      <p:sp>
        <p:nvSpPr>
          <p:cNvPr id="5" name="页脚占位符 4">
            <a:extLst>
              <a:ext uri="{FF2B5EF4-FFF2-40B4-BE49-F238E27FC236}">
                <a16:creationId xmlns:a16="http://schemas.microsoft.com/office/drawing/2014/main" id="{A35C3448-2CDB-416B-B41C-14E0B3C8FA31}"/>
              </a:ext>
            </a:extLst>
          </p:cNvPr>
          <p:cNvSpPr>
            <a:spLocks noGrp="1"/>
          </p:cNvSpPr>
          <p:nvPr>
            <p:ph type="ftr" sz="quarter" idx="11"/>
          </p:nvPr>
        </p:nvSpPr>
        <p:spPr/>
        <p:txBody>
          <a:bodyPr/>
          <a:lstStyle>
            <a:lvl1pPr>
              <a:defRPr/>
            </a:lvl1pPr>
          </a:lstStyle>
          <a:p>
            <a:endParaRPr lang="zh-CN" altLang="zh-CN"/>
          </a:p>
        </p:txBody>
      </p:sp>
      <p:sp>
        <p:nvSpPr>
          <p:cNvPr id="6" name="灯片编号占位符 5">
            <a:extLst>
              <a:ext uri="{FF2B5EF4-FFF2-40B4-BE49-F238E27FC236}">
                <a16:creationId xmlns:a16="http://schemas.microsoft.com/office/drawing/2014/main" id="{11AD499A-3527-4BBA-9D8A-CF393BA2684A}"/>
              </a:ext>
            </a:extLst>
          </p:cNvPr>
          <p:cNvSpPr>
            <a:spLocks noGrp="1"/>
          </p:cNvSpPr>
          <p:nvPr>
            <p:ph type="sldNum" sz="quarter" idx="12"/>
          </p:nvPr>
        </p:nvSpPr>
        <p:spPr/>
        <p:txBody>
          <a:bodyPr/>
          <a:lstStyle>
            <a:lvl1pPr>
              <a:defRPr/>
            </a:lvl1pPr>
          </a:lstStyle>
          <a:p>
            <a:fld id="{EFC95462-0307-477C-8065-F60E7197D778}" type="slidenum">
              <a:rPr lang="zh-CN" altLang="zh-CN"/>
              <a:pPr/>
              <a:t>‹#›</a:t>
            </a:fld>
            <a:endParaRPr lang="zh-CN" altLang="zh-CN"/>
          </a:p>
        </p:txBody>
      </p:sp>
    </p:spTree>
    <p:extLst>
      <p:ext uri="{BB962C8B-B14F-4D97-AF65-F5344CB8AC3E}">
        <p14:creationId xmlns:p14="http://schemas.microsoft.com/office/powerpoint/2010/main" val="18617574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EAD977-8C8A-492E-B6F2-3F67B520F0A2}"/>
              </a:ext>
            </a:extLst>
          </p:cNvPr>
          <p:cNvSpPr>
            <a:spLocks noGrp="1"/>
          </p:cNvSpPr>
          <p:nvPr>
            <p:ph type="title"/>
          </p:nvPr>
        </p:nvSpPr>
        <p:spPr>
          <a:xfrm>
            <a:off x="1143000" y="144004"/>
            <a:ext cx="7772400" cy="1008027"/>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7C3D736-8342-4D8D-8DF1-B4130DF080A6}"/>
              </a:ext>
            </a:extLst>
          </p:cNvPr>
          <p:cNvSpPr>
            <a:spLocks noGrp="1"/>
          </p:cNvSpPr>
          <p:nvPr>
            <p:ph type="body" sz="half" idx="1"/>
          </p:nvPr>
        </p:nvSpPr>
        <p:spPr>
          <a:xfrm>
            <a:off x="1143000" y="1512041"/>
            <a:ext cx="3810000" cy="252006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C8BD666F-352D-41CC-87D9-0CED21144DF0}"/>
              </a:ext>
            </a:extLst>
          </p:cNvPr>
          <p:cNvSpPr>
            <a:spLocks noGrp="1"/>
          </p:cNvSpPr>
          <p:nvPr>
            <p:ph sz="half" idx="2"/>
          </p:nvPr>
        </p:nvSpPr>
        <p:spPr>
          <a:xfrm>
            <a:off x="5105400" y="1512041"/>
            <a:ext cx="3810000" cy="252006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545ABB5B-B3D2-4AAD-A54B-F9CD5AA051B2}"/>
              </a:ext>
            </a:extLst>
          </p:cNvPr>
          <p:cNvSpPr>
            <a:spLocks noGrp="1"/>
          </p:cNvSpPr>
          <p:nvPr>
            <p:ph type="dt" sz="half" idx="10"/>
          </p:nvPr>
        </p:nvSpPr>
        <p:spPr>
          <a:xfrm>
            <a:off x="685800" y="5976161"/>
            <a:ext cx="1905000" cy="432012"/>
          </a:xfrm>
        </p:spPr>
        <p:txBody>
          <a:bodyPr/>
          <a:lstStyle>
            <a:lvl1pPr>
              <a:defRPr/>
            </a:lvl1pPr>
          </a:lstStyle>
          <a:p>
            <a:endParaRPr lang="en-US" altLang="ko-KR"/>
          </a:p>
        </p:txBody>
      </p:sp>
      <p:sp>
        <p:nvSpPr>
          <p:cNvPr id="6" name="页脚占位符 5">
            <a:extLst>
              <a:ext uri="{FF2B5EF4-FFF2-40B4-BE49-F238E27FC236}">
                <a16:creationId xmlns:a16="http://schemas.microsoft.com/office/drawing/2014/main" id="{7B71B991-D495-4BCF-B1EE-BDF6EBC12BF5}"/>
              </a:ext>
            </a:extLst>
          </p:cNvPr>
          <p:cNvSpPr>
            <a:spLocks noGrp="1"/>
          </p:cNvSpPr>
          <p:nvPr>
            <p:ph type="ftr" sz="quarter" idx="11"/>
          </p:nvPr>
        </p:nvSpPr>
        <p:spPr>
          <a:xfrm>
            <a:off x="3124200" y="5976161"/>
            <a:ext cx="2895600" cy="432012"/>
          </a:xfrm>
        </p:spPr>
        <p:txBody>
          <a:bodyPr/>
          <a:lstStyle>
            <a:lvl1pPr>
              <a:defRPr/>
            </a:lvl1pPr>
          </a:lstStyle>
          <a:p>
            <a:endParaRPr lang="en-US" altLang="ko-KR"/>
          </a:p>
        </p:txBody>
      </p:sp>
      <p:sp>
        <p:nvSpPr>
          <p:cNvPr id="7" name="灯片编号占位符 6">
            <a:extLst>
              <a:ext uri="{FF2B5EF4-FFF2-40B4-BE49-F238E27FC236}">
                <a16:creationId xmlns:a16="http://schemas.microsoft.com/office/drawing/2014/main" id="{D9FED164-02E8-42F4-9C4F-6E1DF6C4CB2B}"/>
              </a:ext>
            </a:extLst>
          </p:cNvPr>
          <p:cNvSpPr>
            <a:spLocks noGrp="1"/>
          </p:cNvSpPr>
          <p:nvPr>
            <p:ph type="sldNum" sz="quarter" idx="12"/>
          </p:nvPr>
        </p:nvSpPr>
        <p:spPr>
          <a:xfrm>
            <a:off x="7092950" y="6048163"/>
            <a:ext cx="1905000" cy="432012"/>
          </a:xfrm>
        </p:spPr>
        <p:txBody>
          <a:bodyPr/>
          <a:lstStyle>
            <a:lvl1pPr>
              <a:defRPr/>
            </a:lvl1pPr>
          </a:lstStyle>
          <a:p>
            <a:fld id="{F54BE438-BC69-4DF5-9314-8326E680D9E7}" type="slidenum">
              <a:rPr lang="en-US" altLang="ko-KR"/>
              <a:pPr/>
              <a:t>‹#›</a:t>
            </a:fld>
            <a:endParaRPr lang="en-US" altLang="ko-KR"/>
          </a:p>
        </p:txBody>
      </p:sp>
    </p:spTree>
    <p:extLst>
      <p:ext uri="{BB962C8B-B14F-4D97-AF65-F5344CB8AC3E}">
        <p14:creationId xmlns:p14="http://schemas.microsoft.com/office/powerpoint/2010/main" val="921540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4303015-A0E7-4440-A8E2-E5BD15E37318}"/>
              </a:ext>
            </a:extLst>
          </p:cNvPr>
          <p:cNvSpPr>
            <a:spLocks noGrp="1"/>
          </p:cNvSpPr>
          <p:nvPr>
            <p:ph/>
          </p:nvPr>
        </p:nvSpPr>
        <p:spPr>
          <a:xfrm>
            <a:off x="1143000" y="144004"/>
            <a:ext cx="7772400" cy="388810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a:extLst>
              <a:ext uri="{FF2B5EF4-FFF2-40B4-BE49-F238E27FC236}">
                <a16:creationId xmlns:a16="http://schemas.microsoft.com/office/drawing/2014/main" id="{E4882DB9-866E-4848-9F5D-6A5A026F8296}"/>
              </a:ext>
            </a:extLst>
          </p:cNvPr>
          <p:cNvSpPr>
            <a:spLocks noGrp="1"/>
          </p:cNvSpPr>
          <p:nvPr>
            <p:ph type="dt" sz="half" idx="10"/>
          </p:nvPr>
        </p:nvSpPr>
        <p:spPr>
          <a:xfrm>
            <a:off x="685800" y="5976161"/>
            <a:ext cx="1905000" cy="432012"/>
          </a:xfrm>
        </p:spPr>
        <p:txBody>
          <a:bodyPr/>
          <a:lstStyle>
            <a:lvl1pPr>
              <a:defRPr/>
            </a:lvl1pPr>
          </a:lstStyle>
          <a:p>
            <a:endParaRPr lang="en-US" altLang="ko-KR"/>
          </a:p>
        </p:txBody>
      </p:sp>
      <p:sp>
        <p:nvSpPr>
          <p:cNvPr id="4" name="页脚占位符 3">
            <a:extLst>
              <a:ext uri="{FF2B5EF4-FFF2-40B4-BE49-F238E27FC236}">
                <a16:creationId xmlns:a16="http://schemas.microsoft.com/office/drawing/2014/main" id="{1FFD5002-65E7-4FEE-B27D-F1C956B46409}"/>
              </a:ext>
            </a:extLst>
          </p:cNvPr>
          <p:cNvSpPr>
            <a:spLocks noGrp="1"/>
          </p:cNvSpPr>
          <p:nvPr>
            <p:ph type="ftr" sz="quarter" idx="11"/>
          </p:nvPr>
        </p:nvSpPr>
        <p:spPr>
          <a:xfrm>
            <a:off x="3124200" y="5976161"/>
            <a:ext cx="2895600" cy="432012"/>
          </a:xfrm>
        </p:spPr>
        <p:txBody>
          <a:bodyPr/>
          <a:lstStyle>
            <a:lvl1pPr>
              <a:defRPr/>
            </a:lvl1pPr>
          </a:lstStyle>
          <a:p>
            <a:endParaRPr lang="en-US" altLang="ko-KR"/>
          </a:p>
        </p:txBody>
      </p:sp>
      <p:sp>
        <p:nvSpPr>
          <p:cNvPr id="5" name="灯片编号占位符 4">
            <a:extLst>
              <a:ext uri="{FF2B5EF4-FFF2-40B4-BE49-F238E27FC236}">
                <a16:creationId xmlns:a16="http://schemas.microsoft.com/office/drawing/2014/main" id="{ADF4B3C3-DD69-4536-8E0E-B61CFBFE3BD0}"/>
              </a:ext>
            </a:extLst>
          </p:cNvPr>
          <p:cNvSpPr>
            <a:spLocks noGrp="1"/>
          </p:cNvSpPr>
          <p:nvPr>
            <p:ph type="sldNum" sz="quarter" idx="12"/>
          </p:nvPr>
        </p:nvSpPr>
        <p:spPr>
          <a:xfrm>
            <a:off x="7092950" y="6048163"/>
            <a:ext cx="1905000" cy="432012"/>
          </a:xfrm>
        </p:spPr>
        <p:txBody>
          <a:bodyPr/>
          <a:lstStyle>
            <a:lvl1pPr>
              <a:defRPr/>
            </a:lvl1pPr>
          </a:lstStyle>
          <a:p>
            <a:fld id="{DFE73232-6726-4228-AE0F-85F98E670971}" type="slidenum">
              <a:rPr lang="en-US" altLang="ko-KR"/>
              <a:pPr/>
              <a:t>‹#›</a:t>
            </a:fld>
            <a:endParaRPr lang="en-US" altLang="ko-KR"/>
          </a:p>
        </p:txBody>
      </p:sp>
    </p:spTree>
    <p:extLst>
      <p:ext uri="{BB962C8B-B14F-4D97-AF65-F5344CB8AC3E}">
        <p14:creationId xmlns:p14="http://schemas.microsoft.com/office/powerpoint/2010/main" val="1293403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DDF04AB-6CD5-4370-A11F-5993BE7B3285}"/>
              </a:ext>
            </a:extLst>
          </p:cNvPr>
          <p:cNvSpPr>
            <a:spLocks noGrp="1" noChangeArrowheads="1"/>
          </p:cNvSpPr>
          <p:nvPr>
            <p:ph type="title"/>
          </p:nvPr>
        </p:nvSpPr>
        <p:spPr bwMode="auto">
          <a:xfrm>
            <a:off x="457200" y="260350"/>
            <a:ext cx="8229600"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27" name="Rectangle 3">
            <a:extLst>
              <a:ext uri="{FF2B5EF4-FFF2-40B4-BE49-F238E27FC236}">
                <a16:creationId xmlns:a16="http://schemas.microsoft.com/office/drawing/2014/main" id="{09970A27-DFFE-4F35-93A4-4BE4EA229A90}"/>
              </a:ext>
            </a:extLst>
          </p:cNvPr>
          <p:cNvSpPr>
            <a:spLocks noGrp="1" noChangeArrowheads="1"/>
          </p:cNvSpPr>
          <p:nvPr>
            <p:ph type="body" idx="1"/>
          </p:nvPr>
        </p:nvSpPr>
        <p:spPr bwMode="auto">
          <a:xfrm>
            <a:off x="457200" y="1511300"/>
            <a:ext cx="8229600" cy="427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a:extLst>
              <a:ext uri="{FF2B5EF4-FFF2-40B4-BE49-F238E27FC236}">
                <a16:creationId xmlns:a16="http://schemas.microsoft.com/office/drawing/2014/main" id="{830F7047-ED32-4D10-8204-9BC22504885E}"/>
              </a:ext>
            </a:extLst>
          </p:cNvPr>
          <p:cNvSpPr>
            <a:spLocks noGrp="1" noChangeArrowheads="1"/>
          </p:cNvSpPr>
          <p:nvPr>
            <p:ph type="dt" sz="half" idx="2"/>
          </p:nvPr>
        </p:nvSpPr>
        <p:spPr bwMode="auto">
          <a:xfrm>
            <a:off x="457200" y="5900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zh-CN" altLang="zh-CN"/>
          </a:p>
        </p:txBody>
      </p:sp>
      <p:sp>
        <p:nvSpPr>
          <p:cNvPr id="1029" name="Rectangle 5">
            <a:extLst>
              <a:ext uri="{FF2B5EF4-FFF2-40B4-BE49-F238E27FC236}">
                <a16:creationId xmlns:a16="http://schemas.microsoft.com/office/drawing/2014/main" id="{D2C295D0-C3A9-4A7D-8F2F-88BDFE89E636}"/>
              </a:ext>
            </a:extLst>
          </p:cNvPr>
          <p:cNvSpPr>
            <a:spLocks noGrp="1" noChangeArrowheads="1"/>
          </p:cNvSpPr>
          <p:nvPr>
            <p:ph type="ftr" sz="quarter" idx="3"/>
          </p:nvPr>
        </p:nvSpPr>
        <p:spPr bwMode="auto">
          <a:xfrm>
            <a:off x="3124200" y="5900738"/>
            <a:ext cx="2895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zh-CN" altLang="zh-CN"/>
          </a:p>
        </p:txBody>
      </p:sp>
      <p:sp>
        <p:nvSpPr>
          <p:cNvPr id="1030" name="Rectangle 6">
            <a:extLst>
              <a:ext uri="{FF2B5EF4-FFF2-40B4-BE49-F238E27FC236}">
                <a16:creationId xmlns:a16="http://schemas.microsoft.com/office/drawing/2014/main" id="{4851D89C-C22D-4630-BBAB-4DFF88302F7C}"/>
              </a:ext>
            </a:extLst>
          </p:cNvPr>
          <p:cNvSpPr>
            <a:spLocks noGrp="1" noChangeArrowheads="1"/>
          </p:cNvSpPr>
          <p:nvPr>
            <p:ph type="sldNum" sz="quarter" idx="4"/>
          </p:nvPr>
        </p:nvSpPr>
        <p:spPr bwMode="auto">
          <a:xfrm>
            <a:off x="6553200" y="5900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A05305CE-8496-45D4-9996-83E6164A69E9}" type="slidenum">
              <a:rPr lang="zh-CN" altLang="zh-CN"/>
              <a:pPr/>
              <a:t>‹#›</a:t>
            </a:fld>
            <a:endParaRPr lang="zh-CN" altLang="zh-CN"/>
          </a:p>
        </p:txBody>
      </p:sp>
      <p:pic>
        <p:nvPicPr>
          <p:cNvPr id="1031" name="Picture 7" descr="065B26PPT模板">
            <a:extLst>
              <a:ext uri="{FF2B5EF4-FFF2-40B4-BE49-F238E27FC236}">
                <a16:creationId xmlns:a16="http://schemas.microsoft.com/office/drawing/2014/main" id="{F248058E-2DE2-461E-83B1-3B0B5F69669E}"/>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34925" y="0"/>
            <a:ext cx="9272588" cy="655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png"/><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4.bin"/><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2.xml"/><Relationship Id="rId1" Type="http://schemas.openxmlformats.org/officeDocument/2006/relationships/vmlDrawing" Target="../drawings/vmlDrawing5.vml"/><Relationship Id="rId5" Type="http://schemas.openxmlformats.org/officeDocument/2006/relationships/image" Target="../media/image3.e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2.png"/><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8.png"/><Relationship Id="rId4" Type="http://schemas.openxmlformats.org/officeDocument/2006/relationships/image" Target="../media/image5.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0.png"/><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7.emf"/><Relationship Id="rId4"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7.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8.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9.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1.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12.emf"/></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14.emf"/><Relationship Id="rId5" Type="http://schemas.openxmlformats.org/officeDocument/2006/relationships/oleObject" Target="../embeddings/oleObject18.bin"/><Relationship Id="rId4" Type="http://schemas.openxmlformats.org/officeDocument/2006/relationships/image" Target="../media/image13.emf"/></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15.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16.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17.emf"/></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18.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51.png"/><Relationship Id="rId4" Type="http://schemas.openxmlformats.org/officeDocument/2006/relationships/image" Target="../media/image19.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20.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21.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22.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6.vml"/><Relationship Id="rId5" Type="http://schemas.openxmlformats.org/officeDocument/2006/relationships/image" Target="../media/image25.png"/><Relationship Id="rId4" Type="http://schemas.openxmlformats.org/officeDocument/2006/relationships/image" Target="../media/image23.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27.vml"/><Relationship Id="rId5" Type="http://schemas.openxmlformats.org/officeDocument/2006/relationships/image" Target="../media/image27.png"/><Relationship Id="rId4" Type="http://schemas.openxmlformats.org/officeDocument/2006/relationships/image" Target="../media/image24.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25.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3.xml"/><Relationship Id="rId1" Type="http://schemas.openxmlformats.org/officeDocument/2006/relationships/vmlDrawing" Target="../drawings/vmlDrawing29.vml"/><Relationship Id="rId5" Type="http://schemas.openxmlformats.org/officeDocument/2006/relationships/oleObject" Target="../embeddings/oleObject31.bin"/><Relationship Id="rId4" Type="http://schemas.openxmlformats.org/officeDocument/2006/relationships/image" Target="../media/image26.emf"/></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27.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31.vml"/><Relationship Id="rId5" Type="http://schemas.openxmlformats.org/officeDocument/2006/relationships/oleObject" Target="../embeddings/oleObject34.bin"/><Relationship Id="rId4" Type="http://schemas.openxmlformats.org/officeDocument/2006/relationships/image" Target="../media/image28.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29.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image" Target="../media/image30.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42.png"/><Relationship Id="rId5" Type="http://schemas.openxmlformats.org/officeDocument/2006/relationships/image" Target="../media/image38.png"/><Relationship Id="rId4" Type="http://schemas.openxmlformats.org/officeDocument/2006/relationships/image" Target="../media/image31.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35.vml"/><Relationship Id="rId4" Type="http://schemas.openxmlformats.org/officeDocument/2006/relationships/image" Target="../media/image32.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36.vml"/><Relationship Id="rId4" Type="http://schemas.openxmlformats.org/officeDocument/2006/relationships/image" Target="../media/image33.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image" Target="../media/image35.emf"/><Relationship Id="rId5" Type="http://schemas.openxmlformats.org/officeDocument/2006/relationships/oleObject" Target="../embeddings/oleObject41.bin"/><Relationship Id="rId4" Type="http://schemas.openxmlformats.org/officeDocument/2006/relationships/image" Target="../media/image34.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38.vml"/><Relationship Id="rId4" Type="http://schemas.openxmlformats.org/officeDocument/2006/relationships/image" Target="../media/image36.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39.vml"/><Relationship Id="rId4" Type="http://schemas.openxmlformats.org/officeDocument/2006/relationships/image" Target="../media/image37.emf"/></Relationships>
</file>

<file path=ppt/slides/_rels/slide5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39.emf"/><Relationship Id="rId5" Type="http://schemas.openxmlformats.org/officeDocument/2006/relationships/oleObject" Target="../embeddings/oleObject45.bin"/><Relationship Id="rId4" Type="http://schemas.openxmlformats.org/officeDocument/2006/relationships/image" Target="../media/image38.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41.vml"/><Relationship Id="rId4" Type="http://schemas.openxmlformats.org/officeDocument/2006/relationships/image" Target="../media/image4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6EFD195-AA74-4A67-A845-2BE0AA9CD84F}"/>
              </a:ext>
            </a:extLst>
          </p:cNvPr>
          <p:cNvSpPr>
            <a:spLocks noGrp="1" noChangeArrowheads="1"/>
          </p:cNvSpPr>
          <p:nvPr>
            <p:ph type="ctrTitle"/>
          </p:nvPr>
        </p:nvSpPr>
        <p:spPr>
          <a:xfrm>
            <a:off x="685800" y="2012950"/>
            <a:ext cx="7772400" cy="1389063"/>
          </a:xfrm>
        </p:spPr>
        <p:txBody>
          <a:bodyPr anchor="ctr"/>
          <a:lstStyle/>
          <a:p>
            <a:r>
              <a:rPr lang="zh-CN" altLang="en-US" sz="3200" dirty="0">
                <a:latin typeface="微软雅黑" panose="020B0503020204020204" pitchFamily="34" charset="-122"/>
                <a:ea typeface="微软雅黑" panose="020B0503020204020204" pitchFamily="34" charset="-122"/>
              </a:rPr>
              <a:t>第二章</a:t>
            </a:r>
            <a:br>
              <a:rPr lang="en-US" altLang="zh-CN" sz="3200" dirty="0">
                <a:latin typeface="微软雅黑" panose="020B0503020204020204" pitchFamily="34" charset="-122"/>
                <a:ea typeface="微软雅黑" panose="020B0503020204020204" pitchFamily="34" charset="-122"/>
              </a:rPr>
            </a:br>
            <a:br>
              <a:rPr lang="en-US" altLang="zh-CN" sz="3200" dirty="0">
                <a:latin typeface="微软雅黑" panose="020B0503020204020204" pitchFamily="34" charset="-122"/>
                <a:ea typeface="微软雅黑" panose="020B0503020204020204" pitchFamily="34" charset="-122"/>
              </a:rPr>
            </a:br>
            <a:r>
              <a:rPr lang="zh-CN" altLang="en-US" sz="3200" dirty="0">
                <a:latin typeface="微软雅黑" panose="020B0503020204020204" pitchFamily="34" charset="-122"/>
                <a:ea typeface="微软雅黑" panose="020B0503020204020204" pitchFamily="34" charset="-122"/>
              </a:rPr>
              <a:t>电感耦合方式的射频前端</a:t>
            </a:r>
            <a:br>
              <a:rPr lang="zh-CN" altLang="zh-CN" sz="3200" dirty="0">
                <a:latin typeface="微软雅黑" panose="020B0503020204020204" pitchFamily="34" charset="-122"/>
                <a:ea typeface="微软雅黑" panose="020B0503020204020204" pitchFamily="34" charset="-122"/>
              </a:rPr>
            </a:br>
            <a:endParaRPr lang="zh-CN" altLang="zh-CN" sz="3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90563DB8-972C-4576-9702-F82B8C080186}"/>
              </a:ext>
            </a:extLst>
          </p:cNvPr>
          <p:cNvSpPr>
            <a:spLocks noGrp="1"/>
          </p:cNvSpPr>
          <p:nvPr>
            <p:ph type="sldNum" sz="quarter" idx="12"/>
          </p:nvPr>
        </p:nvSpPr>
        <p:spPr/>
        <p:txBody>
          <a:bodyPr/>
          <a:lstStyle/>
          <a:p>
            <a:fld id="{FF757BAC-EB1D-4FAF-BCC8-F31524651341}" type="slidenum">
              <a:rPr lang="en-US" altLang="ko-KR"/>
              <a:pPr/>
              <a:t>2</a:t>
            </a:fld>
            <a:endParaRPr lang="en-US" altLang="ko-KR"/>
          </a:p>
        </p:txBody>
      </p:sp>
      <p:sp>
        <p:nvSpPr>
          <p:cNvPr id="6146" name="Rectangle 2">
            <a:extLst>
              <a:ext uri="{FF2B5EF4-FFF2-40B4-BE49-F238E27FC236}">
                <a16:creationId xmlns:a16="http://schemas.microsoft.com/office/drawing/2014/main" id="{8874BFA5-48A6-4DAD-AB8E-29FCD3D27BF5}"/>
              </a:ext>
            </a:extLst>
          </p:cNvPr>
          <p:cNvSpPr>
            <a:spLocks noGrp="1" noChangeArrowheads="1"/>
          </p:cNvSpPr>
          <p:nvPr>
            <p:ph type="title"/>
          </p:nvPr>
        </p:nvSpPr>
        <p:spPr>
          <a:xfrm>
            <a:off x="440254" y="740777"/>
            <a:ext cx="8229600" cy="504056"/>
          </a:xfrm>
        </p:spPr>
        <p:txBody>
          <a:bodyPr/>
          <a:lstStyle/>
          <a:p>
            <a:r>
              <a:rPr lang="en-US" altLang="zh-CN" sz="3200" b="1" dirty="0">
                <a:latin typeface="微软雅黑" panose="020B0503020204020204" pitchFamily="34" charset="-122"/>
                <a:ea typeface="微软雅黑" panose="020B0503020204020204" pitchFamily="34" charset="-122"/>
              </a:rPr>
              <a:t>2</a:t>
            </a:r>
            <a:r>
              <a:rPr lang="zh-CN" altLang="en-US" sz="3200" b="1" dirty="0">
                <a:latin typeface="微软雅黑" panose="020B0503020204020204" pitchFamily="34" charset="-122"/>
                <a:ea typeface="微软雅黑" panose="020B0503020204020204" pitchFamily="34" charset="-122"/>
              </a:rPr>
              <a:t> 电感耦合方式的射频前端</a:t>
            </a:r>
            <a:r>
              <a:rPr lang="zh-CN" altLang="en-US" sz="3200" dirty="0">
                <a:latin typeface="微软雅黑" panose="020B0503020204020204" pitchFamily="34" charset="-122"/>
                <a:ea typeface="微软雅黑" panose="020B0503020204020204" pitchFamily="34" charset="-122"/>
              </a:rPr>
              <a:t> </a:t>
            </a:r>
          </a:p>
        </p:txBody>
      </p:sp>
      <p:sp>
        <p:nvSpPr>
          <p:cNvPr id="6147" name="Rectangle 3">
            <a:extLst>
              <a:ext uri="{FF2B5EF4-FFF2-40B4-BE49-F238E27FC236}">
                <a16:creationId xmlns:a16="http://schemas.microsoft.com/office/drawing/2014/main" id="{E39F3466-439A-4448-96BF-CB7D7E4419D8}"/>
              </a:ext>
            </a:extLst>
          </p:cNvPr>
          <p:cNvSpPr>
            <a:spLocks noGrp="1" noChangeArrowheads="1"/>
          </p:cNvSpPr>
          <p:nvPr>
            <p:ph type="body" idx="1"/>
          </p:nvPr>
        </p:nvSpPr>
        <p:spPr>
          <a:xfrm>
            <a:off x="879721" y="1455588"/>
            <a:ext cx="7344198" cy="4664819"/>
          </a:xfrm>
        </p:spPr>
        <p:txBody>
          <a:bodyPr/>
          <a:lstStyle/>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射频</a:t>
            </a: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识别技术工作频率在</a:t>
            </a:r>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13.56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MHz</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和小于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135 kHz</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时，基于</a:t>
            </a:r>
            <a:r>
              <a:rPr lang="zh-CN" altLang="en-US" sz="2000" u="sng" dirty="0">
                <a:latin typeface="Times New Roman" panose="02020603050405020304" pitchFamily="18" charset="0"/>
                <a:ea typeface="微软雅黑" panose="020B0503020204020204" pitchFamily="34" charset="-122"/>
                <a:cs typeface="Times New Roman" panose="02020603050405020304" pitchFamily="18" charset="0"/>
              </a:rPr>
              <a:t>电感耦合</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方式（能量及信息传递以电感耦合方式实现），在更高频段基于雷达探测目标的</a:t>
            </a:r>
            <a:r>
              <a:rPr lang="zh-CN" altLang="en-US" sz="2000" u="sng" dirty="0">
                <a:latin typeface="Times New Roman" panose="02020603050405020304" pitchFamily="18" charset="0"/>
                <a:ea typeface="微软雅黑" panose="020B0503020204020204" pitchFamily="34" charset="-122"/>
                <a:cs typeface="Times New Roman" panose="02020603050405020304" pitchFamily="18" charset="0"/>
              </a:rPr>
              <a:t>反向散射耦合</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方式（雷达发射电磁波信号碰到目标后携带目标信息返回雷达接收机）。</a:t>
            </a:r>
          </a:p>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电感耦合方式的基础是电感电容（</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）谐振回路及电感线圈产生的交变磁场，它是射频卡工作的基本原理。基于雷达探测目标的反向散射耦合方式的基础是电磁波传播和反射的形成，它用于微波电子标签。 </a:t>
            </a:r>
          </a:p>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实现射频能量和信息传递的电路称为射频前端电路，简称为射频前端。 </a:t>
            </a:r>
          </a:p>
        </p:txBody>
      </p:sp>
      <p:sp>
        <p:nvSpPr>
          <p:cNvPr id="2" name="矩形 1">
            <a:extLst>
              <a:ext uri="{FF2B5EF4-FFF2-40B4-BE49-F238E27FC236}">
                <a16:creationId xmlns:a16="http://schemas.microsoft.com/office/drawing/2014/main" id="{B2BD7903-2E54-4A1E-9A78-CE227F8D0157}"/>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2FA7FB35-99B7-42F2-85FB-9F1B7594BBDE}"/>
              </a:ext>
            </a:extLst>
          </p:cNvPr>
          <p:cNvSpPr>
            <a:spLocks noGrp="1"/>
          </p:cNvSpPr>
          <p:nvPr>
            <p:ph type="sldNum" sz="quarter" idx="12"/>
          </p:nvPr>
        </p:nvSpPr>
        <p:spPr/>
        <p:txBody>
          <a:bodyPr/>
          <a:lstStyle/>
          <a:p>
            <a:fld id="{F7AF0D69-C37B-4438-9A89-0069C8A4FCC7}" type="slidenum">
              <a:rPr lang="en-US" altLang="ko-KR"/>
              <a:pPr/>
              <a:t>3</a:t>
            </a:fld>
            <a:endParaRPr lang="en-US" altLang="ko-KR"/>
          </a:p>
        </p:txBody>
      </p:sp>
      <p:sp>
        <p:nvSpPr>
          <p:cNvPr id="57347" name="Rectangle 3">
            <a:extLst>
              <a:ext uri="{FF2B5EF4-FFF2-40B4-BE49-F238E27FC236}">
                <a16:creationId xmlns:a16="http://schemas.microsoft.com/office/drawing/2014/main" id="{ED800694-2654-4093-9447-E901AADF837A}"/>
              </a:ext>
            </a:extLst>
          </p:cNvPr>
          <p:cNvSpPr>
            <a:spLocks noGrp="1" noChangeArrowheads="1"/>
          </p:cNvSpPr>
          <p:nvPr>
            <p:ph type="body" idx="1"/>
          </p:nvPr>
        </p:nvSpPr>
        <p:spPr>
          <a:xfrm>
            <a:off x="683568" y="791815"/>
            <a:ext cx="2801991" cy="392828"/>
          </a:xfrm>
        </p:spPr>
        <p:txBody>
          <a:bodyPr/>
          <a:lstStyle/>
          <a:p>
            <a:r>
              <a:rPr lang="zh-CN" altLang="en-US" sz="2400" dirty="0">
                <a:latin typeface="微软雅黑" panose="020B0503020204020204" pitchFamily="34" charset="-122"/>
                <a:ea typeface="微软雅黑" panose="020B0503020204020204" pitchFamily="34" charset="-122"/>
              </a:rPr>
              <a:t>阅读器天线电路 </a:t>
            </a:r>
          </a:p>
        </p:txBody>
      </p:sp>
      <p:graphicFrame>
        <p:nvGraphicFramePr>
          <p:cNvPr id="57348" name="Object 4">
            <a:extLst>
              <a:ext uri="{FF2B5EF4-FFF2-40B4-BE49-F238E27FC236}">
                <a16:creationId xmlns:a16="http://schemas.microsoft.com/office/drawing/2014/main" id="{A07E4527-FAE4-48AC-9F9D-31F0A1EF66F0}"/>
              </a:ext>
            </a:extLst>
          </p:cNvPr>
          <p:cNvGraphicFramePr>
            <a:graphicFrameLocks noChangeAspect="1"/>
          </p:cNvGraphicFramePr>
          <p:nvPr>
            <p:extLst>
              <p:ext uri="{D42A27DB-BD31-4B8C-83A1-F6EECF244321}">
                <p14:modId xmlns:p14="http://schemas.microsoft.com/office/powerpoint/2010/main" val="736849614"/>
              </p:ext>
            </p:extLst>
          </p:nvPr>
        </p:nvGraphicFramePr>
        <p:xfrm>
          <a:off x="683568" y="1230782"/>
          <a:ext cx="5511149" cy="3730601"/>
        </p:xfrm>
        <a:graphic>
          <a:graphicData uri="http://schemas.openxmlformats.org/presentationml/2006/ole">
            <mc:AlternateContent xmlns:mc="http://schemas.openxmlformats.org/markup-compatibility/2006">
              <mc:Choice xmlns:v="urn:schemas-microsoft-com:vml" Requires="v">
                <p:oleObj spid="_x0000_s1049" name="图片" r:id="rId3" imgW="4661908" imgH="3152164" progId="Word.Picture.8">
                  <p:embed/>
                </p:oleObj>
              </mc:Choice>
              <mc:Fallback>
                <p:oleObj name="图片" r:id="rId3" imgW="4661908" imgH="3152164" progId="Word.Picture.8">
                  <p:embed/>
                  <p:pic>
                    <p:nvPicPr>
                      <p:cNvPr id="57348" name="Object 4">
                        <a:extLst>
                          <a:ext uri="{FF2B5EF4-FFF2-40B4-BE49-F238E27FC236}">
                            <a16:creationId xmlns:a16="http://schemas.microsoft.com/office/drawing/2014/main" id="{A07E4527-FAE4-48AC-9F9D-31F0A1EF66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1230782"/>
                        <a:ext cx="5511149" cy="37306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0" name="Rectangle 6">
            <a:extLst>
              <a:ext uri="{FF2B5EF4-FFF2-40B4-BE49-F238E27FC236}">
                <a16:creationId xmlns:a16="http://schemas.microsoft.com/office/drawing/2014/main" id="{0A36D3B6-2CCC-429B-8B3C-98C9FD4BC584}"/>
              </a:ext>
            </a:extLst>
          </p:cNvPr>
          <p:cNvSpPr>
            <a:spLocks noChangeArrowheads="1"/>
          </p:cNvSpPr>
          <p:nvPr/>
        </p:nvSpPr>
        <p:spPr bwMode="auto">
          <a:xfrm>
            <a:off x="4860032" y="4299663"/>
            <a:ext cx="403208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000" dirty="0">
                <a:latin typeface="微软雅黑" panose="020B0503020204020204" pitchFamily="34" charset="-122"/>
                <a:ea typeface="微软雅黑" panose="020B0503020204020204" pitchFamily="34" charset="-122"/>
              </a:rPr>
              <a:t>在阅读器中，串联谐振回路具有电路简单、成本低，激励可采用低内阻的恒压源，谐振时可获得最大的回路电流等特点，被广泛采用。 </a:t>
            </a:r>
          </a:p>
        </p:txBody>
      </p:sp>
      <p:sp>
        <p:nvSpPr>
          <p:cNvPr id="8" name="矩形 7">
            <a:extLst>
              <a:ext uri="{FF2B5EF4-FFF2-40B4-BE49-F238E27FC236}">
                <a16:creationId xmlns:a16="http://schemas.microsoft.com/office/drawing/2014/main" id="{10610B14-0C17-4349-8F74-44676245DF33}"/>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92C808DF-C878-4E70-8D6B-A405B35E0080}"/>
              </a:ext>
            </a:extLst>
          </p:cNvPr>
          <p:cNvSpPr>
            <a:spLocks noGrp="1"/>
          </p:cNvSpPr>
          <p:nvPr>
            <p:ph type="sldNum" sz="quarter" idx="12"/>
          </p:nvPr>
        </p:nvSpPr>
        <p:spPr/>
        <p:txBody>
          <a:bodyPr/>
          <a:lstStyle/>
          <a:p>
            <a:fld id="{D408565F-BB80-4FE4-8E52-F44C7B4913B6}" type="slidenum">
              <a:rPr lang="en-US" altLang="ko-KR"/>
              <a:pPr/>
              <a:t>4</a:t>
            </a:fld>
            <a:endParaRPr lang="en-US" altLang="ko-KR"/>
          </a:p>
        </p:txBody>
      </p:sp>
      <p:graphicFrame>
        <p:nvGraphicFramePr>
          <p:cNvPr id="70660" name="Object 4">
            <a:extLst>
              <a:ext uri="{FF2B5EF4-FFF2-40B4-BE49-F238E27FC236}">
                <a16:creationId xmlns:a16="http://schemas.microsoft.com/office/drawing/2014/main" id="{EBFA3390-8835-429E-976A-F70B187C9A09}"/>
              </a:ext>
            </a:extLst>
          </p:cNvPr>
          <p:cNvGraphicFramePr>
            <a:graphicFrameLocks noChangeAspect="1"/>
          </p:cNvGraphicFramePr>
          <p:nvPr>
            <p:extLst>
              <p:ext uri="{D42A27DB-BD31-4B8C-83A1-F6EECF244321}">
                <p14:modId xmlns:p14="http://schemas.microsoft.com/office/powerpoint/2010/main" val="262021130"/>
              </p:ext>
            </p:extLst>
          </p:nvPr>
        </p:nvGraphicFramePr>
        <p:xfrm>
          <a:off x="638503" y="1613376"/>
          <a:ext cx="4048610" cy="2131557"/>
        </p:xfrm>
        <a:graphic>
          <a:graphicData uri="http://schemas.openxmlformats.org/presentationml/2006/ole">
            <mc:AlternateContent xmlns:mc="http://schemas.openxmlformats.org/markup-compatibility/2006">
              <mc:Choice xmlns:v="urn:schemas-microsoft-com:vml" Requires="v">
                <p:oleObj spid="_x0000_s2074" name="图片" r:id="rId3" imgW="2154561" imgH="1133152" progId="Word.Picture.8">
                  <p:embed/>
                </p:oleObj>
              </mc:Choice>
              <mc:Fallback>
                <p:oleObj name="图片" r:id="rId3" imgW="2154561" imgH="1133152" progId="Word.Picture.8">
                  <p:embed/>
                  <p:pic>
                    <p:nvPicPr>
                      <p:cNvPr id="70660" name="Object 4">
                        <a:extLst>
                          <a:ext uri="{FF2B5EF4-FFF2-40B4-BE49-F238E27FC236}">
                            <a16:creationId xmlns:a16="http://schemas.microsoft.com/office/drawing/2014/main" id="{EBFA3390-8835-429E-976A-F70B187C9A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503" y="1613376"/>
                        <a:ext cx="4048610" cy="21315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70663" name="Rectangle 7">
                <a:extLst>
                  <a:ext uri="{FF2B5EF4-FFF2-40B4-BE49-F238E27FC236}">
                    <a16:creationId xmlns:a16="http://schemas.microsoft.com/office/drawing/2014/main" id="{38C2B367-35B9-4E81-85C4-3D26D63CC13C}"/>
                  </a:ext>
                </a:extLst>
              </p:cNvPr>
              <p:cNvSpPr>
                <a:spLocks noChangeArrowheads="1"/>
              </p:cNvSpPr>
              <p:nvPr/>
            </p:nvSpPr>
            <p:spPr bwMode="auto">
              <a:xfrm>
                <a:off x="4788024" y="1871935"/>
                <a:ext cx="3384376" cy="1884427"/>
              </a:xfrm>
              <a:prstGeom prst="rect">
                <a:avLst/>
              </a:prstGeom>
              <a:noFill/>
              <a:ln>
                <a:noFill/>
              </a:ln>
              <a:effectLst/>
              <a:extLst>
                <a:ext uri="{909E8E84-426E-40DD-AFC4-6F175D3DCCD1}">
                  <a14:hiddenFill>
                    <a:solidFill>
                      <a:schemeClr val="accent1"/>
                    </a:solidFill>
                  </a14:hiddenFill>
                </a:ext>
                <a:ext uri="{91240B29-F687-4F45-9708-019B960494DF}">
                  <a14:hiddenLine w="7938">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是电感线圈</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损耗的等效电阻，</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300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是信号源</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𝑉</m:t>
                            </m:r>
                          </m:e>
                        </m:acc>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𝑠</m:t>
                        </m:r>
                      </m:sub>
                    </m:sSub>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的内阻，</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30000"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是负载电阻，回路总电阻值</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30000"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30000"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p>
            </p:txBody>
          </p:sp>
        </mc:Choice>
        <mc:Fallback xmlns="">
          <p:sp>
            <p:nvSpPr>
              <p:cNvPr id="70663" name="Rectangle 7">
                <a:extLst>
                  <a:ext uri="{FF2B5EF4-FFF2-40B4-BE49-F238E27FC236}">
                    <a16:creationId xmlns:a16="http://schemas.microsoft.com/office/drawing/2014/main" id="{38C2B367-35B9-4E81-85C4-3D26D63CC13C}"/>
                  </a:ext>
                </a:extLst>
              </p:cNvPr>
              <p:cNvSpPr>
                <a:spLocks noRot="1" noChangeAspect="1" noMove="1" noResize="1" noEditPoints="1" noAdjustHandles="1" noChangeArrowheads="1" noChangeShapeType="1" noTextEdit="1"/>
              </p:cNvSpPr>
              <p:nvPr/>
            </p:nvSpPr>
            <p:spPr bwMode="auto">
              <a:xfrm>
                <a:off x="4788024" y="1871935"/>
                <a:ext cx="3384376" cy="1884427"/>
              </a:xfrm>
              <a:prstGeom prst="rect">
                <a:avLst/>
              </a:prstGeom>
              <a:blipFill>
                <a:blip r:embed="rId5"/>
                <a:stretch>
                  <a:fillRect l="-1799" r="-1619" b="-614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041EA7C4-F028-4B06-B278-5874E1C8263C}"/>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15" name="Rectangle 3">
            <a:extLst>
              <a:ext uri="{FF2B5EF4-FFF2-40B4-BE49-F238E27FC236}">
                <a16:creationId xmlns:a16="http://schemas.microsoft.com/office/drawing/2014/main" id="{358AB35E-9470-449D-9EB7-E26835B60AE2}"/>
              </a:ext>
            </a:extLst>
          </p:cNvPr>
          <p:cNvSpPr txBox="1">
            <a:spLocks noChangeArrowheads="1"/>
          </p:cNvSpPr>
          <p:nvPr/>
        </p:nvSpPr>
        <p:spPr bwMode="auto">
          <a:xfrm>
            <a:off x="630443" y="647799"/>
            <a:ext cx="2376264" cy="47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串联谐振回路</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5">
            <a:extLst>
              <a:ext uri="{FF2B5EF4-FFF2-40B4-BE49-F238E27FC236}">
                <a16:creationId xmlns:a16="http://schemas.microsoft.com/office/drawing/2014/main" id="{D3FE00AD-51A3-4DA9-A56B-60D987AB542F}"/>
              </a:ext>
            </a:extLst>
          </p:cNvPr>
          <p:cNvSpPr>
            <a:spLocks noGrp="1"/>
          </p:cNvSpPr>
          <p:nvPr>
            <p:ph type="sldNum" sz="quarter" idx="12"/>
          </p:nvPr>
        </p:nvSpPr>
        <p:spPr/>
        <p:txBody>
          <a:bodyPr/>
          <a:lstStyle/>
          <a:p>
            <a:fld id="{376C2F49-76B3-4A1F-8D86-097065ACE9AC}" type="slidenum">
              <a:rPr lang="en-US" altLang="ko-KR">
                <a:latin typeface="Times New Roman" panose="02020603050405020304" pitchFamily="18" charset="0"/>
                <a:ea typeface="微软雅黑" panose="020B0503020204020204" pitchFamily="34" charset="-122"/>
                <a:cs typeface="Times New Roman" panose="02020603050405020304" pitchFamily="18" charset="0"/>
              </a:rPr>
              <a:pPr/>
              <a:t>5</a:t>
            </a:fld>
            <a:endParaRPr lang="en-US" altLang="ko-KR">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0899" name="Rectangle 3">
            <a:extLst>
              <a:ext uri="{FF2B5EF4-FFF2-40B4-BE49-F238E27FC236}">
                <a16:creationId xmlns:a16="http://schemas.microsoft.com/office/drawing/2014/main" id="{5127185A-F15C-4523-8542-0132CE7F6477}"/>
              </a:ext>
            </a:extLst>
          </p:cNvPr>
          <p:cNvSpPr>
            <a:spLocks noGrp="1" noChangeArrowheads="1"/>
          </p:cNvSpPr>
          <p:nvPr>
            <p:ph type="body" idx="1"/>
          </p:nvPr>
        </p:nvSpPr>
        <p:spPr>
          <a:xfrm>
            <a:off x="630443" y="647799"/>
            <a:ext cx="2376264" cy="477012"/>
          </a:xfrm>
        </p:spPr>
        <p:txBody>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串联谐振回路</a:t>
            </a:r>
          </a:p>
        </p:txBody>
      </p:sp>
      <p:graphicFrame>
        <p:nvGraphicFramePr>
          <p:cNvPr id="80901" name="Object 5">
            <a:extLst>
              <a:ext uri="{FF2B5EF4-FFF2-40B4-BE49-F238E27FC236}">
                <a16:creationId xmlns:a16="http://schemas.microsoft.com/office/drawing/2014/main" id="{2F0642DF-BE0D-4A13-A7EA-11890DC39DF6}"/>
              </a:ext>
            </a:extLst>
          </p:cNvPr>
          <p:cNvGraphicFramePr>
            <a:graphicFrameLocks noChangeAspect="1"/>
          </p:cNvGraphicFramePr>
          <p:nvPr>
            <p:extLst>
              <p:ext uri="{D42A27DB-BD31-4B8C-83A1-F6EECF244321}">
                <p14:modId xmlns:p14="http://schemas.microsoft.com/office/powerpoint/2010/main" val="2914512772"/>
              </p:ext>
            </p:extLst>
          </p:nvPr>
        </p:nvGraphicFramePr>
        <p:xfrm>
          <a:off x="4768189" y="2096828"/>
          <a:ext cx="4048610" cy="2131557"/>
        </p:xfrm>
        <a:graphic>
          <a:graphicData uri="http://schemas.openxmlformats.org/presentationml/2006/ole">
            <mc:AlternateContent xmlns:mc="http://schemas.openxmlformats.org/markup-compatibility/2006">
              <mc:Choice xmlns:v="urn:schemas-microsoft-com:vml" Requires="v">
                <p:oleObj spid="_x0000_s3132" name="图片" r:id="rId3" imgW="2154561" imgH="1133152" progId="Word.Picture.8">
                  <p:embed/>
                </p:oleObj>
              </mc:Choice>
              <mc:Fallback>
                <p:oleObj name="图片" r:id="rId3" imgW="2154561" imgH="1133152" progId="Word.Picture.8">
                  <p:embed/>
                  <p:pic>
                    <p:nvPicPr>
                      <p:cNvPr id="80901" name="Object 5">
                        <a:extLst>
                          <a:ext uri="{FF2B5EF4-FFF2-40B4-BE49-F238E27FC236}">
                            <a16:creationId xmlns:a16="http://schemas.microsoft.com/office/drawing/2014/main" id="{2F0642DF-BE0D-4A13-A7EA-11890DC39D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8189" y="2096828"/>
                        <a:ext cx="4048610" cy="21315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80905" name="Object 9">
                <a:extLst>
                  <a:ext uri="{FF2B5EF4-FFF2-40B4-BE49-F238E27FC236}">
                    <a16:creationId xmlns:a16="http://schemas.microsoft.com/office/drawing/2014/main" id="{90BD9F8D-C941-4BCE-BEEE-2ACC4581779D}"/>
                  </a:ext>
                </a:extLst>
              </p:cNvPr>
              <p:cNvSpPr txBox="1"/>
              <p:nvPr/>
            </p:nvSpPr>
            <p:spPr bwMode="auto">
              <a:xfrm>
                <a:off x="825127" y="1991731"/>
                <a:ext cx="3538596" cy="1036528"/>
              </a:xfrm>
              <a:prstGeom prst="rect">
                <a:avLst/>
              </a:prstGeom>
              <a:noFill/>
            </p:spPr>
            <p:txBody>
              <a:bodyPr>
                <a:normAutofit fontScale="92500"/>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𝑉</m:t>
                                  </m:r>
                                </m:e>
                              </m:acc>
                            </m:e>
                            <m:sub>
                              <m:r>
                                <a:rPr lang="zh-CN" altLang="en-US" i="1">
                                  <a:solidFill>
                                    <a:srgbClr val="000000"/>
                                  </a:solidFill>
                                  <a:latin typeface="Cambria Math" panose="02040503050406030204" pitchFamily="18" charset="0"/>
                                </a:rPr>
                                <m:t>𝑠</m:t>
                              </m:r>
                            </m:sub>
                          </m:sSub>
                        </m:num>
                        <m:den>
                          <m:r>
                            <a:rPr lang="zh-CN" altLang="en-US" i="1">
                              <a:solidFill>
                                <a:srgbClr val="000000"/>
                              </a:solidFill>
                              <a:latin typeface="Cambria Math" panose="02040503050406030204" pitchFamily="18" charset="0"/>
                            </a:rPr>
                            <m:t>𝑍</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𝑉</m:t>
                                  </m:r>
                                </m:e>
                              </m:acc>
                            </m:e>
                            <m:sub>
                              <m:r>
                                <a:rPr lang="zh-CN" altLang="en-US" i="1">
                                  <a:solidFill>
                                    <a:srgbClr val="000000"/>
                                  </a:solidFill>
                                  <a:latin typeface="Cambria Math" panose="02040503050406030204" pitchFamily="18" charset="0"/>
                                </a:rPr>
                                <m:t>𝑠</m:t>
                              </m:r>
                            </m:sub>
                          </m:sSub>
                        </m:num>
                        <m:den>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𝑋</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𝑉</m:t>
                                  </m:r>
                                </m:e>
                              </m:acc>
                            </m:e>
                            <m:sub>
                              <m:r>
                                <a:rPr lang="zh-CN" altLang="en-US" i="1">
                                  <a:solidFill>
                                    <a:srgbClr val="000000"/>
                                  </a:solidFill>
                                  <a:latin typeface="Cambria Math" panose="02040503050406030204" pitchFamily="18" charset="0"/>
                                </a:rPr>
                                <m:t>𝑠</m:t>
                              </m:r>
                            </m:sub>
                          </m:sSub>
                        </m:num>
                        <m:den>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𝐿</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𝐶</m:t>
                                  </m:r>
                                </m:den>
                              </m:f>
                            </m:e>
                          </m:d>
                        </m:den>
                      </m:f>
                    </m:oMath>
                  </m:oMathPara>
                </a14:m>
                <a:endParaRPr lang="zh-CN" altLang="en-US"/>
              </a:p>
            </p:txBody>
          </p:sp>
        </mc:Choice>
        <mc:Fallback xmlns="">
          <p:sp>
            <p:nvSpPr>
              <p:cNvPr id="80905" name="Object 9">
                <a:extLst>
                  <a:ext uri="{FF2B5EF4-FFF2-40B4-BE49-F238E27FC236}">
                    <a16:creationId xmlns:a16="http://schemas.microsoft.com/office/drawing/2014/main" id="{90BD9F8D-C941-4BCE-BEEE-2ACC4581779D}"/>
                  </a:ext>
                </a:extLst>
              </p:cNvPr>
              <p:cNvSpPr txBox="1">
                <a:spLocks noRot="1" noChangeAspect="1" noMove="1" noResize="1" noEditPoints="1" noAdjustHandles="1" noChangeArrowheads="1" noChangeShapeType="1" noTextEdit="1"/>
              </p:cNvSpPr>
              <p:nvPr/>
            </p:nvSpPr>
            <p:spPr bwMode="auto">
              <a:xfrm>
                <a:off x="825127" y="1991731"/>
                <a:ext cx="3538596" cy="1036528"/>
              </a:xfrm>
              <a:prstGeom prst="rect">
                <a:avLst/>
              </a:prstGeom>
              <a:blipFill>
                <a:blip r:embed="rId5"/>
                <a:stretch>
                  <a:fillRect/>
                </a:stretch>
              </a:blipFill>
              <a:extLst/>
            </p:spPr>
            <p:txBody>
              <a:bodyPr/>
              <a:lstStyle/>
              <a:p>
                <a:r>
                  <a:rPr lang="zh-CN" altLang="en-US">
                    <a:noFill/>
                  </a:rPr>
                  <a:t> </a:t>
                </a:r>
              </a:p>
            </p:txBody>
          </p:sp>
        </mc:Fallback>
      </mc:AlternateContent>
      <p:sp>
        <p:nvSpPr>
          <p:cNvPr id="80908" name="Rectangle 12">
            <a:extLst>
              <a:ext uri="{FF2B5EF4-FFF2-40B4-BE49-F238E27FC236}">
                <a16:creationId xmlns:a16="http://schemas.microsoft.com/office/drawing/2014/main" id="{ADD9AA15-4A47-4F69-B1C2-47F6E817EE22}"/>
              </a:ext>
            </a:extLst>
          </p:cNvPr>
          <p:cNvSpPr>
            <a:spLocks noChangeArrowheads="1"/>
          </p:cNvSpPr>
          <p:nvPr/>
        </p:nvSpPr>
        <p:spPr bwMode="auto">
          <a:xfrm>
            <a:off x="920182" y="1407075"/>
            <a:ext cx="1249060" cy="412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回路电流</a:t>
            </a:r>
          </a:p>
        </p:txBody>
      </p:sp>
      <p:sp>
        <p:nvSpPr>
          <p:cNvPr id="80909" name="Rectangle 13">
            <a:extLst>
              <a:ext uri="{FF2B5EF4-FFF2-40B4-BE49-F238E27FC236}">
                <a16:creationId xmlns:a16="http://schemas.microsoft.com/office/drawing/2014/main" id="{048B9E18-6195-45C7-B8D8-BC6B05AC2332}"/>
              </a:ext>
            </a:extLst>
          </p:cNvPr>
          <p:cNvSpPr>
            <a:spLocks noChangeArrowheads="1"/>
          </p:cNvSpPr>
          <p:nvPr/>
        </p:nvSpPr>
        <p:spPr bwMode="auto">
          <a:xfrm>
            <a:off x="4244991" y="3310468"/>
            <a:ext cx="224742" cy="252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1039">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0910" name="Object 14">
                <a:extLst>
                  <a:ext uri="{FF2B5EF4-FFF2-40B4-BE49-F238E27FC236}">
                    <a16:creationId xmlns:a16="http://schemas.microsoft.com/office/drawing/2014/main" id="{C61B91B5-8E48-42F0-81EB-4FFCF2BC83A9}"/>
                  </a:ext>
                </a:extLst>
              </p:cNvPr>
              <p:cNvSpPr txBox="1"/>
              <p:nvPr/>
            </p:nvSpPr>
            <p:spPr bwMode="auto">
              <a:xfrm>
                <a:off x="825128" y="3729849"/>
                <a:ext cx="4048610" cy="772521"/>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𝑍</m:t>
                          </m:r>
                        </m:e>
                      </m:d>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𝑋</m:t>
                              </m:r>
                            </m:e>
                            <m:sup>
                              <m:r>
                                <a:rPr lang="zh-CN" altLang="en-US" i="1">
                                  <a:solidFill>
                                    <a:srgbClr val="000000"/>
                                  </a:solidFill>
                                  <a:latin typeface="Cambria Math" panose="02040503050406030204" pitchFamily="18" charset="0"/>
                                </a:rPr>
                                <m:t>2</m:t>
                              </m:r>
                            </m:sup>
                          </m:sSup>
                        </m:e>
                      </m:rad>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𝐿</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𝐶</m:t>
                                      </m:r>
                                    </m:den>
                                  </m:f>
                                </m:e>
                              </m:d>
                            </m:e>
                            <m:sup>
                              <m:r>
                                <a:rPr lang="zh-CN" altLang="en-US" i="1">
                                  <a:solidFill>
                                    <a:srgbClr val="000000"/>
                                  </a:solidFill>
                                  <a:latin typeface="Cambria Math" panose="02040503050406030204" pitchFamily="18" charset="0"/>
                                </a:rPr>
                                <m:t>2</m:t>
                              </m:r>
                            </m:sup>
                          </m:sSup>
                        </m:e>
                      </m:rad>
                    </m:oMath>
                  </m:oMathPara>
                </a14:m>
                <a:endParaRPr lang="zh-CN" altLang="en-US" dirty="0"/>
              </a:p>
            </p:txBody>
          </p:sp>
        </mc:Choice>
        <mc:Fallback xmlns="">
          <p:sp>
            <p:nvSpPr>
              <p:cNvPr id="80910" name="Object 14">
                <a:extLst>
                  <a:ext uri="{FF2B5EF4-FFF2-40B4-BE49-F238E27FC236}">
                    <a16:creationId xmlns:a16="http://schemas.microsoft.com/office/drawing/2014/main" id="{C61B91B5-8E48-42F0-81EB-4FFCF2BC83A9}"/>
                  </a:ext>
                </a:extLst>
              </p:cNvPr>
              <p:cNvSpPr txBox="1">
                <a:spLocks noRot="1" noChangeAspect="1" noMove="1" noResize="1" noEditPoints="1" noAdjustHandles="1" noChangeArrowheads="1" noChangeShapeType="1" noTextEdit="1"/>
              </p:cNvSpPr>
              <p:nvPr/>
            </p:nvSpPr>
            <p:spPr bwMode="auto">
              <a:xfrm>
                <a:off x="825128" y="3729849"/>
                <a:ext cx="4048610" cy="772521"/>
              </a:xfrm>
              <a:prstGeom prst="rect">
                <a:avLst/>
              </a:prstGeom>
              <a:blipFill>
                <a:blip r:embed="rId6"/>
                <a:stretch>
                  <a:fillRect b="-12598"/>
                </a:stretch>
              </a:blipFill>
              <a:extLst/>
            </p:spPr>
            <p:txBody>
              <a:bodyPr/>
              <a:lstStyle/>
              <a:p>
                <a:r>
                  <a:rPr lang="zh-CN" altLang="en-US">
                    <a:noFill/>
                  </a:rPr>
                  <a:t> </a:t>
                </a:r>
              </a:p>
            </p:txBody>
          </p:sp>
        </mc:Fallback>
      </mc:AlternateContent>
      <p:sp>
        <p:nvSpPr>
          <p:cNvPr id="80912" name="Rectangle 16">
            <a:extLst>
              <a:ext uri="{FF2B5EF4-FFF2-40B4-BE49-F238E27FC236}">
                <a16:creationId xmlns:a16="http://schemas.microsoft.com/office/drawing/2014/main" id="{899201F4-37E2-4168-A42F-CBFDD2BB4601}"/>
              </a:ext>
            </a:extLst>
          </p:cNvPr>
          <p:cNvSpPr>
            <a:spLocks noChangeArrowheads="1"/>
          </p:cNvSpPr>
          <p:nvPr/>
        </p:nvSpPr>
        <p:spPr bwMode="auto">
          <a:xfrm>
            <a:off x="978457" y="3162607"/>
            <a:ext cx="7617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阻抗 </a:t>
            </a:r>
          </a:p>
        </p:txBody>
      </p:sp>
      <p:sp>
        <p:nvSpPr>
          <p:cNvPr id="80913" name="Rectangle 17">
            <a:extLst>
              <a:ext uri="{FF2B5EF4-FFF2-40B4-BE49-F238E27FC236}">
                <a16:creationId xmlns:a16="http://schemas.microsoft.com/office/drawing/2014/main" id="{D71CA423-0EA2-44DD-A2D4-3A7967021DFE}"/>
              </a:ext>
            </a:extLst>
          </p:cNvPr>
          <p:cNvSpPr>
            <a:spLocks noChangeArrowheads="1"/>
          </p:cNvSpPr>
          <p:nvPr/>
        </p:nvSpPr>
        <p:spPr bwMode="auto">
          <a:xfrm>
            <a:off x="967057" y="5180008"/>
            <a:ext cx="7104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相角 </a:t>
            </a:r>
          </a:p>
        </p:txBody>
      </p:sp>
      <mc:AlternateContent xmlns:mc="http://schemas.openxmlformats.org/markup-compatibility/2006" xmlns:a14="http://schemas.microsoft.com/office/drawing/2010/main">
        <mc:Choice Requires="a14">
          <p:sp>
            <p:nvSpPr>
              <p:cNvPr id="80914" name="Object 18">
                <a:extLst>
                  <a:ext uri="{FF2B5EF4-FFF2-40B4-BE49-F238E27FC236}">
                    <a16:creationId xmlns:a16="http://schemas.microsoft.com/office/drawing/2014/main" id="{562725AC-5AD3-4D70-82E4-1BF5D332B0E9}"/>
                  </a:ext>
                </a:extLst>
              </p:cNvPr>
              <p:cNvSpPr txBox="1"/>
              <p:nvPr/>
            </p:nvSpPr>
            <p:spPr bwMode="auto">
              <a:xfrm>
                <a:off x="1569504" y="4861398"/>
                <a:ext cx="3298942" cy="888024"/>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𝜙</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arctan</m:t>
                          </m:r>
                        </m:fName>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𝑋</m:t>
                              </m:r>
                            </m:num>
                            <m:den>
                              <m:r>
                                <a:rPr lang="zh-CN" altLang="en-US" i="1">
                                  <a:solidFill>
                                    <a:srgbClr val="000000"/>
                                  </a:solidFill>
                                  <a:latin typeface="Cambria Math" panose="02040503050406030204" pitchFamily="18" charset="0"/>
                                </a:rPr>
                                <m:t>𝑅</m:t>
                              </m:r>
                            </m:den>
                          </m:f>
                        </m:e>
                      </m:func>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arctan</m:t>
                          </m:r>
                        </m:fName>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𝐿</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𝐶</m:t>
                                  </m:r>
                                </m:den>
                              </m:f>
                            </m:num>
                            <m:den>
                              <m:r>
                                <a:rPr lang="zh-CN" altLang="en-US" i="1">
                                  <a:solidFill>
                                    <a:srgbClr val="000000"/>
                                  </a:solidFill>
                                  <a:latin typeface="Cambria Math" panose="02040503050406030204" pitchFamily="18" charset="0"/>
                                </a:rPr>
                                <m:t>𝑅</m:t>
                              </m:r>
                            </m:den>
                          </m:f>
                        </m:e>
                      </m:func>
                    </m:oMath>
                  </m:oMathPara>
                </a14:m>
                <a:endParaRPr lang="zh-CN" altLang="en-US" dirty="0"/>
              </a:p>
            </p:txBody>
          </p:sp>
        </mc:Choice>
        <mc:Fallback xmlns="">
          <p:sp>
            <p:nvSpPr>
              <p:cNvPr id="80914" name="Object 18">
                <a:extLst>
                  <a:ext uri="{FF2B5EF4-FFF2-40B4-BE49-F238E27FC236}">
                    <a16:creationId xmlns:a16="http://schemas.microsoft.com/office/drawing/2014/main" id="{562725AC-5AD3-4D70-82E4-1BF5D332B0E9}"/>
                  </a:ext>
                </a:extLst>
              </p:cNvPr>
              <p:cNvSpPr txBox="1">
                <a:spLocks noRot="1" noChangeAspect="1" noMove="1" noResize="1" noEditPoints="1" noAdjustHandles="1" noChangeArrowheads="1" noChangeShapeType="1" noTextEdit="1"/>
              </p:cNvSpPr>
              <p:nvPr/>
            </p:nvSpPr>
            <p:spPr bwMode="auto">
              <a:xfrm>
                <a:off x="1569504" y="4861398"/>
                <a:ext cx="3298942" cy="888024"/>
              </a:xfrm>
              <a:prstGeom prst="rect">
                <a:avLst/>
              </a:prstGeom>
              <a:blipFill>
                <a:blip r:embed="rId7"/>
                <a:stretch>
                  <a:fillRect/>
                </a:stretch>
              </a:blipFill>
              <a:extLst/>
            </p:spPr>
            <p:txBody>
              <a:bodyPr/>
              <a:lstStyle/>
              <a:p>
                <a:r>
                  <a:rPr lang="zh-CN" altLang="en-US">
                    <a:noFill/>
                  </a:rPr>
                  <a:t> </a:t>
                </a:r>
              </a:p>
            </p:txBody>
          </p:sp>
        </mc:Fallback>
      </mc:AlternateContent>
      <p:sp>
        <p:nvSpPr>
          <p:cNvPr id="18" name="矩形 17">
            <a:extLst>
              <a:ext uri="{FF2B5EF4-FFF2-40B4-BE49-F238E27FC236}">
                <a16:creationId xmlns:a16="http://schemas.microsoft.com/office/drawing/2014/main" id="{EE5038CB-2F8E-4334-B818-A4C62DBF61D2}"/>
              </a:ext>
            </a:extLst>
          </p:cNvPr>
          <p:cNvSpPr/>
          <p:nvPr/>
        </p:nvSpPr>
        <p:spPr>
          <a:xfrm>
            <a:off x="6156176" y="206459"/>
            <a:ext cx="2723823" cy="369332"/>
          </a:xfrm>
          <a:prstGeom prst="rect">
            <a:avLst/>
          </a:prstGeom>
        </p:spPr>
        <p:txBody>
          <a:bodyPr wrap="none">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电感耦合方式的射频前端</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a:extLst>
              <a:ext uri="{FF2B5EF4-FFF2-40B4-BE49-F238E27FC236}">
                <a16:creationId xmlns:a16="http://schemas.microsoft.com/office/drawing/2014/main" id="{2EF2CB30-02C8-479E-BBA8-929FC93EEDE9}"/>
              </a:ext>
            </a:extLst>
          </p:cNvPr>
          <p:cNvSpPr>
            <a:spLocks noGrp="1"/>
          </p:cNvSpPr>
          <p:nvPr>
            <p:ph type="sldNum" sz="quarter" idx="12"/>
          </p:nvPr>
        </p:nvSpPr>
        <p:spPr/>
        <p:txBody>
          <a:bodyPr/>
          <a:lstStyle/>
          <a:p>
            <a:fld id="{C4320832-FB34-4E67-BAD2-1771E1A99C68}" type="slidenum">
              <a:rPr lang="en-US" altLang="ko-KR"/>
              <a:pPr/>
              <a:t>6</a:t>
            </a:fld>
            <a:endParaRPr lang="en-US" altLang="ko-KR"/>
          </a:p>
        </p:txBody>
      </p:sp>
      <p:graphicFrame>
        <p:nvGraphicFramePr>
          <p:cNvPr id="82949" name="Object 5">
            <a:extLst>
              <a:ext uri="{FF2B5EF4-FFF2-40B4-BE49-F238E27FC236}">
                <a16:creationId xmlns:a16="http://schemas.microsoft.com/office/drawing/2014/main" id="{502BFCF6-134C-49BA-8FBC-8467910E5D0D}"/>
              </a:ext>
            </a:extLst>
          </p:cNvPr>
          <p:cNvGraphicFramePr>
            <a:graphicFrameLocks noChangeAspect="1"/>
          </p:cNvGraphicFramePr>
          <p:nvPr>
            <p:extLst>
              <p:ext uri="{D42A27DB-BD31-4B8C-83A1-F6EECF244321}">
                <p14:modId xmlns:p14="http://schemas.microsoft.com/office/powerpoint/2010/main" val="888809712"/>
              </p:ext>
            </p:extLst>
          </p:nvPr>
        </p:nvGraphicFramePr>
        <p:xfrm>
          <a:off x="4131871" y="1504540"/>
          <a:ext cx="4048610" cy="2131557"/>
        </p:xfrm>
        <a:graphic>
          <a:graphicData uri="http://schemas.openxmlformats.org/presentationml/2006/ole">
            <mc:AlternateContent xmlns:mc="http://schemas.openxmlformats.org/markup-compatibility/2006">
              <mc:Choice xmlns:v="urn:schemas-microsoft-com:vml" Requires="v">
                <p:oleObj spid="_x0000_s4166" name="图片" r:id="rId3" imgW="2154561" imgH="1133152" progId="Word.Picture.8">
                  <p:embed/>
                </p:oleObj>
              </mc:Choice>
              <mc:Fallback>
                <p:oleObj name="图片" r:id="rId3" imgW="2154561" imgH="1133152" progId="Word.Picture.8">
                  <p:embed/>
                  <p:pic>
                    <p:nvPicPr>
                      <p:cNvPr id="82949" name="Object 5">
                        <a:extLst>
                          <a:ext uri="{FF2B5EF4-FFF2-40B4-BE49-F238E27FC236}">
                            <a16:creationId xmlns:a16="http://schemas.microsoft.com/office/drawing/2014/main" id="{502BFCF6-134C-49BA-8FBC-8467910E5D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1871" y="1504540"/>
                        <a:ext cx="4048610" cy="21315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82953" name="Object 9">
                <a:extLst>
                  <a:ext uri="{FF2B5EF4-FFF2-40B4-BE49-F238E27FC236}">
                    <a16:creationId xmlns:a16="http://schemas.microsoft.com/office/drawing/2014/main" id="{E64DDAC0-B5A6-4A5C-9B80-96E6E59B783D}"/>
                  </a:ext>
                </a:extLst>
              </p:cNvPr>
              <p:cNvSpPr txBox="1"/>
              <p:nvPr/>
            </p:nvSpPr>
            <p:spPr bwMode="auto">
              <a:xfrm>
                <a:off x="1136157" y="2185559"/>
                <a:ext cx="2380565" cy="834023"/>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𝐿</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𝐶</m:t>
                          </m:r>
                        </m:den>
                      </m:f>
                      <m:r>
                        <a:rPr lang="zh-CN" altLang="en-US" i="1">
                          <a:solidFill>
                            <a:srgbClr val="000000"/>
                          </a:solidFill>
                          <a:latin typeface="Cambria Math" panose="02040503050406030204" pitchFamily="18" charset="0"/>
                        </a:rPr>
                        <m:t>=0</m:t>
                      </m:r>
                    </m:oMath>
                  </m:oMathPara>
                </a14:m>
                <a:endParaRPr lang="zh-CN" altLang="en-US" dirty="0"/>
              </a:p>
            </p:txBody>
          </p:sp>
        </mc:Choice>
        <mc:Fallback xmlns="">
          <p:sp>
            <p:nvSpPr>
              <p:cNvPr id="82953" name="Object 9">
                <a:extLst>
                  <a:ext uri="{FF2B5EF4-FFF2-40B4-BE49-F238E27FC236}">
                    <a16:creationId xmlns:a16="http://schemas.microsoft.com/office/drawing/2014/main" id="{E64DDAC0-B5A6-4A5C-9B80-96E6E59B783D}"/>
                  </a:ext>
                </a:extLst>
              </p:cNvPr>
              <p:cNvSpPr txBox="1">
                <a:spLocks noRot="1" noChangeAspect="1" noMove="1" noResize="1" noEditPoints="1" noAdjustHandles="1" noChangeArrowheads="1" noChangeShapeType="1" noTextEdit="1"/>
              </p:cNvSpPr>
              <p:nvPr/>
            </p:nvSpPr>
            <p:spPr bwMode="auto">
              <a:xfrm>
                <a:off x="1136157" y="2185559"/>
                <a:ext cx="2380565" cy="834023"/>
              </a:xfrm>
              <a:prstGeom prst="rect">
                <a:avLst/>
              </a:prstGeom>
              <a:blipFill>
                <a:blip r:embed="rId5"/>
                <a:stretch>
                  <a:fillRect/>
                </a:stretch>
              </a:blipFill>
              <a:extLst/>
            </p:spPr>
            <p:txBody>
              <a:bodyPr/>
              <a:lstStyle/>
              <a:p>
                <a:r>
                  <a:rPr lang="zh-CN" altLang="en-US">
                    <a:noFill/>
                  </a:rPr>
                  <a:t> </a:t>
                </a:r>
              </a:p>
            </p:txBody>
          </p:sp>
        </mc:Fallback>
      </mc:AlternateContent>
      <p:sp>
        <p:nvSpPr>
          <p:cNvPr id="82955" name="Rectangle 11">
            <a:extLst>
              <a:ext uri="{FF2B5EF4-FFF2-40B4-BE49-F238E27FC236}">
                <a16:creationId xmlns:a16="http://schemas.microsoft.com/office/drawing/2014/main" id="{FC773DB0-4079-4B8E-8A1A-7A826F10C5B3}"/>
              </a:ext>
            </a:extLst>
          </p:cNvPr>
          <p:cNvSpPr>
            <a:spLocks noChangeArrowheads="1"/>
          </p:cNvSpPr>
          <p:nvPr/>
        </p:nvSpPr>
        <p:spPr bwMode="auto">
          <a:xfrm>
            <a:off x="1035061" y="1520271"/>
            <a:ext cx="25288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000" dirty="0">
                <a:latin typeface="微软雅黑" panose="020B0503020204020204" pitchFamily="34" charset="-122"/>
                <a:ea typeface="微软雅黑" panose="020B0503020204020204" pitchFamily="34" charset="-122"/>
              </a:rPr>
              <a:t>串联回路的谐振条件： </a:t>
            </a:r>
          </a:p>
        </p:txBody>
      </p:sp>
      <mc:AlternateContent xmlns:mc="http://schemas.openxmlformats.org/markup-compatibility/2006" xmlns:a14="http://schemas.microsoft.com/office/drawing/2010/main">
        <mc:Choice Requires="a14">
          <p:sp>
            <p:nvSpPr>
              <p:cNvPr id="82956" name="Object 12">
                <a:extLst>
                  <a:ext uri="{FF2B5EF4-FFF2-40B4-BE49-F238E27FC236}">
                    <a16:creationId xmlns:a16="http://schemas.microsoft.com/office/drawing/2014/main" id="{BF1D9F5D-D2F1-447E-8EF5-610FAB7BE94F}"/>
                  </a:ext>
                </a:extLst>
              </p:cNvPr>
              <p:cNvSpPr txBox="1"/>
              <p:nvPr/>
            </p:nvSpPr>
            <p:spPr bwMode="auto">
              <a:xfrm>
                <a:off x="1033405" y="4329116"/>
                <a:ext cx="1225533" cy="738020"/>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𝐿𝐶</m:t>
                              </m:r>
                            </m:e>
                          </m:rad>
                        </m:den>
                      </m:f>
                    </m:oMath>
                  </m:oMathPara>
                </a14:m>
                <a:endParaRPr lang="zh-CN" altLang="en-US" dirty="0"/>
              </a:p>
            </p:txBody>
          </p:sp>
        </mc:Choice>
        <mc:Fallback xmlns="">
          <p:sp>
            <p:nvSpPr>
              <p:cNvPr id="82956" name="Object 12">
                <a:extLst>
                  <a:ext uri="{FF2B5EF4-FFF2-40B4-BE49-F238E27FC236}">
                    <a16:creationId xmlns:a16="http://schemas.microsoft.com/office/drawing/2014/main" id="{BF1D9F5D-D2F1-447E-8EF5-610FAB7BE94F}"/>
                  </a:ext>
                </a:extLst>
              </p:cNvPr>
              <p:cNvSpPr txBox="1">
                <a:spLocks noRot="1" noChangeAspect="1" noMove="1" noResize="1" noEditPoints="1" noAdjustHandles="1" noChangeArrowheads="1" noChangeShapeType="1" noTextEdit="1"/>
              </p:cNvSpPr>
              <p:nvPr/>
            </p:nvSpPr>
            <p:spPr bwMode="auto">
              <a:xfrm>
                <a:off x="1033405" y="4329116"/>
                <a:ext cx="1225533" cy="738020"/>
              </a:xfrm>
              <a:prstGeom prst="rect">
                <a:avLst/>
              </a:prstGeom>
              <a:blipFill>
                <a:blip r:embed="rId6"/>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958" name="Object 14">
                <a:extLst>
                  <a:ext uri="{FF2B5EF4-FFF2-40B4-BE49-F238E27FC236}">
                    <a16:creationId xmlns:a16="http://schemas.microsoft.com/office/drawing/2014/main" id="{66EE9BFD-2C47-4B5E-934F-B7AC8B5E4BCC}"/>
                  </a:ext>
                </a:extLst>
              </p:cNvPr>
              <p:cNvSpPr txBox="1"/>
              <p:nvPr/>
            </p:nvSpPr>
            <p:spPr bwMode="auto">
              <a:xfrm>
                <a:off x="2803453" y="4396619"/>
                <a:ext cx="1497040" cy="748520"/>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m:rPr>
                              <m:sty m:val="p"/>
                            </m:rPr>
                            <a:rPr lang="zh-CN" altLang="en-US" i="0">
                              <a:solidFill>
                                <a:srgbClr val="000000"/>
                              </a:solidFill>
                              <a:latin typeface="Cambria Math" panose="02040503050406030204" pitchFamily="18" charset="0"/>
                            </a:rPr>
                            <m:t>π</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𝐿𝐶</m:t>
                              </m:r>
                            </m:e>
                          </m:rad>
                        </m:den>
                      </m:f>
                    </m:oMath>
                  </m:oMathPara>
                </a14:m>
                <a:endParaRPr lang="zh-CN" altLang="en-US" dirty="0"/>
              </a:p>
            </p:txBody>
          </p:sp>
        </mc:Choice>
        <mc:Fallback xmlns="">
          <p:sp>
            <p:nvSpPr>
              <p:cNvPr id="82958" name="Object 14">
                <a:extLst>
                  <a:ext uri="{FF2B5EF4-FFF2-40B4-BE49-F238E27FC236}">
                    <a16:creationId xmlns:a16="http://schemas.microsoft.com/office/drawing/2014/main" id="{66EE9BFD-2C47-4B5E-934F-B7AC8B5E4BCC}"/>
                  </a:ext>
                </a:extLst>
              </p:cNvPr>
              <p:cNvSpPr txBox="1">
                <a:spLocks noRot="1" noChangeAspect="1" noMove="1" noResize="1" noEditPoints="1" noAdjustHandles="1" noChangeArrowheads="1" noChangeShapeType="1" noTextEdit="1"/>
              </p:cNvSpPr>
              <p:nvPr/>
            </p:nvSpPr>
            <p:spPr bwMode="auto">
              <a:xfrm>
                <a:off x="2803453" y="4396619"/>
                <a:ext cx="1497040" cy="748520"/>
              </a:xfrm>
              <a:prstGeom prst="rect">
                <a:avLst/>
              </a:prstGeom>
              <a:blipFill>
                <a:blip r:embed="rId7"/>
                <a:stretch>
                  <a:fillRect/>
                </a:stretch>
              </a:blipFill>
              <a:extLst/>
            </p:spPr>
            <p:txBody>
              <a:bodyPr/>
              <a:lstStyle/>
              <a:p>
                <a:r>
                  <a:rPr lang="zh-CN" altLang="en-US">
                    <a:noFill/>
                  </a:rPr>
                  <a:t> </a:t>
                </a:r>
              </a:p>
            </p:txBody>
          </p:sp>
        </mc:Fallback>
      </mc:AlternateContent>
      <p:sp>
        <p:nvSpPr>
          <p:cNvPr id="82960" name="AutoShape 16">
            <a:extLst>
              <a:ext uri="{FF2B5EF4-FFF2-40B4-BE49-F238E27FC236}">
                <a16:creationId xmlns:a16="http://schemas.microsoft.com/office/drawing/2014/main" id="{7341755B-E2F2-4BC2-8439-0696592C81AC}"/>
              </a:ext>
            </a:extLst>
          </p:cNvPr>
          <p:cNvSpPr>
            <a:spLocks noChangeArrowheads="1"/>
          </p:cNvSpPr>
          <p:nvPr/>
        </p:nvSpPr>
        <p:spPr bwMode="auto">
          <a:xfrm>
            <a:off x="2088683" y="3330089"/>
            <a:ext cx="340509" cy="612017"/>
          </a:xfrm>
          <a:prstGeom prst="downArrow">
            <a:avLst>
              <a:gd name="adj1" fmla="val 50000"/>
              <a:gd name="adj2" fmla="val 44934"/>
            </a:avLst>
          </a:prstGeom>
          <a:solidFill>
            <a:schemeClr val="accent1"/>
          </a:solidFill>
          <a:ln w="7938">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82961" name="Object 17">
                <a:extLst>
                  <a:ext uri="{FF2B5EF4-FFF2-40B4-BE49-F238E27FC236}">
                    <a16:creationId xmlns:a16="http://schemas.microsoft.com/office/drawing/2014/main" id="{893A8BC4-D0A5-40C5-AB18-A71637261D40}"/>
                  </a:ext>
                </a:extLst>
              </p:cNvPr>
              <p:cNvSpPr txBox="1"/>
              <p:nvPr/>
            </p:nvSpPr>
            <p:spPr bwMode="auto">
              <a:xfrm>
                <a:off x="4843509" y="4272114"/>
                <a:ext cx="2518568" cy="852023"/>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𝐿</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𝐶</m:t>
                          </m:r>
                        </m:den>
                      </m:f>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𝐿</m:t>
                              </m:r>
                            </m:num>
                            <m:den>
                              <m:r>
                                <a:rPr lang="zh-CN" altLang="en-US" i="1">
                                  <a:solidFill>
                                    <a:srgbClr val="000000"/>
                                  </a:solidFill>
                                  <a:latin typeface="Cambria Math" panose="02040503050406030204" pitchFamily="18" charset="0"/>
                                </a:rPr>
                                <m:t>𝐶</m:t>
                              </m:r>
                            </m:den>
                          </m:f>
                        </m:e>
                      </m:ra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𝜌</m:t>
                      </m:r>
                    </m:oMath>
                  </m:oMathPara>
                </a14:m>
                <a:endParaRPr lang="zh-CN" altLang="en-US" dirty="0"/>
              </a:p>
            </p:txBody>
          </p:sp>
        </mc:Choice>
        <mc:Fallback xmlns="">
          <p:sp>
            <p:nvSpPr>
              <p:cNvPr id="82961" name="Object 17">
                <a:extLst>
                  <a:ext uri="{FF2B5EF4-FFF2-40B4-BE49-F238E27FC236}">
                    <a16:creationId xmlns:a16="http://schemas.microsoft.com/office/drawing/2014/main" id="{893A8BC4-D0A5-40C5-AB18-A71637261D40}"/>
                  </a:ext>
                </a:extLst>
              </p:cNvPr>
              <p:cNvSpPr txBox="1">
                <a:spLocks noRot="1" noChangeAspect="1" noMove="1" noResize="1" noEditPoints="1" noAdjustHandles="1" noChangeArrowheads="1" noChangeShapeType="1" noTextEdit="1"/>
              </p:cNvSpPr>
              <p:nvPr/>
            </p:nvSpPr>
            <p:spPr bwMode="auto">
              <a:xfrm>
                <a:off x="4843509" y="4272114"/>
                <a:ext cx="2518568" cy="852023"/>
              </a:xfrm>
              <a:prstGeom prst="rect">
                <a:avLst/>
              </a:prstGeom>
              <a:blipFill>
                <a:blip r:embed="rId8"/>
                <a:stretch>
                  <a:fillRect b="-2143"/>
                </a:stretch>
              </a:blipFill>
              <a:extLst/>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89B56512-FD56-461B-BC3C-7A23C08EFD9B}"/>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22" name="Rectangle 3">
            <a:extLst>
              <a:ext uri="{FF2B5EF4-FFF2-40B4-BE49-F238E27FC236}">
                <a16:creationId xmlns:a16="http://schemas.microsoft.com/office/drawing/2014/main" id="{BDB151C7-0745-415E-B792-927773D91B9F}"/>
              </a:ext>
            </a:extLst>
          </p:cNvPr>
          <p:cNvSpPr txBox="1">
            <a:spLocks noChangeArrowheads="1"/>
          </p:cNvSpPr>
          <p:nvPr/>
        </p:nvSpPr>
        <p:spPr bwMode="auto">
          <a:xfrm>
            <a:off x="630443" y="647799"/>
            <a:ext cx="2376264" cy="47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串联谐振回路</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6">
            <a:extLst>
              <a:ext uri="{FF2B5EF4-FFF2-40B4-BE49-F238E27FC236}">
                <a16:creationId xmlns:a16="http://schemas.microsoft.com/office/drawing/2014/main" id="{CBC0EAC4-93F2-478F-91E0-4FA6341626DA}"/>
              </a:ext>
            </a:extLst>
          </p:cNvPr>
          <p:cNvSpPr>
            <a:spLocks noGrp="1"/>
          </p:cNvSpPr>
          <p:nvPr>
            <p:ph type="sldNum" sz="quarter" idx="12"/>
          </p:nvPr>
        </p:nvSpPr>
        <p:spPr/>
        <p:txBody>
          <a:bodyPr/>
          <a:lstStyle/>
          <a:p>
            <a:fld id="{047EF695-4C7B-4970-8296-2901444F3A90}" type="slidenum">
              <a:rPr lang="en-US" altLang="ko-KR"/>
              <a:pPr/>
              <a:t>7</a:t>
            </a:fld>
            <a:endParaRPr lang="en-US" altLang="ko-KR"/>
          </a:p>
        </p:txBody>
      </p:sp>
      <mc:AlternateContent xmlns:mc="http://schemas.openxmlformats.org/markup-compatibility/2006" xmlns:a14="http://schemas.microsoft.com/office/drawing/2010/main">
        <mc:Choice Requires="a14">
          <p:sp>
            <p:nvSpPr>
              <p:cNvPr id="83971" name="Rectangle 3">
                <a:extLst>
                  <a:ext uri="{FF2B5EF4-FFF2-40B4-BE49-F238E27FC236}">
                    <a16:creationId xmlns:a16="http://schemas.microsoft.com/office/drawing/2014/main" id="{8228581C-4822-466F-A18E-ACAFBF8457B9}"/>
                  </a:ext>
                </a:extLst>
              </p:cNvPr>
              <p:cNvSpPr>
                <a:spLocks noGrp="1" noChangeArrowheads="1"/>
              </p:cNvSpPr>
              <p:nvPr>
                <p:ph type="body" sz="half" idx="1"/>
              </p:nvPr>
            </p:nvSpPr>
            <p:spPr>
              <a:xfrm>
                <a:off x="683568" y="1367879"/>
                <a:ext cx="4159940" cy="3528392"/>
              </a:xfrm>
            </p:spPr>
            <p:txBody>
              <a:bodyPr/>
              <a:lstStyle/>
              <a:p>
                <a:pPr marL="0" indent="0">
                  <a:lnSpc>
                    <a:spcPct val="150000"/>
                  </a:lnSpc>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串联谐振回路具有如下特性：</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）谐振时，回路电抗</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，阻抗</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Z</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为最小值，且为纯阻；</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）谐振时，回路电流最大，即</a:t>
                </a:r>
                <a14:m>
                  <m:oMath xmlns:m="http://schemas.openxmlformats.org/officeDocument/2006/math">
                    <m:acc>
                      <m:accPr>
                        <m:chr m:val="̇"/>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𝐼</m:t>
                        </m:r>
                      </m:e>
                    </m:acc>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𝑉</m:t>
                            </m:r>
                          </m:e>
                        </m:acc>
                      </m:e>
                      <m: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𝑠</m:t>
                        </m:r>
                      </m:sub>
                    </m:sSub>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b="0" i="1" smtClean="0">
                        <a:latin typeface="Cambria Math" panose="02040503050406030204" pitchFamily="18" charset="0"/>
                        <a:ea typeface="微软雅黑" panose="020B0503020204020204" pitchFamily="34" charset="-122"/>
                        <a:cs typeface="Times New Roman" panose="02020603050405020304" pitchFamily="18" charset="0"/>
                      </a:rPr>
                      <m:t>𝑅</m:t>
                    </m:r>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，且</a:t>
                </a:r>
                <a14:m>
                  <m:oMath xmlns:m="http://schemas.openxmlformats.org/officeDocument/2006/math">
                    <m:acc>
                      <m:accPr>
                        <m:chr m:val="̇"/>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𝐼</m:t>
                        </m:r>
                      </m:e>
                    </m:acc>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与</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𝑉</m:t>
                            </m:r>
                          </m:e>
                        </m:acc>
                      </m:e>
                      <m:sub>
                        <m:r>
                          <a:rPr lang="en-US" altLang="zh-CN" sz="2000" i="1">
                            <a:latin typeface="Cambria Math" panose="02040503050406030204" pitchFamily="18" charset="0"/>
                            <a:ea typeface="微软雅黑" panose="020B0503020204020204" pitchFamily="34" charset="-122"/>
                            <a:cs typeface="Times New Roman" panose="02020603050405020304" pitchFamily="18" charset="0"/>
                          </a:rPr>
                          <m:t>𝑠</m:t>
                        </m:r>
                      </m:sub>
                    </m:sSub>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同相；</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）电感与电容两端电压的模值相等，且等于外加电压的</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倍。</a:t>
                </a:r>
              </a:p>
            </p:txBody>
          </p:sp>
        </mc:Choice>
        <mc:Fallback xmlns="">
          <p:sp>
            <p:nvSpPr>
              <p:cNvPr id="83971" name="Rectangle 3">
                <a:extLst>
                  <a:ext uri="{FF2B5EF4-FFF2-40B4-BE49-F238E27FC236}">
                    <a16:creationId xmlns:a16="http://schemas.microsoft.com/office/drawing/2014/main" id="{8228581C-4822-466F-A18E-ACAFBF8457B9}"/>
                  </a:ext>
                </a:extLst>
              </p:cNvPr>
              <p:cNvSpPr>
                <a:spLocks noGrp="1" noRot="1" noChangeAspect="1" noMove="1" noResize="1" noEditPoints="1" noAdjustHandles="1" noChangeArrowheads="1" noChangeShapeType="1" noTextEdit="1"/>
              </p:cNvSpPr>
              <p:nvPr>
                <p:ph type="body" sz="half" idx="1"/>
              </p:nvPr>
            </p:nvSpPr>
            <p:spPr>
              <a:xfrm>
                <a:off x="683568" y="1367879"/>
                <a:ext cx="4159940" cy="3528392"/>
              </a:xfrm>
              <a:blipFill>
                <a:blip r:embed="rId3"/>
                <a:stretch>
                  <a:fillRect l="-1464" r="-1025" b="-518"/>
                </a:stretch>
              </a:blipFill>
            </p:spPr>
            <p:txBody>
              <a:bodyPr/>
              <a:lstStyle/>
              <a:p>
                <a:r>
                  <a:rPr lang="zh-CN" altLang="en-US">
                    <a:noFill/>
                  </a:rPr>
                  <a:t> </a:t>
                </a:r>
              </a:p>
            </p:txBody>
          </p:sp>
        </mc:Fallback>
      </mc:AlternateContent>
      <p:graphicFrame>
        <p:nvGraphicFramePr>
          <p:cNvPr id="83973" name="Object 5">
            <a:extLst>
              <a:ext uri="{FF2B5EF4-FFF2-40B4-BE49-F238E27FC236}">
                <a16:creationId xmlns:a16="http://schemas.microsoft.com/office/drawing/2014/main" id="{B6648F08-47A5-49B0-9619-FE25D03AF84B}"/>
              </a:ext>
            </a:extLst>
          </p:cNvPr>
          <p:cNvGraphicFramePr>
            <a:graphicFrameLocks noChangeAspect="1"/>
          </p:cNvGraphicFramePr>
          <p:nvPr/>
        </p:nvGraphicFramePr>
        <p:xfrm>
          <a:off x="4843508" y="1947052"/>
          <a:ext cx="4048609" cy="2131558"/>
        </p:xfrm>
        <a:graphic>
          <a:graphicData uri="http://schemas.openxmlformats.org/presentationml/2006/ole">
            <mc:AlternateContent xmlns:mc="http://schemas.openxmlformats.org/markup-compatibility/2006">
              <mc:Choice xmlns:v="urn:schemas-microsoft-com:vml" Requires="v">
                <p:oleObj spid="_x0000_s5157" name="图片" r:id="rId4" imgW="2154561" imgH="1133152" progId="Word.Picture.8">
                  <p:embed/>
                </p:oleObj>
              </mc:Choice>
              <mc:Fallback>
                <p:oleObj name="图片" r:id="rId4" imgW="2154561" imgH="1133152" progId="Word.Picture.8">
                  <p:embed/>
                  <p:pic>
                    <p:nvPicPr>
                      <p:cNvPr id="83973" name="Object 5">
                        <a:extLst>
                          <a:ext uri="{FF2B5EF4-FFF2-40B4-BE49-F238E27FC236}">
                            <a16:creationId xmlns:a16="http://schemas.microsoft.com/office/drawing/2014/main" id="{B6648F08-47A5-49B0-9619-FE25D03AF8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3508" y="1947052"/>
                        <a:ext cx="4048609" cy="21315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矩形 11">
            <a:extLst>
              <a:ext uri="{FF2B5EF4-FFF2-40B4-BE49-F238E27FC236}">
                <a16:creationId xmlns:a16="http://schemas.microsoft.com/office/drawing/2014/main" id="{34AE9933-5D96-43E3-8CD2-3A221F9B649C}"/>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15" name="Rectangle 3">
            <a:extLst>
              <a:ext uri="{FF2B5EF4-FFF2-40B4-BE49-F238E27FC236}">
                <a16:creationId xmlns:a16="http://schemas.microsoft.com/office/drawing/2014/main" id="{E72948CF-C61F-4001-80D6-B0003D5D5EE7}"/>
              </a:ext>
            </a:extLst>
          </p:cNvPr>
          <p:cNvSpPr txBox="1">
            <a:spLocks noChangeArrowheads="1"/>
          </p:cNvSpPr>
          <p:nvPr/>
        </p:nvSpPr>
        <p:spPr bwMode="auto">
          <a:xfrm>
            <a:off x="630443" y="647799"/>
            <a:ext cx="2376264" cy="47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串联谐振回路</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a:extLst>
              <a:ext uri="{FF2B5EF4-FFF2-40B4-BE49-F238E27FC236}">
                <a16:creationId xmlns:a16="http://schemas.microsoft.com/office/drawing/2014/main" id="{A8F2F67F-4BDD-4A55-91AB-F31C8B45D08F}"/>
              </a:ext>
            </a:extLst>
          </p:cNvPr>
          <p:cNvSpPr>
            <a:spLocks noGrp="1"/>
          </p:cNvSpPr>
          <p:nvPr>
            <p:ph type="sldNum" sz="quarter" idx="12"/>
          </p:nvPr>
        </p:nvSpPr>
        <p:spPr/>
        <p:txBody>
          <a:bodyPr/>
          <a:lstStyle/>
          <a:p>
            <a:fld id="{7573BDA0-D1FB-4589-A7A2-DBC224802237}" type="slidenum">
              <a:rPr lang="en-US" altLang="ko-KR"/>
              <a:pPr/>
              <a:t>8</a:t>
            </a:fld>
            <a:endParaRPr lang="en-US" altLang="ko-KR"/>
          </a:p>
        </p:txBody>
      </p:sp>
      <p:graphicFrame>
        <p:nvGraphicFramePr>
          <p:cNvPr id="84997" name="Object 5">
            <a:extLst>
              <a:ext uri="{FF2B5EF4-FFF2-40B4-BE49-F238E27FC236}">
                <a16:creationId xmlns:a16="http://schemas.microsoft.com/office/drawing/2014/main" id="{3888A961-EC00-48D7-8A98-5FD41C552D7E}"/>
              </a:ext>
            </a:extLst>
          </p:cNvPr>
          <p:cNvGraphicFramePr>
            <a:graphicFrameLocks noChangeAspect="1"/>
          </p:cNvGraphicFramePr>
          <p:nvPr/>
        </p:nvGraphicFramePr>
        <p:xfrm>
          <a:off x="4843508" y="1947052"/>
          <a:ext cx="4048609" cy="2131558"/>
        </p:xfrm>
        <a:graphic>
          <a:graphicData uri="http://schemas.openxmlformats.org/presentationml/2006/ole">
            <mc:AlternateContent xmlns:mc="http://schemas.openxmlformats.org/markup-compatibility/2006">
              <mc:Choice xmlns:v="urn:schemas-microsoft-com:vml" Requires="v">
                <p:oleObj spid="_x0000_s6179" name="图片" r:id="rId3" imgW="2154561" imgH="1133152" progId="Word.Picture.8">
                  <p:embed/>
                </p:oleObj>
              </mc:Choice>
              <mc:Fallback>
                <p:oleObj name="图片" r:id="rId3" imgW="2154561" imgH="1133152" progId="Word.Picture.8">
                  <p:embed/>
                  <p:pic>
                    <p:nvPicPr>
                      <p:cNvPr id="84997" name="Object 5">
                        <a:extLst>
                          <a:ext uri="{FF2B5EF4-FFF2-40B4-BE49-F238E27FC236}">
                            <a16:creationId xmlns:a16="http://schemas.microsoft.com/office/drawing/2014/main" id="{3888A961-EC00-48D7-8A98-5FD41C552D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3508" y="1947052"/>
                        <a:ext cx="4048609" cy="21315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04" name="Rectangle 12">
            <a:extLst>
              <a:ext uri="{FF2B5EF4-FFF2-40B4-BE49-F238E27FC236}">
                <a16:creationId xmlns:a16="http://schemas.microsoft.com/office/drawing/2014/main" id="{F59DDEA1-BAF6-465A-B0B3-EDCAF925E881}"/>
              </a:ext>
            </a:extLst>
          </p:cNvPr>
          <p:cNvSpPr>
            <a:spLocks noChangeArrowheads="1"/>
          </p:cNvSpPr>
          <p:nvPr/>
        </p:nvSpPr>
        <p:spPr bwMode="auto">
          <a:xfrm>
            <a:off x="971600" y="1251226"/>
            <a:ext cx="20553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微软雅黑" panose="020B0503020204020204" pitchFamily="34" charset="-122"/>
                <a:ea typeface="微软雅黑" panose="020B0503020204020204" pitchFamily="34" charset="-122"/>
              </a:rPr>
              <a:t>回路的品质因数 </a:t>
            </a:r>
          </a:p>
        </p:txBody>
      </p:sp>
      <mc:AlternateContent xmlns:mc="http://schemas.openxmlformats.org/markup-compatibility/2006" xmlns:a14="http://schemas.microsoft.com/office/drawing/2010/main">
        <mc:Choice Requires="a14">
          <p:sp>
            <p:nvSpPr>
              <p:cNvPr id="85005" name="Object 13">
                <a:extLst>
                  <a:ext uri="{FF2B5EF4-FFF2-40B4-BE49-F238E27FC236}">
                    <a16:creationId xmlns:a16="http://schemas.microsoft.com/office/drawing/2014/main" id="{17F837A0-C5A5-4F46-97B9-C24F3BD786F0}"/>
                  </a:ext>
                </a:extLst>
              </p:cNvPr>
              <p:cNvSpPr txBox="1"/>
              <p:nvPr/>
            </p:nvSpPr>
            <p:spPr bwMode="auto">
              <a:xfrm>
                <a:off x="891485" y="1855557"/>
                <a:ext cx="3606097" cy="829523"/>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𝑄</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𝐿</m:t>
                          </m:r>
                        </m:num>
                        <m:den>
                          <m:r>
                            <a:rPr lang="zh-CN" altLang="en-US" i="1">
                              <a:solidFill>
                                <a:srgbClr val="000000"/>
                              </a:solidFill>
                              <a:latin typeface="Cambria Math" panose="02040503050406030204" pitchFamily="18" charset="0"/>
                            </a:rPr>
                            <m:t>𝑅</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𝐶𝑅</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𝑅</m:t>
                          </m:r>
                        </m:den>
                      </m:f>
                      <m:rad>
                        <m:radPr>
                          <m:degHide m:val="on"/>
                          <m:ctrlPr>
                            <a:rPr lang="zh-CN" altLang="en-US" i="1">
                              <a:solidFill>
                                <a:srgbClr val="000000"/>
                              </a:solidFill>
                              <a:latin typeface="Cambria Math" panose="02040503050406030204" pitchFamily="18" charset="0"/>
                            </a:rPr>
                          </m:ctrlPr>
                        </m:radPr>
                        <m:deg/>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𝐿</m:t>
                              </m:r>
                            </m:num>
                            <m:den>
                              <m:r>
                                <a:rPr lang="zh-CN" altLang="en-US" i="1">
                                  <a:solidFill>
                                    <a:srgbClr val="000000"/>
                                  </a:solidFill>
                                  <a:latin typeface="Cambria Math" panose="02040503050406030204" pitchFamily="18" charset="0"/>
                                </a:rPr>
                                <m:t>𝐶</m:t>
                              </m:r>
                            </m:den>
                          </m:f>
                        </m:e>
                      </m:ra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𝑅</m:t>
                          </m:r>
                        </m:den>
                      </m:f>
                      <m:r>
                        <a:rPr lang="zh-CN" altLang="en-US" i="1">
                          <a:solidFill>
                            <a:srgbClr val="000000"/>
                          </a:solidFill>
                          <a:latin typeface="Cambria Math" panose="02040503050406030204" pitchFamily="18" charset="0"/>
                        </a:rPr>
                        <m:t>𝜌</m:t>
                      </m:r>
                    </m:oMath>
                  </m:oMathPara>
                </a14:m>
                <a:endParaRPr lang="zh-CN" altLang="en-US" dirty="0"/>
              </a:p>
            </p:txBody>
          </p:sp>
        </mc:Choice>
        <mc:Fallback xmlns="">
          <p:sp>
            <p:nvSpPr>
              <p:cNvPr id="85005" name="Object 13">
                <a:extLst>
                  <a:ext uri="{FF2B5EF4-FFF2-40B4-BE49-F238E27FC236}">
                    <a16:creationId xmlns:a16="http://schemas.microsoft.com/office/drawing/2014/main" id="{17F837A0-C5A5-4F46-97B9-C24F3BD786F0}"/>
                  </a:ext>
                </a:extLst>
              </p:cNvPr>
              <p:cNvSpPr txBox="1">
                <a:spLocks noRot="1" noChangeAspect="1" noMove="1" noResize="1" noEditPoints="1" noAdjustHandles="1" noChangeArrowheads="1" noChangeShapeType="1" noTextEdit="1"/>
              </p:cNvSpPr>
              <p:nvPr/>
            </p:nvSpPr>
            <p:spPr bwMode="auto">
              <a:xfrm>
                <a:off x="891485" y="1855557"/>
                <a:ext cx="3606097" cy="829523"/>
              </a:xfrm>
              <a:prstGeom prst="rect">
                <a:avLst/>
              </a:prstGeom>
              <a:blipFill>
                <a:blip r:embed="rId5"/>
                <a:stretch>
                  <a:fillRect b="-5147"/>
                </a:stretch>
              </a:blipFill>
              <a:extLst/>
            </p:spPr>
            <p:txBody>
              <a:bodyPr/>
              <a:lstStyle/>
              <a:p>
                <a:r>
                  <a:rPr lang="zh-CN" altLang="en-US">
                    <a:noFill/>
                  </a:rPr>
                  <a:t> </a:t>
                </a:r>
              </a:p>
            </p:txBody>
          </p:sp>
        </mc:Fallback>
      </mc:AlternateContent>
      <p:sp>
        <p:nvSpPr>
          <p:cNvPr id="85007" name="Rectangle 15">
            <a:extLst>
              <a:ext uri="{FF2B5EF4-FFF2-40B4-BE49-F238E27FC236}">
                <a16:creationId xmlns:a16="http://schemas.microsoft.com/office/drawing/2014/main" id="{BA55FA62-9B96-4ACE-ADD3-25CEB3D58711}"/>
              </a:ext>
            </a:extLst>
          </p:cNvPr>
          <p:cNvSpPr>
            <a:spLocks noChangeArrowheads="1"/>
          </p:cNvSpPr>
          <p:nvPr/>
        </p:nvSpPr>
        <p:spPr bwMode="auto">
          <a:xfrm>
            <a:off x="630443" y="2952055"/>
            <a:ext cx="4128182" cy="1705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dirty="0">
                <a:latin typeface="微软雅黑" panose="020B0503020204020204" pitchFamily="34" charset="-122"/>
                <a:ea typeface="微软雅黑" panose="020B0503020204020204" pitchFamily="34" charset="-122"/>
              </a:rPr>
              <a:t>      通常，回路的</a:t>
            </a:r>
            <a:r>
              <a:rPr lang="en-US" altLang="zh-CN" i="1" dirty="0">
                <a:latin typeface="微软雅黑" panose="020B0503020204020204" pitchFamily="34" charset="-122"/>
                <a:ea typeface="微软雅黑" panose="020B0503020204020204" pitchFamily="34" charset="-122"/>
              </a:rPr>
              <a:t>Q</a:t>
            </a:r>
            <a:r>
              <a:rPr lang="zh-CN" altLang="en-US" dirty="0">
                <a:latin typeface="微软雅黑" panose="020B0503020204020204" pitchFamily="34" charset="-122"/>
                <a:ea typeface="微软雅黑" panose="020B0503020204020204" pitchFamily="34" charset="-122"/>
              </a:rPr>
              <a:t>值可达数十到近百，谐振时电感线圈和电容器两端电压可比信号源电压大数十到百倍，在选择电路器件时，必须考虑器件的耐压问题。</a:t>
            </a:r>
          </a:p>
        </p:txBody>
      </p:sp>
      <p:sp>
        <p:nvSpPr>
          <p:cNvPr id="15" name="矩形 14">
            <a:extLst>
              <a:ext uri="{FF2B5EF4-FFF2-40B4-BE49-F238E27FC236}">
                <a16:creationId xmlns:a16="http://schemas.microsoft.com/office/drawing/2014/main" id="{F953B94D-573B-4032-A13B-050A3E35AC2F}"/>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20" name="Rectangle 3">
            <a:extLst>
              <a:ext uri="{FF2B5EF4-FFF2-40B4-BE49-F238E27FC236}">
                <a16:creationId xmlns:a16="http://schemas.microsoft.com/office/drawing/2014/main" id="{AB8B8E20-A220-4A58-A5F7-8D3B6E3B3BE8}"/>
              </a:ext>
            </a:extLst>
          </p:cNvPr>
          <p:cNvSpPr txBox="1">
            <a:spLocks noChangeArrowheads="1"/>
          </p:cNvSpPr>
          <p:nvPr/>
        </p:nvSpPr>
        <p:spPr bwMode="auto">
          <a:xfrm>
            <a:off x="630443" y="647799"/>
            <a:ext cx="2376264" cy="47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串联谐振回路</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72700AA3-FD04-4ED5-B255-6A24DE246B5A}"/>
              </a:ext>
            </a:extLst>
          </p:cNvPr>
          <p:cNvSpPr>
            <a:spLocks noGrp="1"/>
          </p:cNvSpPr>
          <p:nvPr>
            <p:ph type="sldNum" sz="quarter" idx="12"/>
          </p:nvPr>
        </p:nvSpPr>
        <p:spPr/>
        <p:txBody>
          <a:bodyPr/>
          <a:lstStyle/>
          <a:p>
            <a:fld id="{B2586B89-EBE0-4E39-B141-BC12BC4F5452}" type="slidenum">
              <a:rPr lang="en-US" altLang="ko-KR"/>
              <a:pPr/>
              <a:t>9</a:t>
            </a:fld>
            <a:endParaRPr lang="en-US" altLang="ko-KR"/>
          </a:p>
        </p:txBody>
      </p:sp>
      <mc:AlternateContent xmlns:mc="http://schemas.openxmlformats.org/markup-compatibility/2006" xmlns:a14="http://schemas.microsoft.com/office/drawing/2010/main">
        <mc:Choice Requires="a14">
          <p:sp>
            <p:nvSpPr>
              <p:cNvPr id="71684" name="Object 4">
                <a:extLst>
                  <a:ext uri="{FF2B5EF4-FFF2-40B4-BE49-F238E27FC236}">
                    <a16:creationId xmlns:a16="http://schemas.microsoft.com/office/drawing/2014/main" id="{2AA85BD6-A1D3-4AD5-9FFF-BD221005906E}"/>
                  </a:ext>
                </a:extLst>
              </p:cNvPr>
              <p:cNvSpPr txBox="1"/>
              <p:nvPr/>
            </p:nvSpPr>
            <p:spPr bwMode="auto">
              <a:xfrm>
                <a:off x="1408415" y="1583903"/>
                <a:ext cx="6403945" cy="1027528"/>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f>
                        <m:fPr>
                          <m:ctrlPr>
                            <a:rPr lang="zh-CN" altLang="en-US" i="1">
                              <a:solidFill>
                                <a:srgbClr val="000000"/>
                              </a:solidFill>
                              <a:latin typeface="Cambria Math" panose="02040503050406030204" pitchFamily="18" charset="0"/>
                            </a:rPr>
                          </m:ctrlPr>
                        </m:fPr>
                        <m:num>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num>
                        <m:den>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e>
                            <m:sub>
                              <m:r>
                                <a:rPr lang="zh-CN" altLang="en-US" i="1">
                                  <a:solidFill>
                                    <a:srgbClr val="000000"/>
                                  </a:solidFill>
                                  <a:latin typeface="Cambria Math" panose="02040503050406030204" pitchFamily="18" charset="0"/>
                                </a:rPr>
                                <m:t>0</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𝑅</m:t>
                          </m:r>
                        </m:num>
                        <m:den>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𝐿</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𝐶</m:t>
                              </m:r>
                            </m:den>
                          </m:f>
                          <m:r>
                            <a:rPr lang="zh-CN" altLang="en-US" i="1">
                              <a:solidFill>
                                <a:srgbClr val="000000"/>
                              </a:solidFill>
                              <a:latin typeface="Cambria Math" panose="02040503050406030204" pitchFamily="18" charset="0"/>
                            </a:rPr>
                            <m:t>)</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m:t>
                          </m:r>
                          <m:r>
                            <m:rPr>
                              <m:sty m:val="p"/>
                            </m:rPr>
                            <a:rPr lang="zh-CN" altLang="en-US" i="0">
                              <a:solidFill>
                                <a:srgbClr val="000000"/>
                              </a:solidFill>
                              <a:latin typeface="Cambria Math" panose="02040503050406030204" pitchFamily="18" charset="0"/>
                            </a:rPr>
                            <m:t>j</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𝐿</m:t>
                              </m:r>
                            </m:num>
                            <m:den>
                              <m:r>
                                <a:rPr lang="zh-CN" altLang="en-US" i="1">
                                  <a:solidFill>
                                    <a:srgbClr val="000000"/>
                                  </a:solidFill>
                                  <a:latin typeface="Cambria Math" panose="02040503050406030204" pitchFamily="18" charset="0"/>
                                </a:rPr>
                                <m:t>𝑅</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𝜔</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𝜔</m:t>
                              </m:r>
                            </m:den>
                          </m:f>
                          <m:r>
                            <a:rPr lang="zh-CN" altLang="en-US" i="1">
                              <a:solidFill>
                                <a:srgbClr val="000000"/>
                              </a:solidFill>
                              <a:latin typeface="Cambria Math" panose="02040503050406030204" pitchFamily="18" charset="0"/>
                            </a:rPr>
                            <m:t>)</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𝑄</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𝜔</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𝜔</m:t>
                              </m:r>
                            </m:den>
                          </m:f>
                          <m:r>
                            <a:rPr lang="zh-CN" altLang="en-US" i="1">
                              <a:solidFill>
                                <a:srgbClr val="000000"/>
                              </a:solidFill>
                              <a:latin typeface="Cambria Math" panose="02040503050406030204" pitchFamily="18" charset="0"/>
                            </a:rPr>
                            <m:t>)</m:t>
                          </m:r>
                        </m:den>
                      </m:f>
                    </m:oMath>
                  </m:oMathPara>
                </a14:m>
                <a:endParaRPr lang="zh-CN" altLang="en-US" dirty="0"/>
              </a:p>
            </p:txBody>
          </p:sp>
        </mc:Choice>
        <mc:Fallback xmlns="">
          <p:sp>
            <p:nvSpPr>
              <p:cNvPr id="71684" name="Object 4">
                <a:extLst>
                  <a:ext uri="{FF2B5EF4-FFF2-40B4-BE49-F238E27FC236}">
                    <a16:creationId xmlns:a16="http://schemas.microsoft.com/office/drawing/2014/main" id="{2AA85BD6-A1D3-4AD5-9FFF-BD221005906E}"/>
                  </a:ext>
                </a:extLst>
              </p:cNvPr>
              <p:cNvSpPr txBox="1">
                <a:spLocks noRot="1" noChangeAspect="1" noMove="1" noResize="1" noEditPoints="1" noAdjustHandles="1" noChangeArrowheads="1" noChangeShapeType="1" noTextEdit="1"/>
              </p:cNvSpPr>
              <p:nvPr/>
            </p:nvSpPr>
            <p:spPr bwMode="auto">
              <a:xfrm>
                <a:off x="1408415" y="1583903"/>
                <a:ext cx="6403945" cy="1027528"/>
              </a:xfrm>
              <a:prstGeom prst="rect">
                <a:avLst/>
              </a:prstGeom>
              <a:blipFill>
                <a:blip r:embed="rId2"/>
                <a:stretch>
                  <a:fillRect/>
                </a:stretch>
              </a:blipFill>
              <a:extLst/>
            </p:spPr>
            <p:txBody>
              <a:bodyPr/>
              <a:lstStyle/>
              <a:p>
                <a:r>
                  <a:rPr lang="zh-CN" altLang="en-US">
                    <a:noFill/>
                  </a:rPr>
                  <a:t> </a:t>
                </a:r>
              </a:p>
            </p:txBody>
          </p:sp>
        </mc:Fallback>
      </mc:AlternateContent>
      <p:sp>
        <p:nvSpPr>
          <p:cNvPr id="71686" name="Rectangle 6">
            <a:extLst>
              <a:ext uri="{FF2B5EF4-FFF2-40B4-BE49-F238E27FC236}">
                <a16:creationId xmlns:a16="http://schemas.microsoft.com/office/drawing/2014/main" id="{1E423D45-928C-4FE9-A116-21072D20D42C}"/>
              </a:ext>
            </a:extLst>
          </p:cNvPr>
          <p:cNvSpPr>
            <a:spLocks noChangeArrowheads="1"/>
          </p:cNvSpPr>
          <p:nvPr/>
        </p:nvSpPr>
        <p:spPr bwMode="auto">
          <a:xfrm>
            <a:off x="1115616" y="3050742"/>
            <a:ext cx="11521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dirty="0">
                <a:latin typeface="微软雅黑" panose="020B0503020204020204" pitchFamily="34" charset="-122"/>
                <a:ea typeface="微软雅黑" panose="020B0503020204020204" pitchFamily="34" charset="-122"/>
              </a:rPr>
              <a:t>取其模值 </a:t>
            </a:r>
          </a:p>
        </p:txBody>
      </p:sp>
      <mc:AlternateContent xmlns:mc="http://schemas.openxmlformats.org/markup-compatibility/2006" xmlns:a14="http://schemas.microsoft.com/office/drawing/2010/main">
        <mc:Choice Requires="a14">
          <p:sp>
            <p:nvSpPr>
              <p:cNvPr id="71687" name="Object 7">
                <a:extLst>
                  <a:ext uri="{FF2B5EF4-FFF2-40B4-BE49-F238E27FC236}">
                    <a16:creationId xmlns:a16="http://schemas.microsoft.com/office/drawing/2014/main" id="{A15EFFAD-C0C9-4566-B1CF-625493B6BC07}"/>
                  </a:ext>
                </a:extLst>
              </p:cNvPr>
              <p:cNvSpPr txBox="1"/>
              <p:nvPr/>
            </p:nvSpPr>
            <p:spPr bwMode="auto">
              <a:xfrm>
                <a:off x="1403648" y="3619543"/>
                <a:ext cx="5904656" cy="1299035"/>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m:rPr>
                                  <m:sty m:val="p"/>
                                </m:rPr>
                                <a:rPr lang="zh-CN" altLang="en-US" i="0">
                                  <a:solidFill>
                                    <a:srgbClr val="000000"/>
                                  </a:solidFill>
                                  <a:latin typeface="Cambria Math" panose="02040503050406030204" pitchFamily="18" charset="0"/>
                                </a:rPr>
                                <m:t>m</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m:rPr>
                                  <m:nor/>
                                </m:rPr>
                                <a:rPr lang="zh-CN" altLang="en-US" i="0">
                                  <a:solidFill>
                                    <a:srgbClr val="000000"/>
                                  </a:solidFill>
                                  <a:latin typeface="Cambria Math" panose="02040503050406030204" pitchFamily="18" charset="0"/>
                                </a:rPr>
                                <m:t>0</m:t>
                              </m:r>
                              <m:r>
                                <m:rPr>
                                  <m:nor/>
                                </m:rPr>
                                <a:rPr lang="zh-CN" altLang="en-US" i="0">
                                  <a:solidFill>
                                    <a:srgbClr val="000000"/>
                                  </a:solidFill>
                                  <a:latin typeface="Cambria Math" panose="02040503050406030204" pitchFamily="18" charset="0"/>
                                </a:rPr>
                                <m:t>m</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𝑄</m:t>
                                  </m:r>
                                </m:e>
                                <m:sup>
                                  <m:r>
                                    <a:rPr lang="zh-CN" altLang="en-US" i="1">
                                      <a:solidFill>
                                        <a:srgbClr val="000000"/>
                                      </a:solidFill>
                                      <a:latin typeface="Cambria Math" panose="02040503050406030204" pitchFamily="18" charset="0"/>
                                    </a:rPr>
                                    <m:t>2</m:t>
                                  </m:r>
                                </m:sup>
                              </m:sSup>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𝜔</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𝜔</m:t>
                                          </m:r>
                                        </m:den>
                                      </m:f>
                                    </m:e>
                                  </m:d>
                                </m:e>
                                <m:sup>
                                  <m:r>
                                    <a:rPr lang="zh-CN" altLang="en-US" i="1">
                                      <a:solidFill>
                                        <a:srgbClr val="000000"/>
                                      </a:solidFill>
                                      <a:latin typeface="Cambria Math" panose="02040503050406030204" pitchFamily="18" charset="0"/>
                                    </a:rPr>
                                    <m:t>2</m:t>
                                  </m:r>
                                </m:sup>
                              </m:sSup>
                            </m:e>
                          </m:rad>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𝑄</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𝜔</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den>
                                      </m:f>
                                    </m:e>
                                  </m:d>
                                </m:e>
                                <m:sup>
                                  <m:r>
                                    <a:rPr lang="zh-CN" altLang="en-US" i="1">
                                      <a:solidFill>
                                        <a:srgbClr val="000000"/>
                                      </a:solidFill>
                                      <a:latin typeface="Cambria Math" panose="02040503050406030204" pitchFamily="18" charset="0"/>
                                    </a:rPr>
                                    <m:t>2</m:t>
                                  </m:r>
                                </m:sup>
                              </m:sSup>
                            </m:e>
                          </m:rad>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𝜉</m:t>
                                  </m:r>
                                </m:e>
                                <m:sup>
                                  <m:r>
                                    <a:rPr lang="zh-CN" altLang="en-US" i="1">
                                      <a:solidFill>
                                        <a:srgbClr val="000000"/>
                                      </a:solidFill>
                                      <a:latin typeface="Cambria Math" panose="02040503050406030204" pitchFamily="18" charset="0"/>
                                    </a:rPr>
                                    <m:t>2</m:t>
                                  </m:r>
                                </m:sup>
                              </m:sSup>
                            </m:e>
                          </m:rad>
                        </m:den>
                      </m:f>
                    </m:oMath>
                  </m:oMathPara>
                </a14:m>
                <a:endParaRPr lang="zh-CN" altLang="en-US" dirty="0"/>
              </a:p>
            </p:txBody>
          </p:sp>
        </mc:Choice>
        <mc:Fallback xmlns="">
          <p:sp>
            <p:nvSpPr>
              <p:cNvPr id="71687" name="Object 7">
                <a:extLst>
                  <a:ext uri="{FF2B5EF4-FFF2-40B4-BE49-F238E27FC236}">
                    <a16:creationId xmlns:a16="http://schemas.microsoft.com/office/drawing/2014/main" id="{A15EFFAD-C0C9-4566-B1CF-625493B6BC07}"/>
                  </a:ext>
                </a:extLst>
              </p:cNvPr>
              <p:cNvSpPr txBox="1">
                <a:spLocks noRot="1" noChangeAspect="1" noMove="1" noResize="1" noEditPoints="1" noAdjustHandles="1" noChangeArrowheads="1" noChangeShapeType="1" noTextEdit="1"/>
              </p:cNvSpPr>
              <p:nvPr/>
            </p:nvSpPr>
            <p:spPr bwMode="auto">
              <a:xfrm>
                <a:off x="1403648" y="3619543"/>
                <a:ext cx="5904656" cy="1299035"/>
              </a:xfrm>
              <a:prstGeom prst="rect">
                <a:avLst/>
              </a:prstGeom>
              <a:blipFill>
                <a:blip r:embed="rId3"/>
                <a:stretch>
                  <a:fillRect/>
                </a:stretch>
              </a:blipFill>
              <a:extLst/>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FF910D36-2A88-430F-9796-BD60CE68AAC0}"/>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15" name="Rectangle 3">
            <a:extLst>
              <a:ext uri="{FF2B5EF4-FFF2-40B4-BE49-F238E27FC236}">
                <a16:creationId xmlns:a16="http://schemas.microsoft.com/office/drawing/2014/main" id="{B584729F-132F-4C77-AF94-004A4212A4FE}"/>
              </a:ext>
            </a:extLst>
          </p:cNvPr>
          <p:cNvSpPr txBox="1">
            <a:spLocks noChangeArrowheads="1"/>
          </p:cNvSpPr>
          <p:nvPr/>
        </p:nvSpPr>
        <p:spPr bwMode="auto">
          <a:xfrm>
            <a:off x="683568" y="671466"/>
            <a:ext cx="1944216" cy="408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谐振曲线</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89F03081-1C94-4E00-84DE-E2BA0FB61D82}"/>
              </a:ext>
            </a:extLst>
          </p:cNvPr>
          <p:cNvSpPr>
            <a:spLocks noGrp="1"/>
          </p:cNvSpPr>
          <p:nvPr>
            <p:ph type="sldNum" sz="quarter" idx="12"/>
          </p:nvPr>
        </p:nvSpPr>
        <p:spPr/>
        <p:txBody>
          <a:bodyPr/>
          <a:lstStyle/>
          <a:p>
            <a:fld id="{800C3786-996C-4B1B-B70C-6B1FFCE228FF}" type="slidenum">
              <a:rPr lang="en-US" altLang="ko-KR"/>
              <a:pPr/>
              <a:t>10</a:t>
            </a:fld>
            <a:endParaRPr lang="en-US" altLang="ko-KR"/>
          </a:p>
        </p:txBody>
      </p:sp>
      <p:graphicFrame>
        <p:nvGraphicFramePr>
          <p:cNvPr id="86025" name="Object 9">
            <a:extLst>
              <a:ext uri="{FF2B5EF4-FFF2-40B4-BE49-F238E27FC236}">
                <a16:creationId xmlns:a16="http://schemas.microsoft.com/office/drawing/2014/main" id="{E75288A2-FCF9-4D4E-AA82-A481856C89E2}"/>
              </a:ext>
            </a:extLst>
          </p:cNvPr>
          <p:cNvGraphicFramePr>
            <a:graphicFrameLocks noChangeAspect="1"/>
          </p:cNvGraphicFramePr>
          <p:nvPr>
            <p:extLst>
              <p:ext uri="{D42A27DB-BD31-4B8C-83A1-F6EECF244321}">
                <p14:modId xmlns:p14="http://schemas.microsoft.com/office/powerpoint/2010/main" val="2256682971"/>
              </p:ext>
            </p:extLst>
          </p:nvPr>
        </p:nvGraphicFramePr>
        <p:xfrm>
          <a:off x="2088683" y="1583903"/>
          <a:ext cx="4966634" cy="2751074"/>
        </p:xfrm>
        <a:graphic>
          <a:graphicData uri="http://schemas.openxmlformats.org/presentationml/2006/ole">
            <mc:AlternateContent xmlns:mc="http://schemas.openxmlformats.org/markup-compatibility/2006">
              <mc:Choice xmlns:v="urn:schemas-microsoft-com:vml" Requires="v">
                <p:oleObj spid="_x0000_s8217" name="图片" r:id="rId3" imgW="2287892" imgH="1313851" progId="Word.Picture.8">
                  <p:embed/>
                </p:oleObj>
              </mc:Choice>
              <mc:Fallback>
                <p:oleObj name="图片" r:id="rId3" imgW="2287892" imgH="1313851" progId="Word.Picture.8">
                  <p:embed/>
                  <p:pic>
                    <p:nvPicPr>
                      <p:cNvPr id="86025" name="Object 9">
                        <a:extLst>
                          <a:ext uri="{FF2B5EF4-FFF2-40B4-BE49-F238E27FC236}">
                            <a16:creationId xmlns:a16="http://schemas.microsoft.com/office/drawing/2014/main" id="{E75288A2-FCF9-4D4E-AA82-A481856C89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944" t="4245" r="3612" b="6850"/>
                      <a:stretch>
                        <a:fillRect/>
                      </a:stretch>
                    </p:blipFill>
                    <p:spPr bwMode="auto">
                      <a:xfrm>
                        <a:off x="2088683" y="1583903"/>
                        <a:ext cx="4966634" cy="27510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27" name="Rectangle 11">
            <a:extLst>
              <a:ext uri="{FF2B5EF4-FFF2-40B4-BE49-F238E27FC236}">
                <a16:creationId xmlns:a16="http://schemas.microsoft.com/office/drawing/2014/main" id="{D66CE405-134A-41D4-9288-124A523A64F0}"/>
              </a:ext>
            </a:extLst>
          </p:cNvPr>
          <p:cNvSpPr>
            <a:spLocks noChangeArrowheads="1"/>
          </p:cNvSpPr>
          <p:nvPr/>
        </p:nvSpPr>
        <p:spPr bwMode="auto">
          <a:xfrm>
            <a:off x="3178028" y="4493368"/>
            <a:ext cx="27879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latin typeface="微软雅黑" panose="020B0503020204020204" pitchFamily="34" charset="-122"/>
                <a:ea typeface="微软雅黑" panose="020B0503020204020204" pitchFamily="34" charset="-122"/>
              </a:rPr>
              <a:t>串联谐振回路的谐振曲线 </a:t>
            </a:r>
          </a:p>
        </p:txBody>
      </p:sp>
      <p:sp>
        <p:nvSpPr>
          <p:cNvPr id="10" name="矩形 9">
            <a:extLst>
              <a:ext uri="{FF2B5EF4-FFF2-40B4-BE49-F238E27FC236}">
                <a16:creationId xmlns:a16="http://schemas.microsoft.com/office/drawing/2014/main" id="{4EE1F374-C788-4E0D-B154-D236E71D699A}"/>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15" name="Rectangle 3">
            <a:extLst>
              <a:ext uri="{FF2B5EF4-FFF2-40B4-BE49-F238E27FC236}">
                <a16:creationId xmlns:a16="http://schemas.microsoft.com/office/drawing/2014/main" id="{668142EA-8FCD-49FA-8694-7BCBCAC1A6A0}"/>
              </a:ext>
            </a:extLst>
          </p:cNvPr>
          <p:cNvSpPr txBox="1">
            <a:spLocks noChangeArrowheads="1"/>
          </p:cNvSpPr>
          <p:nvPr/>
        </p:nvSpPr>
        <p:spPr bwMode="auto">
          <a:xfrm>
            <a:off x="683568" y="671466"/>
            <a:ext cx="1944216" cy="408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谐振曲线</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4B63452B-1FB9-4B6D-9C70-1ED293A549F4}"/>
              </a:ext>
            </a:extLst>
          </p:cNvPr>
          <p:cNvSpPr>
            <a:spLocks noGrp="1"/>
          </p:cNvSpPr>
          <p:nvPr>
            <p:ph type="sldNum" sz="quarter" idx="12"/>
          </p:nvPr>
        </p:nvSpPr>
        <p:spPr/>
        <p:txBody>
          <a:bodyPr/>
          <a:lstStyle/>
          <a:p>
            <a:fld id="{8347F741-78A0-4D63-BECA-1EC55A6E2000}" type="slidenum">
              <a:rPr lang="en-US" altLang="ko-KR"/>
              <a:pPr/>
              <a:t>11</a:t>
            </a:fld>
            <a:endParaRPr lang="en-US" altLang="ko-KR"/>
          </a:p>
        </p:txBody>
      </p:sp>
      <p:sp>
        <p:nvSpPr>
          <p:cNvPr id="72707" name="Rectangle 3">
            <a:extLst>
              <a:ext uri="{FF2B5EF4-FFF2-40B4-BE49-F238E27FC236}">
                <a16:creationId xmlns:a16="http://schemas.microsoft.com/office/drawing/2014/main" id="{095D05EA-E58A-461C-90ED-8C6FF5D275F1}"/>
              </a:ext>
            </a:extLst>
          </p:cNvPr>
          <p:cNvSpPr>
            <a:spLocks noGrp="1" noChangeArrowheads="1"/>
          </p:cNvSpPr>
          <p:nvPr>
            <p:ph type="body" idx="1"/>
          </p:nvPr>
        </p:nvSpPr>
        <p:spPr>
          <a:xfrm>
            <a:off x="673571" y="632694"/>
            <a:ext cx="1522165" cy="505676"/>
          </a:xfrm>
        </p:spPr>
        <p:txBody>
          <a:bodyPr/>
          <a:lstStyle/>
          <a:p>
            <a:r>
              <a:rPr lang="zh-CN" altLang="en-US" sz="2400" dirty="0">
                <a:latin typeface="微软雅黑" panose="020B0503020204020204" pitchFamily="34" charset="-122"/>
                <a:ea typeface="微软雅黑" panose="020B0503020204020204" pitchFamily="34" charset="-122"/>
              </a:rPr>
              <a:t>通频带 </a:t>
            </a:r>
          </a:p>
        </p:txBody>
      </p:sp>
      <p:graphicFrame>
        <p:nvGraphicFramePr>
          <p:cNvPr id="72708" name="Object 4">
            <a:extLst>
              <a:ext uri="{FF2B5EF4-FFF2-40B4-BE49-F238E27FC236}">
                <a16:creationId xmlns:a16="http://schemas.microsoft.com/office/drawing/2014/main" id="{4CCEE57F-92E5-4C43-A260-4E4A101FBCD3}"/>
              </a:ext>
            </a:extLst>
          </p:cNvPr>
          <p:cNvGraphicFramePr>
            <a:graphicFrameLocks noChangeAspect="1"/>
          </p:cNvGraphicFramePr>
          <p:nvPr>
            <p:extLst>
              <p:ext uri="{D42A27DB-BD31-4B8C-83A1-F6EECF244321}">
                <p14:modId xmlns:p14="http://schemas.microsoft.com/office/powerpoint/2010/main" val="3010369889"/>
              </p:ext>
            </p:extLst>
          </p:nvPr>
        </p:nvGraphicFramePr>
        <p:xfrm>
          <a:off x="673571" y="1531542"/>
          <a:ext cx="3538596" cy="2577070"/>
        </p:xfrm>
        <a:graphic>
          <a:graphicData uri="http://schemas.openxmlformats.org/presentationml/2006/ole">
            <mc:AlternateContent xmlns:mc="http://schemas.openxmlformats.org/markup-compatibility/2006">
              <mc:Choice xmlns:v="urn:schemas-microsoft-com:vml" Requires="v">
                <p:oleObj spid="_x0000_s9251" name="图片" r:id="rId3" imgW="1677811" imgH="1228181" progId="Word.Picture.8">
                  <p:embed/>
                </p:oleObj>
              </mc:Choice>
              <mc:Fallback>
                <p:oleObj name="图片" r:id="rId3" imgW="1677811" imgH="1228181" progId="Word.Picture.8">
                  <p:embed/>
                  <p:pic>
                    <p:nvPicPr>
                      <p:cNvPr id="72708" name="Object 4">
                        <a:extLst>
                          <a:ext uri="{FF2B5EF4-FFF2-40B4-BE49-F238E27FC236}">
                            <a16:creationId xmlns:a16="http://schemas.microsoft.com/office/drawing/2014/main" id="{4CCEE57F-92E5-4C43-A260-4E4A101FBC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129" t="4503" r="3712" b="3987"/>
                      <a:stretch>
                        <a:fillRect/>
                      </a:stretch>
                    </p:blipFill>
                    <p:spPr bwMode="auto">
                      <a:xfrm>
                        <a:off x="673571" y="1531542"/>
                        <a:ext cx="3538596" cy="25770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0" name="Rectangle 6">
            <a:extLst>
              <a:ext uri="{FF2B5EF4-FFF2-40B4-BE49-F238E27FC236}">
                <a16:creationId xmlns:a16="http://schemas.microsoft.com/office/drawing/2014/main" id="{026F1EA6-8A5E-4DAB-8E84-60B71228740A}"/>
              </a:ext>
            </a:extLst>
          </p:cNvPr>
          <p:cNvSpPr>
            <a:spLocks noChangeArrowheads="1"/>
          </p:cNvSpPr>
          <p:nvPr/>
        </p:nvSpPr>
        <p:spPr bwMode="auto">
          <a:xfrm>
            <a:off x="4427984" y="2312245"/>
            <a:ext cx="410445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谐振回路的通频带通常用半功率点的两个边界频率之间的间隔表示，半功率的电流比</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0m</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0.707 </a:t>
            </a:r>
          </a:p>
        </p:txBody>
      </p:sp>
      <p:sp>
        <p:nvSpPr>
          <p:cNvPr id="72711" name="Rectangle 7">
            <a:extLst>
              <a:ext uri="{FF2B5EF4-FFF2-40B4-BE49-F238E27FC236}">
                <a16:creationId xmlns:a16="http://schemas.microsoft.com/office/drawing/2014/main" id="{9F80D35F-2995-44F3-BDB8-C31901C91592}"/>
              </a:ext>
            </a:extLst>
          </p:cNvPr>
          <p:cNvSpPr>
            <a:spLocks noChangeArrowheads="1"/>
          </p:cNvSpPr>
          <p:nvPr/>
        </p:nvSpPr>
        <p:spPr bwMode="auto">
          <a:xfrm>
            <a:off x="1187624" y="4922099"/>
            <a:ext cx="9493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000" dirty="0">
                <a:latin typeface="微软雅黑" panose="020B0503020204020204" pitchFamily="34" charset="-122"/>
                <a:ea typeface="微软雅黑" panose="020B0503020204020204" pitchFamily="34" charset="-122"/>
              </a:rPr>
              <a:t>通频带</a:t>
            </a:r>
            <a:r>
              <a:rPr lang="en-US" altLang="zh-CN" sz="2000" dirty="0">
                <a:latin typeface="微软雅黑" panose="020B0503020204020204" pitchFamily="34" charset="-122"/>
                <a:ea typeface="微软雅黑" panose="020B0503020204020204" pitchFamily="34" charset="-122"/>
              </a:rPr>
              <a:t> </a:t>
            </a:r>
          </a:p>
        </p:txBody>
      </p:sp>
      <mc:AlternateContent xmlns:mc="http://schemas.openxmlformats.org/markup-compatibility/2006" xmlns:a14="http://schemas.microsoft.com/office/drawing/2010/main">
        <mc:Choice Requires="a14">
          <p:sp>
            <p:nvSpPr>
              <p:cNvPr id="72712" name="Object 8">
                <a:extLst>
                  <a:ext uri="{FF2B5EF4-FFF2-40B4-BE49-F238E27FC236}">
                    <a16:creationId xmlns:a16="http://schemas.microsoft.com/office/drawing/2014/main" id="{B725F2F6-74A1-4CC1-AF41-A27F6E1DF6FD}"/>
                  </a:ext>
                </a:extLst>
              </p:cNvPr>
              <p:cNvSpPr txBox="1"/>
              <p:nvPr/>
            </p:nvSpPr>
            <p:spPr bwMode="auto">
              <a:xfrm>
                <a:off x="2267744" y="4683392"/>
                <a:ext cx="6055664" cy="877524"/>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m:rPr>
                          <m:nor/>
                        </m:rPr>
                        <a:rPr lang="zh-CN" altLang="en-US" i="0">
                          <a:solidFill>
                            <a:srgbClr val="000000"/>
                          </a:solidFill>
                          <a:latin typeface="Cambria Math" panose="02040503050406030204" pitchFamily="18" charset="0"/>
                        </a:rPr>
                        <m:t>BW</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1</m:t>
                              </m:r>
                            </m:sub>
                          </m:sSub>
                        </m:num>
                        <m:den>
                          <m:r>
                            <a:rPr lang="zh-CN" altLang="en-US" i="1">
                              <a:solidFill>
                                <a:srgbClr val="000000"/>
                              </a:solidFill>
                              <a:latin typeface="Cambria Math" panose="02040503050406030204" pitchFamily="18" charset="0"/>
                            </a:rPr>
                            <m:t>2</m:t>
                          </m:r>
                          <m:r>
                            <m:rPr>
                              <m:sty m:val="p"/>
                            </m:rPr>
                            <a:rPr lang="zh-CN" altLang="en-US" i="0">
                              <a:solidFill>
                                <a:srgbClr val="000000"/>
                              </a:solidFill>
                              <a:latin typeface="Cambria Math" panose="02040503050406030204" pitchFamily="18" charset="0"/>
                            </a:rPr>
                            <m:t>π</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e>
                          </m:d>
                        </m:num>
                        <m:den>
                          <m:r>
                            <a:rPr lang="zh-CN" altLang="en-US" i="1">
                              <a:solidFill>
                                <a:srgbClr val="000000"/>
                              </a:solidFill>
                              <a:latin typeface="Cambria Math" panose="02040503050406030204" pitchFamily="18" charset="0"/>
                            </a:rPr>
                            <m:t>2</m:t>
                          </m:r>
                          <m:r>
                            <m:rPr>
                              <m:sty m:val="p"/>
                            </m:rPr>
                            <a:rPr lang="zh-CN" altLang="en-US" i="0">
                              <a:solidFill>
                                <a:srgbClr val="000000"/>
                              </a:solidFill>
                              <a:latin typeface="Cambria Math" panose="02040503050406030204" pitchFamily="18" charset="0"/>
                            </a:rPr>
                            <m:t>π</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r>
                            <m:rPr>
                              <m:sty m:val="p"/>
                            </m:rPr>
                            <a:rPr lang="zh-CN" altLang="en-US" i="1">
                              <a:solidFill>
                                <a:srgbClr val="000000"/>
                              </a:solidFill>
                              <a:latin typeface="Cambria Math" panose="02040503050406030204" pitchFamily="18" charset="0"/>
                            </a:rPr>
                            <m:t>Δ</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0.7</m:t>
                              </m:r>
                            </m:sub>
                          </m:sSub>
                        </m:num>
                        <m:den>
                          <m:r>
                            <a:rPr lang="zh-CN" altLang="en-US" i="1">
                              <a:solidFill>
                                <a:srgbClr val="000000"/>
                              </a:solidFill>
                              <a:latin typeface="Cambria Math" panose="02040503050406030204" pitchFamily="18" charset="0"/>
                            </a:rPr>
                            <m:t>2</m:t>
                          </m:r>
                          <m:r>
                            <m:rPr>
                              <m:sty m:val="p"/>
                            </m:rPr>
                            <a:rPr lang="zh-CN" altLang="en-US" i="0">
                              <a:solidFill>
                                <a:srgbClr val="000000"/>
                              </a:solidFill>
                              <a:latin typeface="Cambria Math" panose="02040503050406030204" pitchFamily="18" charset="0"/>
                            </a:rPr>
                            <m:t>π</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2</m:t>
                          </m:r>
                          <m:r>
                            <m:rPr>
                              <m:sty m:val="p"/>
                            </m:rPr>
                            <a:rPr lang="zh-CN" altLang="en-US" i="0">
                              <a:solidFill>
                                <a:srgbClr val="000000"/>
                              </a:solidFill>
                              <a:latin typeface="Cambria Math" panose="02040503050406030204" pitchFamily="18" charset="0"/>
                            </a:rPr>
                            <m:t>π</m:t>
                          </m:r>
                          <m:r>
                            <a:rPr lang="zh-CN" altLang="en-US" i="1">
                              <a:solidFill>
                                <a:srgbClr val="000000"/>
                              </a:solidFill>
                              <a:latin typeface="Cambria Math" panose="02040503050406030204" pitchFamily="18" charset="0"/>
                            </a:rPr>
                            <m:t>𝑄</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𝑄</m:t>
                          </m:r>
                        </m:den>
                      </m:f>
                    </m:oMath>
                  </m:oMathPara>
                </a14:m>
                <a:endParaRPr lang="zh-CN" altLang="en-US" dirty="0"/>
              </a:p>
            </p:txBody>
          </p:sp>
        </mc:Choice>
        <mc:Fallback xmlns="">
          <p:sp>
            <p:nvSpPr>
              <p:cNvPr id="72712" name="Object 8">
                <a:extLst>
                  <a:ext uri="{FF2B5EF4-FFF2-40B4-BE49-F238E27FC236}">
                    <a16:creationId xmlns:a16="http://schemas.microsoft.com/office/drawing/2014/main" id="{B725F2F6-74A1-4CC1-AF41-A27F6E1DF6FD}"/>
                  </a:ext>
                </a:extLst>
              </p:cNvPr>
              <p:cNvSpPr txBox="1">
                <a:spLocks noRot="1" noChangeAspect="1" noMove="1" noResize="1" noEditPoints="1" noAdjustHandles="1" noChangeArrowheads="1" noChangeShapeType="1" noTextEdit="1"/>
              </p:cNvSpPr>
              <p:nvPr/>
            </p:nvSpPr>
            <p:spPr bwMode="auto">
              <a:xfrm>
                <a:off x="2267744" y="4683392"/>
                <a:ext cx="6055664" cy="877524"/>
              </a:xfrm>
              <a:prstGeom prst="rect">
                <a:avLst/>
              </a:prstGeom>
              <a:blipFill>
                <a:blip r:embed="rId5"/>
                <a:stretch>
                  <a:fillRect/>
                </a:stretch>
              </a:blipFill>
              <a:extLst/>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F6929527-DBF3-44E6-ACAB-10DECC991D22}"/>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80B5BD2B-8FD8-4903-8CE6-46E5A09DDD6D}"/>
              </a:ext>
            </a:extLst>
          </p:cNvPr>
          <p:cNvSpPr>
            <a:spLocks noGrp="1"/>
          </p:cNvSpPr>
          <p:nvPr>
            <p:ph type="sldNum" sz="quarter" idx="12"/>
          </p:nvPr>
        </p:nvSpPr>
        <p:spPr/>
        <p:txBody>
          <a:bodyPr/>
          <a:lstStyle/>
          <a:p>
            <a:fld id="{6B3F0A1B-8C48-47FC-AE73-F633EFD3D159}" type="slidenum">
              <a:rPr lang="en-US" altLang="ko-KR"/>
              <a:pPr/>
              <a:t>12</a:t>
            </a:fld>
            <a:endParaRPr lang="en-US" altLang="ko-KR"/>
          </a:p>
        </p:txBody>
      </p:sp>
      <p:sp>
        <p:nvSpPr>
          <p:cNvPr id="73731" name="Rectangle 3">
            <a:extLst>
              <a:ext uri="{FF2B5EF4-FFF2-40B4-BE49-F238E27FC236}">
                <a16:creationId xmlns:a16="http://schemas.microsoft.com/office/drawing/2014/main" id="{08F0CA76-BD08-4686-93D4-9B0B7FB224DC}"/>
              </a:ext>
            </a:extLst>
          </p:cNvPr>
          <p:cNvSpPr>
            <a:spLocks noGrp="1" noChangeArrowheads="1"/>
          </p:cNvSpPr>
          <p:nvPr>
            <p:ph type="body" idx="1"/>
          </p:nvPr>
        </p:nvSpPr>
        <p:spPr>
          <a:xfrm>
            <a:off x="683568" y="719807"/>
            <a:ext cx="3384376" cy="432048"/>
          </a:xfrm>
        </p:spPr>
        <p:txBody>
          <a:bodyPr/>
          <a:lstStyle/>
          <a:p>
            <a:r>
              <a:rPr lang="zh-CN" altLang="en-US" sz="2400" dirty="0">
                <a:latin typeface="微软雅黑" panose="020B0503020204020204" pitchFamily="34" charset="-122"/>
                <a:ea typeface="微软雅黑" panose="020B0503020204020204" pitchFamily="34" charset="-122"/>
              </a:rPr>
              <a:t>电感线圈的交变磁场</a:t>
            </a:r>
          </a:p>
        </p:txBody>
      </p:sp>
      <p:graphicFrame>
        <p:nvGraphicFramePr>
          <p:cNvPr id="73733" name="Object 5">
            <a:extLst>
              <a:ext uri="{FF2B5EF4-FFF2-40B4-BE49-F238E27FC236}">
                <a16:creationId xmlns:a16="http://schemas.microsoft.com/office/drawing/2014/main" id="{64D30644-FF3C-4EAD-8C76-C95B67A98015}"/>
              </a:ext>
            </a:extLst>
          </p:cNvPr>
          <p:cNvGraphicFramePr>
            <a:graphicFrameLocks noChangeAspect="1"/>
          </p:cNvGraphicFramePr>
          <p:nvPr>
            <p:extLst>
              <p:ext uri="{D42A27DB-BD31-4B8C-83A1-F6EECF244321}">
                <p14:modId xmlns:p14="http://schemas.microsoft.com/office/powerpoint/2010/main" val="1167826843"/>
              </p:ext>
            </p:extLst>
          </p:nvPr>
        </p:nvGraphicFramePr>
        <p:xfrm>
          <a:off x="1907704" y="2592015"/>
          <a:ext cx="2857577" cy="2470566"/>
        </p:xfrm>
        <a:graphic>
          <a:graphicData uri="http://schemas.openxmlformats.org/presentationml/2006/ole">
            <mc:AlternateContent xmlns:mc="http://schemas.openxmlformats.org/markup-compatibility/2006">
              <mc:Choice xmlns:v="urn:schemas-microsoft-com:vml" Requires="v">
                <p:oleObj spid="_x0000_s10275" name="图片" r:id="rId3" imgW="1477454" imgH="1275696" progId="Word.Picture.8">
                  <p:embed/>
                </p:oleObj>
              </mc:Choice>
              <mc:Fallback>
                <p:oleObj name="图片" r:id="rId3" imgW="1477454" imgH="1275696" progId="Word.Picture.8">
                  <p:embed/>
                  <p:pic>
                    <p:nvPicPr>
                      <p:cNvPr id="73733" name="Object 5">
                        <a:extLst>
                          <a:ext uri="{FF2B5EF4-FFF2-40B4-BE49-F238E27FC236}">
                            <a16:creationId xmlns:a16="http://schemas.microsoft.com/office/drawing/2014/main" id="{64D30644-FF3C-4EAD-8C76-C95B67A980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2592015"/>
                        <a:ext cx="2857577" cy="24705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73735" name="Object 7">
                <a:extLst>
                  <a:ext uri="{FF2B5EF4-FFF2-40B4-BE49-F238E27FC236}">
                    <a16:creationId xmlns:a16="http://schemas.microsoft.com/office/drawing/2014/main" id="{7FFEFCC3-832E-440B-8784-FE6EA9EB83CA}"/>
                  </a:ext>
                </a:extLst>
              </p:cNvPr>
              <p:cNvSpPr txBox="1"/>
              <p:nvPr/>
            </p:nvSpPr>
            <p:spPr bwMode="auto">
              <a:xfrm>
                <a:off x="5652120" y="3240087"/>
                <a:ext cx="1360537" cy="871524"/>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i="1">
                          <a:solidFill>
                            <a:srgbClr val="000000"/>
                          </a:solidFill>
                          <a:latin typeface="Cambria Math" panose="02040503050406030204" pitchFamily="18" charset="0"/>
                        </a:rPr>
                        <m:t>H</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𝑖</m:t>
                          </m:r>
                        </m:num>
                        <m:den>
                          <m:r>
                            <a:rPr lang="zh-CN" altLang="en-US" i="1">
                              <a:solidFill>
                                <a:srgbClr val="000000"/>
                              </a:solidFill>
                              <a:latin typeface="Cambria Math" panose="02040503050406030204" pitchFamily="18" charset="0"/>
                            </a:rPr>
                            <m:t>2</m:t>
                          </m:r>
                          <m:r>
                            <m:rPr>
                              <m:sty m:val="p"/>
                            </m:rPr>
                            <a:rPr lang="zh-CN" altLang="en-US" i="0">
                              <a:solidFill>
                                <a:srgbClr val="000000"/>
                              </a:solidFill>
                              <a:latin typeface="Cambria Math" panose="02040503050406030204" pitchFamily="18" charset="0"/>
                            </a:rPr>
                            <m:t>π</m:t>
                          </m:r>
                          <m:r>
                            <a:rPr lang="zh-CN" altLang="en-US" i="1">
                              <a:solidFill>
                                <a:srgbClr val="000000"/>
                              </a:solidFill>
                              <a:latin typeface="Cambria Math" panose="02040503050406030204" pitchFamily="18" charset="0"/>
                            </a:rPr>
                            <m:t>𝑎</m:t>
                          </m:r>
                        </m:den>
                      </m:f>
                    </m:oMath>
                  </m:oMathPara>
                </a14:m>
                <a:endParaRPr lang="zh-CN" altLang="en-US" dirty="0"/>
              </a:p>
            </p:txBody>
          </p:sp>
        </mc:Choice>
        <mc:Fallback xmlns="">
          <p:sp>
            <p:nvSpPr>
              <p:cNvPr id="73735" name="Object 7">
                <a:extLst>
                  <a:ext uri="{FF2B5EF4-FFF2-40B4-BE49-F238E27FC236}">
                    <a16:creationId xmlns:a16="http://schemas.microsoft.com/office/drawing/2014/main" id="{7FFEFCC3-832E-440B-8784-FE6EA9EB83CA}"/>
                  </a:ext>
                </a:extLst>
              </p:cNvPr>
              <p:cNvSpPr txBox="1">
                <a:spLocks noRot="1" noChangeAspect="1" noMove="1" noResize="1" noEditPoints="1" noAdjustHandles="1" noChangeArrowheads="1" noChangeShapeType="1" noTextEdit="1"/>
              </p:cNvSpPr>
              <p:nvPr/>
            </p:nvSpPr>
            <p:spPr bwMode="auto">
              <a:xfrm>
                <a:off x="5652120" y="3240087"/>
                <a:ext cx="1360537" cy="871524"/>
              </a:xfrm>
              <a:prstGeom prst="rect">
                <a:avLst/>
              </a:prstGeom>
              <a:blipFill>
                <a:blip r:embed="rId5"/>
                <a:stretch>
                  <a:fillRect/>
                </a:stretch>
              </a:blipFill>
              <a:extLst/>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79CC228D-401E-4AE4-8D29-755BB122A166}"/>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4" name="矩形 3">
            <a:extLst>
              <a:ext uri="{FF2B5EF4-FFF2-40B4-BE49-F238E27FC236}">
                <a16:creationId xmlns:a16="http://schemas.microsoft.com/office/drawing/2014/main" id="{068BACAE-4313-4BDA-B4AB-D929E12D6730}"/>
              </a:ext>
            </a:extLst>
          </p:cNvPr>
          <p:cNvSpPr/>
          <p:nvPr/>
        </p:nvSpPr>
        <p:spPr>
          <a:xfrm>
            <a:off x="755576" y="1555203"/>
            <a:ext cx="7632848" cy="707886"/>
          </a:xfrm>
          <a:prstGeom prst="rect">
            <a:avLst/>
          </a:prstGeom>
        </p:spPr>
        <p:txBody>
          <a:bodyPr wrap="square">
            <a:spAutoFit/>
          </a:bodyPr>
          <a:lstStyle/>
          <a:p>
            <a:pPr lvl="1"/>
            <a:r>
              <a:rPr lang="zh-CN" altLang="en-US" sz="2000" dirty="0">
                <a:latin typeface="微软雅黑" panose="020B0503020204020204" pitchFamily="34" charset="-122"/>
                <a:ea typeface="微软雅黑" panose="020B0503020204020204" pitchFamily="34" charset="-122"/>
              </a:rPr>
              <a:t>    安培定理指出，电流流过一个导体时，在此导体的周围会产生一个磁场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168A88FF-24A2-4ABA-812A-C0056BA32369}"/>
              </a:ext>
            </a:extLst>
          </p:cNvPr>
          <p:cNvSpPr>
            <a:spLocks noGrp="1"/>
          </p:cNvSpPr>
          <p:nvPr>
            <p:ph type="sldNum" sz="quarter" idx="12"/>
          </p:nvPr>
        </p:nvSpPr>
        <p:spPr/>
        <p:txBody>
          <a:bodyPr/>
          <a:lstStyle/>
          <a:p>
            <a:fld id="{2C6E5506-5613-4386-A30E-33D79BE84CC8}" type="slidenum">
              <a:rPr lang="en-US" altLang="ko-KR"/>
              <a:pPr/>
              <a:t>13</a:t>
            </a:fld>
            <a:endParaRPr lang="en-US" altLang="ko-KR"/>
          </a:p>
        </p:txBody>
      </p:sp>
      <p:sp>
        <p:nvSpPr>
          <p:cNvPr id="88067" name="Rectangle 3">
            <a:extLst>
              <a:ext uri="{FF2B5EF4-FFF2-40B4-BE49-F238E27FC236}">
                <a16:creationId xmlns:a16="http://schemas.microsoft.com/office/drawing/2014/main" id="{2A398D40-FE2F-4D20-B294-AB80DCF147B7}"/>
              </a:ext>
            </a:extLst>
          </p:cNvPr>
          <p:cNvSpPr>
            <a:spLocks noGrp="1" noChangeArrowheads="1"/>
          </p:cNvSpPr>
          <p:nvPr>
            <p:ph type="body" idx="1"/>
          </p:nvPr>
        </p:nvSpPr>
        <p:spPr>
          <a:xfrm>
            <a:off x="899901" y="1422362"/>
            <a:ext cx="7344198" cy="792088"/>
          </a:xfrm>
        </p:spPr>
        <p:txBody>
          <a:bodyPr/>
          <a:lstStyle/>
          <a:p>
            <a:pPr marL="457200" lvl="1" indent="0">
              <a:buNone/>
            </a:pPr>
            <a:r>
              <a:rPr lang="zh-CN" altLang="en-US" sz="2000" dirty="0">
                <a:latin typeface="微软雅黑" panose="020B0503020204020204" pitchFamily="34" charset="-122"/>
                <a:ea typeface="微软雅黑" panose="020B0503020204020204" pitchFamily="34" charset="-122"/>
              </a:rPr>
              <a:t>    在电感耦合的</a:t>
            </a:r>
            <a:r>
              <a:rPr lang="en-US" altLang="zh-CN" sz="2000" dirty="0">
                <a:latin typeface="微软雅黑" panose="020B0503020204020204" pitchFamily="34" charset="-122"/>
                <a:ea typeface="微软雅黑" panose="020B0503020204020204" pitchFamily="34" charset="-122"/>
              </a:rPr>
              <a:t>RFID</a:t>
            </a:r>
            <a:r>
              <a:rPr lang="zh-CN" altLang="en-US" sz="2000" dirty="0">
                <a:latin typeface="微软雅黑" panose="020B0503020204020204" pitchFamily="34" charset="-122"/>
                <a:ea typeface="微软雅黑" panose="020B0503020204020204" pitchFamily="34" charset="-122"/>
              </a:rPr>
              <a:t>系统中，阅读器天线电路的电感常采用短圆柱形线圈结构 。</a:t>
            </a:r>
          </a:p>
        </p:txBody>
      </p:sp>
      <mc:AlternateContent xmlns:mc="http://schemas.openxmlformats.org/markup-compatibility/2006" xmlns:a14="http://schemas.microsoft.com/office/drawing/2010/main">
        <mc:Choice Requires="a14">
          <p:sp>
            <p:nvSpPr>
              <p:cNvPr id="88071" name="Object 7">
                <a:extLst>
                  <a:ext uri="{FF2B5EF4-FFF2-40B4-BE49-F238E27FC236}">
                    <a16:creationId xmlns:a16="http://schemas.microsoft.com/office/drawing/2014/main" id="{22955C03-E25C-4665-BDC5-5903D6528742}"/>
                  </a:ext>
                </a:extLst>
              </p:cNvPr>
              <p:cNvSpPr txBox="1"/>
              <p:nvPr/>
            </p:nvSpPr>
            <p:spPr bwMode="auto">
              <a:xfrm>
                <a:off x="4773302" y="3206741"/>
                <a:ext cx="3327090" cy="1077029"/>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B</m:t>
                          </m:r>
                        </m:e>
                        <m:sub>
                          <m:r>
                            <m:rPr>
                              <m:sty m:val="p"/>
                            </m:rPr>
                            <a:rPr lang="zh-CN" altLang="en-US" i="0">
                              <a:solidFill>
                                <a:srgbClr val="000000"/>
                              </a:solidFill>
                              <a:latin typeface="Cambria Math" panose="02040503050406030204" pitchFamily="18" charset="0"/>
                            </a:rPr>
                            <m:t>Z</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0</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2</m:t>
                                      </m:r>
                                    </m:sup>
                                  </m:sSup>
                                </m:e>
                              </m:d>
                            </m:e>
                            <m:sup>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3</m:t>
                                  </m:r>
                                </m:num>
                                <m:den>
                                  <m:r>
                                    <a:rPr lang="zh-CN" altLang="en-US" i="1">
                                      <a:solidFill>
                                        <a:srgbClr val="000000"/>
                                      </a:solidFill>
                                      <a:latin typeface="Cambria Math" panose="02040503050406030204" pitchFamily="18" charset="0"/>
                                    </a:rPr>
                                    <m:t>2</m:t>
                                  </m:r>
                                </m:den>
                              </m:f>
                            </m:sup>
                          </m:sSup>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0</m:t>
                          </m:r>
                        </m:sub>
                      </m:sSub>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H</m:t>
                          </m:r>
                        </m:e>
                        <m:sub>
                          <m:r>
                            <m:rPr>
                              <m:sty m:val="p"/>
                            </m:rPr>
                            <a:rPr lang="zh-CN" altLang="en-US" i="0">
                              <a:solidFill>
                                <a:srgbClr val="000000"/>
                              </a:solidFill>
                              <a:latin typeface="Cambria Math" panose="02040503050406030204" pitchFamily="18" charset="0"/>
                            </a:rPr>
                            <m:t>Z</m:t>
                          </m:r>
                        </m:sub>
                      </m:sSub>
                    </m:oMath>
                  </m:oMathPara>
                </a14:m>
                <a:endParaRPr lang="zh-CN" altLang="en-US" dirty="0"/>
              </a:p>
            </p:txBody>
          </p:sp>
        </mc:Choice>
        <mc:Fallback xmlns="">
          <p:sp>
            <p:nvSpPr>
              <p:cNvPr id="88071" name="Object 7">
                <a:extLst>
                  <a:ext uri="{FF2B5EF4-FFF2-40B4-BE49-F238E27FC236}">
                    <a16:creationId xmlns:a16="http://schemas.microsoft.com/office/drawing/2014/main" id="{22955C03-E25C-4665-BDC5-5903D6528742}"/>
                  </a:ext>
                </a:extLst>
              </p:cNvPr>
              <p:cNvSpPr txBox="1">
                <a:spLocks noRot="1" noChangeAspect="1" noMove="1" noResize="1" noEditPoints="1" noAdjustHandles="1" noChangeArrowheads="1" noChangeShapeType="1" noTextEdit="1"/>
              </p:cNvSpPr>
              <p:nvPr/>
            </p:nvSpPr>
            <p:spPr bwMode="auto">
              <a:xfrm>
                <a:off x="4773302" y="3206741"/>
                <a:ext cx="3327090" cy="1077029"/>
              </a:xfrm>
              <a:prstGeom prst="rect">
                <a:avLst/>
              </a:prstGeom>
              <a:blipFill>
                <a:blip r:embed="rId3"/>
                <a:stretch>
                  <a:fillRect/>
                </a:stretch>
              </a:blipFill>
              <a:extLst/>
            </p:spPr>
            <p:txBody>
              <a:bodyPr/>
              <a:lstStyle/>
              <a:p>
                <a:r>
                  <a:rPr lang="zh-CN" altLang="en-US">
                    <a:noFill/>
                  </a:rPr>
                  <a:t> </a:t>
                </a:r>
              </a:p>
            </p:txBody>
          </p:sp>
        </mc:Fallback>
      </mc:AlternateContent>
      <p:graphicFrame>
        <p:nvGraphicFramePr>
          <p:cNvPr id="88073" name="Object 9">
            <a:extLst>
              <a:ext uri="{FF2B5EF4-FFF2-40B4-BE49-F238E27FC236}">
                <a16:creationId xmlns:a16="http://schemas.microsoft.com/office/drawing/2014/main" id="{F3E94BF7-E9C0-477B-B26D-9597D2D55BB5}"/>
              </a:ext>
            </a:extLst>
          </p:cNvPr>
          <p:cNvGraphicFramePr>
            <a:graphicFrameLocks noChangeAspect="1"/>
          </p:cNvGraphicFramePr>
          <p:nvPr>
            <p:extLst>
              <p:ext uri="{D42A27DB-BD31-4B8C-83A1-F6EECF244321}">
                <p14:modId xmlns:p14="http://schemas.microsoft.com/office/powerpoint/2010/main" val="2200018345"/>
              </p:ext>
            </p:extLst>
          </p:nvPr>
        </p:nvGraphicFramePr>
        <p:xfrm>
          <a:off x="1043608" y="2394470"/>
          <a:ext cx="4081611" cy="2701572"/>
        </p:xfrm>
        <a:graphic>
          <a:graphicData uri="http://schemas.openxmlformats.org/presentationml/2006/ole">
            <mc:AlternateContent xmlns:mc="http://schemas.openxmlformats.org/markup-compatibility/2006">
              <mc:Choice xmlns:v="urn:schemas-microsoft-com:vml" Requires="v">
                <p:oleObj spid="_x0000_s11299" name="图片" r:id="rId4" imgW="2841036" imgH="2066166" progId="Word.Picture.8">
                  <p:embed/>
                </p:oleObj>
              </mc:Choice>
              <mc:Fallback>
                <p:oleObj name="图片" r:id="rId4" imgW="2841036" imgH="2066166" progId="Word.Picture.8">
                  <p:embed/>
                  <p:pic>
                    <p:nvPicPr>
                      <p:cNvPr id="88073" name="Object 9">
                        <a:extLst>
                          <a:ext uri="{FF2B5EF4-FFF2-40B4-BE49-F238E27FC236}">
                            <a16:creationId xmlns:a16="http://schemas.microsoft.com/office/drawing/2014/main" id="{F3E94BF7-E9C0-477B-B26D-9597D2D55B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3014" r="4874" b="10089"/>
                      <a:stretch>
                        <a:fillRect/>
                      </a:stretch>
                    </p:blipFill>
                    <p:spPr bwMode="auto">
                      <a:xfrm>
                        <a:off x="1043608" y="2394470"/>
                        <a:ext cx="4081611" cy="27015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矩形 10">
            <a:extLst>
              <a:ext uri="{FF2B5EF4-FFF2-40B4-BE49-F238E27FC236}">
                <a16:creationId xmlns:a16="http://schemas.microsoft.com/office/drawing/2014/main" id="{736F7E28-8418-4A0B-9C03-0D0D7F7966B3}"/>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14" name="Rectangle 3">
            <a:extLst>
              <a:ext uri="{FF2B5EF4-FFF2-40B4-BE49-F238E27FC236}">
                <a16:creationId xmlns:a16="http://schemas.microsoft.com/office/drawing/2014/main" id="{FC784FEF-1F2E-4B12-9719-A12464651181}"/>
              </a:ext>
            </a:extLst>
          </p:cNvPr>
          <p:cNvSpPr txBox="1">
            <a:spLocks noChangeArrowheads="1"/>
          </p:cNvSpPr>
          <p:nvPr/>
        </p:nvSpPr>
        <p:spPr bwMode="auto">
          <a:xfrm>
            <a:off x="683568" y="719807"/>
            <a:ext cx="3384376"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电感线圈的交变磁场</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a:extLst>
              <a:ext uri="{FF2B5EF4-FFF2-40B4-BE49-F238E27FC236}">
                <a16:creationId xmlns:a16="http://schemas.microsoft.com/office/drawing/2014/main" id="{2D18C3F8-1FE4-4E7C-8C40-69984E5C30D3}"/>
              </a:ext>
            </a:extLst>
          </p:cNvPr>
          <p:cNvSpPr>
            <a:spLocks noGrp="1"/>
          </p:cNvSpPr>
          <p:nvPr>
            <p:ph type="sldNum" sz="quarter" idx="12"/>
          </p:nvPr>
        </p:nvSpPr>
        <p:spPr/>
        <p:txBody>
          <a:bodyPr/>
          <a:lstStyle/>
          <a:p>
            <a:fld id="{3C671B87-F681-4819-8041-D8918CFBF186}" type="slidenum">
              <a:rPr lang="en-US" altLang="ko-KR"/>
              <a:pPr/>
              <a:t>14</a:t>
            </a:fld>
            <a:endParaRPr lang="en-US" altLang="ko-KR"/>
          </a:p>
        </p:txBody>
      </p:sp>
      <p:sp>
        <p:nvSpPr>
          <p:cNvPr id="89091" name="Rectangle 3">
            <a:extLst>
              <a:ext uri="{FF2B5EF4-FFF2-40B4-BE49-F238E27FC236}">
                <a16:creationId xmlns:a16="http://schemas.microsoft.com/office/drawing/2014/main" id="{DF1FD681-4E16-4773-96C9-0A5A42053A4E}"/>
              </a:ext>
            </a:extLst>
          </p:cNvPr>
          <p:cNvSpPr>
            <a:spLocks noGrp="1" noChangeArrowheads="1"/>
          </p:cNvSpPr>
          <p:nvPr>
            <p:ph type="body" idx="1"/>
          </p:nvPr>
        </p:nvSpPr>
        <p:spPr>
          <a:xfrm>
            <a:off x="899592" y="1489451"/>
            <a:ext cx="3877604" cy="571776"/>
          </a:xfrm>
        </p:spPr>
        <p:txBody>
          <a:bodyPr/>
          <a:lstStyle/>
          <a:p>
            <a:pPr marL="457200" lvl="1" indent="0">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磁感应强度</a:t>
            </a:r>
            <a:r>
              <a:rPr lang="en-US" altLang="zh-CN" sz="2000" b="1"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和距离</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的关系</a:t>
            </a:r>
          </a:p>
        </p:txBody>
      </p:sp>
      <p:graphicFrame>
        <p:nvGraphicFramePr>
          <p:cNvPr id="89097" name="Object 9">
            <a:extLst>
              <a:ext uri="{FF2B5EF4-FFF2-40B4-BE49-F238E27FC236}">
                <a16:creationId xmlns:a16="http://schemas.microsoft.com/office/drawing/2014/main" id="{A8A3E51E-11B1-4859-AE30-B361B5DDD7C6}"/>
              </a:ext>
            </a:extLst>
          </p:cNvPr>
          <p:cNvGraphicFramePr>
            <a:graphicFrameLocks noChangeAspect="1"/>
          </p:cNvGraphicFramePr>
          <p:nvPr>
            <p:extLst>
              <p:ext uri="{D42A27DB-BD31-4B8C-83A1-F6EECF244321}">
                <p14:modId xmlns:p14="http://schemas.microsoft.com/office/powerpoint/2010/main" val="3704369788"/>
              </p:ext>
            </p:extLst>
          </p:nvPr>
        </p:nvGraphicFramePr>
        <p:xfrm>
          <a:off x="702008" y="2061227"/>
          <a:ext cx="4081611" cy="2701572"/>
        </p:xfrm>
        <a:graphic>
          <a:graphicData uri="http://schemas.openxmlformats.org/presentationml/2006/ole">
            <mc:AlternateContent xmlns:mc="http://schemas.openxmlformats.org/markup-compatibility/2006">
              <mc:Choice xmlns:v="urn:schemas-microsoft-com:vml" Requires="v">
                <p:oleObj spid="_x0000_s12333" name="图片" r:id="rId3" imgW="2841036" imgH="2066166" progId="Word.Picture.8">
                  <p:embed/>
                </p:oleObj>
              </mc:Choice>
              <mc:Fallback>
                <p:oleObj name="图片" r:id="rId3" imgW="2841036" imgH="2066166" progId="Word.Picture.8">
                  <p:embed/>
                  <p:pic>
                    <p:nvPicPr>
                      <p:cNvPr id="89097" name="Object 9">
                        <a:extLst>
                          <a:ext uri="{FF2B5EF4-FFF2-40B4-BE49-F238E27FC236}">
                            <a16:creationId xmlns:a16="http://schemas.microsoft.com/office/drawing/2014/main" id="{A8A3E51E-11B1-4859-AE30-B361B5DDD7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014" r="4874" b="10089"/>
                      <a:stretch>
                        <a:fillRect/>
                      </a:stretch>
                    </p:blipFill>
                    <p:spPr bwMode="auto">
                      <a:xfrm>
                        <a:off x="702008" y="2061227"/>
                        <a:ext cx="4081611" cy="27015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89098" name="Object 10">
                <a:extLst>
                  <a:ext uri="{FF2B5EF4-FFF2-40B4-BE49-F238E27FC236}">
                    <a16:creationId xmlns:a16="http://schemas.microsoft.com/office/drawing/2014/main" id="{B7DE1AE0-A045-4135-98C6-FD21A275F133}"/>
                  </a:ext>
                </a:extLst>
              </p:cNvPr>
              <p:cNvSpPr txBox="1"/>
              <p:nvPr/>
            </p:nvSpPr>
            <p:spPr bwMode="auto">
              <a:xfrm>
                <a:off x="6084168" y="2988080"/>
                <a:ext cx="1440160" cy="664517"/>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B</m:t>
                          </m:r>
                        </m:e>
                        <m:sub>
                          <m:r>
                            <m:rPr>
                              <m:sty m:val="p"/>
                            </m:rPr>
                            <a:rPr lang="zh-CN" altLang="en-US" i="0">
                              <a:solidFill>
                                <a:srgbClr val="000000"/>
                              </a:solidFill>
                              <a:latin typeface="Cambria Math" panose="02040503050406030204" pitchFamily="18" charset="0"/>
                            </a:rPr>
                            <m:t>Z</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0</m:t>
                          </m:r>
                        </m:sub>
                      </m:sSub>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1</m:t>
                              </m:r>
                            </m:sub>
                          </m:sSub>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𝑎</m:t>
                          </m:r>
                        </m:den>
                      </m:f>
                    </m:oMath>
                  </m:oMathPara>
                </a14:m>
                <a:endParaRPr lang="zh-CN" altLang="en-US" dirty="0"/>
              </a:p>
            </p:txBody>
          </p:sp>
        </mc:Choice>
        <mc:Fallback xmlns="">
          <p:sp>
            <p:nvSpPr>
              <p:cNvPr id="89098" name="Object 10">
                <a:extLst>
                  <a:ext uri="{FF2B5EF4-FFF2-40B4-BE49-F238E27FC236}">
                    <a16:creationId xmlns:a16="http://schemas.microsoft.com/office/drawing/2014/main" id="{B7DE1AE0-A045-4135-98C6-FD21A275F133}"/>
                  </a:ext>
                </a:extLst>
              </p:cNvPr>
              <p:cNvSpPr txBox="1">
                <a:spLocks noRot="1" noChangeAspect="1" noMove="1" noResize="1" noEditPoints="1" noAdjustHandles="1" noChangeArrowheads="1" noChangeShapeType="1" noTextEdit="1"/>
              </p:cNvSpPr>
              <p:nvPr/>
            </p:nvSpPr>
            <p:spPr bwMode="auto">
              <a:xfrm>
                <a:off x="6084168" y="2988080"/>
                <a:ext cx="1440160" cy="664517"/>
              </a:xfrm>
              <a:prstGeom prst="rect">
                <a:avLst/>
              </a:prstGeom>
              <a:blipFill>
                <a:blip r:embed="rId5"/>
                <a:stretch>
                  <a:fillRect/>
                </a:stretch>
              </a:blipFill>
              <a:extLst/>
            </p:spPr>
            <p:txBody>
              <a:bodyPr/>
              <a:lstStyle/>
              <a:p>
                <a:r>
                  <a:rPr lang="zh-CN" altLang="en-US">
                    <a:noFill/>
                  </a:rPr>
                  <a:t> </a:t>
                </a:r>
              </a:p>
            </p:txBody>
          </p:sp>
        </mc:Fallback>
      </mc:AlternateContent>
      <p:sp>
        <p:nvSpPr>
          <p:cNvPr id="89100" name="Rectangle 12">
            <a:extLst>
              <a:ext uri="{FF2B5EF4-FFF2-40B4-BE49-F238E27FC236}">
                <a16:creationId xmlns:a16="http://schemas.microsoft.com/office/drawing/2014/main" id="{21A3B37B-A710-44A3-A696-30BE9645672E}"/>
              </a:ext>
            </a:extLst>
          </p:cNvPr>
          <p:cNvSpPr>
            <a:spLocks noChangeArrowheads="1"/>
          </p:cNvSpPr>
          <p:nvPr/>
        </p:nvSpPr>
        <p:spPr bwMode="auto">
          <a:xfrm>
            <a:off x="5049012" y="2477896"/>
            <a:ext cx="93807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&lt;&lt;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时 </a:t>
            </a:r>
          </a:p>
        </p:txBody>
      </p:sp>
      <p:sp>
        <p:nvSpPr>
          <p:cNvPr id="89101" name="Rectangle 13">
            <a:extLst>
              <a:ext uri="{FF2B5EF4-FFF2-40B4-BE49-F238E27FC236}">
                <a16:creationId xmlns:a16="http://schemas.microsoft.com/office/drawing/2014/main" id="{AEB3DFD1-3B32-47BD-81C7-884A271FCCEA}"/>
              </a:ext>
            </a:extLst>
          </p:cNvPr>
          <p:cNvSpPr>
            <a:spLocks noChangeArrowheads="1"/>
          </p:cNvSpPr>
          <p:nvPr/>
        </p:nvSpPr>
        <p:spPr bwMode="auto">
          <a:xfrm>
            <a:off x="5049012" y="3689027"/>
            <a:ext cx="93807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&gt;&gt;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时 </a:t>
            </a:r>
          </a:p>
        </p:txBody>
      </p:sp>
      <mc:AlternateContent xmlns:mc="http://schemas.openxmlformats.org/markup-compatibility/2006" xmlns:a14="http://schemas.microsoft.com/office/drawing/2010/main">
        <mc:Choice Requires="a14">
          <p:sp>
            <p:nvSpPr>
              <p:cNvPr id="89102" name="Object 14">
                <a:extLst>
                  <a:ext uri="{FF2B5EF4-FFF2-40B4-BE49-F238E27FC236}">
                    <a16:creationId xmlns:a16="http://schemas.microsoft.com/office/drawing/2014/main" id="{7BCCD820-7CB0-4590-82C8-72DE91F6379B}"/>
                  </a:ext>
                </a:extLst>
              </p:cNvPr>
              <p:cNvSpPr txBox="1"/>
              <p:nvPr/>
            </p:nvSpPr>
            <p:spPr bwMode="auto">
              <a:xfrm>
                <a:off x="5580112" y="4342349"/>
                <a:ext cx="2586070" cy="753020"/>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B</m:t>
                          </m:r>
                        </m:e>
                        <m:sub>
                          <m:r>
                            <m:rPr>
                              <m:sty m:val="p"/>
                            </m:rPr>
                            <a:rPr lang="zh-CN" altLang="en-US" i="0">
                              <a:solidFill>
                                <a:srgbClr val="000000"/>
                              </a:solidFill>
                              <a:latin typeface="Cambria Math" panose="02040503050406030204" pitchFamily="18" charset="0"/>
                            </a:rPr>
                            <m:t>Z</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0</m:t>
                          </m:r>
                        </m:sub>
                      </m:sSub>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3</m:t>
                              </m:r>
                            </m:sup>
                          </m:sSup>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0</m:t>
                          </m:r>
                        </m:sub>
                      </m:sSub>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H</m:t>
                          </m:r>
                        </m:e>
                        <m:sub>
                          <m:r>
                            <m:rPr>
                              <m:sty m:val="p"/>
                            </m:rPr>
                            <a:rPr lang="zh-CN" altLang="en-US" i="0">
                              <a:solidFill>
                                <a:srgbClr val="000000"/>
                              </a:solidFill>
                              <a:latin typeface="Cambria Math" panose="02040503050406030204" pitchFamily="18" charset="0"/>
                            </a:rPr>
                            <m:t>Z</m:t>
                          </m:r>
                        </m:sub>
                      </m:sSub>
                    </m:oMath>
                  </m:oMathPara>
                </a14:m>
                <a:endParaRPr lang="zh-CN" altLang="en-US" dirty="0"/>
              </a:p>
            </p:txBody>
          </p:sp>
        </mc:Choice>
        <mc:Fallback xmlns="">
          <p:sp>
            <p:nvSpPr>
              <p:cNvPr id="89102" name="Object 14">
                <a:extLst>
                  <a:ext uri="{FF2B5EF4-FFF2-40B4-BE49-F238E27FC236}">
                    <a16:creationId xmlns:a16="http://schemas.microsoft.com/office/drawing/2014/main" id="{7BCCD820-7CB0-4590-82C8-72DE91F6379B}"/>
                  </a:ext>
                </a:extLst>
              </p:cNvPr>
              <p:cNvSpPr txBox="1">
                <a:spLocks noRot="1" noChangeAspect="1" noMove="1" noResize="1" noEditPoints="1" noAdjustHandles="1" noChangeArrowheads="1" noChangeShapeType="1" noTextEdit="1"/>
              </p:cNvSpPr>
              <p:nvPr/>
            </p:nvSpPr>
            <p:spPr bwMode="auto">
              <a:xfrm>
                <a:off x="5580112" y="4342349"/>
                <a:ext cx="2586070" cy="753020"/>
              </a:xfrm>
              <a:prstGeom prst="rect">
                <a:avLst/>
              </a:prstGeom>
              <a:blipFill>
                <a:blip r:embed="rId6"/>
                <a:stretch>
                  <a:fillRect/>
                </a:stretch>
              </a:blipFill>
              <a:extLst/>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FA1EA519-59E9-4C54-8C50-842845ED3471}"/>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19" name="Rectangle 3">
            <a:extLst>
              <a:ext uri="{FF2B5EF4-FFF2-40B4-BE49-F238E27FC236}">
                <a16:creationId xmlns:a16="http://schemas.microsoft.com/office/drawing/2014/main" id="{D98FEE07-69AC-487B-A1E1-8D87D24C912B}"/>
              </a:ext>
            </a:extLst>
          </p:cNvPr>
          <p:cNvSpPr txBox="1">
            <a:spLocks noChangeArrowheads="1"/>
          </p:cNvSpPr>
          <p:nvPr/>
        </p:nvSpPr>
        <p:spPr bwMode="auto">
          <a:xfrm>
            <a:off x="683568" y="719807"/>
            <a:ext cx="3384376"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电感线圈的交变磁场</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193E63-BEB7-4003-A90B-4FB522E3A96A}"/>
              </a:ext>
            </a:extLst>
          </p:cNvPr>
          <p:cNvSpPr>
            <a:spLocks noGrp="1"/>
          </p:cNvSpPr>
          <p:nvPr>
            <p:ph type="sldNum" sz="quarter" idx="12"/>
          </p:nvPr>
        </p:nvSpPr>
        <p:spPr/>
        <p:txBody>
          <a:bodyPr/>
          <a:lstStyle/>
          <a:p>
            <a:fld id="{DC64CB39-4A2D-4897-AC70-FF2CC0B555EA}" type="slidenum">
              <a:rPr lang="en-US" altLang="ko-KR"/>
              <a:pPr/>
              <a:t>15</a:t>
            </a:fld>
            <a:endParaRPr lang="en-US" altLang="ko-KR"/>
          </a:p>
        </p:txBody>
      </p:sp>
      <p:sp>
        <p:nvSpPr>
          <p:cNvPr id="75779" name="Rectangle 3">
            <a:extLst>
              <a:ext uri="{FF2B5EF4-FFF2-40B4-BE49-F238E27FC236}">
                <a16:creationId xmlns:a16="http://schemas.microsoft.com/office/drawing/2014/main" id="{EAC974D4-4EE8-4468-AE0E-188306CA5F99}"/>
              </a:ext>
            </a:extLst>
          </p:cNvPr>
          <p:cNvSpPr>
            <a:spLocks noGrp="1" noChangeArrowheads="1"/>
          </p:cNvSpPr>
          <p:nvPr>
            <p:ph type="body" idx="1"/>
          </p:nvPr>
        </p:nvSpPr>
        <p:spPr>
          <a:xfrm>
            <a:off x="832400" y="968871"/>
            <a:ext cx="7344198" cy="1429532"/>
          </a:xfrm>
        </p:spPr>
        <p:txBody>
          <a:bodyPr/>
          <a:lstStyle/>
          <a:p>
            <a:r>
              <a:rPr lang="zh-CN" altLang="en-US" sz="2400" dirty="0">
                <a:latin typeface="微软雅黑" panose="020B0503020204020204" pitchFamily="34" charset="-122"/>
                <a:ea typeface="微软雅黑" panose="020B0503020204020204" pitchFamily="34" charset="-122"/>
              </a:rPr>
              <a:t>应答器的天线电路 </a:t>
            </a:r>
          </a:p>
          <a:p>
            <a:pPr lvl="1">
              <a:lnSpc>
                <a:spcPct val="150000"/>
              </a:lnSpc>
            </a:pPr>
            <a:r>
              <a:rPr lang="en-US" altLang="zh-CN" sz="2000" dirty="0">
                <a:latin typeface="微软雅黑" panose="020B0503020204020204" pitchFamily="34" charset="-122"/>
                <a:ea typeface="微软雅黑" panose="020B0503020204020204" pitchFamily="34" charset="-122"/>
              </a:rPr>
              <a:t>Microchip </a:t>
            </a:r>
            <a:r>
              <a:rPr lang="zh-CN" altLang="en-US" sz="2000" dirty="0">
                <a:latin typeface="微软雅黑" panose="020B0503020204020204" pitchFamily="34" charset="-122"/>
                <a:ea typeface="微软雅黑" panose="020B0503020204020204" pitchFamily="34" charset="-122"/>
              </a:rPr>
              <a:t>公司的</a:t>
            </a:r>
            <a:r>
              <a:rPr lang="en-US" altLang="zh-CN" sz="2000" dirty="0">
                <a:latin typeface="微软雅黑" panose="020B0503020204020204" pitchFamily="34" charset="-122"/>
                <a:ea typeface="微软雅黑" panose="020B0503020204020204" pitchFamily="34" charset="-122"/>
              </a:rPr>
              <a:t>13.56 MHz</a:t>
            </a:r>
            <a:r>
              <a:rPr lang="zh-CN" altLang="en-US" sz="2000" dirty="0">
                <a:latin typeface="微软雅黑" panose="020B0503020204020204" pitchFamily="34" charset="-122"/>
                <a:ea typeface="微软雅黑" panose="020B0503020204020204" pitchFamily="34" charset="-122"/>
              </a:rPr>
              <a:t>应答器（无源射频卡）</a:t>
            </a:r>
            <a:r>
              <a:rPr lang="en-US" altLang="zh-CN" sz="2000" dirty="0">
                <a:latin typeface="微软雅黑" panose="020B0503020204020204" pitchFamily="34" charset="-122"/>
                <a:ea typeface="微软雅黑" panose="020B0503020204020204" pitchFamily="34" charset="-122"/>
              </a:rPr>
              <a:t>MCRF355</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MCRF360</a:t>
            </a:r>
            <a:r>
              <a:rPr lang="zh-CN" altLang="en-US" sz="2000" dirty="0">
                <a:latin typeface="微软雅黑" panose="020B0503020204020204" pitchFamily="34" charset="-122"/>
                <a:ea typeface="微软雅黑" panose="020B0503020204020204" pitchFamily="34" charset="-122"/>
              </a:rPr>
              <a:t>芯片的天线电路 </a:t>
            </a:r>
          </a:p>
        </p:txBody>
      </p:sp>
      <p:graphicFrame>
        <p:nvGraphicFramePr>
          <p:cNvPr id="75780" name="Object 4">
            <a:extLst>
              <a:ext uri="{FF2B5EF4-FFF2-40B4-BE49-F238E27FC236}">
                <a16:creationId xmlns:a16="http://schemas.microsoft.com/office/drawing/2014/main" id="{449B8AFB-8C6B-4433-9F5A-56F23FE3A0D6}"/>
              </a:ext>
            </a:extLst>
          </p:cNvPr>
          <p:cNvGraphicFramePr>
            <a:graphicFrameLocks noChangeAspect="1"/>
          </p:cNvGraphicFramePr>
          <p:nvPr>
            <p:extLst>
              <p:ext uri="{D42A27DB-BD31-4B8C-83A1-F6EECF244321}">
                <p14:modId xmlns:p14="http://schemas.microsoft.com/office/powerpoint/2010/main" val="2147317074"/>
              </p:ext>
            </p:extLst>
          </p:nvPr>
        </p:nvGraphicFramePr>
        <p:xfrm>
          <a:off x="694396" y="2615220"/>
          <a:ext cx="7620206" cy="2152558"/>
        </p:xfrm>
        <a:graphic>
          <a:graphicData uri="http://schemas.openxmlformats.org/presentationml/2006/ole">
            <mc:AlternateContent xmlns:mc="http://schemas.openxmlformats.org/markup-compatibility/2006">
              <mc:Choice xmlns:v="urn:schemas-microsoft-com:vml" Requires="v">
                <p:oleObj spid="_x0000_s13337" name="图片" r:id="rId3" imgW="4995597" imgH="1428319" progId="Word.Picture.8">
                  <p:embed/>
                </p:oleObj>
              </mc:Choice>
              <mc:Fallback>
                <p:oleObj name="图片" r:id="rId3" imgW="4995597" imgH="1428319" progId="Word.Picture.8">
                  <p:embed/>
                  <p:pic>
                    <p:nvPicPr>
                      <p:cNvPr id="75780" name="Object 4">
                        <a:extLst>
                          <a:ext uri="{FF2B5EF4-FFF2-40B4-BE49-F238E27FC236}">
                            <a16:creationId xmlns:a16="http://schemas.microsoft.com/office/drawing/2014/main" id="{449B8AFB-8C6B-4433-9F5A-56F23FE3A0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387" b="2797"/>
                      <a:stretch>
                        <a:fillRect/>
                      </a:stretch>
                    </p:blipFill>
                    <p:spPr bwMode="auto">
                      <a:xfrm>
                        <a:off x="694396" y="2615220"/>
                        <a:ext cx="7620206" cy="21525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a:extLst>
              <a:ext uri="{FF2B5EF4-FFF2-40B4-BE49-F238E27FC236}">
                <a16:creationId xmlns:a16="http://schemas.microsoft.com/office/drawing/2014/main" id="{A54193E9-0681-429C-B7EC-D4E97E816BA2}"/>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9C002FF-42AC-490E-89F8-2883755F9715}"/>
              </a:ext>
            </a:extLst>
          </p:cNvPr>
          <p:cNvSpPr>
            <a:spLocks noGrp="1"/>
          </p:cNvSpPr>
          <p:nvPr>
            <p:ph type="sldNum" sz="quarter" idx="12"/>
          </p:nvPr>
        </p:nvSpPr>
        <p:spPr/>
        <p:txBody>
          <a:bodyPr/>
          <a:lstStyle/>
          <a:p>
            <a:fld id="{4CC94A5A-FFC8-42A9-AA9B-B63677035292}" type="slidenum">
              <a:rPr lang="en-US" altLang="ko-KR"/>
              <a:pPr/>
              <a:t>16</a:t>
            </a:fld>
            <a:endParaRPr lang="en-US" altLang="ko-KR"/>
          </a:p>
        </p:txBody>
      </p:sp>
      <p:sp>
        <p:nvSpPr>
          <p:cNvPr id="76803" name="Rectangle 3">
            <a:extLst>
              <a:ext uri="{FF2B5EF4-FFF2-40B4-BE49-F238E27FC236}">
                <a16:creationId xmlns:a16="http://schemas.microsoft.com/office/drawing/2014/main" id="{DF625212-B3A6-464C-A62C-117F14CCA287}"/>
              </a:ext>
            </a:extLst>
          </p:cNvPr>
          <p:cNvSpPr>
            <a:spLocks noGrp="1" noChangeArrowheads="1"/>
          </p:cNvSpPr>
          <p:nvPr>
            <p:ph type="body" idx="1"/>
          </p:nvPr>
        </p:nvSpPr>
        <p:spPr>
          <a:xfrm>
            <a:off x="899901" y="954621"/>
            <a:ext cx="7344198" cy="1277354"/>
          </a:xfrm>
        </p:spPr>
        <p:txBody>
          <a:bodyPr/>
          <a:lstStyle/>
          <a:p>
            <a:pPr>
              <a:lnSpc>
                <a:spcPct val="150000"/>
              </a:lnSpc>
            </a:pPr>
            <a:r>
              <a:rPr lang="en-US" altLang="zh-CN" sz="2400" dirty="0">
                <a:latin typeface="微软雅黑" panose="020B0503020204020204" pitchFamily="34" charset="-122"/>
                <a:ea typeface="微软雅黑" panose="020B0503020204020204" pitchFamily="34" charset="-122"/>
              </a:rPr>
              <a:t>e5550</a:t>
            </a:r>
            <a:r>
              <a:rPr lang="zh-CN" altLang="en-US" sz="2400" dirty="0">
                <a:latin typeface="微软雅黑" panose="020B0503020204020204" pitchFamily="34" charset="-122"/>
                <a:ea typeface="微软雅黑" panose="020B0503020204020204" pitchFamily="34" charset="-122"/>
              </a:rPr>
              <a:t>芯片的天线电路 </a:t>
            </a:r>
          </a:p>
          <a:p>
            <a:pPr lvl="1">
              <a:lnSpc>
                <a:spcPct val="150000"/>
              </a:lnSpc>
            </a:pPr>
            <a:r>
              <a:rPr lang="zh-CN" altLang="en-US" sz="2000" dirty="0">
                <a:latin typeface="微软雅黑" panose="020B0503020204020204" pitchFamily="34" charset="-122"/>
                <a:ea typeface="微软雅黑" panose="020B0503020204020204" pitchFamily="34" charset="-122"/>
              </a:rPr>
              <a:t>工作频率为</a:t>
            </a:r>
            <a:r>
              <a:rPr lang="en-US" altLang="zh-CN" sz="2000" dirty="0">
                <a:latin typeface="微软雅黑" panose="020B0503020204020204" pitchFamily="34" charset="-122"/>
                <a:ea typeface="微软雅黑" panose="020B0503020204020204" pitchFamily="34" charset="-122"/>
              </a:rPr>
              <a:t>125 kHz</a:t>
            </a:r>
            <a:r>
              <a:rPr lang="zh-CN" altLang="en-US" sz="2000" dirty="0">
                <a:latin typeface="微软雅黑" panose="020B0503020204020204" pitchFamily="34" charset="-122"/>
                <a:ea typeface="微软雅黑" panose="020B0503020204020204" pitchFamily="34" charset="-122"/>
              </a:rPr>
              <a:t>，电感线圈和电容器为外接。  </a:t>
            </a:r>
          </a:p>
        </p:txBody>
      </p:sp>
      <p:graphicFrame>
        <p:nvGraphicFramePr>
          <p:cNvPr id="76804" name="Object 4">
            <a:extLst>
              <a:ext uri="{FF2B5EF4-FFF2-40B4-BE49-F238E27FC236}">
                <a16:creationId xmlns:a16="http://schemas.microsoft.com/office/drawing/2014/main" id="{2E4AF63C-D8CB-4EB0-9F18-E31A248EE944}"/>
              </a:ext>
            </a:extLst>
          </p:cNvPr>
          <p:cNvGraphicFramePr>
            <a:graphicFrameLocks noChangeAspect="1"/>
          </p:cNvGraphicFramePr>
          <p:nvPr/>
        </p:nvGraphicFramePr>
        <p:xfrm>
          <a:off x="1373914" y="2628071"/>
          <a:ext cx="5511149" cy="2710574"/>
        </p:xfrm>
        <a:graphic>
          <a:graphicData uri="http://schemas.openxmlformats.org/presentationml/2006/ole">
            <mc:AlternateContent xmlns:mc="http://schemas.openxmlformats.org/markup-compatibility/2006">
              <mc:Choice xmlns:v="urn:schemas-microsoft-com:vml" Requires="v">
                <p:oleObj spid="_x0000_s14361" name="图片" r:id="rId3" imgW="2945900" imgH="1447396" progId="Word.Picture.8">
                  <p:embed/>
                </p:oleObj>
              </mc:Choice>
              <mc:Fallback>
                <p:oleObj name="图片" r:id="rId3" imgW="2945900" imgH="1447396" progId="Word.Picture.8">
                  <p:embed/>
                  <p:pic>
                    <p:nvPicPr>
                      <p:cNvPr id="76804" name="Object 4">
                        <a:extLst>
                          <a:ext uri="{FF2B5EF4-FFF2-40B4-BE49-F238E27FC236}">
                            <a16:creationId xmlns:a16="http://schemas.microsoft.com/office/drawing/2014/main" id="{2E4AF63C-D8CB-4EB0-9F18-E31A248EE9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3914" y="2628071"/>
                        <a:ext cx="5511149" cy="27105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a:extLst>
              <a:ext uri="{FF2B5EF4-FFF2-40B4-BE49-F238E27FC236}">
                <a16:creationId xmlns:a16="http://schemas.microsoft.com/office/drawing/2014/main" id="{EC09FD53-2E30-4F64-BFC6-3CA4A02B4208}"/>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558E310-8B53-47F9-9221-ED7FBA83218C}"/>
              </a:ext>
            </a:extLst>
          </p:cNvPr>
          <p:cNvSpPr>
            <a:spLocks noGrp="1"/>
          </p:cNvSpPr>
          <p:nvPr>
            <p:ph type="sldNum" sz="quarter" idx="12"/>
          </p:nvPr>
        </p:nvSpPr>
        <p:spPr/>
        <p:txBody>
          <a:bodyPr/>
          <a:lstStyle/>
          <a:p>
            <a:fld id="{F7697865-1992-4808-A166-21E5076CED15}" type="slidenum">
              <a:rPr lang="en-US" altLang="ko-KR"/>
              <a:pPr/>
              <a:t>17</a:t>
            </a:fld>
            <a:endParaRPr lang="en-US" altLang="ko-KR"/>
          </a:p>
        </p:txBody>
      </p:sp>
      <p:sp>
        <p:nvSpPr>
          <p:cNvPr id="77827" name="Rectangle 3">
            <a:extLst>
              <a:ext uri="{FF2B5EF4-FFF2-40B4-BE49-F238E27FC236}">
                <a16:creationId xmlns:a16="http://schemas.microsoft.com/office/drawing/2014/main" id="{F51A713C-7712-4BA6-AF73-E17D3EAA24B3}"/>
              </a:ext>
            </a:extLst>
          </p:cNvPr>
          <p:cNvSpPr>
            <a:spLocks noGrp="1" noChangeArrowheads="1"/>
          </p:cNvSpPr>
          <p:nvPr>
            <p:ph type="body" idx="1"/>
          </p:nvPr>
        </p:nvSpPr>
        <p:spPr>
          <a:xfrm>
            <a:off x="933652" y="808442"/>
            <a:ext cx="7344198" cy="2510226"/>
          </a:xfrm>
        </p:spPr>
        <p:txBody>
          <a:bodyPr/>
          <a:lstStyle/>
          <a:p>
            <a:r>
              <a:rPr lang="zh-CN" altLang="en-US" sz="2400" dirty="0">
                <a:latin typeface="微软雅黑" panose="020B0503020204020204" pitchFamily="34" charset="-122"/>
                <a:ea typeface="微软雅黑" panose="020B0503020204020204" pitchFamily="34" charset="-122"/>
              </a:rPr>
              <a:t>并联谐振回路</a:t>
            </a:r>
          </a:p>
          <a:p>
            <a:pPr lvl="1">
              <a:lnSpc>
                <a:spcPct val="150000"/>
              </a:lnSpc>
            </a:pPr>
            <a:r>
              <a:rPr lang="zh-CN" altLang="en-US" sz="2000" dirty="0">
                <a:latin typeface="微软雅黑" panose="020B0503020204020204" pitchFamily="34" charset="-122"/>
                <a:ea typeface="微软雅黑" panose="020B0503020204020204" pitchFamily="34" charset="-122"/>
              </a:rPr>
              <a:t>串联谐振回路适用于恒压源，即信号源内阻很小的情况。</a:t>
            </a:r>
          </a:p>
          <a:p>
            <a:pPr lvl="1">
              <a:lnSpc>
                <a:spcPct val="150000"/>
              </a:lnSpc>
            </a:pPr>
            <a:r>
              <a:rPr lang="zh-CN" altLang="en-US" sz="2000" dirty="0">
                <a:latin typeface="微软雅黑" panose="020B0503020204020204" pitchFamily="34" charset="-122"/>
                <a:ea typeface="微软雅黑" panose="020B0503020204020204" pitchFamily="34" charset="-122"/>
              </a:rPr>
              <a:t>如果信号源的内阻大，应采用并联谐振回路。</a:t>
            </a:r>
          </a:p>
          <a:p>
            <a:pPr lvl="1">
              <a:lnSpc>
                <a:spcPct val="150000"/>
              </a:lnSpc>
            </a:pPr>
            <a:r>
              <a:rPr lang="zh-CN" altLang="en-US" sz="2000" dirty="0">
                <a:latin typeface="微软雅黑" panose="020B0503020204020204" pitchFamily="34" charset="-122"/>
                <a:ea typeface="微软雅黑" panose="020B0503020204020204" pitchFamily="34" charset="-122"/>
              </a:rPr>
              <a:t>在研究并联谐振回路时，采用恒流源（信号源内阻很大）分析比较方便。   </a:t>
            </a:r>
          </a:p>
        </p:txBody>
      </p:sp>
      <p:graphicFrame>
        <p:nvGraphicFramePr>
          <p:cNvPr id="77828" name="Object 4">
            <a:extLst>
              <a:ext uri="{FF2B5EF4-FFF2-40B4-BE49-F238E27FC236}">
                <a16:creationId xmlns:a16="http://schemas.microsoft.com/office/drawing/2014/main" id="{07278F56-7491-47C2-A197-F6641F974734}"/>
              </a:ext>
            </a:extLst>
          </p:cNvPr>
          <p:cNvGraphicFramePr>
            <a:graphicFrameLocks noChangeAspect="1"/>
          </p:cNvGraphicFramePr>
          <p:nvPr>
            <p:extLst>
              <p:ext uri="{D42A27DB-BD31-4B8C-83A1-F6EECF244321}">
                <p14:modId xmlns:p14="http://schemas.microsoft.com/office/powerpoint/2010/main" val="981927706"/>
              </p:ext>
            </p:extLst>
          </p:nvPr>
        </p:nvGraphicFramePr>
        <p:xfrm>
          <a:off x="1237410" y="3541066"/>
          <a:ext cx="6736681" cy="2091056"/>
        </p:xfrm>
        <a:graphic>
          <a:graphicData uri="http://schemas.openxmlformats.org/presentationml/2006/ole">
            <mc:AlternateContent xmlns:mc="http://schemas.openxmlformats.org/markup-compatibility/2006">
              <mc:Choice xmlns:v="urn:schemas-microsoft-com:vml" Requires="v">
                <p:oleObj spid="_x0000_s15385" name="图片" r:id="rId3" imgW="4004261" imgH="1285415" progId="Word.Picture.8">
                  <p:embed/>
                </p:oleObj>
              </mc:Choice>
              <mc:Fallback>
                <p:oleObj name="图片" r:id="rId3" imgW="4004261" imgH="1285415" progId="Word.Picture.8">
                  <p:embed/>
                  <p:pic>
                    <p:nvPicPr>
                      <p:cNvPr id="77828" name="Object 4">
                        <a:extLst>
                          <a:ext uri="{FF2B5EF4-FFF2-40B4-BE49-F238E27FC236}">
                            <a16:creationId xmlns:a16="http://schemas.microsoft.com/office/drawing/2014/main" id="{07278F56-7491-47C2-A197-F6641F9747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729" r="1729" b="6999"/>
                      <a:stretch>
                        <a:fillRect/>
                      </a:stretch>
                    </p:blipFill>
                    <p:spPr bwMode="auto">
                      <a:xfrm>
                        <a:off x="1237410" y="3541066"/>
                        <a:ext cx="6736681" cy="2091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a:extLst>
              <a:ext uri="{FF2B5EF4-FFF2-40B4-BE49-F238E27FC236}">
                <a16:creationId xmlns:a16="http://schemas.microsoft.com/office/drawing/2014/main" id="{68FE3ACE-1C04-4ED4-AED9-9545DE1BBD5A}"/>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a:extLst>
              <a:ext uri="{FF2B5EF4-FFF2-40B4-BE49-F238E27FC236}">
                <a16:creationId xmlns:a16="http://schemas.microsoft.com/office/drawing/2014/main" id="{B8B2CAFF-946B-4ACB-A3CF-30D3DF406307}"/>
              </a:ext>
            </a:extLst>
          </p:cNvPr>
          <p:cNvSpPr>
            <a:spLocks noGrp="1"/>
          </p:cNvSpPr>
          <p:nvPr>
            <p:ph type="sldNum" sz="quarter" idx="12"/>
          </p:nvPr>
        </p:nvSpPr>
        <p:spPr/>
        <p:txBody>
          <a:bodyPr/>
          <a:lstStyle/>
          <a:p>
            <a:fld id="{A57D814B-7A5D-41C4-9071-8B4D49C5EAB8}" type="slidenum">
              <a:rPr lang="en-US" altLang="ko-KR"/>
              <a:pPr/>
              <a:t>18</a:t>
            </a:fld>
            <a:endParaRPr lang="en-US" altLang="ko-KR"/>
          </a:p>
        </p:txBody>
      </p:sp>
      <p:sp>
        <p:nvSpPr>
          <p:cNvPr id="78851" name="Rectangle 3">
            <a:extLst>
              <a:ext uri="{FF2B5EF4-FFF2-40B4-BE49-F238E27FC236}">
                <a16:creationId xmlns:a16="http://schemas.microsoft.com/office/drawing/2014/main" id="{AC972AED-C14F-4AF3-A8EF-6DB123593936}"/>
              </a:ext>
            </a:extLst>
          </p:cNvPr>
          <p:cNvSpPr>
            <a:spLocks noGrp="1" noChangeArrowheads="1"/>
          </p:cNvSpPr>
          <p:nvPr>
            <p:ph type="body" idx="1"/>
          </p:nvPr>
        </p:nvSpPr>
        <p:spPr>
          <a:xfrm>
            <a:off x="899592" y="836273"/>
            <a:ext cx="3384067" cy="541514"/>
          </a:xfrm>
        </p:spPr>
        <p:txBody>
          <a:bodyPr/>
          <a:lstStyle/>
          <a:p>
            <a:r>
              <a:rPr lang="zh-CN" altLang="en-US" sz="2400" dirty="0">
                <a:latin typeface="微软雅黑" panose="020B0503020204020204" pitchFamily="34" charset="-122"/>
                <a:ea typeface="微软雅黑" panose="020B0503020204020204" pitchFamily="34" charset="-122"/>
              </a:rPr>
              <a:t>串并联阻抗等效互换 </a:t>
            </a:r>
          </a:p>
        </p:txBody>
      </p:sp>
      <p:graphicFrame>
        <p:nvGraphicFramePr>
          <p:cNvPr id="78852" name="Object 4">
            <a:extLst>
              <a:ext uri="{FF2B5EF4-FFF2-40B4-BE49-F238E27FC236}">
                <a16:creationId xmlns:a16="http://schemas.microsoft.com/office/drawing/2014/main" id="{4C199FF9-E9DD-4F82-90E0-0A745FCE217C}"/>
              </a:ext>
            </a:extLst>
          </p:cNvPr>
          <p:cNvGraphicFramePr>
            <a:graphicFrameLocks noChangeAspect="1"/>
          </p:cNvGraphicFramePr>
          <p:nvPr>
            <p:extLst>
              <p:ext uri="{D42A27DB-BD31-4B8C-83A1-F6EECF244321}">
                <p14:modId xmlns:p14="http://schemas.microsoft.com/office/powerpoint/2010/main" val="2680938249"/>
              </p:ext>
            </p:extLst>
          </p:nvPr>
        </p:nvGraphicFramePr>
        <p:xfrm>
          <a:off x="1258388" y="1933623"/>
          <a:ext cx="6532677" cy="1540542"/>
        </p:xfrm>
        <a:graphic>
          <a:graphicData uri="http://schemas.openxmlformats.org/presentationml/2006/ole">
            <mc:AlternateContent xmlns:mc="http://schemas.openxmlformats.org/markup-compatibility/2006">
              <mc:Choice xmlns:v="urn:schemas-microsoft-com:vml" Requires="v">
                <p:oleObj spid="_x0000_s16439" name="图片" r:id="rId3" imgW="3679942" imgH="913937" progId="Word.Picture.8">
                  <p:embed/>
                </p:oleObj>
              </mc:Choice>
              <mc:Fallback>
                <p:oleObj name="图片" r:id="rId3" imgW="3679942" imgH="913937" progId="Word.Picture.8">
                  <p:embed/>
                  <p:pic>
                    <p:nvPicPr>
                      <p:cNvPr id="78852" name="Object 4">
                        <a:extLst>
                          <a:ext uri="{FF2B5EF4-FFF2-40B4-BE49-F238E27FC236}">
                            <a16:creationId xmlns:a16="http://schemas.microsoft.com/office/drawing/2014/main" id="{4C199FF9-E9DD-4F82-90E0-0A745FCE21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278"/>
                      <a:stretch>
                        <a:fillRect/>
                      </a:stretch>
                    </p:blipFill>
                    <p:spPr bwMode="auto">
                      <a:xfrm>
                        <a:off x="1258388" y="1933623"/>
                        <a:ext cx="6532677" cy="15405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54" name="AutoShape 6">
            <a:extLst>
              <a:ext uri="{FF2B5EF4-FFF2-40B4-BE49-F238E27FC236}">
                <a16:creationId xmlns:a16="http://schemas.microsoft.com/office/drawing/2014/main" id="{40DB8CF2-BCDA-4860-A27C-FD46EB5B642D}"/>
              </a:ext>
            </a:extLst>
          </p:cNvPr>
          <p:cNvSpPr>
            <a:spLocks noChangeArrowheads="1"/>
          </p:cNvSpPr>
          <p:nvPr/>
        </p:nvSpPr>
        <p:spPr bwMode="auto">
          <a:xfrm>
            <a:off x="3946460" y="2446405"/>
            <a:ext cx="1156532" cy="273007"/>
          </a:xfrm>
          <a:prstGeom prst="leftRightArrow">
            <a:avLst>
              <a:gd name="adj1" fmla="val 50000"/>
              <a:gd name="adj2" fmla="val 84725"/>
            </a:avLst>
          </a:prstGeom>
          <a:solidFill>
            <a:schemeClr val="accent1"/>
          </a:solidFill>
          <a:ln w="7938">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78855" name="Object 7">
                <a:extLst>
                  <a:ext uri="{FF2B5EF4-FFF2-40B4-BE49-F238E27FC236}">
                    <a16:creationId xmlns:a16="http://schemas.microsoft.com/office/drawing/2014/main" id="{7BD75206-36DB-44E0-A150-233C2D8F0198}"/>
                  </a:ext>
                </a:extLst>
              </p:cNvPr>
              <p:cNvSpPr txBox="1"/>
              <p:nvPr/>
            </p:nvSpPr>
            <p:spPr bwMode="auto">
              <a:xfrm>
                <a:off x="1258388" y="3713117"/>
                <a:ext cx="5545860" cy="673519"/>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𝑍</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𝑥</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num>
                        <m:den>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den>
                      </m:f>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f>
                        <m:fPr>
                          <m:ctrlPr>
                            <a:rPr lang="zh-CN" altLang="en-US" i="1">
                              <a:solidFill>
                                <a:srgbClr val="000000"/>
                              </a:solidFill>
                              <a:latin typeface="Cambria Math" panose="02040503050406030204" pitchFamily="18" charset="0"/>
                            </a:rPr>
                          </m:ctrlPr>
                        </m:fPr>
                        <m:num>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Sub>
                        </m:num>
                        <m:den>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den>
                      </m:f>
                    </m:oMath>
                  </m:oMathPara>
                </a14:m>
                <a:endParaRPr lang="zh-CN" altLang="en-US" dirty="0"/>
              </a:p>
            </p:txBody>
          </p:sp>
        </mc:Choice>
        <mc:Fallback xmlns="">
          <p:sp>
            <p:nvSpPr>
              <p:cNvPr id="78855" name="Object 7">
                <a:extLst>
                  <a:ext uri="{FF2B5EF4-FFF2-40B4-BE49-F238E27FC236}">
                    <a16:creationId xmlns:a16="http://schemas.microsoft.com/office/drawing/2014/main" id="{7BD75206-36DB-44E0-A150-233C2D8F0198}"/>
                  </a:ext>
                </a:extLst>
              </p:cNvPr>
              <p:cNvSpPr txBox="1">
                <a:spLocks noRot="1" noChangeAspect="1" noMove="1" noResize="1" noEditPoints="1" noAdjustHandles="1" noChangeArrowheads="1" noChangeShapeType="1" noTextEdit="1"/>
              </p:cNvSpPr>
              <p:nvPr/>
            </p:nvSpPr>
            <p:spPr bwMode="auto">
              <a:xfrm>
                <a:off x="1258388" y="3713117"/>
                <a:ext cx="5545860" cy="673519"/>
              </a:xfrm>
              <a:prstGeom prst="rect">
                <a:avLst/>
              </a:prstGeom>
              <a:blipFill>
                <a:blip r:embed="rId5"/>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857" name="Object 9">
                <a:extLst>
                  <a:ext uri="{FF2B5EF4-FFF2-40B4-BE49-F238E27FC236}">
                    <a16:creationId xmlns:a16="http://schemas.microsoft.com/office/drawing/2014/main" id="{503CBECD-E9DD-4AD9-84CD-957F1AAC6EBF}"/>
                  </a:ext>
                </a:extLst>
              </p:cNvPr>
              <p:cNvSpPr txBox="1"/>
              <p:nvPr/>
            </p:nvSpPr>
            <p:spPr bwMode="auto">
              <a:xfrm>
                <a:off x="1965698" y="4625588"/>
                <a:ext cx="3679468" cy="712787"/>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𝑥</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num>
                        <m:den>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Sub>
                        </m:num>
                        <m:den>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Sub>
                                </m:e>
                              </m:d>
                            </m:e>
                            <m:sup>
                              <m:r>
                                <a:rPr lang="zh-CN" altLang="en-US" i="1">
                                  <a:solidFill>
                                    <a:srgbClr val="000000"/>
                                  </a:solidFill>
                                  <a:latin typeface="Cambria Math" panose="02040503050406030204" pitchFamily="18" charset="0"/>
                                </a:rPr>
                                <m:t>2</m:t>
                              </m:r>
                            </m:sup>
                          </m:sSup>
                        </m:den>
                      </m:f>
                    </m:oMath>
                  </m:oMathPara>
                </a14:m>
                <a:endParaRPr lang="zh-CN" altLang="en-US" dirty="0"/>
              </a:p>
            </p:txBody>
          </p:sp>
        </mc:Choice>
        <mc:Fallback xmlns="">
          <p:sp>
            <p:nvSpPr>
              <p:cNvPr id="78857" name="Object 9">
                <a:extLst>
                  <a:ext uri="{FF2B5EF4-FFF2-40B4-BE49-F238E27FC236}">
                    <a16:creationId xmlns:a16="http://schemas.microsoft.com/office/drawing/2014/main" id="{503CBECD-E9DD-4AD9-84CD-957F1AAC6EBF}"/>
                  </a:ext>
                </a:extLst>
              </p:cNvPr>
              <p:cNvSpPr txBox="1">
                <a:spLocks noRot="1" noChangeAspect="1" noMove="1" noResize="1" noEditPoints="1" noAdjustHandles="1" noChangeArrowheads="1" noChangeShapeType="1" noTextEdit="1"/>
              </p:cNvSpPr>
              <p:nvPr/>
            </p:nvSpPr>
            <p:spPr bwMode="auto">
              <a:xfrm>
                <a:off x="1965698" y="4625588"/>
                <a:ext cx="3679468" cy="712787"/>
              </a:xfrm>
              <a:prstGeom prst="rect">
                <a:avLst/>
              </a:prstGeom>
              <a:blipFill>
                <a:blip r:embed="rId6"/>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859" name="Object 11">
                <a:extLst>
                  <a:ext uri="{FF2B5EF4-FFF2-40B4-BE49-F238E27FC236}">
                    <a16:creationId xmlns:a16="http://schemas.microsoft.com/office/drawing/2014/main" id="{598A8929-39EB-4433-AB92-1FB640DA592E}"/>
                  </a:ext>
                </a:extLst>
              </p:cNvPr>
              <p:cNvSpPr txBox="1"/>
              <p:nvPr/>
            </p:nvSpPr>
            <p:spPr bwMode="auto">
              <a:xfrm>
                <a:off x="5732980" y="4649375"/>
                <a:ext cx="3147019" cy="652517"/>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Sub>
                        </m:num>
                        <m:den>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Sub>
                        </m:num>
                        <m:den>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2</m:t>
                                      </m:r>
                                    </m:sub>
                                  </m:sSub>
                                </m:e>
                              </m:d>
                            </m:e>
                            <m:sup>
                              <m:r>
                                <a:rPr lang="zh-CN" altLang="en-US" i="1">
                                  <a:solidFill>
                                    <a:srgbClr val="000000"/>
                                  </a:solidFill>
                                  <a:latin typeface="Cambria Math" panose="02040503050406030204" pitchFamily="18" charset="0"/>
                                </a:rPr>
                                <m:t>2</m:t>
                              </m:r>
                            </m:sup>
                          </m:sSup>
                        </m:den>
                      </m:f>
                    </m:oMath>
                  </m:oMathPara>
                </a14:m>
                <a:endParaRPr lang="zh-CN" altLang="en-US" dirty="0"/>
              </a:p>
            </p:txBody>
          </p:sp>
        </mc:Choice>
        <mc:Fallback xmlns="">
          <p:sp>
            <p:nvSpPr>
              <p:cNvPr id="78859" name="Object 11">
                <a:extLst>
                  <a:ext uri="{FF2B5EF4-FFF2-40B4-BE49-F238E27FC236}">
                    <a16:creationId xmlns:a16="http://schemas.microsoft.com/office/drawing/2014/main" id="{598A8929-39EB-4433-AB92-1FB640DA592E}"/>
                  </a:ext>
                </a:extLst>
              </p:cNvPr>
              <p:cNvSpPr txBox="1">
                <a:spLocks noRot="1" noChangeAspect="1" noMove="1" noResize="1" noEditPoints="1" noAdjustHandles="1" noChangeArrowheads="1" noChangeShapeType="1" noTextEdit="1"/>
              </p:cNvSpPr>
              <p:nvPr/>
            </p:nvSpPr>
            <p:spPr bwMode="auto">
              <a:xfrm>
                <a:off x="5732980" y="4649375"/>
                <a:ext cx="3147019" cy="652517"/>
              </a:xfrm>
              <a:prstGeom prst="rect">
                <a:avLst/>
              </a:prstGeom>
              <a:blipFill>
                <a:blip r:embed="rId7"/>
                <a:stretch>
                  <a:fillRect b="-2804"/>
                </a:stretch>
              </a:blipFill>
              <a:extLst/>
            </p:spPr>
            <p:txBody>
              <a:bodyPr/>
              <a:lstStyle/>
              <a:p>
                <a:r>
                  <a:rPr lang="zh-CN" altLang="en-US">
                    <a:noFill/>
                  </a:rPr>
                  <a:t> </a:t>
                </a:r>
              </a:p>
            </p:txBody>
          </p:sp>
        </mc:Fallback>
      </mc:AlternateContent>
      <p:sp>
        <p:nvSpPr>
          <p:cNvPr id="78861" name="AutoShape 13">
            <a:extLst>
              <a:ext uri="{FF2B5EF4-FFF2-40B4-BE49-F238E27FC236}">
                <a16:creationId xmlns:a16="http://schemas.microsoft.com/office/drawing/2014/main" id="{0503807E-78B3-4592-AD12-91E4E500EE19}"/>
              </a:ext>
            </a:extLst>
          </p:cNvPr>
          <p:cNvSpPr>
            <a:spLocks noChangeArrowheads="1"/>
          </p:cNvSpPr>
          <p:nvPr/>
        </p:nvSpPr>
        <p:spPr bwMode="auto">
          <a:xfrm>
            <a:off x="1278889" y="4873631"/>
            <a:ext cx="679519" cy="204006"/>
          </a:xfrm>
          <a:prstGeom prst="rightArrow">
            <a:avLst>
              <a:gd name="adj1" fmla="val 50000"/>
              <a:gd name="adj2" fmla="val 83272"/>
            </a:avLst>
          </a:prstGeom>
          <a:solidFill>
            <a:schemeClr val="accent1"/>
          </a:solidFill>
          <a:ln w="7938">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矩形 14">
            <a:extLst>
              <a:ext uri="{FF2B5EF4-FFF2-40B4-BE49-F238E27FC236}">
                <a16:creationId xmlns:a16="http://schemas.microsoft.com/office/drawing/2014/main" id="{5C677508-523B-4FCC-B3AE-86A132A109DB}"/>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2D51792-8730-4AC2-A0D5-996443B209B8}"/>
              </a:ext>
            </a:extLst>
          </p:cNvPr>
          <p:cNvSpPr>
            <a:spLocks noGrp="1"/>
          </p:cNvSpPr>
          <p:nvPr>
            <p:ph type="sldNum" sz="quarter" idx="12"/>
          </p:nvPr>
        </p:nvSpPr>
        <p:spPr/>
        <p:txBody>
          <a:bodyPr/>
          <a:lstStyle/>
          <a:p>
            <a:fld id="{B4278373-BC0B-458F-B343-5779D4A06D8D}" type="slidenum">
              <a:rPr lang="en-US" altLang="ko-KR"/>
              <a:pPr/>
              <a:t>19</a:t>
            </a:fld>
            <a:endParaRPr lang="en-US" altLang="ko-KR"/>
          </a:p>
        </p:txBody>
      </p:sp>
      <p:graphicFrame>
        <p:nvGraphicFramePr>
          <p:cNvPr id="79876" name="Object 4">
            <a:extLst>
              <a:ext uri="{FF2B5EF4-FFF2-40B4-BE49-F238E27FC236}">
                <a16:creationId xmlns:a16="http://schemas.microsoft.com/office/drawing/2014/main" id="{14A0AD1E-7D1C-48CB-971E-1031EDFC4C1A}"/>
              </a:ext>
            </a:extLst>
          </p:cNvPr>
          <p:cNvGraphicFramePr>
            <a:graphicFrameLocks noChangeAspect="1"/>
          </p:cNvGraphicFramePr>
          <p:nvPr>
            <p:extLst>
              <p:ext uri="{D42A27DB-BD31-4B8C-83A1-F6EECF244321}">
                <p14:modId xmlns:p14="http://schemas.microsoft.com/office/powerpoint/2010/main" val="2634841786"/>
              </p:ext>
            </p:extLst>
          </p:nvPr>
        </p:nvGraphicFramePr>
        <p:xfrm>
          <a:off x="1907704" y="2490466"/>
          <a:ext cx="6669180" cy="3336090"/>
        </p:xfrm>
        <a:graphic>
          <a:graphicData uri="http://schemas.openxmlformats.org/presentationml/2006/ole">
            <mc:AlternateContent xmlns:mc="http://schemas.openxmlformats.org/markup-compatibility/2006">
              <mc:Choice xmlns:v="urn:schemas-microsoft-com:vml" Requires="v">
                <p:oleObj spid="_x0000_s17433" name="图片" r:id="rId3" imgW="4099395" imgH="2047449" progId="Word.Picture.8">
                  <p:embed/>
                </p:oleObj>
              </mc:Choice>
              <mc:Fallback>
                <p:oleObj name="图片" r:id="rId3" imgW="4099395" imgH="2047449" progId="Word.Picture.8">
                  <p:embed/>
                  <p:pic>
                    <p:nvPicPr>
                      <p:cNvPr id="79876" name="Object 4">
                        <a:extLst>
                          <a:ext uri="{FF2B5EF4-FFF2-40B4-BE49-F238E27FC236}">
                            <a16:creationId xmlns:a16="http://schemas.microsoft.com/office/drawing/2014/main" id="{14A0AD1E-7D1C-48CB-971E-1031EDFC4C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2490466"/>
                        <a:ext cx="6669180" cy="3336090"/>
                      </a:xfrm>
                      <a:prstGeom prst="rect">
                        <a:avLst/>
                      </a:prstGeom>
                      <a:solidFill>
                        <a:schemeClr val="bg1"/>
                      </a:solidFill>
                    </p:spPr>
                  </p:pic>
                </p:oleObj>
              </mc:Fallback>
            </mc:AlternateContent>
          </a:graphicData>
        </a:graphic>
      </p:graphicFrame>
      <p:sp>
        <p:nvSpPr>
          <p:cNvPr id="79875" name="Rectangle 3">
            <a:extLst>
              <a:ext uri="{FF2B5EF4-FFF2-40B4-BE49-F238E27FC236}">
                <a16:creationId xmlns:a16="http://schemas.microsoft.com/office/drawing/2014/main" id="{76CAC4D2-C05F-47AF-ACD7-3991444E666F}"/>
              </a:ext>
            </a:extLst>
          </p:cNvPr>
          <p:cNvSpPr>
            <a:spLocks noGrp="1" noChangeArrowheads="1"/>
          </p:cNvSpPr>
          <p:nvPr>
            <p:ph type="body" idx="1"/>
          </p:nvPr>
        </p:nvSpPr>
        <p:spPr>
          <a:xfrm>
            <a:off x="899901" y="916314"/>
            <a:ext cx="7344198" cy="3606097"/>
          </a:xfrm>
        </p:spPr>
        <p:txBody>
          <a:bodyPr/>
          <a:lstStyle/>
          <a:p>
            <a:r>
              <a:rPr lang="zh-CN" altLang="en-US" sz="2400" dirty="0">
                <a:latin typeface="微软雅黑" panose="020B0503020204020204" pitchFamily="34" charset="-122"/>
                <a:ea typeface="微软雅黑" panose="020B0503020204020204" pitchFamily="34" charset="-122"/>
              </a:rPr>
              <a:t>阅读器和应答器之间的电感耦合</a:t>
            </a:r>
          </a:p>
          <a:p>
            <a:pPr lvl="1"/>
            <a:r>
              <a:rPr lang="zh-CN" altLang="en-US" sz="2000" dirty="0">
                <a:latin typeface="微软雅黑" panose="020B0503020204020204" pitchFamily="34" charset="-122"/>
                <a:ea typeface="微软雅黑" panose="020B0503020204020204" pitchFamily="34" charset="-122"/>
              </a:rPr>
              <a:t>法拉第定理指出，一个时变磁场通过一个闭合导体回路时，在其上会产生感应电压，并在回路中产生电流。</a:t>
            </a:r>
          </a:p>
          <a:p>
            <a:pPr lvl="1"/>
            <a:r>
              <a:rPr lang="zh-CN" altLang="en-US" sz="2000" dirty="0">
                <a:latin typeface="微软雅黑" panose="020B0503020204020204" pitchFamily="34" charset="-122"/>
                <a:ea typeface="微软雅黑" panose="020B0503020204020204" pitchFamily="34" charset="-122"/>
              </a:rPr>
              <a:t>当应答器进入阅读器产生的交变磁场时，应答器的电感线圈上就会产生感应电压，</a:t>
            </a:r>
            <a:br>
              <a:rPr lang="zh-CN" altLang="en-US"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当距离足够近，应答器天线</a:t>
            </a:r>
            <a:br>
              <a:rPr lang="zh-CN" altLang="en-US"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电路所截获的能量可以供</a:t>
            </a:r>
            <a:br>
              <a:rPr lang="zh-CN" altLang="en-US"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应答器芯片正常工作时，</a:t>
            </a:r>
            <a:br>
              <a:rPr lang="zh-CN" altLang="en-US"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阅读器和应答器才能进入</a:t>
            </a:r>
            <a:br>
              <a:rPr lang="zh-CN" altLang="en-US"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信息交互阶段。 </a:t>
            </a:r>
          </a:p>
        </p:txBody>
      </p:sp>
      <p:sp>
        <p:nvSpPr>
          <p:cNvPr id="7" name="矩形 6">
            <a:extLst>
              <a:ext uri="{FF2B5EF4-FFF2-40B4-BE49-F238E27FC236}">
                <a16:creationId xmlns:a16="http://schemas.microsoft.com/office/drawing/2014/main" id="{BD757AB6-3902-4C22-B17F-5494DB5CEF11}"/>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a:extLst>
              <a:ext uri="{FF2B5EF4-FFF2-40B4-BE49-F238E27FC236}">
                <a16:creationId xmlns:a16="http://schemas.microsoft.com/office/drawing/2014/main" id="{82AB927B-BF9F-4301-B746-305B89DEEF0B}"/>
              </a:ext>
            </a:extLst>
          </p:cNvPr>
          <p:cNvSpPr>
            <a:spLocks noGrp="1" noChangeArrowheads="1"/>
          </p:cNvSpPr>
          <p:nvPr>
            <p:ph type="body" idx="1"/>
          </p:nvPr>
        </p:nvSpPr>
        <p:spPr>
          <a:xfrm>
            <a:off x="755576" y="801183"/>
            <a:ext cx="4248472" cy="475351"/>
          </a:xfrm>
        </p:spPr>
        <p:txBody>
          <a:bodyPr/>
          <a:lstStyle/>
          <a:p>
            <a:r>
              <a:rPr lang="zh-CN" altLang="en-US" sz="2400" dirty="0">
                <a:latin typeface="微软雅黑" panose="020B0503020204020204" pitchFamily="34" charset="-122"/>
                <a:ea typeface="微软雅黑" panose="020B0503020204020204" pitchFamily="34" charset="-122"/>
              </a:rPr>
              <a:t>应答器线圈感应电压的计算 </a:t>
            </a:r>
          </a:p>
        </p:txBody>
      </p:sp>
      <mc:AlternateContent xmlns:mc="http://schemas.openxmlformats.org/markup-compatibility/2006" xmlns:a14="http://schemas.microsoft.com/office/drawing/2010/main">
        <mc:Choice Requires="a14">
          <p:sp>
            <p:nvSpPr>
              <p:cNvPr id="90116" name="Object 4">
                <a:extLst>
                  <a:ext uri="{FF2B5EF4-FFF2-40B4-BE49-F238E27FC236}">
                    <a16:creationId xmlns:a16="http://schemas.microsoft.com/office/drawing/2014/main" id="{0B762C6C-5C79-4438-9556-17210C58200A}"/>
                  </a:ext>
                </a:extLst>
              </p:cNvPr>
              <p:cNvSpPr txBox="1"/>
              <p:nvPr/>
            </p:nvSpPr>
            <p:spPr bwMode="auto">
              <a:xfrm>
                <a:off x="1237410" y="4260115"/>
                <a:ext cx="6718965" cy="943526"/>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2</m:t>
                          </m:r>
                        </m:sub>
                      </m:sSub>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𝜑</m:t>
                          </m:r>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2</m:t>
                          </m:r>
                        </m:sub>
                      </m:sSub>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d>
                        <m:dPr>
                          <m:ctrlPr>
                            <a:rPr lang="zh-CN" altLang="en-US" i="1">
                              <a:solidFill>
                                <a:srgbClr val="000000"/>
                              </a:solidFill>
                              <a:latin typeface="Cambria Math" panose="02040503050406030204" pitchFamily="18" charset="0"/>
                            </a:rPr>
                          </m:ctrlPr>
                        </m:dPr>
                        <m:e>
                          <m:nary>
                            <m:naryPr>
                              <m:subHide m:val="on"/>
                              <m:supHide m:val="on"/>
                              <m:ctrlPr>
                                <a:rPr lang="zh-CN" altLang="en-US" i="1">
                                  <a:solidFill>
                                    <a:srgbClr val="000000"/>
                                  </a:solidFill>
                                  <a:latin typeface="Cambria Math" panose="02040503050406030204" pitchFamily="18" charset="0"/>
                                </a:rPr>
                              </m:ctrlPr>
                            </m:naryPr>
                            <m:sub/>
                            <m:sup/>
                            <m:e>
                              <m:r>
                                <m:rPr>
                                  <m:sty m:val="p"/>
                                </m:rPr>
                                <a:rPr lang="zh-CN" altLang="en-US" i="1">
                                  <a:solidFill>
                                    <a:srgbClr val="000000"/>
                                  </a:solidFill>
                                  <a:latin typeface="Cambria Math" panose="02040503050406030204" pitchFamily="18" charset="0"/>
                                </a:rPr>
                                <m:t>B</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𝑆</m:t>
                              </m:r>
                            </m:e>
                          </m:nary>
                        </m:e>
                      </m:d>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2</m:t>
                          </m:r>
                        </m:sub>
                      </m:sSub>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d>
                        <m:dPr>
                          <m:begChr m:val="["/>
                          <m:endChr m:val="]"/>
                          <m:ctrlPr>
                            <a:rPr lang="zh-CN" altLang="en-US" i="1">
                              <a:solidFill>
                                <a:srgbClr val="000000"/>
                              </a:solidFill>
                              <a:latin typeface="Cambria Math" panose="02040503050406030204" pitchFamily="18" charset="0"/>
                            </a:rPr>
                          </m:ctrlPr>
                        </m:dPr>
                        <m:e>
                          <m:nary>
                            <m:naryPr>
                              <m:subHide m:val="on"/>
                              <m:supHide m:val="on"/>
                              <m:ctrlPr>
                                <a:rPr lang="zh-CN" altLang="en-US" i="1">
                                  <a:solidFill>
                                    <a:srgbClr val="000000"/>
                                  </a:solidFill>
                                  <a:latin typeface="Cambria Math" panose="02040503050406030204" pitchFamily="18" charset="0"/>
                                </a:rPr>
                              </m:ctrlPr>
                            </m:naryPr>
                            <m:sub/>
                            <m:sup/>
                            <m:e>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0</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2</m:t>
                                              </m:r>
                                            </m:sup>
                                          </m:sSup>
                                        </m:e>
                                      </m:d>
                                    </m:e>
                                    <m:sup>
                                      <m:f>
                                        <m:fPr>
                                          <m:type m:val="lin"/>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3</m:t>
                                          </m:r>
                                        </m:num>
                                        <m:den>
                                          <m:r>
                                            <a:rPr lang="zh-CN" altLang="en-US" i="1">
                                              <a:solidFill>
                                                <a:srgbClr val="000000"/>
                                              </a:solidFill>
                                              <a:latin typeface="Cambria Math" panose="02040503050406030204" pitchFamily="18" charset="0"/>
                                            </a:rPr>
                                            <m:t>2</m:t>
                                          </m:r>
                                        </m:den>
                                      </m:f>
                                    </m:sup>
                                  </m:sSup>
                                </m:den>
                              </m:f>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𝑆</m:t>
                              </m:r>
                            </m:e>
                          </m:nary>
                        </m:e>
                      </m:d>
                    </m:oMath>
                  </m:oMathPara>
                </a14:m>
                <a:endParaRPr lang="zh-CN" altLang="en-US" dirty="0"/>
              </a:p>
            </p:txBody>
          </p:sp>
        </mc:Choice>
        <mc:Fallback xmlns="">
          <p:sp>
            <p:nvSpPr>
              <p:cNvPr id="90116" name="Object 4">
                <a:extLst>
                  <a:ext uri="{FF2B5EF4-FFF2-40B4-BE49-F238E27FC236}">
                    <a16:creationId xmlns:a16="http://schemas.microsoft.com/office/drawing/2014/main" id="{0B762C6C-5C79-4438-9556-17210C58200A}"/>
                  </a:ext>
                </a:extLst>
              </p:cNvPr>
              <p:cNvSpPr txBox="1">
                <a:spLocks noRot="1" noChangeAspect="1" noMove="1" noResize="1" noEditPoints="1" noAdjustHandles="1" noChangeArrowheads="1" noChangeShapeType="1" noTextEdit="1"/>
              </p:cNvSpPr>
              <p:nvPr/>
            </p:nvSpPr>
            <p:spPr bwMode="auto">
              <a:xfrm>
                <a:off x="1237410" y="4260115"/>
                <a:ext cx="6718965" cy="943526"/>
              </a:xfrm>
              <a:prstGeom prst="rect">
                <a:avLst/>
              </a:prstGeom>
              <a:blipFill>
                <a:blip r:embed="rId2"/>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118" name="Object 6">
                <a:extLst>
                  <a:ext uri="{FF2B5EF4-FFF2-40B4-BE49-F238E27FC236}">
                    <a16:creationId xmlns:a16="http://schemas.microsoft.com/office/drawing/2014/main" id="{EE687533-149A-48E7-B465-FAA45624FEA4}"/>
                  </a:ext>
                </a:extLst>
              </p:cNvPr>
              <p:cNvSpPr txBox="1"/>
              <p:nvPr/>
            </p:nvSpPr>
            <p:spPr bwMode="auto">
              <a:xfrm>
                <a:off x="1375227" y="2184289"/>
                <a:ext cx="2260669" cy="619125"/>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𝜓</m:t>
                          </m:r>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2</m:t>
                          </m:r>
                        </m:sub>
                      </m:sSub>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𝜑</m:t>
                          </m:r>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oMath>
                  </m:oMathPara>
                </a14:m>
                <a:endParaRPr lang="zh-CN" altLang="en-US" dirty="0"/>
              </a:p>
            </p:txBody>
          </p:sp>
        </mc:Choice>
        <mc:Fallback xmlns="">
          <p:sp>
            <p:nvSpPr>
              <p:cNvPr id="90118" name="Object 6">
                <a:extLst>
                  <a:ext uri="{FF2B5EF4-FFF2-40B4-BE49-F238E27FC236}">
                    <a16:creationId xmlns:a16="http://schemas.microsoft.com/office/drawing/2014/main" id="{EE687533-149A-48E7-B465-FAA45624FEA4}"/>
                  </a:ext>
                </a:extLst>
              </p:cNvPr>
              <p:cNvSpPr txBox="1">
                <a:spLocks noRot="1" noChangeAspect="1" noMove="1" noResize="1" noEditPoints="1" noAdjustHandles="1" noChangeArrowheads="1" noChangeShapeType="1" noTextEdit="1"/>
              </p:cNvSpPr>
              <p:nvPr/>
            </p:nvSpPr>
            <p:spPr bwMode="auto">
              <a:xfrm>
                <a:off x="1375227" y="2184289"/>
                <a:ext cx="2260669" cy="619125"/>
              </a:xfrm>
              <a:prstGeom prst="rect">
                <a:avLst/>
              </a:prstGeom>
              <a:blipFill>
                <a:blip r:embed="rId3"/>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120" name="Object 8">
                <a:extLst>
                  <a:ext uri="{FF2B5EF4-FFF2-40B4-BE49-F238E27FC236}">
                    <a16:creationId xmlns:a16="http://schemas.microsoft.com/office/drawing/2014/main" id="{B6AF3E50-93D6-4452-94C2-36149B671654}"/>
                  </a:ext>
                </a:extLst>
              </p:cNvPr>
              <p:cNvSpPr txBox="1"/>
              <p:nvPr/>
            </p:nvSpPr>
            <p:spPr bwMode="auto">
              <a:xfrm>
                <a:off x="3882122" y="2291996"/>
                <a:ext cx="1429539" cy="558015"/>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𝜓</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𝜑</m:t>
                      </m:r>
                    </m:oMath>
                  </m:oMathPara>
                </a14:m>
                <a:endParaRPr lang="zh-CN" altLang="en-US" dirty="0"/>
              </a:p>
            </p:txBody>
          </p:sp>
        </mc:Choice>
        <mc:Fallback xmlns="">
          <p:sp>
            <p:nvSpPr>
              <p:cNvPr id="90120" name="Object 8">
                <a:extLst>
                  <a:ext uri="{FF2B5EF4-FFF2-40B4-BE49-F238E27FC236}">
                    <a16:creationId xmlns:a16="http://schemas.microsoft.com/office/drawing/2014/main" id="{B6AF3E50-93D6-4452-94C2-36149B671654}"/>
                  </a:ext>
                </a:extLst>
              </p:cNvPr>
              <p:cNvSpPr txBox="1">
                <a:spLocks noRot="1" noChangeAspect="1" noMove="1" noResize="1" noEditPoints="1" noAdjustHandles="1" noChangeArrowheads="1" noChangeShapeType="1" noTextEdit="1"/>
              </p:cNvSpPr>
              <p:nvPr/>
            </p:nvSpPr>
            <p:spPr bwMode="auto">
              <a:xfrm>
                <a:off x="3882122" y="2291996"/>
                <a:ext cx="1429539" cy="558015"/>
              </a:xfrm>
              <a:prstGeom prst="rect">
                <a:avLst/>
              </a:prstGeom>
              <a:blipFill>
                <a:blip r:embed="rId4"/>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122" name="Object 10">
                <a:extLst>
                  <a:ext uri="{FF2B5EF4-FFF2-40B4-BE49-F238E27FC236}">
                    <a16:creationId xmlns:a16="http://schemas.microsoft.com/office/drawing/2014/main" id="{9DA4A3AE-6802-4553-98B1-EF17D688C09A}"/>
                  </a:ext>
                </a:extLst>
              </p:cNvPr>
              <p:cNvSpPr txBox="1"/>
              <p:nvPr/>
            </p:nvSpPr>
            <p:spPr bwMode="auto">
              <a:xfrm>
                <a:off x="5748039" y="2160092"/>
                <a:ext cx="1770048" cy="667518"/>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𝜑</m:t>
                      </m:r>
                      <m:r>
                        <a:rPr lang="zh-CN" altLang="en-US" i="1">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r>
                            <m:rPr>
                              <m:sty m:val="p"/>
                            </m:rPr>
                            <a:rPr lang="zh-CN" altLang="en-US" i="1">
                              <a:solidFill>
                                <a:srgbClr val="000000"/>
                              </a:solidFill>
                              <a:latin typeface="Cambria Math" panose="02040503050406030204" pitchFamily="18" charset="0"/>
                            </a:rPr>
                            <m:t>B</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m:rPr>
                              <m:sty m:val="p"/>
                            </m:rPr>
                            <a:rPr lang="zh-CN" altLang="en-US" i="1">
                              <a:solidFill>
                                <a:srgbClr val="000000"/>
                              </a:solidFill>
                              <a:latin typeface="Cambria Math" panose="02040503050406030204" pitchFamily="18" charset="0"/>
                            </a:rPr>
                            <m:t>S</m:t>
                          </m:r>
                        </m:e>
                      </m:nary>
                    </m:oMath>
                  </m:oMathPara>
                </a14:m>
                <a:endParaRPr lang="zh-CN" altLang="en-US" dirty="0"/>
              </a:p>
            </p:txBody>
          </p:sp>
        </mc:Choice>
        <mc:Fallback xmlns="">
          <p:sp>
            <p:nvSpPr>
              <p:cNvPr id="90122" name="Object 10">
                <a:extLst>
                  <a:ext uri="{FF2B5EF4-FFF2-40B4-BE49-F238E27FC236}">
                    <a16:creationId xmlns:a16="http://schemas.microsoft.com/office/drawing/2014/main" id="{9DA4A3AE-6802-4553-98B1-EF17D688C09A}"/>
                  </a:ext>
                </a:extLst>
              </p:cNvPr>
              <p:cNvSpPr txBox="1">
                <a:spLocks noRot="1" noChangeAspect="1" noMove="1" noResize="1" noEditPoints="1" noAdjustHandles="1" noChangeArrowheads="1" noChangeShapeType="1" noTextEdit="1"/>
              </p:cNvSpPr>
              <p:nvPr/>
            </p:nvSpPr>
            <p:spPr bwMode="auto">
              <a:xfrm>
                <a:off x="5748039" y="2160092"/>
                <a:ext cx="1770048" cy="667518"/>
              </a:xfrm>
              <a:prstGeom prst="rect">
                <a:avLst/>
              </a:prstGeom>
              <a:blipFill>
                <a:blip r:embed="rId5"/>
                <a:stretch>
                  <a:fillRect/>
                </a:stretch>
              </a:blipFill>
              <a:extLst/>
            </p:spPr>
            <p:txBody>
              <a:bodyPr/>
              <a:lstStyle/>
              <a:p>
                <a:r>
                  <a:rPr lang="zh-CN" altLang="en-US">
                    <a:noFill/>
                  </a:rPr>
                  <a:t> </a:t>
                </a:r>
              </a:p>
            </p:txBody>
          </p:sp>
        </mc:Fallback>
      </mc:AlternateContent>
      <p:sp>
        <p:nvSpPr>
          <p:cNvPr id="90124" name="AutoShape 12">
            <a:extLst>
              <a:ext uri="{FF2B5EF4-FFF2-40B4-BE49-F238E27FC236}">
                <a16:creationId xmlns:a16="http://schemas.microsoft.com/office/drawing/2014/main" id="{FD98D4C9-4C35-41C8-9431-C0DA21AC020C}"/>
              </a:ext>
            </a:extLst>
          </p:cNvPr>
          <p:cNvSpPr>
            <a:spLocks noChangeArrowheads="1"/>
          </p:cNvSpPr>
          <p:nvPr/>
        </p:nvSpPr>
        <p:spPr bwMode="auto">
          <a:xfrm>
            <a:off x="4265242" y="3043643"/>
            <a:ext cx="544515" cy="885024"/>
          </a:xfrm>
          <a:prstGeom prst="downArrow">
            <a:avLst>
              <a:gd name="adj1" fmla="val 50000"/>
              <a:gd name="adj2" fmla="val 40634"/>
            </a:avLst>
          </a:prstGeom>
          <a:solidFill>
            <a:schemeClr val="accent1"/>
          </a:solidFill>
          <a:ln w="7938">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矩形 12">
            <a:extLst>
              <a:ext uri="{FF2B5EF4-FFF2-40B4-BE49-F238E27FC236}">
                <a16:creationId xmlns:a16="http://schemas.microsoft.com/office/drawing/2014/main" id="{E3853121-07D8-425F-B4DC-F85294A24668}"/>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a:extLst>
              <a:ext uri="{FF2B5EF4-FFF2-40B4-BE49-F238E27FC236}">
                <a16:creationId xmlns:a16="http://schemas.microsoft.com/office/drawing/2014/main" id="{EF50B64B-2873-409F-A51A-D3672E3F6E8E}"/>
              </a:ext>
            </a:extLst>
          </p:cNvPr>
          <p:cNvSpPr>
            <a:spLocks noGrp="1"/>
          </p:cNvSpPr>
          <p:nvPr>
            <p:ph type="sldNum" sz="quarter" idx="12"/>
          </p:nvPr>
        </p:nvSpPr>
        <p:spPr/>
        <p:txBody>
          <a:bodyPr/>
          <a:lstStyle/>
          <a:p>
            <a:fld id="{F0F4AAA2-20ED-4A19-BC64-BFF91700B75F}" type="slidenum">
              <a:rPr lang="en-US" altLang="ko-KR"/>
              <a:pPr/>
              <a:t>21</a:t>
            </a:fld>
            <a:endParaRPr lang="en-US" altLang="ko-KR"/>
          </a:p>
        </p:txBody>
      </p:sp>
      <p:sp>
        <p:nvSpPr>
          <p:cNvPr id="91139" name="Rectangle 3">
            <a:extLst>
              <a:ext uri="{FF2B5EF4-FFF2-40B4-BE49-F238E27FC236}">
                <a16:creationId xmlns:a16="http://schemas.microsoft.com/office/drawing/2014/main" id="{F6DE82CF-A6AF-4E1C-A4AF-3FC9617ADB1F}"/>
              </a:ext>
            </a:extLst>
          </p:cNvPr>
          <p:cNvSpPr>
            <a:spLocks noGrp="1" noChangeArrowheads="1"/>
          </p:cNvSpPr>
          <p:nvPr>
            <p:ph type="body" idx="1"/>
          </p:nvPr>
        </p:nvSpPr>
        <p:spPr>
          <a:xfrm>
            <a:off x="683568" y="949364"/>
            <a:ext cx="4824536" cy="1066587"/>
          </a:xfrm>
        </p:spPr>
        <p:txBody>
          <a:bodyPr/>
          <a:lstStyle/>
          <a:p>
            <a:r>
              <a:rPr lang="zh-CN" altLang="en-US" sz="2400" dirty="0">
                <a:latin typeface="微软雅黑" panose="020B0503020204020204" pitchFamily="34" charset="-122"/>
                <a:ea typeface="微软雅黑" panose="020B0503020204020204" pitchFamily="34" charset="-122"/>
              </a:rPr>
              <a:t>应答器谐振回路端电压的计算</a:t>
            </a:r>
          </a:p>
          <a:p>
            <a:pPr lvl="1"/>
            <a:r>
              <a:rPr lang="zh-CN" altLang="en-US" sz="2000" dirty="0">
                <a:latin typeface="微软雅黑" panose="020B0503020204020204" pitchFamily="34" charset="-122"/>
                <a:ea typeface="微软雅黑" panose="020B0503020204020204" pitchFamily="34" charset="-122"/>
              </a:rPr>
              <a:t>应答器天线电路的等效电路  </a:t>
            </a:r>
          </a:p>
        </p:txBody>
      </p:sp>
      <p:graphicFrame>
        <p:nvGraphicFramePr>
          <p:cNvPr id="91151" name="Object 15">
            <a:extLst>
              <a:ext uri="{FF2B5EF4-FFF2-40B4-BE49-F238E27FC236}">
                <a16:creationId xmlns:a16="http://schemas.microsoft.com/office/drawing/2014/main" id="{3A554980-0BDF-4F5C-8476-3A24BB4DE9D5}"/>
              </a:ext>
            </a:extLst>
          </p:cNvPr>
          <p:cNvGraphicFramePr>
            <a:graphicFrameLocks noChangeAspect="1"/>
          </p:cNvGraphicFramePr>
          <p:nvPr>
            <p:extLst>
              <p:ext uri="{D42A27DB-BD31-4B8C-83A1-F6EECF244321}">
                <p14:modId xmlns:p14="http://schemas.microsoft.com/office/powerpoint/2010/main" val="216953174"/>
              </p:ext>
            </p:extLst>
          </p:nvPr>
        </p:nvGraphicFramePr>
        <p:xfrm>
          <a:off x="569267" y="2338025"/>
          <a:ext cx="4150613" cy="2431566"/>
        </p:xfrm>
        <a:graphic>
          <a:graphicData uri="http://schemas.openxmlformats.org/presentationml/2006/ole">
            <mc:AlternateContent xmlns:mc="http://schemas.openxmlformats.org/markup-compatibility/2006">
              <mc:Choice xmlns:v="urn:schemas-microsoft-com:vml" Requires="v">
                <p:oleObj spid="_x0000_s19504" name="图片" r:id="rId3" imgW="2554915" imgH="1494911" progId="Word.Picture.8">
                  <p:embed/>
                </p:oleObj>
              </mc:Choice>
              <mc:Fallback>
                <p:oleObj name="图片" r:id="rId3" imgW="2554915" imgH="1494911" progId="Word.Picture.8">
                  <p:embed/>
                  <p:pic>
                    <p:nvPicPr>
                      <p:cNvPr id="91151" name="Object 15">
                        <a:extLst>
                          <a:ext uri="{FF2B5EF4-FFF2-40B4-BE49-F238E27FC236}">
                            <a16:creationId xmlns:a16="http://schemas.microsoft.com/office/drawing/2014/main" id="{3A554980-0BDF-4F5C-8476-3A24BB4DE9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267" y="2338025"/>
                        <a:ext cx="4150613" cy="24315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53" name="Object 17">
            <a:extLst>
              <a:ext uri="{FF2B5EF4-FFF2-40B4-BE49-F238E27FC236}">
                <a16:creationId xmlns:a16="http://schemas.microsoft.com/office/drawing/2014/main" id="{375A5870-03F9-4BF8-9112-E5D490C863EF}"/>
              </a:ext>
            </a:extLst>
          </p:cNvPr>
          <p:cNvGraphicFramePr>
            <a:graphicFrameLocks noChangeAspect="1"/>
          </p:cNvGraphicFramePr>
          <p:nvPr>
            <p:extLst>
              <p:ext uri="{D42A27DB-BD31-4B8C-83A1-F6EECF244321}">
                <p14:modId xmlns:p14="http://schemas.microsoft.com/office/powerpoint/2010/main" val="1370145852"/>
              </p:ext>
            </p:extLst>
          </p:nvPr>
        </p:nvGraphicFramePr>
        <p:xfrm>
          <a:off x="5567658" y="2394064"/>
          <a:ext cx="3027082" cy="2070056"/>
        </p:xfrm>
        <a:graphic>
          <a:graphicData uri="http://schemas.openxmlformats.org/presentationml/2006/ole">
            <mc:AlternateContent xmlns:mc="http://schemas.openxmlformats.org/markup-compatibility/2006">
              <mc:Choice xmlns:v="urn:schemas-microsoft-com:vml" Requires="v">
                <p:oleObj spid="_x0000_s19505" name="图片" r:id="rId5" imgW="1658713" imgH="1133152" progId="Word.Picture.8">
                  <p:embed/>
                </p:oleObj>
              </mc:Choice>
              <mc:Fallback>
                <p:oleObj name="图片" r:id="rId5" imgW="1658713" imgH="1133152" progId="Word.Picture.8">
                  <p:embed/>
                  <p:pic>
                    <p:nvPicPr>
                      <p:cNvPr id="91153" name="Object 17">
                        <a:extLst>
                          <a:ext uri="{FF2B5EF4-FFF2-40B4-BE49-F238E27FC236}">
                            <a16:creationId xmlns:a16="http://schemas.microsoft.com/office/drawing/2014/main" id="{375A5870-03F9-4BF8-9112-E5D490C863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7658" y="2394064"/>
                        <a:ext cx="3027082" cy="2070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55" name="AutoShape 19">
            <a:extLst>
              <a:ext uri="{FF2B5EF4-FFF2-40B4-BE49-F238E27FC236}">
                <a16:creationId xmlns:a16="http://schemas.microsoft.com/office/drawing/2014/main" id="{AC05440D-D72D-4B24-9AC8-D43EC7607F0A}"/>
              </a:ext>
            </a:extLst>
          </p:cNvPr>
          <p:cNvSpPr>
            <a:spLocks noChangeArrowheads="1"/>
          </p:cNvSpPr>
          <p:nvPr/>
        </p:nvSpPr>
        <p:spPr bwMode="auto">
          <a:xfrm>
            <a:off x="4820949" y="3418054"/>
            <a:ext cx="748520" cy="271508"/>
          </a:xfrm>
          <a:prstGeom prst="rightArrow">
            <a:avLst>
              <a:gd name="adj1" fmla="val 50000"/>
              <a:gd name="adj2" fmla="val 68922"/>
            </a:avLst>
          </a:prstGeom>
          <a:solidFill>
            <a:schemeClr val="accent1"/>
          </a:solidFill>
          <a:ln w="7938">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矩形 15">
            <a:extLst>
              <a:ext uri="{FF2B5EF4-FFF2-40B4-BE49-F238E27FC236}">
                <a16:creationId xmlns:a16="http://schemas.microsoft.com/office/drawing/2014/main" id="{E7D81880-8F52-4FBF-BC7A-F6F2C79CC9CA}"/>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5">
            <a:extLst>
              <a:ext uri="{FF2B5EF4-FFF2-40B4-BE49-F238E27FC236}">
                <a16:creationId xmlns:a16="http://schemas.microsoft.com/office/drawing/2014/main" id="{0908EC24-DB39-4273-9BD9-A5C5DD127350}"/>
              </a:ext>
            </a:extLst>
          </p:cNvPr>
          <p:cNvSpPr>
            <a:spLocks noGrp="1"/>
          </p:cNvSpPr>
          <p:nvPr>
            <p:ph type="sldNum" sz="quarter" idx="12"/>
          </p:nvPr>
        </p:nvSpPr>
        <p:spPr/>
        <p:txBody>
          <a:bodyPr/>
          <a:lstStyle/>
          <a:p>
            <a:fld id="{14830029-D374-45F6-9223-6BBA06D9DE05}" type="slidenum">
              <a:rPr lang="en-US" altLang="ko-KR"/>
              <a:pPr/>
              <a:t>22</a:t>
            </a:fld>
            <a:endParaRPr lang="en-US" altLang="ko-KR"/>
          </a:p>
        </p:txBody>
      </p:sp>
      <p:sp>
        <p:nvSpPr>
          <p:cNvPr id="101379" name="Rectangle 3">
            <a:extLst>
              <a:ext uri="{FF2B5EF4-FFF2-40B4-BE49-F238E27FC236}">
                <a16:creationId xmlns:a16="http://schemas.microsoft.com/office/drawing/2014/main" id="{6B554AB3-A559-4F84-80CB-B755D161526C}"/>
              </a:ext>
            </a:extLst>
          </p:cNvPr>
          <p:cNvSpPr>
            <a:spLocks noGrp="1" noChangeArrowheads="1"/>
          </p:cNvSpPr>
          <p:nvPr>
            <p:ph type="body" idx="1"/>
          </p:nvPr>
        </p:nvSpPr>
        <p:spPr>
          <a:xfrm>
            <a:off x="683568" y="810022"/>
            <a:ext cx="5869632" cy="485849"/>
          </a:xfrm>
        </p:spPr>
        <p:txBody>
          <a:bodyPr/>
          <a:lstStyle/>
          <a:p>
            <a:r>
              <a:rPr lang="zh-CN" altLang="en-US" sz="2400" dirty="0">
                <a:latin typeface="微软雅黑" panose="020B0503020204020204" pitchFamily="34" charset="-122"/>
                <a:ea typeface="微软雅黑" panose="020B0503020204020204" pitchFamily="34" charset="-122"/>
              </a:rPr>
              <a:t>应答器谐振回路端电压的计算</a:t>
            </a:r>
          </a:p>
        </p:txBody>
      </p:sp>
      <mc:AlternateContent xmlns:mc="http://schemas.openxmlformats.org/markup-compatibility/2006" xmlns:a14="http://schemas.microsoft.com/office/drawing/2010/main">
        <mc:Choice Requires="a14">
          <p:sp>
            <p:nvSpPr>
              <p:cNvPr id="101391" name="Object 15">
                <a:extLst>
                  <a:ext uri="{FF2B5EF4-FFF2-40B4-BE49-F238E27FC236}">
                    <a16:creationId xmlns:a16="http://schemas.microsoft.com/office/drawing/2014/main" id="{F70DFF21-98E9-47B0-AB55-3EA4CE4A2162}"/>
                  </a:ext>
                </a:extLst>
              </p:cNvPr>
              <p:cNvSpPr txBox="1"/>
              <p:nvPr/>
            </p:nvSpPr>
            <p:spPr bwMode="auto">
              <a:xfrm>
                <a:off x="2870952" y="1750776"/>
                <a:ext cx="3402092" cy="1107030"/>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𝑣</m:t>
                              </m:r>
                            </m:e>
                            <m:sup>
                              <m:r>
                                <a:rPr lang="zh-CN" altLang="en-US" i="1">
                                  <a:solidFill>
                                    <a:srgbClr val="000000"/>
                                  </a:solidFill>
                                  <a:latin typeface="Cambria Math" panose="02040503050406030204" pitchFamily="18" charset="0"/>
                                </a:rPr>
                                <m:t>′</m:t>
                              </m:r>
                            </m:sup>
                          </m:sSup>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𝑄</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0</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2</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𝑆</m:t>
                          </m:r>
                        </m:num>
                        <m:den>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2</m:t>
                                      </m:r>
                                    </m:sup>
                                  </m:sSup>
                                </m:e>
                              </m:d>
                            </m:e>
                            <m:sup>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3</m:t>
                                  </m:r>
                                </m:num>
                                <m:den>
                                  <m:r>
                                    <a:rPr lang="zh-CN" altLang="en-US" i="1">
                                      <a:solidFill>
                                        <a:srgbClr val="000000"/>
                                      </a:solidFill>
                                      <a:latin typeface="Cambria Math" panose="02040503050406030204" pitchFamily="18" charset="0"/>
                                    </a:rPr>
                                    <m:t>2</m:t>
                                  </m:r>
                                </m:den>
                              </m:f>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𝑖</m:t>
                              </m:r>
                            </m:sub>
                          </m:sSub>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oMath>
                  </m:oMathPara>
                </a14:m>
                <a:endParaRPr lang="zh-CN" altLang="en-US" dirty="0"/>
              </a:p>
            </p:txBody>
          </p:sp>
        </mc:Choice>
        <mc:Fallback xmlns="">
          <p:sp>
            <p:nvSpPr>
              <p:cNvPr id="101391" name="Object 15">
                <a:extLst>
                  <a:ext uri="{FF2B5EF4-FFF2-40B4-BE49-F238E27FC236}">
                    <a16:creationId xmlns:a16="http://schemas.microsoft.com/office/drawing/2014/main" id="{F70DFF21-98E9-47B0-AB55-3EA4CE4A2162}"/>
                  </a:ext>
                </a:extLst>
              </p:cNvPr>
              <p:cNvSpPr txBox="1">
                <a:spLocks noRot="1" noChangeAspect="1" noMove="1" noResize="1" noEditPoints="1" noAdjustHandles="1" noChangeArrowheads="1" noChangeShapeType="1" noTextEdit="1"/>
              </p:cNvSpPr>
              <p:nvPr/>
            </p:nvSpPr>
            <p:spPr bwMode="auto">
              <a:xfrm>
                <a:off x="2870952" y="1750776"/>
                <a:ext cx="3402092" cy="1107030"/>
              </a:xfrm>
              <a:prstGeom prst="rect">
                <a:avLst/>
              </a:prstGeom>
              <a:blipFill>
                <a:blip r:embed="rId2"/>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393" name="Object 17">
                <a:extLst>
                  <a:ext uri="{FF2B5EF4-FFF2-40B4-BE49-F238E27FC236}">
                    <a16:creationId xmlns:a16="http://schemas.microsoft.com/office/drawing/2014/main" id="{8CA38D1C-0E00-414B-A944-786365CD88F3}"/>
                  </a:ext>
                </a:extLst>
              </p:cNvPr>
              <p:cNvSpPr txBox="1"/>
              <p:nvPr/>
            </p:nvSpPr>
            <p:spPr bwMode="auto">
              <a:xfrm>
                <a:off x="1637182" y="3015374"/>
                <a:ext cx="5869632" cy="868524"/>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𝑣</m:t>
                              </m:r>
                            </m:e>
                            <m:sup>
                              <m:r>
                                <a:rPr lang="zh-CN" altLang="en-US" i="1">
                                  <a:solidFill>
                                    <a:srgbClr val="000000"/>
                                  </a:solidFill>
                                  <a:latin typeface="Cambria Math" panose="02040503050406030204" pitchFamily="18" charset="0"/>
                                </a:rPr>
                                <m:t>′</m:t>
                              </m:r>
                            </m:sup>
                          </m:sSup>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𝑄</m:t>
                      </m:r>
                      <m:r>
                        <a:rPr lang="zh-CN" altLang="en-US" i="1">
                          <a:solidFill>
                            <a:srgbClr val="000000"/>
                          </a:solidFill>
                          <a:latin typeface="Cambria Math" panose="02040503050406030204" pitchFamily="18" charset="0"/>
                        </a:rPr>
                        <m:t>𝜔</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𝑆</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0</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2</m:t>
                                      </m:r>
                                    </m:sup>
                                  </m:sSup>
                                </m:e>
                              </m:d>
                            </m:e>
                            <m:sup>
                              <m:r>
                                <a:rPr lang="zh-CN" altLang="en-US" i="1">
                                  <a:solidFill>
                                    <a:srgbClr val="000000"/>
                                  </a:solidFill>
                                  <a:latin typeface="Cambria Math" panose="02040503050406030204" pitchFamily="18" charset="0"/>
                                </a:rPr>
                                <m:t>3/2</m:t>
                              </m:r>
                            </m:sup>
                          </m:sSup>
                        </m:den>
                      </m:f>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𝑚</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e>
                          </m:d>
                        </m:e>
                      </m:func>
                      <m:r>
                        <a:rPr lang="zh-CN" altLang="en-US" i="1">
                          <a:solidFill>
                            <a:srgbClr val="000000"/>
                          </a:solidFill>
                          <a:latin typeface="Cambria Math" panose="02040503050406030204" pitchFamily="18" charset="0"/>
                        </a:rPr>
                        <m:t>=−2</m:t>
                      </m:r>
                      <m:r>
                        <m:rPr>
                          <m:sty m:val="p"/>
                        </m:rPr>
                        <a:rPr lang="zh-CN" altLang="en-US" i="0">
                          <a:solidFill>
                            <a:srgbClr val="000000"/>
                          </a:solidFill>
                          <a:latin typeface="Cambria Math" panose="02040503050406030204" pitchFamily="18" charset="0"/>
                        </a:rPr>
                        <m:t>π</m:t>
                      </m:r>
                      <m:r>
                        <a:rPr lang="zh-CN" altLang="en-US" i="1">
                          <a:solidFill>
                            <a:srgbClr val="000000"/>
                          </a:solidFill>
                          <a:latin typeface="Cambria Math" panose="02040503050406030204" pitchFamily="18" charset="0"/>
                        </a:rPr>
                        <m:t>𝑓</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𝑆𝑄</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B</m:t>
                          </m:r>
                        </m:e>
                        <m:sub>
                          <m:r>
                            <m:rPr>
                              <m:sty m:val="p"/>
                            </m:rPr>
                            <a:rPr lang="zh-CN" altLang="en-US" i="0">
                              <a:solidFill>
                                <a:srgbClr val="000000"/>
                              </a:solidFill>
                              <a:latin typeface="Cambria Math" panose="02040503050406030204" pitchFamily="18" charset="0"/>
                            </a:rPr>
                            <m:t>z</m:t>
                          </m:r>
                        </m:sub>
                      </m:sSub>
                    </m:oMath>
                  </m:oMathPara>
                </a14:m>
                <a:endParaRPr lang="zh-CN" altLang="en-US" dirty="0"/>
              </a:p>
            </p:txBody>
          </p:sp>
        </mc:Choice>
        <mc:Fallback xmlns="">
          <p:sp>
            <p:nvSpPr>
              <p:cNvPr id="101393" name="Object 17">
                <a:extLst>
                  <a:ext uri="{FF2B5EF4-FFF2-40B4-BE49-F238E27FC236}">
                    <a16:creationId xmlns:a16="http://schemas.microsoft.com/office/drawing/2014/main" id="{8CA38D1C-0E00-414B-A944-786365CD88F3}"/>
                  </a:ext>
                </a:extLst>
              </p:cNvPr>
              <p:cNvSpPr txBox="1">
                <a:spLocks noRot="1" noChangeAspect="1" noMove="1" noResize="1" noEditPoints="1" noAdjustHandles="1" noChangeArrowheads="1" noChangeShapeType="1" noTextEdit="1"/>
              </p:cNvSpPr>
              <p:nvPr/>
            </p:nvSpPr>
            <p:spPr bwMode="auto">
              <a:xfrm>
                <a:off x="1637182" y="3015374"/>
                <a:ext cx="5869632" cy="868524"/>
              </a:xfrm>
              <a:prstGeom prst="rect">
                <a:avLst/>
              </a:prstGeom>
              <a:blipFill>
                <a:blip r:embed="rId3"/>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395" name="Object 19">
                <a:extLst>
                  <a:ext uri="{FF2B5EF4-FFF2-40B4-BE49-F238E27FC236}">
                    <a16:creationId xmlns:a16="http://schemas.microsoft.com/office/drawing/2014/main" id="{2EF32163-076C-4250-B7D1-96460647A375}"/>
                  </a:ext>
                </a:extLst>
              </p:cNvPr>
              <p:cNvSpPr txBox="1"/>
              <p:nvPr/>
            </p:nvSpPr>
            <p:spPr bwMode="auto">
              <a:xfrm>
                <a:off x="2939203" y="4248199"/>
                <a:ext cx="3265589" cy="933025"/>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B</m:t>
                          </m:r>
                        </m:e>
                        <m:sub>
                          <m:r>
                            <m:rPr>
                              <m:sty m:val="p"/>
                            </m:rPr>
                            <a:rPr lang="zh-CN" altLang="en-US" i="0">
                              <a:solidFill>
                                <a:srgbClr val="000000"/>
                              </a:solidFill>
                              <a:latin typeface="Cambria Math" panose="02040503050406030204" pitchFamily="18" charset="0"/>
                            </a:rPr>
                            <m:t>z</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0</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2</m:t>
                                      </m:r>
                                    </m:sup>
                                  </m:sSup>
                                </m:e>
                              </m:d>
                            </m:e>
                            <m:sup>
                              <m:r>
                                <a:rPr lang="zh-CN" altLang="en-US" i="1">
                                  <a:solidFill>
                                    <a:srgbClr val="000000"/>
                                  </a:solidFill>
                                  <a:latin typeface="Cambria Math" panose="02040503050406030204" pitchFamily="18" charset="0"/>
                                </a:rPr>
                                <m:t>3/2</m:t>
                              </m:r>
                            </m:sup>
                          </m:sSup>
                        </m:den>
                      </m:f>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𝑚</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e>
                          </m:d>
                        </m:e>
                      </m:func>
                    </m:oMath>
                  </m:oMathPara>
                </a14:m>
                <a:endParaRPr lang="zh-CN" altLang="en-US" dirty="0"/>
              </a:p>
            </p:txBody>
          </p:sp>
        </mc:Choice>
        <mc:Fallback xmlns="">
          <p:sp>
            <p:nvSpPr>
              <p:cNvPr id="101395" name="Object 19">
                <a:extLst>
                  <a:ext uri="{FF2B5EF4-FFF2-40B4-BE49-F238E27FC236}">
                    <a16:creationId xmlns:a16="http://schemas.microsoft.com/office/drawing/2014/main" id="{2EF32163-076C-4250-B7D1-96460647A375}"/>
                  </a:ext>
                </a:extLst>
              </p:cNvPr>
              <p:cNvSpPr txBox="1">
                <a:spLocks noRot="1" noChangeAspect="1" noMove="1" noResize="1" noEditPoints="1" noAdjustHandles="1" noChangeArrowheads="1" noChangeShapeType="1" noTextEdit="1"/>
              </p:cNvSpPr>
              <p:nvPr/>
            </p:nvSpPr>
            <p:spPr bwMode="auto">
              <a:xfrm>
                <a:off x="2939203" y="4248199"/>
                <a:ext cx="3265589" cy="933025"/>
              </a:xfrm>
              <a:prstGeom prst="rect">
                <a:avLst/>
              </a:prstGeom>
              <a:blipFill>
                <a:blip r:embed="rId4"/>
                <a:stretch>
                  <a:fillRect/>
                </a:stretch>
              </a:blipFill>
              <a:extLst/>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8BF2595A-39F0-4801-B8B7-EC9BADEB88E6}"/>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a:extLst>
              <a:ext uri="{FF2B5EF4-FFF2-40B4-BE49-F238E27FC236}">
                <a16:creationId xmlns:a16="http://schemas.microsoft.com/office/drawing/2014/main" id="{9F6E7C20-14C3-4DA5-9102-65BF664B82C9}"/>
              </a:ext>
            </a:extLst>
          </p:cNvPr>
          <p:cNvSpPr>
            <a:spLocks noGrp="1"/>
          </p:cNvSpPr>
          <p:nvPr>
            <p:ph type="sldNum" sz="quarter" idx="12"/>
          </p:nvPr>
        </p:nvSpPr>
        <p:spPr/>
        <p:txBody>
          <a:bodyPr/>
          <a:lstStyle/>
          <a:p>
            <a:fld id="{4D9024BE-12E4-4A59-BC22-9D990BC11102}" type="slidenum">
              <a:rPr lang="en-US" altLang="ko-KR"/>
              <a:pPr/>
              <a:t>23</a:t>
            </a:fld>
            <a:endParaRPr lang="en-US" altLang="ko-KR"/>
          </a:p>
        </p:txBody>
      </p:sp>
      <p:sp>
        <p:nvSpPr>
          <p:cNvPr id="95235" name="Rectangle 3">
            <a:extLst>
              <a:ext uri="{FF2B5EF4-FFF2-40B4-BE49-F238E27FC236}">
                <a16:creationId xmlns:a16="http://schemas.microsoft.com/office/drawing/2014/main" id="{CF6B7592-ABD1-404B-8ADA-511038C77431}"/>
              </a:ext>
            </a:extLst>
          </p:cNvPr>
          <p:cNvSpPr>
            <a:spLocks noGrp="1" noChangeArrowheads="1"/>
          </p:cNvSpPr>
          <p:nvPr>
            <p:ph type="body" idx="1"/>
          </p:nvPr>
        </p:nvSpPr>
        <p:spPr>
          <a:xfrm>
            <a:off x="768883" y="830273"/>
            <a:ext cx="4235165" cy="449262"/>
          </a:xfrm>
        </p:spPr>
        <p:txBody>
          <a:bodyPr/>
          <a:lstStyle/>
          <a:p>
            <a:r>
              <a:rPr lang="zh-CN" altLang="en-US" sz="2400" dirty="0">
                <a:latin typeface="微软雅黑" panose="020B0503020204020204" pitchFamily="34" charset="-122"/>
                <a:ea typeface="微软雅黑" panose="020B0503020204020204" pitchFamily="34" charset="-122"/>
              </a:rPr>
              <a:t>应答器直流电源电压的产生 </a:t>
            </a:r>
          </a:p>
        </p:txBody>
      </p:sp>
      <p:graphicFrame>
        <p:nvGraphicFramePr>
          <p:cNvPr id="95242" name="Object 10">
            <a:extLst>
              <a:ext uri="{FF2B5EF4-FFF2-40B4-BE49-F238E27FC236}">
                <a16:creationId xmlns:a16="http://schemas.microsoft.com/office/drawing/2014/main" id="{49855A4B-5419-48BC-A9A8-58F54FE36CAE}"/>
              </a:ext>
            </a:extLst>
          </p:cNvPr>
          <p:cNvGraphicFramePr>
            <a:graphicFrameLocks noChangeAspect="1"/>
          </p:cNvGraphicFramePr>
          <p:nvPr>
            <p:extLst>
              <p:ext uri="{D42A27DB-BD31-4B8C-83A1-F6EECF244321}">
                <p14:modId xmlns:p14="http://schemas.microsoft.com/office/powerpoint/2010/main" val="2289251236"/>
              </p:ext>
            </p:extLst>
          </p:nvPr>
        </p:nvGraphicFramePr>
        <p:xfrm>
          <a:off x="1340163" y="2037804"/>
          <a:ext cx="6463674" cy="1900552"/>
        </p:xfrm>
        <a:graphic>
          <a:graphicData uri="http://schemas.openxmlformats.org/presentationml/2006/ole">
            <mc:AlternateContent xmlns:mc="http://schemas.openxmlformats.org/markup-compatibility/2006">
              <mc:Choice xmlns:v="urn:schemas-microsoft-com:vml" Requires="v">
                <p:oleObj spid="_x0000_s21529" name="图片" r:id="rId3" imgW="3889668" imgH="1142511" progId="Word.Picture.8">
                  <p:embed/>
                </p:oleObj>
              </mc:Choice>
              <mc:Fallback>
                <p:oleObj name="图片" r:id="rId3" imgW="3889668" imgH="1142511" progId="Word.Picture.8">
                  <p:embed/>
                  <p:pic>
                    <p:nvPicPr>
                      <p:cNvPr id="95242" name="Object 10">
                        <a:extLst>
                          <a:ext uri="{FF2B5EF4-FFF2-40B4-BE49-F238E27FC236}">
                            <a16:creationId xmlns:a16="http://schemas.microsoft.com/office/drawing/2014/main" id="{49855A4B-5419-48BC-A9A8-58F54FE36C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3" y="2037804"/>
                        <a:ext cx="6463674" cy="1900552"/>
                      </a:xfrm>
                      <a:prstGeom prst="rect">
                        <a:avLst/>
                      </a:prstGeom>
                      <a:solidFill>
                        <a:schemeClr val="bg1"/>
                      </a:solidFill>
                    </p:spPr>
                  </p:pic>
                </p:oleObj>
              </mc:Fallback>
            </mc:AlternateContent>
          </a:graphicData>
        </a:graphic>
      </p:graphicFrame>
      <p:sp>
        <p:nvSpPr>
          <p:cNvPr id="95244" name="Rectangle 12">
            <a:extLst>
              <a:ext uri="{FF2B5EF4-FFF2-40B4-BE49-F238E27FC236}">
                <a16:creationId xmlns:a16="http://schemas.microsoft.com/office/drawing/2014/main" id="{CB3F0EA8-E9C1-4BCE-AAA5-CAED1826D5E8}"/>
              </a:ext>
            </a:extLst>
          </p:cNvPr>
          <p:cNvSpPr>
            <a:spLocks noChangeArrowheads="1"/>
          </p:cNvSpPr>
          <p:nvPr/>
        </p:nvSpPr>
        <p:spPr bwMode="auto">
          <a:xfrm>
            <a:off x="3062612" y="4320505"/>
            <a:ext cx="33377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微软雅黑" panose="020B0503020204020204" pitchFamily="34" charset="-122"/>
                <a:ea typeface="微软雅黑" panose="020B0503020204020204" pitchFamily="34" charset="-122"/>
              </a:rPr>
              <a:t>应答器直流电源电压的产生 </a:t>
            </a:r>
          </a:p>
        </p:txBody>
      </p:sp>
      <p:sp>
        <p:nvSpPr>
          <p:cNvPr id="14" name="矩形 13">
            <a:extLst>
              <a:ext uri="{FF2B5EF4-FFF2-40B4-BE49-F238E27FC236}">
                <a16:creationId xmlns:a16="http://schemas.microsoft.com/office/drawing/2014/main" id="{930157C5-4E60-4C49-A444-79779755AC15}"/>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a:extLst>
              <a:ext uri="{FF2B5EF4-FFF2-40B4-BE49-F238E27FC236}">
                <a16:creationId xmlns:a16="http://schemas.microsoft.com/office/drawing/2014/main" id="{CD64C1F5-F667-4A07-8773-5470673630E8}"/>
              </a:ext>
            </a:extLst>
          </p:cNvPr>
          <p:cNvSpPr>
            <a:spLocks noGrp="1"/>
          </p:cNvSpPr>
          <p:nvPr>
            <p:ph type="sldNum" sz="quarter" idx="12"/>
          </p:nvPr>
        </p:nvSpPr>
        <p:spPr/>
        <p:txBody>
          <a:bodyPr/>
          <a:lstStyle/>
          <a:p>
            <a:fld id="{60C66CBD-96D7-463F-B59D-A4AEA0486E83}" type="slidenum">
              <a:rPr lang="en-US" altLang="ko-KR"/>
              <a:pPr/>
              <a:t>24</a:t>
            </a:fld>
            <a:endParaRPr lang="en-US" altLang="ko-KR"/>
          </a:p>
        </p:txBody>
      </p:sp>
      <p:sp>
        <p:nvSpPr>
          <p:cNvPr id="96259" name="Rectangle 3">
            <a:extLst>
              <a:ext uri="{FF2B5EF4-FFF2-40B4-BE49-F238E27FC236}">
                <a16:creationId xmlns:a16="http://schemas.microsoft.com/office/drawing/2014/main" id="{AA79327D-4EA0-471A-BF94-465FDAF5C7B0}"/>
              </a:ext>
            </a:extLst>
          </p:cNvPr>
          <p:cNvSpPr>
            <a:spLocks noGrp="1" noChangeArrowheads="1"/>
          </p:cNvSpPr>
          <p:nvPr>
            <p:ph type="body" idx="1"/>
          </p:nvPr>
        </p:nvSpPr>
        <p:spPr>
          <a:xfrm>
            <a:off x="683568" y="819445"/>
            <a:ext cx="2232248" cy="542852"/>
          </a:xfrm>
        </p:spPr>
        <p:txBody>
          <a:bodyPr/>
          <a:lstStyle/>
          <a:p>
            <a:r>
              <a:rPr lang="zh-CN" altLang="en-US" sz="2400" dirty="0">
                <a:latin typeface="微软雅黑" panose="020B0503020204020204" pitchFamily="34" charset="-122"/>
                <a:ea typeface="微软雅黑" panose="020B0503020204020204" pitchFamily="34" charset="-122"/>
              </a:rPr>
              <a:t>整流与滤波 </a:t>
            </a:r>
          </a:p>
        </p:txBody>
      </p:sp>
      <p:graphicFrame>
        <p:nvGraphicFramePr>
          <p:cNvPr id="96266" name="Object 10">
            <a:extLst>
              <a:ext uri="{FF2B5EF4-FFF2-40B4-BE49-F238E27FC236}">
                <a16:creationId xmlns:a16="http://schemas.microsoft.com/office/drawing/2014/main" id="{91335DAE-8F50-49E9-9728-315534ABA9E0}"/>
              </a:ext>
            </a:extLst>
          </p:cNvPr>
          <p:cNvGraphicFramePr>
            <a:graphicFrameLocks noChangeAspect="1"/>
          </p:cNvGraphicFramePr>
          <p:nvPr>
            <p:extLst>
              <p:ext uri="{D42A27DB-BD31-4B8C-83A1-F6EECF244321}">
                <p14:modId xmlns:p14="http://schemas.microsoft.com/office/powerpoint/2010/main" val="562717583"/>
              </p:ext>
            </p:extLst>
          </p:nvPr>
        </p:nvGraphicFramePr>
        <p:xfrm>
          <a:off x="1952929" y="1876711"/>
          <a:ext cx="5238141" cy="2043055"/>
        </p:xfrm>
        <a:graphic>
          <a:graphicData uri="http://schemas.openxmlformats.org/presentationml/2006/ole">
            <mc:AlternateContent xmlns:mc="http://schemas.openxmlformats.org/markup-compatibility/2006">
              <mc:Choice xmlns:v="urn:schemas-microsoft-com:vml" Requires="v">
                <p:oleObj spid="_x0000_s22553" name="图片" r:id="rId3" imgW="2860135" imgH="1114074" progId="Word.Picture.8">
                  <p:embed/>
                </p:oleObj>
              </mc:Choice>
              <mc:Fallback>
                <p:oleObj name="图片" r:id="rId3" imgW="2860135" imgH="1114074" progId="Word.Picture.8">
                  <p:embed/>
                  <p:pic>
                    <p:nvPicPr>
                      <p:cNvPr id="96266" name="Object 10">
                        <a:extLst>
                          <a:ext uri="{FF2B5EF4-FFF2-40B4-BE49-F238E27FC236}">
                            <a16:creationId xmlns:a16="http://schemas.microsoft.com/office/drawing/2014/main" id="{91335DAE-8F50-49E9-9728-315534ABA9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2929" y="1876711"/>
                        <a:ext cx="5238141" cy="2043055"/>
                      </a:xfrm>
                      <a:prstGeom prst="rect">
                        <a:avLst/>
                      </a:prstGeom>
                      <a:solidFill>
                        <a:schemeClr val="bg1"/>
                      </a:solidFill>
                    </p:spPr>
                  </p:pic>
                </p:oleObj>
              </mc:Fallback>
            </mc:AlternateContent>
          </a:graphicData>
        </a:graphic>
      </p:graphicFrame>
      <p:sp>
        <p:nvSpPr>
          <p:cNvPr id="96268" name="Rectangle 12">
            <a:extLst>
              <a:ext uri="{FF2B5EF4-FFF2-40B4-BE49-F238E27FC236}">
                <a16:creationId xmlns:a16="http://schemas.microsoft.com/office/drawing/2014/main" id="{D26F5063-43BC-40F2-AB87-3A0FF9A49FE5}"/>
              </a:ext>
            </a:extLst>
          </p:cNvPr>
          <p:cNvSpPr>
            <a:spLocks noChangeArrowheads="1"/>
          </p:cNvSpPr>
          <p:nvPr/>
        </p:nvSpPr>
        <p:spPr bwMode="auto">
          <a:xfrm>
            <a:off x="3030551" y="4525531"/>
            <a:ext cx="34307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微软雅黑" panose="020B0503020204020204" pitchFamily="34" charset="-122"/>
                <a:ea typeface="微软雅黑" panose="020B0503020204020204" pitchFamily="34" charset="-122"/>
              </a:rPr>
              <a:t>采用</a:t>
            </a:r>
            <a:r>
              <a:rPr lang="en-US" altLang="zh-CN" sz="2000" dirty="0">
                <a:latin typeface="微软雅黑" panose="020B0503020204020204" pitchFamily="34" charset="-122"/>
                <a:ea typeface="微软雅黑" panose="020B0503020204020204" pitchFamily="34" charset="-122"/>
              </a:rPr>
              <a:t>MOS</a:t>
            </a:r>
            <a:r>
              <a:rPr lang="zh-CN" altLang="en-US" sz="2000" dirty="0">
                <a:latin typeface="微软雅黑" panose="020B0503020204020204" pitchFamily="34" charset="-122"/>
                <a:ea typeface="微软雅黑" panose="020B0503020204020204" pitchFamily="34" charset="-122"/>
              </a:rPr>
              <a:t>管的全波整流电路 </a:t>
            </a:r>
          </a:p>
        </p:txBody>
      </p:sp>
      <p:sp>
        <p:nvSpPr>
          <p:cNvPr id="14" name="矩形 13">
            <a:extLst>
              <a:ext uri="{FF2B5EF4-FFF2-40B4-BE49-F238E27FC236}">
                <a16:creationId xmlns:a16="http://schemas.microsoft.com/office/drawing/2014/main" id="{496B5ABC-D39E-4D03-B456-301AE390BB4C}"/>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a:extLst>
              <a:ext uri="{FF2B5EF4-FFF2-40B4-BE49-F238E27FC236}">
                <a16:creationId xmlns:a16="http://schemas.microsoft.com/office/drawing/2014/main" id="{AB081F4E-7B31-414C-8E86-AF7BDFC7C708}"/>
              </a:ext>
            </a:extLst>
          </p:cNvPr>
          <p:cNvSpPr>
            <a:spLocks noGrp="1"/>
          </p:cNvSpPr>
          <p:nvPr>
            <p:ph type="sldNum" sz="quarter" idx="12"/>
          </p:nvPr>
        </p:nvSpPr>
        <p:spPr/>
        <p:txBody>
          <a:bodyPr/>
          <a:lstStyle/>
          <a:p>
            <a:fld id="{83346E0C-F83E-4F97-8905-FC01E6709E8A}" type="slidenum">
              <a:rPr lang="en-US" altLang="ko-KR"/>
              <a:pPr/>
              <a:t>25</a:t>
            </a:fld>
            <a:endParaRPr lang="en-US" altLang="ko-KR"/>
          </a:p>
        </p:txBody>
      </p:sp>
      <p:sp>
        <p:nvSpPr>
          <p:cNvPr id="97283" name="Rectangle 3">
            <a:extLst>
              <a:ext uri="{FF2B5EF4-FFF2-40B4-BE49-F238E27FC236}">
                <a16:creationId xmlns:a16="http://schemas.microsoft.com/office/drawing/2014/main" id="{006C4F63-A5AF-4357-B7FD-049B2DFC838A}"/>
              </a:ext>
            </a:extLst>
          </p:cNvPr>
          <p:cNvSpPr>
            <a:spLocks noGrp="1" noChangeArrowheads="1"/>
          </p:cNvSpPr>
          <p:nvPr>
            <p:ph type="body" idx="1"/>
          </p:nvPr>
        </p:nvSpPr>
        <p:spPr>
          <a:xfrm>
            <a:off x="899901" y="719807"/>
            <a:ext cx="7344198" cy="1038886"/>
          </a:xfrm>
        </p:spPr>
        <p:txBody>
          <a:bodyPr/>
          <a:lstStyle/>
          <a:p>
            <a:r>
              <a:rPr lang="zh-CN" altLang="en-US" sz="2400" dirty="0">
                <a:latin typeface="微软雅黑" panose="020B0503020204020204" pitchFamily="34" charset="-122"/>
                <a:ea typeface="微软雅黑" panose="020B0503020204020204" pitchFamily="34" charset="-122"/>
              </a:rPr>
              <a:t>负载调制 </a:t>
            </a:r>
          </a:p>
          <a:p>
            <a:pPr lvl="1"/>
            <a:r>
              <a:rPr lang="zh-CN" altLang="en-US" sz="2000" dirty="0">
                <a:latin typeface="微软雅黑" panose="020B0503020204020204" pitchFamily="34" charset="-122"/>
                <a:ea typeface="微软雅黑" panose="020B0503020204020204" pitchFamily="34" charset="-122"/>
              </a:rPr>
              <a:t>应答器向阅读器的信息传送时采用 </a:t>
            </a:r>
          </a:p>
        </p:txBody>
      </p:sp>
      <p:graphicFrame>
        <p:nvGraphicFramePr>
          <p:cNvPr id="97290" name="Object 10">
            <a:extLst>
              <a:ext uri="{FF2B5EF4-FFF2-40B4-BE49-F238E27FC236}">
                <a16:creationId xmlns:a16="http://schemas.microsoft.com/office/drawing/2014/main" id="{5F2E8F52-03A5-428A-92F0-29FB1815FCF3}"/>
              </a:ext>
            </a:extLst>
          </p:cNvPr>
          <p:cNvGraphicFramePr>
            <a:graphicFrameLocks noChangeAspect="1"/>
          </p:cNvGraphicFramePr>
          <p:nvPr>
            <p:extLst>
              <p:ext uri="{D42A27DB-BD31-4B8C-83A1-F6EECF244321}">
                <p14:modId xmlns:p14="http://schemas.microsoft.com/office/powerpoint/2010/main" val="1532803417"/>
              </p:ext>
            </p:extLst>
          </p:nvPr>
        </p:nvGraphicFramePr>
        <p:xfrm>
          <a:off x="830148" y="2164719"/>
          <a:ext cx="7483703" cy="2124057"/>
        </p:xfrm>
        <a:graphic>
          <a:graphicData uri="http://schemas.openxmlformats.org/presentationml/2006/ole">
            <mc:AlternateContent xmlns:mc="http://schemas.openxmlformats.org/markup-compatibility/2006">
              <mc:Choice xmlns:v="urn:schemas-microsoft-com:vml" Requires="v">
                <p:oleObj spid="_x0000_s23577" name="图片" r:id="rId3" imgW="4633440" imgH="1313851" progId="Word.Picture.8">
                  <p:embed/>
                </p:oleObj>
              </mc:Choice>
              <mc:Fallback>
                <p:oleObj name="图片" r:id="rId3" imgW="4633440" imgH="1313851" progId="Word.Picture.8">
                  <p:embed/>
                  <p:pic>
                    <p:nvPicPr>
                      <p:cNvPr id="97290" name="Object 10">
                        <a:extLst>
                          <a:ext uri="{FF2B5EF4-FFF2-40B4-BE49-F238E27FC236}">
                            <a16:creationId xmlns:a16="http://schemas.microsoft.com/office/drawing/2014/main" id="{5F2E8F52-03A5-428A-92F0-29FB1815FC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148" y="2164719"/>
                        <a:ext cx="7483703" cy="2124057"/>
                      </a:xfrm>
                      <a:prstGeom prst="rect">
                        <a:avLst/>
                      </a:prstGeom>
                      <a:solidFill>
                        <a:schemeClr val="bg1"/>
                      </a:solidFill>
                    </p:spPr>
                  </p:pic>
                </p:oleObj>
              </mc:Fallback>
            </mc:AlternateContent>
          </a:graphicData>
        </a:graphic>
      </p:graphicFrame>
      <p:sp>
        <p:nvSpPr>
          <p:cNvPr id="13" name="矩形 12">
            <a:extLst>
              <a:ext uri="{FF2B5EF4-FFF2-40B4-BE49-F238E27FC236}">
                <a16:creationId xmlns:a16="http://schemas.microsoft.com/office/drawing/2014/main" id="{7DC3921F-7F1E-4FDE-8DBE-5EE6F510EDAE}"/>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5">
            <a:extLst>
              <a:ext uri="{FF2B5EF4-FFF2-40B4-BE49-F238E27FC236}">
                <a16:creationId xmlns:a16="http://schemas.microsoft.com/office/drawing/2014/main" id="{423EF76B-1101-47D2-873B-ADE1367F2690}"/>
              </a:ext>
            </a:extLst>
          </p:cNvPr>
          <p:cNvSpPr>
            <a:spLocks noGrp="1"/>
          </p:cNvSpPr>
          <p:nvPr>
            <p:ph type="sldNum" sz="quarter" idx="12"/>
          </p:nvPr>
        </p:nvSpPr>
        <p:spPr/>
        <p:txBody>
          <a:bodyPr/>
          <a:lstStyle/>
          <a:p>
            <a:fld id="{FA3496EC-DC3D-4BBF-B973-6BCB302AFD34}" type="slidenum">
              <a:rPr lang="en-US" altLang="ko-KR"/>
              <a:pPr/>
              <a:t>26</a:t>
            </a:fld>
            <a:endParaRPr lang="en-US" altLang="ko-KR"/>
          </a:p>
        </p:txBody>
      </p:sp>
      <p:sp>
        <p:nvSpPr>
          <p:cNvPr id="98307" name="Rectangle 3">
            <a:extLst>
              <a:ext uri="{FF2B5EF4-FFF2-40B4-BE49-F238E27FC236}">
                <a16:creationId xmlns:a16="http://schemas.microsoft.com/office/drawing/2014/main" id="{A728F041-AC55-46A8-AC11-38CBFB14FA6C}"/>
              </a:ext>
            </a:extLst>
          </p:cNvPr>
          <p:cNvSpPr>
            <a:spLocks noGrp="1" noChangeArrowheads="1"/>
          </p:cNvSpPr>
          <p:nvPr>
            <p:ph type="body" idx="1"/>
          </p:nvPr>
        </p:nvSpPr>
        <p:spPr>
          <a:xfrm>
            <a:off x="755576" y="771374"/>
            <a:ext cx="4564945" cy="452489"/>
          </a:xfrm>
        </p:spPr>
        <p:txBody>
          <a:bodyPr/>
          <a:lstStyle/>
          <a:p>
            <a:r>
              <a:rPr lang="zh-CN" altLang="en-US" sz="2400" dirty="0">
                <a:latin typeface="微软雅黑" panose="020B0503020204020204" pitchFamily="34" charset="-122"/>
                <a:ea typeface="微软雅黑" panose="020B0503020204020204" pitchFamily="34" charset="-122"/>
              </a:rPr>
              <a:t>互感耦合回路的等效阻抗关系 </a:t>
            </a:r>
          </a:p>
        </p:txBody>
      </p:sp>
      <mc:AlternateContent xmlns:mc="http://schemas.openxmlformats.org/markup-compatibility/2006" xmlns:a14="http://schemas.microsoft.com/office/drawing/2010/main">
        <mc:Choice Requires="a14">
          <p:sp>
            <p:nvSpPr>
              <p:cNvPr id="98314" name="Object 10">
                <a:extLst>
                  <a:ext uri="{FF2B5EF4-FFF2-40B4-BE49-F238E27FC236}">
                    <a16:creationId xmlns:a16="http://schemas.microsoft.com/office/drawing/2014/main" id="{B2C56151-7D3E-4785-9E83-55B5D89208F2}"/>
                  </a:ext>
                </a:extLst>
              </p:cNvPr>
              <p:cNvSpPr txBox="1"/>
              <p:nvPr/>
            </p:nvSpPr>
            <p:spPr bwMode="auto">
              <a:xfrm>
                <a:off x="1373914" y="2695573"/>
                <a:ext cx="2313062" cy="613516"/>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𝑍</m:t>
                          </m:r>
                        </m:e>
                        <m:sub>
                          <m:r>
                            <a:rPr lang="zh-CN" altLang="en-US" i="1">
                              <a:solidFill>
                                <a:srgbClr val="000000"/>
                              </a:solidFill>
                              <a:latin typeface="Cambria Math" panose="02040503050406030204" pitchFamily="18" charset="0"/>
                            </a:rPr>
                            <m:t>11</m:t>
                          </m:r>
                        </m:sub>
                      </m:sSub>
                      <m:sSub>
                        <m:sSubPr>
                          <m:ctrlPr>
                            <a:rPr lang="zh-CN" altLang="en-US" i="1">
                              <a:solidFill>
                                <a:srgbClr val="000000"/>
                              </a:solidFill>
                              <a:latin typeface="Cambria Math" panose="02040503050406030204" pitchFamily="18" charset="0"/>
                            </a:rPr>
                          </m:ctrlPr>
                        </m:sSubPr>
                        <m:e>
                          <m:limUpp>
                            <m:limUppPr>
                              <m:ctrlPr>
                                <a:rPr lang="zh-CN" altLang="en-US" i="1">
                                  <a:solidFill>
                                    <a:srgbClr val="000000"/>
                                  </a:solidFill>
                                  <a:latin typeface="Cambria Math" panose="02040503050406030204" pitchFamily="18" charset="0"/>
                                </a:rPr>
                              </m:ctrlPr>
                            </m:limUppPr>
                            <m:e>
                              <m:r>
                                <a:rPr lang="zh-CN" altLang="en-US" i="1">
                                  <a:solidFill>
                                    <a:srgbClr val="000000"/>
                                  </a:solidFill>
                                  <a:latin typeface="Cambria Math" panose="02040503050406030204" pitchFamily="18" charset="0"/>
                                </a:rPr>
                                <m:t>𝐼</m:t>
                              </m:r>
                            </m:e>
                            <m:lim>
                              <m:r>
                                <a:rPr lang="zh-CN" altLang="en-US">
                                  <a:solidFill>
                                    <a:srgbClr val="000000"/>
                                  </a:solidFill>
                                  <a:latin typeface="Cambria Math" panose="02040503050406030204" pitchFamily="18" charset="0"/>
                                </a:rPr>
                                <m:t>•</m:t>
                              </m:r>
                            </m:lim>
                          </m:limUpp>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limUpp>
                            <m:limUppPr>
                              <m:ctrlPr>
                                <a:rPr lang="zh-CN" altLang="en-US" i="1">
                                  <a:solidFill>
                                    <a:srgbClr val="000000"/>
                                  </a:solidFill>
                                  <a:latin typeface="Cambria Math" panose="02040503050406030204" pitchFamily="18" charset="0"/>
                                </a:rPr>
                              </m:ctrlPr>
                            </m:limUppPr>
                            <m:e>
                              <m:r>
                                <a:rPr lang="zh-CN" altLang="en-US" i="1">
                                  <a:solidFill>
                                    <a:srgbClr val="000000"/>
                                  </a:solidFill>
                                  <a:latin typeface="Cambria Math" panose="02040503050406030204" pitchFamily="18" charset="0"/>
                                </a:rPr>
                                <m:t>𝐼</m:t>
                              </m:r>
                            </m:e>
                            <m:lim>
                              <m:r>
                                <a:rPr lang="zh-CN" altLang="en-US" i="0">
                                  <a:solidFill>
                                    <a:srgbClr val="000000"/>
                                  </a:solidFill>
                                  <a:latin typeface="Cambria Math" panose="02040503050406030204" pitchFamily="18" charset="0"/>
                                </a:rPr>
                                <m:t>•</m:t>
                              </m:r>
                            </m:lim>
                          </m:limUpp>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limUpp>
                            <m:limUppPr>
                              <m:ctrlPr>
                                <a:rPr lang="zh-CN" altLang="en-US" i="1">
                                  <a:solidFill>
                                    <a:srgbClr val="000000"/>
                                  </a:solidFill>
                                  <a:latin typeface="Cambria Math" panose="02040503050406030204" pitchFamily="18" charset="0"/>
                                </a:rPr>
                              </m:ctrlPr>
                            </m:limUppPr>
                            <m:e>
                              <m:r>
                                <a:rPr lang="zh-CN" altLang="en-US" i="1">
                                  <a:solidFill>
                                    <a:srgbClr val="000000"/>
                                  </a:solidFill>
                                  <a:latin typeface="Cambria Math" panose="02040503050406030204" pitchFamily="18" charset="0"/>
                                </a:rPr>
                                <m:t>𝑉</m:t>
                              </m:r>
                            </m:e>
                            <m:lim>
                              <m:r>
                                <a:rPr lang="zh-CN" altLang="en-US" i="0">
                                  <a:solidFill>
                                    <a:srgbClr val="000000"/>
                                  </a:solidFill>
                                  <a:latin typeface="Cambria Math" panose="02040503050406030204" pitchFamily="18" charset="0"/>
                                </a:rPr>
                                <m:t>•</m:t>
                              </m:r>
                            </m:lim>
                          </m:limUpp>
                        </m:e>
                        <m:sub>
                          <m:r>
                            <a:rPr lang="zh-CN" altLang="en-US" i="1">
                              <a:solidFill>
                                <a:srgbClr val="000000"/>
                              </a:solidFill>
                              <a:latin typeface="Cambria Math" panose="02040503050406030204" pitchFamily="18" charset="0"/>
                            </a:rPr>
                            <m:t>1</m:t>
                          </m:r>
                        </m:sub>
                      </m:sSub>
                    </m:oMath>
                  </m:oMathPara>
                </a14:m>
                <a:endParaRPr lang="zh-CN" altLang="en-US" dirty="0"/>
              </a:p>
            </p:txBody>
          </p:sp>
        </mc:Choice>
        <mc:Fallback xmlns="">
          <p:sp>
            <p:nvSpPr>
              <p:cNvPr id="98314" name="Object 10">
                <a:extLst>
                  <a:ext uri="{FF2B5EF4-FFF2-40B4-BE49-F238E27FC236}">
                    <a16:creationId xmlns:a16="http://schemas.microsoft.com/office/drawing/2014/main" id="{B2C56151-7D3E-4785-9E83-55B5D89208F2}"/>
                  </a:ext>
                </a:extLst>
              </p:cNvPr>
              <p:cNvSpPr txBox="1">
                <a:spLocks noRot="1" noChangeAspect="1" noMove="1" noResize="1" noEditPoints="1" noAdjustHandles="1" noChangeArrowheads="1" noChangeShapeType="1" noTextEdit="1"/>
              </p:cNvSpPr>
              <p:nvPr/>
            </p:nvSpPr>
            <p:spPr bwMode="auto">
              <a:xfrm>
                <a:off x="1373914" y="2695573"/>
                <a:ext cx="2313062" cy="613516"/>
              </a:xfrm>
              <a:prstGeom prst="rect">
                <a:avLst/>
              </a:prstGeom>
              <a:blipFill>
                <a:blip r:embed="rId2"/>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316" name="Object 12">
                <a:extLst>
                  <a:ext uri="{FF2B5EF4-FFF2-40B4-BE49-F238E27FC236}">
                    <a16:creationId xmlns:a16="http://schemas.microsoft.com/office/drawing/2014/main" id="{AD1B7EB7-0286-4333-97CB-A5D1D2C4213D}"/>
                  </a:ext>
                </a:extLst>
              </p:cNvPr>
              <p:cNvSpPr txBox="1"/>
              <p:nvPr/>
            </p:nvSpPr>
            <p:spPr bwMode="auto">
              <a:xfrm>
                <a:off x="1237409" y="3456111"/>
                <a:ext cx="2449567" cy="594016"/>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limUpp>
                            <m:limUppPr>
                              <m:ctrlPr>
                                <a:rPr lang="zh-CN" altLang="en-US" i="1">
                                  <a:solidFill>
                                    <a:srgbClr val="000000"/>
                                  </a:solidFill>
                                  <a:latin typeface="Cambria Math" panose="02040503050406030204" pitchFamily="18" charset="0"/>
                                </a:rPr>
                              </m:ctrlPr>
                            </m:limUppPr>
                            <m:e>
                              <m:r>
                                <a:rPr lang="zh-CN" altLang="en-US" i="1">
                                  <a:solidFill>
                                    <a:srgbClr val="000000"/>
                                  </a:solidFill>
                                  <a:latin typeface="Cambria Math" panose="02040503050406030204" pitchFamily="18" charset="0"/>
                                </a:rPr>
                                <m:t>𝐼</m:t>
                              </m:r>
                            </m:e>
                            <m:lim>
                              <m:r>
                                <a:rPr lang="zh-CN" altLang="en-US" i="0">
                                  <a:solidFill>
                                    <a:srgbClr val="000000"/>
                                  </a:solidFill>
                                  <a:latin typeface="Cambria Math" panose="02040503050406030204" pitchFamily="18" charset="0"/>
                                </a:rPr>
                                <m:t>•</m:t>
                              </m:r>
                            </m:lim>
                          </m:limUpp>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𝑍</m:t>
                          </m:r>
                        </m:e>
                        <m:sub>
                          <m:r>
                            <a:rPr lang="zh-CN" altLang="en-US" i="1">
                              <a:solidFill>
                                <a:srgbClr val="000000"/>
                              </a:solidFill>
                              <a:latin typeface="Cambria Math" panose="02040503050406030204" pitchFamily="18" charset="0"/>
                            </a:rPr>
                            <m:t>22</m:t>
                          </m:r>
                        </m:sub>
                      </m:sSub>
                      <m:sSub>
                        <m:sSubPr>
                          <m:ctrlPr>
                            <a:rPr lang="zh-CN" altLang="en-US" i="1">
                              <a:solidFill>
                                <a:srgbClr val="000000"/>
                              </a:solidFill>
                              <a:latin typeface="Cambria Math" panose="02040503050406030204" pitchFamily="18" charset="0"/>
                            </a:rPr>
                          </m:ctrlPr>
                        </m:sSubPr>
                        <m:e>
                          <m:limUpp>
                            <m:limUppPr>
                              <m:ctrlPr>
                                <a:rPr lang="zh-CN" altLang="en-US" i="1">
                                  <a:solidFill>
                                    <a:srgbClr val="000000"/>
                                  </a:solidFill>
                                  <a:latin typeface="Cambria Math" panose="02040503050406030204" pitchFamily="18" charset="0"/>
                                </a:rPr>
                              </m:ctrlPr>
                            </m:limUppPr>
                            <m:e>
                              <m:r>
                                <a:rPr lang="zh-CN" altLang="en-US" i="1">
                                  <a:solidFill>
                                    <a:srgbClr val="000000"/>
                                  </a:solidFill>
                                  <a:latin typeface="Cambria Math" panose="02040503050406030204" pitchFamily="18" charset="0"/>
                                </a:rPr>
                                <m:t>𝐼</m:t>
                              </m:r>
                            </m:e>
                            <m:lim>
                              <m:r>
                                <a:rPr lang="zh-CN" altLang="en-US" i="0">
                                  <a:solidFill>
                                    <a:srgbClr val="000000"/>
                                  </a:solidFill>
                                  <a:latin typeface="Cambria Math" panose="02040503050406030204" pitchFamily="18" charset="0"/>
                                </a:rPr>
                                <m:t>•</m:t>
                              </m:r>
                            </m:lim>
                          </m:limUpp>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=0</m:t>
                      </m:r>
                    </m:oMath>
                  </m:oMathPara>
                </a14:m>
                <a:endParaRPr lang="zh-CN" altLang="en-US" dirty="0"/>
              </a:p>
            </p:txBody>
          </p:sp>
        </mc:Choice>
        <mc:Fallback xmlns="">
          <p:sp>
            <p:nvSpPr>
              <p:cNvPr id="98316" name="Object 12">
                <a:extLst>
                  <a:ext uri="{FF2B5EF4-FFF2-40B4-BE49-F238E27FC236}">
                    <a16:creationId xmlns:a16="http://schemas.microsoft.com/office/drawing/2014/main" id="{AD1B7EB7-0286-4333-97CB-A5D1D2C4213D}"/>
                  </a:ext>
                </a:extLst>
              </p:cNvPr>
              <p:cNvSpPr txBox="1">
                <a:spLocks noRot="1" noChangeAspect="1" noMove="1" noResize="1" noEditPoints="1" noAdjustHandles="1" noChangeArrowheads="1" noChangeShapeType="1" noTextEdit="1"/>
              </p:cNvSpPr>
              <p:nvPr/>
            </p:nvSpPr>
            <p:spPr bwMode="auto">
              <a:xfrm>
                <a:off x="1237409" y="3456111"/>
                <a:ext cx="2449567" cy="594016"/>
              </a:xfrm>
              <a:prstGeom prst="rect">
                <a:avLst/>
              </a:prstGeom>
              <a:blipFill>
                <a:blip r:embed="rId3"/>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318" name="Object 14">
                <a:extLst>
                  <a:ext uri="{FF2B5EF4-FFF2-40B4-BE49-F238E27FC236}">
                    <a16:creationId xmlns:a16="http://schemas.microsoft.com/office/drawing/2014/main" id="{B619DCC7-41E7-4A01-9096-AD5FBC9E228C}"/>
                  </a:ext>
                </a:extLst>
              </p:cNvPr>
              <p:cNvSpPr txBox="1"/>
              <p:nvPr/>
            </p:nvSpPr>
            <p:spPr bwMode="auto">
              <a:xfrm>
                <a:off x="4942030" y="2096895"/>
                <a:ext cx="1969098" cy="1062029"/>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𝑉</m:t>
                                  </m:r>
                                </m:e>
                              </m:acc>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𝑍</m:t>
                              </m:r>
                            </m:e>
                            <m:sub>
                              <m:r>
                                <a:rPr lang="zh-CN" altLang="en-US" i="1">
                                  <a:solidFill>
                                    <a:srgbClr val="000000"/>
                                  </a:solidFill>
                                  <a:latin typeface="Cambria Math" panose="02040503050406030204" pitchFamily="18" charset="0"/>
                                </a:rPr>
                                <m:t>11</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𝑀</m:t>
                                      </m:r>
                                    </m:e>
                                  </m:d>
                                </m:e>
                                <m:sup>
                                  <m:r>
                                    <a:rPr lang="zh-CN" altLang="en-US" i="1">
                                      <a:solidFill>
                                        <a:srgbClr val="000000"/>
                                      </a:solidFill>
                                      <a:latin typeface="Cambria Math" panose="02040503050406030204" pitchFamily="18" charset="0"/>
                                    </a:rPr>
                                    <m:t>2</m:t>
                                  </m:r>
                                </m:sup>
                              </m:sSup>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𝑍</m:t>
                                  </m:r>
                                </m:e>
                                <m:sub>
                                  <m:r>
                                    <a:rPr lang="zh-CN" altLang="en-US" i="1">
                                      <a:solidFill>
                                        <a:srgbClr val="000000"/>
                                      </a:solidFill>
                                      <a:latin typeface="Cambria Math" panose="02040503050406030204" pitchFamily="18" charset="0"/>
                                    </a:rPr>
                                    <m:t>22</m:t>
                                  </m:r>
                                </m:sub>
                              </m:sSub>
                            </m:den>
                          </m:f>
                        </m:den>
                      </m:f>
                    </m:oMath>
                  </m:oMathPara>
                </a14:m>
                <a:endParaRPr lang="zh-CN" altLang="en-US" dirty="0"/>
              </a:p>
            </p:txBody>
          </p:sp>
        </mc:Choice>
        <mc:Fallback xmlns="">
          <p:sp>
            <p:nvSpPr>
              <p:cNvPr id="98318" name="Object 14">
                <a:extLst>
                  <a:ext uri="{FF2B5EF4-FFF2-40B4-BE49-F238E27FC236}">
                    <a16:creationId xmlns:a16="http://schemas.microsoft.com/office/drawing/2014/main" id="{B619DCC7-41E7-4A01-9096-AD5FBC9E228C}"/>
                  </a:ext>
                </a:extLst>
              </p:cNvPr>
              <p:cNvSpPr txBox="1">
                <a:spLocks noRot="1" noChangeAspect="1" noMove="1" noResize="1" noEditPoints="1" noAdjustHandles="1" noChangeArrowheads="1" noChangeShapeType="1" noTextEdit="1"/>
              </p:cNvSpPr>
              <p:nvPr/>
            </p:nvSpPr>
            <p:spPr bwMode="auto">
              <a:xfrm>
                <a:off x="4942030" y="2096895"/>
                <a:ext cx="1969098" cy="1062029"/>
              </a:xfrm>
              <a:prstGeom prst="rect">
                <a:avLst/>
              </a:prstGeom>
              <a:blipFill>
                <a:blip r:embed="rId4"/>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320" name="Object 16">
                <a:extLst>
                  <a:ext uri="{FF2B5EF4-FFF2-40B4-BE49-F238E27FC236}">
                    <a16:creationId xmlns:a16="http://schemas.microsoft.com/office/drawing/2014/main" id="{E5E0BE46-745E-4657-881B-D2CA9B3CA3B5}"/>
                  </a:ext>
                </a:extLst>
              </p:cNvPr>
              <p:cNvSpPr txBox="1"/>
              <p:nvPr/>
            </p:nvSpPr>
            <p:spPr bwMode="auto">
              <a:xfrm>
                <a:off x="4942029" y="3322607"/>
                <a:ext cx="1969099" cy="1455039"/>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𝑀</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𝑉</m:t>
                                  </m:r>
                                </m:e>
                              </m:acc>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𝑍</m:t>
                                  </m:r>
                                </m:e>
                                <m:sub>
                                  <m:r>
                                    <a:rPr lang="zh-CN" altLang="en-US" i="1">
                                      <a:solidFill>
                                        <a:srgbClr val="000000"/>
                                      </a:solidFill>
                                      <a:latin typeface="Cambria Math" panose="02040503050406030204" pitchFamily="18" charset="0"/>
                                    </a:rPr>
                                    <m:t>11</m:t>
                                  </m:r>
                                </m:sub>
                              </m:sSub>
                            </m:den>
                          </m:f>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𝑍</m:t>
                              </m:r>
                            </m:e>
                            <m:sub>
                              <m:r>
                                <a:rPr lang="zh-CN" altLang="en-US" i="1">
                                  <a:solidFill>
                                    <a:srgbClr val="000000"/>
                                  </a:solidFill>
                                  <a:latin typeface="Cambria Math" panose="02040503050406030204" pitchFamily="18" charset="0"/>
                                </a:rPr>
                                <m:t>22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𝑀</m:t>
                                      </m:r>
                                    </m:e>
                                  </m:d>
                                </m:e>
                                <m:sup>
                                  <m:r>
                                    <a:rPr lang="zh-CN" altLang="en-US" i="1">
                                      <a:solidFill>
                                        <a:srgbClr val="000000"/>
                                      </a:solidFill>
                                      <a:latin typeface="Cambria Math" panose="02040503050406030204" pitchFamily="18" charset="0"/>
                                    </a:rPr>
                                    <m:t>2</m:t>
                                  </m:r>
                                </m:sup>
                              </m:sSup>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𝑍</m:t>
                                  </m:r>
                                </m:e>
                                <m:sub>
                                  <m:r>
                                    <a:rPr lang="zh-CN" altLang="en-US" i="1">
                                      <a:solidFill>
                                        <a:srgbClr val="000000"/>
                                      </a:solidFill>
                                      <a:latin typeface="Cambria Math" panose="02040503050406030204" pitchFamily="18" charset="0"/>
                                    </a:rPr>
                                    <m:t>11</m:t>
                                  </m:r>
                                </m:sub>
                              </m:sSub>
                            </m:den>
                          </m:f>
                        </m:den>
                      </m:f>
                    </m:oMath>
                  </m:oMathPara>
                </a14:m>
                <a:endParaRPr lang="zh-CN" altLang="en-US" dirty="0"/>
              </a:p>
            </p:txBody>
          </p:sp>
        </mc:Choice>
        <mc:Fallback xmlns="">
          <p:sp>
            <p:nvSpPr>
              <p:cNvPr id="98320" name="Object 16">
                <a:extLst>
                  <a:ext uri="{FF2B5EF4-FFF2-40B4-BE49-F238E27FC236}">
                    <a16:creationId xmlns:a16="http://schemas.microsoft.com/office/drawing/2014/main" id="{E5E0BE46-745E-4657-881B-D2CA9B3CA3B5}"/>
                  </a:ext>
                </a:extLst>
              </p:cNvPr>
              <p:cNvSpPr txBox="1">
                <a:spLocks noRot="1" noChangeAspect="1" noMove="1" noResize="1" noEditPoints="1" noAdjustHandles="1" noChangeArrowheads="1" noChangeShapeType="1" noTextEdit="1"/>
              </p:cNvSpPr>
              <p:nvPr/>
            </p:nvSpPr>
            <p:spPr bwMode="auto">
              <a:xfrm>
                <a:off x="4942029" y="3322607"/>
                <a:ext cx="1969099" cy="1455039"/>
              </a:xfrm>
              <a:prstGeom prst="rect">
                <a:avLst/>
              </a:prstGeom>
              <a:blipFill>
                <a:blip r:embed="rId5"/>
                <a:stretch>
                  <a:fillRect/>
                </a:stretch>
              </a:blipFill>
              <a:extLst/>
            </p:spPr>
            <p:txBody>
              <a:bodyPr/>
              <a:lstStyle/>
              <a:p>
                <a:r>
                  <a:rPr lang="zh-CN" altLang="en-US">
                    <a:noFill/>
                  </a:rPr>
                  <a:t> </a:t>
                </a:r>
              </a:p>
            </p:txBody>
          </p:sp>
        </mc:Fallback>
      </mc:AlternateContent>
      <p:sp>
        <p:nvSpPr>
          <p:cNvPr id="98322" name="AutoShape 18">
            <a:extLst>
              <a:ext uri="{FF2B5EF4-FFF2-40B4-BE49-F238E27FC236}">
                <a16:creationId xmlns:a16="http://schemas.microsoft.com/office/drawing/2014/main" id="{5FB9FF0B-C17A-4B9E-AB78-E2BF63719C41}"/>
              </a:ext>
            </a:extLst>
          </p:cNvPr>
          <p:cNvSpPr>
            <a:spLocks noChangeArrowheads="1"/>
          </p:cNvSpPr>
          <p:nvPr/>
        </p:nvSpPr>
        <p:spPr bwMode="auto">
          <a:xfrm>
            <a:off x="3834492" y="3138834"/>
            <a:ext cx="885024" cy="340509"/>
          </a:xfrm>
          <a:prstGeom prst="rightArrow">
            <a:avLst>
              <a:gd name="adj1" fmla="val 50000"/>
              <a:gd name="adj2" fmla="val 64978"/>
            </a:avLst>
          </a:prstGeom>
          <a:solidFill>
            <a:schemeClr val="accent1"/>
          </a:solidFill>
          <a:ln w="7938">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矩形 19">
            <a:extLst>
              <a:ext uri="{FF2B5EF4-FFF2-40B4-BE49-F238E27FC236}">
                <a16:creationId xmlns:a16="http://schemas.microsoft.com/office/drawing/2014/main" id="{BA944234-3C35-4A17-ACFF-003F6584D840}"/>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a:extLst>
              <a:ext uri="{FF2B5EF4-FFF2-40B4-BE49-F238E27FC236}">
                <a16:creationId xmlns:a16="http://schemas.microsoft.com/office/drawing/2014/main" id="{AF94A3F7-F03E-492C-897D-FF85205593B7}"/>
              </a:ext>
            </a:extLst>
          </p:cNvPr>
          <p:cNvSpPr>
            <a:spLocks noGrp="1"/>
          </p:cNvSpPr>
          <p:nvPr>
            <p:ph type="sldNum" sz="quarter" idx="12"/>
          </p:nvPr>
        </p:nvSpPr>
        <p:spPr/>
        <p:txBody>
          <a:bodyPr/>
          <a:lstStyle/>
          <a:p>
            <a:fld id="{3FE56504-6600-42D4-AD83-33B6C4F01F0A}" type="slidenum">
              <a:rPr lang="en-US" altLang="ko-KR"/>
              <a:pPr/>
              <a:t>27</a:t>
            </a:fld>
            <a:endParaRPr lang="en-US" altLang="ko-KR"/>
          </a:p>
        </p:txBody>
      </p:sp>
      <p:sp>
        <p:nvSpPr>
          <p:cNvPr id="99331" name="Rectangle 3">
            <a:extLst>
              <a:ext uri="{FF2B5EF4-FFF2-40B4-BE49-F238E27FC236}">
                <a16:creationId xmlns:a16="http://schemas.microsoft.com/office/drawing/2014/main" id="{8561136A-B48B-46DB-9D48-513E1D8B8C14}"/>
              </a:ext>
            </a:extLst>
          </p:cNvPr>
          <p:cNvSpPr>
            <a:spLocks noGrp="1" noChangeArrowheads="1"/>
          </p:cNvSpPr>
          <p:nvPr>
            <p:ph type="body" idx="1"/>
          </p:nvPr>
        </p:nvSpPr>
        <p:spPr>
          <a:xfrm>
            <a:off x="755576" y="720019"/>
            <a:ext cx="7344198" cy="1489379"/>
          </a:xfrm>
        </p:spPr>
        <p:txBody>
          <a:bodyPr/>
          <a:lstStyle/>
          <a:p>
            <a:r>
              <a:rPr lang="zh-CN" altLang="en-US" sz="2400" dirty="0">
                <a:latin typeface="微软雅黑" panose="020B0503020204020204" pitchFamily="34" charset="-122"/>
                <a:ea typeface="微软雅黑" panose="020B0503020204020204" pitchFamily="34" charset="-122"/>
              </a:rPr>
              <a:t>电阻负载调制 </a:t>
            </a:r>
          </a:p>
          <a:p>
            <a:pPr lvl="1">
              <a:lnSpc>
                <a:spcPct val="150000"/>
              </a:lnSpc>
            </a:pPr>
            <a:r>
              <a:rPr lang="zh-CN" altLang="en-US" sz="2000" dirty="0">
                <a:latin typeface="微软雅黑" panose="020B0503020204020204" pitchFamily="34" charset="-122"/>
                <a:ea typeface="微软雅黑" panose="020B0503020204020204" pitchFamily="34" charset="-122"/>
              </a:rPr>
              <a:t>开关</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用于控制负载调制电阻</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mod</a:t>
            </a:r>
            <a:r>
              <a:rPr lang="zh-CN" altLang="en-US" sz="2000" dirty="0">
                <a:latin typeface="微软雅黑" panose="020B0503020204020204" pitchFamily="34" charset="-122"/>
                <a:ea typeface="微软雅黑" panose="020B0503020204020204" pitchFamily="34" charset="-122"/>
              </a:rPr>
              <a:t>的接入与否，开关</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的通断由二进制数据编码信号控制。 </a:t>
            </a:r>
          </a:p>
        </p:txBody>
      </p:sp>
      <p:graphicFrame>
        <p:nvGraphicFramePr>
          <p:cNvPr id="99338" name="Object 10">
            <a:extLst>
              <a:ext uri="{FF2B5EF4-FFF2-40B4-BE49-F238E27FC236}">
                <a16:creationId xmlns:a16="http://schemas.microsoft.com/office/drawing/2014/main" id="{00BA72E8-62DF-4029-8F3F-5B94E41CBD6D}"/>
              </a:ext>
            </a:extLst>
          </p:cNvPr>
          <p:cNvGraphicFramePr>
            <a:graphicFrameLocks noChangeAspect="1"/>
          </p:cNvGraphicFramePr>
          <p:nvPr>
            <p:extLst>
              <p:ext uri="{D42A27DB-BD31-4B8C-83A1-F6EECF244321}">
                <p14:modId xmlns:p14="http://schemas.microsoft.com/office/powerpoint/2010/main" val="3507675033"/>
              </p:ext>
            </p:extLst>
          </p:nvPr>
        </p:nvGraphicFramePr>
        <p:xfrm>
          <a:off x="1408414" y="2637071"/>
          <a:ext cx="6327171" cy="1734047"/>
        </p:xfrm>
        <a:graphic>
          <a:graphicData uri="http://schemas.openxmlformats.org/presentationml/2006/ole">
            <mc:AlternateContent xmlns:mc="http://schemas.openxmlformats.org/markup-compatibility/2006">
              <mc:Choice xmlns:v="urn:schemas-microsoft-com:vml" Requires="v">
                <p:oleObj spid="_x0000_s25625" name="图片" r:id="rId3" imgW="3479585" imgH="999607" progId="Word.Picture.8">
                  <p:embed/>
                </p:oleObj>
              </mc:Choice>
              <mc:Fallback>
                <p:oleObj name="图片" r:id="rId3" imgW="3479585" imgH="999607" progId="Word.Picture.8">
                  <p:embed/>
                  <p:pic>
                    <p:nvPicPr>
                      <p:cNvPr id="99338" name="Object 10">
                        <a:extLst>
                          <a:ext uri="{FF2B5EF4-FFF2-40B4-BE49-F238E27FC236}">
                            <a16:creationId xmlns:a16="http://schemas.microsoft.com/office/drawing/2014/main" id="{00BA72E8-62DF-4029-8F3F-5B94E41CBD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4837"/>
                      <a:stretch>
                        <a:fillRect/>
                      </a:stretch>
                    </p:blipFill>
                    <p:spPr bwMode="auto">
                      <a:xfrm>
                        <a:off x="1408414" y="2637071"/>
                        <a:ext cx="6327171" cy="17340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12">
            <a:extLst>
              <a:ext uri="{FF2B5EF4-FFF2-40B4-BE49-F238E27FC236}">
                <a16:creationId xmlns:a16="http://schemas.microsoft.com/office/drawing/2014/main" id="{1234337E-41E1-4004-A14A-2483242FEA92}"/>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8013163D-5903-4B74-B076-8BE3E4DE993A}"/>
              </a:ext>
            </a:extLst>
          </p:cNvPr>
          <p:cNvSpPr>
            <a:spLocks noGrp="1"/>
          </p:cNvSpPr>
          <p:nvPr>
            <p:ph type="sldNum" sz="quarter" idx="12"/>
          </p:nvPr>
        </p:nvSpPr>
        <p:spPr/>
        <p:txBody>
          <a:bodyPr/>
          <a:lstStyle/>
          <a:p>
            <a:fld id="{A8D54416-A66D-47F6-A13C-818C3A3169C2}" type="slidenum">
              <a:rPr lang="en-US" altLang="ko-KR"/>
              <a:pPr/>
              <a:t>28</a:t>
            </a:fld>
            <a:endParaRPr lang="en-US" altLang="ko-KR"/>
          </a:p>
        </p:txBody>
      </p:sp>
      <p:sp>
        <p:nvSpPr>
          <p:cNvPr id="100355" name="Rectangle 3">
            <a:extLst>
              <a:ext uri="{FF2B5EF4-FFF2-40B4-BE49-F238E27FC236}">
                <a16:creationId xmlns:a16="http://schemas.microsoft.com/office/drawing/2014/main" id="{EFCBC852-9AF9-4770-A9E9-22327EFEC415}"/>
              </a:ext>
            </a:extLst>
          </p:cNvPr>
          <p:cNvSpPr>
            <a:spLocks noGrp="1" noChangeArrowheads="1"/>
          </p:cNvSpPr>
          <p:nvPr>
            <p:ph type="body" idx="1"/>
          </p:nvPr>
        </p:nvSpPr>
        <p:spPr>
          <a:xfrm>
            <a:off x="755576" y="719806"/>
            <a:ext cx="7344198" cy="5359947"/>
          </a:xfrm>
        </p:spPr>
        <p:txBody>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电阻负载调制</a:t>
            </a:r>
          </a:p>
          <a:p>
            <a:pPr lvl="1"/>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二进制数据编码信号用于控制开关</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。当二进制数据编码信号为“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时，设开关</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闭合，则此时应答器负载电阻为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mod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并联；而二进制数据编码信号为“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时，开关</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断开，应答器负载电阻为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p>
          <a:p>
            <a:pPr lvl="1"/>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应答器的负载电阻值有两个对应值，即</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断开时）和</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mod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的并联值</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mod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闭合时）。 </a:t>
            </a:r>
          </a:p>
        </p:txBody>
      </p:sp>
      <p:sp>
        <p:nvSpPr>
          <p:cNvPr id="11" name="矩形 10">
            <a:extLst>
              <a:ext uri="{FF2B5EF4-FFF2-40B4-BE49-F238E27FC236}">
                <a16:creationId xmlns:a16="http://schemas.microsoft.com/office/drawing/2014/main" id="{E5398F2A-BFD9-4714-8352-162B515E28D1}"/>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graphicFrame>
        <p:nvGraphicFramePr>
          <p:cNvPr id="14" name="Object 10">
            <a:extLst>
              <a:ext uri="{FF2B5EF4-FFF2-40B4-BE49-F238E27FC236}">
                <a16:creationId xmlns:a16="http://schemas.microsoft.com/office/drawing/2014/main" id="{4EEE45E3-A92A-4C6E-80ED-D609CDEC1631}"/>
              </a:ext>
            </a:extLst>
          </p:cNvPr>
          <p:cNvGraphicFramePr>
            <a:graphicFrameLocks noChangeAspect="1"/>
          </p:cNvGraphicFramePr>
          <p:nvPr>
            <p:extLst>
              <p:ext uri="{D42A27DB-BD31-4B8C-83A1-F6EECF244321}">
                <p14:modId xmlns:p14="http://schemas.microsoft.com/office/powerpoint/2010/main" val="2428463379"/>
              </p:ext>
            </p:extLst>
          </p:nvPr>
        </p:nvGraphicFramePr>
        <p:xfrm>
          <a:off x="1044226" y="3240375"/>
          <a:ext cx="7008189" cy="1759547"/>
        </p:xfrm>
        <a:graphic>
          <a:graphicData uri="http://schemas.openxmlformats.org/presentationml/2006/ole">
            <mc:AlternateContent xmlns:mc="http://schemas.openxmlformats.org/markup-compatibility/2006">
              <mc:Choice xmlns:v="urn:schemas-microsoft-com:vml" Requires="v">
                <p:oleObj spid="_x0000_s50187" name="图片" r:id="rId3" imgW="4747673" imgH="1190025" progId="Word.Picture.8">
                  <p:embed/>
                </p:oleObj>
              </mc:Choice>
              <mc:Fallback>
                <p:oleObj name="图片" r:id="rId3" imgW="4747673" imgH="1190025" progId="Word.Picture.8">
                  <p:embed/>
                  <p:pic>
                    <p:nvPicPr>
                      <p:cNvPr id="102410" name="Object 10">
                        <a:extLst>
                          <a:ext uri="{FF2B5EF4-FFF2-40B4-BE49-F238E27FC236}">
                            <a16:creationId xmlns:a16="http://schemas.microsoft.com/office/drawing/2014/main" id="{D917BFE6-E72B-4960-B00D-155AB00BF7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226" y="3240375"/>
                        <a:ext cx="7008189" cy="1759547"/>
                      </a:xfrm>
                      <a:prstGeom prst="rect">
                        <a:avLst/>
                      </a:prstGeom>
                      <a:solidFill>
                        <a:schemeClr val="bg1"/>
                      </a:solidFill>
                    </p:spPr>
                  </p:pic>
                </p:oleObj>
              </mc:Fallback>
            </mc:AlternateContent>
          </a:graphicData>
        </a:graphic>
      </p:graphicFrame>
      <p:sp>
        <p:nvSpPr>
          <p:cNvPr id="15" name="Rectangle 12">
            <a:extLst>
              <a:ext uri="{FF2B5EF4-FFF2-40B4-BE49-F238E27FC236}">
                <a16:creationId xmlns:a16="http://schemas.microsoft.com/office/drawing/2014/main" id="{6E8D5552-6D51-4CB0-860F-30E964B3E01A}"/>
              </a:ext>
            </a:extLst>
          </p:cNvPr>
          <p:cNvSpPr>
            <a:spLocks noChangeArrowheads="1"/>
          </p:cNvSpPr>
          <p:nvPr/>
        </p:nvSpPr>
        <p:spPr bwMode="auto">
          <a:xfrm>
            <a:off x="486082" y="5107502"/>
            <a:ext cx="35942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微软雅黑" panose="020B0503020204020204" pitchFamily="34" charset="-122"/>
                <a:ea typeface="微软雅黑" panose="020B0503020204020204" pitchFamily="34" charset="-122"/>
              </a:rPr>
              <a:t>次级回路等效电路中的端电压 </a:t>
            </a:r>
          </a:p>
        </p:txBody>
      </p:sp>
      <mc:AlternateContent xmlns:mc="http://schemas.openxmlformats.org/markup-compatibility/2006" xmlns:a14="http://schemas.microsoft.com/office/drawing/2010/main">
        <mc:Choice Requires="a14">
          <p:sp>
            <p:nvSpPr>
              <p:cNvPr id="16" name="Object 13">
                <a:extLst>
                  <a:ext uri="{FF2B5EF4-FFF2-40B4-BE49-F238E27FC236}">
                    <a16:creationId xmlns:a16="http://schemas.microsoft.com/office/drawing/2014/main" id="{E07AF8C2-FAF6-44FB-828F-DA4092122AFF}"/>
                  </a:ext>
                </a:extLst>
              </p:cNvPr>
              <p:cNvSpPr txBox="1"/>
              <p:nvPr/>
            </p:nvSpPr>
            <p:spPr bwMode="auto">
              <a:xfrm>
                <a:off x="3851920" y="4926187"/>
                <a:ext cx="4896544" cy="834023"/>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𝑉</m:t>
                              </m:r>
                            </m:e>
                          </m:acc>
                        </m:e>
                        <m:sub>
                          <m:r>
                            <m:rPr>
                              <m:sty m:val="p"/>
                            </m:rPr>
                            <a:rPr lang="en-US" altLang="zh-CN" i="1">
                              <a:solidFill>
                                <a:srgbClr val="000000"/>
                              </a:solidFill>
                              <a:latin typeface="Cambria Math" panose="02040503050406030204" pitchFamily="18" charset="0"/>
                            </a:rPr>
                            <m:t>CD</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𝑉</m:t>
                                  </m:r>
                                </m:e>
                              </m:acc>
                            </m:e>
                            <m:sub>
                              <m:r>
                                <a:rPr lang="zh-CN" altLang="en-US" i="1">
                                  <a:solidFill>
                                    <a:srgbClr val="000000"/>
                                  </a:solidFill>
                                  <a:latin typeface="Cambria Math" panose="02040503050406030204" pitchFamily="18" charset="0"/>
                                </a:rPr>
                                <m:t>2</m:t>
                              </m:r>
                            </m:sub>
                          </m:sSub>
                        </m:num>
                        <m:den>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m:rPr>
                                          <m:nor/>
                                        </m:rPr>
                                        <a:rPr lang="zh-CN" altLang="en-US" i="0">
                                          <a:solidFill>
                                            <a:srgbClr val="000000"/>
                                          </a:solidFill>
                                          <a:latin typeface="Cambria Math" panose="02040503050406030204" pitchFamily="18" charset="0"/>
                                        </a:rPr>
                                        <m:t>f</m:t>
                                      </m:r>
                                      <m:r>
                                        <m:rPr>
                                          <m:nor/>
                                        </m:rPr>
                                        <a:rPr lang="zh-CN" altLang="en-US" i="0">
                                          <a:solidFill>
                                            <a:srgbClr val="000000"/>
                                          </a:solidFill>
                                          <a:latin typeface="Cambria Math" panose="02040503050406030204" pitchFamily="18" charset="0"/>
                                        </a:rPr>
                                        <m:t>2</m:t>
                                      </m:r>
                                    </m:sub>
                                  </m:sSub>
                                </m:e>
                              </m:d>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𝜔</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𝐿</m:t>
                                  </m:r>
                                </m:e>
                                <m:sub>
                                  <m:r>
                                    <a:rPr lang="zh-CN" altLang="en-US" i="0">
                                      <a:solidFill>
                                        <a:srgbClr val="000000"/>
                                      </a:solidFill>
                                      <a:latin typeface="Cambria Math" panose="02040503050406030204" pitchFamily="18" charset="0"/>
                                    </a:rPr>
                                    <m:t>2</m:t>
                                  </m:r>
                                </m:sub>
                              </m:sSub>
                            </m:e>
                          </m:d>
                          <m:d>
                            <m:dPr>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𝜔</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0">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m:rPr>
                                          <m:nor/>
                                        </m:rPr>
                                        <a:rPr lang="zh-CN" altLang="en-US" i="0">
                                          <a:solidFill>
                                            <a:srgbClr val="000000"/>
                                          </a:solidFill>
                                          <a:latin typeface="Cambria Math" panose="02040503050406030204" pitchFamily="18" charset="0"/>
                                        </a:rPr>
                                        <m:t>Lm</m:t>
                                      </m:r>
                                    </m:sub>
                                  </m:sSub>
                                </m:den>
                              </m:f>
                            </m:e>
                          </m:d>
                        </m:den>
                      </m:f>
                    </m:oMath>
                  </m:oMathPara>
                </a14:m>
                <a:endParaRPr lang="zh-CN" altLang="en-US" dirty="0"/>
              </a:p>
            </p:txBody>
          </p:sp>
        </mc:Choice>
        <mc:Fallback xmlns="">
          <p:sp>
            <p:nvSpPr>
              <p:cNvPr id="16" name="Object 13">
                <a:extLst>
                  <a:ext uri="{FF2B5EF4-FFF2-40B4-BE49-F238E27FC236}">
                    <a16:creationId xmlns:a16="http://schemas.microsoft.com/office/drawing/2014/main" id="{E07AF8C2-FAF6-44FB-828F-DA4092122AFF}"/>
                  </a:ext>
                </a:extLst>
              </p:cNvPr>
              <p:cNvSpPr txBox="1">
                <a:spLocks noRot="1" noChangeAspect="1" noMove="1" noResize="1" noEditPoints="1" noAdjustHandles="1" noChangeArrowheads="1" noChangeShapeType="1" noTextEdit="1"/>
              </p:cNvSpPr>
              <p:nvPr/>
            </p:nvSpPr>
            <p:spPr bwMode="auto">
              <a:xfrm>
                <a:off x="3851920" y="4926187"/>
                <a:ext cx="4896544" cy="834023"/>
              </a:xfrm>
              <a:prstGeom prst="rect">
                <a:avLst/>
              </a:prstGeom>
              <a:blipFill>
                <a:blip r:embed="rId5"/>
                <a:stretch>
                  <a:fillRect b="-7299"/>
                </a:stretch>
              </a:blipFill>
              <a:extLst/>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a:extLst>
              <a:ext uri="{FF2B5EF4-FFF2-40B4-BE49-F238E27FC236}">
                <a16:creationId xmlns:a16="http://schemas.microsoft.com/office/drawing/2014/main" id="{7D623B93-630E-4196-A07D-DDB1BE3BFCCE}"/>
              </a:ext>
            </a:extLst>
          </p:cNvPr>
          <p:cNvSpPr>
            <a:spLocks noGrp="1"/>
          </p:cNvSpPr>
          <p:nvPr>
            <p:ph type="sldNum" sz="quarter" idx="12"/>
          </p:nvPr>
        </p:nvSpPr>
        <p:spPr/>
        <p:txBody>
          <a:bodyPr/>
          <a:lstStyle/>
          <a:p>
            <a:fld id="{159B3823-1738-4A8A-9BDA-05F2C3A5A004}" type="slidenum">
              <a:rPr lang="en-US" altLang="ko-KR"/>
              <a:pPr/>
              <a:t>29</a:t>
            </a:fld>
            <a:endParaRPr lang="en-US" altLang="ko-KR"/>
          </a:p>
        </p:txBody>
      </p:sp>
      <p:sp>
        <p:nvSpPr>
          <p:cNvPr id="103427" name="Rectangle 3">
            <a:extLst>
              <a:ext uri="{FF2B5EF4-FFF2-40B4-BE49-F238E27FC236}">
                <a16:creationId xmlns:a16="http://schemas.microsoft.com/office/drawing/2014/main" id="{00691E7F-CD2E-4E12-AC83-C217848F955C}"/>
              </a:ext>
            </a:extLst>
          </p:cNvPr>
          <p:cNvSpPr>
            <a:spLocks noGrp="1" noChangeArrowheads="1"/>
          </p:cNvSpPr>
          <p:nvPr>
            <p:ph type="body" idx="1"/>
          </p:nvPr>
        </p:nvSpPr>
        <p:spPr>
          <a:xfrm>
            <a:off x="539553" y="860852"/>
            <a:ext cx="5112568" cy="507027"/>
          </a:xfrm>
        </p:spPr>
        <p:txBody>
          <a:bodyPr/>
          <a:lstStyle/>
          <a:p>
            <a:r>
              <a:rPr lang="zh-CN" altLang="en-US" sz="2400" dirty="0">
                <a:latin typeface="微软雅黑" panose="020B0503020204020204" pitchFamily="34" charset="-122"/>
                <a:ea typeface="微软雅黑" panose="020B0503020204020204" pitchFamily="34" charset="-122"/>
              </a:rPr>
              <a:t>电阻负载调制数据信息传递的原理</a:t>
            </a:r>
          </a:p>
          <a:p>
            <a:pPr lvl="1"/>
            <a:endParaRPr lang="zh-CN" altLang="en-US" sz="2400" dirty="0">
              <a:latin typeface="微软雅黑" panose="020B0503020204020204" pitchFamily="34" charset="-122"/>
              <a:ea typeface="微软雅黑" panose="020B0503020204020204" pitchFamily="34" charset="-122"/>
            </a:endParaRPr>
          </a:p>
        </p:txBody>
      </p:sp>
      <p:graphicFrame>
        <p:nvGraphicFramePr>
          <p:cNvPr id="103434" name="Object 10">
            <a:extLst>
              <a:ext uri="{FF2B5EF4-FFF2-40B4-BE49-F238E27FC236}">
                <a16:creationId xmlns:a16="http://schemas.microsoft.com/office/drawing/2014/main" id="{71D6F155-6F9B-4EC8-850B-5ADF964AF529}"/>
              </a:ext>
            </a:extLst>
          </p:cNvPr>
          <p:cNvGraphicFramePr>
            <a:graphicFrameLocks noChangeAspect="1"/>
          </p:cNvGraphicFramePr>
          <p:nvPr>
            <p:extLst>
              <p:ext uri="{D42A27DB-BD31-4B8C-83A1-F6EECF244321}">
                <p14:modId xmlns:p14="http://schemas.microsoft.com/office/powerpoint/2010/main" val="3734916108"/>
              </p:ext>
            </p:extLst>
          </p:nvPr>
        </p:nvGraphicFramePr>
        <p:xfrm>
          <a:off x="535051" y="1583903"/>
          <a:ext cx="4627624" cy="3531095"/>
        </p:xfrm>
        <a:graphic>
          <a:graphicData uri="http://schemas.openxmlformats.org/presentationml/2006/ole">
            <mc:AlternateContent xmlns:mc="http://schemas.openxmlformats.org/markup-compatibility/2006">
              <mc:Choice xmlns:v="urn:schemas-microsoft-com:vml" Requires="v">
                <p:oleObj spid="_x0000_s27673" name="图片" r:id="rId3" imgW="3250760" imgH="1932981" progId="Word.Picture.8">
                  <p:embed/>
                </p:oleObj>
              </mc:Choice>
              <mc:Fallback>
                <p:oleObj name="图片" r:id="rId3" imgW="3250760" imgH="1932981" progId="Word.Picture.8">
                  <p:embed/>
                  <p:pic>
                    <p:nvPicPr>
                      <p:cNvPr id="103434" name="Object 10">
                        <a:extLst>
                          <a:ext uri="{FF2B5EF4-FFF2-40B4-BE49-F238E27FC236}">
                            <a16:creationId xmlns:a16="http://schemas.microsoft.com/office/drawing/2014/main" id="{71D6F155-6F9B-4EC8-850B-5ADF964AF5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0887" r="11296"/>
                      <a:stretch>
                        <a:fillRect/>
                      </a:stretch>
                    </p:blipFill>
                    <p:spPr bwMode="auto">
                      <a:xfrm>
                        <a:off x="535051" y="1583903"/>
                        <a:ext cx="4627624" cy="35310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36" name="Rectangle 12">
            <a:extLst>
              <a:ext uri="{FF2B5EF4-FFF2-40B4-BE49-F238E27FC236}">
                <a16:creationId xmlns:a16="http://schemas.microsoft.com/office/drawing/2014/main" id="{0D036A74-135B-41A3-9EFA-EBDF8D5DEE1A}"/>
              </a:ext>
            </a:extLst>
          </p:cNvPr>
          <p:cNvSpPr>
            <a:spLocks noChangeArrowheads="1"/>
          </p:cNvSpPr>
          <p:nvPr/>
        </p:nvSpPr>
        <p:spPr bwMode="auto">
          <a:xfrm>
            <a:off x="4703535" y="1421363"/>
            <a:ext cx="4176464" cy="3913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6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latinLnBrk="1">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latinLnBrk="1">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latinLnBrk="1">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latinLnBrk="1">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marL="457200" lvl="1" indent="0">
              <a:lnSpc>
                <a:spcPct val="150000"/>
              </a:lnSpc>
              <a:buNone/>
            </a:pPr>
            <a:r>
              <a:rPr lang="zh-CN" altLang="en-US" sz="2000" dirty="0">
                <a:ea typeface="微软雅黑" panose="020B0503020204020204" pitchFamily="34" charset="-122"/>
                <a:cs typeface="Times New Roman" panose="02020603050405020304" pitchFamily="18" charset="0"/>
              </a:rPr>
              <a:t>（</a:t>
            </a:r>
            <a:r>
              <a:rPr lang="en-US" altLang="zh-CN" sz="2000" dirty="0">
                <a:ea typeface="微软雅黑" panose="020B0503020204020204" pitchFamily="34" charset="-122"/>
                <a:cs typeface="Times New Roman" panose="02020603050405020304" pitchFamily="18" charset="0"/>
              </a:rPr>
              <a:t>a</a:t>
            </a:r>
            <a:r>
              <a:rPr lang="zh-CN" altLang="en-US" sz="2000" dirty="0">
                <a:ea typeface="微软雅黑" panose="020B0503020204020204" pitchFamily="34" charset="-122"/>
                <a:cs typeface="Times New Roman" panose="02020603050405020304" pitchFamily="18" charset="0"/>
              </a:rPr>
              <a:t>）是应答器上控制开关</a:t>
            </a:r>
            <a:r>
              <a:rPr lang="en-US" altLang="zh-CN" sz="2000" i="1" dirty="0">
                <a:ea typeface="微软雅黑" panose="020B0503020204020204" pitchFamily="34" charset="-122"/>
                <a:cs typeface="Times New Roman" panose="02020603050405020304" pitchFamily="18" charset="0"/>
              </a:rPr>
              <a:t>S</a:t>
            </a:r>
            <a:r>
              <a:rPr lang="zh-CN" altLang="en-US" sz="2000" dirty="0">
                <a:ea typeface="微软雅黑" panose="020B0503020204020204" pitchFamily="34" charset="-122"/>
                <a:cs typeface="Times New Roman" panose="02020603050405020304" pitchFamily="18" charset="0"/>
              </a:rPr>
              <a:t>的二进制数据编码信号，</a:t>
            </a:r>
            <a:endParaRPr lang="en-US" altLang="zh-CN" sz="2000" dirty="0">
              <a:ea typeface="微软雅黑" panose="020B0503020204020204" pitchFamily="34" charset="-122"/>
              <a:cs typeface="Times New Roman" panose="02020603050405020304" pitchFamily="18" charset="0"/>
            </a:endParaRPr>
          </a:p>
          <a:p>
            <a:pPr marL="457200" lvl="1" indent="0">
              <a:lnSpc>
                <a:spcPct val="150000"/>
              </a:lnSpc>
              <a:buNone/>
            </a:pPr>
            <a:r>
              <a:rPr lang="zh-CN" altLang="en-US" sz="2000" dirty="0">
                <a:ea typeface="微软雅黑" panose="020B0503020204020204" pitchFamily="34" charset="-122"/>
                <a:cs typeface="Times New Roman" panose="02020603050405020304" pitchFamily="18" charset="0"/>
              </a:rPr>
              <a:t>（</a:t>
            </a:r>
            <a:r>
              <a:rPr lang="en-US" altLang="zh-CN" sz="2000" dirty="0">
                <a:ea typeface="微软雅黑" panose="020B0503020204020204" pitchFamily="34" charset="-122"/>
                <a:cs typeface="Times New Roman" panose="02020603050405020304" pitchFamily="18" charset="0"/>
              </a:rPr>
              <a:t>b</a:t>
            </a:r>
            <a:r>
              <a:rPr lang="zh-CN" altLang="en-US" sz="2000" dirty="0">
                <a:ea typeface="微软雅黑" panose="020B0503020204020204" pitchFamily="34" charset="-122"/>
                <a:cs typeface="Times New Roman" panose="02020603050405020304" pitchFamily="18" charset="0"/>
              </a:rPr>
              <a:t>）是应答器电感线圈上的电压波形，</a:t>
            </a:r>
          </a:p>
          <a:p>
            <a:pPr marL="457200" lvl="1" indent="0">
              <a:lnSpc>
                <a:spcPct val="150000"/>
              </a:lnSpc>
              <a:buNone/>
            </a:pPr>
            <a:r>
              <a:rPr lang="zh-CN" altLang="en-US" sz="2000" dirty="0">
                <a:ea typeface="微软雅黑" panose="020B0503020204020204" pitchFamily="34" charset="-122"/>
                <a:cs typeface="Times New Roman" panose="02020603050405020304" pitchFamily="18" charset="0"/>
              </a:rPr>
              <a:t>（</a:t>
            </a:r>
            <a:r>
              <a:rPr lang="en-US" altLang="zh-CN" sz="2000" dirty="0">
                <a:ea typeface="微软雅黑" panose="020B0503020204020204" pitchFamily="34" charset="-122"/>
                <a:cs typeface="Times New Roman" panose="02020603050405020304" pitchFamily="18" charset="0"/>
              </a:rPr>
              <a:t>c</a:t>
            </a:r>
            <a:r>
              <a:rPr lang="zh-CN" altLang="en-US" sz="2000" dirty="0">
                <a:ea typeface="微软雅黑" panose="020B0503020204020204" pitchFamily="34" charset="-122"/>
                <a:cs typeface="Times New Roman" panose="02020603050405020304" pitchFamily="18" charset="0"/>
              </a:rPr>
              <a:t>）是阅读器电感线圈上的电压波形，</a:t>
            </a:r>
          </a:p>
          <a:p>
            <a:pPr marL="457200" lvl="1" indent="0">
              <a:lnSpc>
                <a:spcPct val="150000"/>
              </a:lnSpc>
              <a:buNone/>
            </a:pPr>
            <a:r>
              <a:rPr lang="zh-CN" altLang="en-US" sz="2000" dirty="0">
                <a:ea typeface="微软雅黑" panose="020B0503020204020204" pitchFamily="34" charset="-122"/>
                <a:cs typeface="Times New Roman" panose="02020603050405020304" pitchFamily="18" charset="0"/>
              </a:rPr>
              <a:t>（</a:t>
            </a:r>
            <a:r>
              <a:rPr lang="en-US" altLang="zh-CN" sz="2000" dirty="0">
                <a:ea typeface="微软雅黑" panose="020B0503020204020204" pitchFamily="34" charset="-122"/>
                <a:cs typeface="Times New Roman" panose="02020603050405020304" pitchFamily="18" charset="0"/>
              </a:rPr>
              <a:t>d</a:t>
            </a:r>
            <a:r>
              <a:rPr lang="zh-CN" altLang="en-US" sz="2000" dirty="0">
                <a:ea typeface="微软雅黑" panose="020B0503020204020204" pitchFamily="34" charset="-122"/>
                <a:cs typeface="Times New Roman" panose="02020603050405020304" pitchFamily="18" charset="0"/>
              </a:rPr>
              <a:t>）是对阅读器电感线圈上的电压解调后的波形。 </a:t>
            </a:r>
          </a:p>
          <a:p>
            <a:pPr lvl="1">
              <a:lnSpc>
                <a:spcPct val="150000"/>
              </a:lnSpc>
            </a:pPr>
            <a:endParaRPr lang="zh-CN" altLang="en-US" sz="2000" dirty="0">
              <a:ea typeface="微软雅黑" panose="020B0503020204020204"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B53847CB-A56F-455F-9984-2E5F88B6C0D4}"/>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a:extLst>
              <a:ext uri="{FF2B5EF4-FFF2-40B4-BE49-F238E27FC236}">
                <a16:creationId xmlns:a16="http://schemas.microsoft.com/office/drawing/2014/main" id="{086E173C-0FA2-48FB-88B6-84C564B33628}"/>
              </a:ext>
            </a:extLst>
          </p:cNvPr>
          <p:cNvSpPr>
            <a:spLocks noGrp="1"/>
          </p:cNvSpPr>
          <p:nvPr>
            <p:ph type="sldNum" sz="quarter" idx="12"/>
          </p:nvPr>
        </p:nvSpPr>
        <p:spPr/>
        <p:txBody>
          <a:bodyPr/>
          <a:lstStyle/>
          <a:p>
            <a:fld id="{467F2D56-9C35-4209-A7E9-F0126F580389}" type="slidenum">
              <a:rPr lang="en-US" altLang="ko-KR"/>
              <a:pPr/>
              <a:t>30</a:t>
            </a:fld>
            <a:endParaRPr lang="en-US" altLang="ko-KR"/>
          </a:p>
        </p:txBody>
      </p:sp>
      <p:sp>
        <p:nvSpPr>
          <p:cNvPr id="104451" name="Rectangle 3">
            <a:extLst>
              <a:ext uri="{FF2B5EF4-FFF2-40B4-BE49-F238E27FC236}">
                <a16:creationId xmlns:a16="http://schemas.microsoft.com/office/drawing/2014/main" id="{16941148-6655-4EAB-AA21-DDAFBFE85EF6}"/>
              </a:ext>
            </a:extLst>
          </p:cNvPr>
          <p:cNvSpPr>
            <a:spLocks noGrp="1" noChangeArrowheads="1"/>
          </p:cNvSpPr>
          <p:nvPr>
            <p:ph type="body" idx="1"/>
          </p:nvPr>
        </p:nvSpPr>
        <p:spPr>
          <a:xfrm>
            <a:off x="761897" y="751520"/>
            <a:ext cx="3306047" cy="544351"/>
          </a:xfrm>
        </p:spPr>
        <p:txBody>
          <a:bodyPr/>
          <a:lstStyle/>
          <a:p>
            <a:r>
              <a:rPr lang="zh-CN" altLang="en-US" sz="2400" dirty="0">
                <a:latin typeface="微软雅黑" panose="020B0503020204020204" pitchFamily="34" charset="-122"/>
                <a:ea typeface="微软雅黑" panose="020B0503020204020204" pitchFamily="34" charset="-122"/>
              </a:rPr>
              <a:t>电容负载调制 </a:t>
            </a:r>
          </a:p>
        </p:txBody>
      </p:sp>
      <p:graphicFrame>
        <p:nvGraphicFramePr>
          <p:cNvPr id="104460" name="Object 12">
            <a:extLst>
              <a:ext uri="{FF2B5EF4-FFF2-40B4-BE49-F238E27FC236}">
                <a16:creationId xmlns:a16="http://schemas.microsoft.com/office/drawing/2014/main" id="{158E98B8-8E7D-4098-82B2-DD8D83B95E2A}"/>
              </a:ext>
            </a:extLst>
          </p:cNvPr>
          <p:cNvGraphicFramePr>
            <a:graphicFrameLocks noChangeAspect="1"/>
          </p:cNvGraphicFramePr>
          <p:nvPr>
            <p:extLst>
              <p:ext uri="{D42A27DB-BD31-4B8C-83A1-F6EECF244321}">
                <p14:modId xmlns:p14="http://schemas.microsoft.com/office/powerpoint/2010/main" val="121333694"/>
              </p:ext>
            </p:extLst>
          </p:nvPr>
        </p:nvGraphicFramePr>
        <p:xfrm>
          <a:off x="1442165" y="1611632"/>
          <a:ext cx="6259670" cy="1924552"/>
        </p:xfrm>
        <a:graphic>
          <a:graphicData uri="http://schemas.openxmlformats.org/presentationml/2006/ole">
            <mc:AlternateContent xmlns:mc="http://schemas.openxmlformats.org/markup-compatibility/2006">
              <mc:Choice xmlns:v="urn:schemas-microsoft-com:vml" Requires="v">
                <p:oleObj spid="_x0000_s28697" name="图片" r:id="rId3" imgW="3317786" imgH="1018685" progId="Word.Picture.8">
                  <p:embed/>
                </p:oleObj>
              </mc:Choice>
              <mc:Fallback>
                <p:oleObj name="图片" r:id="rId3" imgW="3317786" imgH="1018685" progId="Word.Picture.8">
                  <p:embed/>
                  <p:pic>
                    <p:nvPicPr>
                      <p:cNvPr id="104460" name="Object 12">
                        <a:extLst>
                          <a:ext uri="{FF2B5EF4-FFF2-40B4-BE49-F238E27FC236}">
                            <a16:creationId xmlns:a16="http://schemas.microsoft.com/office/drawing/2014/main" id="{158E98B8-8E7D-4098-82B2-DD8D83B95E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2165" y="1611632"/>
                        <a:ext cx="6259670" cy="19245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462" name="Rectangle 14">
            <a:extLst>
              <a:ext uri="{FF2B5EF4-FFF2-40B4-BE49-F238E27FC236}">
                <a16:creationId xmlns:a16="http://schemas.microsoft.com/office/drawing/2014/main" id="{7E55DAF0-DF3D-459E-BFC9-EF811F467E7F}"/>
              </a:ext>
            </a:extLst>
          </p:cNvPr>
          <p:cNvSpPr>
            <a:spLocks noChangeArrowheads="1"/>
          </p:cNvSpPr>
          <p:nvPr/>
        </p:nvSpPr>
        <p:spPr bwMode="auto">
          <a:xfrm>
            <a:off x="1442165" y="4187304"/>
            <a:ext cx="6292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电容负载调制是用附加的电容器</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rPr>
              <a:t>mod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代替调制电阻</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mod </a:t>
            </a:r>
          </a:p>
        </p:txBody>
      </p:sp>
      <p:sp>
        <p:nvSpPr>
          <p:cNvPr id="14" name="矩形 13">
            <a:extLst>
              <a:ext uri="{FF2B5EF4-FFF2-40B4-BE49-F238E27FC236}">
                <a16:creationId xmlns:a16="http://schemas.microsoft.com/office/drawing/2014/main" id="{D78D0E18-A333-44C0-AD59-4A4D61C4EDE2}"/>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a:extLst>
              <a:ext uri="{FF2B5EF4-FFF2-40B4-BE49-F238E27FC236}">
                <a16:creationId xmlns:a16="http://schemas.microsoft.com/office/drawing/2014/main" id="{D849C6A4-9FFB-4985-97D7-DD6365BD7056}"/>
              </a:ext>
            </a:extLst>
          </p:cNvPr>
          <p:cNvSpPr>
            <a:spLocks noGrp="1"/>
          </p:cNvSpPr>
          <p:nvPr>
            <p:ph type="sldNum" sz="quarter" idx="12"/>
          </p:nvPr>
        </p:nvSpPr>
        <p:spPr/>
        <p:txBody>
          <a:bodyPr/>
          <a:lstStyle/>
          <a:p>
            <a:fld id="{6F7AD10B-CD6C-4DF9-8921-94AAB4607FF6}" type="slidenum">
              <a:rPr lang="en-US" altLang="ko-KR"/>
              <a:pPr/>
              <a:t>31</a:t>
            </a:fld>
            <a:endParaRPr lang="en-US" altLang="ko-KR"/>
          </a:p>
        </p:txBody>
      </p:sp>
      <p:graphicFrame>
        <p:nvGraphicFramePr>
          <p:cNvPr id="105482" name="Object 10">
            <a:extLst>
              <a:ext uri="{FF2B5EF4-FFF2-40B4-BE49-F238E27FC236}">
                <a16:creationId xmlns:a16="http://schemas.microsoft.com/office/drawing/2014/main" id="{5FB13764-DA92-4251-8B7A-065AF5D9E9DE}"/>
              </a:ext>
            </a:extLst>
          </p:cNvPr>
          <p:cNvGraphicFramePr>
            <a:graphicFrameLocks noChangeAspect="1"/>
          </p:cNvGraphicFramePr>
          <p:nvPr>
            <p:extLst>
              <p:ext uri="{D42A27DB-BD31-4B8C-83A1-F6EECF244321}">
                <p14:modId xmlns:p14="http://schemas.microsoft.com/office/powerpoint/2010/main" val="1437721072"/>
              </p:ext>
            </p:extLst>
          </p:nvPr>
        </p:nvGraphicFramePr>
        <p:xfrm>
          <a:off x="829399" y="1880139"/>
          <a:ext cx="7485202" cy="1954553"/>
        </p:xfrm>
        <a:graphic>
          <a:graphicData uri="http://schemas.openxmlformats.org/presentationml/2006/ole">
            <mc:AlternateContent xmlns:mc="http://schemas.openxmlformats.org/markup-compatibility/2006">
              <mc:Choice xmlns:v="urn:schemas-microsoft-com:vml" Requires="v">
                <p:oleObj spid="_x0000_s29721" name="图片" r:id="rId3" imgW="4747673" imgH="1237900" progId="Word.Picture.8">
                  <p:embed/>
                </p:oleObj>
              </mc:Choice>
              <mc:Fallback>
                <p:oleObj name="图片" r:id="rId3" imgW="4747673" imgH="1237900" progId="Word.Picture.8">
                  <p:embed/>
                  <p:pic>
                    <p:nvPicPr>
                      <p:cNvPr id="105482" name="Object 10">
                        <a:extLst>
                          <a:ext uri="{FF2B5EF4-FFF2-40B4-BE49-F238E27FC236}">
                            <a16:creationId xmlns:a16="http://schemas.microsoft.com/office/drawing/2014/main" id="{5FB13764-DA92-4251-8B7A-065AF5D9E9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399" y="1880139"/>
                        <a:ext cx="7485202" cy="1954553"/>
                      </a:xfrm>
                      <a:prstGeom prst="rect">
                        <a:avLst/>
                      </a:prstGeom>
                      <a:solidFill>
                        <a:schemeClr val="bg1"/>
                      </a:solidFill>
                    </p:spPr>
                  </p:pic>
                </p:oleObj>
              </mc:Fallback>
            </mc:AlternateContent>
          </a:graphicData>
        </a:graphic>
      </p:graphicFrame>
      <p:sp>
        <p:nvSpPr>
          <p:cNvPr id="105484" name="Rectangle 12">
            <a:extLst>
              <a:ext uri="{FF2B5EF4-FFF2-40B4-BE49-F238E27FC236}">
                <a16:creationId xmlns:a16="http://schemas.microsoft.com/office/drawing/2014/main" id="{6C02010D-420E-4D33-88F2-3743D2A1A6A6}"/>
              </a:ext>
            </a:extLst>
          </p:cNvPr>
          <p:cNvSpPr>
            <a:spLocks noChangeArrowheads="1"/>
          </p:cNvSpPr>
          <p:nvPr/>
        </p:nvSpPr>
        <p:spPr bwMode="auto">
          <a:xfrm>
            <a:off x="2370115" y="4218905"/>
            <a:ext cx="48766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a:latin typeface="微软雅黑" panose="020B0503020204020204" pitchFamily="34" charset="-122"/>
                <a:ea typeface="微软雅黑" panose="020B0503020204020204" pitchFamily="34" charset="-122"/>
              </a:rPr>
              <a:t>电容负载调制时初、次级回路的等效电路 </a:t>
            </a:r>
          </a:p>
        </p:txBody>
      </p:sp>
      <p:sp>
        <p:nvSpPr>
          <p:cNvPr id="14" name="矩形 13">
            <a:extLst>
              <a:ext uri="{FF2B5EF4-FFF2-40B4-BE49-F238E27FC236}">
                <a16:creationId xmlns:a16="http://schemas.microsoft.com/office/drawing/2014/main" id="{45C75FDF-7524-4248-AB7F-DAF720967902}"/>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19" name="Rectangle 3">
            <a:extLst>
              <a:ext uri="{FF2B5EF4-FFF2-40B4-BE49-F238E27FC236}">
                <a16:creationId xmlns:a16="http://schemas.microsoft.com/office/drawing/2014/main" id="{579FB77D-5BA6-4838-AACE-93D32145C447}"/>
              </a:ext>
            </a:extLst>
          </p:cNvPr>
          <p:cNvSpPr txBox="1">
            <a:spLocks noChangeArrowheads="1"/>
          </p:cNvSpPr>
          <p:nvPr/>
        </p:nvSpPr>
        <p:spPr bwMode="auto">
          <a:xfrm>
            <a:off x="761897" y="751520"/>
            <a:ext cx="3306047" cy="544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a:latin typeface="微软雅黑" panose="020B0503020204020204" pitchFamily="34" charset="-122"/>
                <a:ea typeface="微软雅黑" panose="020B0503020204020204" pitchFamily="34" charset="-122"/>
              </a:rPr>
              <a:t>电容负载调制 </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24E434BA-489E-425A-B8CB-A2A8D2E1FEB4}"/>
              </a:ext>
            </a:extLst>
          </p:cNvPr>
          <p:cNvSpPr>
            <a:spLocks noGrp="1"/>
          </p:cNvSpPr>
          <p:nvPr>
            <p:ph type="sldNum" sz="quarter" idx="12"/>
          </p:nvPr>
        </p:nvSpPr>
        <p:spPr/>
        <p:txBody>
          <a:bodyPr/>
          <a:lstStyle/>
          <a:p>
            <a:fld id="{7769FF5D-EFB6-4368-80BF-EE3B48486B03}" type="slidenum">
              <a:rPr lang="en-US" altLang="ko-KR"/>
              <a:pPr/>
              <a:t>32</a:t>
            </a:fld>
            <a:endParaRPr lang="en-US" altLang="ko-KR"/>
          </a:p>
        </p:txBody>
      </p:sp>
      <p:sp>
        <p:nvSpPr>
          <p:cNvPr id="107523" name="Rectangle 3">
            <a:extLst>
              <a:ext uri="{FF2B5EF4-FFF2-40B4-BE49-F238E27FC236}">
                <a16:creationId xmlns:a16="http://schemas.microsoft.com/office/drawing/2014/main" id="{18F97D67-160D-41E0-A6C6-3548C6AD0BC3}"/>
              </a:ext>
            </a:extLst>
          </p:cNvPr>
          <p:cNvSpPr>
            <a:spLocks noGrp="1" noChangeArrowheads="1"/>
          </p:cNvSpPr>
          <p:nvPr>
            <p:ph type="body" idx="1"/>
          </p:nvPr>
        </p:nvSpPr>
        <p:spPr>
          <a:xfrm>
            <a:off x="827584" y="1048528"/>
            <a:ext cx="7344198" cy="4014108"/>
          </a:xfrm>
        </p:spPr>
        <p:txBody>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功率放大电路</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功率放大电路位于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系统的阅读器中，用于向应答器提供能量；</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采用谐振功率放大器；</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分为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类（或称甲类）、</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类（或称乙类）、</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类（或称丙类）三类工作状况；</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在电感耦合</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系统的阅读器中，常采用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类放大器 。</a:t>
            </a:r>
          </a:p>
        </p:txBody>
      </p:sp>
      <p:sp>
        <p:nvSpPr>
          <p:cNvPr id="11" name="矩形 10">
            <a:extLst>
              <a:ext uri="{FF2B5EF4-FFF2-40B4-BE49-F238E27FC236}">
                <a16:creationId xmlns:a16="http://schemas.microsoft.com/office/drawing/2014/main" id="{2C826068-D3FC-4D93-80E8-8F316F904123}"/>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198B7F44-1586-4921-A8EB-D29307C17C4F}"/>
              </a:ext>
            </a:extLst>
          </p:cNvPr>
          <p:cNvSpPr>
            <a:spLocks noGrp="1"/>
          </p:cNvSpPr>
          <p:nvPr>
            <p:ph type="sldNum" sz="quarter" idx="12"/>
          </p:nvPr>
        </p:nvSpPr>
        <p:spPr/>
        <p:txBody>
          <a:bodyPr/>
          <a:lstStyle/>
          <a:p>
            <a:fld id="{CD1ACCAE-2FDE-4361-9542-7FBAAD9FD071}" type="slidenum">
              <a:rPr lang="en-US" altLang="ko-KR"/>
              <a:pPr/>
              <a:t>33</a:t>
            </a:fld>
            <a:endParaRPr lang="en-US" altLang="ko-KR"/>
          </a:p>
        </p:txBody>
      </p:sp>
      <p:sp>
        <p:nvSpPr>
          <p:cNvPr id="108547" name="Rectangle 3">
            <a:extLst>
              <a:ext uri="{FF2B5EF4-FFF2-40B4-BE49-F238E27FC236}">
                <a16:creationId xmlns:a16="http://schemas.microsoft.com/office/drawing/2014/main" id="{6D2E64FC-F6EA-4687-84CF-1AE9E2096BF0}"/>
              </a:ext>
            </a:extLst>
          </p:cNvPr>
          <p:cNvSpPr>
            <a:spLocks noGrp="1" noChangeArrowheads="1"/>
          </p:cNvSpPr>
          <p:nvPr>
            <p:ph type="body" idx="1"/>
          </p:nvPr>
        </p:nvSpPr>
        <p:spPr>
          <a:xfrm>
            <a:off x="694396" y="1539041"/>
            <a:ext cx="7344198" cy="2061086"/>
          </a:xfrm>
        </p:spPr>
        <p:txBody>
          <a:body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类功率放大器 </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采用两个特性相同的功率管接成推挽电路，它使一管在正半周导通，另一管在负半周导通，而后在负载上将它们的集电极电流波形合成，就可获得完整的正弦波。 </a:t>
            </a:r>
          </a:p>
        </p:txBody>
      </p:sp>
      <p:sp>
        <p:nvSpPr>
          <p:cNvPr id="11" name="矩形 10">
            <a:extLst>
              <a:ext uri="{FF2B5EF4-FFF2-40B4-BE49-F238E27FC236}">
                <a16:creationId xmlns:a16="http://schemas.microsoft.com/office/drawing/2014/main" id="{DA8209FE-CE8D-4A6E-A969-13BA7EA5DB5B}"/>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a:extLst>
              <a:ext uri="{FF2B5EF4-FFF2-40B4-BE49-F238E27FC236}">
                <a16:creationId xmlns:a16="http://schemas.microsoft.com/office/drawing/2014/main" id="{B9289CD8-A1E8-41A5-9B54-9F84D6D9DE06}"/>
              </a:ext>
            </a:extLst>
          </p:cNvPr>
          <p:cNvSpPr>
            <a:spLocks noGrp="1"/>
          </p:cNvSpPr>
          <p:nvPr>
            <p:ph type="sldNum" sz="quarter" idx="12"/>
          </p:nvPr>
        </p:nvSpPr>
        <p:spPr/>
        <p:txBody>
          <a:bodyPr/>
          <a:lstStyle/>
          <a:p>
            <a:fld id="{67D3426C-590C-4879-8BDA-6DF5C9169030}" type="slidenum">
              <a:rPr lang="en-US" altLang="ko-KR"/>
              <a:pPr/>
              <a:t>34</a:t>
            </a:fld>
            <a:endParaRPr lang="en-US" altLang="ko-KR"/>
          </a:p>
        </p:txBody>
      </p:sp>
      <p:graphicFrame>
        <p:nvGraphicFramePr>
          <p:cNvPr id="113674" name="Object 10">
            <a:extLst>
              <a:ext uri="{FF2B5EF4-FFF2-40B4-BE49-F238E27FC236}">
                <a16:creationId xmlns:a16="http://schemas.microsoft.com/office/drawing/2014/main" id="{9EE1FA9E-89A5-46D0-87C6-E79CEA3FD138}"/>
              </a:ext>
            </a:extLst>
          </p:cNvPr>
          <p:cNvGraphicFramePr>
            <a:graphicFrameLocks noChangeAspect="1"/>
          </p:cNvGraphicFramePr>
          <p:nvPr>
            <p:extLst>
              <p:ext uri="{D42A27DB-BD31-4B8C-83A1-F6EECF244321}">
                <p14:modId xmlns:p14="http://schemas.microsoft.com/office/powerpoint/2010/main" val="559237540"/>
              </p:ext>
            </p:extLst>
          </p:nvPr>
        </p:nvGraphicFramePr>
        <p:xfrm>
          <a:off x="3050282" y="616948"/>
          <a:ext cx="5815013" cy="4365022"/>
        </p:xfrm>
        <a:graphic>
          <a:graphicData uri="http://schemas.openxmlformats.org/presentationml/2006/ole">
            <mc:AlternateContent xmlns:mc="http://schemas.openxmlformats.org/markup-compatibility/2006">
              <mc:Choice xmlns:v="urn:schemas-microsoft-com:vml" Requires="v">
                <p:oleObj spid="_x0000_s30755" name="Picture" r:id="rId3" imgW="4286160" imgH="3276720" progId="Word.Picture.8">
                  <p:embed/>
                </p:oleObj>
              </mc:Choice>
              <mc:Fallback>
                <p:oleObj name="Picture" r:id="rId3" imgW="4286160" imgH="3276720" progId="Word.Picture.8">
                  <p:embed/>
                  <p:pic>
                    <p:nvPicPr>
                      <p:cNvPr id="113674" name="Object 10">
                        <a:extLst>
                          <a:ext uri="{FF2B5EF4-FFF2-40B4-BE49-F238E27FC236}">
                            <a16:creationId xmlns:a16="http://schemas.microsoft.com/office/drawing/2014/main" id="{9EE1FA9E-89A5-46D0-87C6-E79CEA3FD138}"/>
                          </a:ext>
                        </a:extLst>
                      </p:cNvPr>
                      <p:cNvPicPr>
                        <a:picLocks noChangeAspect="1" noChangeArrowheads="1"/>
                      </p:cNvPicPr>
                      <p:nvPr/>
                    </p:nvPicPr>
                    <p:blipFill>
                      <a:blip r:embed="rId4"/>
                      <a:srcRect/>
                      <a:stretch>
                        <a:fillRect/>
                      </a:stretch>
                    </p:blipFill>
                    <p:spPr bwMode="auto">
                      <a:xfrm>
                        <a:off x="3050282" y="616948"/>
                        <a:ext cx="5815013" cy="4365022"/>
                      </a:xfrm>
                      <a:prstGeom prst="rect">
                        <a:avLst/>
                      </a:prstGeom>
                      <a:solidFill>
                        <a:schemeClr val="bg1"/>
                      </a:solidFill>
                    </p:spPr>
                  </p:pic>
                </p:oleObj>
              </mc:Fallback>
            </mc:AlternateContent>
          </a:graphicData>
        </a:graphic>
      </p:graphicFrame>
      <p:sp>
        <p:nvSpPr>
          <p:cNvPr id="113676" name="Rectangle 12">
            <a:extLst>
              <a:ext uri="{FF2B5EF4-FFF2-40B4-BE49-F238E27FC236}">
                <a16:creationId xmlns:a16="http://schemas.microsoft.com/office/drawing/2014/main" id="{32BE3255-B19F-45EA-9A5D-F589B8567B29}"/>
              </a:ext>
            </a:extLst>
          </p:cNvPr>
          <p:cNvSpPr>
            <a:spLocks noChangeArrowheads="1"/>
          </p:cNvSpPr>
          <p:nvPr/>
        </p:nvSpPr>
        <p:spPr bwMode="auto">
          <a:xfrm>
            <a:off x="868966" y="1818876"/>
            <a:ext cx="19486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用于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125 kHz</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阅读器的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类放大器 </a:t>
            </a:r>
          </a:p>
        </p:txBody>
      </p:sp>
      <p:sp>
        <p:nvSpPr>
          <p:cNvPr id="113677" name="Rectangle 13">
            <a:extLst>
              <a:ext uri="{FF2B5EF4-FFF2-40B4-BE49-F238E27FC236}">
                <a16:creationId xmlns:a16="http://schemas.microsoft.com/office/drawing/2014/main" id="{2EA35890-E4C1-4DCB-9772-8E5708A59E89}"/>
              </a:ext>
            </a:extLst>
          </p:cNvPr>
          <p:cNvSpPr>
            <a:spLocks noChangeArrowheads="1"/>
          </p:cNvSpPr>
          <p:nvPr/>
        </p:nvSpPr>
        <p:spPr bwMode="auto">
          <a:xfrm>
            <a:off x="936576" y="4913594"/>
            <a:ext cx="561662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dirty="0">
                <a:latin typeface="Times New Roman" panose="02020603050405020304" pitchFamily="18" charset="0"/>
                <a:ea typeface="宋体" panose="02010600030101010101" pitchFamily="2" charset="-122"/>
              </a:rPr>
              <a:t>L3</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C4</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C5</a:t>
            </a:r>
            <a:r>
              <a:rPr lang="zh-CN" altLang="en-US" dirty="0">
                <a:latin typeface="Times New Roman" panose="02020603050405020304" pitchFamily="18" charset="0"/>
                <a:ea typeface="宋体" panose="02010600030101010101" pitchFamily="2" charset="-122"/>
              </a:rPr>
              <a:t>组成滤波网络，该带通滤波器的中心频率 </a:t>
            </a:r>
          </a:p>
        </p:txBody>
      </p:sp>
      <mc:AlternateContent xmlns:mc="http://schemas.openxmlformats.org/markup-compatibility/2006" xmlns:a14="http://schemas.microsoft.com/office/drawing/2010/main">
        <mc:Choice Requires="a14">
          <p:sp>
            <p:nvSpPr>
              <p:cNvPr id="113678" name="Object 14">
                <a:extLst>
                  <a:ext uri="{FF2B5EF4-FFF2-40B4-BE49-F238E27FC236}">
                    <a16:creationId xmlns:a16="http://schemas.microsoft.com/office/drawing/2014/main" id="{776DA27B-68CA-4A0A-BDFA-B294C0E6963F}"/>
                  </a:ext>
                </a:extLst>
              </p:cNvPr>
              <p:cNvSpPr txBox="1"/>
              <p:nvPr/>
            </p:nvSpPr>
            <p:spPr bwMode="auto">
              <a:xfrm>
                <a:off x="1157759" y="5291623"/>
                <a:ext cx="6828481" cy="929621"/>
              </a:xfrm>
              <a:prstGeom prst="rect">
                <a:avLst/>
              </a:prstGeom>
              <a:noFill/>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0">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0">
                              <a:solidFill>
                                <a:srgbClr val="000000"/>
                              </a:solidFill>
                              <a:latin typeface="Cambria Math" panose="02040503050406030204" pitchFamily="18" charset="0"/>
                            </a:rPr>
                            <m:t>1</m:t>
                          </m:r>
                        </m:num>
                        <m:den>
                          <m:r>
                            <m:rPr>
                              <m:nor/>
                            </m:rPr>
                            <a:rPr lang="zh-CN" altLang="en-US" i="0">
                              <a:solidFill>
                                <a:srgbClr val="000000"/>
                              </a:solidFill>
                              <a:latin typeface="Cambria Math" panose="02040503050406030204" pitchFamily="18" charset="0"/>
                            </a:rPr>
                            <m:t>2</m:t>
                          </m:r>
                          <m:r>
                            <m:rPr>
                              <m:nor/>
                            </m:rPr>
                            <a:rPr lang="zh-CN" altLang="en-US" i="0">
                              <a:solidFill>
                                <a:srgbClr val="000000"/>
                              </a:solidFill>
                              <a:latin typeface="Cambria Math" panose="02040503050406030204" pitchFamily="18" charset="0"/>
                            </a:rPr>
                            <m:t>π</m:t>
                          </m:r>
                          <m:rad>
                            <m:radPr>
                              <m:degHide m:val="on"/>
                              <m:ctrlPr>
                                <a:rPr lang="zh-CN" altLang="en-US" i="1">
                                  <a:solidFill>
                                    <a:srgbClr val="000000"/>
                                  </a:solidFill>
                                  <a:latin typeface="Cambria Math" panose="02040503050406030204" pitchFamily="18" charset="0"/>
                                </a:rPr>
                              </m:ctrlPr>
                            </m:radPr>
                            <m:deg/>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𝐿</m:t>
                                  </m:r>
                                </m:e>
                                <m:sub>
                                  <m:r>
                                    <a:rPr lang="zh-CN" altLang="en-US" i="0">
                                      <a:solidFill>
                                        <a:srgbClr val="000000"/>
                                      </a:solidFill>
                                      <a:latin typeface="Cambria Math" panose="02040503050406030204" pitchFamily="18" charset="0"/>
                                    </a:rPr>
                                    <m:t>3</m:t>
                                  </m:r>
                                </m:sub>
                              </m:sSub>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0">
                                          <a:solidFill>
                                            <a:srgbClr val="000000"/>
                                          </a:solidFill>
                                          <a:latin typeface="Cambria Math" panose="02040503050406030204" pitchFamily="18" charset="0"/>
                                        </a:rPr>
                                        <m:t>4</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0">
                                          <a:solidFill>
                                            <a:srgbClr val="000000"/>
                                          </a:solidFill>
                                          <a:latin typeface="Cambria Math" panose="02040503050406030204" pitchFamily="18" charset="0"/>
                                        </a:rPr>
                                        <m:t>5</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0">
                                          <a:solidFill>
                                            <a:srgbClr val="000000"/>
                                          </a:solidFill>
                                          <a:latin typeface="Cambria Math" panose="02040503050406030204" pitchFamily="18" charset="0"/>
                                        </a:rPr>
                                        <m:t>4</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0">
                                          <a:solidFill>
                                            <a:srgbClr val="000000"/>
                                          </a:solidFill>
                                          <a:latin typeface="Cambria Math" panose="02040503050406030204" pitchFamily="18" charset="0"/>
                                        </a:rPr>
                                        <m:t>5</m:t>
                                      </m:r>
                                    </m:sub>
                                  </m:sSub>
                                </m:den>
                              </m:f>
                            </m:e>
                          </m:rad>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0">
                              <a:solidFill>
                                <a:srgbClr val="000000"/>
                              </a:solidFill>
                              <a:latin typeface="Cambria Math" panose="02040503050406030204" pitchFamily="18" charset="0"/>
                            </a:rPr>
                            <m:t>1</m:t>
                          </m:r>
                        </m:num>
                        <m:den>
                          <m:r>
                            <m:rPr>
                              <m:nor/>
                            </m:rPr>
                            <a:rPr lang="zh-CN" altLang="en-US" i="0">
                              <a:solidFill>
                                <a:srgbClr val="000000"/>
                              </a:solidFill>
                              <a:latin typeface="Cambria Math" panose="02040503050406030204" pitchFamily="18" charset="0"/>
                            </a:rPr>
                            <m:t>2</m:t>
                          </m:r>
                          <m:r>
                            <m:rPr>
                              <m:nor/>
                            </m:rPr>
                            <a:rPr lang="zh-CN" altLang="en-US" i="0">
                              <a:solidFill>
                                <a:srgbClr val="000000"/>
                              </a:solidFill>
                              <a:latin typeface="Cambria Math" panose="02040503050406030204" pitchFamily="18" charset="0"/>
                            </a:rPr>
                            <m:t>π</m:t>
                          </m:r>
                          <m:rad>
                            <m:radPr>
                              <m:degHide m:val="on"/>
                              <m:ctrlPr>
                                <a:rPr lang="zh-CN" altLang="en-US" i="1">
                                  <a:solidFill>
                                    <a:srgbClr val="000000"/>
                                  </a:solidFill>
                                  <a:latin typeface="Cambria Math" panose="02040503050406030204" pitchFamily="18" charset="0"/>
                                </a:rPr>
                              </m:ctrlPr>
                            </m:radPr>
                            <m:deg/>
                            <m:e>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m:rPr>
                                      <m:nor/>
                                    </m:rPr>
                                    <a:rPr lang="zh-CN" altLang="en-US" i="0">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3</m:t>
                                  </m:r>
                                </m:sup>
                              </m:s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nor/>
                                    </m:rPr>
                                    <a:rPr lang="zh-CN" altLang="en-US" i="0">
                                      <a:solidFill>
                                        <a:srgbClr val="000000"/>
                                      </a:solidFill>
                                      <a:latin typeface="Cambria Math" panose="02040503050406030204" pitchFamily="18" charset="0"/>
                                    </a:rPr>
                                    <m:t>1800</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6800</m:t>
                                  </m:r>
                                </m:num>
                                <m:den>
                                  <m:r>
                                    <m:rPr>
                                      <m:nor/>
                                    </m:rPr>
                                    <a:rPr lang="zh-CN" altLang="en-US" i="0">
                                      <a:solidFill>
                                        <a:srgbClr val="000000"/>
                                      </a:solidFill>
                                      <a:latin typeface="Cambria Math" panose="02040503050406030204" pitchFamily="18" charset="0"/>
                                    </a:rPr>
                                    <m:t>1800</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6800</m:t>
                                  </m:r>
                                </m:den>
                              </m:f>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m:rPr>
                                      <m:nor/>
                                    </m:rPr>
                                    <a:rPr lang="zh-CN" altLang="en-US" i="0">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12</m:t>
                                  </m:r>
                                </m:sup>
                              </m:sSup>
                            </m:e>
                          </m:rad>
                        </m:den>
                      </m:f>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125</m:t>
                      </m:r>
                      <m:d>
                        <m:dPr>
                          <m:ctrlPr>
                            <a:rPr lang="zh-CN" altLang="en-US" i="1">
                              <a:solidFill>
                                <a:srgbClr val="000000"/>
                              </a:solidFill>
                              <a:latin typeface="Cambria Math" panose="02040503050406030204" pitchFamily="18" charset="0"/>
                            </a:rPr>
                          </m:ctrlPr>
                        </m:dPr>
                        <m:e>
                          <m:r>
                            <m:rPr>
                              <m:nor/>
                            </m:rPr>
                            <a:rPr lang="zh-CN" altLang="en-US" i="0">
                              <a:solidFill>
                                <a:srgbClr val="000000"/>
                              </a:solidFill>
                              <a:latin typeface="Cambria Math" panose="02040503050406030204" pitchFamily="18" charset="0"/>
                            </a:rPr>
                            <m:t>kHz</m:t>
                          </m:r>
                        </m:e>
                      </m:d>
                    </m:oMath>
                  </m:oMathPara>
                </a14:m>
                <a:endParaRPr lang="zh-CN" altLang="en-US" dirty="0"/>
              </a:p>
            </p:txBody>
          </p:sp>
        </mc:Choice>
        <mc:Fallback xmlns="">
          <p:sp>
            <p:nvSpPr>
              <p:cNvPr id="113678" name="Object 14">
                <a:extLst>
                  <a:ext uri="{FF2B5EF4-FFF2-40B4-BE49-F238E27FC236}">
                    <a16:creationId xmlns:a16="http://schemas.microsoft.com/office/drawing/2014/main" id="{776DA27B-68CA-4A0A-BDFA-B294C0E6963F}"/>
                  </a:ext>
                </a:extLst>
              </p:cNvPr>
              <p:cNvSpPr txBox="1">
                <a:spLocks noRot="1" noChangeAspect="1" noMove="1" noResize="1" noEditPoints="1" noAdjustHandles="1" noChangeArrowheads="1" noChangeShapeType="1" noTextEdit="1"/>
              </p:cNvSpPr>
              <p:nvPr/>
            </p:nvSpPr>
            <p:spPr bwMode="auto">
              <a:xfrm>
                <a:off x="1157759" y="5291623"/>
                <a:ext cx="6828481" cy="929621"/>
              </a:xfrm>
              <a:prstGeom prst="rect">
                <a:avLst/>
              </a:prstGeom>
              <a:blipFill>
                <a:blip r:embed="rId5"/>
                <a:stretch>
                  <a:fillRect/>
                </a:stretch>
              </a:blipFill>
              <a:extLst/>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AC6914C8-61FA-4FB6-B26F-5E270FDE4CE0}"/>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a:extLst>
              <a:ext uri="{FF2B5EF4-FFF2-40B4-BE49-F238E27FC236}">
                <a16:creationId xmlns:a16="http://schemas.microsoft.com/office/drawing/2014/main" id="{625CE4BC-B2BB-4C8A-8815-E01B0AB46548}"/>
              </a:ext>
            </a:extLst>
          </p:cNvPr>
          <p:cNvSpPr>
            <a:spLocks noGrp="1"/>
          </p:cNvSpPr>
          <p:nvPr>
            <p:ph type="sldNum" sz="quarter" idx="12"/>
          </p:nvPr>
        </p:nvSpPr>
        <p:spPr/>
        <p:txBody>
          <a:bodyPr/>
          <a:lstStyle/>
          <a:p>
            <a:fld id="{CDC86E06-348D-43B5-8BBB-2FE050DF0815}" type="slidenum">
              <a:rPr lang="en-US" altLang="ko-KR"/>
              <a:pPr/>
              <a:t>35</a:t>
            </a:fld>
            <a:endParaRPr lang="en-US" altLang="ko-KR"/>
          </a:p>
        </p:txBody>
      </p:sp>
      <p:sp>
        <p:nvSpPr>
          <p:cNvPr id="109571" name="Rectangle 3">
            <a:extLst>
              <a:ext uri="{FF2B5EF4-FFF2-40B4-BE49-F238E27FC236}">
                <a16:creationId xmlns:a16="http://schemas.microsoft.com/office/drawing/2014/main" id="{E3A6C451-CA67-4037-979F-867C1697C528}"/>
              </a:ext>
            </a:extLst>
          </p:cNvPr>
          <p:cNvSpPr>
            <a:spLocks noGrp="1" noChangeArrowheads="1"/>
          </p:cNvSpPr>
          <p:nvPr>
            <p:ph type="body" idx="1"/>
          </p:nvPr>
        </p:nvSpPr>
        <p:spPr>
          <a:xfrm>
            <a:off x="829400" y="719807"/>
            <a:ext cx="2160240" cy="569556"/>
          </a:xfrm>
        </p:spPr>
        <p:txBody>
          <a:bodyPr/>
          <a:lstStyle/>
          <a:p>
            <a:r>
              <a:rPr lang="zh-CN" altLang="en-US" sz="2400" dirty="0">
                <a:latin typeface="微软雅黑" panose="020B0503020204020204" pitchFamily="34" charset="-122"/>
                <a:ea typeface="微软雅黑" panose="020B0503020204020204" pitchFamily="34" charset="-122"/>
              </a:rPr>
              <a:t>功率传输 </a:t>
            </a:r>
          </a:p>
        </p:txBody>
      </p:sp>
      <p:graphicFrame>
        <p:nvGraphicFramePr>
          <p:cNvPr id="109578" name="Object 10">
            <a:extLst>
              <a:ext uri="{FF2B5EF4-FFF2-40B4-BE49-F238E27FC236}">
                <a16:creationId xmlns:a16="http://schemas.microsoft.com/office/drawing/2014/main" id="{FB543FDB-ED87-4B6C-B82D-F8B7D5E264DD}"/>
              </a:ext>
            </a:extLst>
          </p:cNvPr>
          <p:cNvGraphicFramePr>
            <a:graphicFrameLocks noChangeAspect="1"/>
          </p:cNvGraphicFramePr>
          <p:nvPr>
            <p:extLst>
              <p:ext uri="{D42A27DB-BD31-4B8C-83A1-F6EECF244321}">
                <p14:modId xmlns:p14="http://schemas.microsoft.com/office/powerpoint/2010/main" val="1439199828"/>
              </p:ext>
            </p:extLst>
          </p:nvPr>
        </p:nvGraphicFramePr>
        <p:xfrm>
          <a:off x="829400" y="1432537"/>
          <a:ext cx="4083110" cy="2289062"/>
        </p:xfrm>
        <a:graphic>
          <a:graphicData uri="http://schemas.openxmlformats.org/presentationml/2006/ole">
            <mc:AlternateContent xmlns:mc="http://schemas.openxmlformats.org/markup-compatibility/2006">
              <mc:Choice xmlns:v="urn:schemas-microsoft-com:vml" Requires="v">
                <p:oleObj spid="_x0000_s31780" name="图片" r:id="rId3" imgW="2430953" imgH="1361726" progId="Word.Picture.8">
                  <p:embed/>
                </p:oleObj>
              </mc:Choice>
              <mc:Fallback>
                <p:oleObj name="图片" r:id="rId3" imgW="2430953" imgH="1361726" progId="Word.Picture.8">
                  <p:embed/>
                  <p:pic>
                    <p:nvPicPr>
                      <p:cNvPr id="109578" name="Object 10">
                        <a:extLst>
                          <a:ext uri="{FF2B5EF4-FFF2-40B4-BE49-F238E27FC236}">
                            <a16:creationId xmlns:a16="http://schemas.microsoft.com/office/drawing/2014/main" id="{FB543FDB-ED87-4B6C-B82D-F8B7D5E264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400" y="1432537"/>
                        <a:ext cx="4083110" cy="2289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9580" name="Rectangle 12">
            <a:extLst>
              <a:ext uri="{FF2B5EF4-FFF2-40B4-BE49-F238E27FC236}">
                <a16:creationId xmlns:a16="http://schemas.microsoft.com/office/drawing/2014/main" id="{09196541-CACA-4080-8091-3EAE95682FC9}"/>
              </a:ext>
            </a:extLst>
          </p:cNvPr>
          <p:cNvSpPr>
            <a:spLocks noChangeArrowheads="1"/>
          </p:cNvSpPr>
          <p:nvPr/>
        </p:nvSpPr>
        <p:spPr bwMode="auto">
          <a:xfrm>
            <a:off x="2195736" y="4121562"/>
            <a:ext cx="12859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微软雅黑" panose="020B0503020204020204" pitchFamily="34" charset="-122"/>
                <a:ea typeface="微软雅黑" panose="020B0503020204020204" pitchFamily="34" charset="-122"/>
              </a:rPr>
              <a:t>等效电路 </a:t>
            </a:r>
          </a:p>
        </p:txBody>
      </p:sp>
      <p:sp>
        <p:nvSpPr>
          <p:cNvPr id="109581" name="Rectangle 13">
            <a:extLst>
              <a:ext uri="{FF2B5EF4-FFF2-40B4-BE49-F238E27FC236}">
                <a16:creationId xmlns:a16="http://schemas.microsoft.com/office/drawing/2014/main" id="{33699F60-73FF-42D3-A8A8-EFF0AEDFD7C5}"/>
              </a:ext>
            </a:extLst>
          </p:cNvPr>
          <p:cNvSpPr>
            <a:spLocks noChangeArrowheads="1"/>
          </p:cNvSpPr>
          <p:nvPr/>
        </p:nvSpPr>
        <p:spPr bwMode="auto">
          <a:xfrm>
            <a:off x="5287336" y="1932474"/>
            <a:ext cx="353596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000" dirty="0">
                <a:latin typeface="微软雅黑" panose="020B0503020204020204" pitchFamily="34" charset="-122"/>
                <a:ea typeface="微软雅黑" panose="020B0503020204020204" pitchFamily="34" charset="-122"/>
              </a:rPr>
              <a:t>从阻抗匹配的条件下负载可获得最大功率考虑，则应满足 </a:t>
            </a:r>
          </a:p>
        </p:txBody>
      </p:sp>
      <mc:AlternateContent xmlns:mc="http://schemas.openxmlformats.org/markup-compatibility/2006" xmlns:a14="http://schemas.microsoft.com/office/drawing/2010/main">
        <mc:Choice Requires="a14">
          <p:sp>
            <p:nvSpPr>
              <p:cNvPr id="109582" name="Object 14">
                <a:extLst>
                  <a:ext uri="{FF2B5EF4-FFF2-40B4-BE49-F238E27FC236}">
                    <a16:creationId xmlns:a16="http://schemas.microsoft.com/office/drawing/2014/main" id="{8BEDCE36-B6DC-4A09-86E7-66AF468590F5}"/>
                  </a:ext>
                </a:extLst>
              </p:cNvPr>
              <p:cNvSpPr txBox="1"/>
              <p:nvPr/>
            </p:nvSpPr>
            <p:spPr bwMode="auto">
              <a:xfrm>
                <a:off x="5220072" y="2988080"/>
                <a:ext cx="3312368" cy="1133482"/>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m:rPr>
                              <m:nor/>
                            </m:rPr>
                            <a:rPr lang="zh-CN" altLang="en-US" i="0">
                              <a:solidFill>
                                <a:srgbClr val="000000"/>
                              </a:solidFill>
                              <a:latin typeface="Cambria Math" panose="02040503050406030204" pitchFamily="18" charset="0"/>
                            </a:rPr>
                            <m:t>f</m:t>
                          </m:r>
                          <m:r>
                            <m:rPr>
                              <m:nor/>
                            </m:rP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𝑀</m:t>
                                  </m:r>
                                </m:e>
                              </m:d>
                            </m:e>
                            <m:sup>
                              <m:r>
                                <a:rPr lang="zh-CN" altLang="en-US" i="0">
                                  <a:solidFill>
                                    <a:srgbClr val="000000"/>
                                  </a:solidFill>
                                  <a:latin typeface="Cambria Math" panose="02040503050406030204" pitchFamily="18" charset="0"/>
                                </a:rPr>
                                <m:t>2</m:t>
                              </m:r>
                            </m:sup>
                          </m:sSup>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m:rPr>
                                  <m:nor/>
                                </m:rPr>
                                <a:rPr lang="zh-CN" altLang="en-US" i="0">
                                  <a:solidFill>
                                    <a:srgbClr val="000000"/>
                                  </a:solidFill>
                                  <a:latin typeface="Cambria Math" panose="02040503050406030204" pitchFamily="18" charset="0"/>
                                </a:rPr>
                                <m:t>22</m:t>
                              </m:r>
                            </m:sub>
                          </m:sSub>
                        </m:den>
                      </m:f>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m:rPr>
                                  <m:sty m:val="p"/>
                                </m:rPr>
                                <a:rPr lang="zh-CN" altLang="en-US" i="0">
                                  <a:solidFill>
                                    <a:srgbClr val="000000"/>
                                  </a:solidFill>
                                  <a:latin typeface="Cambria Math" panose="02040503050406030204" pitchFamily="18" charset="0"/>
                                </a:rPr>
                                <m:t>s</m:t>
                              </m:r>
                            </m:sub>
                          </m:sSub>
                        </m:e>
                      </m:d>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0">
                              <a:solidFill>
                                <a:srgbClr val="000000"/>
                              </a:solidFill>
                              <a:latin typeface="Cambria Math" panose="02040503050406030204" pitchFamily="18" charset="0"/>
                            </a:rPr>
                            <m:t>1</m:t>
                          </m:r>
                        </m:sub>
                      </m:sSub>
                    </m:oMath>
                  </m:oMathPara>
                </a14:m>
                <a:endParaRPr lang="zh-CN" altLang="en-US"/>
              </a:p>
            </p:txBody>
          </p:sp>
        </mc:Choice>
        <mc:Fallback xmlns="">
          <p:sp>
            <p:nvSpPr>
              <p:cNvPr id="109582" name="Object 14">
                <a:extLst>
                  <a:ext uri="{FF2B5EF4-FFF2-40B4-BE49-F238E27FC236}">
                    <a16:creationId xmlns:a16="http://schemas.microsoft.com/office/drawing/2014/main" id="{8BEDCE36-B6DC-4A09-86E7-66AF468590F5}"/>
                  </a:ext>
                </a:extLst>
              </p:cNvPr>
              <p:cNvSpPr txBox="1">
                <a:spLocks noRot="1" noChangeAspect="1" noMove="1" noResize="1" noEditPoints="1" noAdjustHandles="1" noChangeArrowheads="1" noChangeShapeType="1" noTextEdit="1"/>
              </p:cNvSpPr>
              <p:nvPr/>
            </p:nvSpPr>
            <p:spPr bwMode="auto">
              <a:xfrm>
                <a:off x="5220072" y="2988080"/>
                <a:ext cx="3312368" cy="1133482"/>
              </a:xfrm>
              <a:prstGeom prst="rect">
                <a:avLst/>
              </a:prstGeom>
              <a:blipFill>
                <a:blip r:embed="rId5"/>
                <a:stretch>
                  <a:fillRect/>
                </a:stretch>
              </a:blipFill>
              <a:extLst/>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37DD87B1-57F9-499F-B341-2575F7CCA19D}"/>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a:extLst>
              <a:ext uri="{FF2B5EF4-FFF2-40B4-BE49-F238E27FC236}">
                <a16:creationId xmlns:a16="http://schemas.microsoft.com/office/drawing/2014/main" id="{16BC65E1-9FB9-4475-B861-C4C5FFFAB5E7}"/>
              </a:ext>
            </a:extLst>
          </p:cNvPr>
          <p:cNvSpPr>
            <a:spLocks noGrp="1"/>
          </p:cNvSpPr>
          <p:nvPr>
            <p:ph type="sldNum" sz="quarter" idx="12"/>
          </p:nvPr>
        </p:nvSpPr>
        <p:spPr/>
        <p:txBody>
          <a:bodyPr/>
          <a:lstStyle/>
          <a:p>
            <a:fld id="{2F4C685A-256B-4D68-BA77-7C8A63140019}" type="slidenum">
              <a:rPr lang="en-US" altLang="ko-KR"/>
              <a:pPr/>
              <a:t>36</a:t>
            </a:fld>
            <a:endParaRPr lang="en-US" altLang="ko-KR"/>
          </a:p>
        </p:txBody>
      </p:sp>
      <p:sp>
        <p:nvSpPr>
          <p:cNvPr id="110595" name="Rectangle 3">
            <a:extLst>
              <a:ext uri="{FF2B5EF4-FFF2-40B4-BE49-F238E27FC236}">
                <a16:creationId xmlns:a16="http://schemas.microsoft.com/office/drawing/2014/main" id="{86908ABC-9677-4F27-ACA9-1E4F005BE099}"/>
              </a:ext>
            </a:extLst>
          </p:cNvPr>
          <p:cNvSpPr>
            <a:spLocks noGrp="1" noChangeArrowheads="1"/>
          </p:cNvSpPr>
          <p:nvPr>
            <p:ph type="body" idx="1"/>
          </p:nvPr>
        </p:nvSpPr>
        <p:spPr>
          <a:xfrm>
            <a:off x="683568" y="850362"/>
            <a:ext cx="7848872" cy="949565"/>
          </a:xfrm>
        </p:spPr>
        <p:txBody>
          <a:body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类功率放大器</a:t>
            </a:r>
          </a:p>
          <a:p>
            <a:pPr lvl="1"/>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类谐振式功率放大器有电压开关型、电流开关型等电路形式  </a:t>
            </a:r>
          </a:p>
        </p:txBody>
      </p:sp>
      <p:graphicFrame>
        <p:nvGraphicFramePr>
          <p:cNvPr id="110602" name="Object 10">
            <a:extLst>
              <a:ext uri="{FF2B5EF4-FFF2-40B4-BE49-F238E27FC236}">
                <a16:creationId xmlns:a16="http://schemas.microsoft.com/office/drawing/2014/main" id="{832D79A6-3599-41F1-B654-486877578BB0}"/>
              </a:ext>
            </a:extLst>
          </p:cNvPr>
          <p:cNvGraphicFramePr>
            <a:graphicFrameLocks noChangeAspect="1"/>
          </p:cNvGraphicFramePr>
          <p:nvPr>
            <p:extLst>
              <p:ext uri="{D42A27DB-BD31-4B8C-83A1-F6EECF244321}">
                <p14:modId xmlns:p14="http://schemas.microsoft.com/office/powerpoint/2010/main" val="214140457"/>
              </p:ext>
            </p:extLst>
          </p:nvPr>
        </p:nvGraphicFramePr>
        <p:xfrm>
          <a:off x="896901" y="1943943"/>
          <a:ext cx="7350198" cy="3288089"/>
        </p:xfrm>
        <a:graphic>
          <a:graphicData uri="http://schemas.openxmlformats.org/presentationml/2006/ole">
            <mc:AlternateContent xmlns:mc="http://schemas.openxmlformats.org/markup-compatibility/2006">
              <mc:Choice xmlns:v="urn:schemas-microsoft-com:vml" Requires="v">
                <p:oleObj spid="_x0000_s32794" name="图片" r:id="rId3" imgW="4499749" imgH="1999574" progId="Word.Picture.8">
                  <p:embed/>
                </p:oleObj>
              </mc:Choice>
              <mc:Fallback>
                <p:oleObj name="图片" r:id="rId3" imgW="4499749" imgH="1999574" progId="Word.Picture.8">
                  <p:embed/>
                  <p:pic>
                    <p:nvPicPr>
                      <p:cNvPr id="110602" name="Object 10">
                        <a:extLst>
                          <a:ext uri="{FF2B5EF4-FFF2-40B4-BE49-F238E27FC236}">
                            <a16:creationId xmlns:a16="http://schemas.microsoft.com/office/drawing/2014/main" id="{832D79A6-3599-41F1-B654-486877578B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421" r="3680"/>
                      <a:stretch>
                        <a:fillRect/>
                      </a:stretch>
                    </p:blipFill>
                    <p:spPr bwMode="auto">
                      <a:xfrm>
                        <a:off x="896901" y="1943943"/>
                        <a:ext cx="7350198" cy="3288089"/>
                      </a:xfrm>
                      <a:prstGeom prst="rect">
                        <a:avLst/>
                      </a:prstGeom>
                      <a:solidFill>
                        <a:schemeClr val="bg1"/>
                      </a:solidFill>
                    </p:spPr>
                  </p:pic>
                </p:oleObj>
              </mc:Fallback>
            </mc:AlternateContent>
          </a:graphicData>
        </a:graphic>
      </p:graphicFrame>
      <p:sp>
        <p:nvSpPr>
          <p:cNvPr id="13" name="矩形 12">
            <a:extLst>
              <a:ext uri="{FF2B5EF4-FFF2-40B4-BE49-F238E27FC236}">
                <a16:creationId xmlns:a16="http://schemas.microsoft.com/office/drawing/2014/main" id="{76468B2C-BB1D-4C60-B84C-64AC5763329B}"/>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a:extLst>
              <a:ext uri="{FF2B5EF4-FFF2-40B4-BE49-F238E27FC236}">
                <a16:creationId xmlns:a16="http://schemas.microsoft.com/office/drawing/2014/main" id="{F0C22FEA-3584-472F-86E1-A07016286145}"/>
              </a:ext>
            </a:extLst>
          </p:cNvPr>
          <p:cNvSpPr>
            <a:spLocks noGrp="1"/>
          </p:cNvSpPr>
          <p:nvPr>
            <p:ph type="sldNum" sz="quarter" idx="12"/>
          </p:nvPr>
        </p:nvSpPr>
        <p:spPr/>
        <p:txBody>
          <a:bodyPr/>
          <a:lstStyle/>
          <a:p>
            <a:fld id="{9E53E4D9-4575-4634-8ECE-10B5F0906E68}" type="slidenum">
              <a:rPr lang="en-US" altLang="ko-KR"/>
              <a:pPr/>
              <a:t>37</a:t>
            </a:fld>
            <a:endParaRPr lang="en-US" altLang="ko-KR"/>
          </a:p>
        </p:txBody>
      </p:sp>
      <p:sp>
        <p:nvSpPr>
          <p:cNvPr id="111627" name="Rectangle 11">
            <a:extLst>
              <a:ext uri="{FF2B5EF4-FFF2-40B4-BE49-F238E27FC236}">
                <a16:creationId xmlns:a16="http://schemas.microsoft.com/office/drawing/2014/main" id="{66217EED-26E3-4328-9FA6-96047CA6917A}"/>
              </a:ext>
            </a:extLst>
          </p:cNvPr>
          <p:cNvSpPr>
            <a:spLocks noChangeArrowheads="1"/>
          </p:cNvSpPr>
          <p:nvPr/>
        </p:nvSpPr>
        <p:spPr bwMode="auto">
          <a:xfrm>
            <a:off x="251884" y="81886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11626" name="Object 10">
            <a:extLst>
              <a:ext uri="{FF2B5EF4-FFF2-40B4-BE49-F238E27FC236}">
                <a16:creationId xmlns:a16="http://schemas.microsoft.com/office/drawing/2014/main" id="{CB142EA5-4A0E-4FC6-B5BB-7F1A4E0AF74A}"/>
              </a:ext>
            </a:extLst>
          </p:cNvPr>
          <p:cNvGraphicFramePr>
            <a:graphicFrameLocks noChangeAspect="1"/>
          </p:cNvGraphicFramePr>
          <p:nvPr>
            <p:extLst>
              <p:ext uri="{D42A27DB-BD31-4B8C-83A1-F6EECF244321}">
                <p14:modId xmlns:p14="http://schemas.microsoft.com/office/powerpoint/2010/main" val="226924257"/>
              </p:ext>
            </p:extLst>
          </p:nvPr>
        </p:nvGraphicFramePr>
        <p:xfrm>
          <a:off x="344249" y="1810549"/>
          <a:ext cx="4183613" cy="3130584"/>
        </p:xfrm>
        <a:graphic>
          <a:graphicData uri="http://schemas.openxmlformats.org/presentationml/2006/ole">
            <mc:AlternateContent xmlns:mc="http://schemas.openxmlformats.org/markup-compatibility/2006">
              <mc:Choice xmlns:v="urn:schemas-microsoft-com:vml" Requires="v">
                <p:oleObj spid="_x0000_s33842" name="图片" r:id="rId3" imgW="3632375" imgH="4790338" progId="Word.Picture.8">
                  <p:embed/>
                </p:oleObj>
              </mc:Choice>
              <mc:Fallback>
                <p:oleObj name="图片" r:id="rId3" imgW="3632375" imgH="4790338" progId="Word.Picture.8">
                  <p:embed/>
                  <p:pic>
                    <p:nvPicPr>
                      <p:cNvPr id="111626" name="Object 10">
                        <a:extLst>
                          <a:ext uri="{FF2B5EF4-FFF2-40B4-BE49-F238E27FC236}">
                            <a16:creationId xmlns:a16="http://schemas.microsoft.com/office/drawing/2014/main" id="{CB142EA5-4A0E-4FC6-B5BB-7F1A4E0AF7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676" t="1277" r="3865" b="45842"/>
                      <a:stretch>
                        <a:fillRect/>
                      </a:stretch>
                    </p:blipFill>
                    <p:spPr bwMode="auto">
                      <a:xfrm>
                        <a:off x="344249" y="1810549"/>
                        <a:ext cx="4183613" cy="3130584"/>
                      </a:xfrm>
                      <a:prstGeom prst="rect">
                        <a:avLst/>
                      </a:prstGeom>
                      <a:solidFill>
                        <a:schemeClr val="bg1"/>
                      </a:solidFill>
                    </p:spPr>
                  </p:pic>
                </p:oleObj>
              </mc:Fallback>
            </mc:AlternateContent>
          </a:graphicData>
        </a:graphic>
      </p:graphicFrame>
      <p:graphicFrame>
        <p:nvGraphicFramePr>
          <p:cNvPr id="111629" name="Object 13">
            <a:extLst>
              <a:ext uri="{FF2B5EF4-FFF2-40B4-BE49-F238E27FC236}">
                <a16:creationId xmlns:a16="http://schemas.microsoft.com/office/drawing/2014/main" id="{B8E1A1D1-4B61-4442-8989-F1F098D2ADEC}"/>
              </a:ext>
            </a:extLst>
          </p:cNvPr>
          <p:cNvGraphicFramePr>
            <a:graphicFrameLocks noGrp="1" noChangeAspect="1"/>
          </p:cNvGraphicFramePr>
          <p:nvPr>
            <p:ph/>
            <p:extLst>
              <p:ext uri="{D42A27DB-BD31-4B8C-83A1-F6EECF244321}">
                <p14:modId xmlns:p14="http://schemas.microsoft.com/office/powerpoint/2010/main" val="1173263970"/>
              </p:ext>
            </p:extLst>
          </p:nvPr>
        </p:nvGraphicFramePr>
        <p:xfrm>
          <a:off x="4722838" y="2022054"/>
          <a:ext cx="4456620" cy="2707573"/>
        </p:xfrm>
        <a:graphic>
          <a:graphicData uri="http://schemas.openxmlformats.org/presentationml/2006/ole">
            <mc:AlternateContent xmlns:mc="http://schemas.openxmlformats.org/markup-compatibility/2006">
              <mc:Choice xmlns:v="urn:schemas-microsoft-com:vml" Requires="v">
                <p:oleObj spid="_x0000_s33843" name="图片" r:id="rId5" imgW="3632375" imgH="4790338" progId="Word.Picture.8">
                  <p:embed/>
                </p:oleObj>
              </mc:Choice>
              <mc:Fallback>
                <p:oleObj name="图片" r:id="rId5" imgW="3632375" imgH="4790338" progId="Word.Picture.8">
                  <p:embed/>
                  <p:pic>
                    <p:nvPicPr>
                      <p:cNvPr id="111629" name="Object 13">
                        <a:extLst>
                          <a:ext uri="{FF2B5EF4-FFF2-40B4-BE49-F238E27FC236}">
                            <a16:creationId xmlns:a16="http://schemas.microsoft.com/office/drawing/2014/main" id="{B8E1A1D1-4B61-4442-8989-F1F098D2AD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676" t="54532" r="3865"/>
                      <a:stretch>
                        <a:fillRect/>
                      </a:stretch>
                    </p:blipFill>
                    <p:spPr bwMode="auto">
                      <a:xfrm>
                        <a:off x="4722838" y="2022054"/>
                        <a:ext cx="4456620" cy="270757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矩形 11">
            <a:extLst>
              <a:ext uri="{FF2B5EF4-FFF2-40B4-BE49-F238E27FC236}">
                <a16:creationId xmlns:a16="http://schemas.microsoft.com/office/drawing/2014/main" id="{787F0062-4201-479A-9F10-E914D244B6BC}"/>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13" name="Rectangle 3">
            <a:extLst>
              <a:ext uri="{FF2B5EF4-FFF2-40B4-BE49-F238E27FC236}">
                <a16:creationId xmlns:a16="http://schemas.microsoft.com/office/drawing/2014/main" id="{52535141-D2AC-4CD0-ACCA-5224565BB3EF}"/>
              </a:ext>
            </a:extLst>
          </p:cNvPr>
          <p:cNvSpPr txBox="1">
            <a:spLocks noChangeArrowheads="1"/>
          </p:cNvSpPr>
          <p:nvPr/>
        </p:nvSpPr>
        <p:spPr>
          <a:xfrm>
            <a:off x="683568" y="850362"/>
            <a:ext cx="2664296" cy="445509"/>
          </a:xfrm>
          <a:prstGeom prst="rect">
            <a:avLst/>
          </a:prstGeom>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类功率放大器</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a:extLst>
              <a:ext uri="{FF2B5EF4-FFF2-40B4-BE49-F238E27FC236}">
                <a16:creationId xmlns:a16="http://schemas.microsoft.com/office/drawing/2014/main" id="{C605CD0B-82E0-44AB-B87A-6255AA044BA0}"/>
              </a:ext>
            </a:extLst>
          </p:cNvPr>
          <p:cNvSpPr>
            <a:spLocks noGrp="1"/>
          </p:cNvSpPr>
          <p:nvPr>
            <p:ph type="sldNum" sz="quarter" idx="12"/>
          </p:nvPr>
        </p:nvSpPr>
        <p:spPr/>
        <p:txBody>
          <a:bodyPr/>
          <a:lstStyle/>
          <a:p>
            <a:fld id="{4587598E-1819-4807-AEC2-4602ABDF1D16}" type="slidenum">
              <a:rPr lang="en-US" altLang="ko-KR"/>
              <a:pPr/>
              <a:t>38</a:t>
            </a:fld>
            <a:endParaRPr lang="en-US" altLang="ko-KR"/>
          </a:p>
        </p:txBody>
      </p:sp>
      <p:sp>
        <p:nvSpPr>
          <p:cNvPr id="112643" name="Rectangle 3">
            <a:extLst>
              <a:ext uri="{FF2B5EF4-FFF2-40B4-BE49-F238E27FC236}">
                <a16:creationId xmlns:a16="http://schemas.microsoft.com/office/drawing/2014/main" id="{DC4DD1DB-FABF-47DC-813F-EDDE21719202}"/>
              </a:ext>
            </a:extLst>
          </p:cNvPr>
          <p:cNvSpPr>
            <a:spLocks noGrp="1" noChangeArrowheads="1"/>
          </p:cNvSpPr>
          <p:nvPr>
            <p:ph type="body" idx="1"/>
          </p:nvPr>
        </p:nvSpPr>
        <p:spPr>
          <a:xfrm>
            <a:off x="683568" y="890354"/>
            <a:ext cx="2786340" cy="477525"/>
          </a:xfrm>
        </p:spPr>
        <p:txBody>
          <a:bodyPr/>
          <a:lstStyle/>
          <a:p>
            <a:r>
              <a:rPr lang="zh-CN" altLang="en-US" sz="2400" dirty="0">
                <a:latin typeface="微软雅黑" panose="020B0503020204020204" pitchFamily="34" charset="-122"/>
                <a:ea typeface="微软雅黑" panose="020B0503020204020204" pitchFamily="34" charset="-122"/>
              </a:rPr>
              <a:t>功率放大器效率 </a:t>
            </a:r>
          </a:p>
        </p:txBody>
      </p:sp>
      <p:sp>
        <p:nvSpPr>
          <p:cNvPr id="112650" name="Rectangle 10">
            <a:extLst>
              <a:ext uri="{FF2B5EF4-FFF2-40B4-BE49-F238E27FC236}">
                <a16:creationId xmlns:a16="http://schemas.microsoft.com/office/drawing/2014/main" id="{34637C8A-0E4F-4137-BB6B-9F82050B820C}"/>
              </a:ext>
            </a:extLst>
          </p:cNvPr>
          <p:cNvSpPr>
            <a:spLocks noChangeArrowheads="1"/>
          </p:cNvSpPr>
          <p:nvPr/>
        </p:nvSpPr>
        <p:spPr bwMode="auto">
          <a:xfrm>
            <a:off x="1177293" y="2150355"/>
            <a:ext cx="17988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微软雅黑" panose="020B0503020204020204" pitchFamily="34" charset="-122"/>
                <a:ea typeface="微软雅黑" panose="020B0503020204020204" pitchFamily="34" charset="-122"/>
              </a:rPr>
              <a:t>电流基波幅值 </a:t>
            </a:r>
          </a:p>
        </p:txBody>
      </p:sp>
      <mc:AlternateContent xmlns:mc="http://schemas.openxmlformats.org/markup-compatibility/2006" xmlns:a14="http://schemas.microsoft.com/office/drawing/2010/main">
        <mc:Choice Requires="a14">
          <p:sp>
            <p:nvSpPr>
              <p:cNvPr id="112651" name="Object 11">
                <a:extLst>
                  <a:ext uri="{FF2B5EF4-FFF2-40B4-BE49-F238E27FC236}">
                    <a16:creationId xmlns:a16="http://schemas.microsoft.com/office/drawing/2014/main" id="{5F6BFC12-FF8F-4123-A554-617C8FED419C}"/>
                  </a:ext>
                </a:extLst>
              </p:cNvPr>
              <p:cNvSpPr txBox="1"/>
              <p:nvPr/>
            </p:nvSpPr>
            <p:spPr bwMode="auto">
              <a:xfrm>
                <a:off x="3551973" y="1924454"/>
                <a:ext cx="3198086" cy="841523"/>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m:rPr>
                              <m:nor/>
                            </m:rPr>
                            <a:rPr lang="zh-CN" altLang="en-US" i="0">
                              <a:solidFill>
                                <a:srgbClr val="000000"/>
                              </a:solidFill>
                              <a:latin typeface="Cambria Math" panose="02040503050406030204" pitchFamily="18" charset="0"/>
                            </a:rPr>
                            <m:t>om</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num>
                        <m:den>
                          <m:r>
                            <m:rPr>
                              <m:sty m:val="p"/>
                            </m:rPr>
                            <a:rPr lang="zh-CN" altLang="en-US" i="0">
                              <a:solidFill>
                                <a:srgbClr val="000000"/>
                              </a:solidFill>
                              <a:latin typeface="Cambria Math" panose="02040503050406030204" pitchFamily="18" charset="0"/>
                            </a:rPr>
                            <m:t>π</m:t>
                          </m:r>
                        </m:den>
                      </m:f>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m:rPr>
                                  <m:nor/>
                                </m:rPr>
                                <a:rPr lang="zh-CN" altLang="en-US" i="0">
                                  <a:solidFill>
                                    <a:srgbClr val="000000"/>
                                  </a:solidFill>
                                  <a:latin typeface="Cambria Math" panose="02040503050406030204" pitchFamily="18" charset="0"/>
                                </a:rPr>
                                <m:t>CC</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m:rPr>
                                  <m:nor/>
                                </m:rPr>
                                <a:rPr lang="zh-CN" altLang="en-US" i="0">
                                  <a:solidFill>
                                    <a:srgbClr val="000000"/>
                                  </a:solidFill>
                                  <a:latin typeface="Cambria Math" panose="02040503050406030204" pitchFamily="18" charset="0"/>
                                </a:rPr>
                                <m:t>CES</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m:rPr>
                                  <m:nor/>
                                </m:rPr>
                                <a:rPr lang="zh-CN" altLang="en-US" i="0">
                                  <a:solidFill>
                                    <a:srgbClr val="000000"/>
                                  </a:solidFill>
                                  <a:latin typeface="Cambria Math" panose="02040503050406030204" pitchFamily="18" charset="0"/>
                                </a:rPr>
                                <m:t>CES</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m:rPr>
                                  <m:sty m:val="p"/>
                                </m:rPr>
                                <a:rPr lang="zh-CN" altLang="en-US" i="0">
                                  <a:solidFill>
                                    <a:srgbClr val="000000"/>
                                  </a:solidFill>
                                  <a:latin typeface="Cambria Math" panose="02040503050406030204" pitchFamily="18" charset="0"/>
                                </a:rPr>
                                <m:t>L</m:t>
                              </m:r>
                            </m:sub>
                          </m:sSub>
                        </m:den>
                      </m:f>
                    </m:oMath>
                  </m:oMathPara>
                </a14:m>
                <a:endParaRPr lang="zh-CN" altLang="en-US" dirty="0"/>
              </a:p>
            </p:txBody>
          </p:sp>
        </mc:Choice>
        <mc:Fallback xmlns="">
          <p:sp>
            <p:nvSpPr>
              <p:cNvPr id="112651" name="Object 11">
                <a:extLst>
                  <a:ext uri="{FF2B5EF4-FFF2-40B4-BE49-F238E27FC236}">
                    <a16:creationId xmlns:a16="http://schemas.microsoft.com/office/drawing/2014/main" id="{5F6BFC12-FF8F-4123-A554-617C8FED419C}"/>
                  </a:ext>
                </a:extLst>
              </p:cNvPr>
              <p:cNvSpPr txBox="1">
                <a:spLocks noRot="1" noChangeAspect="1" noMove="1" noResize="1" noEditPoints="1" noAdjustHandles="1" noChangeArrowheads="1" noChangeShapeType="1" noTextEdit="1"/>
              </p:cNvSpPr>
              <p:nvPr/>
            </p:nvSpPr>
            <p:spPr bwMode="auto">
              <a:xfrm>
                <a:off x="3551973" y="1924454"/>
                <a:ext cx="3198086" cy="841523"/>
              </a:xfrm>
              <a:prstGeom prst="rect">
                <a:avLst/>
              </a:prstGeom>
              <a:blipFill>
                <a:blip r:embed="rId2"/>
                <a:stretch>
                  <a:fillRect/>
                </a:stretch>
              </a:blipFill>
              <a:extLst/>
            </p:spPr>
            <p:txBody>
              <a:bodyPr/>
              <a:lstStyle/>
              <a:p>
                <a:r>
                  <a:rPr lang="zh-CN" altLang="en-US">
                    <a:noFill/>
                  </a:rPr>
                  <a:t> </a:t>
                </a:r>
              </a:p>
            </p:txBody>
          </p:sp>
        </mc:Fallback>
      </mc:AlternateContent>
      <p:sp>
        <p:nvSpPr>
          <p:cNvPr id="112653" name="Rectangle 13">
            <a:extLst>
              <a:ext uri="{FF2B5EF4-FFF2-40B4-BE49-F238E27FC236}">
                <a16:creationId xmlns:a16="http://schemas.microsoft.com/office/drawing/2014/main" id="{F6BCC995-3746-4DBE-9CDA-C4A3414BD851}"/>
              </a:ext>
            </a:extLst>
          </p:cNvPr>
          <p:cNvSpPr>
            <a:spLocks noChangeArrowheads="1"/>
          </p:cNvSpPr>
          <p:nvPr/>
        </p:nvSpPr>
        <p:spPr bwMode="auto">
          <a:xfrm>
            <a:off x="1177293" y="3496988"/>
            <a:ext cx="307488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负载电阻</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上的输出功率 </a:t>
            </a:r>
          </a:p>
        </p:txBody>
      </p:sp>
      <mc:AlternateContent xmlns:mc="http://schemas.openxmlformats.org/markup-compatibility/2006" xmlns:a14="http://schemas.microsoft.com/office/drawing/2010/main">
        <mc:Choice Requires="a14">
          <p:sp>
            <p:nvSpPr>
              <p:cNvPr id="112654" name="Object 14">
                <a:extLst>
                  <a:ext uri="{FF2B5EF4-FFF2-40B4-BE49-F238E27FC236}">
                    <a16:creationId xmlns:a16="http://schemas.microsoft.com/office/drawing/2014/main" id="{674120AF-7126-4723-AC6A-94E31F652FFB}"/>
                  </a:ext>
                </a:extLst>
              </p:cNvPr>
              <p:cNvSpPr txBox="1"/>
              <p:nvPr/>
            </p:nvSpPr>
            <p:spPr bwMode="auto">
              <a:xfrm>
                <a:off x="3551973" y="4248199"/>
                <a:ext cx="3877605" cy="951026"/>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𝑃</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𝐼</m:t>
                          </m:r>
                        </m:e>
                        <m:sub>
                          <m:r>
                            <m:rPr>
                              <m:nor/>
                            </m:rPr>
                            <a:rPr lang="zh-CN" altLang="en-US" i="0">
                              <a:solidFill>
                                <a:srgbClr val="000000"/>
                              </a:solidFill>
                              <a:latin typeface="Cambria Math" panose="02040503050406030204" pitchFamily="18" charset="0"/>
                            </a:rPr>
                            <m:t>om</m:t>
                          </m:r>
                        </m:sub>
                        <m:sup>
                          <m:r>
                            <a:rPr lang="zh-CN" altLang="en-US" i="0">
                              <a:solidFill>
                                <a:srgbClr val="000000"/>
                              </a:solidFill>
                              <a:latin typeface="Cambria Math" panose="02040503050406030204" pitchFamily="18" charset="0"/>
                            </a:rPr>
                            <m:t>2</m:t>
                          </m:r>
                        </m:sup>
                      </m:sSub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m:rPr>
                              <m:sty m:val="p"/>
                            </m:rPr>
                            <a:rPr lang="zh-CN" altLang="en-US" i="0">
                              <a:solidFill>
                                <a:srgbClr val="000000"/>
                              </a:solidFill>
                              <a:latin typeface="Cambria Math" panose="02040503050406030204" pitchFamily="18" charset="0"/>
                            </a:rPr>
                            <m:t>L</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num>
                        <m:den>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π</m:t>
                              </m:r>
                            </m:e>
                            <m:sup>
                              <m:r>
                                <a:rPr lang="zh-CN" altLang="en-US" i="1">
                                  <a:solidFill>
                                    <a:srgbClr val="000000"/>
                                  </a:solidFill>
                                  <a:latin typeface="Cambria Math" panose="02040503050406030204" pitchFamily="18" charset="0"/>
                                </a:rPr>
                                <m:t>2</m:t>
                              </m:r>
                            </m:sup>
                          </m:sSup>
                        </m:den>
                      </m:f>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m:rPr>
                                          <m:nor/>
                                        </m:rPr>
                                        <a:rPr lang="zh-CN" altLang="en-US" i="0">
                                          <a:solidFill>
                                            <a:srgbClr val="000000"/>
                                          </a:solidFill>
                                          <a:latin typeface="Cambria Math" panose="02040503050406030204" pitchFamily="18" charset="0"/>
                                        </a:rPr>
                                        <m:t>CC</m:t>
                                      </m:r>
                                    </m:sub>
                                  </m:sSub>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m:rPr>
                                          <m:nor/>
                                        </m:rPr>
                                        <a:rPr lang="zh-CN" altLang="en-US" i="0">
                                          <a:solidFill>
                                            <a:srgbClr val="000000"/>
                                          </a:solidFill>
                                          <a:latin typeface="Cambria Math" panose="02040503050406030204" pitchFamily="18" charset="0"/>
                                        </a:rPr>
                                        <m:t>CES</m:t>
                                      </m:r>
                                    </m:sub>
                                  </m:sSub>
                                </m:e>
                              </m:d>
                            </m:e>
                            <m:sup>
                              <m:r>
                                <a:rPr lang="zh-CN" altLang="en-US" i="1">
                                  <a:solidFill>
                                    <a:srgbClr val="000000"/>
                                  </a:solidFill>
                                  <a:latin typeface="Cambria Math" panose="02040503050406030204" pitchFamily="18" charset="0"/>
                                </a:rPr>
                                <m:t>2</m:t>
                              </m:r>
                            </m:sup>
                          </m:sSup>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m:rPr>
                                  <m:sty m:val="p"/>
                                </m:rPr>
                                <a:rPr lang="zh-CN" altLang="en-US" i="0">
                                  <a:solidFill>
                                    <a:srgbClr val="000000"/>
                                  </a:solidFill>
                                  <a:latin typeface="Cambria Math" panose="02040503050406030204" pitchFamily="18" charset="0"/>
                                </a:rPr>
                                <m:t>L</m:t>
                              </m:r>
                            </m:sub>
                          </m:sSub>
                        </m:den>
                      </m:f>
                    </m:oMath>
                  </m:oMathPara>
                </a14:m>
                <a:endParaRPr lang="zh-CN" altLang="en-US" dirty="0"/>
              </a:p>
            </p:txBody>
          </p:sp>
        </mc:Choice>
        <mc:Fallback xmlns="">
          <p:sp>
            <p:nvSpPr>
              <p:cNvPr id="112654" name="Object 14">
                <a:extLst>
                  <a:ext uri="{FF2B5EF4-FFF2-40B4-BE49-F238E27FC236}">
                    <a16:creationId xmlns:a16="http://schemas.microsoft.com/office/drawing/2014/main" id="{674120AF-7126-4723-AC6A-94E31F652FFB}"/>
                  </a:ext>
                </a:extLst>
              </p:cNvPr>
              <p:cNvSpPr txBox="1">
                <a:spLocks noRot="1" noChangeAspect="1" noMove="1" noResize="1" noEditPoints="1" noAdjustHandles="1" noChangeArrowheads="1" noChangeShapeType="1" noTextEdit="1"/>
              </p:cNvSpPr>
              <p:nvPr/>
            </p:nvSpPr>
            <p:spPr bwMode="auto">
              <a:xfrm>
                <a:off x="3551973" y="4248199"/>
                <a:ext cx="3877605" cy="951026"/>
              </a:xfrm>
              <a:prstGeom prst="rect">
                <a:avLst/>
              </a:prstGeom>
              <a:blipFill>
                <a:blip r:embed="rId3"/>
                <a:stretch>
                  <a:fillRect/>
                </a:stretch>
              </a:blipFill>
              <a:extLst/>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0D5F096F-9025-40CA-BD9E-EC4001E3B149}"/>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a:extLst>
              <a:ext uri="{FF2B5EF4-FFF2-40B4-BE49-F238E27FC236}">
                <a16:creationId xmlns:a16="http://schemas.microsoft.com/office/drawing/2014/main" id="{AF8887DD-A2A2-47A4-AA79-E4660C1DDDF2}"/>
              </a:ext>
            </a:extLst>
          </p:cNvPr>
          <p:cNvSpPr>
            <a:spLocks noGrp="1"/>
          </p:cNvSpPr>
          <p:nvPr>
            <p:ph type="sldNum" sz="quarter" idx="12"/>
          </p:nvPr>
        </p:nvSpPr>
        <p:spPr/>
        <p:txBody>
          <a:bodyPr/>
          <a:lstStyle/>
          <a:p>
            <a:fld id="{DB4250CB-0966-4343-BD08-A82652EE45AB}" type="slidenum">
              <a:rPr lang="en-US" altLang="ko-KR"/>
              <a:pPr/>
              <a:t>39</a:t>
            </a:fld>
            <a:endParaRPr lang="en-US" altLang="ko-KR"/>
          </a:p>
        </p:txBody>
      </p:sp>
      <p:sp>
        <p:nvSpPr>
          <p:cNvPr id="114691" name="Rectangle 3">
            <a:extLst>
              <a:ext uri="{FF2B5EF4-FFF2-40B4-BE49-F238E27FC236}">
                <a16:creationId xmlns:a16="http://schemas.microsoft.com/office/drawing/2014/main" id="{44438568-407F-4A52-88C0-9A5F5E277AE9}"/>
              </a:ext>
            </a:extLst>
          </p:cNvPr>
          <p:cNvSpPr>
            <a:spLocks noGrp="1" noChangeArrowheads="1"/>
          </p:cNvSpPr>
          <p:nvPr>
            <p:ph type="body" idx="1"/>
          </p:nvPr>
        </p:nvSpPr>
        <p:spPr>
          <a:xfrm>
            <a:off x="683568" y="863862"/>
            <a:ext cx="7344198" cy="3600361"/>
          </a:xfrm>
        </p:spPr>
        <p:txBody>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谐振回路的设计上应注意下述问题</a:t>
            </a:r>
          </a:p>
          <a:p>
            <a:pPr lvl="1">
              <a:lnSpc>
                <a:spcPct val="150000"/>
              </a:lnSpc>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谐振回路应准确调谐于激励信号的基波频率上 </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为保护功率放大管，可在其集电极</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和发射极</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间并接一个保护二极管 </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谐振回路中的负载</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在电感耦合方式的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系统中很容易理解为应答器反射电阻</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f1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和电感线圈损耗电阻</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之和  </a:t>
            </a:r>
          </a:p>
        </p:txBody>
      </p:sp>
      <p:sp>
        <p:nvSpPr>
          <p:cNvPr id="13" name="矩形 12">
            <a:extLst>
              <a:ext uri="{FF2B5EF4-FFF2-40B4-BE49-F238E27FC236}">
                <a16:creationId xmlns:a16="http://schemas.microsoft.com/office/drawing/2014/main" id="{F3B10CA0-090B-4EAB-B7F9-2A6591D94C1A}"/>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a:extLst>
              <a:ext uri="{FF2B5EF4-FFF2-40B4-BE49-F238E27FC236}">
                <a16:creationId xmlns:a16="http://schemas.microsoft.com/office/drawing/2014/main" id="{5C383139-E5ED-4814-9080-FAB9EAC37F0C}"/>
              </a:ext>
            </a:extLst>
          </p:cNvPr>
          <p:cNvSpPr>
            <a:spLocks noGrp="1"/>
          </p:cNvSpPr>
          <p:nvPr>
            <p:ph type="sldNum" sz="quarter" idx="12"/>
          </p:nvPr>
        </p:nvSpPr>
        <p:spPr/>
        <p:txBody>
          <a:bodyPr/>
          <a:lstStyle/>
          <a:p>
            <a:fld id="{30565AD1-F98E-4759-838F-3C0A477175BF}" type="slidenum">
              <a:rPr lang="en-US" altLang="ko-KR"/>
              <a:pPr/>
              <a:t>40</a:t>
            </a:fld>
            <a:endParaRPr lang="en-US" altLang="ko-KR"/>
          </a:p>
        </p:txBody>
      </p:sp>
      <p:sp>
        <p:nvSpPr>
          <p:cNvPr id="115715" name="Rectangle 3">
            <a:extLst>
              <a:ext uri="{FF2B5EF4-FFF2-40B4-BE49-F238E27FC236}">
                <a16:creationId xmlns:a16="http://schemas.microsoft.com/office/drawing/2014/main" id="{2890D86F-FBAF-4747-BB52-06CE29D01B65}"/>
              </a:ext>
            </a:extLst>
          </p:cNvPr>
          <p:cNvSpPr>
            <a:spLocks noGrp="1" noChangeArrowheads="1"/>
          </p:cNvSpPr>
          <p:nvPr>
            <p:ph type="body" idx="1"/>
          </p:nvPr>
        </p:nvSpPr>
        <p:spPr>
          <a:xfrm>
            <a:off x="755576" y="796360"/>
            <a:ext cx="4104456" cy="488096"/>
          </a:xfrm>
        </p:spPr>
        <p:txBody>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电流开关型</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类功率放大器 </a:t>
            </a:r>
          </a:p>
        </p:txBody>
      </p:sp>
      <p:graphicFrame>
        <p:nvGraphicFramePr>
          <p:cNvPr id="115724" name="Object 12">
            <a:extLst>
              <a:ext uri="{FF2B5EF4-FFF2-40B4-BE49-F238E27FC236}">
                <a16:creationId xmlns:a16="http://schemas.microsoft.com/office/drawing/2014/main" id="{6A9A19AB-F780-4AF5-8BC8-C97AEF9F1EA1}"/>
              </a:ext>
            </a:extLst>
          </p:cNvPr>
          <p:cNvGraphicFramePr>
            <a:graphicFrameLocks noChangeAspect="1"/>
          </p:cNvGraphicFramePr>
          <p:nvPr>
            <p:extLst>
              <p:ext uri="{D42A27DB-BD31-4B8C-83A1-F6EECF244321}">
                <p14:modId xmlns:p14="http://schemas.microsoft.com/office/powerpoint/2010/main" val="2010556584"/>
              </p:ext>
            </p:extLst>
          </p:nvPr>
        </p:nvGraphicFramePr>
        <p:xfrm>
          <a:off x="1271911" y="1614043"/>
          <a:ext cx="6600178" cy="2883078"/>
        </p:xfrm>
        <a:graphic>
          <a:graphicData uri="http://schemas.openxmlformats.org/presentationml/2006/ole">
            <mc:AlternateContent xmlns:mc="http://schemas.openxmlformats.org/markup-compatibility/2006">
              <mc:Choice xmlns:v="urn:schemas-microsoft-com:vml" Requires="v">
                <p:oleObj spid="_x0000_s35866" name="图片" r:id="rId3" imgW="4585513" imgH="2066166" progId="Word.Picture.8">
                  <p:embed/>
                </p:oleObj>
              </mc:Choice>
              <mc:Fallback>
                <p:oleObj name="图片" r:id="rId3" imgW="4585513" imgH="2066166" progId="Word.Picture.8">
                  <p:embed/>
                  <p:pic>
                    <p:nvPicPr>
                      <p:cNvPr id="115724" name="Object 12">
                        <a:extLst>
                          <a:ext uri="{FF2B5EF4-FFF2-40B4-BE49-F238E27FC236}">
                            <a16:creationId xmlns:a16="http://schemas.microsoft.com/office/drawing/2014/main" id="{6A9A19AB-F780-4AF5-8BC8-C97AEF9F1E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648" t="1045" r="2277" b="6099"/>
                      <a:stretch>
                        <a:fillRect/>
                      </a:stretch>
                    </p:blipFill>
                    <p:spPr bwMode="auto">
                      <a:xfrm>
                        <a:off x="1271911" y="1614043"/>
                        <a:ext cx="6600178" cy="2883078"/>
                      </a:xfrm>
                      <a:prstGeom prst="rect">
                        <a:avLst/>
                      </a:prstGeom>
                      <a:solidFill>
                        <a:schemeClr val="bg1"/>
                      </a:solidFill>
                    </p:spPr>
                  </p:pic>
                </p:oleObj>
              </mc:Fallback>
            </mc:AlternateContent>
          </a:graphicData>
        </a:graphic>
      </p:graphicFrame>
      <p:sp>
        <p:nvSpPr>
          <p:cNvPr id="15" name="矩形 14">
            <a:extLst>
              <a:ext uri="{FF2B5EF4-FFF2-40B4-BE49-F238E27FC236}">
                <a16:creationId xmlns:a16="http://schemas.microsoft.com/office/drawing/2014/main" id="{40398B29-764A-46FD-8221-9CDD7A7D953F}"/>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3" name="Rectangle 5">
            <a:extLst>
              <a:ext uri="{FF2B5EF4-FFF2-40B4-BE49-F238E27FC236}">
                <a16:creationId xmlns:a16="http://schemas.microsoft.com/office/drawing/2014/main" id="{92BCEB4F-331C-4987-BF9B-3C8B44254D89}"/>
              </a:ext>
            </a:extLst>
          </p:cNvPr>
          <p:cNvSpPr>
            <a:spLocks noChangeArrowheads="1"/>
          </p:cNvSpPr>
          <p:nvPr/>
        </p:nvSpPr>
        <p:spPr bwMode="auto">
          <a:xfrm>
            <a:off x="251884" y="760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24932" name="Object 4">
            <a:extLst>
              <a:ext uri="{FF2B5EF4-FFF2-40B4-BE49-F238E27FC236}">
                <a16:creationId xmlns:a16="http://schemas.microsoft.com/office/drawing/2014/main" id="{39628F2C-E323-4517-A6EC-064B60D9F9C7}"/>
              </a:ext>
            </a:extLst>
          </p:cNvPr>
          <p:cNvGraphicFramePr>
            <a:graphicFrameLocks noChangeAspect="1"/>
          </p:cNvGraphicFramePr>
          <p:nvPr/>
        </p:nvGraphicFramePr>
        <p:xfrm>
          <a:off x="251883" y="2083557"/>
          <a:ext cx="4320117" cy="2899578"/>
        </p:xfrm>
        <a:graphic>
          <a:graphicData uri="http://schemas.openxmlformats.org/presentationml/2006/ole">
            <mc:AlternateContent xmlns:mc="http://schemas.openxmlformats.org/markup-compatibility/2006">
              <mc:Choice xmlns:v="urn:schemas-microsoft-com:vml" Requires="v">
                <p:oleObj spid="_x0000_s36914" name="图片" r:id="rId3" imgW="3651474" imgH="4856931" progId="Word.Picture.8">
                  <p:embed/>
                </p:oleObj>
              </mc:Choice>
              <mc:Fallback>
                <p:oleObj name="图片" r:id="rId3" imgW="3651474" imgH="4856931" progId="Word.Picture.8">
                  <p:embed/>
                  <p:pic>
                    <p:nvPicPr>
                      <p:cNvPr id="124932" name="Object 4">
                        <a:extLst>
                          <a:ext uri="{FF2B5EF4-FFF2-40B4-BE49-F238E27FC236}">
                            <a16:creationId xmlns:a16="http://schemas.microsoft.com/office/drawing/2014/main" id="{39628F2C-E323-4517-A6EC-064B60D9F9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51360"/>
                      <a:stretch>
                        <a:fillRect/>
                      </a:stretch>
                    </p:blipFill>
                    <p:spPr bwMode="auto">
                      <a:xfrm>
                        <a:off x="251883" y="2083557"/>
                        <a:ext cx="4320117" cy="2899578"/>
                      </a:xfrm>
                      <a:prstGeom prst="rect">
                        <a:avLst/>
                      </a:prstGeom>
                      <a:solidFill>
                        <a:schemeClr val="bg1"/>
                      </a:solidFill>
                    </p:spPr>
                  </p:pic>
                </p:oleObj>
              </mc:Fallback>
            </mc:AlternateContent>
          </a:graphicData>
        </a:graphic>
      </p:graphicFrame>
      <p:graphicFrame>
        <p:nvGraphicFramePr>
          <p:cNvPr id="124934" name="Object 6">
            <a:extLst>
              <a:ext uri="{FF2B5EF4-FFF2-40B4-BE49-F238E27FC236}">
                <a16:creationId xmlns:a16="http://schemas.microsoft.com/office/drawing/2014/main" id="{D0EA135C-86D8-4724-AD42-2E3ADD667CD9}"/>
              </a:ext>
            </a:extLst>
          </p:cNvPr>
          <p:cNvGraphicFramePr>
            <a:graphicFrameLocks noGrp="1" noChangeAspect="1"/>
          </p:cNvGraphicFramePr>
          <p:nvPr>
            <p:ph idx="1"/>
          </p:nvPr>
        </p:nvGraphicFramePr>
        <p:xfrm>
          <a:off x="4572000" y="2083556"/>
          <a:ext cx="4320117" cy="3109584"/>
        </p:xfrm>
        <a:graphic>
          <a:graphicData uri="http://schemas.openxmlformats.org/presentationml/2006/ole">
            <mc:AlternateContent xmlns:mc="http://schemas.openxmlformats.org/markup-compatibility/2006">
              <mc:Choice xmlns:v="urn:schemas-microsoft-com:vml" Requires="v">
                <p:oleObj spid="_x0000_s36915" name="图片" r:id="rId5" imgW="3651474" imgH="4856931" progId="Word.Picture.8">
                  <p:embed/>
                </p:oleObj>
              </mc:Choice>
              <mc:Fallback>
                <p:oleObj name="图片" r:id="rId5" imgW="3651474" imgH="4856931" progId="Word.Picture.8">
                  <p:embed/>
                  <p:pic>
                    <p:nvPicPr>
                      <p:cNvPr id="124934" name="Object 6">
                        <a:extLst>
                          <a:ext uri="{FF2B5EF4-FFF2-40B4-BE49-F238E27FC236}">
                            <a16:creationId xmlns:a16="http://schemas.microsoft.com/office/drawing/2014/main" id="{D0EA135C-86D8-4724-AD42-2E3ADD667C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48640"/>
                      <a:stretch>
                        <a:fillRect/>
                      </a:stretch>
                    </p:blipFill>
                    <p:spPr bwMode="auto">
                      <a:xfrm>
                        <a:off x="4572000" y="2083556"/>
                        <a:ext cx="4320117" cy="310958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矩形 5">
            <a:extLst>
              <a:ext uri="{FF2B5EF4-FFF2-40B4-BE49-F238E27FC236}">
                <a16:creationId xmlns:a16="http://schemas.microsoft.com/office/drawing/2014/main" id="{60C0FE48-8037-41DE-A768-3822190938D7}"/>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7" name="Rectangle 3">
            <a:extLst>
              <a:ext uri="{FF2B5EF4-FFF2-40B4-BE49-F238E27FC236}">
                <a16:creationId xmlns:a16="http://schemas.microsoft.com/office/drawing/2014/main" id="{DC21EB94-09FF-4896-A3EB-DA419B78224F}"/>
              </a:ext>
            </a:extLst>
          </p:cNvPr>
          <p:cNvSpPr txBox="1">
            <a:spLocks noChangeArrowheads="1"/>
          </p:cNvSpPr>
          <p:nvPr/>
        </p:nvSpPr>
        <p:spPr bwMode="auto">
          <a:xfrm>
            <a:off x="755576" y="796360"/>
            <a:ext cx="4104456" cy="488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电流开关型</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类功率放大器 </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a:extLst>
              <a:ext uri="{FF2B5EF4-FFF2-40B4-BE49-F238E27FC236}">
                <a16:creationId xmlns:a16="http://schemas.microsoft.com/office/drawing/2014/main" id="{8C55ACA3-A118-4535-A978-5E30023D1863}"/>
              </a:ext>
            </a:extLst>
          </p:cNvPr>
          <p:cNvSpPr>
            <a:spLocks noGrp="1"/>
          </p:cNvSpPr>
          <p:nvPr>
            <p:ph type="sldNum" sz="quarter" idx="12"/>
          </p:nvPr>
        </p:nvSpPr>
        <p:spPr/>
        <p:txBody>
          <a:bodyPr/>
          <a:lstStyle/>
          <a:p>
            <a:fld id="{2EE344F2-6570-4FAE-BDD1-82BDC45627AE}" type="slidenum">
              <a:rPr lang="en-US" altLang="ko-KR"/>
              <a:pPr/>
              <a:t>42</a:t>
            </a:fld>
            <a:endParaRPr lang="en-US" altLang="ko-KR"/>
          </a:p>
        </p:txBody>
      </p:sp>
      <p:sp>
        <p:nvSpPr>
          <p:cNvPr id="116739" name="Rectangle 3">
            <a:extLst>
              <a:ext uri="{FF2B5EF4-FFF2-40B4-BE49-F238E27FC236}">
                <a16:creationId xmlns:a16="http://schemas.microsoft.com/office/drawing/2014/main" id="{ECEA3C3C-5AEA-4C41-A77B-08C852E9BE0F}"/>
              </a:ext>
            </a:extLst>
          </p:cNvPr>
          <p:cNvSpPr>
            <a:spLocks noGrp="1" noChangeArrowheads="1"/>
          </p:cNvSpPr>
          <p:nvPr>
            <p:ph type="body" idx="1"/>
          </p:nvPr>
        </p:nvSpPr>
        <p:spPr>
          <a:xfrm>
            <a:off x="683568" y="742432"/>
            <a:ext cx="7344198" cy="4441871"/>
          </a:xfrm>
        </p:spPr>
        <p:txBody>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电压开关型</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Vs</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电流开关型</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在电压开关型电路中，两管是与电源电压</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CC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串联的。电流开关型电路中，两管与电源电压</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CC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并联</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电压开关型电路中，两管集电极电流是正弦半波，集电极与发射极间电压为方波，负载流过的电流是正弦波。电流开关型电路中，两管集电极电流是方波，集电极和发射极间电压是正弦半波，负载两端电压是正弦波。</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在电流开关型电路中，电流是方波，电压开关型电路中，两管集电极电流是正弦半波</a:t>
            </a:r>
          </a:p>
        </p:txBody>
      </p:sp>
      <p:sp>
        <p:nvSpPr>
          <p:cNvPr id="13" name="矩形 12">
            <a:extLst>
              <a:ext uri="{FF2B5EF4-FFF2-40B4-BE49-F238E27FC236}">
                <a16:creationId xmlns:a16="http://schemas.microsoft.com/office/drawing/2014/main" id="{072090FC-C6D2-47A4-813A-67EBF088C014}"/>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a:extLst>
              <a:ext uri="{FF2B5EF4-FFF2-40B4-BE49-F238E27FC236}">
                <a16:creationId xmlns:a16="http://schemas.microsoft.com/office/drawing/2014/main" id="{3248BEA3-6CF9-40B8-91CB-BBA4F68BDA3F}"/>
              </a:ext>
            </a:extLst>
          </p:cNvPr>
          <p:cNvSpPr>
            <a:spLocks noGrp="1"/>
          </p:cNvSpPr>
          <p:nvPr>
            <p:ph type="sldNum" sz="quarter" idx="12"/>
          </p:nvPr>
        </p:nvSpPr>
        <p:spPr/>
        <p:txBody>
          <a:bodyPr/>
          <a:lstStyle/>
          <a:p>
            <a:fld id="{CBA918E7-E98D-470E-ACC4-7F50172B8D49}" type="slidenum">
              <a:rPr lang="en-US" altLang="ko-KR"/>
              <a:pPr/>
              <a:t>43</a:t>
            </a:fld>
            <a:endParaRPr lang="en-US" altLang="ko-KR"/>
          </a:p>
        </p:txBody>
      </p:sp>
      <p:sp>
        <p:nvSpPr>
          <p:cNvPr id="117763" name="Rectangle 3">
            <a:extLst>
              <a:ext uri="{FF2B5EF4-FFF2-40B4-BE49-F238E27FC236}">
                <a16:creationId xmlns:a16="http://schemas.microsoft.com/office/drawing/2014/main" id="{2E3D0D77-C7F5-4496-B551-80B028E3AFFD}"/>
              </a:ext>
            </a:extLst>
          </p:cNvPr>
          <p:cNvSpPr>
            <a:spLocks noGrp="1" noChangeArrowheads="1"/>
          </p:cNvSpPr>
          <p:nvPr>
            <p:ph type="body" idx="1"/>
          </p:nvPr>
        </p:nvSpPr>
        <p:spPr>
          <a:xfrm>
            <a:off x="763398" y="786641"/>
            <a:ext cx="4528682" cy="449262"/>
          </a:xfrm>
        </p:spPr>
        <p:txBody>
          <a:bodyPr/>
          <a:lstStyle/>
          <a:p>
            <a:r>
              <a:rPr lang="zh-CN" altLang="en-US" sz="2400" dirty="0">
                <a:latin typeface="微软雅黑" panose="020B0503020204020204" pitchFamily="34" charset="-122"/>
                <a:ea typeface="微软雅黑" panose="020B0503020204020204" pitchFamily="34" charset="-122"/>
              </a:rPr>
              <a:t>传输线变压器耦合功率放大器 </a:t>
            </a:r>
          </a:p>
        </p:txBody>
      </p:sp>
      <p:graphicFrame>
        <p:nvGraphicFramePr>
          <p:cNvPr id="117772" name="Object 12">
            <a:extLst>
              <a:ext uri="{FF2B5EF4-FFF2-40B4-BE49-F238E27FC236}">
                <a16:creationId xmlns:a16="http://schemas.microsoft.com/office/drawing/2014/main" id="{C6B36401-0571-48EB-B8E1-A4CC2169EB20}"/>
              </a:ext>
            </a:extLst>
          </p:cNvPr>
          <p:cNvGraphicFramePr>
            <a:graphicFrameLocks noChangeAspect="1"/>
          </p:cNvGraphicFramePr>
          <p:nvPr>
            <p:extLst>
              <p:ext uri="{D42A27DB-BD31-4B8C-83A1-F6EECF244321}">
                <p14:modId xmlns:p14="http://schemas.microsoft.com/office/powerpoint/2010/main" val="3796544711"/>
              </p:ext>
            </p:extLst>
          </p:nvPr>
        </p:nvGraphicFramePr>
        <p:xfrm>
          <a:off x="1577919" y="1801548"/>
          <a:ext cx="5988162" cy="2508068"/>
        </p:xfrm>
        <a:graphic>
          <a:graphicData uri="http://schemas.openxmlformats.org/presentationml/2006/ole">
            <mc:AlternateContent xmlns:mc="http://schemas.openxmlformats.org/markup-compatibility/2006">
              <mc:Choice xmlns:v="urn:schemas-microsoft-com:vml" Requires="v">
                <p:oleObj spid="_x0000_s37913" name="图片" r:id="rId3" imgW="4166060" imgH="1818874" progId="Word.Picture.8">
                  <p:embed/>
                </p:oleObj>
              </mc:Choice>
              <mc:Fallback>
                <p:oleObj name="图片" r:id="rId3" imgW="4166060" imgH="1818874" progId="Word.Picture.8">
                  <p:embed/>
                  <p:pic>
                    <p:nvPicPr>
                      <p:cNvPr id="117772" name="Object 12">
                        <a:extLst>
                          <a:ext uri="{FF2B5EF4-FFF2-40B4-BE49-F238E27FC236}">
                            <a16:creationId xmlns:a16="http://schemas.microsoft.com/office/drawing/2014/main" id="{C6B36401-0571-48EB-B8E1-A4CC2169EB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4156"/>
                      <a:stretch>
                        <a:fillRect/>
                      </a:stretch>
                    </p:blipFill>
                    <p:spPr bwMode="auto">
                      <a:xfrm>
                        <a:off x="1577919" y="1801548"/>
                        <a:ext cx="5988162" cy="2508068"/>
                      </a:xfrm>
                      <a:prstGeom prst="rect">
                        <a:avLst/>
                      </a:prstGeom>
                      <a:solidFill>
                        <a:schemeClr val="bg1"/>
                      </a:solidFill>
                    </p:spPr>
                  </p:pic>
                </p:oleObj>
              </mc:Fallback>
            </mc:AlternateContent>
          </a:graphicData>
        </a:graphic>
      </p:graphicFrame>
      <p:sp>
        <p:nvSpPr>
          <p:cNvPr id="117774" name="Rectangle 14">
            <a:extLst>
              <a:ext uri="{FF2B5EF4-FFF2-40B4-BE49-F238E27FC236}">
                <a16:creationId xmlns:a16="http://schemas.microsoft.com/office/drawing/2014/main" id="{621AFE1D-240E-457E-84FD-857F1DFA885E}"/>
              </a:ext>
            </a:extLst>
          </p:cNvPr>
          <p:cNvSpPr>
            <a:spLocks noChangeArrowheads="1"/>
          </p:cNvSpPr>
          <p:nvPr/>
        </p:nvSpPr>
        <p:spPr bwMode="auto">
          <a:xfrm>
            <a:off x="1975263" y="4521318"/>
            <a:ext cx="519347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000" dirty="0">
                <a:latin typeface="微软雅黑" panose="020B0503020204020204" pitchFamily="34" charset="-122"/>
                <a:ea typeface="微软雅黑" panose="020B0503020204020204" pitchFamily="34" charset="-122"/>
              </a:rPr>
              <a:t>具有两种方式：一种按传输线方式来工作，另一种是按照变压器方式工作。 </a:t>
            </a:r>
          </a:p>
        </p:txBody>
      </p:sp>
      <p:sp>
        <p:nvSpPr>
          <p:cNvPr id="16" name="矩形 15">
            <a:extLst>
              <a:ext uri="{FF2B5EF4-FFF2-40B4-BE49-F238E27FC236}">
                <a16:creationId xmlns:a16="http://schemas.microsoft.com/office/drawing/2014/main" id="{5FBD1280-476D-43E1-8C95-ADB157F096C0}"/>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a:extLst>
              <a:ext uri="{FF2B5EF4-FFF2-40B4-BE49-F238E27FC236}">
                <a16:creationId xmlns:a16="http://schemas.microsoft.com/office/drawing/2014/main" id="{4C3812C2-5AEA-4F25-9391-F657257060FA}"/>
              </a:ext>
            </a:extLst>
          </p:cNvPr>
          <p:cNvSpPr>
            <a:spLocks noGrp="1"/>
          </p:cNvSpPr>
          <p:nvPr>
            <p:ph type="sldNum" sz="quarter" idx="12"/>
          </p:nvPr>
        </p:nvSpPr>
        <p:spPr/>
        <p:txBody>
          <a:bodyPr/>
          <a:lstStyle/>
          <a:p>
            <a:fld id="{69229F46-58E2-4132-86CB-7005FA61D63A}" type="slidenum">
              <a:rPr lang="en-US" altLang="ko-KR"/>
              <a:pPr/>
              <a:t>44</a:t>
            </a:fld>
            <a:endParaRPr lang="en-US" altLang="ko-KR"/>
          </a:p>
        </p:txBody>
      </p:sp>
      <p:sp>
        <p:nvSpPr>
          <p:cNvPr id="118797" name="Rectangle 13">
            <a:extLst>
              <a:ext uri="{FF2B5EF4-FFF2-40B4-BE49-F238E27FC236}">
                <a16:creationId xmlns:a16="http://schemas.microsoft.com/office/drawing/2014/main" id="{683F99E4-B738-464F-8E0D-6797803089D6}"/>
              </a:ext>
            </a:extLst>
          </p:cNvPr>
          <p:cNvSpPr>
            <a:spLocks noChangeArrowheads="1"/>
          </p:cNvSpPr>
          <p:nvPr/>
        </p:nvSpPr>
        <p:spPr bwMode="auto">
          <a:xfrm>
            <a:off x="251884" y="11158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18796" name="Object 12">
            <a:extLst>
              <a:ext uri="{FF2B5EF4-FFF2-40B4-BE49-F238E27FC236}">
                <a16:creationId xmlns:a16="http://schemas.microsoft.com/office/drawing/2014/main" id="{58F5FAEF-DF99-413E-8C3C-CE883CD1DDC6}"/>
              </a:ext>
            </a:extLst>
          </p:cNvPr>
          <p:cNvGraphicFramePr>
            <a:graphicFrameLocks noChangeAspect="1"/>
          </p:cNvGraphicFramePr>
          <p:nvPr>
            <p:extLst>
              <p:ext uri="{D42A27DB-BD31-4B8C-83A1-F6EECF244321}">
                <p14:modId xmlns:p14="http://schemas.microsoft.com/office/powerpoint/2010/main" val="1092377369"/>
              </p:ext>
            </p:extLst>
          </p:nvPr>
        </p:nvGraphicFramePr>
        <p:xfrm>
          <a:off x="1348413" y="1291212"/>
          <a:ext cx="6447174" cy="3894105"/>
        </p:xfrm>
        <a:graphic>
          <a:graphicData uri="http://schemas.openxmlformats.org/presentationml/2006/ole">
            <mc:AlternateContent xmlns:mc="http://schemas.openxmlformats.org/markup-compatibility/2006">
              <mc:Choice xmlns:v="urn:schemas-microsoft-com:vml" Requires="v">
                <p:oleObj spid="_x0000_s38937" name="图片" r:id="rId3" imgW="5191200" imgH="3133800" progId="Word.Picture.8">
                  <p:embed/>
                </p:oleObj>
              </mc:Choice>
              <mc:Fallback>
                <p:oleObj name="图片" r:id="rId3" imgW="5191200" imgH="3133800" progId="Word.Picture.8">
                  <p:embed/>
                  <p:pic>
                    <p:nvPicPr>
                      <p:cNvPr id="118796" name="Object 12">
                        <a:extLst>
                          <a:ext uri="{FF2B5EF4-FFF2-40B4-BE49-F238E27FC236}">
                            <a16:creationId xmlns:a16="http://schemas.microsoft.com/office/drawing/2014/main" id="{58F5FAEF-DF99-413E-8C3C-CE883CD1DD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8413" y="1291212"/>
                        <a:ext cx="6447174" cy="3894105"/>
                      </a:xfrm>
                      <a:prstGeom prst="rect">
                        <a:avLst/>
                      </a:prstGeom>
                      <a:solidFill>
                        <a:schemeClr val="bg1"/>
                      </a:solidFill>
                    </p:spPr>
                  </p:pic>
                </p:oleObj>
              </mc:Fallback>
            </mc:AlternateContent>
          </a:graphicData>
        </a:graphic>
      </p:graphicFrame>
      <p:sp>
        <p:nvSpPr>
          <p:cNvPr id="118798" name="Rectangle 14">
            <a:extLst>
              <a:ext uri="{FF2B5EF4-FFF2-40B4-BE49-F238E27FC236}">
                <a16:creationId xmlns:a16="http://schemas.microsoft.com/office/drawing/2014/main" id="{157C88DD-802A-464D-A44B-16680E29A39F}"/>
              </a:ext>
            </a:extLst>
          </p:cNvPr>
          <p:cNvSpPr>
            <a:spLocks noChangeArrowheads="1"/>
          </p:cNvSpPr>
          <p:nvPr/>
        </p:nvSpPr>
        <p:spPr bwMode="auto">
          <a:xfrm>
            <a:off x="3234134" y="5293424"/>
            <a:ext cx="26757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000" dirty="0">
                <a:latin typeface="微软雅黑" panose="020B0503020204020204" pitchFamily="34" charset="-122"/>
                <a:ea typeface="微软雅黑" panose="020B0503020204020204" pitchFamily="34" charset="-122"/>
              </a:rPr>
              <a:t>1:1</a:t>
            </a:r>
            <a:r>
              <a:rPr lang="zh-CN" altLang="en-US" sz="2000" dirty="0">
                <a:latin typeface="微软雅黑" panose="020B0503020204020204" pitchFamily="34" charset="-122"/>
                <a:ea typeface="微软雅黑" panose="020B0503020204020204" pitchFamily="34" charset="-122"/>
              </a:rPr>
              <a:t>传输线变压器应用 </a:t>
            </a:r>
          </a:p>
        </p:txBody>
      </p:sp>
      <p:sp>
        <p:nvSpPr>
          <p:cNvPr id="16" name="矩形 15">
            <a:extLst>
              <a:ext uri="{FF2B5EF4-FFF2-40B4-BE49-F238E27FC236}">
                <a16:creationId xmlns:a16="http://schemas.microsoft.com/office/drawing/2014/main" id="{A6D24B77-936B-4A5F-A300-50C80E6402C6}"/>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19" name="Rectangle 3">
            <a:extLst>
              <a:ext uri="{FF2B5EF4-FFF2-40B4-BE49-F238E27FC236}">
                <a16:creationId xmlns:a16="http://schemas.microsoft.com/office/drawing/2014/main" id="{0FAD7E51-94BA-439D-86C1-9AB441D1A07C}"/>
              </a:ext>
            </a:extLst>
          </p:cNvPr>
          <p:cNvSpPr txBox="1">
            <a:spLocks noChangeArrowheads="1"/>
          </p:cNvSpPr>
          <p:nvPr/>
        </p:nvSpPr>
        <p:spPr bwMode="auto">
          <a:xfrm>
            <a:off x="763398" y="786641"/>
            <a:ext cx="4528682"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传输线变压器耦合功率放大器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5">
            <a:extLst>
              <a:ext uri="{FF2B5EF4-FFF2-40B4-BE49-F238E27FC236}">
                <a16:creationId xmlns:a16="http://schemas.microsoft.com/office/drawing/2014/main" id="{3780F76D-7BA9-41D8-9C3E-821C29429EA2}"/>
              </a:ext>
            </a:extLst>
          </p:cNvPr>
          <p:cNvSpPr>
            <a:spLocks noGrp="1"/>
          </p:cNvSpPr>
          <p:nvPr>
            <p:ph type="sldNum" sz="quarter" idx="12"/>
          </p:nvPr>
        </p:nvSpPr>
        <p:spPr/>
        <p:txBody>
          <a:bodyPr/>
          <a:lstStyle/>
          <a:p>
            <a:fld id="{D207FAFC-6CDD-453A-856C-BC8CB8CC3391}" type="slidenum">
              <a:rPr lang="en-US" altLang="ko-KR"/>
              <a:pPr/>
              <a:t>45</a:t>
            </a:fld>
            <a:endParaRPr lang="en-US" altLang="ko-KR"/>
          </a:p>
        </p:txBody>
      </p:sp>
      <p:sp>
        <p:nvSpPr>
          <p:cNvPr id="119811" name="Rectangle 3">
            <a:extLst>
              <a:ext uri="{FF2B5EF4-FFF2-40B4-BE49-F238E27FC236}">
                <a16:creationId xmlns:a16="http://schemas.microsoft.com/office/drawing/2014/main" id="{D88723B2-23B3-4C13-8461-A798105F23D4}"/>
              </a:ext>
            </a:extLst>
          </p:cNvPr>
          <p:cNvSpPr>
            <a:spLocks noGrp="1" noChangeArrowheads="1"/>
          </p:cNvSpPr>
          <p:nvPr>
            <p:ph type="body" idx="1"/>
          </p:nvPr>
        </p:nvSpPr>
        <p:spPr>
          <a:xfrm>
            <a:off x="1259632" y="1518793"/>
            <a:ext cx="2149412" cy="513174"/>
          </a:xfrm>
        </p:spPr>
        <p:txBody>
          <a:bodyPr/>
          <a:lstStyle/>
          <a:p>
            <a:pPr marL="0" indent="0">
              <a:buNone/>
            </a:pPr>
            <a:r>
              <a:rPr lang="en-US" altLang="zh-CN" sz="2000" dirty="0">
                <a:latin typeface="微软雅黑" panose="020B0503020204020204" pitchFamily="34" charset="-122"/>
                <a:ea typeface="微软雅黑" panose="020B0503020204020204" pitchFamily="34" charset="-122"/>
              </a:rPr>
              <a:t>1:4</a:t>
            </a:r>
            <a:r>
              <a:rPr lang="zh-CN" altLang="en-US" sz="2000" dirty="0">
                <a:latin typeface="微软雅黑" panose="020B0503020204020204" pitchFamily="34" charset="-122"/>
                <a:ea typeface="微软雅黑" panose="020B0503020204020204" pitchFamily="34" charset="-122"/>
              </a:rPr>
              <a:t>传输线变压器 </a:t>
            </a:r>
          </a:p>
        </p:txBody>
      </p:sp>
      <p:graphicFrame>
        <p:nvGraphicFramePr>
          <p:cNvPr id="119820" name="Object 12">
            <a:extLst>
              <a:ext uri="{FF2B5EF4-FFF2-40B4-BE49-F238E27FC236}">
                <a16:creationId xmlns:a16="http://schemas.microsoft.com/office/drawing/2014/main" id="{7EB0BC05-BF86-4DEB-8EC3-D156E8CFD455}"/>
              </a:ext>
            </a:extLst>
          </p:cNvPr>
          <p:cNvGraphicFramePr>
            <a:graphicFrameLocks noChangeAspect="1"/>
          </p:cNvGraphicFramePr>
          <p:nvPr>
            <p:extLst>
              <p:ext uri="{D42A27DB-BD31-4B8C-83A1-F6EECF244321}">
                <p14:modId xmlns:p14="http://schemas.microsoft.com/office/powerpoint/2010/main" val="2624343524"/>
              </p:ext>
            </p:extLst>
          </p:nvPr>
        </p:nvGraphicFramePr>
        <p:xfrm>
          <a:off x="2564946" y="2203299"/>
          <a:ext cx="4014108" cy="1900551"/>
        </p:xfrm>
        <a:graphic>
          <a:graphicData uri="http://schemas.openxmlformats.org/presentationml/2006/ole">
            <mc:AlternateContent xmlns:mc="http://schemas.openxmlformats.org/markup-compatibility/2006">
              <mc:Choice xmlns:v="urn:schemas-microsoft-com:vml" Requires="v">
                <p:oleObj spid="_x0000_s39981" name="图片" r:id="rId3" imgW="2287892" imgH="1056841" progId="Word.Picture.8">
                  <p:embed/>
                </p:oleObj>
              </mc:Choice>
              <mc:Fallback>
                <p:oleObj name="图片" r:id="rId3" imgW="2287892" imgH="1056841" progId="Word.Picture.8">
                  <p:embed/>
                  <p:pic>
                    <p:nvPicPr>
                      <p:cNvPr id="119820" name="Object 12">
                        <a:extLst>
                          <a:ext uri="{FF2B5EF4-FFF2-40B4-BE49-F238E27FC236}">
                            <a16:creationId xmlns:a16="http://schemas.microsoft.com/office/drawing/2014/main" id="{7EB0BC05-BF86-4DEB-8EC3-D156E8CFD4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989" t="9879" r="9126"/>
                      <a:stretch>
                        <a:fillRect/>
                      </a:stretch>
                    </p:blipFill>
                    <p:spPr bwMode="auto">
                      <a:xfrm>
                        <a:off x="2564946" y="2203299"/>
                        <a:ext cx="4014108" cy="1900551"/>
                      </a:xfrm>
                      <a:prstGeom prst="rect">
                        <a:avLst/>
                      </a:prstGeom>
                      <a:solidFill>
                        <a:schemeClr val="bg1"/>
                      </a:solidFill>
                    </p:spPr>
                  </p:pic>
                </p:oleObj>
              </mc:Fallback>
            </mc:AlternateContent>
          </a:graphicData>
        </a:graphic>
      </p:graphicFrame>
      <p:sp>
        <p:nvSpPr>
          <p:cNvPr id="119822" name="Rectangle 14">
            <a:extLst>
              <a:ext uri="{FF2B5EF4-FFF2-40B4-BE49-F238E27FC236}">
                <a16:creationId xmlns:a16="http://schemas.microsoft.com/office/drawing/2014/main" id="{17C1FF57-C8E3-47FC-BD9E-6C64EDA9417B}"/>
              </a:ext>
            </a:extLst>
          </p:cNvPr>
          <p:cNvSpPr>
            <a:spLocks noChangeArrowheads="1"/>
          </p:cNvSpPr>
          <p:nvPr/>
        </p:nvSpPr>
        <p:spPr bwMode="auto">
          <a:xfrm>
            <a:off x="1055783" y="4576661"/>
            <a:ext cx="2824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微软雅黑" panose="020B0503020204020204" pitchFamily="34" charset="-122"/>
                <a:ea typeface="微软雅黑" panose="020B0503020204020204" pitchFamily="34" charset="-122"/>
              </a:rPr>
              <a:t>信号端呈现的输入阻抗 </a:t>
            </a:r>
          </a:p>
        </p:txBody>
      </p:sp>
      <mc:AlternateContent xmlns:mc="http://schemas.openxmlformats.org/markup-compatibility/2006" xmlns:a14="http://schemas.microsoft.com/office/drawing/2010/main">
        <mc:Choice Requires="a14">
          <p:sp>
            <p:nvSpPr>
              <p:cNvPr id="119823" name="Object 15">
                <a:extLst>
                  <a:ext uri="{FF2B5EF4-FFF2-40B4-BE49-F238E27FC236}">
                    <a16:creationId xmlns:a16="http://schemas.microsoft.com/office/drawing/2014/main" id="{3E8AE6A7-CC89-42A0-BCB2-3C64E7722D03}"/>
                  </a:ext>
                </a:extLst>
              </p:cNvPr>
              <p:cNvSpPr txBox="1"/>
              <p:nvPr/>
            </p:nvSpPr>
            <p:spPr bwMode="auto">
              <a:xfrm>
                <a:off x="3796180" y="4394778"/>
                <a:ext cx="2934453" cy="607516"/>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𝑅</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𝑣</m:t>
                          </m:r>
                        </m:num>
                        <m:den>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𝑖</m:t>
                          </m:r>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1</m:t>
                          </m:r>
                        </m:num>
                        <m:den>
                          <m:r>
                            <a:rPr lang="zh-CN" altLang="en-US" sz="2000" i="1">
                              <a:solidFill>
                                <a:srgbClr val="000000"/>
                              </a:solidFill>
                              <a:latin typeface="Cambria Math" panose="02040503050406030204" pitchFamily="18" charset="0"/>
                            </a:rPr>
                            <m:t>4</m:t>
                          </m:r>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𝑣</m:t>
                          </m:r>
                        </m:num>
                        <m:den>
                          <m:r>
                            <a:rPr lang="zh-CN" altLang="en-US" sz="2000" i="1">
                              <a:solidFill>
                                <a:srgbClr val="000000"/>
                              </a:solidFill>
                              <a:latin typeface="Cambria Math" panose="02040503050406030204" pitchFamily="18" charset="0"/>
                            </a:rPr>
                            <m:t>𝑖</m:t>
                          </m:r>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1</m:t>
                          </m:r>
                        </m:num>
                        <m:den>
                          <m:r>
                            <a:rPr lang="zh-CN" altLang="en-US" sz="2000" i="1">
                              <a:solidFill>
                                <a:srgbClr val="000000"/>
                              </a:solidFill>
                              <a:latin typeface="Cambria Math" panose="02040503050406030204" pitchFamily="18" charset="0"/>
                            </a:rPr>
                            <m:t>4</m:t>
                          </m:r>
                        </m:den>
                      </m:f>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𝑅</m:t>
                          </m:r>
                        </m:e>
                        <m:sub>
                          <m:r>
                            <m:rPr>
                              <m:sty m:val="p"/>
                            </m:rPr>
                            <a:rPr lang="zh-CN" altLang="en-US" sz="2000" i="0">
                              <a:solidFill>
                                <a:srgbClr val="000000"/>
                              </a:solidFill>
                              <a:latin typeface="Cambria Math" panose="02040503050406030204" pitchFamily="18" charset="0"/>
                            </a:rPr>
                            <m:t>L</m:t>
                          </m:r>
                        </m:sub>
                      </m:sSub>
                    </m:oMath>
                  </m:oMathPara>
                </a14:m>
                <a:endParaRPr lang="zh-CN" altLang="en-US" sz="2000" dirty="0"/>
              </a:p>
            </p:txBody>
          </p:sp>
        </mc:Choice>
        <mc:Fallback xmlns="">
          <p:sp>
            <p:nvSpPr>
              <p:cNvPr id="119823" name="Object 15">
                <a:extLst>
                  <a:ext uri="{FF2B5EF4-FFF2-40B4-BE49-F238E27FC236}">
                    <a16:creationId xmlns:a16="http://schemas.microsoft.com/office/drawing/2014/main" id="{3E8AE6A7-CC89-42A0-BCB2-3C64E7722D03}"/>
                  </a:ext>
                </a:extLst>
              </p:cNvPr>
              <p:cNvSpPr txBox="1">
                <a:spLocks noRot="1" noChangeAspect="1" noMove="1" noResize="1" noEditPoints="1" noAdjustHandles="1" noChangeArrowheads="1" noChangeShapeType="1" noTextEdit="1"/>
              </p:cNvSpPr>
              <p:nvPr/>
            </p:nvSpPr>
            <p:spPr bwMode="auto">
              <a:xfrm>
                <a:off x="3796180" y="4394778"/>
                <a:ext cx="2934453" cy="607516"/>
              </a:xfrm>
              <a:prstGeom prst="rect">
                <a:avLst/>
              </a:prstGeom>
              <a:blipFill>
                <a:blip r:embed="rId5"/>
                <a:stretch>
                  <a:fillRect b="-2000"/>
                </a:stretch>
              </a:blipFill>
              <a:extLst/>
            </p:spPr>
            <p:txBody>
              <a:bodyPr/>
              <a:lstStyle/>
              <a:p>
                <a:r>
                  <a:rPr lang="zh-CN" altLang="en-US">
                    <a:noFill/>
                  </a:rPr>
                  <a:t> </a:t>
                </a:r>
              </a:p>
            </p:txBody>
          </p:sp>
        </mc:Fallback>
      </mc:AlternateContent>
      <p:sp>
        <p:nvSpPr>
          <p:cNvPr id="119825" name="Rectangle 17">
            <a:extLst>
              <a:ext uri="{FF2B5EF4-FFF2-40B4-BE49-F238E27FC236}">
                <a16:creationId xmlns:a16="http://schemas.microsoft.com/office/drawing/2014/main" id="{4B09F271-9EC8-406E-BDD2-20EA2189F915}"/>
              </a:ext>
            </a:extLst>
          </p:cNvPr>
          <p:cNvSpPr>
            <a:spLocks noChangeArrowheads="1"/>
          </p:cNvSpPr>
          <p:nvPr/>
        </p:nvSpPr>
        <p:spPr bwMode="auto">
          <a:xfrm>
            <a:off x="1178412" y="5449582"/>
            <a:ext cx="23118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微软雅黑" panose="020B0503020204020204" pitchFamily="34" charset="-122"/>
                <a:ea typeface="微软雅黑" panose="020B0503020204020204" pitchFamily="34" charset="-122"/>
              </a:rPr>
              <a:t>传输线的特性阻抗 </a:t>
            </a:r>
          </a:p>
        </p:txBody>
      </p:sp>
      <mc:AlternateContent xmlns:mc="http://schemas.openxmlformats.org/markup-compatibility/2006" xmlns:a14="http://schemas.microsoft.com/office/drawing/2010/main">
        <mc:Choice Requires="a14">
          <p:sp>
            <p:nvSpPr>
              <p:cNvPr id="119826" name="Object 18">
                <a:extLst>
                  <a:ext uri="{FF2B5EF4-FFF2-40B4-BE49-F238E27FC236}">
                    <a16:creationId xmlns:a16="http://schemas.microsoft.com/office/drawing/2014/main" id="{7F34D64B-8C2C-451E-A20C-246B0257D554}"/>
                  </a:ext>
                </a:extLst>
              </p:cNvPr>
              <p:cNvSpPr txBox="1"/>
              <p:nvPr/>
            </p:nvSpPr>
            <p:spPr bwMode="auto">
              <a:xfrm>
                <a:off x="3880731" y="5314029"/>
                <a:ext cx="2698459" cy="693019"/>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𝑍</m:t>
                          </m:r>
                        </m:e>
                        <m:sub>
                          <m:r>
                            <m:rPr>
                              <m:sty m:val="p"/>
                            </m:rPr>
                            <a:rPr lang="zh-CN" altLang="en-US" sz="2000" i="0">
                              <a:solidFill>
                                <a:srgbClr val="000000"/>
                              </a:solidFill>
                              <a:latin typeface="Cambria Math" panose="02040503050406030204" pitchFamily="18" charset="0"/>
                            </a:rPr>
                            <m:t>C</m:t>
                          </m:r>
                        </m:sub>
                      </m:sSub>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𝑣</m:t>
                          </m:r>
                        </m:num>
                        <m:den>
                          <m:r>
                            <a:rPr lang="zh-CN" altLang="en-US" sz="2000" i="1">
                              <a:solidFill>
                                <a:srgbClr val="000000"/>
                              </a:solidFill>
                              <a:latin typeface="Cambria Math" panose="02040503050406030204" pitchFamily="18" charset="0"/>
                            </a:rPr>
                            <m:t>𝑖</m:t>
                          </m:r>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1</m:t>
                          </m:r>
                        </m:num>
                        <m:den>
                          <m:r>
                            <a:rPr lang="zh-CN" altLang="en-US" sz="2000" i="1">
                              <a:solidFill>
                                <a:srgbClr val="000000"/>
                              </a:solidFill>
                              <a:latin typeface="Cambria Math" panose="02040503050406030204" pitchFamily="18" charset="0"/>
                            </a:rPr>
                            <m:t>2</m:t>
                          </m:r>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𝑣</m:t>
                          </m:r>
                        </m:num>
                        <m:den>
                          <m:r>
                            <a:rPr lang="zh-CN" altLang="en-US" sz="2000" i="1">
                              <a:solidFill>
                                <a:srgbClr val="000000"/>
                              </a:solidFill>
                              <a:latin typeface="Cambria Math" panose="02040503050406030204" pitchFamily="18" charset="0"/>
                            </a:rPr>
                            <m:t>𝑖</m:t>
                          </m:r>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1</m:t>
                          </m:r>
                        </m:num>
                        <m:den>
                          <m:r>
                            <a:rPr lang="zh-CN" altLang="en-US" sz="2000" i="1">
                              <a:solidFill>
                                <a:srgbClr val="000000"/>
                              </a:solidFill>
                              <a:latin typeface="Cambria Math" panose="02040503050406030204" pitchFamily="18" charset="0"/>
                            </a:rPr>
                            <m:t>2</m:t>
                          </m:r>
                        </m:den>
                      </m:f>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𝑅</m:t>
                          </m:r>
                        </m:e>
                        <m:sub>
                          <m:r>
                            <m:rPr>
                              <m:sty m:val="p"/>
                            </m:rPr>
                            <a:rPr lang="zh-CN" altLang="en-US" sz="2000" i="0">
                              <a:solidFill>
                                <a:srgbClr val="000000"/>
                              </a:solidFill>
                              <a:latin typeface="Cambria Math" panose="02040503050406030204" pitchFamily="18" charset="0"/>
                            </a:rPr>
                            <m:t>L</m:t>
                          </m:r>
                        </m:sub>
                      </m:sSub>
                    </m:oMath>
                  </m:oMathPara>
                </a14:m>
                <a:endParaRPr lang="zh-CN" altLang="en-US" sz="2000" dirty="0"/>
              </a:p>
            </p:txBody>
          </p:sp>
        </mc:Choice>
        <mc:Fallback xmlns="">
          <p:sp>
            <p:nvSpPr>
              <p:cNvPr id="119826" name="Object 18">
                <a:extLst>
                  <a:ext uri="{FF2B5EF4-FFF2-40B4-BE49-F238E27FC236}">
                    <a16:creationId xmlns:a16="http://schemas.microsoft.com/office/drawing/2014/main" id="{7F34D64B-8C2C-451E-A20C-246B0257D554}"/>
                  </a:ext>
                </a:extLst>
              </p:cNvPr>
              <p:cNvSpPr txBox="1">
                <a:spLocks noRot="1" noChangeAspect="1" noMove="1" noResize="1" noEditPoints="1" noAdjustHandles="1" noChangeArrowheads="1" noChangeShapeType="1" noTextEdit="1"/>
              </p:cNvSpPr>
              <p:nvPr/>
            </p:nvSpPr>
            <p:spPr bwMode="auto">
              <a:xfrm>
                <a:off x="3880731" y="5314029"/>
                <a:ext cx="2698459" cy="693019"/>
              </a:xfrm>
              <a:prstGeom prst="rect">
                <a:avLst/>
              </a:prstGeom>
              <a:blipFill>
                <a:blip r:embed="rId6"/>
                <a:stretch>
                  <a:fillRect/>
                </a:stretch>
              </a:blipFill>
              <a:extLst/>
            </p:spPr>
            <p:txBody>
              <a:bodyPr/>
              <a:lstStyle/>
              <a:p>
                <a:r>
                  <a:rPr lang="zh-CN" altLang="en-US">
                    <a:noFill/>
                  </a:rPr>
                  <a:t> </a:t>
                </a:r>
              </a:p>
            </p:txBody>
          </p:sp>
        </mc:Fallback>
      </mc:AlternateContent>
      <p:sp>
        <p:nvSpPr>
          <p:cNvPr id="21" name="矩形 20">
            <a:extLst>
              <a:ext uri="{FF2B5EF4-FFF2-40B4-BE49-F238E27FC236}">
                <a16:creationId xmlns:a16="http://schemas.microsoft.com/office/drawing/2014/main" id="{7ECC5041-A497-4C0F-BFE7-33C1043619A3}"/>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24" name="Rectangle 3">
            <a:extLst>
              <a:ext uri="{FF2B5EF4-FFF2-40B4-BE49-F238E27FC236}">
                <a16:creationId xmlns:a16="http://schemas.microsoft.com/office/drawing/2014/main" id="{2C33EE20-CB96-49FE-A779-B550CAA74331}"/>
              </a:ext>
            </a:extLst>
          </p:cNvPr>
          <p:cNvSpPr txBox="1">
            <a:spLocks noChangeArrowheads="1"/>
          </p:cNvSpPr>
          <p:nvPr/>
        </p:nvSpPr>
        <p:spPr bwMode="auto">
          <a:xfrm>
            <a:off x="763398" y="786641"/>
            <a:ext cx="4528682"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传输线变压器耦合功率放大器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a:extLst>
              <a:ext uri="{FF2B5EF4-FFF2-40B4-BE49-F238E27FC236}">
                <a16:creationId xmlns:a16="http://schemas.microsoft.com/office/drawing/2014/main" id="{616696C3-3AB2-4F01-BF88-6D014D342951}"/>
              </a:ext>
            </a:extLst>
          </p:cNvPr>
          <p:cNvSpPr>
            <a:spLocks noGrp="1"/>
          </p:cNvSpPr>
          <p:nvPr>
            <p:ph type="sldNum" sz="quarter" idx="12"/>
          </p:nvPr>
        </p:nvSpPr>
        <p:spPr/>
        <p:txBody>
          <a:bodyPr/>
          <a:lstStyle/>
          <a:p>
            <a:fld id="{815F1F01-987A-4FFC-9DD8-2CCFB99D7CF6}" type="slidenum">
              <a:rPr lang="en-US" altLang="ko-KR"/>
              <a:pPr/>
              <a:t>46</a:t>
            </a:fld>
            <a:endParaRPr lang="en-US" altLang="ko-KR"/>
          </a:p>
        </p:txBody>
      </p:sp>
      <p:graphicFrame>
        <p:nvGraphicFramePr>
          <p:cNvPr id="120844" name="Object 12">
            <a:extLst>
              <a:ext uri="{FF2B5EF4-FFF2-40B4-BE49-F238E27FC236}">
                <a16:creationId xmlns:a16="http://schemas.microsoft.com/office/drawing/2014/main" id="{0662A2BE-7762-474C-9452-18047BB01EAE}"/>
              </a:ext>
            </a:extLst>
          </p:cNvPr>
          <p:cNvGraphicFramePr>
            <a:graphicFrameLocks noChangeAspect="1"/>
          </p:cNvGraphicFramePr>
          <p:nvPr>
            <p:extLst>
              <p:ext uri="{D42A27DB-BD31-4B8C-83A1-F6EECF244321}">
                <p14:modId xmlns:p14="http://schemas.microsoft.com/office/powerpoint/2010/main" val="2478354284"/>
              </p:ext>
            </p:extLst>
          </p:nvPr>
        </p:nvGraphicFramePr>
        <p:xfrm>
          <a:off x="1441414" y="1991731"/>
          <a:ext cx="6261169" cy="2493067"/>
        </p:xfrm>
        <a:graphic>
          <a:graphicData uri="http://schemas.openxmlformats.org/presentationml/2006/ole">
            <mc:AlternateContent xmlns:mc="http://schemas.openxmlformats.org/markup-compatibility/2006">
              <mc:Choice xmlns:v="urn:schemas-microsoft-com:vml" Requires="v">
                <p:oleObj spid="_x0000_s40985" name="图片" r:id="rId3" imgW="4137592" imgH="1656893" progId="Word.Picture.8">
                  <p:embed/>
                </p:oleObj>
              </mc:Choice>
              <mc:Fallback>
                <p:oleObj name="图片" r:id="rId3" imgW="4137592" imgH="1656893" progId="Word.Picture.8">
                  <p:embed/>
                  <p:pic>
                    <p:nvPicPr>
                      <p:cNvPr id="120844" name="Object 12">
                        <a:extLst>
                          <a:ext uri="{FF2B5EF4-FFF2-40B4-BE49-F238E27FC236}">
                            <a16:creationId xmlns:a16="http://schemas.microsoft.com/office/drawing/2014/main" id="{0662A2BE-7762-474C-9452-18047BB01E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479" t="4562" r="2524"/>
                      <a:stretch>
                        <a:fillRect/>
                      </a:stretch>
                    </p:blipFill>
                    <p:spPr bwMode="auto">
                      <a:xfrm>
                        <a:off x="1441414" y="1991731"/>
                        <a:ext cx="6261169" cy="2493067"/>
                      </a:xfrm>
                      <a:prstGeom prst="rect">
                        <a:avLst/>
                      </a:prstGeom>
                      <a:solidFill>
                        <a:schemeClr val="bg1"/>
                      </a:solidFill>
                    </p:spPr>
                  </p:pic>
                </p:oleObj>
              </mc:Fallback>
            </mc:AlternateContent>
          </a:graphicData>
        </a:graphic>
      </p:graphicFrame>
      <p:sp>
        <p:nvSpPr>
          <p:cNvPr id="120846" name="Rectangle 14">
            <a:extLst>
              <a:ext uri="{FF2B5EF4-FFF2-40B4-BE49-F238E27FC236}">
                <a16:creationId xmlns:a16="http://schemas.microsoft.com/office/drawing/2014/main" id="{6BCC217A-D6C2-411C-B5D2-31DA24AD9E51}"/>
              </a:ext>
            </a:extLst>
          </p:cNvPr>
          <p:cNvSpPr>
            <a:spLocks noChangeArrowheads="1"/>
          </p:cNvSpPr>
          <p:nvPr/>
        </p:nvSpPr>
        <p:spPr bwMode="auto">
          <a:xfrm>
            <a:off x="1204408" y="4558479"/>
            <a:ext cx="673518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为晶体管</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的集电极电压，很显然在输入开关信号激励下，两管集电极电压为方波，且电压反相。两管集电极电流为正弦半波，各电流的方向如箭头所指。 </a:t>
            </a:r>
          </a:p>
        </p:txBody>
      </p:sp>
      <p:sp>
        <p:nvSpPr>
          <p:cNvPr id="16" name="矩形 15">
            <a:extLst>
              <a:ext uri="{FF2B5EF4-FFF2-40B4-BE49-F238E27FC236}">
                <a16:creationId xmlns:a16="http://schemas.microsoft.com/office/drawing/2014/main" id="{362F7A72-739F-40CF-B8AD-B00691EA2FCE}"/>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19" name="Rectangle 3">
            <a:extLst>
              <a:ext uri="{FF2B5EF4-FFF2-40B4-BE49-F238E27FC236}">
                <a16:creationId xmlns:a16="http://schemas.microsoft.com/office/drawing/2014/main" id="{483BCD00-19B7-42F1-BF27-F1DFA147A13B}"/>
              </a:ext>
            </a:extLst>
          </p:cNvPr>
          <p:cNvSpPr txBox="1">
            <a:spLocks noChangeArrowheads="1"/>
          </p:cNvSpPr>
          <p:nvPr/>
        </p:nvSpPr>
        <p:spPr bwMode="auto">
          <a:xfrm>
            <a:off x="1259632" y="1518793"/>
            <a:ext cx="2149412" cy="51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en-US" altLang="zh-CN" sz="2000">
                <a:latin typeface="微软雅黑" panose="020B0503020204020204" pitchFamily="34" charset="-122"/>
                <a:ea typeface="微软雅黑" panose="020B0503020204020204" pitchFamily="34" charset="-122"/>
              </a:rPr>
              <a:t>1:4</a:t>
            </a:r>
            <a:r>
              <a:rPr lang="zh-CN" altLang="en-US" sz="2000">
                <a:latin typeface="微软雅黑" panose="020B0503020204020204" pitchFamily="34" charset="-122"/>
                <a:ea typeface="微软雅黑" panose="020B0503020204020204" pitchFamily="34" charset="-122"/>
              </a:rPr>
              <a:t>传输线变压器 </a:t>
            </a:r>
            <a:endParaRPr lang="zh-CN" altLang="en-US" sz="2000" dirty="0">
              <a:latin typeface="微软雅黑" panose="020B0503020204020204" pitchFamily="34" charset="-122"/>
              <a:ea typeface="微软雅黑" panose="020B0503020204020204" pitchFamily="34" charset="-122"/>
            </a:endParaRPr>
          </a:p>
        </p:txBody>
      </p:sp>
      <p:sp>
        <p:nvSpPr>
          <p:cNvPr id="20" name="Rectangle 3">
            <a:extLst>
              <a:ext uri="{FF2B5EF4-FFF2-40B4-BE49-F238E27FC236}">
                <a16:creationId xmlns:a16="http://schemas.microsoft.com/office/drawing/2014/main" id="{5F2650CB-4707-440D-A9AA-10FD61BF1B9B}"/>
              </a:ext>
            </a:extLst>
          </p:cNvPr>
          <p:cNvSpPr txBox="1">
            <a:spLocks noChangeArrowheads="1"/>
          </p:cNvSpPr>
          <p:nvPr/>
        </p:nvSpPr>
        <p:spPr bwMode="auto">
          <a:xfrm>
            <a:off x="763398" y="786641"/>
            <a:ext cx="4528682"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传输线变压器耦合功率放大器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a:extLst>
              <a:ext uri="{FF2B5EF4-FFF2-40B4-BE49-F238E27FC236}">
                <a16:creationId xmlns:a16="http://schemas.microsoft.com/office/drawing/2014/main" id="{398B1115-AB21-4693-A0FE-A11995B7DDD3}"/>
              </a:ext>
            </a:extLst>
          </p:cNvPr>
          <p:cNvSpPr>
            <a:spLocks noGrp="1"/>
          </p:cNvSpPr>
          <p:nvPr>
            <p:ph type="sldNum" sz="quarter" idx="12"/>
          </p:nvPr>
        </p:nvSpPr>
        <p:spPr/>
        <p:txBody>
          <a:bodyPr/>
          <a:lstStyle/>
          <a:p>
            <a:fld id="{DE676AEC-559B-4D05-98DF-12C71E7B92C7}" type="slidenum">
              <a:rPr lang="en-US" altLang="ko-KR"/>
              <a:pPr/>
              <a:t>47</a:t>
            </a:fld>
            <a:endParaRPr lang="en-US" altLang="ko-KR"/>
          </a:p>
        </p:txBody>
      </p:sp>
      <p:sp>
        <p:nvSpPr>
          <p:cNvPr id="121859" name="Rectangle 3">
            <a:extLst>
              <a:ext uri="{FF2B5EF4-FFF2-40B4-BE49-F238E27FC236}">
                <a16:creationId xmlns:a16="http://schemas.microsoft.com/office/drawing/2014/main" id="{F427F09E-A938-41C8-9721-C5AF99D2C1ED}"/>
              </a:ext>
            </a:extLst>
          </p:cNvPr>
          <p:cNvSpPr>
            <a:spLocks noGrp="1" noChangeArrowheads="1"/>
          </p:cNvSpPr>
          <p:nvPr>
            <p:ph type="body" idx="1"/>
          </p:nvPr>
        </p:nvSpPr>
        <p:spPr>
          <a:xfrm>
            <a:off x="899901" y="672016"/>
            <a:ext cx="7344198" cy="2403077"/>
          </a:xfrm>
        </p:spPr>
        <p:txBody>
          <a:body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类功率放大器 </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单管工作于开关状态，谐波成分主要为二次谐波。它选取适当的负载网络参数，以使它的瞬态响应最佳。</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当开关导通（或断开）的瞬间，只有当器件的电压（或电流）将为零后，才能导通（或断开）。</a:t>
            </a:r>
          </a:p>
        </p:txBody>
      </p:sp>
      <p:sp>
        <p:nvSpPr>
          <p:cNvPr id="13" name="矩形 12">
            <a:extLst>
              <a:ext uri="{FF2B5EF4-FFF2-40B4-BE49-F238E27FC236}">
                <a16:creationId xmlns:a16="http://schemas.microsoft.com/office/drawing/2014/main" id="{7339AD91-1E5E-43D6-9328-C88E1793C8FB}"/>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graphicFrame>
        <p:nvGraphicFramePr>
          <p:cNvPr id="16" name="Object 12">
            <a:extLst>
              <a:ext uri="{FF2B5EF4-FFF2-40B4-BE49-F238E27FC236}">
                <a16:creationId xmlns:a16="http://schemas.microsoft.com/office/drawing/2014/main" id="{07681DBD-FCD8-4860-B0F9-869F2D0EB3BF}"/>
              </a:ext>
            </a:extLst>
          </p:cNvPr>
          <p:cNvGraphicFramePr>
            <a:graphicFrameLocks noChangeAspect="1"/>
          </p:cNvGraphicFramePr>
          <p:nvPr>
            <p:extLst>
              <p:ext uri="{D42A27DB-BD31-4B8C-83A1-F6EECF244321}">
                <p14:modId xmlns:p14="http://schemas.microsoft.com/office/powerpoint/2010/main" val="2906524149"/>
              </p:ext>
            </p:extLst>
          </p:nvPr>
        </p:nvGraphicFramePr>
        <p:xfrm>
          <a:off x="2701925" y="2970814"/>
          <a:ext cx="3740150" cy="2751137"/>
        </p:xfrm>
        <a:graphic>
          <a:graphicData uri="http://schemas.openxmlformats.org/presentationml/2006/ole">
            <mc:AlternateContent xmlns:mc="http://schemas.openxmlformats.org/markup-compatibility/2006">
              <mc:Choice xmlns:v="urn:schemas-microsoft-com:vml" Requires="v">
                <p:oleObj spid="_x0000_s51207" name="Picture" r:id="rId3" imgW="2371680" imgH="1743120" progId="Word.Picture.8">
                  <p:embed/>
                </p:oleObj>
              </mc:Choice>
              <mc:Fallback>
                <p:oleObj name="Picture" r:id="rId3" imgW="2371680" imgH="1743120" progId="Word.Picture.8">
                  <p:embed/>
                  <p:pic>
                    <p:nvPicPr>
                      <p:cNvPr id="122892" name="Object 12">
                        <a:extLst>
                          <a:ext uri="{FF2B5EF4-FFF2-40B4-BE49-F238E27FC236}">
                            <a16:creationId xmlns:a16="http://schemas.microsoft.com/office/drawing/2014/main" id="{DB91FA0B-C79B-459F-BF02-30DBD1F73273}"/>
                          </a:ext>
                        </a:extLst>
                      </p:cNvPr>
                      <p:cNvPicPr>
                        <a:picLocks noChangeAspect="1" noChangeArrowheads="1"/>
                      </p:cNvPicPr>
                      <p:nvPr/>
                    </p:nvPicPr>
                    <p:blipFill>
                      <a:blip r:embed="rId4"/>
                      <a:srcRect/>
                      <a:stretch>
                        <a:fillRect/>
                      </a:stretch>
                    </p:blipFill>
                    <p:spPr bwMode="auto">
                      <a:xfrm>
                        <a:off x="2701925" y="2970814"/>
                        <a:ext cx="3740150" cy="2751137"/>
                      </a:xfrm>
                      <a:prstGeom prst="rect">
                        <a:avLst/>
                      </a:prstGeom>
                      <a:solidFill>
                        <a:schemeClr val="bg1"/>
                      </a:solidFill>
                    </p:spPr>
                  </p:pic>
                </p:oleObj>
              </mc:Fallback>
            </mc:AlternateContent>
          </a:graphicData>
        </a:graphic>
      </p:graphicFrame>
      <p:sp>
        <p:nvSpPr>
          <p:cNvPr id="18" name="Rectangle 14">
            <a:extLst>
              <a:ext uri="{FF2B5EF4-FFF2-40B4-BE49-F238E27FC236}">
                <a16:creationId xmlns:a16="http://schemas.microsoft.com/office/drawing/2014/main" id="{AF9C7FD5-C577-4FC1-AFCC-015C47FFD721}"/>
              </a:ext>
            </a:extLst>
          </p:cNvPr>
          <p:cNvSpPr>
            <a:spLocks noChangeArrowheads="1"/>
          </p:cNvSpPr>
          <p:nvPr/>
        </p:nvSpPr>
        <p:spPr bwMode="auto">
          <a:xfrm>
            <a:off x="3226118" y="5900738"/>
            <a:ext cx="26917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微软雅黑" panose="020B0503020204020204" pitchFamily="34" charset="-122"/>
                <a:ea typeface="微软雅黑" panose="020B0503020204020204" pitchFamily="34" charset="-122"/>
              </a:rPr>
              <a:t>E</a:t>
            </a:r>
            <a:r>
              <a:rPr lang="zh-CN" altLang="en-US" dirty="0">
                <a:latin typeface="微软雅黑" panose="020B0503020204020204" pitchFamily="34" charset="-122"/>
                <a:ea typeface="微软雅黑" panose="020B0503020204020204" pitchFamily="34" charset="-122"/>
              </a:rPr>
              <a:t>类功率放大器基本电路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a:extLst>
              <a:ext uri="{FF2B5EF4-FFF2-40B4-BE49-F238E27FC236}">
                <a16:creationId xmlns:a16="http://schemas.microsoft.com/office/drawing/2014/main" id="{29D16847-A296-4882-955E-27C4E74B4B32}"/>
              </a:ext>
            </a:extLst>
          </p:cNvPr>
          <p:cNvSpPr>
            <a:spLocks noGrp="1"/>
          </p:cNvSpPr>
          <p:nvPr>
            <p:ph type="sldNum" sz="quarter" idx="12"/>
          </p:nvPr>
        </p:nvSpPr>
        <p:spPr/>
        <p:txBody>
          <a:bodyPr/>
          <a:lstStyle/>
          <a:p>
            <a:fld id="{2792C2A8-F131-4EF7-BEB2-F45AD67A549C}" type="slidenum">
              <a:rPr lang="en-US" altLang="ko-KR"/>
              <a:pPr/>
              <a:t>48</a:t>
            </a:fld>
            <a:endParaRPr lang="en-US" altLang="ko-KR"/>
          </a:p>
        </p:txBody>
      </p:sp>
      <p:sp>
        <p:nvSpPr>
          <p:cNvPr id="123907" name="Rectangle 3">
            <a:extLst>
              <a:ext uri="{FF2B5EF4-FFF2-40B4-BE49-F238E27FC236}">
                <a16:creationId xmlns:a16="http://schemas.microsoft.com/office/drawing/2014/main" id="{A7AE5BED-FB34-4787-AE8A-2FB1A9B38D18}"/>
              </a:ext>
            </a:extLst>
          </p:cNvPr>
          <p:cNvSpPr>
            <a:spLocks noGrp="1" noChangeArrowheads="1"/>
          </p:cNvSpPr>
          <p:nvPr>
            <p:ph type="body" idx="1"/>
          </p:nvPr>
        </p:nvSpPr>
        <p:spPr>
          <a:xfrm>
            <a:off x="755576" y="736134"/>
            <a:ext cx="3240360" cy="612017"/>
          </a:xfrm>
        </p:spPr>
        <p:txBody>
          <a:body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类功率放大器</a:t>
            </a:r>
          </a:p>
        </p:txBody>
      </p:sp>
      <p:graphicFrame>
        <p:nvGraphicFramePr>
          <p:cNvPr id="123916" name="Object 12">
            <a:extLst>
              <a:ext uri="{FF2B5EF4-FFF2-40B4-BE49-F238E27FC236}">
                <a16:creationId xmlns:a16="http://schemas.microsoft.com/office/drawing/2014/main" id="{64B27403-5DD9-4FE4-A816-6395DD37DED4}"/>
              </a:ext>
            </a:extLst>
          </p:cNvPr>
          <p:cNvGraphicFramePr>
            <a:graphicFrameLocks noChangeAspect="1"/>
          </p:cNvGraphicFramePr>
          <p:nvPr>
            <p:extLst>
              <p:ext uri="{D42A27DB-BD31-4B8C-83A1-F6EECF244321}">
                <p14:modId xmlns:p14="http://schemas.microsoft.com/office/powerpoint/2010/main" val="378397746"/>
              </p:ext>
            </p:extLst>
          </p:nvPr>
        </p:nvGraphicFramePr>
        <p:xfrm>
          <a:off x="-24787" y="1674542"/>
          <a:ext cx="5264826" cy="2573657"/>
        </p:xfrm>
        <a:graphic>
          <a:graphicData uri="http://schemas.openxmlformats.org/presentationml/2006/ole">
            <mc:AlternateContent xmlns:mc="http://schemas.openxmlformats.org/markup-compatibility/2006">
              <mc:Choice xmlns:v="urn:schemas-microsoft-com:vml" Requires="v">
                <p:oleObj spid="_x0000_s43039" name="图片" r:id="rId3" imgW="3021934" imgH="1475833" progId="Word.Picture.8">
                  <p:embed/>
                </p:oleObj>
              </mc:Choice>
              <mc:Fallback>
                <p:oleObj name="图片" r:id="rId3" imgW="3021934" imgH="1475833" progId="Word.Picture.8">
                  <p:embed/>
                  <p:pic>
                    <p:nvPicPr>
                      <p:cNvPr id="123916" name="Object 12">
                        <a:extLst>
                          <a:ext uri="{FF2B5EF4-FFF2-40B4-BE49-F238E27FC236}">
                            <a16:creationId xmlns:a16="http://schemas.microsoft.com/office/drawing/2014/main" id="{64B27403-5DD9-4FE4-A816-6395DD37DE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87" y="1674542"/>
                        <a:ext cx="5264826" cy="2573657"/>
                      </a:xfrm>
                      <a:prstGeom prst="rect">
                        <a:avLst/>
                      </a:prstGeom>
                      <a:solidFill>
                        <a:schemeClr val="bg1"/>
                      </a:solidFill>
                    </p:spPr>
                  </p:pic>
                </p:oleObj>
              </mc:Fallback>
            </mc:AlternateContent>
          </a:graphicData>
        </a:graphic>
      </p:graphicFrame>
      <p:sp>
        <p:nvSpPr>
          <p:cNvPr id="123918" name="Rectangle 14">
            <a:extLst>
              <a:ext uri="{FF2B5EF4-FFF2-40B4-BE49-F238E27FC236}">
                <a16:creationId xmlns:a16="http://schemas.microsoft.com/office/drawing/2014/main" id="{E0AB2950-CF96-4ACB-A2A9-5E03648A0C6C}"/>
              </a:ext>
            </a:extLst>
          </p:cNvPr>
          <p:cNvSpPr>
            <a:spLocks noChangeArrowheads="1"/>
          </p:cNvSpPr>
          <p:nvPr/>
        </p:nvSpPr>
        <p:spPr bwMode="auto">
          <a:xfrm>
            <a:off x="1604551" y="4752255"/>
            <a:ext cx="15424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微软雅黑" panose="020B0503020204020204" pitchFamily="34" charset="-122"/>
                <a:ea typeface="微软雅黑" panose="020B0503020204020204" pitchFamily="34" charset="-122"/>
              </a:rPr>
              <a:t>等效电路图 </a:t>
            </a:r>
          </a:p>
        </p:txBody>
      </p:sp>
      <p:sp>
        <p:nvSpPr>
          <p:cNvPr id="16" name="矩形 15">
            <a:extLst>
              <a:ext uri="{FF2B5EF4-FFF2-40B4-BE49-F238E27FC236}">
                <a16:creationId xmlns:a16="http://schemas.microsoft.com/office/drawing/2014/main" id="{287365EC-D537-46BA-B581-5DB19924D72C}"/>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graphicFrame>
        <p:nvGraphicFramePr>
          <p:cNvPr id="21" name="Object 15">
            <a:extLst>
              <a:ext uri="{FF2B5EF4-FFF2-40B4-BE49-F238E27FC236}">
                <a16:creationId xmlns:a16="http://schemas.microsoft.com/office/drawing/2014/main" id="{7732FC4E-51A4-4AF6-B5E4-30FC961FFD56}"/>
              </a:ext>
            </a:extLst>
          </p:cNvPr>
          <p:cNvGraphicFramePr>
            <a:graphicFrameLocks noChangeAspect="1"/>
          </p:cNvGraphicFramePr>
          <p:nvPr>
            <p:extLst>
              <p:ext uri="{D42A27DB-BD31-4B8C-83A1-F6EECF244321}">
                <p14:modId xmlns:p14="http://schemas.microsoft.com/office/powerpoint/2010/main" val="602647967"/>
              </p:ext>
            </p:extLst>
          </p:nvPr>
        </p:nvGraphicFramePr>
        <p:xfrm>
          <a:off x="5196865" y="897286"/>
          <a:ext cx="3966588" cy="4575049"/>
        </p:xfrm>
        <a:graphic>
          <a:graphicData uri="http://schemas.openxmlformats.org/presentationml/2006/ole">
            <mc:AlternateContent xmlns:mc="http://schemas.openxmlformats.org/markup-compatibility/2006">
              <mc:Choice xmlns:v="urn:schemas-microsoft-com:vml" Requires="v">
                <p:oleObj spid="_x0000_s43040" name="图片" r:id="rId5" imgW="3212562" imgH="3580515" progId="Word.Picture.8">
                  <p:embed/>
                </p:oleObj>
              </mc:Choice>
              <mc:Fallback>
                <p:oleObj name="图片" r:id="rId5" imgW="3212562" imgH="3580515" progId="Word.Picture.8">
                  <p:embed/>
                  <p:pic>
                    <p:nvPicPr>
                      <p:cNvPr id="125967" name="Object 15">
                        <a:extLst>
                          <a:ext uri="{FF2B5EF4-FFF2-40B4-BE49-F238E27FC236}">
                            <a16:creationId xmlns:a16="http://schemas.microsoft.com/office/drawing/2014/main" id="{D87FA257-2DF1-43B5-AC6C-042037F146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r="3250"/>
                      <a:stretch>
                        <a:fillRect/>
                      </a:stretch>
                    </p:blipFill>
                    <p:spPr bwMode="auto">
                      <a:xfrm>
                        <a:off x="5196865" y="897286"/>
                        <a:ext cx="3966588" cy="4575049"/>
                      </a:xfrm>
                      <a:prstGeom prst="rect">
                        <a:avLst/>
                      </a:prstGeom>
                      <a:solidFill>
                        <a:schemeClr val="bg1"/>
                      </a:solidFill>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a:extLst>
              <a:ext uri="{FF2B5EF4-FFF2-40B4-BE49-F238E27FC236}">
                <a16:creationId xmlns:a16="http://schemas.microsoft.com/office/drawing/2014/main" id="{2E09ABAE-5913-498A-8C1E-C9CB91863598}"/>
              </a:ext>
            </a:extLst>
          </p:cNvPr>
          <p:cNvSpPr>
            <a:spLocks noGrp="1"/>
          </p:cNvSpPr>
          <p:nvPr>
            <p:ph type="sldNum" sz="quarter" idx="12"/>
          </p:nvPr>
        </p:nvSpPr>
        <p:spPr/>
        <p:txBody>
          <a:bodyPr/>
          <a:lstStyle/>
          <a:p>
            <a:fld id="{60EDF1ED-8EDB-4BDC-BB56-7ED2DA83F5C7}" type="slidenum">
              <a:rPr lang="en-US" altLang="ko-KR"/>
              <a:pPr/>
              <a:t>49</a:t>
            </a:fld>
            <a:endParaRPr lang="en-US" altLang="ko-KR"/>
          </a:p>
        </p:txBody>
      </p:sp>
      <p:sp>
        <p:nvSpPr>
          <p:cNvPr id="126979" name="Rectangle 3">
            <a:extLst>
              <a:ext uri="{FF2B5EF4-FFF2-40B4-BE49-F238E27FC236}">
                <a16:creationId xmlns:a16="http://schemas.microsoft.com/office/drawing/2014/main" id="{9653E2A4-C78A-4236-8253-C9252676C4A9}"/>
              </a:ext>
            </a:extLst>
          </p:cNvPr>
          <p:cNvSpPr>
            <a:spLocks noGrp="1" noChangeArrowheads="1"/>
          </p:cNvSpPr>
          <p:nvPr>
            <p:ph type="body" idx="1"/>
          </p:nvPr>
        </p:nvSpPr>
        <p:spPr>
          <a:xfrm>
            <a:off x="968152" y="1485494"/>
            <a:ext cx="7344198" cy="748417"/>
          </a:xfrm>
        </p:spPr>
        <p:txBody>
          <a:bodyPr/>
          <a:lstStyle/>
          <a:p>
            <a:pPr marL="0" indent="0">
              <a:buNone/>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设计</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一个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类功率放大器，工作频率为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 MHz</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，输出到负载</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=50 Ω</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上的功率</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=5 W</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，电源电压</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CC</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=24 V</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p>
        </p:txBody>
      </p:sp>
      <p:graphicFrame>
        <p:nvGraphicFramePr>
          <p:cNvPr id="126989" name="Object 13">
            <a:extLst>
              <a:ext uri="{FF2B5EF4-FFF2-40B4-BE49-F238E27FC236}">
                <a16:creationId xmlns:a16="http://schemas.microsoft.com/office/drawing/2014/main" id="{ADE591C2-FEE9-41C9-8EFC-C9A992633FD2}"/>
              </a:ext>
            </a:extLst>
          </p:cNvPr>
          <p:cNvGraphicFramePr>
            <a:graphicFrameLocks noChangeAspect="1"/>
          </p:cNvGraphicFramePr>
          <p:nvPr>
            <p:extLst>
              <p:ext uri="{D42A27DB-BD31-4B8C-83A1-F6EECF244321}">
                <p14:modId xmlns:p14="http://schemas.microsoft.com/office/powerpoint/2010/main" val="420359479"/>
              </p:ext>
            </p:extLst>
          </p:nvPr>
        </p:nvGraphicFramePr>
        <p:xfrm>
          <a:off x="1034154" y="2544795"/>
          <a:ext cx="7075692" cy="2961080"/>
        </p:xfrm>
        <a:graphic>
          <a:graphicData uri="http://schemas.openxmlformats.org/presentationml/2006/ole">
            <mc:AlternateContent xmlns:mc="http://schemas.openxmlformats.org/markup-compatibility/2006">
              <mc:Choice xmlns:v="urn:schemas-microsoft-com:vml" Requires="v">
                <p:oleObj spid="_x0000_s45082" name="图片" r:id="rId3" imgW="4213988" imgH="1761641" progId="Word.Picture.8">
                  <p:embed/>
                </p:oleObj>
              </mc:Choice>
              <mc:Fallback>
                <p:oleObj name="图片" r:id="rId3" imgW="4213988" imgH="1761641" progId="Word.Picture.8">
                  <p:embed/>
                  <p:pic>
                    <p:nvPicPr>
                      <p:cNvPr id="126989" name="Object 13">
                        <a:extLst>
                          <a:ext uri="{FF2B5EF4-FFF2-40B4-BE49-F238E27FC236}">
                            <a16:creationId xmlns:a16="http://schemas.microsoft.com/office/drawing/2014/main" id="{ADE591C2-FEE9-41C9-8EFC-C9A992633F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154" y="2544795"/>
                        <a:ext cx="7075692" cy="2961080"/>
                      </a:xfrm>
                      <a:prstGeom prst="rect">
                        <a:avLst/>
                      </a:prstGeom>
                      <a:solidFill>
                        <a:schemeClr val="bg1"/>
                      </a:solidFill>
                    </p:spPr>
                  </p:pic>
                </p:oleObj>
              </mc:Fallback>
            </mc:AlternateContent>
          </a:graphicData>
        </a:graphic>
      </p:graphicFrame>
      <p:sp>
        <p:nvSpPr>
          <p:cNvPr id="16" name="矩形 15">
            <a:extLst>
              <a:ext uri="{FF2B5EF4-FFF2-40B4-BE49-F238E27FC236}">
                <a16:creationId xmlns:a16="http://schemas.microsoft.com/office/drawing/2014/main" id="{49A01E5B-0A88-4197-959F-30EC62A5CF2F}"/>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19" name="Rectangle 3">
            <a:extLst>
              <a:ext uri="{FF2B5EF4-FFF2-40B4-BE49-F238E27FC236}">
                <a16:creationId xmlns:a16="http://schemas.microsoft.com/office/drawing/2014/main" id="{4661AB27-6FC3-4542-817F-F43B624C6A58}"/>
              </a:ext>
            </a:extLst>
          </p:cNvPr>
          <p:cNvSpPr txBox="1">
            <a:spLocks noChangeArrowheads="1"/>
          </p:cNvSpPr>
          <p:nvPr/>
        </p:nvSpPr>
        <p:spPr bwMode="auto">
          <a:xfrm>
            <a:off x="755576" y="736134"/>
            <a:ext cx="3240360" cy="612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类功率放大器</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a:extLst>
              <a:ext uri="{FF2B5EF4-FFF2-40B4-BE49-F238E27FC236}">
                <a16:creationId xmlns:a16="http://schemas.microsoft.com/office/drawing/2014/main" id="{5ECFAD01-555B-446F-AAAD-FD39F4376BD0}"/>
              </a:ext>
            </a:extLst>
          </p:cNvPr>
          <p:cNvSpPr>
            <a:spLocks noGrp="1"/>
          </p:cNvSpPr>
          <p:nvPr>
            <p:ph type="sldNum" sz="quarter" idx="12"/>
          </p:nvPr>
        </p:nvSpPr>
        <p:spPr/>
        <p:txBody>
          <a:bodyPr/>
          <a:lstStyle/>
          <a:p>
            <a:fld id="{48FEF2AE-526B-4710-9367-399163901118}" type="slidenum">
              <a:rPr lang="en-US" altLang="ko-KR"/>
              <a:pPr/>
              <a:t>50</a:t>
            </a:fld>
            <a:endParaRPr lang="en-US" altLang="ko-KR"/>
          </a:p>
        </p:txBody>
      </p:sp>
      <p:sp>
        <p:nvSpPr>
          <p:cNvPr id="128003" name="Rectangle 3">
            <a:extLst>
              <a:ext uri="{FF2B5EF4-FFF2-40B4-BE49-F238E27FC236}">
                <a16:creationId xmlns:a16="http://schemas.microsoft.com/office/drawing/2014/main" id="{87961B21-5D33-4EEF-9A28-63490D54B81B}"/>
              </a:ext>
            </a:extLst>
          </p:cNvPr>
          <p:cNvSpPr>
            <a:spLocks noGrp="1" noChangeArrowheads="1"/>
          </p:cNvSpPr>
          <p:nvPr>
            <p:ph type="body" idx="1"/>
          </p:nvPr>
        </p:nvSpPr>
        <p:spPr>
          <a:xfrm>
            <a:off x="899901" y="794406"/>
            <a:ext cx="7344198" cy="4522351"/>
          </a:xfrm>
        </p:spPr>
        <p:txBody>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电磁兼容 </a:t>
            </a:r>
          </a:p>
          <a:p>
            <a:pPr marL="457200" lvl="1" indent="0">
              <a:lnSpc>
                <a:spcPct val="150000"/>
              </a:lnSpc>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电子产品的电磁兼容性（</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EMC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）包含两方面：</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一是电磁干扰（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EMI</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二是抗电磁干扰的能力（</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EMS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0">
              <a:lnSpc>
                <a:spcPct val="150000"/>
              </a:lnSpc>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13.56 MHz</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频率，</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FCC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15.225</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节的规定为：</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载波频率范围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13.56 MHz±7 kHz</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基波频率的场强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10 mV/m</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，测量距离为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30 m</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p>
          <a:p>
            <a:pPr lvl="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谐波功率		基波功率的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-50.45 dB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14" name="矩形 13">
            <a:extLst>
              <a:ext uri="{FF2B5EF4-FFF2-40B4-BE49-F238E27FC236}">
                <a16:creationId xmlns:a16="http://schemas.microsoft.com/office/drawing/2014/main" id="{F102EA2A-EE5C-43C7-9A05-34BEB9313357}"/>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a:extLst>
              <a:ext uri="{FF2B5EF4-FFF2-40B4-BE49-F238E27FC236}">
                <a16:creationId xmlns:a16="http://schemas.microsoft.com/office/drawing/2014/main" id="{8BCD5073-D14C-4CCA-AEAC-31E88FE49BAF}"/>
              </a:ext>
            </a:extLst>
          </p:cNvPr>
          <p:cNvSpPr>
            <a:spLocks noGrp="1"/>
          </p:cNvSpPr>
          <p:nvPr>
            <p:ph type="sldNum" sz="quarter" idx="12"/>
          </p:nvPr>
        </p:nvSpPr>
        <p:spPr/>
        <p:txBody>
          <a:bodyPr/>
          <a:lstStyle/>
          <a:p>
            <a:fld id="{CE693012-3126-4B95-9895-1B3751EFF592}" type="slidenum">
              <a:rPr lang="en-US" altLang="ko-KR"/>
              <a:pPr/>
              <a:t>51</a:t>
            </a:fld>
            <a:endParaRPr lang="en-US" altLang="ko-KR"/>
          </a:p>
        </p:txBody>
      </p:sp>
      <p:graphicFrame>
        <p:nvGraphicFramePr>
          <p:cNvPr id="129037" name="Object 13">
            <a:extLst>
              <a:ext uri="{FF2B5EF4-FFF2-40B4-BE49-F238E27FC236}">
                <a16:creationId xmlns:a16="http://schemas.microsoft.com/office/drawing/2014/main" id="{475D3AA0-6172-4D20-A0E8-E25ABBC6221B}"/>
              </a:ext>
            </a:extLst>
          </p:cNvPr>
          <p:cNvGraphicFramePr>
            <a:graphicFrameLocks noChangeAspect="1"/>
          </p:cNvGraphicFramePr>
          <p:nvPr>
            <p:extLst>
              <p:ext uri="{D42A27DB-BD31-4B8C-83A1-F6EECF244321}">
                <p14:modId xmlns:p14="http://schemas.microsoft.com/office/powerpoint/2010/main" val="240538367"/>
              </p:ext>
            </p:extLst>
          </p:nvPr>
        </p:nvGraphicFramePr>
        <p:xfrm>
          <a:off x="1033404" y="1306956"/>
          <a:ext cx="7077191" cy="3796602"/>
        </p:xfrm>
        <a:graphic>
          <a:graphicData uri="http://schemas.openxmlformats.org/presentationml/2006/ole">
            <mc:AlternateContent xmlns:mc="http://schemas.openxmlformats.org/markup-compatibility/2006">
              <mc:Choice xmlns:v="urn:schemas-microsoft-com:vml" Requires="v">
                <p:oleObj spid="_x0000_s46106" name="图片" r:id="rId3" imgW="3489314" imgH="1818874" progId="Word.Picture.8">
                  <p:embed/>
                </p:oleObj>
              </mc:Choice>
              <mc:Fallback>
                <p:oleObj name="图片" r:id="rId3" imgW="3489314" imgH="1818874" progId="Word.Picture.8">
                  <p:embed/>
                  <p:pic>
                    <p:nvPicPr>
                      <p:cNvPr id="129037" name="Object 13">
                        <a:extLst>
                          <a:ext uri="{FF2B5EF4-FFF2-40B4-BE49-F238E27FC236}">
                            <a16:creationId xmlns:a16="http://schemas.microsoft.com/office/drawing/2014/main" id="{475D3AA0-6172-4D20-A0E8-E25ABBC622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579"/>
                      <a:stretch>
                        <a:fillRect/>
                      </a:stretch>
                    </p:blipFill>
                    <p:spPr bwMode="auto">
                      <a:xfrm>
                        <a:off x="1033404" y="1306956"/>
                        <a:ext cx="7077191" cy="3796602"/>
                      </a:xfrm>
                      <a:prstGeom prst="rect">
                        <a:avLst/>
                      </a:prstGeom>
                      <a:solidFill>
                        <a:schemeClr val="bg1"/>
                      </a:solidFill>
                    </p:spPr>
                  </p:pic>
                </p:oleObj>
              </mc:Fallback>
            </mc:AlternateContent>
          </a:graphicData>
        </a:graphic>
      </p:graphicFrame>
      <p:sp>
        <p:nvSpPr>
          <p:cNvPr id="129039" name="Rectangle 15">
            <a:extLst>
              <a:ext uri="{FF2B5EF4-FFF2-40B4-BE49-F238E27FC236}">
                <a16:creationId xmlns:a16="http://schemas.microsoft.com/office/drawing/2014/main" id="{45E475B5-5EFB-4EDE-87CB-C510497535B8}"/>
              </a:ext>
            </a:extLst>
          </p:cNvPr>
          <p:cNvSpPr>
            <a:spLocks noChangeArrowheads="1"/>
          </p:cNvSpPr>
          <p:nvPr/>
        </p:nvSpPr>
        <p:spPr bwMode="auto">
          <a:xfrm>
            <a:off x="1070079" y="5302093"/>
            <a:ext cx="70038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具有</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EMC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滤波电路的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13.56 MHz</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阅读器的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类功率放大器电路 </a:t>
            </a:r>
          </a:p>
        </p:txBody>
      </p:sp>
      <p:sp>
        <p:nvSpPr>
          <p:cNvPr id="17" name="矩形 16">
            <a:extLst>
              <a:ext uri="{FF2B5EF4-FFF2-40B4-BE49-F238E27FC236}">
                <a16:creationId xmlns:a16="http://schemas.microsoft.com/office/drawing/2014/main" id="{D7B45FE2-04B9-4A6C-8AF4-A3B3B12CAB78}"/>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21" name="Rectangle 3">
            <a:extLst>
              <a:ext uri="{FF2B5EF4-FFF2-40B4-BE49-F238E27FC236}">
                <a16:creationId xmlns:a16="http://schemas.microsoft.com/office/drawing/2014/main" id="{E477330B-CDFC-4575-9164-39276CBCF053}"/>
              </a:ext>
            </a:extLst>
          </p:cNvPr>
          <p:cNvSpPr txBox="1">
            <a:spLocks noChangeArrowheads="1"/>
          </p:cNvSpPr>
          <p:nvPr/>
        </p:nvSpPr>
        <p:spPr bwMode="auto">
          <a:xfrm>
            <a:off x="899901" y="794407"/>
            <a:ext cx="1871899"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电磁兼容</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5">
            <a:extLst>
              <a:ext uri="{FF2B5EF4-FFF2-40B4-BE49-F238E27FC236}">
                <a16:creationId xmlns:a16="http://schemas.microsoft.com/office/drawing/2014/main" id="{8304AABB-EE72-4902-91B5-AB559333068C}"/>
              </a:ext>
            </a:extLst>
          </p:cNvPr>
          <p:cNvSpPr>
            <a:spLocks noGrp="1"/>
          </p:cNvSpPr>
          <p:nvPr>
            <p:ph type="sldNum" sz="quarter" idx="12"/>
          </p:nvPr>
        </p:nvSpPr>
        <p:spPr/>
        <p:txBody>
          <a:bodyPr/>
          <a:lstStyle/>
          <a:p>
            <a:fld id="{91519F78-193B-4FD9-85EE-E6357785C863}" type="slidenum">
              <a:rPr lang="en-US" altLang="ko-KR"/>
              <a:pPr/>
              <a:t>52</a:t>
            </a:fld>
            <a:endParaRPr lang="en-US" altLang="ko-KR"/>
          </a:p>
        </p:txBody>
      </p:sp>
      <p:sp>
        <p:nvSpPr>
          <p:cNvPr id="130051" name="Rectangle 3">
            <a:extLst>
              <a:ext uri="{FF2B5EF4-FFF2-40B4-BE49-F238E27FC236}">
                <a16:creationId xmlns:a16="http://schemas.microsoft.com/office/drawing/2014/main" id="{6923759C-065E-4C6A-80AC-C93E99D89BA7}"/>
              </a:ext>
            </a:extLst>
          </p:cNvPr>
          <p:cNvSpPr>
            <a:spLocks noGrp="1" noChangeArrowheads="1"/>
          </p:cNvSpPr>
          <p:nvPr>
            <p:ph type="body" idx="1"/>
          </p:nvPr>
        </p:nvSpPr>
        <p:spPr>
          <a:xfrm>
            <a:off x="683568" y="798442"/>
            <a:ext cx="2799403" cy="428626"/>
          </a:xfrm>
        </p:spPr>
        <p:txBody>
          <a:bodyPr/>
          <a:lstStyle/>
          <a:p>
            <a:r>
              <a:rPr lang="zh-CN" altLang="en-US" sz="2400" dirty="0">
                <a:latin typeface="微软雅黑" panose="020B0503020204020204" pitchFamily="34" charset="-122"/>
                <a:ea typeface="微软雅黑" panose="020B0503020204020204" pitchFamily="34" charset="-122"/>
              </a:rPr>
              <a:t>电感线圈的设计</a:t>
            </a:r>
          </a:p>
        </p:txBody>
      </p:sp>
      <mc:AlternateContent xmlns:mc="http://schemas.openxmlformats.org/markup-compatibility/2006" xmlns:a14="http://schemas.microsoft.com/office/drawing/2010/main">
        <mc:Choice Requires="a14">
          <p:sp>
            <p:nvSpPr>
              <p:cNvPr id="130063" name="Object 15">
                <a:extLst>
                  <a:ext uri="{FF2B5EF4-FFF2-40B4-BE49-F238E27FC236}">
                    <a16:creationId xmlns:a16="http://schemas.microsoft.com/office/drawing/2014/main" id="{70985615-08CD-4D8C-900C-4C32982B31ED}"/>
                  </a:ext>
                </a:extLst>
              </p:cNvPr>
              <p:cNvSpPr txBox="1"/>
              <p:nvPr/>
            </p:nvSpPr>
            <p:spPr bwMode="auto">
              <a:xfrm>
                <a:off x="2837203" y="1835887"/>
                <a:ext cx="3469593" cy="967527"/>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𝐿</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𝜓</m:t>
                          </m:r>
                        </m:num>
                        <m:den>
                          <m:r>
                            <a:rPr lang="zh-CN" altLang="en-US" i="1">
                              <a:solidFill>
                                <a:srgbClr val="000000"/>
                              </a:solidFill>
                              <a:latin typeface="Cambria Math" panose="02040503050406030204" pitchFamily="18" charset="0"/>
                            </a:rPr>
                            <m:t>𝑖</m:t>
                          </m:r>
                        </m:den>
                      </m:f>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𝑁</m:t>
                          </m:r>
                        </m:e>
                        <m:sup>
                          <m:r>
                            <a:rPr lang="zh-CN" altLang="en-US" i="1">
                              <a:solidFill>
                                <a:srgbClr val="000000"/>
                              </a:solidFill>
                              <a:latin typeface="Cambria Math" panose="02040503050406030204" pitchFamily="18" charset="0"/>
                            </a:rPr>
                            <m:t>2</m:t>
                          </m:r>
                        </m:sup>
                      </m:sSup>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𝜑</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𝑖</m:t>
                          </m:r>
                        </m:den>
                      </m:f>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𝑁</m:t>
                          </m:r>
                        </m:e>
                        <m:sup>
                          <m:r>
                            <a:rPr lang="zh-CN" altLang="en-US" i="1">
                              <a:solidFill>
                                <a:srgbClr val="000000"/>
                              </a:solidFill>
                              <a:latin typeface="Cambria Math" panose="02040503050406030204" pitchFamily="18" charset="0"/>
                            </a:rPr>
                            <m:t>2</m:t>
                          </m:r>
                        </m:sup>
                      </m:s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𝐿</m:t>
                          </m:r>
                        </m:e>
                        <m:sub>
                          <m:r>
                            <a:rPr lang="zh-CN" altLang="en-US" i="1">
                              <a:solidFill>
                                <a:srgbClr val="000000"/>
                              </a:solidFill>
                              <a:latin typeface="Cambria Math" panose="02040503050406030204" pitchFamily="18" charset="0"/>
                            </a:rPr>
                            <m:t>0</m:t>
                          </m:r>
                        </m:sub>
                      </m:sSub>
                    </m:oMath>
                  </m:oMathPara>
                </a14:m>
                <a:endParaRPr lang="zh-CN" altLang="en-US" dirty="0"/>
              </a:p>
            </p:txBody>
          </p:sp>
        </mc:Choice>
        <mc:Fallback xmlns="">
          <p:sp>
            <p:nvSpPr>
              <p:cNvPr id="130063" name="Object 15">
                <a:extLst>
                  <a:ext uri="{FF2B5EF4-FFF2-40B4-BE49-F238E27FC236}">
                    <a16:creationId xmlns:a16="http://schemas.microsoft.com/office/drawing/2014/main" id="{70985615-08CD-4D8C-900C-4C32982B31ED}"/>
                  </a:ext>
                </a:extLst>
              </p:cNvPr>
              <p:cNvSpPr txBox="1">
                <a:spLocks noRot="1" noChangeAspect="1" noMove="1" noResize="1" noEditPoints="1" noAdjustHandles="1" noChangeArrowheads="1" noChangeShapeType="1" noTextEdit="1"/>
              </p:cNvSpPr>
              <p:nvPr/>
            </p:nvSpPr>
            <p:spPr bwMode="auto">
              <a:xfrm>
                <a:off x="2837203" y="1835887"/>
                <a:ext cx="3469593" cy="967527"/>
              </a:xfrm>
              <a:prstGeom prst="rect">
                <a:avLst/>
              </a:prstGeom>
              <a:blipFill>
                <a:blip r:embed="rId2"/>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0065" name="Object 17">
                <a:extLst>
                  <a:ext uri="{FF2B5EF4-FFF2-40B4-BE49-F238E27FC236}">
                    <a16:creationId xmlns:a16="http://schemas.microsoft.com/office/drawing/2014/main" id="{FB6E7AB7-867D-4E37-889D-E6C1618BCFCD}"/>
                  </a:ext>
                </a:extLst>
              </p:cNvPr>
              <p:cNvSpPr txBox="1"/>
              <p:nvPr/>
            </p:nvSpPr>
            <p:spPr bwMode="auto">
              <a:xfrm>
                <a:off x="3482971" y="3717101"/>
                <a:ext cx="5091137" cy="831022"/>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𝐿</m:t>
                      </m:r>
                      <m:r>
                        <m:rPr>
                          <m:nor/>
                        </m:rPr>
                        <a:rPr lang="zh-CN" altLang="en-US" i="0">
                          <a:solidFill>
                            <a:srgbClr val="000000"/>
                          </a:solidFill>
                          <a:latin typeface="Cambria Math" panose="02040503050406030204" pitchFamily="18" charset="0"/>
                        </a:rPr>
                        <m:t>=0.002</m:t>
                      </m:r>
                      <m:r>
                        <a:rPr lang="zh-CN" altLang="en-US" i="1">
                          <a:solidFill>
                            <a:srgbClr val="000000"/>
                          </a:solidFill>
                          <a:latin typeface="Cambria Math" panose="02040503050406030204" pitchFamily="18" charset="0"/>
                        </a:rPr>
                        <m:t>𝑙</m:t>
                      </m:r>
                      <m:d>
                        <m:dPr>
                          <m:begChr m:val="["/>
                          <m:endChr m:val="]"/>
                          <m:ctrlPr>
                            <a:rPr lang="zh-CN" altLang="en-US" i="1">
                              <a:solidFill>
                                <a:srgbClr val="000000"/>
                              </a:solidFill>
                              <a:latin typeface="Cambria Math" panose="02040503050406030204" pitchFamily="18" charset="0"/>
                            </a:rPr>
                          </m:ctrlPr>
                        </m:dPr>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d>
                                <m:dPr>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𝑙</m:t>
                                      </m:r>
                                    </m:num>
                                    <m:den>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𝑏</m:t>
                                      </m:r>
                                    </m:den>
                                  </m:f>
                                </m:e>
                              </m:d>
                            </m:e>
                          </m:func>
                          <m:r>
                            <a:rPr lang="zh-CN" altLang="en-US" i="1">
                              <a:solidFill>
                                <a:srgbClr val="000000"/>
                              </a:solidFill>
                              <a:latin typeface="Cambria Math" panose="02040503050406030204" pitchFamily="18" charset="0"/>
                            </a:rPr>
                            <m:t>+0.50049+</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𝑏</m:t>
                              </m:r>
                            </m:num>
                            <m:den>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𝑙</m:t>
                              </m:r>
                            </m:den>
                          </m:f>
                        </m:e>
                      </m:d>
                      <m:d>
                        <m:dPr>
                          <m:ctrlPr>
                            <a:rPr lang="zh-CN" altLang="en-US" i="1">
                              <a:solidFill>
                                <a:srgbClr val="000000"/>
                              </a:solidFill>
                              <a:latin typeface="Cambria Math" panose="02040503050406030204" pitchFamily="18" charset="0"/>
                            </a:rPr>
                          </m:ctrlPr>
                        </m:dPr>
                        <m:e>
                          <m:r>
                            <m:rPr>
                              <m:nor/>
                            </m:rPr>
                            <a:rPr lang="zh-CN" altLang="en-US" i="0">
                              <a:solidFill>
                                <a:srgbClr val="000000"/>
                              </a:solidFill>
                              <a:latin typeface="Cambria Math" panose="02040503050406030204" pitchFamily="18" charset="0"/>
                            </a:rPr>
                            <m:t>μH</m:t>
                          </m:r>
                        </m:e>
                      </m:d>
                    </m:oMath>
                  </m:oMathPara>
                </a14:m>
                <a:endParaRPr lang="zh-CN" altLang="en-US" dirty="0"/>
              </a:p>
            </p:txBody>
          </p:sp>
        </mc:Choice>
        <mc:Fallback xmlns="">
          <p:sp>
            <p:nvSpPr>
              <p:cNvPr id="130065" name="Object 17">
                <a:extLst>
                  <a:ext uri="{FF2B5EF4-FFF2-40B4-BE49-F238E27FC236}">
                    <a16:creationId xmlns:a16="http://schemas.microsoft.com/office/drawing/2014/main" id="{FB6E7AB7-867D-4E37-889D-E6C1618BCFCD}"/>
                  </a:ext>
                </a:extLst>
              </p:cNvPr>
              <p:cNvSpPr txBox="1">
                <a:spLocks noRot="1" noChangeAspect="1" noMove="1" noResize="1" noEditPoints="1" noAdjustHandles="1" noChangeArrowheads="1" noChangeShapeType="1" noTextEdit="1"/>
              </p:cNvSpPr>
              <p:nvPr/>
            </p:nvSpPr>
            <p:spPr bwMode="auto">
              <a:xfrm>
                <a:off x="3482971" y="3717101"/>
                <a:ext cx="5091137" cy="831022"/>
              </a:xfrm>
              <a:prstGeom prst="rect">
                <a:avLst/>
              </a:prstGeom>
              <a:blipFill>
                <a:blip r:embed="rId3"/>
                <a:stretch>
                  <a:fillRect/>
                </a:stretch>
              </a:blipFill>
              <a:extLst/>
            </p:spPr>
            <p:txBody>
              <a:bodyPr/>
              <a:lstStyle/>
              <a:p>
                <a:r>
                  <a:rPr lang="zh-CN" altLang="en-US">
                    <a:noFill/>
                  </a:rPr>
                  <a:t> </a:t>
                </a:r>
              </a:p>
            </p:txBody>
          </p:sp>
        </mc:Fallback>
      </mc:AlternateContent>
      <p:sp>
        <p:nvSpPr>
          <p:cNvPr id="130067" name="Rectangle 19">
            <a:extLst>
              <a:ext uri="{FF2B5EF4-FFF2-40B4-BE49-F238E27FC236}">
                <a16:creationId xmlns:a16="http://schemas.microsoft.com/office/drawing/2014/main" id="{0BBD8113-A45F-4368-8B8E-746D51012576}"/>
              </a:ext>
            </a:extLst>
          </p:cNvPr>
          <p:cNvSpPr>
            <a:spLocks noChangeArrowheads="1"/>
          </p:cNvSpPr>
          <p:nvPr/>
        </p:nvSpPr>
        <p:spPr bwMode="auto">
          <a:xfrm>
            <a:off x="1116872" y="3935065"/>
            <a:ext cx="23262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latin typeface="微软雅黑" panose="020B0503020204020204" pitchFamily="34" charset="-122"/>
                <a:ea typeface="微软雅黑" panose="020B0503020204020204" pitchFamily="34" charset="-122"/>
              </a:rPr>
              <a:t>薄长方导体的电感量 </a:t>
            </a:r>
          </a:p>
        </p:txBody>
      </p:sp>
      <p:sp>
        <p:nvSpPr>
          <p:cNvPr id="130068" name="Rectangle 20">
            <a:extLst>
              <a:ext uri="{FF2B5EF4-FFF2-40B4-BE49-F238E27FC236}">
                <a16:creationId xmlns:a16="http://schemas.microsoft.com/office/drawing/2014/main" id="{408B70EC-099F-43DF-B9AC-77C8C91F6840}"/>
              </a:ext>
            </a:extLst>
          </p:cNvPr>
          <p:cNvSpPr>
            <a:spLocks noChangeArrowheads="1"/>
          </p:cNvSpPr>
          <p:nvPr/>
        </p:nvSpPr>
        <p:spPr bwMode="auto">
          <a:xfrm>
            <a:off x="1259632" y="4752556"/>
            <a:ext cx="1864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latin typeface="微软雅黑" panose="020B0503020204020204" pitchFamily="34" charset="-122"/>
                <a:ea typeface="微软雅黑" panose="020B0503020204020204" pitchFamily="34" charset="-122"/>
              </a:rPr>
              <a:t>单层螺管形线圈 </a:t>
            </a:r>
          </a:p>
        </p:txBody>
      </p:sp>
      <p:sp>
        <p:nvSpPr>
          <p:cNvPr id="130070" name="Rectangle 22">
            <a:extLst>
              <a:ext uri="{FF2B5EF4-FFF2-40B4-BE49-F238E27FC236}">
                <a16:creationId xmlns:a16="http://schemas.microsoft.com/office/drawing/2014/main" id="{45819D06-F2A0-4C6F-B3F0-1F5ACF1C34E5}"/>
              </a:ext>
            </a:extLst>
          </p:cNvPr>
          <p:cNvSpPr>
            <a:spLocks noChangeArrowheads="1"/>
          </p:cNvSpPr>
          <p:nvPr/>
        </p:nvSpPr>
        <p:spPr bwMode="auto">
          <a:xfrm>
            <a:off x="251884" y="-18466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mc:AlternateContent xmlns:mc="http://schemas.openxmlformats.org/markup-compatibility/2006" xmlns:a14="http://schemas.microsoft.com/office/drawing/2010/main">
        <mc:Choice Requires="a14">
          <p:sp>
            <p:nvSpPr>
              <p:cNvPr id="130069" name="Object 21">
                <a:extLst>
                  <a:ext uri="{FF2B5EF4-FFF2-40B4-BE49-F238E27FC236}">
                    <a16:creationId xmlns:a16="http://schemas.microsoft.com/office/drawing/2014/main" id="{E7BD7AD5-6C09-4DED-B2E5-0BEF4F6AEFC2}"/>
                  </a:ext>
                </a:extLst>
              </p:cNvPr>
              <p:cNvSpPr txBox="1"/>
              <p:nvPr/>
            </p:nvSpPr>
            <p:spPr bwMode="auto">
              <a:xfrm>
                <a:off x="3448527" y="4582798"/>
                <a:ext cx="2788576" cy="904524"/>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𝐿</m:t>
                      </m:r>
                      <m:r>
                        <a:rPr lang="zh-CN" altLang="en-US" i="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𝑎𝑁</m:t>
                                  </m:r>
                                </m:e>
                              </m:d>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22.9</m:t>
                          </m:r>
                          <m:r>
                            <a:rPr lang="zh-CN" altLang="en-US" i="1">
                              <a:solidFill>
                                <a:srgbClr val="000000"/>
                              </a:solidFill>
                              <a:latin typeface="Cambria Math" panose="02040503050406030204" pitchFamily="18" charset="0"/>
                            </a:rPr>
                            <m:t>𝑙</m:t>
                          </m:r>
                          <m:r>
                            <a:rPr lang="zh-CN" altLang="en-US" i="1">
                              <a:solidFill>
                                <a:srgbClr val="000000"/>
                              </a:solidFill>
                              <a:latin typeface="Cambria Math" panose="02040503050406030204" pitchFamily="18" charset="0"/>
                            </a:rPr>
                            <m:t>+25.4</m:t>
                          </m:r>
                          <m:r>
                            <a:rPr lang="zh-CN" altLang="en-US" i="1">
                              <a:solidFill>
                                <a:srgbClr val="000000"/>
                              </a:solidFill>
                              <a:latin typeface="Cambria Math" panose="02040503050406030204" pitchFamily="18" charset="0"/>
                            </a:rPr>
                            <m:t>𝑎</m:t>
                          </m:r>
                        </m:den>
                      </m:f>
                      <m:d>
                        <m:dPr>
                          <m:ctrlPr>
                            <a:rPr lang="zh-CN" altLang="en-US" i="1">
                              <a:solidFill>
                                <a:srgbClr val="000000"/>
                              </a:solidFill>
                              <a:latin typeface="Cambria Math" panose="02040503050406030204" pitchFamily="18" charset="0"/>
                            </a:rPr>
                          </m:ctrlPr>
                        </m:dPr>
                        <m:e>
                          <m:r>
                            <m:rPr>
                              <m:nor/>
                            </m:rPr>
                            <a:rPr lang="zh-CN" altLang="en-US" i="0">
                              <a:solidFill>
                                <a:srgbClr val="000000"/>
                              </a:solidFill>
                              <a:latin typeface="Cambria Math" panose="02040503050406030204" pitchFamily="18" charset="0"/>
                            </a:rPr>
                            <m:t>μH</m:t>
                          </m:r>
                        </m:e>
                      </m:d>
                    </m:oMath>
                  </m:oMathPara>
                </a14:m>
                <a:endParaRPr lang="zh-CN" altLang="en-US" dirty="0"/>
              </a:p>
            </p:txBody>
          </p:sp>
        </mc:Choice>
        <mc:Fallback xmlns="">
          <p:sp>
            <p:nvSpPr>
              <p:cNvPr id="130069" name="Object 21">
                <a:extLst>
                  <a:ext uri="{FF2B5EF4-FFF2-40B4-BE49-F238E27FC236}">
                    <a16:creationId xmlns:a16="http://schemas.microsoft.com/office/drawing/2014/main" id="{E7BD7AD5-6C09-4DED-B2E5-0BEF4F6AEFC2}"/>
                  </a:ext>
                </a:extLst>
              </p:cNvPr>
              <p:cNvSpPr txBox="1">
                <a:spLocks noRot="1" noChangeAspect="1" noMove="1" noResize="1" noEditPoints="1" noAdjustHandles="1" noChangeArrowheads="1" noChangeShapeType="1" noTextEdit="1"/>
              </p:cNvSpPr>
              <p:nvPr/>
            </p:nvSpPr>
            <p:spPr bwMode="auto">
              <a:xfrm>
                <a:off x="3448527" y="4582798"/>
                <a:ext cx="2788576" cy="904524"/>
              </a:xfrm>
              <a:prstGeom prst="rect">
                <a:avLst/>
              </a:prstGeom>
              <a:blipFill>
                <a:blip r:embed="rId4"/>
                <a:stretch>
                  <a:fillRect/>
                </a:stretch>
              </a:blipFill>
              <a:extLst/>
            </p:spPr>
            <p:txBody>
              <a:bodyPr/>
              <a:lstStyle/>
              <a:p>
                <a:r>
                  <a:rPr lang="zh-CN" altLang="en-US">
                    <a:noFill/>
                  </a:rPr>
                  <a:t> </a:t>
                </a:r>
              </a:p>
            </p:txBody>
          </p:sp>
        </mc:Fallback>
      </mc:AlternateContent>
      <p:sp>
        <p:nvSpPr>
          <p:cNvPr id="23" name="矩形 22">
            <a:extLst>
              <a:ext uri="{FF2B5EF4-FFF2-40B4-BE49-F238E27FC236}">
                <a16:creationId xmlns:a16="http://schemas.microsoft.com/office/drawing/2014/main" id="{5586B1FF-543F-458F-8442-334AF2507DB3}"/>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26" name="Rectangle 3">
            <a:extLst>
              <a:ext uri="{FF2B5EF4-FFF2-40B4-BE49-F238E27FC236}">
                <a16:creationId xmlns:a16="http://schemas.microsoft.com/office/drawing/2014/main" id="{5C5D49F3-CDE6-4A45-9FB7-6693C96925A6}"/>
              </a:ext>
            </a:extLst>
          </p:cNvPr>
          <p:cNvSpPr txBox="1">
            <a:spLocks noChangeArrowheads="1"/>
          </p:cNvSpPr>
          <p:nvPr/>
        </p:nvSpPr>
        <p:spPr bwMode="auto">
          <a:xfrm>
            <a:off x="899592" y="2988080"/>
            <a:ext cx="1738936" cy="42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zh-CN" altLang="en-US" sz="2000" dirty="0">
                <a:latin typeface="微软雅黑" panose="020B0503020204020204" pitchFamily="34" charset="-122"/>
                <a:ea typeface="微软雅黑" panose="020B0503020204020204" pitchFamily="34" charset="-122"/>
              </a:rPr>
              <a:t>经验计算式：</a:t>
            </a:r>
          </a:p>
          <a:p>
            <a:pPr>
              <a:buFontTx/>
              <a:buNone/>
            </a:pPr>
            <a:r>
              <a:rPr lang="zh-CN" altLang="en-US" sz="2000" dirty="0">
                <a:latin typeface="微软雅黑" panose="020B0503020204020204" pitchFamily="34" charset="-122"/>
                <a:ea typeface="微软雅黑" panose="020B0503020204020204" pitchFamily="34" charset="-122"/>
              </a:rPr>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a:extLst>
              <a:ext uri="{FF2B5EF4-FFF2-40B4-BE49-F238E27FC236}">
                <a16:creationId xmlns:a16="http://schemas.microsoft.com/office/drawing/2014/main" id="{3E3E2E6C-7A36-4698-824F-4825BCD24242}"/>
              </a:ext>
            </a:extLst>
          </p:cNvPr>
          <p:cNvSpPr>
            <a:spLocks noGrp="1"/>
          </p:cNvSpPr>
          <p:nvPr>
            <p:ph type="sldNum" sz="quarter" idx="12"/>
          </p:nvPr>
        </p:nvSpPr>
        <p:spPr/>
        <p:txBody>
          <a:bodyPr/>
          <a:lstStyle/>
          <a:p>
            <a:fld id="{9E425B29-482F-4158-9152-ECC452BD4052}" type="slidenum">
              <a:rPr lang="en-US" altLang="ko-KR"/>
              <a:pPr/>
              <a:t>53</a:t>
            </a:fld>
            <a:endParaRPr lang="en-US" altLang="ko-KR"/>
          </a:p>
        </p:txBody>
      </p:sp>
      <p:graphicFrame>
        <p:nvGraphicFramePr>
          <p:cNvPr id="131085" name="Object 13">
            <a:extLst>
              <a:ext uri="{FF2B5EF4-FFF2-40B4-BE49-F238E27FC236}">
                <a16:creationId xmlns:a16="http://schemas.microsoft.com/office/drawing/2014/main" id="{996D8CBC-23E8-4BDC-B187-A52CCD0EAF89}"/>
              </a:ext>
            </a:extLst>
          </p:cNvPr>
          <p:cNvGraphicFramePr>
            <a:graphicFrameLocks noChangeAspect="1"/>
          </p:cNvGraphicFramePr>
          <p:nvPr>
            <p:extLst>
              <p:ext uri="{D42A27DB-BD31-4B8C-83A1-F6EECF244321}">
                <p14:modId xmlns:p14="http://schemas.microsoft.com/office/powerpoint/2010/main" val="612108504"/>
              </p:ext>
            </p:extLst>
          </p:nvPr>
        </p:nvGraphicFramePr>
        <p:xfrm>
          <a:off x="1577919" y="1482359"/>
          <a:ext cx="5988162" cy="2001054"/>
        </p:xfrm>
        <a:graphic>
          <a:graphicData uri="http://schemas.openxmlformats.org/presentationml/2006/ole">
            <mc:AlternateContent xmlns:mc="http://schemas.openxmlformats.org/markup-compatibility/2006">
              <mc:Choice xmlns:v="urn:schemas-microsoft-com:vml" Requires="v">
                <p:oleObj spid="_x0000_s48178" name="图片" r:id="rId3" imgW="3679942" imgH="1228181" progId="Word.Picture.8">
                  <p:embed/>
                </p:oleObj>
              </mc:Choice>
              <mc:Fallback>
                <p:oleObj name="图片" r:id="rId3" imgW="3679942" imgH="1228181" progId="Word.Picture.8">
                  <p:embed/>
                  <p:pic>
                    <p:nvPicPr>
                      <p:cNvPr id="131085" name="Object 13">
                        <a:extLst>
                          <a:ext uri="{FF2B5EF4-FFF2-40B4-BE49-F238E27FC236}">
                            <a16:creationId xmlns:a16="http://schemas.microsoft.com/office/drawing/2014/main" id="{996D8CBC-23E8-4BDC-B187-A52CCD0EAF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7919" y="1482359"/>
                        <a:ext cx="5988162" cy="2001054"/>
                      </a:xfrm>
                      <a:prstGeom prst="rect">
                        <a:avLst/>
                      </a:prstGeom>
                      <a:solidFill>
                        <a:schemeClr val="bg1"/>
                      </a:solidFill>
                    </p:spPr>
                  </p:pic>
                </p:oleObj>
              </mc:Fallback>
            </mc:AlternateContent>
          </a:graphicData>
        </a:graphic>
      </p:graphicFrame>
      <p:sp>
        <p:nvSpPr>
          <p:cNvPr id="131088" name="Rectangle 16">
            <a:extLst>
              <a:ext uri="{FF2B5EF4-FFF2-40B4-BE49-F238E27FC236}">
                <a16:creationId xmlns:a16="http://schemas.microsoft.com/office/drawing/2014/main" id="{5444A3B5-E6D4-4AD6-8327-2919B1A196A5}"/>
              </a:ext>
            </a:extLst>
          </p:cNvPr>
          <p:cNvSpPr>
            <a:spLocks noChangeArrowheads="1"/>
          </p:cNvSpPr>
          <p:nvPr/>
        </p:nvSpPr>
        <p:spPr bwMode="auto">
          <a:xfrm>
            <a:off x="251884" y="-18466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1087" name="Object 15">
            <a:extLst>
              <a:ext uri="{FF2B5EF4-FFF2-40B4-BE49-F238E27FC236}">
                <a16:creationId xmlns:a16="http://schemas.microsoft.com/office/drawing/2014/main" id="{B387E75C-196B-4ABA-A44A-C6FFD3A7CE3E}"/>
              </a:ext>
            </a:extLst>
          </p:cNvPr>
          <p:cNvGraphicFramePr>
            <a:graphicFrameLocks noChangeAspect="1"/>
          </p:cNvGraphicFramePr>
          <p:nvPr>
            <p:extLst>
              <p:ext uri="{D42A27DB-BD31-4B8C-83A1-F6EECF244321}">
                <p14:modId xmlns:p14="http://schemas.microsoft.com/office/powerpoint/2010/main" val="3300570812"/>
              </p:ext>
            </p:extLst>
          </p:nvPr>
        </p:nvGraphicFramePr>
        <p:xfrm>
          <a:off x="1577919" y="3618046"/>
          <a:ext cx="5988162" cy="2148058"/>
        </p:xfrm>
        <a:graphic>
          <a:graphicData uri="http://schemas.openxmlformats.org/presentationml/2006/ole">
            <mc:AlternateContent xmlns:mc="http://schemas.openxmlformats.org/markup-compatibility/2006">
              <mc:Choice xmlns:v="urn:schemas-microsoft-com:vml" Requires="v">
                <p:oleObj spid="_x0000_s48179" name="图片" r:id="rId5" imgW="4356688" imgH="1561503" progId="Word.Picture.8">
                  <p:embed/>
                </p:oleObj>
              </mc:Choice>
              <mc:Fallback>
                <p:oleObj name="图片" r:id="rId5" imgW="4356688" imgH="1561503" progId="Word.Picture.8">
                  <p:embed/>
                  <p:pic>
                    <p:nvPicPr>
                      <p:cNvPr id="131087" name="Object 15">
                        <a:extLst>
                          <a:ext uri="{FF2B5EF4-FFF2-40B4-BE49-F238E27FC236}">
                            <a16:creationId xmlns:a16="http://schemas.microsoft.com/office/drawing/2014/main" id="{B387E75C-196B-4ABA-A44A-C6FFD3A7CE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7919" y="3618046"/>
                        <a:ext cx="5988162" cy="2148058"/>
                      </a:xfrm>
                      <a:prstGeom prst="rect">
                        <a:avLst/>
                      </a:prstGeom>
                      <a:solidFill>
                        <a:schemeClr val="bg1"/>
                      </a:solidFill>
                    </p:spPr>
                  </p:pic>
                </p:oleObj>
              </mc:Fallback>
            </mc:AlternateContent>
          </a:graphicData>
        </a:graphic>
      </p:graphicFrame>
      <p:sp>
        <p:nvSpPr>
          <p:cNvPr id="17" name="矩形 16">
            <a:extLst>
              <a:ext uri="{FF2B5EF4-FFF2-40B4-BE49-F238E27FC236}">
                <a16:creationId xmlns:a16="http://schemas.microsoft.com/office/drawing/2014/main" id="{C3F1951A-2F4D-4BF8-8B87-44FF8B13BF32}"/>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20" name="Rectangle 3">
            <a:extLst>
              <a:ext uri="{FF2B5EF4-FFF2-40B4-BE49-F238E27FC236}">
                <a16:creationId xmlns:a16="http://schemas.microsoft.com/office/drawing/2014/main" id="{93002F94-7F2A-4C26-9436-8F95B69FCCE5}"/>
              </a:ext>
            </a:extLst>
          </p:cNvPr>
          <p:cNvSpPr txBox="1">
            <a:spLocks noChangeArrowheads="1"/>
          </p:cNvSpPr>
          <p:nvPr/>
        </p:nvSpPr>
        <p:spPr bwMode="auto">
          <a:xfrm>
            <a:off x="683568" y="798442"/>
            <a:ext cx="2799403" cy="42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电感线圈的设计</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a:extLst>
              <a:ext uri="{FF2B5EF4-FFF2-40B4-BE49-F238E27FC236}">
                <a16:creationId xmlns:a16="http://schemas.microsoft.com/office/drawing/2014/main" id="{2519FB23-B17C-48AF-B755-1DB9F67362BF}"/>
              </a:ext>
            </a:extLst>
          </p:cNvPr>
          <p:cNvSpPr>
            <a:spLocks noGrp="1"/>
          </p:cNvSpPr>
          <p:nvPr>
            <p:ph type="sldNum" sz="quarter" idx="12"/>
          </p:nvPr>
        </p:nvSpPr>
        <p:spPr/>
        <p:txBody>
          <a:bodyPr/>
          <a:lstStyle/>
          <a:p>
            <a:fld id="{129781B1-6D29-4907-A853-BD6C3381A345}" type="slidenum">
              <a:rPr lang="en-US" altLang="ko-KR"/>
              <a:pPr/>
              <a:t>54</a:t>
            </a:fld>
            <a:endParaRPr lang="en-US" altLang="ko-KR"/>
          </a:p>
        </p:txBody>
      </p:sp>
      <p:sp>
        <p:nvSpPr>
          <p:cNvPr id="132099" name="Rectangle 3">
            <a:extLst>
              <a:ext uri="{FF2B5EF4-FFF2-40B4-BE49-F238E27FC236}">
                <a16:creationId xmlns:a16="http://schemas.microsoft.com/office/drawing/2014/main" id="{A1A82AA0-FAEB-4C46-83CD-3907C32A4B57}"/>
              </a:ext>
            </a:extLst>
          </p:cNvPr>
          <p:cNvSpPr>
            <a:spLocks noGrp="1" noChangeArrowheads="1"/>
          </p:cNvSpPr>
          <p:nvPr>
            <p:ph type="body" idx="1"/>
          </p:nvPr>
        </p:nvSpPr>
        <p:spPr>
          <a:xfrm>
            <a:off x="1805106" y="4772379"/>
            <a:ext cx="5533788" cy="369332"/>
          </a:xfrm>
        </p:spPr>
        <p:txBody>
          <a:bodyPr/>
          <a:lstStyle/>
          <a:p>
            <a:pPr marL="0" indent="0">
              <a:buNone/>
            </a:pPr>
            <a:r>
              <a:rPr lang="zh-CN" altLang="en-US" sz="2000" dirty="0">
                <a:latin typeface="微软雅黑" panose="020B0503020204020204" pitchFamily="34" charset="-122"/>
                <a:ea typeface="微软雅黑" panose="020B0503020204020204" pitchFamily="34" charset="-122"/>
              </a:rPr>
              <a:t>应答器（射频卡）常用的电感线圈的结构和外形 </a:t>
            </a:r>
          </a:p>
        </p:txBody>
      </p:sp>
      <p:graphicFrame>
        <p:nvGraphicFramePr>
          <p:cNvPr id="132109" name="Object 13">
            <a:extLst>
              <a:ext uri="{FF2B5EF4-FFF2-40B4-BE49-F238E27FC236}">
                <a16:creationId xmlns:a16="http://schemas.microsoft.com/office/drawing/2014/main" id="{6851EC65-E4F7-4777-B443-7649ABF61194}"/>
              </a:ext>
            </a:extLst>
          </p:cNvPr>
          <p:cNvGraphicFramePr>
            <a:graphicFrameLocks noChangeAspect="1"/>
          </p:cNvGraphicFramePr>
          <p:nvPr>
            <p:extLst>
              <p:ext uri="{D42A27DB-BD31-4B8C-83A1-F6EECF244321}">
                <p14:modId xmlns:p14="http://schemas.microsoft.com/office/powerpoint/2010/main" val="1999312600"/>
              </p:ext>
            </p:extLst>
          </p:nvPr>
        </p:nvGraphicFramePr>
        <p:xfrm>
          <a:off x="1646171" y="1523130"/>
          <a:ext cx="5851658" cy="2695572"/>
        </p:xfrm>
        <a:graphic>
          <a:graphicData uri="http://schemas.openxmlformats.org/presentationml/2006/ole">
            <mc:AlternateContent xmlns:mc="http://schemas.openxmlformats.org/markup-compatibility/2006">
              <mc:Choice xmlns:v="urn:schemas-microsoft-com:vml" Requires="v">
                <p:oleObj spid="_x0000_s49178" name="图片" r:id="rId3" imgW="4242456" imgH="1952059" progId="Word.Picture.8">
                  <p:embed/>
                </p:oleObj>
              </mc:Choice>
              <mc:Fallback>
                <p:oleObj name="图片" r:id="rId3" imgW="4242456" imgH="1952059" progId="Word.Picture.8">
                  <p:embed/>
                  <p:pic>
                    <p:nvPicPr>
                      <p:cNvPr id="132109" name="Object 13">
                        <a:extLst>
                          <a:ext uri="{FF2B5EF4-FFF2-40B4-BE49-F238E27FC236}">
                            <a16:creationId xmlns:a16="http://schemas.microsoft.com/office/drawing/2014/main" id="{6851EC65-E4F7-4777-B443-7649ABF611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6171" y="1523130"/>
                        <a:ext cx="5851658" cy="26955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矩形 15">
            <a:extLst>
              <a:ext uri="{FF2B5EF4-FFF2-40B4-BE49-F238E27FC236}">
                <a16:creationId xmlns:a16="http://schemas.microsoft.com/office/drawing/2014/main" id="{F4D5FC8E-1586-443F-8A05-C532DBC7B30A}"/>
              </a:ext>
            </a:extLst>
          </p:cNvPr>
          <p:cNvSpPr/>
          <p:nvPr/>
        </p:nvSpPr>
        <p:spPr>
          <a:xfrm>
            <a:off x="6156176" y="206459"/>
            <a:ext cx="272382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电感耦合方式的射频前端</a:t>
            </a:r>
            <a:endParaRPr lang="zh-CN" altLang="en-US" dirty="0"/>
          </a:p>
        </p:txBody>
      </p:sp>
      <p:sp>
        <p:nvSpPr>
          <p:cNvPr id="19" name="Rectangle 3">
            <a:extLst>
              <a:ext uri="{FF2B5EF4-FFF2-40B4-BE49-F238E27FC236}">
                <a16:creationId xmlns:a16="http://schemas.microsoft.com/office/drawing/2014/main" id="{6C059378-04B4-43E7-B05F-E3F9F588979A}"/>
              </a:ext>
            </a:extLst>
          </p:cNvPr>
          <p:cNvSpPr txBox="1">
            <a:spLocks noChangeArrowheads="1"/>
          </p:cNvSpPr>
          <p:nvPr/>
        </p:nvSpPr>
        <p:spPr bwMode="auto">
          <a:xfrm>
            <a:off x="683568" y="798442"/>
            <a:ext cx="2799403" cy="42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电感线圈的设计</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157255507</TotalTime>
  <Pages>0</Pages>
  <Words>2393</Words>
  <Characters>0</Characters>
  <Application>Microsoft Office PowerPoint</Application>
  <DocSecurity>0</DocSecurity>
  <PresentationFormat>自定义</PresentationFormat>
  <Lines>0</Lines>
  <Paragraphs>286</Paragraphs>
  <Slides>54</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2</vt:i4>
      </vt:variant>
      <vt:variant>
        <vt:lpstr>幻灯片标题</vt:lpstr>
      </vt:variant>
      <vt:variant>
        <vt:i4>54</vt:i4>
      </vt:variant>
    </vt:vector>
  </HeadingPairs>
  <TitlesOfParts>
    <vt:vector size="61" baseType="lpstr">
      <vt:lpstr>微软雅黑</vt:lpstr>
      <vt:lpstr>Arial</vt:lpstr>
      <vt:lpstr>Cambria Math</vt:lpstr>
      <vt:lpstr>Times New Roman</vt:lpstr>
      <vt:lpstr>默认设计模板</vt:lpstr>
      <vt:lpstr>图片</vt:lpstr>
      <vt:lpstr>Picture</vt:lpstr>
      <vt:lpstr>第二章  电感耦合方式的射频前端 </vt:lpstr>
      <vt:lpstr>2 电感耦合方式的射频前端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lost niu</cp:lastModifiedBy>
  <cp:revision>24</cp:revision>
  <cp:lastPrinted>1899-12-30T00:00:00Z</cp:lastPrinted>
  <dcterms:created xsi:type="dcterms:W3CDTF">2011-11-16T21:06:53Z</dcterms:created>
  <dcterms:modified xsi:type="dcterms:W3CDTF">2022-03-16T03:36:50Z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2052-8.1.0.2998</vt:lpwstr>
  </property>
</Properties>
</file>