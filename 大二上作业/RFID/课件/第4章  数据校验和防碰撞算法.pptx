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93" r:id="rId10"/>
    <p:sldId id="294" r:id="rId11"/>
    <p:sldId id="275" r:id="rId12"/>
    <p:sldId id="265" r:id="rId13"/>
    <p:sldId id="266" r:id="rId14"/>
    <p:sldId id="296" r:id="rId15"/>
    <p:sldId id="283" r:id="rId16"/>
    <p:sldId id="267" r:id="rId17"/>
    <p:sldId id="281" r:id="rId18"/>
    <p:sldId id="282" r:id="rId19"/>
    <p:sldId id="268" r:id="rId20"/>
    <p:sldId id="277" r:id="rId21"/>
    <p:sldId id="284" r:id="rId22"/>
    <p:sldId id="285" r:id="rId23"/>
    <p:sldId id="286" r:id="rId24"/>
    <p:sldId id="269" r:id="rId25"/>
    <p:sldId id="270" r:id="rId26"/>
    <p:sldId id="271" r:id="rId27"/>
    <p:sldId id="287" r:id="rId28"/>
    <p:sldId id="288" r:id="rId29"/>
    <p:sldId id="289" r:id="rId30"/>
    <p:sldId id="290" r:id="rId31"/>
    <p:sldId id="278" r:id="rId32"/>
    <p:sldId id="272" r:id="rId33"/>
    <p:sldId id="273" r:id="rId34"/>
    <p:sldId id="274" r:id="rId35"/>
    <p:sldId id="291" r:id="rId36"/>
    <p:sldId id="292" r:id="rId37"/>
    <p:sldId id="279" r:id="rId38"/>
    <p:sldId id="280" r:id="rId39"/>
  </p:sldIdLst>
  <p:sldSz cx="9144000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056" y="18"/>
      </p:cViewPr>
      <p:guideLst>
        <p:guide orient="horz" pos="204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4" Type="http://schemas.openxmlformats.org/officeDocument/2006/relationships/image" Target="../media/image27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A50C6-3BCD-4F98-8C5F-654FA876B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060450"/>
            <a:ext cx="6858000" cy="22558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38A0E8-9D1E-4F72-877C-BF8DEC7D8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403600"/>
            <a:ext cx="6858000" cy="156527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E413D3-B2C4-4477-AA05-D22517AEF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222777-CAE1-4DA7-B294-931ED7947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592E42-2E6D-4C09-8187-9B19C12D4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27D9F7-5EBF-4D14-8ECF-8BD32E3E0185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35313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0D950D-2525-41E2-92D4-14362A54A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06713E-C0AC-4394-956F-43C351234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2A15C0-D70D-45F3-90E7-DD61EA46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E85DFF-8E9D-460D-AD02-264926848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3004A5-C42C-472F-9115-A27D74A1F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3EDECD-95C5-4A35-AD98-594ADB05E13B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60961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D49DA-EF7C-4656-AB4F-99D9FC9C6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616075"/>
            <a:ext cx="7886700" cy="26955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F4CB2D-A1DF-4604-8E1F-BAD12F835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337050"/>
            <a:ext cx="7886700" cy="14176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9FE429-047D-4C1E-A622-DE43064EF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1DAA3A-BF1C-4F72-9F02-D07A9CD41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8EECC-9748-46C3-A11C-E696DFBCB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8EA149-D97F-47CD-9E0F-1F16359A09AC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41461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6F16F-32F2-4E8E-8380-C04CD7DD4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DC72D4-B951-4E9B-A7E1-AC0121987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511300"/>
            <a:ext cx="4038600" cy="4276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FBD79F-D61F-48CF-87A9-6FE44BFF0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511300"/>
            <a:ext cx="4038600" cy="4276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1A2F84-21ED-49B3-A339-A2834CE87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9DD841-21E9-42CF-B74F-DF8CF7B1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18EF03-BAC9-4D80-B5FD-1570E2A8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271605-D50E-4D7D-8F0E-0ED775F893DE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46648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D7ED5-8991-426A-AB2F-0A6BB079A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4488"/>
            <a:ext cx="7886700" cy="12525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CA3542-8BA1-4B81-BEB8-525B9EE93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589088"/>
            <a:ext cx="3868737" cy="777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B407CE-D7AF-4632-BC10-9E51671A9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366963"/>
            <a:ext cx="3868737" cy="348138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0F8F1D7-F11A-4BBC-B480-E6F8092BD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589088"/>
            <a:ext cx="3887788" cy="777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1F1905-0B56-4BC9-8836-A2F7E311D7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366963"/>
            <a:ext cx="3887788" cy="348138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6FA34A5-C691-41F4-81DF-76E6DE260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ABA66DE-4430-447D-8A92-D469561EC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861D9DF-156D-4585-8A43-D9C166D7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CAABC3-CCE7-47FB-857E-E34C94C2FED8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41917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E0DB9-E4EB-45FF-8291-E34D44357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BAF3AD-531E-46EF-8368-CD3E54F50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B5BBB7-AFFF-4E02-A5B1-DC236CB3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AB6C4E-22EE-474D-BFEF-DC00D883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E796DC-3FC0-4F4C-AFCE-3AE909F9B54A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47496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5B74E8-8194-45E8-8BFB-7D20A132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3E0866-E46C-47DA-9077-C26A62651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AB13D2-0B1B-4443-8D6B-5809E132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EB905B-62A7-498D-B695-EE0E1E83822A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25542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3F564-1266-4871-B9FC-64D9835E2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31800"/>
            <a:ext cx="2949575" cy="151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6F02F3-2DAA-433C-A013-8C30EFBF0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33450"/>
            <a:ext cx="4629150" cy="46053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781F3A-08BD-471F-8BFF-FC5836B9E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944688"/>
            <a:ext cx="2949575" cy="36004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9C6C6D-0A1F-4D50-BFA3-458F40040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4DEABF-1D45-4ADF-8A1D-BDC9801BF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F0B117-C377-49B4-B69B-5CFEC75EE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30BCB2-17C6-4A7C-91C4-E1CBC1861909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21528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A0A39-D1F1-485B-A41F-7BFB8E09C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31800"/>
            <a:ext cx="2949575" cy="151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35893A-2D6F-4C93-B209-863D0E21EC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33450"/>
            <a:ext cx="4629150" cy="46053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FFD8F2-E03D-4F6D-A431-8356C56B9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944688"/>
            <a:ext cx="2949575" cy="36004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9A78E8-712C-49E9-88A9-9B5740999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C1BFF8-7A09-442C-814F-3BE7895F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13AA73-8122-478C-BEC9-1E66262F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6F9AF3-53A7-49E2-BAB1-6977649950CE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51451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E3C01-8AF7-4F6F-ADE1-2FB14CF42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AD06CA-D210-4E02-AC87-5BD1EB82C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49FA09-20A1-4E7E-8A54-3DB7E5776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011B75-0251-4624-A588-DE431B261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B17106-25A1-4B68-8DA3-1B0EDFE2D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C5A8D8-6358-46DC-AB30-1859528FD2C9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9371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7E8E97-C7D6-44C9-926F-E136DCE9E0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527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E1A4C0-7B9A-4BB0-90C4-80F34DD65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52767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F7012D-7C44-4045-8085-2E8C0AAC8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5C3448-2CDB-416B-B41C-14E0B3C8F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AD499A-3527-4BBA-9D8A-CF393BA2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C95462-0307-477C-8065-F60E7197D778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61757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DDF04AB-6CD5-4370-A11F-5993BE7B3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0350"/>
            <a:ext cx="8229600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9970A27-DFFE-4F35-93A4-4BE4EA229A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11300"/>
            <a:ext cx="8229600" cy="427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30F7047-ED32-4D10-8204-9BC22504885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5900738"/>
            <a:ext cx="2133600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2C295D0-C3A9-4A7D-8F2F-88BDFE89E63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5900738"/>
            <a:ext cx="2895600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851D89C-C22D-4630-BBAB-4DFF88302F7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5900738"/>
            <a:ext cx="2133600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05305CE-8496-45D4-9996-83E6164A69E9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1031" name="Picture 7" descr="065B26PPT模板">
            <a:extLst>
              <a:ext uri="{FF2B5EF4-FFF2-40B4-BE49-F238E27FC236}">
                <a16:creationId xmlns:a16="http://schemas.microsoft.com/office/drawing/2014/main" id="{F248058E-2DE2-461E-83B1-3B0B5F6966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925" y="0"/>
            <a:ext cx="9272588" cy="655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5.emf"/><Relationship Id="rId5" Type="http://schemas.openxmlformats.org/officeDocument/2006/relationships/package" Target="../embeddings/Microsoft_Word_Document2.docx"/><Relationship Id="rId4" Type="http://schemas.openxmlformats.org/officeDocument/2006/relationships/image" Target="../media/image1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Word_Document4.docx"/><Relationship Id="rId4" Type="http://schemas.openxmlformats.org/officeDocument/2006/relationships/image" Target="../media/image1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9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3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13.bin"/><Relationship Id="rId7" Type="http://schemas.openxmlformats.org/officeDocument/2006/relationships/package" Target="../embeddings/Microsoft_Word_Document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7.emf"/><Relationship Id="rId4" Type="http://schemas.openxmlformats.org/officeDocument/2006/relationships/image" Target="../media/image24.emf"/><Relationship Id="rId9" Type="http://schemas.openxmlformats.org/officeDocument/2006/relationships/package" Target="../embeddings/Microsoft_Word_Document9.docx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15.bin"/><Relationship Id="rId7" Type="http://schemas.openxmlformats.org/officeDocument/2006/relationships/package" Target="../embeddings/Microsoft_Word_Document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8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31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2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35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3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>
            <a:extLst>
              <a:ext uri="{FF2B5EF4-FFF2-40B4-BE49-F238E27FC236}">
                <a16:creationId xmlns:a16="http://schemas.microsoft.com/office/drawing/2014/main" id="{AD6758F5-FF76-4D02-8995-F12172A45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A1AFA33-D4A3-4E27-A9A3-C7F9AEA29A24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0B3C0DA-960C-4996-9EB4-1452DC974D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32268" y="2375991"/>
            <a:ext cx="5679463" cy="359786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  <p:extLst>
      <p:ext uri="{BB962C8B-B14F-4D97-AF65-F5344CB8AC3E}">
        <p14:creationId xmlns:p14="http://schemas.microsoft.com/office/powerpoint/2010/main" val="2084812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>
            <a:extLst>
              <a:ext uri="{FF2B5EF4-FFF2-40B4-BE49-F238E27FC236}">
                <a16:creationId xmlns:a16="http://schemas.microsoft.com/office/drawing/2014/main" id="{AD6758F5-FF76-4D02-8995-F12172A45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A1AFA33-D4A3-4E27-A9A3-C7F9AEA29A24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0B3C0DA-960C-4996-9EB4-1452DC974D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BEDA01E0-0450-4902-BE5A-7A33684CD1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8356" y="1079847"/>
            <a:ext cx="8507288" cy="3744416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RFID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系统中，数据传输的完整性存在两个方面的问题：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 一是外界的各种干扰可能使数据传输产生错误；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 二是多个应答器同时占用信道使发送数据产生碰撞。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运用</a:t>
            </a:r>
            <a:r>
              <a:rPr lang="zh-CN" altLang="en-US" sz="2400" u="sng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数据检验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（差错检测）和</a:t>
            </a:r>
            <a:r>
              <a:rPr lang="zh-CN" altLang="en-US" sz="2400" u="sng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防碰撞算法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可分别解决这两个问题。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>
            <a:extLst>
              <a:ext uri="{FF2B5EF4-FFF2-40B4-BE49-F238E27FC236}">
                <a16:creationId xmlns:a16="http://schemas.microsoft.com/office/drawing/2014/main" id="{C90391E7-E17A-42D6-A292-58216679A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B8FB483-7BB3-49B4-9106-1C71C2CDEDC2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6AC3BD9-1C8E-494A-A55E-37CDD3CAC0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901" y="648512"/>
            <a:ext cx="7344198" cy="5431151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 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差错检测 </a:t>
            </a:r>
            <a:endParaRPr lang="en-US" altLang="zh-CN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4.1.1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差错的性质和表示方法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随机错误：由信道中的随机噪声干扰引起。在出现这种错误时，前后位之间的错误彼此无关。 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突发错误：由突发干扰引起，当前面出现错误时，后面往往也会出现错误，它们之间有相关性。 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混合错误 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差错的表示方法：误比特率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150" name="Object 4">
            <a:extLst>
              <a:ext uri="{FF2B5EF4-FFF2-40B4-BE49-F238E27FC236}">
                <a16:creationId xmlns:a16="http://schemas.microsoft.com/office/drawing/2014/main" id="{7DB3E9BD-7CF9-459B-8FB2-4C8E688273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090748"/>
              </p:ext>
            </p:extLst>
          </p:nvPr>
        </p:nvGraphicFramePr>
        <p:xfrm>
          <a:off x="1866598" y="5168946"/>
          <a:ext cx="3538595" cy="964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Equation" r:id="rId3" imgW="2362200" imgH="647700" progId="Equation.DSMT4">
                  <p:embed/>
                </p:oleObj>
              </mc:Choice>
              <mc:Fallback>
                <p:oleObj name="Equation" r:id="rId3" imgW="2362200" imgH="647700" progId="Equation.DSMT4">
                  <p:embed/>
                  <p:pic>
                    <p:nvPicPr>
                      <p:cNvPr id="6150" name="Object 4">
                        <a:extLst>
                          <a:ext uri="{FF2B5EF4-FFF2-40B4-BE49-F238E27FC236}">
                            <a16:creationId xmlns:a16="http://schemas.microsoft.com/office/drawing/2014/main" id="{7DB3E9BD-7CF9-459B-8FB2-4C8E688273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598" y="5168946"/>
                        <a:ext cx="3538595" cy="9645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Rectangle 6">
            <a:extLst>
              <a:ext uri="{FF2B5EF4-FFF2-40B4-BE49-F238E27FC236}">
                <a16:creationId xmlns:a16="http://schemas.microsoft.com/office/drawing/2014/main" id="{3726D0A7-01DD-4BD5-9BAC-B8382F530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648" y="5742187"/>
            <a:ext cx="2156360" cy="383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90" dirty="0">
                <a:latin typeface="굴림" panose="020B0600000101010101" pitchFamily="34" charset="-127"/>
              </a:rPr>
              <a:t>突发错误长度</a:t>
            </a:r>
            <a:r>
              <a:rPr lang="en-US" altLang="zh-CN" sz="1890" i="1" dirty="0">
                <a:latin typeface="굴림" panose="020B0600000101010101" pitchFamily="34" charset="-127"/>
              </a:rPr>
              <a:t>b</a:t>
            </a:r>
            <a:r>
              <a:rPr lang="en-US" altLang="zh-CN" sz="1890" dirty="0">
                <a:latin typeface="굴림" panose="020B0600000101010101" pitchFamily="34" charset="-127"/>
              </a:rPr>
              <a:t>=5</a:t>
            </a:r>
            <a:r>
              <a:rPr lang="en-US" altLang="zh-CN" sz="1890" dirty="0">
                <a:latin typeface="굴림" panose="020B0600000101010101" pitchFamily="34" charset="-127"/>
                <a:ea typeface="굴림" panose="020B0600000101010101" pitchFamily="34" charset="-127"/>
              </a:rPr>
              <a:t> 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F8D0532-8573-4A34-A41A-D7BA9A3BB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30175"/>
            <a:ext cx="5166237" cy="359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>
            <a:extLst>
              <a:ext uri="{FF2B5EF4-FFF2-40B4-BE49-F238E27FC236}">
                <a16:creationId xmlns:a16="http://schemas.microsoft.com/office/drawing/2014/main" id="{1D1361F0-D07B-4B8A-8CB1-14B8DE44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30BD5CD-4A3F-4430-9A6D-F56DD0C248BF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B3EE82BE-49E5-479A-8B6C-C42D9A0F2B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4.1.2 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差错控制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在传输信息数据中增加一些冗余编码，使监督码元和信息码元之间建立一种确定的关系，实现差错控制编码和差错控制解码功能 。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反馈重发（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ARQ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）、前向纠错（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FEC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）和混合纠错（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HEC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 </a:t>
            </a:r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4995FE46-0790-49F8-B0A6-A257731BD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309" y="3712481"/>
            <a:ext cx="7008189" cy="1291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150000"/>
              </a:lnSpc>
              <a:buFontTx/>
              <a:buNone/>
            </a:pP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		     反馈重发发送端需要在得到接收端正确收到所发信息码元（通常以帧的形式发送）的确认信息后，才能认为发送成功。</a:t>
            </a:r>
          </a:p>
        </p:txBody>
      </p:sp>
      <p:sp>
        <p:nvSpPr>
          <p:cNvPr id="345093" name="Rectangle 5">
            <a:extLst>
              <a:ext uri="{FF2B5EF4-FFF2-40B4-BE49-F238E27FC236}">
                <a16:creationId xmlns:a16="http://schemas.microsoft.com/office/drawing/2014/main" id="{D5277A9E-A855-4E82-8AC4-E7EEB5CC5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518" y="3710981"/>
            <a:ext cx="7008189" cy="1293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150000"/>
              </a:lnSpc>
              <a:buFontTx/>
              <a:buNone/>
            </a:pP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		     前向纠错接收端通过纠错解码自动纠正传输中出现的差错，所以该方法不需要重传。这种方法需要采用具有很强纠错能力的编码技术 	</a:t>
            </a:r>
          </a:p>
        </p:txBody>
      </p:sp>
      <p:sp>
        <p:nvSpPr>
          <p:cNvPr id="345094" name="Rectangle 6">
            <a:extLst>
              <a:ext uri="{FF2B5EF4-FFF2-40B4-BE49-F238E27FC236}">
                <a16:creationId xmlns:a16="http://schemas.microsoft.com/office/drawing/2014/main" id="{F230255F-91D1-40F7-BCD3-B167AE1C4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3710981"/>
            <a:ext cx="6845914" cy="1087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150000"/>
              </a:lnSpc>
              <a:buFontTx/>
              <a:buNone/>
            </a:pP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	       混合纠错是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ARQ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FEC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的结合，设计思想是对出现的错误尽量纠正，纠正不了则需要通过重发来消除差错。 </a:t>
            </a:r>
            <a:endParaRPr lang="en-US" altLang="zh-CN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CF1A8A3-85AF-4DDE-B8E3-0A70B6D12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4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2" grpId="0"/>
      <p:bldP spid="345092" grpId="1"/>
      <p:bldP spid="345093" grpId="0"/>
      <p:bldP spid="345093" grpId="1"/>
      <p:bldP spid="34509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603F226A-6347-4BB9-B9D3-8254E889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1DE43CA-3FD0-4688-84F8-749538CACAA7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737CC0D5-48C1-483E-8E2A-0CF328C772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4.1.3 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检纠错码 </a:t>
            </a:r>
          </a:p>
          <a:p>
            <a:pPr lvl="1"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信息码元与监督码元 </a:t>
            </a:r>
          </a:p>
          <a:p>
            <a:pPr lvl="2" eaLnBrk="1" hangingPunct="1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198" name="Object 4">
            <a:extLst>
              <a:ext uri="{FF2B5EF4-FFF2-40B4-BE49-F238E27FC236}">
                <a16:creationId xmlns:a16="http://schemas.microsoft.com/office/drawing/2014/main" id="{5184A05B-3597-4347-A3BD-827633AC67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9936" y="2728573"/>
          <a:ext cx="4218114" cy="1134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图片" r:id="rId3" imgW="1916006" imgH="514022" progId="Word.Picture.8">
                  <p:embed/>
                </p:oleObj>
              </mc:Choice>
              <mc:Fallback>
                <p:oleObj name="图片" r:id="rId3" imgW="1916006" imgH="514022" progId="Word.Picture.8">
                  <p:embed/>
                  <p:pic>
                    <p:nvPicPr>
                      <p:cNvPr id="8198" name="Object 4">
                        <a:extLst>
                          <a:ext uri="{FF2B5EF4-FFF2-40B4-BE49-F238E27FC236}">
                            <a16:creationId xmlns:a16="http://schemas.microsoft.com/office/drawing/2014/main" id="{5184A05B-3597-4347-A3BD-827633AC67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936" y="2728573"/>
                        <a:ext cx="4218114" cy="1134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Rectangle 6">
            <a:extLst>
              <a:ext uri="{FF2B5EF4-FFF2-40B4-BE49-F238E27FC236}">
                <a16:creationId xmlns:a16="http://schemas.microsoft.com/office/drawing/2014/main" id="{948E32AB-0DCD-4A0B-AE45-4F7030117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6440" y="3805054"/>
            <a:ext cx="38101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信息码元 </a:t>
            </a:r>
            <a:r>
              <a:rPr lang="en-US" altLang="zh-CN" sz="2000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k        </a:t>
            </a:r>
            <a:r>
              <a:rPr lang="zh-CN" altLang="en-US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监督码元</a:t>
            </a:r>
            <a:r>
              <a:rPr lang="en-US" altLang="zh-CN" sz="2000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200" name="矩形 1">
            <a:extLst>
              <a:ext uri="{FF2B5EF4-FFF2-40B4-BE49-F238E27FC236}">
                <a16:creationId xmlns:a16="http://schemas.microsoft.com/office/drawing/2014/main" id="{130F331F-81D5-4669-B5FE-4DB8542AB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2463" y="4642626"/>
            <a:ext cx="23656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总码元数为</a:t>
            </a:r>
            <a:r>
              <a:rPr lang="en-US" altLang="zh-CN" sz="2000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en-US" altLang="zh-CN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= </a:t>
            </a:r>
            <a:r>
              <a:rPr lang="en-US" altLang="zh-CN" sz="2000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lang="en-US" altLang="zh-CN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+ </a:t>
            </a:r>
            <a:r>
              <a:rPr lang="en-US" altLang="zh-CN" sz="2000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lang="zh-CN" altLang="en-US" sz="20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BC7DAE4-B9E0-45DA-8513-AC3CE06769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>
            <a:extLst>
              <a:ext uri="{FF2B5EF4-FFF2-40B4-BE49-F238E27FC236}">
                <a16:creationId xmlns:a16="http://schemas.microsoft.com/office/drawing/2014/main" id="{5ED94275-C718-4FB0-9844-D1FBBCB4C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20FCED2-BB83-475E-850C-9645747235FF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9A36B387-9C7F-4BB1-BA54-36A67A463D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6702" y="809215"/>
            <a:ext cx="8229600" cy="449262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检纠错码的分类 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FDF0BF62-CA0B-43F6-BE41-1EC41B6E0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1776018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graphicFrame>
        <p:nvGraphicFramePr>
          <p:cNvPr id="9222" name="Object 4">
            <a:extLst>
              <a:ext uri="{FF2B5EF4-FFF2-40B4-BE49-F238E27FC236}">
                <a16:creationId xmlns:a16="http://schemas.microsoft.com/office/drawing/2014/main" id="{3FC96973-0B6E-44CA-906B-3785809EEE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863105"/>
              </p:ext>
            </p:extLst>
          </p:nvPr>
        </p:nvGraphicFramePr>
        <p:xfrm>
          <a:off x="1373913" y="1454050"/>
          <a:ext cx="6555177" cy="4251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图片" r:id="rId3" imgW="4204258" imgH="2723452" progId="Word.Picture.8">
                  <p:embed/>
                </p:oleObj>
              </mc:Choice>
              <mc:Fallback>
                <p:oleObj name="图片" r:id="rId3" imgW="4204258" imgH="2723452" progId="Word.Picture.8">
                  <p:embed/>
                  <p:pic>
                    <p:nvPicPr>
                      <p:cNvPr id="9222" name="Object 4">
                        <a:extLst>
                          <a:ext uri="{FF2B5EF4-FFF2-40B4-BE49-F238E27FC236}">
                            <a16:creationId xmlns:a16="http://schemas.microsoft.com/office/drawing/2014/main" id="{3FC96973-0B6E-44CA-906B-3785809EEE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913" y="1454050"/>
                        <a:ext cx="6555177" cy="4251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D4A4A1AF-8957-46FC-9D1C-6DC4B3CE42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93F4556D-7C0E-43AC-B194-1E0ABD4D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05EB479-5F97-44E3-A59B-D4FB6A9E2117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en-US" altLang="ko-KR" sz="1323" dirty="0">
              <a:solidFill>
                <a:srgbClr val="996633"/>
              </a:solidFill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D8AD95A-18AE-4818-BC34-5284BFC185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35533"/>
            <a:ext cx="8229600" cy="4609107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分组码 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码组的监督码元仅与本码组的信息码元有关，而与其他码元组的信息码元无关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卷积码 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码组的监督码元不仅与本码组的信息码元相关，而且与本码组相邻的前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个时刻输入的码组的信息码元之间也具有约束关系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性能优于分组码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交织码 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利用交织技术构造出来的编码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59DF623-82D6-41AF-BBA8-2E68112807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>
            <a:extLst>
              <a:ext uri="{FF2B5EF4-FFF2-40B4-BE49-F238E27FC236}">
                <a16:creationId xmlns:a16="http://schemas.microsoft.com/office/drawing/2014/main" id="{DB34A73D-B7E3-4413-B619-723040D8A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BB08695-C310-4731-BB89-477D89F44047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B9F56F8A-17F8-47B7-B9D7-6E5B940DC3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901" y="1007840"/>
            <a:ext cx="7344198" cy="486916"/>
          </a:xfrm>
        </p:spPr>
        <p:txBody>
          <a:bodyPr/>
          <a:lstStyle/>
          <a:p>
            <a:pPr eaLnBrk="1" hangingPunct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交织码</a:t>
            </a:r>
          </a:p>
        </p:txBody>
      </p:sp>
      <p:graphicFrame>
        <p:nvGraphicFramePr>
          <p:cNvPr id="11270" name="Object 4">
            <a:extLst>
              <a:ext uri="{FF2B5EF4-FFF2-40B4-BE49-F238E27FC236}">
                <a16:creationId xmlns:a16="http://schemas.microsoft.com/office/drawing/2014/main" id="{AC89943B-B3E6-4ADB-8DC1-2C12081AD4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4615698"/>
              </p:ext>
            </p:extLst>
          </p:nvPr>
        </p:nvGraphicFramePr>
        <p:xfrm>
          <a:off x="251883" y="1494755"/>
          <a:ext cx="8640233" cy="4347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name="图片" r:id="rId3" imgW="5643875" imgH="2085244" progId="Word.Picture.8">
                  <p:embed/>
                </p:oleObj>
              </mc:Choice>
              <mc:Fallback>
                <p:oleObj name="图片" r:id="rId3" imgW="5643875" imgH="2085244" progId="Word.Picture.8">
                  <p:embed/>
                  <p:pic>
                    <p:nvPicPr>
                      <p:cNvPr id="11270" name="Object 4">
                        <a:extLst>
                          <a:ext uri="{FF2B5EF4-FFF2-40B4-BE49-F238E27FC236}">
                            <a16:creationId xmlns:a16="http://schemas.microsoft.com/office/drawing/2014/main" id="{AC89943B-B3E6-4ADB-8DC1-2C12081AD4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883" y="1494755"/>
                        <a:ext cx="8640233" cy="43471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32946061-1170-40B7-A491-D21D418EF9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EE84514C-D2E5-4759-9D39-B9FEF1F69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sz="2646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4.1.4  </a:t>
            </a:r>
            <a:r>
              <a:rPr lang="zh-CN" altLang="en-US" sz="2646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数字通信系统的性能</a:t>
            </a:r>
            <a:endParaRPr lang="en-US" altLang="zh-CN" sz="2646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频谱效率和可靠性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E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/No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C/N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S/N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BD63AFC-7818-4461-BD8D-48A049FC2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30175"/>
            <a:ext cx="5166237" cy="359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>
            <a:extLst>
              <a:ext uri="{FF2B5EF4-FFF2-40B4-BE49-F238E27FC236}">
                <a16:creationId xmlns:a16="http://schemas.microsoft.com/office/drawing/2014/main" id="{28588EFC-34A4-402C-981A-B18C05818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5EB129E-13B3-435D-8122-4BF9251B959C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E00E5DBB-2565-411F-BA47-4869D92522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9726" y="719807"/>
            <a:ext cx="7704547" cy="1584176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268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4.1.5   RFID</a:t>
            </a:r>
            <a:r>
              <a:rPr lang="zh-CN" altLang="en-US" sz="2268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中的差错检测 </a:t>
            </a:r>
            <a:endParaRPr lang="en-US" altLang="zh-CN" sz="2268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189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线性分组码     奇偶校验码  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CRC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码</a:t>
            </a: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CRC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码（循环冗余码）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较强的检错能力，硬件实现简单</a:t>
            </a:r>
          </a:p>
          <a:p>
            <a:pPr lvl="1"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算法步骤 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37EEDE77-34D5-47CA-A92B-0B5D3657D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1852521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graphicFrame>
        <p:nvGraphicFramePr>
          <p:cNvPr id="13318" name="Object 4">
            <a:extLst>
              <a:ext uri="{FF2B5EF4-FFF2-40B4-BE49-F238E27FC236}">
                <a16:creationId xmlns:a16="http://schemas.microsoft.com/office/drawing/2014/main" id="{B0640D3E-80C2-40C5-A930-5ECB2C0E67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419961"/>
              </p:ext>
            </p:extLst>
          </p:nvPr>
        </p:nvGraphicFramePr>
        <p:xfrm>
          <a:off x="2915816" y="2173920"/>
          <a:ext cx="3934607" cy="4056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" name="图片" r:id="rId3" imgW="2488249" imgH="2561470" progId="Word.Picture.8">
                  <p:embed/>
                </p:oleObj>
              </mc:Choice>
              <mc:Fallback>
                <p:oleObj name="图片" r:id="rId3" imgW="2488249" imgH="2561470" progId="Word.Picture.8">
                  <p:embed/>
                  <p:pic>
                    <p:nvPicPr>
                      <p:cNvPr id="13318" name="Object 4">
                        <a:extLst>
                          <a:ext uri="{FF2B5EF4-FFF2-40B4-BE49-F238E27FC236}">
                            <a16:creationId xmlns:a16="http://schemas.microsoft.com/office/drawing/2014/main" id="{B0640D3E-80C2-40C5-A930-5ECB2C0E67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2173920"/>
                        <a:ext cx="3934607" cy="4056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8C40EBFA-B7A6-44BA-B952-C0DA34F89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9E405663-3F15-4477-9B21-83B916892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447A473-56A2-49E6-BDDA-0724B1CD78FA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387A8A14-81DF-41D7-B204-E9AF6289E2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35831"/>
            <a:ext cx="8229600" cy="424847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CRC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码（循环冗余码）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较强的检错能力，硬件实现简单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算法步骤 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位信息写成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阶多项式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设生成多项式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的阶为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用模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除法计算</a:t>
            </a:r>
            <a:r>
              <a:rPr lang="en-US" altLang="zh-CN" sz="20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XrM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)/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，获得余数多项式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用模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减法求得传送多项式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 </a:t>
            </a:r>
            <a:r>
              <a:rPr lang="en-US" altLang="zh-CN" sz="20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XrM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)-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，则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多项式系数序列的前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位为信息位，后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位为校验位，总位数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0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 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6FC9742-5BC2-4422-8975-23F8A07557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>
            <a:extLst>
              <a:ext uri="{FF2B5EF4-FFF2-40B4-BE49-F238E27FC236}">
                <a16:creationId xmlns:a16="http://schemas.microsoft.com/office/drawing/2014/main" id="{8C687C32-A64C-4989-8A3D-A20AD1D08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B3F8FA3-F0FD-41DE-91D6-DF8FE9D66CA9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97331C51-3478-404F-BB80-61F006618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901" y="719807"/>
            <a:ext cx="7344198" cy="4423619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  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防碰撞算法</a:t>
            </a:r>
          </a:p>
          <a:p>
            <a:pPr lvl="1" eaLnBrk="1" hangingPunct="1"/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有两个或两个以上的应答器同时发送数据，那么就会出现通信冲突，产生数据相互的干扰，即碰撞。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多个应答器处在多个阅读器的工作范围之内，它们之间的数据通信也会引起数据干扰。 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采取防碰撞（冲突）协议，由防碰撞算法（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Anti-collision Algorithms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）和有关命令来实现。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157A8BA-0C17-4BA4-A824-D547E17B79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502A5135-478E-49C7-BB3D-82D3649F6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9F6DCFD-24B5-4083-BBDB-EB9589A04A42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071C6671-0988-41C3-9234-A9C8FBCB34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883" y="994290"/>
            <a:ext cx="8640234" cy="4491594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4.2.1  ALOHA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纯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ALOHA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算法用于只读系统。当应答器进入射频能量场被激活以后，它就发送存储在应答器中的数据，且这些数据在一个周期性的循环中不断发送，直至应答器离开射频能量场。</a:t>
            </a:r>
          </a:p>
          <a:p>
            <a:pPr lvl="1" eaLnBrk="1" hangingPunct="1">
              <a:lnSpc>
                <a:spcPct val="150000"/>
              </a:lnSpc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时隙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ALOHA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 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把时间分为离散的时间段（时隙），每段时间对应一帧 </a:t>
            </a:r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1050B5FE-B88C-4885-AF24-3946298E9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8951" y="4478714"/>
            <a:ext cx="1475084" cy="383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9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信道吞吐率 </a:t>
            </a:r>
          </a:p>
        </p:txBody>
      </p:sp>
      <p:sp>
        <p:nvSpPr>
          <p:cNvPr id="16390" name="Rectangle 5">
            <a:extLst>
              <a:ext uri="{FF2B5EF4-FFF2-40B4-BE49-F238E27FC236}">
                <a16:creationId xmlns:a16="http://schemas.microsoft.com/office/drawing/2014/main" id="{00025D0A-C6CE-48F7-B518-F8431304E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992" y="4478715"/>
            <a:ext cx="1064715" cy="383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90" i="1" dirty="0">
                <a:ea typeface="굴림" panose="020B0600000101010101" pitchFamily="34" charset="-127"/>
              </a:rPr>
              <a:t>S=G</a:t>
            </a:r>
            <a:r>
              <a:rPr lang="en-US" altLang="zh-CN" sz="1890" dirty="0">
                <a:ea typeface="굴림" panose="020B0600000101010101" pitchFamily="34" charset="-127"/>
              </a:rPr>
              <a:t>e</a:t>
            </a:r>
            <a:r>
              <a:rPr lang="en-US" altLang="zh-CN" sz="1890" i="1" baseline="30000" dirty="0">
                <a:ea typeface="굴림" panose="020B0600000101010101" pitchFamily="34" charset="-127"/>
              </a:rPr>
              <a:t>-</a:t>
            </a:r>
            <a:r>
              <a:rPr lang="en-US" altLang="zh-CN" sz="1890" baseline="30000" dirty="0">
                <a:ea typeface="굴림" panose="020B0600000101010101" pitchFamily="34" charset="-127"/>
              </a:rPr>
              <a:t>2</a:t>
            </a:r>
            <a:r>
              <a:rPr lang="en-US" altLang="zh-CN" sz="1890" i="1" baseline="30000" dirty="0">
                <a:ea typeface="굴림" panose="020B0600000101010101" pitchFamily="34" charset="-127"/>
              </a:rPr>
              <a:t>G</a:t>
            </a:r>
            <a:r>
              <a:rPr lang="en-US" altLang="zh-CN" sz="1890" dirty="0">
                <a:ea typeface="굴림" panose="020B0600000101010101" pitchFamily="34" charset="-127"/>
              </a:rPr>
              <a:t> 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52FA8EC-87C4-4B44-A92F-04CB51D5E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502A5135-478E-49C7-BB3D-82D3649F6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9F6DCFD-24B5-4083-BBDB-EB9589A04A42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14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071C6671-0988-41C3-9234-A9C8FBCB34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883" y="692709"/>
            <a:ext cx="8640234" cy="535569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4.2.1  ALOHA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动态时隙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ALOHA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阅读器在等待状态中的循环时隙段内发送请求命令，该命令使工作应答器同步，然后提供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个时隙给工作应答器使用，工作应答器将选择自己的传送时隙，如果在这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个时隙内有较多应答器发生了数据碰撞，阅读器就用下一个请求命令增加可使用的时隙数（如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），直至不出现碰撞为止。 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值算法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在应答器数量较多的情况下，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该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算法可实时自适应地调整帧长，提高效率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391" name="Rectangle 6">
            <a:extLst>
              <a:ext uri="{FF2B5EF4-FFF2-40B4-BE49-F238E27FC236}">
                <a16:creationId xmlns:a16="http://schemas.microsoft.com/office/drawing/2014/main" id="{D6C5A7DC-BF50-418A-8328-328E32ACB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4464" y="4095718"/>
            <a:ext cx="15424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信道吞吐率 </a:t>
            </a:r>
          </a:p>
        </p:txBody>
      </p:sp>
      <p:sp>
        <p:nvSpPr>
          <p:cNvPr id="16392" name="Rectangle 7">
            <a:extLst>
              <a:ext uri="{FF2B5EF4-FFF2-40B4-BE49-F238E27FC236}">
                <a16:creationId xmlns:a16="http://schemas.microsoft.com/office/drawing/2014/main" id="{7660F660-48B0-41D4-906B-0A35BE215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4008" y="4104183"/>
            <a:ext cx="984565" cy="383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90" i="1" dirty="0">
                <a:ea typeface="굴림" panose="020B0600000101010101" pitchFamily="34" charset="-127"/>
              </a:rPr>
              <a:t>S=G</a:t>
            </a:r>
            <a:r>
              <a:rPr lang="en-US" altLang="zh-CN" sz="1890" dirty="0">
                <a:ea typeface="굴림" panose="020B0600000101010101" pitchFamily="34" charset="-127"/>
              </a:rPr>
              <a:t>e</a:t>
            </a:r>
            <a:r>
              <a:rPr lang="en-US" altLang="zh-CN" sz="1890" i="1" baseline="30000" dirty="0">
                <a:ea typeface="굴림" panose="020B0600000101010101" pitchFamily="34" charset="-127"/>
              </a:rPr>
              <a:t>-G</a:t>
            </a:r>
            <a:r>
              <a:rPr lang="en-US" altLang="zh-CN" sz="1890" dirty="0">
                <a:ea typeface="굴림" panose="020B0600000101010101" pitchFamily="34" charset="-127"/>
              </a:rPr>
              <a:t> 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52FA8EC-87C4-4B44-A92F-04CB51D5E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  <p:extLst>
      <p:ext uri="{BB962C8B-B14F-4D97-AF65-F5344CB8AC3E}">
        <p14:creationId xmlns:p14="http://schemas.microsoft.com/office/powerpoint/2010/main" val="329104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>
            <a:extLst>
              <a:ext uri="{FF2B5EF4-FFF2-40B4-BE49-F238E27FC236}">
                <a16:creationId xmlns:a16="http://schemas.microsoft.com/office/drawing/2014/main" id="{748E20FF-EF53-4741-B29A-5BF146CC0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B41A085-A4AF-46BF-A9EB-806837D77A10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15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8088BE4D-AAEF-4787-B106-D10D03BC45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883" y="863824"/>
            <a:ext cx="8640234" cy="1008112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ALOHA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值算法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7413" name="Picture 4">
            <a:extLst>
              <a:ext uri="{FF2B5EF4-FFF2-40B4-BE49-F238E27FC236}">
                <a16:creationId xmlns:a16="http://schemas.microsoft.com/office/drawing/2014/main" id="{7B19ACE5-2D73-4341-BACF-F5297CCDE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53" b="7703"/>
          <a:stretch>
            <a:fillRect/>
          </a:stretch>
        </p:blipFill>
        <p:spPr bwMode="auto">
          <a:xfrm>
            <a:off x="1593179" y="2087959"/>
            <a:ext cx="5957641" cy="316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FB860700-ECA4-4175-A658-2454EB0554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2E29485F-888B-4B02-ABDC-31A232229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D543D58-A8EF-4705-90DB-069CEBD37626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16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3A3AA163-0907-4488-8E2A-40CDD7F5D5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9359" y="791815"/>
            <a:ext cx="8579296" cy="208882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4.2.2 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二进制树形搜索方法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基于序列号的方法（详见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节）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随机数和时隙方法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/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采用递归的工作方式，遇到碰撞就进行分支，成为两个子集。这些分支越来越小，直到最后分支下面只有一个信息包或者为空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ACEC4F6D-9D08-4433-ACA6-4DBC193B6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2118027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graphicFrame>
        <p:nvGraphicFramePr>
          <p:cNvPr id="18438" name="Object 4">
            <a:extLst>
              <a:ext uri="{FF2B5EF4-FFF2-40B4-BE49-F238E27FC236}">
                <a16:creationId xmlns:a16="http://schemas.microsoft.com/office/drawing/2014/main" id="{6BB9CB6C-6B8B-4E35-A6F9-0D9EED41D3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280445"/>
              </p:ext>
            </p:extLst>
          </p:nvPr>
        </p:nvGraphicFramePr>
        <p:xfrm>
          <a:off x="1441416" y="3090339"/>
          <a:ext cx="6735182" cy="2863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name="Picture" r:id="rId3" imgW="4709475" imgH="1999574" progId="Word.Picture.8">
                  <p:embed/>
                </p:oleObj>
              </mc:Choice>
              <mc:Fallback>
                <p:oleObj name="Picture" r:id="rId3" imgW="4709475" imgH="1999574" progId="Word.Picture.8">
                  <p:embed/>
                  <p:pic>
                    <p:nvPicPr>
                      <p:cNvPr id="18438" name="Object 4">
                        <a:extLst>
                          <a:ext uri="{FF2B5EF4-FFF2-40B4-BE49-F238E27FC236}">
                            <a16:creationId xmlns:a16="http://schemas.microsoft.com/office/drawing/2014/main" id="{6BB9CB6C-6B8B-4E35-A6F9-0D9EED41D3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1416" y="3090339"/>
                        <a:ext cx="6735182" cy="2863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1A020D1B-C51E-4D18-A673-E49518A83A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>
            <a:extLst>
              <a:ext uri="{FF2B5EF4-FFF2-40B4-BE49-F238E27FC236}">
                <a16:creationId xmlns:a16="http://schemas.microsoft.com/office/drawing/2014/main" id="{4D3CDAE4-7C89-4C1F-9714-9F9F770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5B145BD-9730-41DB-8EE6-5C3D619C053C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17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B009B0B8-FFB1-406E-99F1-A87EFC4B59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查询树算法 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阅读器首先向所有应答器广播一个前缀，应答器将接收到的前缀与自己的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ID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进行比较，若匹配，则进行响应，将自己的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ID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号的未匹配部分发送给阅读器。如果有多个应答器响应，就会出现碰撞，此时阅读器在前缀后面增加一位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(0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1)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，生成新的前缀，再用新前缀进行查询。如此重复，直到只有一个应答器响应为止。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24DE7D13-8A3D-421E-B06D-963F7FBEE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2118027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1E92F81-26B5-4014-AE9C-5CBE4035C3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2343AE26-E46E-4380-8524-08A2E531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0167D46-C9A6-48A1-81DB-6668D821AE2D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18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21CDD7A0-892D-46C4-9C7D-80E6F5E72E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63823"/>
            <a:ext cx="8229600" cy="516771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4.2.3 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混合算法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基于鲁棒估计和二叉选择的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FSA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/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估算阶段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阅读器准确地估计应答器数量，从而确定最佳帧长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/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/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/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识别阶段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阅读器根据估算的应答器数量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确定最优帧长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/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基于引导帧和二叉选择的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FSA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通过使用位掩码将响应的应答器分成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个分组，用一个引导帧（长度为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lang="en-US" altLang="zh-CN" sz="2000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）估计识别第一个分组内的应答器所需的帧长。将应答器分成更小的分组可以有效降低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lang="en-US" altLang="zh-CN" sz="2000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的值，从而节约估计应答器所需时隙。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5BF011D4-0C04-4042-99EC-75123B0BA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2118027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sp>
        <p:nvSpPr>
          <p:cNvPr id="20486" name="Rectangle 2">
            <a:extLst>
              <a:ext uri="{FF2B5EF4-FFF2-40B4-BE49-F238E27FC236}">
                <a16:creationId xmlns:a16="http://schemas.microsoft.com/office/drawing/2014/main" id="{3591655A-EA97-40F3-B27E-D37A7F0FA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-177035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graphicFrame>
        <p:nvGraphicFramePr>
          <p:cNvPr id="20487" name="对象 2">
            <a:extLst>
              <a:ext uri="{FF2B5EF4-FFF2-40B4-BE49-F238E27FC236}">
                <a16:creationId xmlns:a16="http://schemas.microsoft.com/office/drawing/2014/main" id="{436B1E15-8811-478B-9ABE-A545DBF680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156719"/>
              </p:ext>
            </p:extLst>
          </p:nvPr>
        </p:nvGraphicFramePr>
        <p:xfrm>
          <a:off x="1941576" y="2015951"/>
          <a:ext cx="5125638" cy="681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2" name="Equation" r:id="rId3" imgW="3225800" imgH="431800" progId="Equation.DSMT4">
                  <p:embed/>
                </p:oleObj>
              </mc:Choice>
              <mc:Fallback>
                <p:oleObj name="Equation" r:id="rId3" imgW="3225800" imgH="431800" progId="Equation.DSMT4">
                  <p:embed/>
                  <p:pic>
                    <p:nvPicPr>
                      <p:cNvPr id="20487" name="对象 2">
                        <a:extLst>
                          <a:ext uri="{FF2B5EF4-FFF2-40B4-BE49-F238E27FC236}">
                            <a16:creationId xmlns:a16="http://schemas.microsoft.com/office/drawing/2014/main" id="{436B1E15-8811-478B-9ABE-A545DBF680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76" y="2015951"/>
                        <a:ext cx="5125638" cy="6810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Rectangle 4">
            <a:extLst>
              <a:ext uri="{FF2B5EF4-FFF2-40B4-BE49-F238E27FC236}">
                <a16:creationId xmlns:a16="http://schemas.microsoft.com/office/drawing/2014/main" id="{E6755C45-8DAC-4427-91ED-6E94F11B0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-177035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graphicFrame>
        <p:nvGraphicFramePr>
          <p:cNvPr id="20489" name="对象 4">
            <a:extLst>
              <a:ext uri="{FF2B5EF4-FFF2-40B4-BE49-F238E27FC236}">
                <a16:creationId xmlns:a16="http://schemas.microsoft.com/office/drawing/2014/main" id="{96F0EC88-BBFE-40E6-BA9D-5FADC45001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403998"/>
              </p:ext>
            </p:extLst>
          </p:nvPr>
        </p:nvGraphicFramePr>
        <p:xfrm>
          <a:off x="3347864" y="5616352"/>
          <a:ext cx="2313062" cy="41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3" name="Equation" r:id="rId5" imgW="1637589" imgH="266584" progId="Equation.DSMT4">
                  <p:embed/>
                </p:oleObj>
              </mc:Choice>
              <mc:Fallback>
                <p:oleObj name="Equation" r:id="rId5" imgW="1637589" imgH="266584" progId="Equation.DSMT4">
                  <p:embed/>
                  <p:pic>
                    <p:nvPicPr>
                      <p:cNvPr id="20489" name="对象 4">
                        <a:extLst>
                          <a:ext uri="{FF2B5EF4-FFF2-40B4-BE49-F238E27FC236}">
                            <a16:creationId xmlns:a16="http://schemas.microsoft.com/office/drawing/2014/main" id="{96F0EC88-BBFE-40E6-BA9D-5FADC45001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5616352"/>
                        <a:ext cx="2313062" cy="41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71A4AEEA-43BB-495C-A113-02324B5AA8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>
            <a:extLst>
              <a:ext uri="{FF2B5EF4-FFF2-40B4-BE49-F238E27FC236}">
                <a16:creationId xmlns:a16="http://schemas.microsoft.com/office/drawing/2014/main" id="{8A415705-7011-42A0-AA98-C7D97D98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D9072A4-FE58-41DF-870F-C795952FA791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19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09972E84-D4A6-44B7-B21F-2FAE1BD373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901" y="762443"/>
            <a:ext cx="7344198" cy="388810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  ISO/IEC 14443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标准中的防碰撞协议 </a:t>
            </a:r>
            <a:endParaRPr lang="en-US" altLang="zh-CN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4.3.1   TYPE A </a:t>
            </a:r>
          </a:p>
          <a:p>
            <a:pPr lvl="2"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帧有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种类型：短帧、标准帧和面向比特的防碰撞帧。 </a:t>
            </a:r>
          </a:p>
          <a:p>
            <a:pPr lvl="2"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命令集 </a:t>
            </a:r>
          </a:p>
          <a:p>
            <a:pPr lvl="3" eaLnBrk="1" hangingPunct="1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REQA/WUPA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 </a:t>
            </a:r>
          </a:p>
          <a:p>
            <a:pPr lvl="3" eaLnBrk="1" hangingPunct="1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ATQA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应答 </a:t>
            </a:r>
          </a:p>
          <a:p>
            <a:pPr lvl="3" eaLnBrk="1" hangingPunct="1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ANTICOLLISION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SELECT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 </a:t>
            </a:r>
          </a:p>
          <a:p>
            <a:pPr lvl="3" eaLnBrk="1" hangingPunct="1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应答 </a:t>
            </a:r>
          </a:p>
          <a:p>
            <a:pPr lvl="3" eaLnBrk="1" hangingPunct="1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HALT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 </a:t>
            </a:r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F2889DAA-8C83-4B3F-858D-1894F7C03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979497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A032474-F6AA-45DE-AC56-6B4888DDAE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688168"/>
              </p:ext>
            </p:extLst>
          </p:nvPr>
        </p:nvGraphicFramePr>
        <p:xfrm>
          <a:off x="3925870" y="3832446"/>
          <a:ext cx="4586288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" name="Document" r:id="rId3" imgW="2403107" imgH="614571" progId="Word.Document.12">
                  <p:embed/>
                </p:oleObj>
              </mc:Choice>
              <mc:Fallback>
                <p:oleObj name="Document" r:id="rId3" imgW="2403107" imgH="614571" progId="Word.Document.12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5A032474-F6AA-45DE-AC56-6B4888DDAE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5870" y="3832446"/>
                        <a:ext cx="4586288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6B22F992-D22D-457B-A0D5-E2F4939D5421}"/>
              </a:ext>
            </a:extLst>
          </p:cNvPr>
          <p:cNvSpPr/>
          <p:nvPr/>
        </p:nvSpPr>
        <p:spPr>
          <a:xfrm>
            <a:off x="5865824" y="4634689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短帧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438" name="Picture 6" descr="4t7">
            <a:extLst>
              <a:ext uri="{FF2B5EF4-FFF2-40B4-BE49-F238E27FC236}">
                <a16:creationId xmlns:a16="http://schemas.microsoft.com/office/drawing/2014/main" id="{692C1C79-0208-43A2-9397-62CB8E07D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53" y="4927117"/>
            <a:ext cx="5821658" cy="769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1AC9C55-839B-4085-A674-04B682A7AA71}"/>
              </a:ext>
            </a:extLst>
          </p:cNvPr>
          <p:cNvSpPr/>
          <p:nvPr/>
        </p:nvSpPr>
        <p:spPr>
          <a:xfrm>
            <a:off x="3015991" y="5756037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252F1C8-3D92-478D-B649-E39244D2CC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>
            <a:extLst>
              <a:ext uri="{FF2B5EF4-FFF2-40B4-BE49-F238E27FC236}">
                <a16:creationId xmlns:a16="http://schemas.microsoft.com/office/drawing/2014/main" id="{F86CC8BA-B35C-4F58-BD51-D1006AA491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402107"/>
              </p:ext>
            </p:extLst>
          </p:nvPr>
        </p:nvGraphicFramePr>
        <p:xfrm>
          <a:off x="1403648" y="647799"/>
          <a:ext cx="6336704" cy="5491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9" name="图片" r:id="rId3" imgW="4413984" imgH="4409142" progId="Word.Picture.8">
                  <p:embed/>
                </p:oleObj>
              </mc:Choice>
              <mc:Fallback>
                <p:oleObj name="图片" r:id="rId3" imgW="4413984" imgH="4409142" progId="Word.Picture.8">
                  <p:embed/>
                  <p:pic>
                    <p:nvPicPr>
                      <p:cNvPr id="22530" name="Object 2">
                        <a:extLst>
                          <a:ext uri="{FF2B5EF4-FFF2-40B4-BE49-F238E27FC236}">
                            <a16:creationId xmlns:a16="http://schemas.microsoft.com/office/drawing/2014/main" id="{F86CC8BA-B35C-4F58-BD51-D1006AA491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647799"/>
                        <a:ext cx="6336704" cy="549181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80C3FFBA-1575-4BBF-96BF-6B2AC7CA7625}"/>
              </a:ext>
            </a:extLst>
          </p:cNvPr>
          <p:cNvSpPr txBox="1">
            <a:spLocks noChangeArrowheads="1"/>
          </p:cNvSpPr>
          <p:nvPr/>
        </p:nvSpPr>
        <p:spPr>
          <a:xfrm>
            <a:off x="3635896" y="9928"/>
            <a:ext cx="5166237" cy="359786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>
            <a:extLst>
              <a:ext uri="{FF2B5EF4-FFF2-40B4-BE49-F238E27FC236}">
                <a16:creationId xmlns:a16="http://schemas.microsoft.com/office/drawing/2014/main" id="{160C877F-47F9-4AC8-AB41-833AB0AA5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BC05F92-7DD1-4C99-AE2F-372DCE610768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21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A9A48E9E-DFD2-4B60-A254-A6F47DF8CA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19807"/>
            <a:ext cx="8229600" cy="4276725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ISO/IEC 14443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标准中的防碰撞协议 </a:t>
            </a: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TYPE A    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命令集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ATQA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/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/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/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/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/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ANTICOLLISION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SELECT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命令的格式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13807D6E-5AA6-4CE2-87FB-D98937274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979497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graphicFrame>
        <p:nvGraphicFramePr>
          <p:cNvPr id="23558" name="对象 6">
            <a:extLst>
              <a:ext uri="{FF2B5EF4-FFF2-40B4-BE49-F238E27FC236}">
                <a16:creationId xmlns:a16="http://schemas.microsoft.com/office/drawing/2014/main" id="{804B782E-F730-440D-BFE6-B720BFA2AD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999548"/>
              </p:ext>
            </p:extLst>
          </p:nvPr>
        </p:nvGraphicFramePr>
        <p:xfrm>
          <a:off x="436615" y="2153782"/>
          <a:ext cx="8443913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4" name="Document" r:id="rId3" imgW="4145316" imgH="630052" progId="Word.Document.12">
                  <p:embed/>
                </p:oleObj>
              </mc:Choice>
              <mc:Fallback>
                <p:oleObj name="Document" r:id="rId3" imgW="4145316" imgH="630052" progId="Word.Document.12">
                  <p:embed/>
                  <p:pic>
                    <p:nvPicPr>
                      <p:cNvPr id="23558" name="对象 6">
                        <a:extLst>
                          <a:ext uri="{FF2B5EF4-FFF2-40B4-BE49-F238E27FC236}">
                            <a16:creationId xmlns:a16="http://schemas.microsoft.com/office/drawing/2014/main" id="{804B782E-F730-440D-BFE6-B720BFA2AD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615" y="2153782"/>
                        <a:ext cx="8443913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对象 9">
            <a:extLst>
              <a:ext uri="{FF2B5EF4-FFF2-40B4-BE49-F238E27FC236}">
                <a16:creationId xmlns:a16="http://schemas.microsoft.com/office/drawing/2014/main" id="{80BE3256-39EA-4E00-92F6-B1AAECC413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851273"/>
              </p:ext>
            </p:extLst>
          </p:nvPr>
        </p:nvGraphicFramePr>
        <p:xfrm>
          <a:off x="715221" y="4383985"/>
          <a:ext cx="788670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5" name="Document" r:id="rId5" imgW="3928501" imgH="610971" progId="Word.Document.12">
                  <p:embed/>
                </p:oleObj>
              </mc:Choice>
              <mc:Fallback>
                <p:oleObj name="Document" r:id="rId5" imgW="3928501" imgH="610971" progId="Word.Document.12">
                  <p:embed/>
                  <p:pic>
                    <p:nvPicPr>
                      <p:cNvPr id="23559" name="对象 9">
                        <a:extLst>
                          <a:ext uri="{FF2B5EF4-FFF2-40B4-BE49-F238E27FC236}">
                            <a16:creationId xmlns:a16="http://schemas.microsoft.com/office/drawing/2014/main" id="{80BE3256-39EA-4E00-92F6-B1AAECC413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221" y="4383985"/>
                        <a:ext cx="7886700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50B2E7EC-FFFD-46F0-8CED-FA9D1A7186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对象 1">
            <a:extLst>
              <a:ext uri="{FF2B5EF4-FFF2-40B4-BE49-F238E27FC236}">
                <a16:creationId xmlns:a16="http://schemas.microsoft.com/office/drawing/2014/main" id="{A14B77E9-F26B-4B41-B603-A6E46566E0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752984"/>
              </p:ext>
            </p:extLst>
          </p:nvPr>
        </p:nvGraphicFramePr>
        <p:xfrm>
          <a:off x="4387572" y="979497"/>
          <a:ext cx="4514850" cy="487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8" name="Document" r:id="rId3" imgW="3292894" imgH="3530452" progId="Word.Document.12">
                  <p:embed/>
                </p:oleObj>
              </mc:Choice>
              <mc:Fallback>
                <p:oleObj name="Document" r:id="rId3" imgW="3292894" imgH="3530452" progId="Word.Document.12">
                  <p:embed/>
                  <p:pic>
                    <p:nvPicPr>
                      <p:cNvPr id="24578" name="对象 1">
                        <a:extLst>
                          <a:ext uri="{FF2B5EF4-FFF2-40B4-BE49-F238E27FC236}">
                            <a16:creationId xmlns:a16="http://schemas.microsoft.com/office/drawing/2014/main" id="{A14B77E9-F26B-4B41-B603-A6E46566E0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572" y="979497"/>
                        <a:ext cx="4514850" cy="487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07704D6-47B3-4FED-AEA2-C96073474A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741699"/>
              </p:ext>
            </p:extLst>
          </p:nvPr>
        </p:nvGraphicFramePr>
        <p:xfrm>
          <a:off x="842531" y="3622675"/>
          <a:ext cx="4371975" cy="285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9" name="Document" r:id="rId5" imgW="2844609" imgH="1763786" progId="Word.Document.12">
                  <p:embed/>
                </p:oleObj>
              </mc:Choice>
              <mc:Fallback>
                <p:oleObj name="Document" r:id="rId5" imgW="2844609" imgH="1763786" progId="Word.Document.12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07704D6-47B3-4FED-AEA2-C96073474A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531" y="3622675"/>
                        <a:ext cx="4371975" cy="285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灯片编号占位符 5">
            <a:extLst>
              <a:ext uri="{FF2B5EF4-FFF2-40B4-BE49-F238E27FC236}">
                <a16:creationId xmlns:a16="http://schemas.microsoft.com/office/drawing/2014/main" id="{52EAEE43-5D4F-48E2-93FD-4383DE2E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73E586C-4965-4790-9B5D-7C2EEC53F3F5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22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24582" name="Rectangle 5">
            <a:extLst>
              <a:ext uri="{FF2B5EF4-FFF2-40B4-BE49-F238E27FC236}">
                <a16:creationId xmlns:a16="http://schemas.microsoft.com/office/drawing/2014/main" id="{5ECE6FCD-EC24-4139-831A-3D3769844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979497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DE5183-5640-4D13-9994-F639212EF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401" y="3099084"/>
            <a:ext cx="1412566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701">
                <a:ea typeface="굴림" panose="020B0600000101010101" pitchFamily="34" charset="-127"/>
              </a:rPr>
              <a:t>UID CL</a:t>
            </a:r>
            <a:r>
              <a:rPr lang="en-US" altLang="zh-CN" sz="1701" baseline="-25000">
                <a:ea typeface="굴림" panose="020B0600000101010101" pitchFamily="34" charset="-127"/>
              </a:rPr>
              <a:t>1</a:t>
            </a:r>
            <a:r>
              <a:rPr lang="zh-CN" altLang="zh-CN" sz="1701">
                <a:ea typeface="굴림" panose="020B0600000101010101" pitchFamily="34" charset="-127"/>
              </a:rPr>
              <a:t>编码</a:t>
            </a:r>
            <a:endParaRPr lang="zh-CN" altLang="en-US" sz="1701">
              <a:ea typeface="굴림" panose="020B0600000101010101" pitchFamily="34" charset="-127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9C541A-15EC-44B5-BBBD-386B9BAA6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902" y="4804630"/>
            <a:ext cx="2422458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701" dirty="0">
                <a:ea typeface="굴림" panose="020B0600000101010101" pitchFamily="34" charset="-127"/>
              </a:rPr>
              <a:t>UID CL</a:t>
            </a:r>
            <a:r>
              <a:rPr lang="en-US" altLang="zh-CN" sz="1701" baseline="-25000" dirty="0">
                <a:ea typeface="굴림" panose="020B0600000101010101" pitchFamily="34" charset="-127"/>
              </a:rPr>
              <a:t>2</a:t>
            </a:r>
            <a:r>
              <a:rPr lang="zh-CN" altLang="zh-CN" sz="1701" dirty="0">
                <a:ea typeface="굴림" panose="020B0600000101010101" pitchFamily="34" charset="-127"/>
              </a:rPr>
              <a:t>或</a:t>
            </a:r>
            <a:r>
              <a:rPr lang="en-US" altLang="zh-CN" sz="1701" dirty="0">
                <a:ea typeface="굴림" panose="020B0600000101010101" pitchFamily="34" charset="-127"/>
              </a:rPr>
              <a:t>UID CL</a:t>
            </a:r>
            <a:r>
              <a:rPr lang="en-US" altLang="zh-CN" sz="1701" baseline="-25000" dirty="0">
                <a:ea typeface="굴림" panose="020B0600000101010101" pitchFamily="34" charset="-127"/>
              </a:rPr>
              <a:t>3</a:t>
            </a:r>
            <a:r>
              <a:rPr lang="zh-CN" altLang="zh-CN" sz="1701" dirty="0">
                <a:ea typeface="굴림" panose="020B0600000101010101" pitchFamily="34" charset="-127"/>
              </a:rPr>
              <a:t>编码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7953A44E-79CB-47D6-A37C-286748341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609" y="748548"/>
            <a:ext cx="3336715" cy="228102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>
            <a:lvl1pPr marL="342900" indent="-342900" algn="l" rtl="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CN" sz="20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ISO/IEC 14443</a:t>
            </a:r>
            <a:r>
              <a:rPr lang="zh-CN" altLang="en-US" sz="20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标准中的防碰撞协议 </a:t>
            </a:r>
          </a:p>
          <a:p>
            <a:pPr lvl="1"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TYPE A </a:t>
            </a:r>
            <a:r>
              <a:rPr lang="zh-CN" altLang="zh-CN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命令集</a:t>
            </a:r>
            <a:endParaRPr lang="en-US" altLang="zh-CN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ANTICOLLISION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SELECT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 eaLnBrk="1" hangingPunct="1"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UID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endParaRPr lang="en-US" altLang="zh-CN" sz="200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endParaRPr lang="en-US" altLang="zh-CN" sz="200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endParaRPr lang="en-US" altLang="zh-CN" sz="200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endParaRPr lang="en-US" altLang="zh-CN" sz="200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endParaRPr lang="en-US" altLang="zh-CN" sz="200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0E78EDB-B0AE-4486-80BB-444C97761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>
            <a:extLst>
              <a:ext uri="{FF2B5EF4-FFF2-40B4-BE49-F238E27FC236}">
                <a16:creationId xmlns:a16="http://schemas.microsoft.com/office/drawing/2014/main" id="{0AF79DB2-AF9C-48DA-AE22-553E4E6DE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00DD22F-68BB-4BD9-923A-0585D87DDC58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23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25604" name="Rectangle 5">
            <a:extLst>
              <a:ext uri="{FF2B5EF4-FFF2-40B4-BE49-F238E27FC236}">
                <a16:creationId xmlns:a16="http://schemas.microsoft.com/office/drawing/2014/main" id="{587A1B3E-AC1F-41A7-AD03-7DA6B0FA6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979497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01BDF95-F12B-4B7D-B704-202C7E243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900" y="1156532"/>
            <a:ext cx="7344198" cy="388810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>
            <a:lvl1pPr marL="342900" indent="-342900" algn="l" rtl="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CN" sz="2079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ISO/IEC 14443</a:t>
            </a:r>
            <a:r>
              <a:rPr lang="zh-CN" altLang="en-US" sz="2079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标准中的防碰撞协议 </a:t>
            </a:r>
          </a:p>
          <a:p>
            <a:pPr lvl="1" eaLnBrk="1" hangingPunct="1">
              <a:defRPr/>
            </a:pPr>
            <a:r>
              <a:rPr lang="en-US" altLang="zh-CN" sz="189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TYPE A    </a:t>
            </a:r>
            <a:r>
              <a:rPr lang="zh-CN" altLang="zh-CN" sz="189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命令集</a:t>
            </a:r>
            <a:endParaRPr lang="en-US" altLang="zh-CN" sz="189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ANTICOLLISION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SELECT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 eaLnBrk="1" hangingPunct="1">
              <a:defRPr/>
            </a:pPr>
            <a:r>
              <a:rPr lang="en-US" altLang="zh-CN" sz="1512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SAK</a:t>
            </a:r>
            <a:r>
              <a:rPr lang="zh-CN" altLang="zh-CN" sz="1512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应答</a:t>
            </a:r>
            <a:endParaRPr lang="en-US" altLang="zh-CN" sz="1512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4" eaLnBrk="1" hangingPunct="1">
              <a:defRPr/>
            </a:pPr>
            <a:r>
              <a:rPr lang="en-US" altLang="zh-CN" sz="1323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SAK</a:t>
            </a:r>
            <a:r>
              <a:rPr lang="zh-CN" altLang="zh-CN" sz="1323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的结构和编码</a:t>
            </a:r>
            <a:endParaRPr lang="en-US" altLang="zh-CN" sz="1323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4" eaLnBrk="1" hangingPunct="1">
              <a:defRPr/>
            </a:pPr>
            <a:endParaRPr lang="en-US" altLang="zh-CN" sz="1323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64017" lvl="2" indent="0" eaLnBrk="1" hangingPunct="1">
              <a:buNone/>
              <a:defRPr/>
            </a:pPr>
            <a:endParaRPr lang="en-US" altLang="zh-CN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606" name="对象 6">
            <a:extLst>
              <a:ext uri="{FF2B5EF4-FFF2-40B4-BE49-F238E27FC236}">
                <a16:creationId xmlns:a16="http://schemas.microsoft.com/office/drawing/2014/main" id="{11D708E4-8B9F-4112-AE62-7B05B3E8F3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262916"/>
              </p:ext>
            </p:extLst>
          </p:nvPr>
        </p:nvGraphicFramePr>
        <p:xfrm>
          <a:off x="1550193" y="3744143"/>
          <a:ext cx="6043613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1" name="Document" r:id="rId3" imgW="3007822" imgH="586849" progId="Word.Document.12">
                  <p:embed/>
                </p:oleObj>
              </mc:Choice>
              <mc:Fallback>
                <p:oleObj name="Document" r:id="rId3" imgW="3007822" imgH="586849" progId="Word.Document.12">
                  <p:embed/>
                  <p:pic>
                    <p:nvPicPr>
                      <p:cNvPr id="25606" name="对象 6">
                        <a:extLst>
                          <a:ext uri="{FF2B5EF4-FFF2-40B4-BE49-F238E27FC236}">
                            <a16:creationId xmlns:a16="http://schemas.microsoft.com/office/drawing/2014/main" id="{11D708E4-8B9F-4112-AE62-7B05B3E8F3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193" y="3744143"/>
                        <a:ext cx="6043613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7D8C8B39-DCBA-4F7F-86C3-DA5862719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896" y="130175"/>
            <a:ext cx="5166237" cy="35978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1B0C3443-B98C-442F-BBC8-3C4F491C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37E3351-9F6B-4CEE-9D0B-9778799681A9}" type="slidenum">
              <a:rPr lang="en-US" altLang="ko-KR" sz="2000">
                <a:solidFill>
                  <a:srgbClr val="996633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24</a:t>
            </a:fld>
            <a:endParaRPr lang="en-US" altLang="ko-KR" sz="2000">
              <a:solidFill>
                <a:srgbClr val="996633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6386E72D-91E9-4C14-9442-743E180A9C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7891" y="216005"/>
            <a:ext cx="6984189" cy="1080029"/>
          </a:xfrm>
        </p:spPr>
        <p:txBody>
          <a:bodyPr/>
          <a:lstStyle/>
          <a:p>
            <a:pPr eaLnBrk="1" hangingPunct="1"/>
            <a:r>
              <a:rPr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613BED78-D178-4951-B63E-3B52F830B1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PICC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的状态</a:t>
            </a:r>
          </a:p>
          <a:p>
            <a:pPr lvl="1" eaLnBrk="1" hangingPunct="1"/>
            <a:endParaRPr lang="en-US" altLang="zh-CN" sz="20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Power-off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（断电）状态 </a:t>
            </a:r>
          </a:p>
          <a:p>
            <a:pPr lvl="1" eaLnBrk="1" hangingPunct="1"/>
            <a:r>
              <a:rPr lang="en-US" altLang="zh-CN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Idle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（休闲）状态 </a:t>
            </a:r>
          </a:p>
          <a:p>
            <a:pPr lvl="1" eaLnBrk="1" hangingPunct="1"/>
            <a:r>
              <a:rPr lang="en-US" altLang="zh-CN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Ready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（就绪）状态 </a:t>
            </a:r>
          </a:p>
          <a:p>
            <a:pPr lvl="1" eaLnBrk="1" hangingPunct="1"/>
            <a:r>
              <a:rPr lang="en-US" altLang="zh-CN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Active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（激活）状态 </a:t>
            </a:r>
          </a:p>
          <a:p>
            <a:pPr lvl="1" eaLnBrk="1" hangingPunct="1"/>
            <a:r>
              <a:rPr lang="en-US" altLang="zh-CN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Halt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（停止）状态  </a:t>
            </a:r>
          </a:p>
        </p:txBody>
      </p:sp>
      <p:graphicFrame>
        <p:nvGraphicFramePr>
          <p:cNvPr id="26630" name="Object 4">
            <a:extLst>
              <a:ext uri="{FF2B5EF4-FFF2-40B4-BE49-F238E27FC236}">
                <a16:creationId xmlns:a16="http://schemas.microsoft.com/office/drawing/2014/main" id="{2C824A5A-3455-4C86-934F-E5352FB695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169194"/>
              </p:ext>
            </p:extLst>
          </p:nvPr>
        </p:nvGraphicFramePr>
        <p:xfrm>
          <a:off x="4427984" y="969395"/>
          <a:ext cx="3571541" cy="4931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5" name="图片" r:id="rId3" imgW="2354557" imgH="3342582" progId="Word.Picture.8">
                  <p:embed/>
                </p:oleObj>
              </mc:Choice>
              <mc:Fallback>
                <p:oleObj name="图片" r:id="rId3" imgW="2354557" imgH="3342582" progId="Word.Picture.8">
                  <p:embed/>
                  <p:pic>
                    <p:nvPicPr>
                      <p:cNvPr id="26630" name="Object 4">
                        <a:extLst>
                          <a:ext uri="{FF2B5EF4-FFF2-40B4-BE49-F238E27FC236}">
                            <a16:creationId xmlns:a16="http://schemas.microsoft.com/office/drawing/2014/main" id="{2C824A5A-3455-4C86-934F-E5352FB695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908"/>
                      <a:stretch>
                        <a:fillRect/>
                      </a:stretch>
                    </p:blipFill>
                    <p:spPr bwMode="auto">
                      <a:xfrm>
                        <a:off x="4427984" y="969395"/>
                        <a:ext cx="3571541" cy="493134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43FC58A0-DE27-4EAC-AB4B-B0236727C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30175"/>
            <a:ext cx="5166237" cy="359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>
            <a:extLst>
              <a:ext uri="{FF2B5EF4-FFF2-40B4-BE49-F238E27FC236}">
                <a16:creationId xmlns:a16="http://schemas.microsoft.com/office/drawing/2014/main" id="{437F4E34-C905-4964-8490-1C8E0B91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64FDC6F-A896-4242-88DF-475A6FBCDE52}" type="slidenum">
              <a:rPr lang="en-US" altLang="ko-KR" sz="1323">
                <a:solidFill>
                  <a:srgbClr val="996633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25</a:t>
            </a:fld>
            <a:endParaRPr lang="en-US" altLang="ko-KR" sz="1323">
              <a:solidFill>
                <a:srgbClr val="996633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454F84BA-8B22-4D08-900F-ACF0EFAD9B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4640" y="1043708"/>
            <a:ext cx="1954560" cy="504651"/>
          </a:xfrm>
        </p:spPr>
        <p:txBody>
          <a:bodyPr/>
          <a:lstStyle/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防碰撞流程 </a:t>
            </a:r>
          </a:p>
        </p:txBody>
      </p:sp>
      <p:graphicFrame>
        <p:nvGraphicFramePr>
          <p:cNvPr id="27654" name="Object 4">
            <a:extLst>
              <a:ext uri="{FF2B5EF4-FFF2-40B4-BE49-F238E27FC236}">
                <a16:creationId xmlns:a16="http://schemas.microsoft.com/office/drawing/2014/main" id="{68860774-64F3-4807-A7E3-25B16566DB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814620"/>
              </p:ext>
            </p:extLst>
          </p:nvPr>
        </p:nvGraphicFramePr>
        <p:xfrm>
          <a:off x="3005986" y="756019"/>
          <a:ext cx="4516537" cy="5297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9" name="图片" r:id="rId3" imgW="4080296" imgH="4780620" progId="Word.Picture.8">
                  <p:embed/>
                </p:oleObj>
              </mc:Choice>
              <mc:Fallback>
                <p:oleObj name="图片" r:id="rId3" imgW="4080296" imgH="4780620" progId="Word.Picture.8">
                  <p:embed/>
                  <p:pic>
                    <p:nvPicPr>
                      <p:cNvPr id="27654" name="Object 4">
                        <a:extLst>
                          <a:ext uri="{FF2B5EF4-FFF2-40B4-BE49-F238E27FC236}">
                            <a16:creationId xmlns:a16="http://schemas.microsoft.com/office/drawing/2014/main" id="{68860774-64F3-4807-A7E3-25B16566DB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5986" y="756019"/>
                        <a:ext cx="4516537" cy="529770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A02704D1-650A-4CEB-97DF-9C4231359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30175"/>
            <a:ext cx="5166237" cy="359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25EFF40A-2555-442A-BC0B-28908D4BE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7866F0A-4A9F-4752-AAA7-A66359DD2EAE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26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D3E48FAA-E447-467C-9013-A196E8D8F4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308" y="635931"/>
            <a:ext cx="7750709" cy="388810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4.3.2  TYPE B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的防碰撞协议</a:t>
            </a:r>
          </a:p>
          <a:p>
            <a:pPr lvl="1" eaLnBrk="1" hangingPunct="1">
              <a:lnSpc>
                <a:spcPct val="150000"/>
              </a:lnSpc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REQB/WUPB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 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SLOT-MARKER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 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ATQB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应答 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ATTRIB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 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HLTB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命令及应答  </a:t>
            </a:r>
          </a:p>
          <a:p>
            <a:pPr lvl="1" eaLnBrk="1" hangingPunct="1">
              <a:lnSpc>
                <a:spcPct val="150000"/>
              </a:lnSpc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D19002ED-9E57-4E5E-A7A7-1596F943D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871494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graphicFrame>
        <p:nvGraphicFramePr>
          <p:cNvPr id="28678" name="Object 4">
            <a:extLst>
              <a:ext uri="{FF2B5EF4-FFF2-40B4-BE49-F238E27FC236}">
                <a16:creationId xmlns:a16="http://schemas.microsoft.com/office/drawing/2014/main" id="{173054EA-1475-4537-8AA2-23BB1B8F07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7663451"/>
              </p:ext>
            </p:extLst>
          </p:nvPr>
        </p:nvGraphicFramePr>
        <p:xfrm>
          <a:off x="4129329" y="845047"/>
          <a:ext cx="4701860" cy="479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3" name="图片" r:id="rId3" imgW="4557045" imgH="4637716" progId="Word.Picture.8">
                  <p:embed/>
                </p:oleObj>
              </mc:Choice>
              <mc:Fallback>
                <p:oleObj name="图片" r:id="rId3" imgW="4557045" imgH="4637716" progId="Word.Picture.8">
                  <p:embed/>
                  <p:pic>
                    <p:nvPicPr>
                      <p:cNvPr id="28678" name="Object 4">
                        <a:extLst>
                          <a:ext uri="{FF2B5EF4-FFF2-40B4-BE49-F238E27FC236}">
                            <a16:creationId xmlns:a16="http://schemas.microsoft.com/office/drawing/2014/main" id="{173054EA-1475-4537-8AA2-23BB1B8F07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9329" y="845047"/>
                        <a:ext cx="4701860" cy="479008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F9345798-AAD8-4971-B4A6-36BE8D5A3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30175"/>
            <a:ext cx="5166237" cy="359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>
            <a:extLst>
              <a:ext uri="{FF2B5EF4-FFF2-40B4-BE49-F238E27FC236}">
                <a16:creationId xmlns:a16="http://schemas.microsoft.com/office/drawing/2014/main" id="{B91D603A-E053-4702-B1E5-3A4E0134A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4480C0C-A8F2-4CF2-B08D-A61A42E223B7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27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5212004F-2819-43B6-AD18-B16D9C1CFD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61215"/>
            <a:ext cx="8229600" cy="1402759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TYPE B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的防碰撞协议</a:t>
            </a:r>
          </a:p>
          <a:p>
            <a:pPr lvl="1" eaLnBrk="1" hangingPunct="1"/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REQB/WUPB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 </a:t>
            </a:r>
          </a:p>
          <a:p>
            <a:pPr lvl="1" eaLnBrk="1" hangingPunct="1"/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FAC05AF9-A44D-4526-88EF-45DAAF5EA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871494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graphicFrame>
        <p:nvGraphicFramePr>
          <p:cNvPr id="29702" name="对象 1">
            <a:extLst>
              <a:ext uri="{FF2B5EF4-FFF2-40B4-BE49-F238E27FC236}">
                <a16:creationId xmlns:a16="http://schemas.microsoft.com/office/drawing/2014/main" id="{3B4BB7BD-5C85-4C71-9B9A-7C8EE71BFD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9020098"/>
              </p:ext>
            </p:extLst>
          </p:nvPr>
        </p:nvGraphicFramePr>
        <p:xfrm>
          <a:off x="301125" y="2808039"/>
          <a:ext cx="8543925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7" name="Document" r:id="rId3" imgW="4752332" imgH="626812" progId="Word.Document.12">
                  <p:embed/>
                </p:oleObj>
              </mc:Choice>
              <mc:Fallback>
                <p:oleObj name="Document" r:id="rId3" imgW="4752332" imgH="626812" progId="Word.Document.12">
                  <p:embed/>
                  <p:pic>
                    <p:nvPicPr>
                      <p:cNvPr id="29702" name="对象 1">
                        <a:extLst>
                          <a:ext uri="{FF2B5EF4-FFF2-40B4-BE49-F238E27FC236}">
                            <a16:creationId xmlns:a16="http://schemas.microsoft.com/office/drawing/2014/main" id="{3B4BB7BD-5C85-4C71-9B9A-7C8EE71BFD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25" y="2808039"/>
                        <a:ext cx="8543925" cy="1128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59D7FD04-11C9-4970-9953-639FA37B6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30175"/>
            <a:ext cx="5166237" cy="359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17B90D76-3EF4-437F-9584-02EB240C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9697F6D-25DA-4A0D-971F-92E5788971FD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28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8670C92-E865-4137-9F09-FF1216B6B9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576" y="665166"/>
            <a:ext cx="7344198" cy="1117017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TYPE B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的防碰撞协议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REQB/WUPB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 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AFI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编码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AE5E5045-EA2F-4C20-B59E-38BCC5D3F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871494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E2F76A3-5515-4E1C-ACA8-09970E8345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7777970"/>
              </p:ext>
            </p:extLst>
          </p:nvPr>
        </p:nvGraphicFramePr>
        <p:xfrm>
          <a:off x="571500" y="1957388"/>
          <a:ext cx="8001000" cy="394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1" name="Document" r:id="rId3" imgW="5514449" imgH="2796711" progId="Word.Document.12">
                  <p:embed/>
                </p:oleObj>
              </mc:Choice>
              <mc:Fallback>
                <p:oleObj name="Document" r:id="rId3" imgW="5514449" imgH="2796711" progId="Word.Document.12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7E2F76A3-5515-4E1C-ACA8-09970E8345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1957388"/>
                        <a:ext cx="8001000" cy="394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5CDC0689-75FA-4861-BE09-74537F81F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30175"/>
            <a:ext cx="5166237" cy="359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对象 8">
            <a:extLst>
              <a:ext uri="{FF2B5EF4-FFF2-40B4-BE49-F238E27FC236}">
                <a16:creationId xmlns:a16="http://schemas.microsoft.com/office/drawing/2014/main" id="{3B176EA5-5CF3-4755-82A8-8D4DA1472B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415247"/>
              </p:ext>
            </p:extLst>
          </p:nvPr>
        </p:nvGraphicFramePr>
        <p:xfrm>
          <a:off x="344249" y="4564900"/>
          <a:ext cx="7483703" cy="988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8" name="文档" r:id="rId3" imgW="5483233" imgH="631005" progId="Word.Document.12">
                  <p:embed/>
                </p:oleObj>
              </mc:Choice>
              <mc:Fallback>
                <p:oleObj name="文档" r:id="rId3" imgW="5483233" imgH="631005" progId="Word.Document.12">
                  <p:embed/>
                  <p:pic>
                    <p:nvPicPr>
                      <p:cNvPr id="31746" name="对象 8">
                        <a:extLst>
                          <a:ext uri="{FF2B5EF4-FFF2-40B4-BE49-F238E27FC236}">
                            <a16:creationId xmlns:a16="http://schemas.microsoft.com/office/drawing/2014/main" id="{3B176EA5-5CF3-4755-82A8-8D4DA1472B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249" y="4564900"/>
                        <a:ext cx="7483703" cy="9885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对象 6">
            <a:extLst>
              <a:ext uri="{FF2B5EF4-FFF2-40B4-BE49-F238E27FC236}">
                <a16:creationId xmlns:a16="http://schemas.microsoft.com/office/drawing/2014/main" id="{E242D688-04FF-42D1-943D-95A9F09F82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7005411"/>
              </p:ext>
            </p:extLst>
          </p:nvPr>
        </p:nvGraphicFramePr>
        <p:xfrm>
          <a:off x="344249" y="3117834"/>
          <a:ext cx="9171248" cy="1054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9" name="文档" r:id="rId5" imgW="5483233" imgH="631005" progId="Word.Document.12">
                  <p:embed/>
                </p:oleObj>
              </mc:Choice>
              <mc:Fallback>
                <p:oleObj name="文档" r:id="rId5" imgW="5483233" imgH="631005" progId="Word.Document.12">
                  <p:embed/>
                  <p:pic>
                    <p:nvPicPr>
                      <p:cNvPr id="31747" name="对象 6">
                        <a:extLst>
                          <a:ext uri="{FF2B5EF4-FFF2-40B4-BE49-F238E27FC236}">
                            <a16:creationId xmlns:a16="http://schemas.microsoft.com/office/drawing/2014/main" id="{E242D688-04FF-42D1-943D-95A9F09F82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249" y="3117834"/>
                        <a:ext cx="9171248" cy="1054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对象 2">
            <a:extLst>
              <a:ext uri="{FF2B5EF4-FFF2-40B4-BE49-F238E27FC236}">
                <a16:creationId xmlns:a16="http://schemas.microsoft.com/office/drawing/2014/main" id="{5EE2B4F2-C57C-4855-8869-80EFA96C61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698566"/>
              </p:ext>
            </p:extLst>
          </p:nvPr>
        </p:nvGraphicFramePr>
        <p:xfrm>
          <a:off x="477117" y="1688883"/>
          <a:ext cx="4129087" cy="989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0" name="Document" r:id="rId7" imgW="2208019" imgH="586849" progId="Word.Document.12">
                  <p:embed/>
                </p:oleObj>
              </mc:Choice>
              <mc:Fallback>
                <p:oleObj name="Document" r:id="rId7" imgW="2208019" imgH="586849" progId="Word.Document.12">
                  <p:embed/>
                  <p:pic>
                    <p:nvPicPr>
                      <p:cNvPr id="31748" name="对象 2">
                        <a:extLst>
                          <a:ext uri="{FF2B5EF4-FFF2-40B4-BE49-F238E27FC236}">
                            <a16:creationId xmlns:a16="http://schemas.microsoft.com/office/drawing/2014/main" id="{5EE2B4F2-C57C-4855-8869-80EFA96C61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117" y="1688883"/>
                        <a:ext cx="4129087" cy="9892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灯片编号占位符 5">
            <a:extLst>
              <a:ext uri="{FF2B5EF4-FFF2-40B4-BE49-F238E27FC236}">
                <a16:creationId xmlns:a16="http://schemas.microsoft.com/office/drawing/2014/main" id="{177FA5FD-3CFB-49F1-8C8D-57C3CB459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06B0B0E-904F-4385-A65A-BC7EC5A8018E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29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704A2DC5-962C-48A9-A2AA-429F970677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7702" y="678532"/>
            <a:ext cx="8229600" cy="191203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TYPE B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的防碰撞协议</a:t>
            </a:r>
          </a:p>
          <a:p>
            <a:pPr lvl="1" eaLnBrk="1" hangingPunct="1"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SLOT-MARKER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</a:t>
            </a:r>
          </a:p>
          <a:p>
            <a:pPr lvl="1" eaLnBrk="1" hangingPunct="1">
              <a:defRPr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defRPr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defRPr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ATQB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应答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defRPr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defRPr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defRPr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协议信息域的结构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0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时比特率的设置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defRPr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752" name="Rectangle 5">
            <a:extLst>
              <a:ext uri="{FF2B5EF4-FFF2-40B4-BE49-F238E27FC236}">
                <a16:creationId xmlns:a16="http://schemas.microsoft.com/office/drawing/2014/main" id="{B69DF96F-7F9D-4B74-A3DC-72235B421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871494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9572A0A-EA52-4C73-990A-E69290F666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8720997"/>
              </p:ext>
            </p:extLst>
          </p:nvPr>
        </p:nvGraphicFramePr>
        <p:xfrm>
          <a:off x="5016546" y="979170"/>
          <a:ext cx="3300413" cy="2191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1" name="Document" r:id="rId9" imgW="2088360" imgH="1399796" progId="Word.Document.12">
                  <p:embed/>
                </p:oleObj>
              </mc:Choice>
              <mc:Fallback>
                <p:oleObj name="Document" r:id="rId9" imgW="2088360" imgH="1399796" progId="Word.Document.12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9572A0A-EA52-4C73-990A-E69290F666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46" y="979170"/>
                        <a:ext cx="3300413" cy="21915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6A67B0C3-E92F-4D56-A9EF-13F47D998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30175"/>
            <a:ext cx="5166237" cy="359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对象 3">
            <a:extLst>
              <a:ext uri="{FF2B5EF4-FFF2-40B4-BE49-F238E27FC236}">
                <a16:creationId xmlns:a16="http://schemas.microsoft.com/office/drawing/2014/main" id="{DB5F293D-789F-4739-BB50-2D722B12C1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035114"/>
              </p:ext>
            </p:extLst>
          </p:nvPr>
        </p:nvGraphicFramePr>
        <p:xfrm>
          <a:off x="217382" y="4925919"/>
          <a:ext cx="8572732" cy="1156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1" name="文档" r:id="rId3" imgW="5483233" imgH="631005" progId="Word.Document.12">
                  <p:embed/>
                </p:oleObj>
              </mc:Choice>
              <mc:Fallback>
                <p:oleObj name="文档" r:id="rId3" imgW="5483233" imgH="631005" progId="Word.Document.12">
                  <p:embed/>
                  <p:pic>
                    <p:nvPicPr>
                      <p:cNvPr id="32770" name="对象 3">
                        <a:extLst>
                          <a:ext uri="{FF2B5EF4-FFF2-40B4-BE49-F238E27FC236}">
                            <a16:creationId xmlns:a16="http://schemas.microsoft.com/office/drawing/2014/main" id="{DB5F293D-789F-4739-BB50-2D722B12C1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82" y="4925919"/>
                        <a:ext cx="8572732" cy="11565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对象 1">
            <a:extLst>
              <a:ext uri="{FF2B5EF4-FFF2-40B4-BE49-F238E27FC236}">
                <a16:creationId xmlns:a16="http://schemas.microsoft.com/office/drawing/2014/main" id="{8B7F3CE4-E8E6-4907-9544-621E5A4CFC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720742"/>
              </p:ext>
            </p:extLst>
          </p:nvPr>
        </p:nvGraphicFramePr>
        <p:xfrm>
          <a:off x="217382" y="1992315"/>
          <a:ext cx="8709236" cy="1002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2" name="文档" r:id="rId5" imgW="5483233" imgH="631005" progId="Word.Document.12">
                  <p:embed/>
                </p:oleObj>
              </mc:Choice>
              <mc:Fallback>
                <p:oleObj name="文档" r:id="rId5" imgW="5483233" imgH="631005" progId="Word.Document.12">
                  <p:embed/>
                  <p:pic>
                    <p:nvPicPr>
                      <p:cNvPr id="32771" name="对象 1">
                        <a:extLst>
                          <a:ext uri="{FF2B5EF4-FFF2-40B4-BE49-F238E27FC236}">
                            <a16:creationId xmlns:a16="http://schemas.microsoft.com/office/drawing/2014/main" id="{8B7F3CE4-E8E6-4907-9544-621E5A4CFC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82" y="1992315"/>
                        <a:ext cx="8709236" cy="10020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灯片编号占位符 5">
            <a:extLst>
              <a:ext uri="{FF2B5EF4-FFF2-40B4-BE49-F238E27FC236}">
                <a16:creationId xmlns:a16="http://schemas.microsoft.com/office/drawing/2014/main" id="{4D38BD9F-AD85-4113-9503-9A43BADCE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569" y="6234168"/>
            <a:ext cx="1800049" cy="4320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FC3C5C4-6CAA-4EEF-A8AC-95C95F0757FD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30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9C00395C-8007-4390-B01F-68AA067E24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649194"/>
            <a:ext cx="8229600" cy="42767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TYPE B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的防碰撞协议</a:t>
            </a:r>
          </a:p>
          <a:p>
            <a:pPr lvl="1" eaLnBrk="1" hangingPunct="1"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ATTRIB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ATTRIB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命令结构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32008" lvl="1" indent="0">
              <a:buNone/>
              <a:defRPr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Param1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编码的结构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ATTRIB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命令的响应格式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>
              <a:defRPr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775" name="Rectangle 5">
            <a:extLst>
              <a:ext uri="{FF2B5EF4-FFF2-40B4-BE49-F238E27FC236}">
                <a16:creationId xmlns:a16="http://schemas.microsoft.com/office/drawing/2014/main" id="{9486A85D-6761-4F59-86AD-2A6566992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871494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graphicFrame>
        <p:nvGraphicFramePr>
          <p:cNvPr id="32776" name="对象 2">
            <a:extLst>
              <a:ext uri="{FF2B5EF4-FFF2-40B4-BE49-F238E27FC236}">
                <a16:creationId xmlns:a16="http://schemas.microsoft.com/office/drawing/2014/main" id="{D914D248-FB69-468E-8561-ADA80B5691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71002"/>
              </p:ext>
            </p:extLst>
          </p:nvPr>
        </p:nvGraphicFramePr>
        <p:xfrm>
          <a:off x="150018" y="3411062"/>
          <a:ext cx="8843963" cy="1002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3" name="Document" r:id="rId7" imgW="4552967" imgH="586849" progId="Word.Document.12">
                  <p:embed/>
                </p:oleObj>
              </mc:Choice>
              <mc:Fallback>
                <p:oleObj name="Document" r:id="rId7" imgW="4552967" imgH="586849" progId="Word.Document.12">
                  <p:embed/>
                  <p:pic>
                    <p:nvPicPr>
                      <p:cNvPr id="32776" name="对象 2">
                        <a:extLst>
                          <a:ext uri="{FF2B5EF4-FFF2-40B4-BE49-F238E27FC236}">
                            <a16:creationId xmlns:a16="http://schemas.microsoft.com/office/drawing/2014/main" id="{D914D248-FB69-468E-8561-ADA80B5691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" y="3411062"/>
                        <a:ext cx="8843963" cy="10020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80A7A573-8FF8-49AA-9E0F-68A66B680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30175"/>
            <a:ext cx="5166237" cy="359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7">
            <a:extLst>
              <a:ext uri="{FF2B5EF4-FFF2-40B4-BE49-F238E27FC236}">
                <a16:creationId xmlns:a16="http://schemas.microsoft.com/office/drawing/2014/main" id="{202D1F3B-3009-4FDD-A5CB-30274DCD3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259478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graphicFrame>
        <p:nvGraphicFramePr>
          <p:cNvPr id="33796" name="Object 6">
            <a:extLst>
              <a:ext uri="{FF2B5EF4-FFF2-40B4-BE49-F238E27FC236}">
                <a16:creationId xmlns:a16="http://schemas.microsoft.com/office/drawing/2014/main" id="{9B3D6B2A-7FBB-4AE8-B693-F5714E9112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761759"/>
              </p:ext>
            </p:extLst>
          </p:nvPr>
        </p:nvGraphicFramePr>
        <p:xfrm>
          <a:off x="2576226" y="695409"/>
          <a:ext cx="3991548" cy="5489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3" name="图片" r:id="rId3" imgW="4318851" imgH="5933209" progId="Word.Picture.8">
                  <p:embed/>
                </p:oleObj>
              </mc:Choice>
              <mc:Fallback>
                <p:oleObj name="图片" r:id="rId3" imgW="4318851" imgH="5933209" progId="Word.Picture.8">
                  <p:embed/>
                  <p:pic>
                    <p:nvPicPr>
                      <p:cNvPr id="33796" name="Object 6">
                        <a:extLst>
                          <a:ext uri="{FF2B5EF4-FFF2-40B4-BE49-F238E27FC236}">
                            <a16:creationId xmlns:a16="http://schemas.microsoft.com/office/drawing/2014/main" id="{9B3D6B2A-7FBB-4AE8-B693-F5714E9112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6226" y="695409"/>
                        <a:ext cx="3991548" cy="54898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Rectangle 8">
            <a:extLst>
              <a:ext uri="{FF2B5EF4-FFF2-40B4-BE49-F238E27FC236}">
                <a16:creationId xmlns:a16="http://schemas.microsoft.com/office/drawing/2014/main" id="{86EEA03A-953C-490B-90FC-CF912C833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922" y="3255646"/>
            <a:ext cx="26262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ea typeface="微软雅黑" panose="020B0503020204020204" pitchFamily="34" charset="-122"/>
                <a:cs typeface="Times New Roman" panose="02020603050405020304" pitchFamily="18" charset="0"/>
              </a:rPr>
              <a:t>TYPE B</a:t>
            </a:r>
            <a:r>
              <a:rPr lang="zh-CN" altLang="en-US" sz="1800" dirty="0">
                <a:ea typeface="微软雅黑" panose="020B0503020204020204" pitchFamily="34" charset="-122"/>
                <a:cs typeface="Times New Roman" panose="02020603050405020304" pitchFamily="18" charset="0"/>
              </a:rPr>
              <a:t>防碰撞过程示例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6FBD79A-AFA4-49DF-BA21-D5C549ADF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30175"/>
            <a:ext cx="5166237" cy="359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332CD0E7-45F8-4108-81AC-13284BDB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63942AD-FB94-4743-8D2C-283072818232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32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2F5454D9-35DC-4934-9058-B0C4D71E8F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647799"/>
            <a:ext cx="8229600" cy="4968552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4.4  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碰撞检测 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检测接收到的电信号参数（如信号电压幅度、脉冲宽度等）是否发生了非正常变化，但是对于无线电射频环境，门限值较难设置；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通过差错检测方法检查有无错码，虽然应用奇偶校验、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CRC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码检查到的传输错误不一定是数据碰撞引起，但是这种情况的出现也被认为是出现了碰撞；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利用某些编码的性能，检查是否出现非正常码来判断是否产生数据碰撞，如曼彻斯特码，若以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倍数据时钟频率的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NRZ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码表示曼彻斯特码，则出现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码就说明产生了碰撞，并且可以知道碰撞发生在哪一位。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BCA0AEC-E8D4-4FC6-A814-55569120D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30175"/>
            <a:ext cx="5166237" cy="359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>
            <a:extLst>
              <a:ext uri="{FF2B5EF4-FFF2-40B4-BE49-F238E27FC236}">
                <a16:creationId xmlns:a16="http://schemas.microsoft.com/office/drawing/2014/main" id="{DA925883-9728-425D-B96A-3BEB8A95E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92692BF-CCFF-4778-9582-625CC7D6F44D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33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A0DAA404-8DD7-446B-8D26-AAFA2A1D11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647799"/>
            <a:ext cx="8229600" cy="4896544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4.5 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设计实例 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MCRF250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芯片</a:t>
            </a:r>
          </a:p>
          <a:p>
            <a:pPr lvl="2"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非接触可编程无源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RFID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器件</a:t>
            </a:r>
          </a:p>
          <a:p>
            <a:pPr lvl="2"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工作频率（载波）为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125kHz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两种工作模式：初始模式（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Native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）和读模式。 </a:t>
            </a:r>
          </a:p>
          <a:p>
            <a:pPr lvl="2"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只读数据传送，片内带有一次性可编程（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OTP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96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位或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128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位用户存储器（支持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48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位或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64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位协议）； </a:t>
            </a:r>
          </a:p>
          <a:p>
            <a:pPr lvl="2"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具有片上整流和稳压电路；</a:t>
            </a:r>
          </a:p>
          <a:p>
            <a:pPr lvl="2"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低功耗；</a:t>
            </a:r>
          </a:p>
          <a:p>
            <a:pPr lvl="2"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编码方式为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NRZ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码、曼彻斯特码和差分曼彻斯特码；</a:t>
            </a:r>
          </a:p>
          <a:p>
            <a:pPr lvl="2"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调制方式为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FSK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PSK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和直接调制；</a:t>
            </a:r>
          </a:p>
          <a:p>
            <a:pPr lvl="2"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封装方式有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PDIP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SOIC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两种。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96C90CC-8461-4691-BB10-6844146AD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30175"/>
            <a:ext cx="5166237" cy="359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81C11D5A-7C81-4CAA-AE65-043A07A1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F7B9B3A-8ECB-41F3-B67F-81D397320901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34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29DCE762-AA01-4A59-9A57-0B8CA398FD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07246"/>
            <a:ext cx="8229600" cy="1020673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芯片内部电路</a:t>
            </a:r>
          </a:p>
          <a:p>
            <a:pPr lvl="1"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由射频前端、防碰撞电路及存储器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部分组成  </a:t>
            </a:r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6978E4B1-5D70-47A0-B245-83E126B3C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2491538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graphicFrame>
        <p:nvGraphicFramePr>
          <p:cNvPr id="36870" name="Object 4">
            <a:extLst>
              <a:ext uri="{FF2B5EF4-FFF2-40B4-BE49-F238E27FC236}">
                <a16:creationId xmlns:a16="http://schemas.microsoft.com/office/drawing/2014/main" id="{827995FD-42C8-4C72-9AE8-B1F6E6EE3E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405789"/>
              </p:ext>
            </p:extLst>
          </p:nvPr>
        </p:nvGraphicFramePr>
        <p:xfrm>
          <a:off x="431662" y="2252354"/>
          <a:ext cx="8280675" cy="316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7" name="图片" r:id="rId3" imgW="3164995" imgH="1209103" progId="Word.Picture.8">
                  <p:embed/>
                </p:oleObj>
              </mc:Choice>
              <mc:Fallback>
                <p:oleObj name="图片" r:id="rId3" imgW="3164995" imgH="1209103" progId="Word.Picture.8">
                  <p:embed/>
                  <p:pic>
                    <p:nvPicPr>
                      <p:cNvPr id="36870" name="Object 4">
                        <a:extLst>
                          <a:ext uri="{FF2B5EF4-FFF2-40B4-BE49-F238E27FC236}">
                            <a16:creationId xmlns:a16="http://schemas.microsoft.com/office/drawing/2014/main" id="{827995FD-42C8-4C72-9AE8-B1F6E6EE3E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662" y="2252354"/>
                        <a:ext cx="8280675" cy="3168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14A01E5B-18D1-4766-A73F-7637881C1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30175"/>
            <a:ext cx="5166237" cy="359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5B7D938C-78CC-447B-9F54-F6A3028D2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639A46D-B7E3-477B-9B92-682A7097C8EE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35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5343A739-462F-4C91-9068-34E62F50E2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07246"/>
            <a:ext cx="8229600" cy="948665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芯片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配置寄存器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A69F8D96-5477-4215-AB92-E672DB334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2491538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pic>
        <p:nvPicPr>
          <p:cNvPr id="37894" name="Picture 2" descr="4t14">
            <a:extLst>
              <a:ext uri="{FF2B5EF4-FFF2-40B4-BE49-F238E27FC236}">
                <a16:creationId xmlns:a16="http://schemas.microsoft.com/office/drawing/2014/main" id="{39E1EBE7-9C35-47ED-8E4E-61D7885CE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5" y="2015951"/>
            <a:ext cx="9112729" cy="311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6811E8A5-A17C-4AC9-B9E7-DF32B0DBA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30175"/>
            <a:ext cx="5166237" cy="359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>
            <a:extLst>
              <a:ext uri="{FF2B5EF4-FFF2-40B4-BE49-F238E27FC236}">
                <a16:creationId xmlns:a16="http://schemas.microsoft.com/office/drawing/2014/main" id="{0D9BD650-4810-4DA7-A3AB-D5B366860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526A2CC-E795-4047-9362-C030FEC2ADA7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36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774EB2EC-D787-4D5B-842A-BCB6CC088A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07246"/>
            <a:ext cx="8229600" cy="449263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基于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FSK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脉冲调制方式的碰撞检测方法</a:t>
            </a:r>
          </a:p>
        </p:txBody>
      </p:sp>
      <p:sp>
        <p:nvSpPr>
          <p:cNvPr id="38917" name="Rectangle 4">
            <a:extLst>
              <a:ext uri="{FF2B5EF4-FFF2-40B4-BE49-F238E27FC236}">
                <a16:creationId xmlns:a16="http://schemas.microsoft.com/office/drawing/2014/main" id="{551A4208-0CF4-47D0-AEB3-5E70EADEA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2491538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sp>
        <p:nvSpPr>
          <p:cNvPr id="38918" name="Rectangle 7">
            <a:extLst>
              <a:ext uri="{FF2B5EF4-FFF2-40B4-BE49-F238E27FC236}">
                <a16:creationId xmlns:a16="http://schemas.microsoft.com/office/drawing/2014/main" id="{6C9FDE0B-DCF6-460F-B7A3-5791E6262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2365535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pic>
        <p:nvPicPr>
          <p:cNvPr id="38919" name="Picture 2" descr="4t15">
            <a:extLst>
              <a:ext uri="{FF2B5EF4-FFF2-40B4-BE49-F238E27FC236}">
                <a16:creationId xmlns:a16="http://schemas.microsoft.com/office/drawing/2014/main" id="{44C718B7-F25D-4F2C-AE23-18F0254E9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789" y="1524338"/>
            <a:ext cx="7738894" cy="3431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F8C91D9-EA30-48CD-822C-D5009B5C68F1}"/>
              </a:ext>
            </a:extLst>
          </p:cNvPr>
          <p:cNvSpPr/>
          <p:nvPr/>
        </p:nvSpPr>
        <p:spPr>
          <a:xfrm>
            <a:off x="2863840" y="5571829"/>
            <a:ext cx="3454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和数位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碰撞情况的时序图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A8440C8-3F7E-4931-B58D-668DDB687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30175"/>
            <a:ext cx="5166237" cy="359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>
            <a:extLst>
              <a:ext uri="{FF2B5EF4-FFF2-40B4-BE49-F238E27FC236}">
                <a16:creationId xmlns:a16="http://schemas.microsoft.com/office/drawing/2014/main" id="{B9FDAF86-8708-4C54-B898-456ACD2B4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CA4712D-4FEB-4A2F-A968-8A8424D6E0C0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37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ADF7DF37-2960-484E-B544-67047FF67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9202" y="707247"/>
            <a:ext cx="8229600" cy="449262"/>
          </a:xfrm>
        </p:spPr>
        <p:txBody>
          <a:bodyPr/>
          <a:lstStyle/>
          <a:p>
            <a:pPr eaLnBrk="1" hangingPunct="1"/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FSK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防碰撞阅读器设计 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64B3DEA8-87AD-4E23-ABA0-F3303D3E0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2491538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sp>
        <p:nvSpPr>
          <p:cNvPr id="39942" name="Rectangle 7">
            <a:extLst>
              <a:ext uri="{FF2B5EF4-FFF2-40B4-BE49-F238E27FC236}">
                <a16:creationId xmlns:a16="http://schemas.microsoft.com/office/drawing/2014/main" id="{E1217F0B-2BC9-4AE9-BA3B-43BD098F0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2365535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graphicFrame>
        <p:nvGraphicFramePr>
          <p:cNvPr id="39943" name="Object 6">
            <a:extLst>
              <a:ext uri="{FF2B5EF4-FFF2-40B4-BE49-F238E27FC236}">
                <a16:creationId xmlns:a16="http://schemas.microsoft.com/office/drawing/2014/main" id="{FE782087-F31E-49F9-80CB-E57741FF72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770161"/>
              </p:ext>
            </p:extLst>
          </p:nvPr>
        </p:nvGraphicFramePr>
        <p:xfrm>
          <a:off x="142598" y="1666971"/>
          <a:ext cx="8749518" cy="3146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1" name="图片" r:id="rId3" imgW="4109124" imgH="1475833" progId="Word.Picture.8">
                  <p:embed/>
                </p:oleObj>
              </mc:Choice>
              <mc:Fallback>
                <p:oleObj name="图片" r:id="rId3" imgW="4109124" imgH="1475833" progId="Word.Picture.8">
                  <p:embed/>
                  <p:pic>
                    <p:nvPicPr>
                      <p:cNvPr id="39943" name="Object 6">
                        <a:extLst>
                          <a:ext uri="{FF2B5EF4-FFF2-40B4-BE49-F238E27FC236}">
                            <a16:creationId xmlns:a16="http://schemas.microsoft.com/office/drawing/2014/main" id="{FE782087-F31E-49F9-80CB-E57741FF72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98" y="1666971"/>
                        <a:ext cx="8749518" cy="3146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1020C29F-3B26-45AF-99A4-AB4D232F1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30175"/>
            <a:ext cx="5166237" cy="359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>
            <a:extLst>
              <a:ext uri="{FF2B5EF4-FFF2-40B4-BE49-F238E27FC236}">
                <a16:creationId xmlns:a16="http://schemas.microsoft.com/office/drawing/2014/main" id="{ED807A6A-4F9B-4C9B-B27D-066DA52FA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ts val="2268"/>
              </a:lnSpc>
              <a:spcBef>
                <a:spcPct val="20000"/>
              </a:spcBef>
              <a:buChar char="•"/>
              <a:defRPr kumimoji="1" sz="2079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2013" indent="-270005" latinLnBrk="1">
              <a:lnSpc>
                <a:spcPts val="2268"/>
              </a:lnSpc>
              <a:spcBef>
                <a:spcPct val="20000"/>
              </a:spcBef>
              <a:buChar char="•"/>
              <a:defRPr kumimoji="1" sz="189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80021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12029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512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44037" indent="-216004" latinLnBrk="1">
              <a:lnSpc>
                <a:spcPts val="2268"/>
              </a:lnSpc>
              <a:spcBef>
                <a:spcPct val="20000"/>
              </a:spcBef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6046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8054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40062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72070" indent="-216004" eaLnBrk="0" fontAlgn="base" latinLnBrk="1" hangingPunct="0">
              <a:lnSpc>
                <a:spcPts val="2268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323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73C5846-04B7-421F-A5DC-2855FC3DB85B}" type="slidenum">
              <a:rPr lang="en-US" altLang="ko-KR" sz="1323">
                <a:solidFill>
                  <a:srgbClr val="996633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38</a:t>
            </a:fld>
            <a:endParaRPr lang="en-US" altLang="ko-KR" sz="1323">
              <a:solidFill>
                <a:srgbClr val="996633"/>
              </a:solidFill>
            </a:endParaRP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6FDB8F7E-453C-4EA6-9120-8E0A1F0155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5452" y="707246"/>
            <a:ext cx="8229600" cy="449263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防碰撞流程 </a:t>
            </a:r>
          </a:p>
        </p:txBody>
      </p:sp>
      <p:sp>
        <p:nvSpPr>
          <p:cNvPr id="40965" name="Rectangle 4">
            <a:extLst>
              <a:ext uri="{FF2B5EF4-FFF2-40B4-BE49-F238E27FC236}">
                <a16:creationId xmlns:a16="http://schemas.microsoft.com/office/drawing/2014/main" id="{55E77CD2-DBFE-48AB-89AD-CC8EE2A12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2491538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2C6E0B4E-8113-4187-8B6E-F37FB8520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4" y="2145028"/>
            <a:ext cx="184731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lnSpc>
                <a:spcPts val="2400"/>
              </a:lnSpc>
              <a:spcBef>
                <a:spcPct val="20000"/>
              </a:spcBef>
              <a:buChar char="•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latinLnBrk="1">
              <a:lnSpc>
                <a:spcPts val="2400"/>
              </a:lnSpc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latinLnBrk="1">
              <a:lnSpc>
                <a:spcPts val="2400"/>
              </a:lnSpc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701">
              <a:ea typeface="굴림" panose="020B0600000101010101" pitchFamily="34" charset="-127"/>
            </a:endParaRPr>
          </a:p>
        </p:txBody>
      </p:sp>
      <p:graphicFrame>
        <p:nvGraphicFramePr>
          <p:cNvPr id="40967" name="Object 5">
            <a:extLst>
              <a:ext uri="{FF2B5EF4-FFF2-40B4-BE49-F238E27FC236}">
                <a16:creationId xmlns:a16="http://schemas.microsoft.com/office/drawing/2014/main" id="{0F07B3A4-3054-409F-A8A5-193F0C898B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703784"/>
              </p:ext>
            </p:extLst>
          </p:nvPr>
        </p:nvGraphicFramePr>
        <p:xfrm>
          <a:off x="1359940" y="1375708"/>
          <a:ext cx="6424120" cy="4397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5" name="图片" r:id="rId3" imgW="2841036" imgH="1942700" progId="Word.Picture.8">
                  <p:embed/>
                </p:oleObj>
              </mc:Choice>
              <mc:Fallback>
                <p:oleObj name="图片" r:id="rId3" imgW="2841036" imgH="1942700" progId="Word.Picture.8">
                  <p:embed/>
                  <p:pic>
                    <p:nvPicPr>
                      <p:cNvPr id="40967" name="Object 5">
                        <a:extLst>
                          <a:ext uri="{FF2B5EF4-FFF2-40B4-BE49-F238E27FC236}">
                            <a16:creationId xmlns:a16="http://schemas.microsoft.com/office/drawing/2014/main" id="{0F07B3A4-3054-409F-A8A5-193F0C898B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9940" y="1375708"/>
                        <a:ext cx="6424120" cy="4397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0A174141-659D-4809-8D44-842D73DA5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30175"/>
            <a:ext cx="5166237" cy="359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数据校验和防碰撞算法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157255672</TotalTime>
  <Pages>0</Pages>
  <Words>1977</Words>
  <Characters>0</Characters>
  <Application>Microsoft Office PowerPoint</Application>
  <DocSecurity>0</DocSecurity>
  <PresentationFormat>自定义</PresentationFormat>
  <Lines>0</Lines>
  <Paragraphs>262</Paragraphs>
  <Slides>38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38</vt:i4>
      </vt:variant>
    </vt:vector>
  </HeadingPairs>
  <TitlesOfParts>
    <vt:vector size="49" baseType="lpstr">
      <vt:lpstr>굴림</vt:lpstr>
      <vt:lpstr>宋体</vt:lpstr>
      <vt:lpstr>微软雅黑</vt:lpstr>
      <vt:lpstr>Arial</vt:lpstr>
      <vt:lpstr>Times New Roman</vt:lpstr>
      <vt:lpstr>默认设计模板</vt:lpstr>
      <vt:lpstr>Equation</vt:lpstr>
      <vt:lpstr>图片</vt:lpstr>
      <vt:lpstr>Picture</vt:lpstr>
      <vt:lpstr>Document</vt:lpstr>
      <vt:lpstr>文档</vt:lpstr>
      <vt:lpstr>第4章   数据校验和防碰撞算法 </vt:lpstr>
      <vt:lpstr>第4章   数据校验和防碰撞算法 </vt:lpstr>
      <vt:lpstr>PowerPoint 演示文稿</vt:lpstr>
      <vt:lpstr>第4章   数据校验和防碰撞算法 </vt:lpstr>
      <vt:lpstr>第4章   数据校验和防碰撞算法 </vt:lpstr>
      <vt:lpstr>第4章   数据校验和防碰撞算法 </vt:lpstr>
      <vt:lpstr>第4章   数据校验和防碰撞算法 </vt:lpstr>
      <vt:lpstr>第4章   数据校验和防碰撞算法 </vt:lpstr>
      <vt:lpstr>PowerPoint 演示文稿</vt:lpstr>
      <vt:lpstr>第4章   数据校验和防碰撞算法 </vt:lpstr>
      <vt:lpstr>第4章   数据校验和防碰撞算法 </vt:lpstr>
      <vt:lpstr>第4章   数据校验和防碰撞算法 </vt:lpstr>
      <vt:lpstr>第4章   数据校验和防碰撞算法 </vt:lpstr>
      <vt:lpstr>第4章   数据校验和防碰撞算法 </vt:lpstr>
      <vt:lpstr>第4章   数据校验和防碰撞算法 </vt:lpstr>
      <vt:lpstr>第4章   数据校验和防碰撞算法 </vt:lpstr>
      <vt:lpstr>第4章   数据校验和防碰撞算法 </vt:lpstr>
      <vt:lpstr>第4章   数据校验和防碰撞算法 </vt:lpstr>
      <vt:lpstr>第4章   数据校验和防碰撞算法 </vt:lpstr>
      <vt:lpstr>PowerPoint 演示文稿</vt:lpstr>
      <vt:lpstr>第4章   数据校验和防碰撞算法 </vt:lpstr>
      <vt:lpstr>第4章   数据校验和防碰撞算法 </vt:lpstr>
      <vt:lpstr>第4章   数据校验和防碰撞算法 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Administrator</cp:lastModifiedBy>
  <cp:revision>32</cp:revision>
  <cp:lastPrinted>1899-12-30T00:00:00Z</cp:lastPrinted>
  <dcterms:created xsi:type="dcterms:W3CDTF">2011-11-16T21:06:53Z</dcterms:created>
  <dcterms:modified xsi:type="dcterms:W3CDTF">2021-04-15T14:59:26Z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2052-8.1.0.2998</vt:lpwstr>
  </property>
</Properties>
</file>