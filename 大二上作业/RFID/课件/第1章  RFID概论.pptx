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7" r:id="rId2"/>
    <p:sldId id="287" r:id="rId3"/>
    <p:sldId id="288" r:id="rId4"/>
    <p:sldId id="261" r:id="rId5"/>
    <p:sldId id="348" r:id="rId6"/>
    <p:sldId id="349" r:id="rId7"/>
    <p:sldId id="350" r:id="rId8"/>
    <p:sldId id="278" r:id="rId9"/>
    <p:sldId id="304" r:id="rId10"/>
    <p:sldId id="351" r:id="rId11"/>
    <p:sldId id="352" r:id="rId12"/>
    <p:sldId id="353" r:id="rId13"/>
    <p:sldId id="354" r:id="rId14"/>
    <p:sldId id="355" r:id="rId15"/>
    <p:sldId id="356" r:id="rId16"/>
    <p:sldId id="357" r:id="rId17"/>
    <p:sldId id="394" r:id="rId18"/>
    <p:sldId id="395" r:id="rId19"/>
    <p:sldId id="392" r:id="rId20"/>
    <p:sldId id="390" r:id="rId21"/>
    <p:sldId id="396" r:id="rId22"/>
    <p:sldId id="302" r:id="rId23"/>
    <p:sldId id="259" r:id="rId24"/>
    <p:sldId id="260" r:id="rId25"/>
    <p:sldId id="303" r:id="rId26"/>
    <p:sldId id="262" r:id="rId27"/>
    <p:sldId id="269" r:id="rId28"/>
    <p:sldId id="271" r:id="rId29"/>
    <p:sldId id="272" r:id="rId30"/>
    <p:sldId id="273" r:id="rId31"/>
    <p:sldId id="263" r:id="rId32"/>
    <p:sldId id="264" r:id="rId33"/>
    <p:sldId id="274" r:id="rId34"/>
    <p:sldId id="290" r:id="rId35"/>
    <p:sldId id="292" r:id="rId36"/>
    <p:sldId id="291" r:id="rId37"/>
    <p:sldId id="293" r:id="rId38"/>
    <p:sldId id="275" r:id="rId39"/>
    <p:sldId id="276" r:id="rId40"/>
    <p:sldId id="265" r:id="rId41"/>
    <p:sldId id="266" r:id="rId42"/>
    <p:sldId id="267" r:id="rId43"/>
    <p:sldId id="268" r:id="rId44"/>
    <p:sldId id="277" r:id="rId45"/>
    <p:sldId id="279" r:id="rId46"/>
    <p:sldId id="280" r:id="rId47"/>
    <p:sldId id="301" r:id="rId48"/>
    <p:sldId id="281" r:id="rId49"/>
  </p:sldIdLst>
  <p:sldSz cx="9144000" cy="6480175"/>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4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1296" y="36"/>
      </p:cViewPr>
      <p:guideLst>
        <p:guide orient="horz" pos="2041"/>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8.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9.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60.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0E4A32-EA44-405F-8CF0-41E7F721CE2D}" type="datetimeFigureOut">
              <a:rPr lang="zh-CN" altLang="en-US" smtClean="0"/>
              <a:t>2023/2/19</a:t>
            </a:fld>
            <a:endParaRPr lang="zh-CN" altLang="en-US"/>
          </a:p>
        </p:txBody>
      </p:sp>
      <p:sp>
        <p:nvSpPr>
          <p:cNvPr id="4" name="幻灯片图像占位符 3"/>
          <p:cNvSpPr>
            <a:spLocks noGrp="1" noRot="1" noChangeAspect="1"/>
          </p:cNvSpPr>
          <p:nvPr>
            <p:ph type="sldImg" idx="2"/>
          </p:nvPr>
        </p:nvSpPr>
        <p:spPr>
          <a:xfrm>
            <a:off x="1250950" y="1143000"/>
            <a:ext cx="43561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DA6D4F-8A91-4D81-8447-34378159DD77}" type="slidenum">
              <a:rPr lang="zh-CN" altLang="en-US" smtClean="0"/>
              <a:t>‹#›</a:t>
            </a:fld>
            <a:endParaRPr lang="zh-CN" altLang="en-US"/>
          </a:p>
        </p:txBody>
      </p:sp>
    </p:spTree>
    <p:extLst>
      <p:ext uri="{BB962C8B-B14F-4D97-AF65-F5344CB8AC3E}">
        <p14:creationId xmlns:p14="http://schemas.microsoft.com/office/powerpoint/2010/main" val="2890261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5DA6D4F-8A91-4D81-8447-34378159DD77}" type="slidenum">
              <a:rPr lang="zh-CN" altLang="en-US" smtClean="0"/>
              <a:t>15</a:t>
            </a:fld>
            <a:endParaRPr lang="zh-CN" altLang="en-US"/>
          </a:p>
        </p:txBody>
      </p:sp>
    </p:spTree>
    <p:extLst>
      <p:ext uri="{BB962C8B-B14F-4D97-AF65-F5344CB8AC3E}">
        <p14:creationId xmlns:p14="http://schemas.microsoft.com/office/powerpoint/2010/main" val="25274340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5DA6D4F-8A91-4D81-8447-34378159DD77}" type="slidenum">
              <a:rPr lang="zh-CN" altLang="en-US" smtClean="0"/>
              <a:t>16</a:t>
            </a:fld>
            <a:endParaRPr lang="zh-CN" altLang="en-US"/>
          </a:p>
        </p:txBody>
      </p:sp>
    </p:spTree>
    <p:extLst>
      <p:ext uri="{BB962C8B-B14F-4D97-AF65-F5344CB8AC3E}">
        <p14:creationId xmlns:p14="http://schemas.microsoft.com/office/powerpoint/2010/main" val="24645145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5DA6D4F-8A91-4D81-8447-34378159DD77}" type="slidenum">
              <a:rPr lang="zh-CN" altLang="en-US" smtClean="0"/>
              <a:t>18</a:t>
            </a:fld>
            <a:endParaRPr lang="zh-CN" altLang="en-US"/>
          </a:p>
        </p:txBody>
      </p:sp>
    </p:spTree>
    <p:extLst>
      <p:ext uri="{BB962C8B-B14F-4D97-AF65-F5344CB8AC3E}">
        <p14:creationId xmlns:p14="http://schemas.microsoft.com/office/powerpoint/2010/main" val="3455965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5DA6D4F-8A91-4D81-8447-34378159DD77}" type="slidenum">
              <a:rPr lang="zh-CN" altLang="en-US" smtClean="0"/>
              <a:t>21</a:t>
            </a:fld>
            <a:endParaRPr lang="zh-CN" altLang="en-US"/>
          </a:p>
        </p:txBody>
      </p:sp>
    </p:spTree>
    <p:extLst>
      <p:ext uri="{BB962C8B-B14F-4D97-AF65-F5344CB8AC3E}">
        <p14:creationId xmlns:p14="http://schemas.microsoft.com/office/powerpoint/2010/main" val="33744649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4A50C6-3BCD-4F98-8C5F-654FA876B102}"/>
              </a:ext>
            </a:extLst>
          </p:cNvPr>
          <p:cNvSpPr>
            <a:spLocks noGrp="1"/>
          </p:cNvSpPr>
          <p:nvPr>
            <p:ph type="ctrTitle"/>
          </p:nvPr>
        </p:nvSpPr>
        <p:spPr>
          <a:xfrm>
            <a:off x="1143000" y="1060450"/>
            <a:ext cx="6858000" cy="2255838"/>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B38A0E8-9D1E-4F72-877C-BF8DEC7D8467}"/>
              </a:ext>
            </a:extLst>
          </p:cNvPr>
          <p:cNvSpPr>
            <a:spLocks noGrp="1"/>
          </p:cNvSpPr>
          <p:nvPr>
            <p:ph type="subTitle" idx="1"/>
          </p:nvPr>
        </p:nvSpPr>
        <p:spPr>
          <a:xfrm>
            <a:off x="1143000" y="3403600"/>
            <a:ext cx="6858000" cy="156527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EE413D3-B2C4-4477-AA05-D22517AEFF6E}"/>
              </a:ext>
            </a:extLst>
          </p:cNvPr>
          <p:cNvSpPr>
            <a:spLocks noGrp="1"/>
          </p:cNvSpPr>
          <p:nvPr>
            <p:ph type="dt" sz="half" idx="10"/>
          </p:nvPr>
        </p:nvSpPr>
        <p:spPr/>
        <p:txBody>
          <a:bodyPr/>
          <a:lstStyle>
            <a:lvl1pPr>
              <a:defRPr/>
            </a:lvl1pPr>
          </a:lstStyle>
          <a:p>
            <a:endParaRPr lang="zh-CN" altLang="zh-CN"/>
          </a:p>
        </p:txBody>
      </p:sp>
      <p:sp>
        <p:nvSpPr>
          <p:cNvPr id="5" name="页脚占位符 4">
            <a:extLst>
              <a:ext uri="{FF2B5EF4-FFF2-40B4-BE49-F238E27FC236}">
                <a16:creationId xmlns:a16="http://schemas.microsoft.com/office/drawing/2014/main" id="{B1222777-CAE1-4DA7-B294-931ED7947D73}"/>
              </a:ext>
            </a:extLst>
          </p:cNvPr>
          <p:cNvSpPr>
            <a:spLocks noGrp="1"/>
          </p:cNvSpPr>
          <p:nvPr>
            <p:ph type="ftr" sz="quarter" idx="11"/>
          </p:nvPr>
        </p:nvSpPr>
        <p:spPr/>
        <p:txBody>
          <a:bodyPr/>
          <a:lstStyle>
            <a:lvl1pPr>
              <a:defRPr/>
            </a:lvl1pPr>
          </a:lstStyle>
          <a:p>
            <a:endParaRPr lang="zh-CN" altLang="zh-CN"/>
          </a:p>
        </p:txBody>
      </p:sp>
      <p:sp>
        <p:nvSpPr>
          <p:cNvPr id="6" name="灯片编号占位符 5">
            <a:extLst>
              <a:ext uri="{FF2B5EF4-FFF2-40B4-BE49-F238E27FC236}">
                <a16:creationId xmlns:a16="http://schemas.microsoft.com/office/drawing/2014/main" id="{CA592E42-2E6D-4C09-8187-9B19C12D44CF}"/>
              </a:ext>
            </a:extLst>
          </p:cNvPr>
          <p:cNvSpPr>
            <a:spLocks noGrp="1"/>
          </p:cNvSpPr>
          <p:nvPr>
            <p:ph type="sldNum" sz="quarter" idx="12"/>
          </p:nvPr>
        </p:nvSpPr>
        <p:spPr/>
        <p:txBody>
          <a:bodyPr/>
          <a:lstStyle>
            <a:lvl1pPr>
              <a:defRPr/>
            </a:lvl1pPr>
          </a:lstStyle>
          <a:p>
            <a:fld id="{DD27D9F7-5EBF-4D14-8ECF-8BD32E3E0185}" type="slidenum">
              <a:rPr lang="zh-CN" altLang="zh-CN"/>
              <a:pPr/>
              <a:t>‹#›</a:t>
            </a:fld>
            <a:endParaRPr lang="zh-CN" altLang="zh-CN"/>
          </a:p>
        </p:txBody>
      </p:sp>
    </p:spTree>
    <p:extLst>
      <p:ext uri="{BB962C8B-B14F-4D97-AF65-F5344CB8AC3E}">
        <p14:creationId xmlns:p14="http://schemas.microsoft.com/office/powerpoint/2010/main" val="3235313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0D950D-2525-41E2-92D4-14362A54AAD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006713E-C0AC-4394-956F-43C35123407C}"/>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32A15C0-D70D-45F3-90E7-DD61EA466883}"/>
              </a:ext>
            </a:extLst>
          </p:cNvPr>
          <p:cNvSpPr>
            <a:spLocks noGrp="1"/>
          </p:cNvSpPr>
          <p:nvPr>
            <p:ph type="dt" sz="half" idx="10"/>
          </p:nvPr>
        </p:nvSpPr>
        <p:spPr/>
        <p:txBody>
          <a:bodyPr/>
          <a:lstStyle>
            <a:lvl1pPr>
              <a:defRPr/>
            </a:lvl1pPr>
          </a:lstStyle>
          <a:p>
            <a:endParaRPr lang="zh-CN" altLang="zh-CN"/>
          </a:p>
        </p:txBody>
      </p:sp>
      <p:sp>
        <p:nvSpPr>
          <p:cNvPr id="5" name="页脚占位符 4">
            <a:extLst>
              <a:ext uri="{FF2B5EF4-FFF2-40B4-BE49-F238E27FC236}">
                <a16:creationId xmlns:a16="http://schemas.microsoft.com/office/drawing/2014/main" id="{57E85DFF-8E9D-460D-AD02-264926848D4D}"/>
              </a:ext>
            </a:extLst>
          </p:cNvPr>
          <p:cNvSpPr>
            <a:spLocks noGrp="1"/>
          </p:cNvSpPr>
          <p:nvPr>
            <p:ph type="ftr" sz="quarter" idx="11"/>
          </p:nvPr>
        </p:nvSpPr>
        <p:spPr/>
        <p:txBody>
          <a:bodyPr/>
          <a:lstStyle>
            <a:lvl1pPr>
              <a:defRPr/>
            </a:lvl1pPr>
          </a:lstStyle>
          <a:p>
            <a:endParaRPr lang="zh-CN" altLang="zh-CN"/>
          </a:p>
        </p:txBody>
      </p:sp>
      <p:sp>
        <p:nvSpPr>
          <p:cNvPr id="6" name="灯片编号占位符 5">
            <a:extLst>
              <a:ext uri="{FF2B5EF4-FFF2-40B4-BE49-F238E27FC236}">
                <a16:creationId xmlns:a16="http://schemas.microsoft.com/office/drawing/2014/main" id="{863004A5-C42C-472F-9115-A27D74A1F745}"/>
              </a:ext>
            </a:extLst>
          </p:cNvPr>
          <p:cNvSpPr>
            <a:spLocks noGrp="1"/>
          </p:cNvSpPr>
          <p:nvPr>
            <p:ph type="sldNum" sz="quarter" idx="12"/>
          </p:nvPr>
        </p:nvSpPr>
        <p:spPr/>
        <p:txBody>
          <a:bodyPr/>
          <a:lstStyle>
            <a:lvl1pPr>
              <a:defRPr/>
            </a:lvl1pPr>
          </a:lstStyle>
          <a:p>
            <a:fld id="{083EDECD-95C5-4A35-AD98-594ADB05E13B}" type="slidenum">
              <a:rPr lang="zh-CN" altLang="zh-CN"/>
              <a:pPr/>
              <a:t>‹#›</a:t>
            </a:fld>
            <a:endParaRPr lang="zh-CN" altLang="zh-CN"/>
          </a:p>
        </p:txBody>
      </p:sp>
    </p:spTree>
    <p:extLst>
      <p:ext uri="{BB962C8B-B14F-4D97-AF65-F5344CB8AC3E}">
        <p14:creationId xmlns:p14="http://schemas.microsoft.com/office/powerpoint/2010/main" val="2160961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0D49DA-EF7C-4656-AB4F-99D9FC9C6CC6}"/>
              </a:ext>
            </a:extLst>
          </p:cNvPr>
          <p:cNvSpPr>
            <a:spLocks noGrp="1"/>
          </p:cNvSpPr>
          <p:nvPr>
            <p:ph type="title"/>
          </p:nvPr>
        </p:nvSpPr>
        <p:spPr>
          <a:xfrm>
            <a:off x="623888" y="1616075"/>
            <a:ext cx="7886700" cy="2695575"/>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0F4CB2D-A1DF-4604-8E1F-BAD12F835889}"/>
              </a:ext>
            </a:extLst>
          </p:cNvPr>
          <p:cNvSpPr>
            <a:spLocks noGrp="1"/>
          </p:cNvSpPr>
          <p:nvPr>
            <p:ph type="body" idx="1"/>
          </p:nvPr>
        </p:nvSpPr>
        <p:spPr>
          <a:xfrm>
            <a:off x="623888" y="4337050"/>
            <a:ext cx="7886700" cy="1417638"/>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日期占位符 3">
            <a:extLst>
              <a:ext uri="{FF2B5EF4-FFF2-40B4-BE49-F238E27FC236}">
                <a16:creationId xmlns:a16="http://schemas.microsoft.com/office/drawing/2014/main" id="{579FE429-047D-4C1E-A622-DE43064EF6CB}"/>
              </a:ext>
            </a:extLst>
          </p:cNvPr>
          <p:cNvSpPr>
            <a:spLocks noGrp="1"/>
          </p:cNvSpPr>
          <p:nvPr>
            <p:ph type="dt" sz="half" idx="10"/>
          </p:nvPr>
        </p:nvSpPr>
        <p:spPr/>
        <p:txBody>
          <a:bodyPr/>
          <a:lstStyle>
            <a:lvl1pPr>
              <a:defRPr/>
            </a:lvl1pPr>
          </a:lstStyle>
          <a:p>
            <a:endParaRPr lang="zh-CN" altLang="zh-CN"/>
          </a:p>
        </p:txBody>
      </p:sp>
      <p:sp>
        <p:nvSpPr>
          <p:cNvPr id="5" name="页脚占位符 4">
            <a:extLst>
              <a:ext uri="{FF2B5EF4-FFF2-40B4-BE49-F238E27FC236}">
                <a16:creationId xmlns:a16="http://schemas.microsoft.com/office/drawing/2014/main" id="{4C1DAA3A-BF1C-4F72-9F02-D07A9CD4189E}"/>
              </a:ext>
            </a:extLst>
          </p:cNvPr>
          <p:cNvSpPr>
            <a:spLocks noGrp="1"/>
          </p:cNvSpPr>
          <p:nvPr>
            <p:ph type="ftr" sz="quarter" idx="11"/>
          </p:nvPr>
        </p:nvSpPr>
        <p:spPr/>
        <p:txBody>
          <a:bodyPr/>
          <a:lstStyle>
            <a:lvl1pPr>
              <a:defRPr/>
            </a:lvl1pPr>
          </a:lstStyle>
          <a:p>
            <a:endParaRPr lang="zh-CN" altLang="zh-CN"/>
          </a:p>
        </p:txBody>
      </p:sp>
      <p:sp>
        <p:nvSpPr>
          <p:cNvPr id="6" name="灯片编号占位符 5">
            <a:extLst>
              <a:ext uri="{FF2B5EF4-FFF2-40B4-BE49-F238E27FC236}">
                <a16:creationId xmlns:a16="http://schemas.microsoft.com/office/drawing/2014/main" id="{EBA8EECC-9748-46C3-A11C-E696DFBCBEE1}"/>
              </a:ext>
            </a:extLst>
          </p:cNvPr>
          <p:cNvSpPr>
            <a:spLocks noGrp="1"/>
          </p:cNvSpPr>
          <p:nvPr>
            <p:ph type="sldNum" sz="quarter" idx="12"/>
          </p:nvPr>
        </p:nvSpPr>
        <p:spPr/>
        <p:txBody>
          <a:bodyPr/>
          <a:lstStyle>
            <a:lvl1pPr>
              <a:defRPr/>
            </a:lvl1pPr>
          </a:lstStyle>
          <a:p>
            <a:fld id="{218EA149-D97F-47CD-9E0F-1F16359A09AC}" type="slidenum">
              <a:rPr lang="zh-CN" altLang="zh-CN"/>
              <a:pPr/>
              <a:t>‹#›</a:t>
            </a:fld>
            <a:endParaRPr lang="zh-CN" altLang="zh-CN"/>
          </a:p>
        </p:txBody>
      </p:sp>
    </p:spTree>
    <p:extLst>
      <p:ext uri="{BB962C8B-B14F-4D97-AF65-F5344CB8AC3E}">
        <p14:creationId xmlns:p14="http://schemas.microsoft.com/office/powerpoint/2010/main" val="641461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86F16F-32F2-4E8E-8380-C04CD7DD437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1DC72D4-B951-4E9B-A7E1-AC0121987D6E}"/>
              </a:ext>
            </a:extLst>
          </p:cNvPr>
          <p:cNvSpPr>
            <a:spLocks noGrp="1"/>
          </p:cNvSpPr>
          <p:nvPr>
            <p:ph sz="half" idx="1"/>
          </p:nvPr>
        </p:nvSpPr>
        <p:spPr>
          <a:xfrm>
            <a:off x="457200" y="1511300"/>
            <a:ext cx="4038600" cy="4276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90FBD79F-D61F-48CF-87A9-6FE44BFF0469}"/>
              </a:ext>
            </a:extLst>
          </p:cNvPr>
          <p:cNvSpPr>
            <a:spLocks noGrp="1"/>
          </p:cNvSpPr>
          <p:nvPr>
            <p:ph sz="half" idx="2"/>
          </p:nvPr>
        </p:nvSpPr>
        <p:spPr>
          <a:xfrm>
            <a:off x="4648200" y="1511300"/>
            <a:ext cx="4038600" cy="4276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B1A2F84-21ED-49B3-A339-A2834CE87636}"/>
              </a:ext>
            </a:extLst>
          </p:cNvPr>
          <p:cNvSpPr>
            <a:spLocks noGrp="1"/>
          </p:cNvSpPr>
          <p:nvPr>
            <p:ph type="dt" sz="half" idx="10"/>
          </p:nvPr>
        </p:nvSpPr>
        <p:spPr/>
        <p:txBody>
          <a:bodyPr/>
          <a:lstStyle>
            <a:lvl1pPr>
              <a:defRPr/>
            </a:lvl1pPr>
          </a:lstStyle>
          <a:p>
            <a:endParaRPr lang="zh-CN" altLang="zh-CN"/>
          </a:p>
        </p:txBody>
      </p:sp>
      <p:sp>
        <p:nvSpPr>
          <p:cNvPr id="6" name="页脚占位符 5">
            <a:extLst>
              <a:ext uri="{FF2B5EF4-FFF2-40B4-BE49-F238E27FC236}">
                <a16:creationId xmlns:a16="http://schemas.microsoft.com/office/drawing/2014/main" id="{C09DD841-21E9-42CF-B74F-DF8CF7B1CA05}"/>
              </a:ext>
            </a:extLst>
          </p:cNvPr>
          <p:cNvSpPr>
            <a:spLocks noGrp="1"/>
          </p:cNvSpPr>
          <p:nvPr>
            <p:ph type="ftr" sz="quarter" idx="11"/>
          </p:nvPr>
        </p:nvSpPr>
        <p:spPr/>
        <p:txBody>
          <a:bodyPr/>
          <a:lstStyle>
            <a:lvl1pPr>
              <a:defRPr/>
            </a:lvl1pPr>
          </a:lstStyle>
          <a:p>
            <a:endParaRPr lang="zh-CN" altLang="zh-CN"/>
          </a:p>
        </p:txBody>
      </p:sp>
      <p:sp>
        <p:nvSpPr>
          <p:cNvPr id="7" name="灯片编号占位符 6">
            <a:extLst>
              <a:ext uri="{FF2B5EF4-FFF2-40B4-BE49-F238E27FC236}">
                <a16:creationId xmlns:a16="http://schemas.microsoft.com/office/drawing/2014/main" id="{4318EF03-BAC9-4D80-B5FD-1570E2A85CA9}"/>
              </a:ext>
            </a:extLst>
          </p:cNvPr>
          <p:cNvSpPr>
            <a:spLocks noGrp="1"/>
          </p:cNvSpPr>
          <p:nvPr>
            <p:ph type="sldNum" sz="quarter" idx="12"/>
          </p:nvPr>
        </p:nvSpPr>
        <p:spPr/>
        <p:txBody>
          <a:bodyPr/>
          <a:lstStyle>
            <a:lvl1pPr>
              <a:defRPr/>
            </a:lvl1pPr>
          </a:lstStyle>
          <a:p>
            <a:fld id="{88271605-D50E-4D7D-8F0E-0ED775F893DE}" type="slidenum">
              <a:rPr lang="zh-CN" altLang="zh-CN"/>
              <a:pPr/>
              <a:t>‹#›</a:t>
            </a:fld>
            <a:endParaRPr lang="zh-CN" altLang="zh-CN"/>
          </a:p>
        </p:txBody>
      </p:sp>
    </p:spTree>
    <p:extLst>
      <p:ext uri="{BB962C8B-B14F-4D97-AF65-F5344CB8AC3E}">
        <p14:creationId xmlns:p14="http://schemas.microsoft.com/office/powerpoint/2010/main" val="1046648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4D7ED5-8991-426A-AB2F-0A6BB079A14B}"/>
              </a:ext>
            </a:extLst>
          </p:cNvPr>
          <p:cNvSpPr>
            <a:spLocks noGrp="1"/>
          </p:cNvSpPr>
          <p:nvPr>
            <p:ph type="title"/>
          </p:nvPr>
        </p:nvSpPr>
        <p:spPr>
          <a:xfrm>
            <a:off x="630238" y="344488"/>
            <a:ext cx="7886700" cy="1252537"/>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0CA3542-8BA1-4B81-BEB8-525B9EE93980}"/>
              </a:ext>
            </a:extLst>
          </p:cNvPr>
          <p:cNvSpPr>
            <a:spLocks noGrp="1"/>
          </p:cNvSpPr>
          <p:nvPr>
            <p:ph type="body" idx="1"/>
          </p:nvPr>
        </p:nvSpPr>
        <p:spPr>
          <a:xfrm>
            <a:off x="630238" y="1589088"/>
            <a:ext cx="3868737" cy="7778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5CB407CE-D7AF-4632-BC10-9E51671A9506}"/>
              </a:ext>
            </a:extLst>
          </p:cNvPr>
          <p:cNvSpPr>
            <a:spLocks noGrp="1"/>
          </p:cNvSpPr>
          <p:nvPr>
            <p:ph sz="half" idx="2"/>
          </p:nvPr>
        </p:nvSpPr>
        <p:spPr>
          <a:xfrm>
            <a:off x="630238" y="2366963"/>
            <a:ext cx="3868737" cy="3481387"/>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60F8F1D7-F11A-4BBC-B480-E6F8092BD0EF}"/>
              </a:ext>
            </a:extLst>
          </p:cNvPr>
          <p:cNvSpPr>
            <a:spLocks noGrp="1"/>
          </p:cNvSpPr>
          <p:nvPr>
            <p:ph type="body" sz="quarter" idx="3"/>
          </p:nvPr>
        </p:nvSpPr>
        <p:spPr>
          <a:xfrm>
            <a:off x="4629150" y="1589088"/>
            <a:ext cx="3887788" cy="7778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61F1905-0B56-4BC9-8836-A2F7E311D75B}"/>
              </a:ext>
            </a:extLst>
          </p:cNvPr>
          <p:cNvSpPr>
            <a:spLocks noGrp="1"/>
          </p:cNvSpPr>
          <p:nvPr>
            <p:ph sz="quarter" idx="4"/>
          </p:nvPr>
        </p:nvSpPr>
        <p:spPr>
          <a:xfrm>
            <a:off x="4629150" y="2366963"/>
            <a:ext cx="3887788" cy="3481387"/>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76FA34A5-C691-41F4-81DF-76E6DE2604C0}"/>
              </a:ext>
            </a:extLst>
          </p:cNvPr>
          <p:cNvSpPr>
            <a:spLocks noGrp="1"/>
          </p:cNvSpPr>
          <p:nvPr>
            <p:ph type="dt" sz="half" idx="10"/>
          </p:nvPr>
        </p:nvSpPr>
        <p:spPr/>
        <p:txBody>
          <a:bodyPr/>
          <a:lstStyle>
            <a:lvl1pPr>
              <a:defRPr/>
            </a:lvl1pPr>
          </a:lstStyle>
          <a:p>
            <a:endParaRPr lang="zh-CN" altLang="zh-CN"/>
          </a:p>
        </p:txBody>
      </p:sp>
      <p:sp>
        <p:nvSpPr>
          <p:cNvPr id="8" name="页脚占位符 7">
            <a:extLst>
              <a:ext uri="{FF2B5EF4-FFF2-40B4-BE49-F238E27FC236}">
                <a16:creationId xmlns:a16="http://schemas.microsoft.com/office/drawing/2014/main" id="{1ABA66DE-4430-447D-8A92-D469561ECA5E}"/>
              </a:ext>
            </a:extLst>
          </p:cNvPr>
          <p:cNvSpPr>
            <a:spLocks noGrp="1"/>
          </p:cNvSpPr>
          <p:nvPr>
            <p:ph type="ftr" sz="quarter" idx="11"/>
          </p:nvPr>
        </p:nvSpPr>
        <p:spPr/>
        <p:txBody>
          <a:bodyPr/>
          <a:lstStyle>
            <a:lvl1pPr>
              <a:defRPr/>
            </a:lvl1pPr>
          </a:lstStyle>
          <a:p>
            <a:endParaRPr lang="zh-CN" altLang="zh-CN"/>
          </a:p>
        </p:txBody>
      </p:sp>
      <p:sp>
        <p:nvSpPr>
          <p:cNvPr id="9" name="灯片编号占位符 8">
            <a:extLst>
              <a:ext uri="{FF2B5EF4-FFF2-40B4-BE49-F238E27FC236}">
                <a16:creationId xmlns:a16="http://schemas.microsoft.com/office/drawing/2014/main" id="{8861D9DF-156D-4585-8A43-D9C166D717F6}"/>
              </a:ext>
            </a:extLst>
          </p:cNvPr>
          <p:cNvSpPr>
            <a:spLocks noGrp="1"/>
          </p:cNvSpPr>
          <p:nvPr>
            <p:ph type="sldNum" sz="quarter" idx="12"/>
          </p:nvPr>
        </p:nvSpPr>
        <p:spPr/>
        <p:txBody>
          <a:bodyPr/>
          <a:lstStyle>
            <a:lvl1pPr>
              <a:defRPr/>
            </a:lvl1pPr>
          </a:lstStyle>
          <a:p>
            <a:fld id="{B8CAABC3-CCE7-47FB-857E-E34C94C2FED8}" type="slidenum">
              <a:rPr lang="zh-CN" altLang="zh-CN"/>
              <a:pPr/>
              <a:t>‹#›</a:t>
            </a:fld>
            <a:endParaRPr lang="zh-CN" altLang="zh-CN"/>
          </a:p>
        </p:txBody>
      </p:sp>
    </p:spTree>
    <p:extLst>
      <p:ext uri="{BB962C8B-B14F-4D97-AF65-F5344CB8AC3E}">
        <p14:creationId xmlns:p14="http://schemas.microsoft.com/office/powerpoint/2010/main" val="741917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DE0DB9-E4EB-45FF-8291-E34D44357EA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7BAF3AD-531E-46EF-8368-CD3E54F50BE9}"/>
              </a:ext>
            </a:extLst>
          </p:cNvPr>
          <p:cNvSpPr>
            <a:spLocks noGrp="1"/>
          </p:cNvSpPr>
          <p:nvPr>
            <p:ph type="dt" sz="half" idx="10"/>
          </p:nvPr>
        </p:nvSpPr>
        <p:spPr/>
        <p:txBody>
          <a:bodyPr/>
          <a:lstStyle>
            <a:lvl1pPr>
              <a:defRPr/>
            </a:lvl1pPr>
          </a:lstStyle>
          <a:p>
            <a:endParaRPr lang="zh-CN" altLang="zh-CN"/>
          </a:p>
        </p:txBody>
      </p:sp>
      <p:sp>
        <p:nvSpPr>
          <p:cNvPr id="4" name="页脚占位符 3">
            <a:extLst>
              <a:ext uri="{FF2B5EF4-FFF2-40B4-BE49-F238E27FC236}">
                <a16:creationId xmlns:a16="http://schemas.microsoft.com/office/drawing/2014/main" id="{32B5BBB7-AFFF-4E02-A5B1-DC236CB3DF8F}"/>
              </a:ext>
            </a:extLst>
          </p:cNvPr>
          <p:cNvSpPr>
            <a:spLocks noGrp="1"/>
          </p:cNvSpPr>
          <p:nvPr>
            <p:ph type="ftr" sz="quarter" idx="11"/>
          </p:nvPr>
        </p:nvSpPr>
        <p:spPr/>
        <p:txBody>
          <a:bodyPr/>
          <a:lstStyle>
            <a:lvl1pPr>
              <a:defRPr/>
            </a:lvl1pPr>
          </a:lstStyle>
          <a:p>
            <a:endParaRPr lang="zh-CN" altLang="zh-CN"/>
          </a:p>
        </p:txBody>
      </p:sp>
      <p:sp>
        <p:nvSpPr>
          <p:cNvPr id="5" name="灯片编号占位符 4">
            <a:extLst>
              <a:ext uri="{FF2B5EF4-FFF2-40B4-BE49-F238E27FC236}">
                <a16:creationId xmlns:a16="http://schemas.microsoft.com/office/drawing/2014/main" id="{A7AB6C4E-22EE-474D-BFEF-DC00D883CD71}"/>
              </a:ext>
            </a:extLst>
          </p:cNvPr>
          <p:cNvSpPr>
            <a:spLocks noGrp="1"/>
          </p:cNvSpPr>
          <p:nvPr>
            <p:ph type="sldNum" sz="quarter" idx="12"/>
          </p:nvPr>
        </p:nvSpPr>
        <p:spPr/>
        <p:txBody>
          <a:bodyPr/>
          <a:lstStyle>
            <a:lvl1pPr>
              <a:defRPr/>
            </a:lvl1pPr>
          </a:lstStyle>
          <a:p>
            <a:fld id="{F5E796DC-3FC0-4F4C-AFCE-3AE909F9B54A}" type="slidenum">
              <a:rPr lang="zh-CN" altLang="zh-CN"/>
              <a:pPr/>
              <a:t>‹#›</a:t>
            </a:fld>
            <a:endParaRPr lang="zh-CN" altLang="zh-CN"/>
          </a:p>
        </p:txBody>
      </p:sp>
    </p:spTree>
    <p:extLst>
      <p:ext uri="{BB962C8B-B14F-4D97-AF65-F5344CB8AC3E}">
        <p14:creationId xmlns:p14="http://schemas.microsoft.com/office/powerpoint/2010/main" val="847496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75B74E8-8194-45E8-8BFB-7D20A1327504}"/>
              </a:ext>
            </a:extLst>
          </p:cNvPr>
          <p:cNvSpPr>
            <a:spLocks noGrp="1"/>
          </p:cNvSpPr>
          <p:nvPr>
            <p:ph type="dt" sz="half" idx="10"/>
          </p:nvPr>
        </p:nvSpPr>
        <p:spPr/>
        <p:txBody>
          <a:bodyPr/>
          <a:lstStyle>
            <a:lvl1pPr>
              <a:defRPr/>
            </a:lvl1pPr>
          </a:lstStyle>
          <a:p>
            <a:endParaRPr lang="zh-CN" altLang="zh-CN"/>
          </a:p>
        </p:txBody>
      </p:sp>
      <p:sp>
        <p:nvSpPr>
          <p:cNvPr id="3" name="页脚占位符 2">
            <a:extLst>
              <a:ext uri="{FF2B5EF4-FFF2-40B4-BE49-F238E27FC236}">
                <a16:creationId xmlns:a16="http://schemas.microsoft.com/office/drawing/2014/main" id="{0F3E0866-E46C-47DA-9077-C26A62651747}"/>
              </a:ext>
            </a:extLst>
          </p:cNvPr>
          <p:cNvSpPr>
            <a:spLocks noGrp="1"/>
          </p:cNvSpPr>
          <p:nvPr>
            <p:ph type="ftr" sz="quarter" idx="11"/>
          </p:nvPr>
        </p:nvSpPr>
        <p:spPr/>
        <p:txBody>
          <a:bodyPr/>
          <a:lstStyle>
            <a:lvl1pPr>
              <a:defRPr/>
            </a:lvl1pPr>
          </a:lstStyle>
          <a:p>
            <a:endParaRPr lang="zh-CN" altLang="zh-CN"/>
          </a:p>
        </p:txBody>
      </p:sp>
      <p:sp>
        <p:nvSpPr>
          <p:cNvPr id="4" name="灯片编号占位符 3">
            <a:extLst>
              <a:ext uri="{FF2B5EF4-FFF2-40B4-BE49-F238E27FC236}">
                <a16:creationId xmlns:a16="http://schemas.microsoft.com/office/drawing/2014/main" id="{F5AB13D2-0B1B-4443-8D6B-5809E132B2D1}"/>
              </a:ext>
            </a:extLst>
          </p:cNvPr>
          <p:cNvSpPr>
            <a:spLocks noGrp="1"/>
          </p:cNvSpPr>
          <p:nvPr>
            <p:ph type="sldNum" sz="quarter" idx="12"/>
          </p:nvPr>
        </p:nvSpPr>
        <p:spPr/>
        <p:txBody>
          <a:bodyPr/>
          <a:lstStyle>
            <a:lvl1pPr>
              <a:defRPr/>
            </a:lvl1pPr>
          </a:lstStyle>
          <a:p>
            <a:fld id="{63EB905B-62A7-498D-B695-EE0E1E83822A}" type="slidenum">
              <a:rPr lang="zh-CN" altLang="zh-CN"/>
              <a:pPr/>
              <a:t>‹#›</a:t>
            </a:fld>
            <a:endParaRPr lang="zh-CN" altLang="zh-CN"/>
          </a:p>
        </p:txBody>
      </p:sp>
    </p:spTree>
    <p:extLst>
      <p:ext uri="{BB962C8B-B14F-4D97-AF65-F5344CB8AC3E}">
        <p14:creationId xmlns:p14="http://schemas.microsoft.com/office/powerpoint/2010/main" val="2125542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23F564-1266-4871-B9FC-64D9835E2D2B}"/>
              </a:ext>
            </a:extLst>
          </p:cNvPr>
          <p:cNvSpPr>
            <a:spLocks noGrp="1"/>
          </p:cNvSpPr>
          <p:nvPr>
            <p:ph type="title"/>
          </p:nvPr>
        </p:nvSpPr>
        <p:spPr>
          <a:xfrm>
            <a:off x="630238" y="431800"/>
            <a:ext cx="2949575" cy="1512888"/>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D6F02F3-2DAA-433C-A013-8C30EFBF06BD}"/>
              </a:ext>
            </a:extLst>
          </p:cNvPr>
          <p:cNvSpPr>
            <a:spLocks noGrp="1"/>
          </p:cNvSpPr>
          <p:nvPr>
            <p:ph idx="1"/>
          </p:nvPr>
        </p:nvSpPr>
        <p:spPr>
          <a:xfrm>
            <a:off x="3887788" y="933450"/>
            <a:ext cx="4629150" cy="460533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9C781F3A-08BD-471F-8BFF-FC5836B9E862}"/>
              </a:ext>
            </a:extLst>
          </p:cNvPr>
          <p:cNvSpPr>
            <a:spLocks noGrp="1"/>
          </p:cNvSpPr>
          <p:nvPr>
            <p:ph type="body" sz="half" idx="2"/>
          </p:nvPr>
        </p:nvSpPr>
        <p:spPr>
          <a:xfrm>
            <a:off x="630238" y="1944688"/>
            <a:ext cx="2949575" cy="360045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E29C6C6D-0A1F-4D50-BFA3-458F400405B7}"/>
              </a:ext>
            </a:extLst>
          </p:cNvPr>
          <p:cNvSpPr>
            <a:spLocks noGrp="1"/>
          </p:cNvSpPr>
          <p:nvPr>
            <p:ph type="dt" sz="half" idx="10"/>
          </p:nvPr>
        </p:nvSpPr>
        <p:spPr/>
        <p:txBody>
          <a:bodyPr/>
          <a:lstStyle>
            <a:lvl1pPr>
              <a:defRPr/>
            </a:lvl1pPr>
          </a:lstStyle>
          <a:p>
            <a:endParaRPr lang="zh-CN" altLang="zh-CN"/>
          </a:p>
        </p:txBody>
      </p:sp>
      <p:sp>
        <p:nvSpPr>
          <p:cNvPr id="6" name="页脚占位符 5">
            <a:extLst>
              <a:ext uri="{FF2B5EF4-FFF2-40B4-BE49-F238E27FC236}">
                <a16:creationId xmlns:a16="http://schemas.microsoft.com/office/drawing/2014/main" id="{EE4DEABF-1D45-4ADF-8A1D-BDC9801BF0CF}"/>
              </a:ext>
            </a:extLst>
          </p:cNvPr>
          <p:cNvSpPr>
            <a:spLocks noGrp="1"/>
          </p:cNvSpPr>
          <p:nvPr>
            <p:ph type="ftr" sz="quarter" idx="11"/>
          </p:nvPr>
        </p:nvSpPr>
        <p:spPr/>
        <p:txBody>
          <a:bodyPr/>
          <a:lstStyle>
            <a:lvl1pPr>
              <a:defRPr/>
            </a:lvl1pPr>
          </a:lstStyle>
          <a:p>
            <a:endParaRPr lang="zh-CN" altLang="zh-CN"/>
          </a:p>
        </p:txBody>
      </p:sp>
      <p:sp>
        <p:nvSpPr>
          <p:cNvPr id="7" name="灯片编号占位符 6">
            <a:extLst>
              <a:ext uri="{FF2B5EF4-FFF2-40B4-BE49-F238E27FC236}">
                <a16:creationId xmlns:a16="http://schemas.microsoft.com/office/drawing/2014/main" id="{81F0B117-C377-49B4-B69B-5CFEC75EE8DA}"/>
              </a:ext>
            </a:extLst>
          </p:cNvPr>
          <p:cNvSpPr>
            <a:spLocks noGrp="1"/>
          </p:cNvSpPr>
          <p:nvPr>
            <p:ph type="sldNum" sz="quarter" idx="12"/>
          </p:nvPr>
        </p:nvSpPr>
        <p:spPr/>
        <p:txBody>
          <a:bodyPr/>
          <a:lstStyle>
            <a:lvl1pPr>
              <a:defRPr/>
            </a:lvl1pPr>
          </a:lstStyle>
          <a:p>
            <a:fld id="{CC30BCB2-17C6-4A7C-91C4-E1CBC1861909}" type="slidenum">
              <a:rPr lang="zh-CN" altLang="zh-CN"/>
              <a:pPr/>
              <a:t>‹#›</a:t>
            </a:fld>
            <a:endParaRPr lang="zh-CN" altLang="zh-CN"/>
          </a:p>
        </p:txBody>
      </p:sp>
    </p:spTree>
    <p:extLst>
      <p:ext uri="{BB962C8B-B14F-4D97-AF65-F5344CB8AC3E}">
        <p14:creationId xmlns:p14="http://schemas.microsoft.com/office/powerpoint/2010/main" val="1721528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3A0A39-D1F1-485B-A41F-7BFB8E09CF04}"/>
              </a:ext>
            </a:extLst>
          </p:cNvPr>
          <p:cNvSpPr>
            <a:spLocks noGrp="1"/>
          </p:cNvSpPr>
          <p:nvPr>
            <p:ph type="title"/>
          </p:nvPr>
        </p:nvSpPr>
        <p:spPr>
          <a:xfrm>
            <a:off x="630238" y="431800"/>
            <a:ext cx="2949575" cy="1512888"/>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F35893A-2D6F-4C93-B209-863D0E21ECA8}"/>
              </a:ext>
            </a:extLst>
          </p:cNvPr>
          <p:cNvSpPr>
            <a:spLocks noGrp="1"/>
          </p:cNvSpPr>
          <p:nvPr>
            <p:ph type="pic" idx="1"/>
          </p:nvPr>
        </p:nvSpPr>
        <p:spPr>
          <a:xfrm>
            <a:off x="3887788" y="933450"/>
            <a:ext cx="4629150" cy="46053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9FFD8F2-E03D-4F6D-A431-8356C56B9078}"/>
              </a:ext>
            </a:extLst>
          </p:cNvPr>
          <p:cNvSpPr>
            <a:spLocks noGrp="1"/>
          </p:cNvSpPr>
          <p:nvPr>
            <p:ph type="body" sz="half" idx="2"/>
          </p:nvPr>
        </p:nvSpPr>
        <p:spPr>
          <a:xfrm>
            <a:off x="630238" y="1944688"/>
            <a:ext cx="2949575" cy="360045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1B9A78E8-712C-49E9-88A9-9B5740999D88}"/>
              </a:ext>
            </a:extLst>
          </p:cNvPr>
          <p:cNvSpPr>
            <a:spLocks noGrp="1"/>
          </p:cNvSpPr>
          <p:nvPr>
            <p:ph type="dt" sz="half" idx="10"/>
          </p:nvPr>
        </p:nvSpPr>
        <p:spPr/>
        <p:txBody>
          <a:bodyPr/>
          <a:lstStyle>
            <a:lvl1pPr>
              <a:defRPr/>
            </a:lvl1pPr>
          </a:lstStyle>
          <a:p>
            <a:endParaRPr lang="zh-CN" altLang="zh-CN"/>
          </a:p>
        </p:txBody>
      </p:sp>
      <p:sp>
        <p:nvSpPr>
          <p:cNvPr id="6" name="页脚占位符 5">
            <a:extLst>
              <a:ext uri="{FF2B5EF4-FFF2-40B4-BE49-F238E27FC236}">
                <a16:creationId xmlns:a16="http://schemas.microsoft.com/office/drawing/2014/main" id="{EEC1BFF8-7A09-442C-814F-3BE7895F26A6}"/>
              </a:ext>
            </a:extLst>
          </p:cNvPr>
          <p:cNvSpPr>
            <a:spLocks noGrp="1"/>
          </p:cNvSpPr>
          <p:nvPr>
            <p:ph type="ftr" sz="quarter" idx="11"/>
          </p:nvPr>
        </p:nvSpPr>
        <p:spPr/>
        <p:txBody>
          <a:bodyPr/>
          <a:lstStyle>
            <a:lvl1pPr>
              <a:defRPr/>
            </a:lvl1pPr>
          </a:lstStyle>
          <a:p>
            <a:endParaRPr lang="zh-CN" altLang="zh-CN"/>
          </a:p>
        </p:txBody>
      </p:sp>
      <p:sp>
        <p:nvSpPr>
          <p:cNvPr id="7" name="灯片编号占位符 6">
            <a:extLst>
              <a:ext uri="{FF2B5EF4-FFF2-40B4-BE49-F238E27FC236}">
                <a16:creationId xmlns:a16="http://schemas.microsoft.com/office/drawing/2014/main" id="{E413AA73-8122-478C-BEC9-1E66262F8EE1}"/>
              </a:ext>
            </a:extLst>
          </p:cNvPr>
          <p:cNvSpPr>
            <a:spLocks noGrp="1"/>
          </p:cNvSpPr>
          <p:nvPr>
            <p:ph type="sldNum" sz="quarter" idx="12"/>
          </p:nvPr>
        </p:nvSpPr>
        <p:spPr/>
        <p:txBody>
          <a:bodyPr/>
          <a:lstStyle>
            <a:lvl1pPr>
              <a:defRPr/>
            </a:lvl1pPr>
          </a:lstStyle>
          <a:p>
            <a:fld id="{696F9AF3-53A7-49E2-BAB1-6977649950CE}" type="slidenum">
              <a:rPr lang="zh-CN" altLang="zh-CN"/>
              <a:pPr/>
              <a:t>‹#›</a:t>
            </a:fld>
            <a:endParaRPr lang="zh-CN" altLang="zh-CN"/>
          </a:p>
        </p:txBody>
      </p:sp>
    </p:spTree>
    <p:extLst>
      <p:ext uri="{BB962C8B-B14F-4D97-AF65-F5344CB8AC3E}">
        <p14:creationId xmlns:p14="http://schemas.microsoft.com/office/powerpoint/2010/main" val="751451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9E3C01-8AF7-4F6F-ADE1-2FB14CF42EA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6AD06CA-D210-4E02-AC87-5BD1EB82CF44}"/>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449FA09-20A1-4E7E-8A54-3DB7E57763BD}"/>
              </a:ext>
            </a:extLst>
          </p:cNvPr>
          <p:cNvSpPr>
            <a:spLocks noGrp="1"/>
          </p:cNvSpPr>
          <p:nvPr>
            <p:ph type="dt" sz="half" idx="10"/>
          </p:nvPr>
        </p:nvSpPr>
        <p:spPr/>
        <p:txBody>
          <a:bodyPr/>
          <a:lstStyle>
            <a:lvl1pPr>
              <a:defRPr/>
            </a:lvl1pPr>
          </a:lstStyle>
          <a:p>
            <a:endParaRPr lang="zh-CN" altLang="zh-CN"/>
          </a:p>
        </p:txBody>
      </p:sp>
      <p:sp>
        <p:nvSpPr>
          <p:cNvPr id="5" name="页脚占位符 4">
            <a:extLst>
              <a:ext uri="{FF2B5EF4-FFF2-40B4-BE49-F238E27FC236}">
                <a16:creationId xmlns:a16="http://schemas.microsoft.com/office/drawing/2014/main" id="{38011B75-0251-4624-A588-DE431B2618F8}"/>
              </a:ext>
            </a:extLst>
          </p:cNvPr>
          <p:cNvSpPr>
            <a:spLocks noGrp="1"/>
          </p:cNvSpPr>
          <p:nvPr>
            <p:ph type="ftr" sz="quarter" idx="11"/>
          </p:nvPr>
        </p:nvSpPr>
        <p:spPr/>
        <p:txBody>
          <a:bodyPr/>
          <a:lstStyle>
            <a:lvl1pPr>
              <a:defRPr/>
            </a:lvl1pPr>
          </a:lstStyle>
          <a:p>
            <a:endParaRPr lang="zh-CN" altLang="zh-CN"/>
          </a:p>
        </p:txBody>
      </p:sp>
      <p:sp>
        <p:nvSpPr>
          <p:cNvPr id="6" name="灯片编号占位符 5">
            <a:extLst>
              <a:ext uri="{FF2B5EF4-FFF2-40B4-BE49-F238E27FC236}">
                <a16:creationId xmlns:a16="http://schemas.microsoft.com/office/drawing/2014/main" id="{ACB17106-25A1-4B68-8DA3-1B0EDFE2DBF9}"/>
              </a:ext>
            </a:extLst>
          </p:cNvPr>
          <p:cNvSpPr>
            <a:spLocks noGrp="1"/>
          </p:cNvSpPr>
          <p:nvPr>
            <p:ph type="sldNum" sz="quarter" idx="12"/>
          </p:nvPr>
        </p:nvSpPr>
        <p:spPr/>
        <p:txBody>
          <a:bodyPr/>
          <a:lstStyle>
            <a:lvl1pPr>
              <a:defRPr/>
            </a:lvl1pPr>
          </a:lstStyle>
          <a:p>
            <a:fld id="{4CC5A8D8-6358-46DC-AB30-1859528FD2C9}" type="slidenum">
              <a:rPr lang="zh-CN" altLang="zh-CN"/>
              <a:pPr/>
              <a:t>‹#›</a:t>
            </a:fld>
            <a:endParaRPr lang="zh-CN" altLang="zh-CN"/>
          </a:p>
        </p:txBody>
      </p:sp>
    </p:spTree>
    <p:extLst>
      <p:ext uri="{BB962C8B-B14F-4D97-AF65-F5344CB8AC3E}">
        <p14:creationId xmlns:p14="http://schemas.microsoft.com/office/powerpoint/2010/main" val="1693717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37E8E97-C7D6-44C9-926F-E136DCE9E0EC}"/>
              </a:ext>
            </a:extLst>
          </p:cNvPr>
          <p:cNvSpPr>
            <a:spLocks noGrp="1"/>
          </p:cNvSpPr>
          <p:nvPr>
            <p:ph type="title" orient="vert"/>
          </p:nvPr>
        </p:nvSpPr>
        <p:spPr>
          <a:xfrm>
            <a:off x="6629400" y="260350"/>
            <a:ext cx="2057400" cy="5527675"/>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5E1A4C0-7B9A-4BB0-90C4-80F34DD65A2A}"/>
              </a:ext>
            </a:extLst>
          </p:cNvPr>
          <p:cNvSpPr>
            <a:spLocks noGrp="1"/>
          </p:cNvSpPr>
          <p:nvPr>
            <p:ph type="body" orient="vert" idx="1"/>
          </p:nvPr>
        </p:nvSpPr>
        <p:spPr>
          <a:xfrm>
            <a:off x="457200" y="260350"/>
            <a:ext cx="6019800" cy="5527675"/>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8DF7012D-7C44-4045-8085-2E8C0AAC8F6D}"/>
              </a:ext>
            </a:extLst>
          </p:cNvPr>
          <p:cNvSpPr>
            <a:spLocks noGrp="1"/>
          </p:cNvSpPr>
          <p:nvPr>
            <p:ph type="dt" sz="half" idx="10"/>
          </p:nvPr>
        </p:nvSpPr>
        <p:spPr/>
        <p:txBody>
          <a:bodyPr/>
          <a:lstStyle>
            <a:lvl1pPr>
              <a:defRPr/>
            </a:lvl1pPr>
          </a:lstStyle>
          <a:p>
            <a:endParaRPr lang="zh-CN" altLang="zh-CN"/>
          </a:p>
        </p:txBody>
      </p:sp>
      <p:sp>
        <p:nvSpPr>
          <p:cNvPr id="5" name="页脚占位符 4">
            <a:extLst>
              <a:ext uri="{FF2B5EF4-FFF2-40B4-BE49-F238E27FC236}">
                <a16:creationId xmlns:a16="http://schemas.microsoft.com/office/drawing/2014/main" id="{A35C3448-2CDB-416B-B41C-14E0B3C8FA31}"/>
              </a:ext>
            </a:extLst>
          </p:cNvPr>
          <p:cNvSpPr>
            <a:spLocks noGrp="1"/>
          </p:cNvSpPr>
          <p:nvPr>
            <p:ph type="ftr" sz="quarter" idx="11"/>
          </p:nvPr>
        </p:nvSpPr>
        <p:spPr/>
        <p:txBody>
          <a:bodyPr/>
          <a:lstStyle>
            <a:lvl1pPr>
              <a:defRPr/>
            </a:lvl1pPr>
          </a:lstStyle>
          <a:p>
            <a:endParaRPr lang="zh-CN" altLang="zh-CN"/>
          </a:p>
        </p:txBody>
      </p:sp>
      <p:sp>
        <p:nvSpPr>
          <p:cNvPr id="6" name="灯片编号占位符 5">
            <a:extLst>
              <a:ext uri="{FF2B5EF4-FFF2-40B4-BE49-F238E27FC236}">
                <a16:creationId xmlns:a16="http://schemas.microsoft.com/office/drawing/2014/main" id="{11AD499A-3527-4BBA-9D8A-CF393BA2684A}"/>
              </a:ext>
            </a:extLst>
          </p:cNvPr>
          <p:cNvSpPr>
            <a:spLocks noGrp="1"/>
          </p:cNvSpPr>
          <p:nvPr>
            <p:ph type="sldNum" sz="quarter" idx="12"/>
          </p:nvPr>
        </p:nvSpPr>
        <p:spPr/>
        <p:txBody>
          <a:bodyPr/>
          <a:lstStyle>
            <a:lvl1pPr>
              <a:defRPr/>
            </a:lvl1pPr>
          </a:lstStyle>
          <a:p>
            <a:fld id="{EFC95462-0307-477C-8065-F60E7197D778}" type="slidenum">
              <a:rPr lang="zh-CN" altLang="zh-CN"/>
              <a:pPr/>
              <a:t>‹#›</a:t>
            </a:fld>
            <a:endParaRPr lang="zh-CN" altLang="zh-CN"/>
          </a:p>
        </p:txBody>
      </p:sp>
    </p:spTree>
    <p:extLst>
      <p:ext uri="{BB962C8B-B14F-4D97-AF65-F5344CB8AC3E}">
        <p14:creationId xmlns:p14="http://schemas.microsoft.com/office/powerpoint/2010/main" val="1861757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DDF04AB-6CD5-4370-A11F-5993BE7B3285}"/>
              </a:ext>
            </a:extLst>
          </p:cNvPr>
          <p:cNvSpPr>
            <a:spLocks noGrp="1" noChangeArrowheads="1"/>
          </p:cNvSpPr>
          <p:nvPr>
            <p:ph type="title"/>
          </p:nvPr>
        </p:nvSpPr>
        <p:spPr bwMode="auto">
          <a:xfrm>
            <a:off x="457200" y="260350"/>
            <a:ext cx="8229600"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1027" name="Rectangle 3">
            <a:extLst>
              <a:ext uri="{FF2B5EF4-FFF2-40B4-BE49-F238E27FC236}">
                <a16:creationId xmlns:a16="http://schemas.microsoft.com/office/drawing/2014/main" id="{09970A27-DFFE-4F35-93A4-4BE4EA229A90}"/>
              </a:ext>
            </a:extLst>
          </p:cNvPr>
          <p:cNvSpPr>
            <a:spLocks noGrp="1" noChangeArrowheads="1"/>
          </p:cNvSpPr>
          <p:nvPr>
            <p:ph type="body" idx="1"/>
          </p:nvPr>
        </p:nvSpPr>
        <p:spPr bwMode="auto">
          <a:xfrm>
            <a:off x="457200" y="1511300"/>
            <a:ext cx="8229600" cy="427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28" name="Rectangle 4">
            <a:extLst>
              <a:ext uri="{FF2B5EF4-FFF2-40B4-BE49-F238E27FC236}">
                <a16:creationId xmlns:a16="http://schemas.microsoft.com/office/drawing/2014/main" id="{830F7047-ED32-4D10-8204-9BC22504885E}"/>
              </a:ext>
            </a:extLst>
          </p:cNvPr>
          <p:cNvSpPr>
            <a:spLocks noGrp="1" noChangeArrowheads="1"/>
          </p:cNvSpPr>
          <p:nvPr>
            <p:ph type="dt" sz="half" idx="2"/>
          </p:nvPr>
        </p:nvSpPr>
        <p:spPr bwMode="auto">
          <a:xfrm>
            <a:off x="457200" y="5900738"/>
            <a:ext cx="2133600"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zh-CN" altLang="zh-CN"/>
          </a:p>
        </p:txBody>
      </p:sp>
      <p:sp>
        <p:nvSpPr>
          <p:cNvPr id="1029" name="Rectangle 5">
            <a:extLst>
              <a:ext uri="{FF2B5EF4-FFF2-40B4-BE49-F238E27FC236}">
                <a16:creationId xmlns:a16="http://schemas.microsoft.com/office/drawing/2014/main" id="{D2C295D0-C3A9-4A7D-8F2F-88BDFE89E636}"/>
              </a:ext>
            </a:extLst>
          </p:cNvPr>
          <p:cNvSpPr>
            <a:spLocks noGrp="1" noChangeArrowheads="1"/>
          </p:cNvSpPr>
          <p:nvPr>
            <p:ph type="ftr" sz="quarter" idx="3"/>
          </p:nvPr>
        </p:nvSpPr>
        <p:spPr bwMode="auto">
          <a:xfrm>
            <a:off x="3124200" y="5900738"/>
            <a:ext cx="2895600"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zh-CN" altLang="zh-CN"/>
          </a:p>
        </p:txBody>
      </p:sp>
      <p:sp>
        <p:nvSpPr>
          <p:cNvPr id="1030" name="Rectangle 6">
            <a:extLst>
              <a:ext uri="{FF2B5EF4-FFF2-40B4-BE49-F238E27FC236}">
                <a16:creationId xmlns:a16="http://schemas.microsoft.com/office/drawing/2014/main" id="{4851D89C-C22D-4630-BBAB-4DFF88302F7C}"/>
              </a:ext>
            </a:extLst>
          </p:cNvPr>
          <p:cNvSpPr>
            <a:spLocks noGrp="1" noChangeArrowheads="1"/>
          </p:cNvSpPr>
          <p:nvPr>
            <p:ph type="sldNum" sz="quarter" idx="4"/>
          </p:nvPr>
        </p:nvSpPr>
        <p:spPr bwMode="auto">
          <a:xfrm>
            <a:off x="6553200" y="5900738"/>
            <a:ext cx="2133600"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A05305CE-8496-45D4-9996-83E6164A69E9}" type="slidenum">
              <a:rPr lang="zh-CN" altLang="zh-CN"/>
              <a:pPr/>
              <a:t>‹#›</a:t>
            </a:fld>
            <a:endParaRPr lang="zh-CN" altLang="zh-CN"/>
          </a:p>
        </p:txBody>
      </p:sp>
      <p:pic>
        <p:nvPicPr>
          <p:cNvPr id="1031" name="Picture 7" descr="065B26PPT模板">
            <a:extLst>
              <a:ext uri="{FF2B5EF4-FFF2-40B4-BE49-F238E27FC236}">
                <a16:creationId xmlns:a16="http://schemas.microsoft.com/office/drawing/2014/main" id="{F248058E-2DE2-461E-83B1-3B0B5F69669E}"/>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34925" y="0"/>
            <a:ext cx="9272588" cy="655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jpe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it.sohuqz.cn/shownews.asp?NewsID=343"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8.emf"/><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1.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s>
</file>

<file path=ppt/slides/_rels/slide1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8.jpeg"/><Relationship Id="rId4" Type="http://schemas.openxmlformats.org/officeDocument/2006/relationships/image" Target="../media/image27.jpeg"/></Relationships>
</file>

<file path=ppt/slides/_rels/slide1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1.xml"/><Relationship Id="rId4" Type="http://schemas.openxmlformats.org/officeDocument/2006/relationships/image" Target="../media/image34.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35.emf"/></Relationships>
</file>

<file path=ppt/slides/_rels/slide23.x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38.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39.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40.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41.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42.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43.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45.png"/><Relationship Id="rId4" Type="http://schemas.openxmlformats.org/officeDocument/2006/relationships/image" Target="../media/image44.e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46.emf"/></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jpeg"/><Relationship Id="rId1" Type="http://schemas.openxmlformats.org/officeDocument/2006/relationships/slideLayout" Target="../slideLayouts/slideLayout2.xml"/><Relationship Id="rId6" Type="http://schemas.openxmlformats.org/officeDocument/2006/relationships/image" Target="../media/image51.jpeg"/><Relationship Id="rId5" Type="http://schemas.openxmlformats.org/officeDocument/2006/relationships/image" Target="../media/image50.jpeg"/><Relationship Id="rId4" Type="http://schemas.openxmlformats.org/officeDocument/2006/relationships/image" Target="../media/image49.jpeg"/></Relationships>
</file>

<file path=ppt/slides/_rels/slide3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58.e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59.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60.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61.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9">
            <a:extLst>
              <a:ext uri="{FF2B5EF4-FFF2-40B4-BE49-F238E27FC236}">
                <a16:creationId xmlns:a16="http://schemas.microsoft.com/office/drawing/2014/main" id="{2B6D5447-E7D1-445E-9C39-9192D873AFBE}"/>
              </a:ext>
            </a:extLst>
          </p:cNvPr>
          <p:cNvSpPr>
            <a:spLocks noGrp="1" noChangeArrowheads="1"/>
          </p:cNvSpPr>
          <p:nvPr>
            <p:ph type="ftr" sz="quarter" idx="11"/>
          </p:nvPr>
        </p:nvSpPr>
        <p:spPr>
          <a:xfrm>
            <a:off x="3124200" y="3415916"/>
            <a:ext cx="2895600" cy="504056"/>
          </a:xfrm>
          <a:noFill/>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r>
              <a:rPr lang="zh-CN" altLang="en-US" sz="1400" dirty="0">
                <a:latin typeface="微软雅黑" panose="020B0503020204020204" pitchFamily="34" charset="-122"/>
                <a:ea typeface="微软雅黑" panose="020B0503020204020204" pitchFamily="34" charset="-122"/>
              </a:rPr>
              <a:t>合肥工业大学  </a:t>
            </a:r>
            <a:r>
              <a:rPr lang="zh-CN" altLang="en-US" sz="1400" dirty="0">
                <a:latin typeface="隶书" panose="02010509060101010101" pitchFamily="49" charset="-122"/>
                <a:ea typeface="隶书" panose="02010509060101010101" pitchFamily="49" charset="-122"/>
              </a:rPr>
              <a:t>计算机与信息学院</a:t>
            </a:r>
            <a:endParaRPr lang="en-US" altLang="zh-CN" sz="1400" dirty="0">
              <a:latin typeface="隶书" panose="02010509060101010101" pitchFamily="49" charset="-122"/>
              <a:ea typeface="隶书" panose="02010509060101010101" pitchFamily="49" charset="-122"/>
            </a:endParaRPr>
          </a:p>
        </p:txBody>
      </p:sp>
      <p:sp>
        <p:nvSpPr>
          <p:cNvPr id="3075" name="Rectangle 2">
            <a:extLst>
              <a:ext uri="{FF2B5EF4-FFF2-40B4-BE49-F238E27FC236}">
                <a16:creationId xmlns:a16="http://schemas.microsoft.com/office/drawing/2014/main" id="{4F6C0796-3F1A-43FB-81F4-ABE53745210E}"/>
              </a:ext>
            </a:extLst>
          </p:cNvPr>
          <p:cNvSpPr>
            <a:spLocks noGrp="1" noChangeArrowheads="1"/>
          </p:cNvSpPr>
          <p:nvPr>
            <p:ph type="ctrTitle"/>
          </p:nvPr>
        </p:nvSpPr>
        <p:spPr>
          <a:xfrm>
            <a:off x="1143000" y="2087959"/>
            <a:ext cx="6858000" cy="724272"/>
          </a:xfrm>
        </p:spPr>
        <p:txBody>
          <a:bodyPr/>
          <a:lstStyle/>
          <a:p>
            <a:pPr eaLnBrk="1" hangingPunct="1"/>
            <a:r>
              <a:rPr lang="en-US" altLang="zh-CN" sz="4000" dirty="0">
                <a:latin typeface="微软雅黑" panose="020B0503020204020204" pitchFamily="34" charset="-122"/>
                <a:ea typeface="微软雅黑" panose="020B0503020204020204" pitchFamily="34" charset="-122"/>
              </a:rPr>
              <a:t>RFID</a:t>
            </a:r>
            <a:r>
              <a:rPr lang="zh-CN" altLang="en-US" sz="4000" dirty="0">
                <a:latin typeface="微软雅黑" panose="020B0503020204020204" pitchFamily="34" charset="-122"/>
                <a:ea typeface="微软雅黑" panose="020B0503020204020204" pitchFamily="34" charset="-122"/>
              </a:rPr>
              <a:t>原理及应用</a:t>
            </a:r>
            <a:endParaRPr lang="en-US" altLang="zh-CN" sz="4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a:extLst>
              <a:ext uri="{FF2B5EF4-FFF2-40B4-BE49-F238E27FC236}">
                <a16:creationId xmlns:a16="http://schemas.microsoft.com/office/drawing/2014/main" id="{C06427A4-D22A-47AB-9523-C1C98D071C75}"/>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8F103221-FBA9-4F1C-82AF-54FB2D806833}" type="slidenum">
              <a:rPr lang="en-US" altLang="ko-KR" sz="1323">
                <a:latin typeface="Times New Roman" panose="02020603050405020304" pitchFamily="18" charset="0"/>
                <a:ea typeface="-소망M" pitchFamily="18" charset="-127"/>
              </a:rPr>
              <a:pPr eaLnBrk="1" hangingPunct="1"/>
              <a:t>2</a:t>
            </a:fld>
            <a:endParaRPr lang="en-US" altLang="ko-KR" sz="1323">
              <a:latin typeface="Times New Roman" panose="02020603050405020304" pitchFamily="18" charset="0"/>
              <a:ea typeface="-소망M" pitchFamily="18" charset="-127"/>
            </a:endParaRPr>
          </a:p>
        </p:txBody>
      </p:sp>
      <p:sp>
        <p:nvSpPr>
          <p:cNvPr id="4099" name="Rectangle 2">
            <a:extLst>
              <a:ext uri="{FF2B5EF4-FFF2-40B4-BE49-F238E27FC236}">
                <a16:creationId xmlns:a16="http://schemas.microsoft.com/office/drawing/2014/main" id="{20BBC299-46AE-46E1-9D84-3840DA39FB86}"/>
              </a:ext>
            </a:extLst>
          </p:cNvPr>
          <p:cNvSpPr>
            <a:spLocks noGrp="1" noChangeArrowheads="1"/>
          </p:cNvSpPr>
          <p:nvPr>
            <p:ph type="title"/>
          </p:nvPr>
        </p:nvSpPr>
        <p:spPr>
          <a:xfrm>
            <a:off x="457200" y="791815"/>
            <a:ext cx="8229600" cy="387449"/>
          </a:xfrm>
        </p:spPr>
        <p:txBody>
          <a:bodyPr/>
          <a:lstStyle/>
          <a:p>
            <a:pPr eaLnBrk="1" hangingPunct="1"/>
            <a:r>
              <a:rPr lang="zh-CN" altLang="en-US" sz="2800" dirty="0">
                <a:latin typeface="微软雅黑" panose="020B0503020204020204" pitchFamily="34" charset="-122"/>
                <a:ea typeface="微软雅黑" panose="020B0503020204020204" pitchFamily="34" charset="-122"/>
              </a:rPr>
              <a:t>课程简介</a:t>
            </a:r>
          </a:p>
        </p:txBody>
      </p:sp>
      <p:sp>
        <p:nvSpPr>
          <p:cNvPr id="4100" name="Rectangle 3">
            <a:extLst>
              <a:ext uri="{FF2B5EF4-FFF2-40B4-BE49-F238E27FC236}">
                <a16:creationId xmlns:a16="http://schemas.microsoft.com/office/drawing/2014/main" id="{29EE32BB-E1BA-4CB3-9CA3-21226327E87F}"/>
              </a:ext>
            </a:extLst>
          </p:cNvPr>
          <p:cNvSpPr>
            <a:spLocks noGrp="1" noChangeArrowheads="1"/>
          </p:cNvSpPr>
          <p:nvPr>
            <p:ph type="body" idx="1"/>
          </p:nvPr>
        </p:nvSpPr>
        <p:spPr>
          <a:xfrm>
            <a:off x="457200" y="1511300"/>
            <a:ext cx="8229600" cy="4465091"/>
          </a:xfrm>
        </p:spPr>
        <p:txBody>
          <a:bodyPr/>
          <a:lstStyle/>
          <a:p>
            <a:pPr eaLnBrk="1" hangingPunct="1"/>
            <a:r>
              <a:rPr lang="zh-CN" altLang="en-US" sz="2000" b="1" dirty="0">
                <a:latin typeface="微软雅黑" panose="020B0503020204020204" pitchFamily="34" charset="-122"/>
                <a:ea typeface="微软雅黑" panose="020B0503020204020204" pitchFamily="34" charset="-122"/>
              </a:rPr>
              <a:t>学时：</a:t>
            </a:r>
            <a:r>
              <a:rPr lang="en-US" altLang="zh-CN" sz="2000" dirty="0">
                <a:latin typeface="微软雅黑" panose="020B0503020204020204" pitchFamily="34" charset="-122"/>
                <a:ea typeface="微软雅黑" panose="020B0503020204020204" pitchFamily="34" charset="-122"/>
              </a:rPr>
              <a:t>24+8</a:t>
            </a:r>
          </a:p>
          <a:p>
            <a:pPr eaLnBrk="1" hangingPunct="1"/>
            <a:endParaRPr lang="en-US" altLang="zh-CN" sz="2000" dirty="0">
              <a:latin typeface="微软雅黑" panose="020B0503020204020204" pitchFamily="34" charset="-122"/>
              <a:ea typeface="微软雅黑" panose="020B0503020204020204" pitchFamily="34" charset="-122"/>
            </a:endParaRPr>
          </a:p>
          <a:p>
            <a:pPr eaLnBrk="1" hangingPunct="1"/>
            <a:r>
              <a:rPr lang="zh-CN" altLang="en-US" sz="2000" b="1" dirty="0">
                <a:latin typeface="微软雅黑" panose="020B0503020204020204" pitchFamily="34" charset="-122"/>
                <a:ea typeface="微软雅黑" panose="020B0503020204020204" pitchFamily="34" charset="-122"/>
              </a:rPr>
              <a:t>考核方式：</a:t>
            </a:r>
            <a:r>
              <a:rPr lang="zh-CN" altLang="en-US" sz="2000" dirty="0">
                <a:latin typeface="微软雅黑" panose="020B0503020204020204" pitchFamily="34" charset="-122"/>
                <a:ea typeface="微软雅黑" panose="020B0503020204020204" pitchFamily="34" charset="-122"/>
              </a:rPr>
              <a:t>期末考试</a:t>
            </a:r>
            <a:r>
              <a:rPr lang="en-US" altLang="zh-CN" sz="2000" dirty="0">
                <a:latin typeface="微软雅黑" panose="020B0503020204020204" pitchFamily="34" charset="-122"/>
                <a:ea typeface="微软雅黑" panose="020B0503020204020204" pitchFamily="34" charset="-122"/>
              </a:rPr>
              <a:t>: 40.0%, </a:t>
            </a:r>
            <a:r>
              <a:rPr lang="zh-CN" altLang="en-US" sz="2000" dirty="0">
                <a:latin typeface="微软雅黑" panose="020B0503020204020204" pitchFamily="34" charset="-122"/>
                <a:ea typeface="微软雅黑" panose="020B0503020204020204" pitchFamily="34" charset="-122"/>
              </a:rPr>
              <a:t>百分制</a:t>
            </a:r>
            <a:r>
              <a:rPr lang="en-US" altLang="zh-CN" sz="2000" dirty="0">
                <a:latin typeface="微软雅黑" panose="020B0503020204020204" pitchFamily="34" charset="-122"/>
                <a:ea typeface="微软雅黑" panose="020B0503020204020204" pitchFamily="34" charset="-122"/>
              </a:rPr>
              <a:t>;</a:t>
            </a:r>
          </a:p>
          <a:p>
            <a:pPr marL="0" indent="0" eaLnBrk="1" hangingPunct="1">
              <a:buNone/>
            </a:pPr>
            <a:r>
              <a:rPr lang="zh-CN" altLang="en-US" sz="2000" dirty="0">
                <a:latin typeface="微软雅黑" panose="020B0503020204020204" pitchFamily="34" charset="-122"/>
                <a:ea typeface="微软雅黑" panose="020B0503020204020204" pitchFamily="34" charset="-122"/>
              </a:rPr>
              <a:t>                      实验报告</a:t>
            </a:r>
            <a:r>
              <a:rPr lang="en-US" altLang="zh-CN" sz="2000" dirty="0">
                <a:latin typeface="微软雅黑" panose="020B0503020204020204" pitchFamily="34" charset="-122"/>
                <a:ea typeface="微软雅黑" panose="020B0503020204020204" pitchFamily="34" charset="-122"/>
              </a:rPr>
              <a:t>: 20.0%, </a:t>
            </a:r>
            <a:r>
              <a:rPr lang="zh-CN" altLang="en-US" sz="2000" dirty="0">
                <a:latin typeface="微软雅黑" panose="020B0503020204020204" pitchFamily="34" charset="-122"/>
                <a:ea typeface="微软雅黑" panose="020B0503020204020204" pitchFamily="34" charset="-122"/>
              </a:rPr>
              <a:t>百分制</a:t>
            </a:r>
            <a:r>
              <a:rPr lang="en-US" altLang="zh-CN" sz="2000" dirty="0">
                <a:latin typeface="微软雅黑" panose="020B0503020204020204" pitchFamily="34" charset="-122"/>
                <a:ea typeface="微软雅黑" panose="020B0503020204020204" pitchFamily="34" charset="-122"/>
              </a:rPr>
              <a:t>; </a:t>
            </a:r>
          </a:p>
          <a:p>
            <a:pPr marL="0" indent="0" eaLnBrk="1" hangingPunct="1">
              <a:buNone/>
            </a:pPr>
            <a:r>
              <a:rPr lang="zh-CN" altLang="en-US" sz="2000" dirty="0">
                <a:latin typeface="微软雅黑" panose="020B0503020204020204" pitchFamily="34" charset="-122"/>
                <a:ea typeface="微软雅黑" panose="020B0503020204020204" pitchFamily="34" charset="-122"/>
              </a:rPr>
              <a:t>                      作业撰写</a:t>
            </a:r>
            <a:r>
              <a:rPr lang="en-US" altLang="zh-CN" sz="2000" dirty="0">
                <a:latin typeface="微软雅黑" panose="020B0503020204020204" pitchFamily="34" charset="-122"/>
                <a:ea typeface="微软雅黑" panose="020B0503020204020204" pitchFamily="34" charset="-122"/>
              </a:rPr>
              <a:t>: 10.0%, </a:t>
            </a:r>
            <a:r>
              <a:rPr lang="zh-CN" altLang="en-US" sz="2000" dirty="0">
                <a:latin typeface="微软雅黑" panose="020B0503020204020204" pitchFamily="34" charset="-122"/>
                <a:ea typeface="微软雅黑" panose="020B0503020204020204" pitchFamily="34" charset="-122"/>
              </a:rPr>
              <a:t>百分制</a:t>
            </a:r>
            <a:r>
              <a:rPr lang="en-US" altLang="zh-CN" sz="2000" dirty="0">
                <a:latin typeface="微软雅黑" panose="020B0503020204020204" pitchFamily="34" charset="-122"/>
                <a:ea typeface="微软雅黑" panose="020B0503020204020204" pitchFamily="34" charset="-122"/>
              </a:rPr>
              <a:t>; </a:t>
            </a:r>
          </a:p>
          <a:p>
            <a:pPr marL="0" indent="0">
              <a:buNone/>
            </a:pPr>
            <a:r>
              <a:rPr lang="zh-CN" altLang="en-US" sz="2000" dirty="0">
                <a:latin typeface="微软雅黑" panose="020B0503020204020204" pitchFamily="34" charset="-122"/>
                <a:ea typeface="微软雅黑" panose="020B0503020204020204" pitchFamily="34" charset="-122"/>
              </a:rPr>
              <a:t>                      设计报告</a:t>
            </a:r>
            <a:r>
              <a:rPr lang="en-US" altLang="zh-CN" sz="2000" dirty="0">
                <a:latin typeface="微软雅黑" panose="020B0503020204020204" pitchFamily="34" charset="-122"/>
                <a:ea typeface="微软雅黑" panose="020B0503020204020204" pitchFamily="34" charset="-122"/>
              </a:rPr>
              <a:t>: 20.0%, </a:t>
            </a:r>
            <a:r>
              <a:rPr lang="zh-CN" altLang="en-US" sz="2000" dirty="0">
                <a:latin typeface="微软雅黑" panose="020B0503020204020204" pitchFamily="34" charset="-122"/>
                <a:ea typeface="微软雅黑" panose="020B0503020204020204" pitchFamily="34" charset="-122"/>
              </a:rPr>
              <a:t>百分制</a:t>
            </a:r>
            <a:r>
              <a:rPr lang="en-US" altLang="zh-CN" sz="2000" dirty="0">
                <a:latin typeface="微软雅黑" panose="020B0503020204020204" pitchFamily="34" charset="-122"/>
                <a:ea typeface="微软雅黑" panose="020B0503020204020204" pitchFamily="34" charset="-122"/>
              </a:rPr>
              <a:t>;</a:t>
            </a:r>
          </a:p>
          <a:p>
            <a:pPr marL="0" indent="0" eaLnBrk="1" hangingPunct="1">
              <a:buNone/>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课堂演讲</a:t>
            </a:r>
            <a:r>
              <a:rPr lang="en-US" altLang="zh-CN" sz="2000" dirty="0">
                <a:latin typeface="微软雅黑" panose="020B0503020204020204" pitchFamily="34" charset="-122"/>
                <a:ea typeface="微软雅黑" panose="020B0503020204020204" pitchFamily="34" charset="-122"/>
              </a:rPr>
              <a:t>: 10.0%, </a:t>
            </a:r>
            <a:r>
              <a:rPr lang="zh-CN" altLang="en-US" sz="2000" dirty="0">
                <a:latin typeface="微软雅黑" panose="020B0503020204020204" pitchFamily="34" charset="-122"/>
                <a:ea typeface="微软雅黑" panose="020B0503020204020204" pitchFamily="34" charset="-122"/>
              </a:rPr>
              <a:t>百分制</a:t>
            </a:r>
            <a:r>
              <a:rPr lang="en-US" altLang="zh-CN" sz="2000" dirty="0">
                <a:latin typeface="微软雅黑" panose="020B0503020204020204" pitchFamily="34" charset="-122"/>
                <a:ea typeface="微软雅黑" panose="020B0503020204020204" pitchFamily="34" charset="-122"/>
              </a:rPr>
              <a:t>; </a:t>
            </a:r>
          </a:p>
          <a:p>
            <a:pPr eaLnBrk="1" hangingPunct="1"/>
            <a:endParaRPr lang="zh-CN" altLang="en-US" sz="2000" dirty="0">
              <a:latin typeface="微软雅黑" panose="020B0503020204020204" pitchFamily="34" charset="-122"/>
              <a:ea typeface="微软雅黑" panose="020B0503020204020204" pitchFamily="34" charset="-122"/>
            </a:endParaRPr>
          </a:p>
          <a:p>
            <a:pPr eaLnBrk="1" hangingPunct="1"/>
            <a:r>
              <a:rPr lang="zh-CN" altLang="en-US" sz="2000" b="1" dirty="0">
                <a:latin typeface="微软雅黑" panose="020B0503020204020204" pitchFamily="34" charset="-122"/>
                <a:ea typeface="微软雅黑" panose="020B0503020204020204" pitchFamily="34" charset="-122"/>
              </a:rPr>
              <a:t>选用教材：</a:t>
            </a:r>
            <a:r>
              <a:rPr lang="zh-CN" altLang="en-US" sz="2000" i="1" dirty="0">
                <a:latin typeface="微软雅黑" panose="020B0503020204020204" pitchFamily="34" charset="-122"/>
                <a:ea typeface="微软雅黑" panose="020B0503020204020204" pitchFamily="34" charset="-122"/>
              </a:rPr>
              <a:t>单承赣等编著</a:t>
            </a:r>
            <a:r>
              <a:rPr lang="en-US" altLang="zh-CN" sz="2000" i="1" dirty="0">
                <a:latin typeface="微软雅黑" panose="020B0503020204020204" pitchFamily="34" charset="-122"/>
                <a:ea typeface="微软雅黑" panose="020B0503020204020204" pitchFamily="34" charset="-122"/>
              </a:rPr>
              <a:t>.《</a:t>
            </a:r>
            <a:r>
              <a:rPr lang="zh-CN" altLang="en-US" sz="2000" i="1" dirty="0">
                <a:latin typeface="微软雅黑" panose="020B0503020204020204" pitchFamily="34" charset="-122"/>
                <a:ea typeface="微软雅黑" panose="020B0503020204020204" pitchFamily="34" charset="-122"/>
              </a:rPr>
              <a:t>射频识别（</a:t>
            </a:r>
            <a:r>
              <a:rPr lang="en-US" altLang="zh-CN" sz="2000" i="1" dirty="0">
                <a:latin typeface="微软雅黑" panose="020B0503020204020204" pitchFamily="34" charset="-122"/>
                <a:ea typeface="微软雅黑" panose="020B0503020204020204" pitchFamily="34" charset="-122"/>
              </a:rPr>
              <a:t>RFID</a:t>
            </a:r>
            <a:r>
              <a:rPr lang="zh-CN" altLang="en-US" sz="2000" i="1" dirty="0">
                <a:latin typeface="微软雅黑" panose="020B0503020204020204" pitchFamily="34" charset="-122"/>
                <a:ea typeface="微软雅黑" panose="020B0503020204020204" pitchFamily="34" charset="-122"/>
              </a:rPr>
              <a:t>）原理与应用</a:t>
            </a:r>
            <a:r>
              <a:rPr lang="en-US" altLang="zh-CN" sz="2000" i="1" dirty="0">
                <a:latin typeface="微软雅黑" panose="020B0503020204020204" pitchFamily="34" charset="-122"/>
                <a:ea typeface="微软雅黑" panose="020B0503020204020204" pitchFamily="34" charset="-122"/>
              </a:rPr>
              <a:t>》.</a:t>
            </a:r>
            <a:r>
              <a:rPr lang="zh-CN" altLang="en-US" sz="2000" i="1" dirty="0">
                <a:latin typeface="微软雅黑" panose="020B0503020204020204" pitchFamily="34" charset="-122"/>
                <a:ea typeface="微软雅黑" panose="020B0503020204020204" pitchFamily="34" charset="-122"/>
              </a:rPr>
              <a:t>第三版</a:t>
            </a:r>
            <a:r>
              <a:rPr lang="en-US" altLang="zh-CN" sz="2000" i="1" dirty="0">
                <a:latin typeface="微软雅黑" panose="020B0503020204020204" pitchFamily="34" charset="-122"/>
                <a:ea typeface="微软雅黑" panose="020B0503020204020204" pitchFamily="34" charset="-122"/>
              </a:rPr>
              <a:t>.</a:t>
            </a:r>
            <a:r>
              <a:rPr lang="zh-CN" altLang="en-US" sz="2000" i="1" dirty="0">
                <a:latin typeface="微软雅黑" panose="020B0503020204020204" pitchFamily="34" charset="-122"/>
                <a:ea typeface="微软雅黑" panose="020B0503020204020204" pitchFamily="34" charset="-122"/>
              </a:rPr>
              <a:t>北京：电子工业出版社</a:t>
            </a:r>
            <a:endParaRPr lang="en-US" altLang="zh-CN" sz="2000" i="1" dirty="0">
              <a:latin typeface="微软雅黑" panose="020B0503020204020204" pitchFamily="34" charset="-122"/>
              <a:ea typeface="微软雅黑" panose="020B0503020204020204" pitchFamily="34" charset="-122"/>
            </a:endParaRPr>
          </a:p>
          <a:p>
            <a:pPr eaLnBrk="1" hangingPunct="1"/>
            <a:endParaRPr lang="en-US" altLang="zh-CN" sz="2000" i="1" dirty="0">
              <a:latin typeface="微软雅黑" panose="020B0503020204020204" pitchFamily="34" charset="-122"/>
              <a:ea typeface="微软雅黑" panose="020B0503020204020204" pitchFamily="34" charset="-122"/>
            </a:endParaRPr>
          </a:p>
          <a:p>
            <a:pPr eaLnBrk="1" hangingPunct="1"/>
            <a:r>
              <a:rPr lang="zh-CN" altLang="en-US" sz="2000" b="1" dirty="0">
                <a:latin typeface="微软雅黑" panose="020B0503020204020204" pitchFamily="34" charset="-122"/>
                <a:ea typeface="微软雅黑" panose="020B0503020204020204" pitchFamily="34" charset="-122"/>
              </a:rPr>
              <a:t>参考教材</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eaLnBrk="1" hangingPunct="1"/>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2A02279A-C8F9-427E-8636-47F58CEC597F}"/>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E44EA7F7-046D-402B-B6A4-B9B2D61BC973}" type="slidenum">
              <a:rPr lang="en-US" altLang="ko-KR" sz="1323">
                <a:latin typeface="Times New Roman" panose="02020603050405020304" pitchFamily="18" charset="0"/>
                <a:ea typeface="-소망M" pitchFamily="18" charset="-127"/>
              </a:rPr>
              <a:pPr eaLnBrk="1" hangingPunct="1"/>
              <a:t>3</a:t>
            </a:fld>
            <a:endParaRPr lang="en-US" altLang="ko-KR" sz="1323">
              <a:latin typeface="Times New Roman" panose="02020603050405020304" pitchFamily="18" charset="0"/>
              <a:ea typeface="-소망M" pitchFamily="18" charset="-127"/>
            </a:endParaRPr>
          </a:p>
        </p:txBody>
      </p:sp>
      <p:pic>
        <p:nvPicPr>
          <p:cNvPr id="5124" name="Picture 6" descr="8928269-1_o">
            <a:extLst>
              <a:ext uri="{FF2B5EF4-FFF2-40B4-BE49-F238E27FC236}">
                <a16:creationId xmlns:a16="http://schemas.microsoft.com/office/drawing/2014/main" id="{0E45328B-CD8D-45AC-91AC-2FF0ABFDB8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0493" y="994527"/>
            <a:ext cx="1705546" cy="2382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 name="Picture 7" descr="9198097-1_o">
            <a:extLst>
              <a:ext uri="{FF2B5EF4-FFF2-40B4-BE49-F238E27FC236}">
                <a16:creationId xmlns:a16="http://schemas.microsoft.com/office/drawing/2014/main" id="{F05406D9-3CD3-4B7A-96C7-64104EF63A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0549" y="994527"/>
            <a:ext cx="1713046" cy="2382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7" name="Picture 9" descr="9226935-1_o">
            <a:extLst>
              <a:ext uri="{FF2B5EF4-FFF2-40B4-BE49-F238E27FC236}">
                <a16:creationId xmlns:a16="http://schemas.microsoft.com/office/drawing/2014/main" id="{91D9543A-563D-4650-81A8-2D8652AB6D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00493" y="3511595"/>
            <a:ext cx="1716046" cy="2382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C:\Users\黄玉兰\Desktop\无标题.jpg">
            <a:extLst>
              <a:ext uri="{FF2B5EF4-FFF2-40B4-BE49-F238E27FC236}">
                <a16:creationId xmlns:a16="http://schemas.microsoft.com/office/drawing/2014/main" id="{24ADF295-1D77-4702-A7CF-10D23C870295}"/>
              </a:ext>
            </a:extLst>
          </p:cNvPr>
          <p:cNvPicPr>
            <a:picLocks noChangeAspect="1" noChangeArrowheads="1"/>
          </p:cNvPicPr>
          <p:nvPr/>
        </p:nvPicPr>
        <p:blipFill>
          <a:blip r:embed="rId5" cstate="print"/>
          <a:srcRect/>
          <a:stretch>
            <a:fillRect/>
          </a:stretch>
        </p:blipFill>
        <p:spPr bwMode="auto">
          <a:xfrm>
            <a:off x="6340549" y="3486438"/>
            <a:ext cx="1713046" cy="2407221"/>
          </a:xfrm>
          <a:prstGeom prst="rect">
            <a:avLst/>
          </a:prstGeom>
          <a:noFill/>
        </p:spPr>
      </p:pic>
      <p:pic>
        <p:nvPicPr>
          <p:cNvPr id="5" name="图片 4">
            <a:extLst>
              <a:ext uri="{FF2B5EF4-FFF2-40B4-BE49-F238E27FC236}">
                <a16:creationId xmlns:a16="http://schemas.microsoft.com/office/drawing/2014/main" id="{43582803-9D85-4638-BEFC-B9D3232DECF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3017" y="889415"/>
            <a:ext cx="3562966" cy="497435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C0094647-0A36-468C-A0C7-06CCC1A566A8}"/>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B6DC67D8-988E-485D-8B85-A9FF1B7F6FBB}" type="slidenum">
              <a:rPr lang="en-US" altLang="ko-KR" sz="1323">
                <a:latin typeface="Times New Roman" panose="02020603050405020304" pitchFamily="18" charset="0"/>
                <a:ea typeface="-소망M" pitchFamily="18" charset="-127"/>
              </a:rPr>
              <a:pPr eaLnBrk="1" hangingPunct="1"/>
              <a:t>4</a:t>
            </a:fld>
            <a:endParaRPr lang="en-US" altLang="ko-KR" sz="1323">
              <a:latin typeface="Times New Roman" panose="02020603050405020304" pitchFamily="18" charset="0"/>
              <a:ea typeface="-소망M" pitchFamily="18" charset="-127"/>
            </a:endParaRPr>
          </a:p>
        </p:txBody>
      </p:sp>
      <p:sp>
        <p:nvSpPr>
          <p:cNvPr id="6147" name="Rectangle 3">
            <a:extLst>
              <a:ext uri="{FF2B5EF4-FFF2-40B4-BE49-F238E27FC236}">
                <a16:creationId xmlns:a16="http://schemas.microsoft.com/office/drawing/2014/main" id="{9BC748CE-4731-4525-8483-FF88A70B9D5A}"/>
              </a:ext>
            </a:extLst>
          </p:cNvPr>
          <p:cNvSpPr>
            <a:spLocks noGrp="1" noChangeArrowheads="1"/>
          </p:cNvSpPr>
          <p:nvPr>
            <p:ph type="body" idx="1"/>
          </p:nvPr>
        </p:nvSpPr>
        <p:spPr>
          <a:xfrm>
            <a:off x="762647" y="1151856"/>
            <a:ext cx="7618706" cy="504056"/>
          </a:xfrm>
        </p:spPr>
        <p:txBody>
          <a:bodyPr/>
          <a:lstStyle/>
          <a:p>
            <a:pPr eaLnBrk="1" hangingPunct="1">
              <a:buFontTx/>
              <a:buNone/>
            </a:pPr>
            <a:r>
              <a:rPr lang="zh-CN" altLang="en-US" sz="2400" dirty="0">
                <a:latin typeface="微软雅黑" panose="020B0503020204020204" pitchFamily="34" charset="-122"/>
                <a:ea typeface="微软雅黑" panose="020B0503020204020204" pitchFamily="34" charset="-122"/>
              </a:rPr>
              <a:t>“有了无线识别（</a:t>
            </a:r>
            <a:r>
              <a:rPr lang="en-US" altLang="zh-CN" sz="2400" dirty="0">
                <a:latin typeface="微软雅黑" panose="020B0503020204020204" pitchFamily="34" charset="-122"/>
                <a:ea typeface="微软雅黑" panose="020B0503020204020204" pitchFamily="34" charset="-122"/>
              </a:rPr>
              <a:t>RFID</a:t>
            </a:r>
            <a:r>
              <a:rPr lang="zh-CN" altLang="en-US" sz="2400" dirty="0">
                <a:latin typeface="微软雅黑" panose="020B0503020204020204" pitchFamily="34" charset="-122"/>
                <a:ea typeface="微软雅黑" panose="020B0503020204020204" pitchFamily="34" charset="-122"/>
              </a:rPr>
              <a:t>）技术，还需要管家吗？” </a:t>
            </a:r>
          </a:p>
        </p:txBody>
      </p:sp>
      <p:sp>
        <p:nvSpPr>
          <p:cNvPr id="6148" name="Rectangle 4">
            <a:extLst>
              <a:ext uri="{FF2B5EF4-FFF2-40B4-BE49-F238E27FC236}">
                <a16:creationId xmlns:a16="http://schemas.microsoft.com/office/drawing/2014/main" id="{CCDB29F2-8EAC-4DFB-B438-EE9C46737153}"/>
              </a:ext>
            </a:extLst>
          </p:cNvPr>
          <p:cNvSpPr>
            <a:spLocks noChangeArrowheads="1"/>
          </p:cNvSpPr>
          <p:nvPr/>
        </p:nvSpPr>
        <p:spPr bwMode="auto">
          <a:xfrm>
            <a:off x="6553200" y="1871935"/>
            <a:ext cx="1623500" cy="44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algn="r" eaLnBrk="1" hangingPunct="1">
              <a:spcBef>
                <a:spcPct val="20000"/>
              </a:spcBef>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胡锦涛</a:t>
            </a:r>
          </a:p>
        </p:txBody>
      </p:sp>
      <p:pic>
        <p:nvPicPr>
          <p:cNvPr id="6149" name="Picture 6" descr="060420-news-003">
            <a:hlinkClick r:id="rId2"/>
            <a:extLst>
              <a:ext uri="{FF2B5EF4-FFF2-40B4-BE49-F238E27FC236}">
                <a16:creationId xmlns:a16="http://schemas.microsoft.com/office/drawing/2014/main" id="{CD1CEA2C-EF9C-4051-A33D-0F2B504BAA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2321198"/>
            <a:ext cx="4975635" cy="2583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0" name="Rectangle 7">
            <a:extLst>
              <a:ext uri="{FF2B5EF4-FFF2-40B4-BE49-F238E27FC236}">
                <a16:creationId xmlns:a16="http://schemas.microsoft.com/office/drawing/2014/main" id="{AE9709AF-B35C-456B-9B40-7745AA7D9161}"/>
              </a:ext>
            </a:extLst>
          </p:cNvPr>
          <p:cNvSpPr>
            <a:spLocks noChangeArrowheads="1"/>
          </p:cNvSpPr>
          <p:nvPr/>
        </p:nvSpPr>
        <p:spPr bwMode="auto">
          <a:xfrm>
            <a:off x="2512952" y="5343622"/>
            <a:ext cx="3333090" cy="339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algn="r" eaLnBrk="1" hangingPunct="1">
              <a:spcBef>
                <a:spcPct val="20000"/>
              </a:spcBef>
            </a:pPr>
            <a:r>
              <a:rPr lang="en-US" altLang="zh-CN" sz="1400" dirty="0">
                <a:latin typeface="微软雅黑" panose="020B0503020204020204" pitchFamily="34" charset="-122"/>
                <a:ea typeface="微软雅黑" panose="020B0503020204020204" pitchFamily="34" charset="-122"/>
              </a:rPr>
              <a:t>2006-04-18</a:t>
            </a:r>
            <a:r>
              <a:rPr lang="zh-CN" altLang="en-US" sz="1400" dirty="0">
                <a:latin typeface="微软雅黑" panose="020B0503020204020204" pitchFamily="34" charset="-122"/>
                <a:ea typeface="微软雅黑" panose="020B0503020204020204" pitchFamily="34" charset="-122"/>
              </a:rPr>
              <a:t>美国西雅图微软“未来之家”</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副标题 4"/>
          <p:cNvSpPr>
            <a:spLocks noGrp="1"/>
          </p:cNvSpPr>
          <p:nvPr>
            <p:ph type="subTitle" idx="1"/>
          </p:nvPr>
        </p:nvSpPr>
        <p:spPr>
          <a:xfrm>
            <a:off x="421506" y="1223863"/>
            <a:ext cx="8300989" cy="3888432"/>
          </a:xfrm>
        </p:spPr>
        <p:txBody>
          <a:bodyPr>
            <a:noAutofit/>
          </a:bodyPr>
          <a:lstStyle/>
          <a:p>
            <a:pPr marL="342900" lvl="0" indent="-342900" algn="l">
              <a:buFontTx/>
              <a:buChar char="•"/>
            </a:pPr>
            <a:r>
              <a:rPr lang="zh-CN" altLang="en-US" dirty="0">
                <a:solidFill>
                  <a:srgbClr val="000000"/>
                </a:solidFill>
                <a:latin typeface="微软雅黑" panose="020B0503020204020204" pitchFamily="34" charset="-122"/>
                <a:ea typeface="微软雅黑" panose="020B0503020204020204" pitchFamily="34" charset="-122"/>
              </a:rPr>
              <a:t>自动识别技术 </a:t>
            </a:r>
          </a:p>
          <a:p>
            <a:pPr algn="l">
              <a:lnSpc>
                <a:spcPct val="150000"/>
              </a:lnSpc>
            </a:pPr>
            <a:r>
              <a:rPr lang="en-US" altLang="zh-CN" sz="2268" b="1" dirty="0"/>
              <a:t>         </a:t>
            </a:r>
            <a:r>
              <a:rPr lang="en-US" altLang="zh-CN" sz="2000" dirty="0">
                <a:solidFill>
                  <a:srgbClr val="C00000"/>
                </a:solidFill>
                <a:latin typeface="微软雅黑" panose="020B0503020204020204" pitchFamily="34" charset="-122"/>
                <a:ea typeface="微软雅黑" panose="020B0503020204020204" pitchFamily="34" charset="-122"/>
                <a:cs typeface="Times New Roman" pitchFamily="18" charset="0"/>
              </a:rPr>
              <a:t>1.</a:t>
            </a:r>
            <a:r>
              <a:rPr lang="zh-CN" altLang="en-US" sz="2000" dirty="0">
                <a:solidFill>
                  <a:srgbClr val="C00000"/>
                </a:solidFill>
                <a:latin typeface="微软雅黑" panose="020B0503020204020204" pitchFamily="34" charset="-122"/>
                <a:ea typeface="微软雅黑" panose="020B0503020204020204" pitchFamily="34" charset="-122"/>
                <a:cs typeface="Times New Roman" pitchFamily="18" charset="0"/>
              </a:rPr>
              <a:t> 自动识别技术的重要性</a:t>
            </a:r>
            <a:endParaRPr lang="en-US" altLang="zh-CN" sz="2000" dirty="0">
              <a:solidFill>
                <a:srgbClr val="C00000"/>
              </a:solidFill>
              <a:latin typeface="微软雅黑" panose="020B0503020204020204" pitchFamily="34" charset="-122"/>
              <a:ea typeface="微软雅黑" panose="020B0503020204020204" pitchFamily="34" charset="-122"/>
              <a:cs typeface="Times New Roman" pitchFamily="18" charset="0"/>
            </a:endParaRPr>
          </a:p>
          <a:p>
            <a:pPr algn="l">
              <a:lnSpc>
                <a:spcPct val="150000"/>
              </a:lnSpc>
            </a:pPr>
            <a:r>
              <a:rPr lang="en-US" altLang="zh-CN" sz="2000" dirty="0">
                <a:solidFill>
                  <a:srgbClr val="C00000"/>
                </a:solidFill>
                <a:latin typeface="微软雅黑" panose="020B0503020204020204" pitchFamily="34" charset="-122"/>
                <a:ea typeface="微软雅黑" panose="020B0503020204020204" pitchFamily="34" charset="-122"/>
                <a:cs typeface="Times New Roman" pitchFamily="18" charset="0"/>
              </a:rPr>
              <a:t>        </a:t>
            </a:r>
            <a:r>
              <a:rPr lang="zh-CN" altLang="zh-CN" sz="2000" dirty="0">
                <a:latin typeface="微软雅黑" panose="020B0503020204020204" pitchFamily="34" charset="-122"/>
                <a:ea typeface="微软雅黑" panose="020B0503020204020204" pitchFamily="34" charset="-122"/>
              </a:rPr>
              <a:t>传统的信息采集是通过人工手段录入的，不仅劳动强度大，而且数据误码率高</a:t>
            </a:r>
            <a:r>
              <a:rPr lang="zh-CN" altLang="en-US" sz="2000" dirty="0">
                <a:latin typeface="微软雅黑" panose="020B0503020204020204" pitchFamily="34" charset="-122"/>
                <a:ea typeface="微软雅黑" panose="020B0503020204020204" pitchFamily="34" charset="-122"/>
              </a:rPr>
              <a:t>。应用</a:t>
            </a:r>
            <a:r>
              <a:rPr lang="zh-CN" altLang="zh-CN" sz="2000" dirty="0">
                <a:latin typeface="微软雅黑" panose="020B0503020204020204" pitchFamily="34" charset="-122"/>
                <a:ea typeface="微软雅黑" panose="020B0503020204020204" pitchFamily="34" charset="-122"/>
              </a:rPr>
              <a:t>计算机和通信技术的自动识别技术，可以对信息自动识别，使得人类得以对大量数据信息进行及时、准确的处理。</a:t>
            </a:r>
            <a:r>
              <a:rPr lang="en-US" altLang="zh-CN" sz="2000" dirty="0">
                <a:latin typeface="微软雅黑" panose="020B0503020204020204" pitchFamily="34" charset="-122"/>
                <a:ea typeface="微软雅黑" panose="020B0503020204020204" pitchFamily="34" charset="-122"/>
              </a:rPr>
              <a:t>      </a:t>
            </a:r>
          </a:p>
          <a:p>
            <a:pPr algn="l">
              <a:lnSpc>
                <a:spcPct val="150000"/>
              </a:lnSpc>
            </a:pPr>
            <a:r>
              <a:rPr lang="en-US" altLang="zh-CN"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自动识别技术是物联网体系的重要组成部分，是构造全球物品信息实时共享的重要组成部分，是</a:t>
            </a:r>
            <a:r>
              <a:rPr lang="zh-CN" altLang="en-US" sz="2000" dirty="0">
                <a:latin typeface="微软雅黑" panose="020B0503020204020204" pitchFamily="34" charset="-122"/>
                <a:ea typeface="微软雅黑" panose="020B0503020204020204" pitchFamily="34" charset="-122"/>
              </a:rPr>
              <a:t>构建</a:t>
            </a:r>
            <a:r>
              <a:rPr lang="zh-CN" altLang="zh-CN" sz="2000" dirty="0">
                <a:latin typeface="微软雅黑" panose="020B0503020204020204" pitchFamily="34" charset="-122"/>
                <a:ea typeface="微软雅黑" panose="020B0503020204020204" pitchFamily="34" charset="-122"/>
              </a:rPr>
              <a:t>物联网的</a:t>
            </a:r>
            <a:r>
              <a:rPr lang="zh-CN" altLang="en-US" sz="2000" dirty="0">
                <a:latin typeface="微软雅黑" panose="020B0503020204020204" pitchFamily="34" charset="-122"/>
                <a:ea typeface="微软雅黑" panose="020B0503020204020204" pitchFamily="34" charset="-122"/>
              </a:rPr>
              <a:t>基础</a:t>
            </a:r>
            <a:r>
              <a:rPr lang="zh-CN" altLang="zh-CN" sz="2000" dirty="0">
                <a:latin typeface="微软雅黑" panose="020B0503020204020204" pitchFamily="34" charset="-122"/>
                <a:ea typeface="微软雅黑" panose="020B0503020204020204" pitchFamily="34" charset="-122"/>
              </a:rPr>
              <a:t>。</a:t>
            </a:r>
            <a:endParaRPr lang="zh-CN" altLang="zh-CN" sz="2000" dirty="0">
              <a:latin typeface="微软雅黑" panose="020B0503020204020204" pitchFamily="34" charset="-122"/>
              <a:ea typeface="微软雅黑" panose="020B0503020204020204" pitchFamily="34" charset="-122"/>
              <a:cs typeface="Times New Roman" pitchFamily="18" charset="0"/>
            </a:endParaRPr>
          </a:p>
        </p:txBody>
      </p:sp>
      <p:sp>
        <p:nvSpPr>
          <p:cNvPr id="14" name="Rectangle 2">
            <a:extLst>
              <a:ext uri="{FF2B5EF4-FFF2-40B4-BE49-F238E27FC236}">
                <a16:creationId xmlns:a16="http://schemas.microsoft.com/office/drawing/2014/main" id="{5726E7B4-F6DF-4A66-A15B-0051BA08473D}"/>
              </a:ext>
            </a:extLst>
          </p:cNvPr>
          <p:cNvSpPr txBox="1">
            <a:spLocks noChangeArrowheads="1"/>
          </p:cNvSpPr>
          <p:nvPr/>
        </p:nvSpPr>
        <p:spPr bwMode="auto">
          <a:xfrm>
            <a:off x="2699792" y="647799"/>
            <a:ext cx="3394720"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rtl="0" fontAlgn="base">
              <a:spcBef>
                <a:spcPct val="0"/>
              </a:spcBef>
              <a:spcAft>
                <a:spcPct val="0"/>
              </a:spcAft>
              <a:defRPr sz="60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a:latin typeface="微软雅黑" panose="020B0503020204020204" pitchFamily="34" charset="-122"/>
                <a:ea typeface="微软雅黑" panose="020B0503020204020204" pitchFamily="34" charset="-122"/>
              </a:rPr>
              <a:t>一、</a:t>
            </a:r>
            <a:r>
              <a:rPr lang="en-US" altLang="zh-CN" sz="3200" dirty="0">
                <a:latin typeface="微软雅黑" panose="020B0503020204020204" pitchFamily="34" charset="-122"/>
                <a:ea typeface="微软雅黑" panose="020B0503020204020204" pitchFamily="34" charset="-122"/>
              </a:rPr>
              <a:t>RFID</a:t>
            </a:r>
            <a:r>
              <a:rPr lang="zh-CN" altLang="en-US" sz="3200" dirty="0">
                <a:latin typeface="微软雅黑" panose="020B0503020204020204" pitchFamily="34" charset="-122"/>
                <a:ea typeface="微软雅黑" panose="020B0503020204020204" pitchFamily="34" charset="-122"/>
              </a:rPr>
              <a:t>概论</a:t>
            </a:r>
          </a:p>
        </p:txBody>
      </p:sp>
      <p:sp>
        <p:nvSpPr>
          <p:cNvPr id="15" name="Rectangle 2">
            <a:extLst>
              <a:ext uri="{FF2B5EF4-FFF2-40B4-BE49-F238E27FC236}">
                <a16:creationId xmlns:a16="http://schemas.microsoft.com/office/drawing/2014/main" id="{D0D590ED-E479-4856-9948-8E7D5E1FC030}"/>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副标题 4"/>
          <p:cNvSpPr>
            <a:spLocks noGrp="1"/>
          </p:cNvSpPr>
          <p:nvPr>
            <p:ph type="subTitle" idx="1"/>
          </p:nvPr>
        </p:nvSpPr>
        <p:spPr>
          <a:xfrm>
            <a:off x="421505" y="1007839"/>
            <a:ext cx="8300989" cy="4464496"/>
          </a:xfrm>
        </p:spPr>
        <p:txBody>
          <a:bodyPr>
            <a:noAutofit/>
          </a:bodyPr>
          <a:lstStyle/>
          <a:p>
            <a:pPr marL="342900" lvl="0" indent="-342900" algn="l">
              <a:buFontTx/>
              <a:buChar char="•"/>
            </a:pPr>
            <a:r>
              <a:rPr lang="zh-CN" altLang="en-US" dirty="0">
                <a:solidFill>
                  <a:srgbClr val="000000"/>
                </a:solidFill>
                <a:latin typeface="微软雅黑" panose="020B0503020204020204" pitchFamily="34" charset="-122"/>
                <a:ea typeface="微软雅黑" panose="020B0503020204020204" pitchFamily="34" charset="-122"/>
              </a:rPr>
              <a:t>自动识别技术 </a:t>
            </a:r>
          </a:p>
          <a:p>
            <a:pPr algn="l">
              <a:lnSpc>
                <a:spcPct val="150000"/>
              </a:lnSpc>
            </a:pPr>
            <a:r>
              <a:rPr lang="en-US" altLang="zh-CN" sz="2268" b="1"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C00000"/>
                </a:solidFill>
                <a:latin typeface="微软雅黑" panose="020B0503020204020204" pitchFamily="34" charset="-122"/>
                <a:ea typeface="微软雅黑" panose="020B0503020204020204" pitchFamily="34" charset="-122"/>
                <a:cs typeface="Times New Roman" pitchFamily="18" charset="0"/>
              </a:rPr>
              <a:t>2. </a:t>
            </a:r>
            <a:r>
              <a:rPr lang="zh-CN" altLang="en-US" sz="2000" dirty="0">
                <a:solidFill>
                  <a:srgbClr val="C00000"/>
                </a:solidFill>
                <a:latin typeface="微软雅黑" panose="020B0503020204020204" pitchFamily="34" charset="-122"/>
                <a:ea typeface="微软雅黑" panose="020B0503020204020204" pitchFamily="34" charset="-122"/>
                <a:cs typeface="Times New Roman" pitchFamily="18" charset="0"/>
              </a:rPr>
              <a:t>自动识别技术的概念</a:t>
            </a:r>
          </a:p>
          <a:p>
            <a:pPr algn="l">
              <a:lnSpc>
                <a:spcPct val="150000"/>
              </a:lnSpc>
            </a:pPr>
            <a:r>
              <a:rPr lang="zh-CN" altLang="en-US" sz="2000" dirty="0">
                <a:latin typeface="微软雅黑" panose="020B0503020204020204" pitchFamily="34" charset="-122"/>
                <a:ea typeface="微软雅黑" panose="020B0503020204020204" pitchFamily="34" charset="-122"/>
                <a:cs typeface="Times New Roman" pitchFamily="18" charset="0"/>
              </a:rPr>
              <a:t>       自动识别技术是一种高度自动化的信息或数据采集技术，自动地获取被识别物品的相关信息，并提供给后台的计算机处理系统来完成相关后续处理。</a:t>
            </a:r>
          </a:p>
          <a:p>
            <a:pPr algn="l">
              <a:lnSpc>
                <a:spcPct val="150000"/>
              </a:lnSpc>
            </a:pPr>
            <a:r>
              <a:rPr lang="zh-CN" altLang="en-US" sz="2000" dirty="0">
                <a:latin typeface="微软雅黑" panose="020B0503020204020204" pitchFamily="34" charset="-122"/>
                <a:ea typeface="微软雅黑" panose="020B0503020204020204" pitchFamily="34" charset="-122"/>
                <a:cs typeface="Times New Roman" pitchFamily="18" charset="0"/>
              </a:rPr>
              <a:t>        信息识别和管理过去多采用单据、凭证、传票为载体，手工记录、电话沟通、人工计算、邮寄或传真等方法，对物流信息进行采集、记录、处理、传递和反馈。自动识别技术应用识别装置，通过被识别物品与识别装置之间的接近活动，自动地获取被识别物品的相关信息。</a:t>
            </a:r>
          </a:p>
        </p:txBody>
      </p:sp>
      <p:sp>
        <p:nvSpPr>
          <p:cNvPr id="15" name="Rectangle 2">
            <a:extLst>
              <a:ext uri="{FF2B5EF4-FFF2-40B4-BE49-F238E27FC236}">
                <a16:creationId xmlns:a16="http://schemas.microsoft.com/office/drawing/2014/main" id="{D0D590ED-E479-4856-9948-8E7D5E1FC030}"/>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Tree>
    <p:extLst>
      <p:ext uri="{BB962C8B-B14F-4D97-AF65-F5344CB8AC3E}">
        <p14:creationId xmlns:p14="http://schemas.microsoft.com/office/powerpoint/2010/main" val="3651597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副标题 4"/>
          <p:cNvSpPr>
            <a:spLocks noGrp="1"/>
          </p:cNvSpPr>
          <p:nvPr>
            <p:ph type="subTitle" idx="1"/>
          </p:nvPr>
        </p:nvSpPr>
        <p:spPr>
          <a:xfrm>
            <a:off x="421505" y="1007839"/>
            <a:ext cx="8300989" cy="4464496"/>
          </a:xfrm>
        </p:spPr>
        <p:txBody>
          <a:bodyPr>
            <a:noAutofit/>
          </a:bodyPr>
          <a:lstStyle/>
          <a:p>
            <a:pPr marL="342900" lvl="0" indent="-342900" algn="l">
              <a:buFontTx/>
              <a:buChar char="•"/>
            </a:pPr>
            <a:r>
              <a:rPr lang="zh-CN" altLang="en-US" dirty="0">
                <a:solidFill>
                  <a:srgbClr val="000000"/>
                </a:solidFill>
                <a:latin typeface="微软雅黑" panose="020B0503020204020204" pitchFamily="34" charset="-122"/>
                <a:ea typeface="微软雅黑" panose="020B0503020204020204" pitchFamily="34" charset="-122"/>
              </a:rPr>
              <a:t>自动识别技术 </a:t>
            </a:r>
          </a:p>
          <a:p>
            <a:pPr algn="l">
              <a:lnSpc>
                <a:spcPct val="150000"/>
              </a:lnSpc>
            </a:pPr>
            <a:r>
              <a:rPr lang="en-US" altLang="zh-CN" sz="2000" dirty="0">
                <a:solidFill>
                  <a:srgbClr val="FF0000"/>
                </a:solidFill>
                <a:latin typeface="微软雅黑" panose="020B0503020204020204" pitchFamily="34" charset="-122"/>
                <a:ea typeface="微软雅黑" panose="020B0503020204020204" pitchFamily="34" charset="-122"/>
                <a:cs typeface="Times New Roman" pitchFamily="18" charset="0"/>
              </a:rPr>
              <a:t>      3. </a:t>
            </a:r>
            <a:r>
              <a:rPr lang="zh-CN" altLang="en-US" sz="2000" dirty="0">
                <a:solidFill>
                  <a:srgbClr val="FF0000"/>
                </a:solidFill>
                <a:latin typeface="微软雅黑" panose="020B0503020204020204" pitchFamily="34" charset="-122"/>
                <a:ea typeface="微软雅黑" panose="020B0503020204020204" pitchFamily="34" charset="-122"/>
                <a:cs typeface="Times New Roman" pitchFamily="18" charset="0"/>
              </a:rPr>
              <a:t>自动识别技术的分类</a:t>
            </a:r>
          </a:p>
          <a:p>
            <a:pPr algn="l">
              <a:lnSpc>
                <a:spcPct val="150000"/>
              </a:lnSpc>
            </a:pPr>
            <a:r>
              <a:rPr lang="zh-CN" altLang="en-US" sz="2000" dirty="0">
                <a:latin typeface="微软雅黑" panose="020B0503020204020204" pitchFamily="34" charset="-122"/>
                <a:ea typeface="微软雅黑" panose="020B0503020204020204" pitchFamily="34" charset="-122"/>
                <a:cs typeface="Times New Roman" pitchFamily="18" charset="0"/>
              </a:rPr>
              <a:t>       按照应用领域和具体特征，自动识别技术可以分为：</a:t>
            </a:r>
          </a:p>
          <a:p>
            <a:pPr algn="l">
              <a:lnSpc>
                <a:spcPct val="150000"/>
              </a:lnSpc>
            </a:pPr>
            <a:r>
              <a:rPr lang="zh-CN" altLang="en-US" sz="2000" dirty="0">
                <a:latin typeface="微软雅黑" panose="020B0503020204020204" pitchFamily="34" charset="-122"/>
                <a:ea typeface="微软雅黑" panose="020B0503020204020204" pitchFamily="34" charset="-122"/>
                <a:cs typeface="Times New Roman" pitchFamily="18" charset="0"/>
              </a:rPr>
              <a:t>       条码识别技术、磁卡识别技术、</a:t>
            </a:r>
            <a:r>
              <a:rPr lang="en-US" altLang="zh-CN" sz="2000" dirty="0">
                <a:latin typeface="微软雅黑" panose="020B0503020204020204" pitchFamily="34" charset="-122"/>
                <a:ea typeface="微软雅黑" panose="020B0503020204020204" pitchFamily="34" charset="-122"/>
                <a:cs typeface="Times New Roman" pitchFamily="18" charset="0"/>
              </a:rPr>
              <a:t>IC</a:t>
            </a:r>
            <a:r>
              <a:rPr lang="zh-CN" altLang="en-US" sz="2000" dirty="0">
                <a:latin typeface="微软雅黑" panose="020B0503020204020204" pitchFamily="34" charset="-122"/>
                <a:ea typeface="微软雅黑" panose="020B0503020204020204" pitchFamily="34" charset="-122"/>
                <a:cs typeface="Times New Roman" pitchFamily="18" charset="0"/>
              </a:rPr>
              <a:t>卡识别技术、射频识别技术。</a:t>
            </a:r>
          </a:p>
          <a:p>
            <a:pPr algn="l">
              <a:lnSpc>
                <a:spcPct val="150000"/>
              </a:lnSpc>
            </a:pPr>
            <a:r>
              <a:rPr lang="zh-CN" altLang="en-US" sz="2000" dirty="0">
                <a:latin typeface="微软雅黑" panose="020B0503020204020204" pitchFamily="34" charset="-122"/>
                <a:ea typeface="微软雅黑" panose="020B0503020204020204" pitchFamily="34" charset="-122"/>
                <a:cs typeface="Times New Roman" pitchFamily="18" charset="0"/>
              </a:rPr>
              <a:t>       其中，条码是光识别技术、磁卡是磁识别技术、</a:t>
            </a:r>
            <a:r>
              <a:rPr lang="en-US" altLang="zh-CN" sz="2000" dirty="0">
                <a:latin typeface="微软雅黑" panose="020B0503020204020204" pitchFamily="34" charset="-122"/>
                <a:ea typeface="微软雅黑" panose="020B0503020204020204" pitchFamily="34" charset="-122"/>
                <a:cs typeface="Times New Roman" pitchFamily="18" charset="0"/>
              </a:rPr>
              <a:t>IC</a:t>
            </a:r>
            <a:r>
              <a:rPr lang="zh-CN" altLang="en-US" sz="2000" dirty="0">
                <a:latin typeface="微软雅黑" panose="020B0503020204020204" pitchFamily="34" charset="-122"/>
                <a:ea typeface="微软雅黑" panose="020B0503020204020204" pitchFamily="34" charset="-122"/>
                <a:cs typeface="Times New Roman" pitchFamily="18" charset="0"/>
              </a:rPr>
              <a:t>卡是电识别技术、射频识别是无线识别技术。</a:t>
            </a:r>
          </a:p>
          <a:p>
            <a:pPr algn="l">
              <a:lnSpc>
                <a:spcPct val="150000"/>
              </a:lnSpc>
            </a:pPr>
            <a:r>
              <a:rPr lang="zh-CN" altLang="en-US" sz="2000" dirty="0">
                <a:latin typeface="微软雅黑" panose="020B0503020204020204" pitchFamily="34" charset="-122"/>
                <a:ea typeface="微软雅黑" panose="020B0503020204020204" pitchFamily="34" charset="-122"/>
                <a:cs typeface="Times New Roman" pitchFamily="18" charset="0"/>
              </a:rPr>
              <a:t>       此外，还有生物识别技术、图像识别技术、光学字符识别技术等。</a:t>
            </a:r>
          </a:p>
        </p:txBody>
      </p:sp>
      <p:sp>
        <p:nvSpPr>
          <p:cNvPr id="15" name="Rectangle 2">
            <a:extLst>
              <a:ext uri="{FF2B5EF4-FFF2-40B4-BE49-F238E27FC236}">
                <a16:creationId xmlns:a16="http://schemas.microsoft.com/office/drawing/2014/main" id="{D0D590ED-E479-4856-9948-8E7D5E1FC030}"/>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Tree>
    <p:extLst>
      <p:ext uri="{BB962C8B-B14F-4D97-AF65-F5344CB8AC3E}">
        <p14:creationId xmlns:p14="http://schemas.microsoft.com/office/powerpoint/2010/main" val="28988572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8EBDB1CB-25C9-4EC9-B03C-F2DA5B7A77E2}"/>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A60813D4-AA9D-419B-B4FD-B74BDDAE86DA}" type="slidenum">
              <a:rPr lang="en-US" altLang="ko-KR" sz="1323">
                <a:latin typeface="Times New Roman" panose="02020603050405020304" pitchFamily="18" charset="0"/>
                <a:ea typeface="-소망M" pitchFamily="18" charset="-127"/>
              </a:rPr>
              <a:pPr eaLnBrk="1" hangingPunct="1"/>
              <a:t>8</a:t>
            </a:fld>
            <a:endParaRPr lang="en-US" altLang="ko-KR" sz="1323">
              <a:latin typeface="Times New Roman" panose="02020603050405020304" pitchFamily="18" charset="0"/>
              <a:ea typeface="-소망M" pitchFamily="18" charset="-127"/>
            </a:endParaRPr>
          </a:p>
        </p:txBody>
      </p:sp>
      <p:sp>
        <p:nvSpPr>
          <p:cNvPr id="30724" name="Rectangle 3">
            <a:extLst>
              <a:ext uri="{FF2B5EF4-FFF2-40B4-BE49-F238E27FC236}">
                <a16:creationId xmlns:a16="http://schemas.microsoft.com/office/drawing/2014/main" id="{AC129511-1C96-475C-9DA3-5AD7E8791C67}"/>
              </a:ext>
            </a:extLst>
          </p:cNvPr>
          <p:cNvSpPr>
            <a:spLocks noGrp="1" noChangeArrowheads="1"/>
          </p:cNvSpPr>
          <p:nvPr>
            <p:ph type="body" idx="1"/>
          </p:nvPr>
        </p:nvSpPr>
        <p:spPr>
          <a:xfrm>
            <a:off x="719675" y="863823"/>
            <a:ext cx="7344198" cy="5112193"/>
          </a:xfrm>
        </p:spPr>
        <p:txBody>
          <a:bodyPr/>
          <a:lstStyle/>
          <a:p>
            <a:pPr eaLnBrk="1" hangingPunct="1"/>
            <a:r>
              <a:rPr lang="zh-CN" altLang="en-US" sz="2400" dirty="0">
                <a:latin typeface="微软雅黑" panose="020B0503020204020204" pitchFamily="34" charset="-122"/>
                <a:ea typeface="微软雅黑" panose="020B0503020204020204" pitchFamily="34" charset="-122"/>
              </a:rPr>
              <a:t>自动识别技术 </a:t>
            </a:r>
          </a:p>
          <a:p>
            <a:pPr lvl="1" eaLnBrk="1" hangingPunct="1">
              <a:lnSpc>
                <a:spcPct val="150000"/>
              </a:lnSpc>
            </a:pPr>
            <a:r>
              <a:rPr lang="zh-CN" altLang="en-US" sz="2000" dirty="0">
                <a:latin typeface="微软雅黑" panose="020B0503020204020204" pitchFamily="34" charset="-122"/>
                <a:ea typeface="微软雅黑" panose="020B0503020204020204" pitchFamily="34" charset="-122"/>
              </a:rPr>
              <a:t>条形码（</a:t>
            </a:r>
            <a:r>
              <a:rPr lang="en-US" altLang="zh-CN" sz="2000" dirty="0">
                <a:latin typeface="微软雅黑" panose="020B0503020204020204" pitchFamily="34" charset="-122"/>
                <a:ea typeface="微软雅黑" panose="020B0503020204020204" pitchFamily="34" charset="-122"/>
              </a:rPr>
              <a:t>Bar Code</a:t>
            </a:r>
            <a:r>
              <a:rPr lang="zh-CN" altLang="en-US" sz="2000" dirty="0">
                <a:latin typeface="微软雅黑" panose="020B0503020204020204" pitchFamily="34" charset="-122"/>
                <a:ea typeface="微软雅黑" panose="020B0503020204020204" pitchFamily="34" charset="-122"/>
              </a:rPr>
              <a:t>）技术：最早产生在</a:t>
            </a:r>
            <a:r>
              <a:rPr lang="en-US" altLang="zh-CN" sz="2000" dirty="0">
                <a:latin typeface="微软雅黑" panose="020B0503020204020204" pitchFamily="34" charset="-122"/>
                <a:ea typeface="微软雅黑" panose="020B0503020204020204" pitchFamily="34" charset="-122"/>
              </a:rPr>
              <a:t>20</a:t>
            </a:r>
            <a:r>
              <a:rPr lang="zh-CN" altLang="en-US" sz="2000" dirty="0">
                <a:latin typeface="微软雅黑" panose="020B0503020204020204" pitchFamily="34" charset="-122"/>
                <a:ea typeface="微软雅黑" panose="020B0503020204020204" pitchFamily="34" charset="-122"/>
              </a:rPr>
              <a:t>世纪</a:t>
            </a:r>
            <a:r>
              <a:rPr lang="en-US" altLang="zh-CN" sz="2000" dirty="0">
                <a:latin typeface="微软雅黑" panose="020B0503020204020204" pitchFamily="34" charset="-122"/>
                <a:ea typeface="微软雅黑" panose="020B0503020204020204" pitchFamily="34" charset="-122"/>
              </a:rPr>
              <a:t>20</a:t>
            </a:r>
            <a:r>
              <a:rPr lang="zh-CN" altLang="en-US" sz="2000" dirty="0">
                <a:latin typeface="微软雅黑" panose="020B0503020204020204" pitchFamily="34" charset="-122"/>
                <a:ea typeface="微软雅黑" panose="020B0503020204020204" pitchFamily="34" charset="-122"/>
              </a:rPr>
              <a:t>年代，条码是由一组条、空和数字符号组成，按一定编码规则排列，用以表示一定的字符、数字及符号等信息。</a:t>
            </a:r>
            <a:endParaRPr lang="en-US" altLang="zh-CN" sz="2000" dirty="0">
              <a:latin typeface="微软雅黑" panose="020B0503020204020204" pitchFamily="34" charset="-122"/>
              <a:ea typeface="微软雅黑" panose="020B0503020204020204" pitchFamily="34" charset="-122"/>
            </a:endParaRPr>
          </a:p>
          <a:p>
            <a:pPr lvl="1" eaLnBrk="1" hangingPunct="1">
              <a:lnSpc>
                <a:spcPct val="150000"/>
              </a:lnSpc>
            </a:pPr>
            <a:r>
              <a:rPr lang="zh-CN" altLang="en-US" sz="2000" dirty="0">
                <a:latin typeface="微软雅黑" panose="020B0503020204020204" pitchFamily="34" charset="-122"/>
                <a:ea typeface="微软雅黑" panose="020B0503020204020204" pitchFamily="34" charset="-122"/>
              </a:rPr>
              <a:t>条码识别是对红外光或可见光进行识别，由扫描器发出的红外光或可见光照射条码标记，深色的“条”吸收光，浅色的“空”将光反射回扫描器，扫描器将光反射信号转换成电子脉冲，再由译码器将电子脉冲转换成数据，最后传至后台。</a:t>
            </a:r>
          </a:p>
          <a:p>
            <a:pPr marL="457200" lvl="1" indent="0" eaLnBrk="1" hangingPunct="1">
              <a:lnSpc>
                <a:spcPct val="150000"/>
              </a:lnSpc>
              <a:buNone/>
            </a:pPr>
            <a:endParaRPr lang="zh-CN" altLang="en-US" sz="2000" dirty="0">
              <a:latin typeface="微软雅黑" panose="020B0503020204020204" pitchFamily="34" charset="-122"/>
              <a:ea typeface="微软雅黑" panose="020B0503020204020204" pitchFamily="34" charset="-122"/>
            </a:endParaRPr>
          </a:p>
          <a:p>
            <a:pPr lvl="1" eaLnBrk="1" hangingPunct="1">
              <a:lnSpc>
                <a:spcPct val="150000"/>
              </a:lnSpc>
            </a:pPr>
            <a:endParaRPr lang="en-US" altLang="zh-CN" sz="2000" dirty="0">
              <a:latin typeface="微软雅黑" panose="020B0503020204020204" pitchFamily="34" charset="-122"/>
              <a:ea typeface="微软雅黑" panose="020B0503020204020204" pitchFamily="34" charset="-122"/>
            </a:endParaRPr>
          </a:p>
          <a:p>
            <a:pPr marL="457200" lvl="1" indent="0" eaLnBrk="1" hangingPunct="1">
              <a:lnSpc>
                <a:spcPct val="150000"/>
              </a:lnSpc>
              <a:buNone/>
            </a:pPr>
            <a:endParaRPr lang="en-US" altLang="zh-CN" sz="2000" dirty="0">
              <a:latin typeface="微软雅黑" panose="020B0503020204020204" pitchFamily="34" charset="-122"/>
              <a:ea typeface="微软雅黑" panose="020B0503020204020204" pitchFamily="34" charset="-122"/>
            </a:endParaRPr>
          </a:p>
        </p:txBody>
      </p:sp>
      <p:pic>
        <p:nvPicPr>
          <p:cNvPr id="30725" name="Picture 7">
            <a:extLst>
              <a:ext uri="{FF2B5EF4-FFF2-40B4-BE49-F238E27FC236}">
                <a16:creationId xmlns:a16="http://schemas.microsoft.com/office/drawing/2014/main" id="{2A8F3247-DE83-4729-8262-F549582AC4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262" t="46072" r="38184" b="34245"/>
          <a:stretch>
            <a:fillRect/>
          </a:stretch>
        </p:blipFill>
        <p:spPr bwMode="auto">
          <a:xfrm>
            <a:off x="904815" y="5037269"/>
            <a:ext cx="3538596" cy="1200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0727" name="Object 8">
            <a:extLst>
              <a:ext uri="{FF2B5EF4-FFF2-40B4-BE49-F238E27FC236}">
                <a16:creationId xmlns:a16="http://schemas.microsoft.com/office/drawing/2014/main" id="{3FA16C04-755B-4FC9-BCCC-74FBBE868579}"/>
              </a:ext>
            </a:extLst>
          </p:cNvPr>
          <p:cNvGraphicFramePr>
            <a:graphicFrameLocks noChangeAspect="1"/>
          </p:cNvGraphicFramePr>
          <p:nvPr>
            <p:extLst>
              <p:ext uri="{D42A27DB-BD31-4B8C-83A1-F6EECF244321}">
                <p14:modId xmlns:p14="http://schemas.microsoft.com/office/powerpoint/2010/main" val="2910025422"/>
              </p:ext>
            </p:extLst>
          </p:nvPr>
        </p:nvGraphicFramePr>
        <p:xfrm>
          <a:off x="4869676" y="4952476"/>
          <a:ext cx="3471094" cy="1210532"/>
        </p:xfrm>
        <a:graphic>
          <a:graphicData uri="http://schemas.openxmlformats.org/presentationml/2006/ole">
            <mc:AlternateContent xmlns:mc="http://schemas.openxmlformats.org/markup-compatibility/2006">
              <mc:Choice xmlns:v="urn:schemas-microsoft-com:vml" Requires="v">
                <p:oleObj spid="_x0000_s16400" name="图片" r:id="rId4" imgW="4290022" imgH="1494911" progId="Word.Picture.8">
                  <p:embed/>
                </p:oleObj>
              </mc:Choice>
              <mc:Fallback>
                <p:oleObj name="图片" r:id="rId4" imgW="4290022" imgH="1494911" progId="Word.Picture.8">
                  <p:embed/>
                  <p:pic>
                    <p:nvPicPr>
                      <p:cNvPr id="30727" name="Object 8">
                        <a:extLst>
                          <a:ext uri="{FF2B5EF4-FFF2-40B4-BE49-F238E27FC236}">
                            <a16:creationId xmlns:a16="http://schemas.microsoft.com/office/drawing/2014/main" id="{3FA16C04-755B-4FC9-BCCC-74FBBE86857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69676" y="4952476"/>
                        <a:ext cx="3471094" cy="1210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2">
            <a:extLst>
              <a:ext uri="{FF2B5EF4-FFF2-40B4-BE49-F238E27FC236}">
                <a16:creationId xmlns:a16="http://schemas.microsoft.com/office/drawing/2014/main" id="{1515DC56-9AFD-43B5-A36F-E5A1868E8BBB}"/>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Tree>
    <p:extLst>
      <p:ext uri="{BB962C8B-B14F-4D97-AF65-F5344CB8AC3E}">
        <p14:creationId xmlns:p14="http://schemas.microsoft.com/office/powerpoint/2010/main" val="919858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8EBDB1CB-25C9-4EC9-B03C-F2DA5B7A77E2}"/>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A60813D4-AA9D-419B-B4FD-B74BDDAE86DA}" type="slidenum">
              <a:rPr lang="en-US" altLang="ko-KR" sz="1323">
                <a:latin typeface="Times New Roman" panose="02020603050405020304" pitchFamily="18" charset="0"/>
                <a:ea typeface="-소망M" pitchFamily="18" charset="-127"/>
              </a:rPr>
              <a:pPr eaLnBrk="1" hangingPunct="1"/>
              <a:t>9</a:t>
            </a:fld>
            <a:endParaRPr lang="en-US" altLang="ko-KR" sz="1323">
              <a:latin typeface="Times New Roman" panose="02020603050405020304" pitchFamily="18" charset="0"/>
              <a:ea typeface="-소망M" pitchFamily="18" charset="-127"/>
            </a:endParaRPr>
          </a:p>
        </p:txBody>
      </p:sp>
      <p:sp>
        <p:nvSpPr>
          <p:cNvPr id="30724" name="Rectangle 3">
            <a:extLst>
              <a:ext uri="{FF2B5EF4-FFF2-40B4-BE49-F238E27FC236}">
                <a16:creationId xmlns:a16="http://schemas.microsoft.com/office/drawing/2014/main" id="{AC129511-1C96-475C-9DA3-5AD7E8791C67}"/>
              </a:ext>
            </a:extLst>
          </p:cNvPr>
          <p:cNvSpPr>
            <a:spLocks noGrp="1" noChangeArrowheads="1"/>
          </p:cNvSpPr>
          <p:nvPr>
            <p:ph type="body" idx="1"/>
          </p:nvPr>
        </p:nvSpPr>
        <p:spPr>
          <a:xfrm>
            <a:off x="899901" y="719807"/>
            <a:ext cx="7344198" cy="5400600"/>
          </a:xfrm>
        </p:spPr>
        <p:txBody>
          <a:bodyPr/>
          <a:lstStyle/>
          <a:p>
            <a:pPr eaLnBrk="1" hangingPunct="1"/>
            <a:r>
              <a:rPr lang="zh-CN" altLang="en-US" sz="2400" dirty="0">
                <a:latin typeface="微软雅黑" panose="020B0503020204020204" pitchFamily="34" charset="-122"/>
                <a:ea typeface="微软雅黑" panose="020B0503020204020204" pitchFamily="34" charset="-122"/>
              </a:rPr>
              <a:t>自动识别技术 </a:t>
            </a:r>
          </a:p>
          <a:p>
            <a:pPr lvl="1" eaLnBrk="1" hangingPunct="1">
              <a:lnSpc>
                <a:spcPct val="150000"/>
              </a:lnSpc>
            </a:pPr>
            <a:r>
              <a:rPr lang="zh-CN" altLang="en-US" sz="2000" dirty="0">
                <a:latin typeface="微软雅黑" panose="020B0503020204020204" pitchFamily="34" charset="-122"/>
                <a:ea typeface="微软雅黑" panose="020B0503020204020204" pitchFamily="34" charset="-122"/>
              </a:rPr>
              <a:t>磁卡识别技术：磁卡最早出现在</a:t>
            </a:r>
            <a:r>
              <a:rPr lang="en-US" altLang="zh-CN" sz="2000" dirty="0">
                <a:latin typeface="微软雅黑" panose="020B0503020204020204" pitchFamily="34" charset="-122"/>
                <a:ea typeface="微软雅黑" panose="020B0503020204020204" pitchFamily="34" charset="-122"/>
              </a:rPr>
              <a:t>20</a:t>
            </a:r>
            <a:r>
              <a:rPr lang="zh-CN" altLang="en-US" sz="2000" dirty="0">
                <a:latin typeface="微软雅黑" panose="020B0503020204020204" pitchFamily="34" charset="-122"/>
                <a:ea typeface="微软雅黑" panose="020B0503020204020204" pitchFamily="34" charset="-122"/>
              </a:rPr>
              <a:t>世纪</a:t>
            </a:r>
            <a:r>
              <a:rPr lang="en-US" altLang="zh-CN" sz="2000" dirty="0">
                <a:latin typeface="微软雅黑" panose="020B0503020204020204" pitchFamily="34" charset="-122"/>
                <a:ea typeface="微软雅黑" panose="020B0503020204020204" pitchFamily="34" charset="-122"/>
              </a:rPr>
              <a:t>60</a:t>
            </a:r>
            <a:r>
              <a:rPr lang="zh-CN" altLang="en-US" sz="2000" dirty="0">
                <a:latin typeface="微软雅黑" panose="020B0503020204020204" pitchFamily="34" charset="-122"/>
                <a:ea typeface="微软雅黑" panose="020B0503020204020204" pitchFamily="34" charset="-122"/>
              </a:rPr>
              <a:t>年代，当时伦敦交通局将地铁票背面全涂上磁介质，用来储值。</a:t>
            </a:r>
          </a:p>
          <a:p>
            <a:pPr lvl="1" eaLnBrk="1" hangingPunct="1">
              <a:lnSpc>
                <a:spcPct val="150000"/>
              </a:lnSpc>
            </a:pPr>
            <a:r>
              <a:rPr lang="zh-CN" altLang="en-US" sz="2000" dirty="0">
                <a:latin typeface="微软雅黑" panose="020B0503020204020204" pitchFamily="34" charset="-122"/>
                <a:ea typeface="微软雅黑" panose="020B0503020204020204" pitchFamily="34" charset="-122"/>
              </a:rPr>
              <a:t>磁条从本质意义上讲和计算机用的磁带或磁盘是一样的，它可以用来记载字母、字符及数字信息。磁条记录信息的方法是变化磁的极性（如</a:t>
            </a:r>
            <a:r>
              <a:rPr lang="en-US" altLang="zh-CN" sz="2000" dirty="0">
                <a:latin typeface="微软雅黑" panose="020B0503020204020204" pitchFamily="34" charset="-122"/>
                <a:ea typeface="微软雅黑" panose="020B0503020204020204" pitchFamily="34" charset="-122"/>
              </a:rPr>
              <a:t>S-N</a:t>
            </a:r>
            <a:r>
              <a:rPr lang="zh-CN" altLang="en-US"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N-S</a:t>
            </a:r>
            <a:r>
              <a:rPr lang="zh-CN" altLang="en-US" sz="2000" dirty="0">
                <a:latin typeface="微软雅黑" panose="020B0503020204020204" pitchFamily="34" charset="-122"/>
                <a:ea typeface="微软雅黑" panose="020B0503020204020204" pitchFamily="34" charset="-122"/>
              </a:rPr>
              <a:t>），一部解码器可以识读到磁性变换，并将它们转换回字母或数字的形式，以便由一部计算机来处理。</a:t>
            </a:r>
          </a:p>
        </p:txBody>
      </p:sp>
      <p:sp>
        <p:nvSpPr>
          <p:cNvPr id="8" name="Rectangle 2">
            <a:extLst>
              <a:ext uri="{FF2B5EF4-FFF2-40B4-BE49-F238E27FC236}">
                <a16:creationId xmlns:a16="http://schemas.microsoft.com/office/drawing/2014/main" id="{1515DC56-9AFD-43B5-A36F-E5A1868E8BBB}"/>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pic>
        <p:nvPicPr>
          <p:cNvPr id="4" name="图片 3">
            <a:extLst>
              <a:ext uri="{FF2B5EF4-FFF2-40B4-BE49-F238E27FC236}">
                <a16:creationId xmlns:a16="http://schemas.microsoft.com/office/drawing/2014/main" id="{F832BC3A-30B9-4551-A2BE-EC77CC68A74B}"/>
              </a:ext>
            </a:extLst>
          </p:cNvPr>
          <p:cNvPicPr>
            <a:picLocks noChangeAspect="1"/>
          </p:cNvPicPr>
          <p:nvPr/>
        </p:nvPicPr>
        <p:blipFill>
          <a:blip r:embed="rId2"/>
          <a:stretch>
            <a:fillRect/>
          </a:stretch>
        </p:blipFill>
        <p:spPr>
          <a:xfrm>
            <a:off x="4644008" y="4029298"/>
            <a:ext cx="3243353" cy="2091109"/>
          </a:xfrm>
          <a:prstGeom prst="rect">
            <a:avLst/>
          </a:prstGeom>
        </p:spPr>
      </p:pic>
    </p:spTree>
    <p:extLst>
      <p:ext uri="{BB962C8B-B14F-4D97-AF65-F5344CB8AC3E}">
        <p14:creationId xmlns:p14="http://schemas.microsoft.com/office/powerpoint/2010/main" val="3627862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8EBDB1CB-25C9-4EC9-B03C-F2DA5B7A77E2}"/>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A60813D4-AA9D-419B-B4FD-B74BDDAE86DA}" type="slidenum">
              <a:rPr lang="en-US" altLang="ko-KR" sz="1323">
                <a:latin typeface="Times New Roman" panose="02020603050405020304" pitchFamily="18" charset="0"/>
                <a:ea typeface="-소망M" pitchFamily="18" charset="-127"/>
              </a:rPr>
              <a:pPr eaLnBrk="1" hangingPunct="1"/>
              <a:t>10</a:t>
            </a:fld>
            <a:endParaRPr lang="en-US" altLang="ko-KR" sz="1323">
              <a:latin typeface="Times New Roman" panose="02020603050405020304" pitchFamily="18" charset="0"/>
              <a:ea typeface="-소망M" pitchFamily="18" charset="-127"/>
            </a:endParaRPr>
          </a:p>
        </p:txBody>
      </p:sp>
      <p:sp>
        <p:nvSpPr>
          <p:cNvPr id="30724" name="Rectangle 3">
            <a:extLst>
              <a:ext uri="{FF2B5EF4-FFF2-40B4-BE49-F238E27FC236}">
                <a16:creationId xmlns:a16="http://schemas.microsoft.com/office/drawing/2014/main" id="{AC129511-1C96-475C-9DA3-5AD7E8791C67}"/>
              </a:ext>
            </a:extLst>
          </p:cNvPr>
          <p:cNvSpPr>
            <a:spLocks noGrp="1" noChangeArrowheads="1"/>
          </p:cNvSpPr>
          <p:nvPr>
            <p:ph type="body" idx="1"/>
          </p:nvPr>
        </p:nvSpPr>
        <p:spPr>
          <a:xfrm>
            <a:off x="899901" y="719807"/>
            <a:ext cx="7344198" cy="5400600"/>
          </a:xfrm>
        </p:spPr>
        <p:txBody>
          <a:bodyPr/>
          <a:lstStyle/>
          <a:p>
            <a:pPr eaLnBrk="1" hangingPunct="1"/>
            <a:r>
              <a:rPr lang="zh-CN" altLang="en-US" sz="2400" dirty="0">
                <a:latin typeface="微软雅黑" panose="020B0503020204020204" pitchFamily="34" charset="-122"/>
                <a:ea typeface="微软雅黑" panose="020B0503020204020204" pitchFamily="34" charset="-122"/>
              </a:rPr>
              <a:t>自动识别技术 </a:t>
            </a:r>
          </a:p>
          <a:p>
            <a:pPr lvl="1" eaLnBrk="1" hangingPunct="1">
              <a:lnSpc>
                <a:spcPct val="150000"/>
              </a:lnSpc>
            </a:pPr>
            <a:r>
              <a:rPr lang="en-US" altLang="zh-CN" sz="2000" dirty="0">
                <a:latin typeface="微软雅黑" panose="020B0503020204020204" pitchFamily="34" charset="-122"/>
                <a:ea typeface="微软雅黑" panose="020B0503020204020204" pitchFamily="34" charset="-122"/>
              </a:rPr>
              <a:t>IC</a:t>
            </a:r>
            <a:r>
              <a:rPr lang="zh-CN" altLang="en-US" sz="2000" dirty="0">
                <a:latin typeface="微软雅黑" panose="020B0503020204020204" pitchFamily="34" charset="-122"/>
                <a:ea typeface="微软雅黑" panose="020B0503020204020204" pitchFamily="34" charset="-122"/>
              </a:rPr>
              <a:t>卡识别技术：</a:t>
            </a:r>
            <a:r>
              <a:rPr lang="en-US" altLang="zh-CN" sz="2000" dirty="0">
                <a:latin typeface="微软雅黑" panose="020B0503020204020204" pitchFamily="34" charset="-122"/>
                <a:ea typeface="微软雅黑" panose="020B0503020204020204" pitchFamily="34" charset="-122"/>
              </a:rPr>
              <a:t>IC</a:t>
            </a:r>
            <a:r>
              <a:rPr lang="zh-CN" altLang="en-US" sz="2000" dirty="0">
                <a:latin typeface="微软雅黑" panose="020B0503020204020204" pitchFamily="34" charset="-122"/>
                <a:ea typeface="微软雅黑" panose="020B0503020204020204" pitchFamily="34" charset="-122"/>
              </a:rPr>
              <a:t>卡，英文名称为</a:t>
            </a:r>
            <a:r>
              <a:rPr lang="en-US" altLang="zh-CN" sz="2000" dirty="0">
                <a:latin typeface="微软雅黑" panose="020B0503020204020204" pitchFamily="34" charset="-122"/>
                <a:ea typeface="微软雅黑" panose="020B0503020204020204" pitchFamily="34" charset="-122"/>
              </a:rPr>
              <a:t>Integrated Circuit</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IC</a:t>
            </a:r>
            <a:r>
              <a:rPr lang="zh-CN" altLang="en-US" sz="2000" dirty="0">
                <a:latin typeface="微软雅黑" panose="020B0503020204020204" pitchFamily="34" charset="-122"/>
                <a:ea typeface="微软雅黑" panose="020B0503020204020204" pitchFamily="34" charset="-122"/>
              </a:rPr>
              <a:t>卡是一种电子式数据自动识别卡。</a:t>
            </a:r>
          </a:p>
          <a:p>
            <a:pPr lvl="1" eaLnBrk="1" hangingPunct="1">
              <a:lnSpc>
                <a:spcPct val="150000"/>
              </a:lnSpc>
            </a:pPr>
            <a:r>
              <a:rPr lang="zh-CN" altLang="en-US" sz="2000" dirty="0">
                <a:latin typeface="微软雅黑" panose="020B0503020204020204" pitchFamily="34" charset="-122"/>
                <a:ea typeface="微软雅黑" panose="020B0503020204020204" pitchFamily="34" charset="-122"/>
              </a:rPr>
              <a:t>接触式</a:t>
            </a:r>
            <a:r>
              <a:rPr lang="en-US" altLang="zh-CN" sz="2000" dirty="0">
                <a:latin typeface="微软雅黑" panose="020B0503020204020204" pitchFamily="34" charset="-122"/>
                <a:ea typeface="微软雅黑" panose="020B0503020204020204" pitchFamily="34" charset="-122"/>
              </a:rPr>
              <a:t>IC</a:t>
            </a:r>
            <a:r>
              <a:rPr lang="zh-CN" altLang="en-US" sz="2000" dirty="0">
                <a:latin typeface="微软雅黑" panose="020B0503020204020204" pitchFamily="34" charset="-122"/>
                <a:ea typeface="微软雅黑" panose="020B0503020204020204" pitchFamily="34" charset="-122"/>
              </a:rPr>
              <a:t>卡是集成电路卡，通过卡里的集成电路存储信息，它将一个微电子芯片嵌入到卡基中，做成卡片形式，通过卡片表面</a:t>
            </a:r>
            <a:r>
              <a:rPr lang="en-US" altLang="zh-CN" sz="2000" dirty="0">
                <a:latin typeface="微软雅黑" panose="020B0503020204020204" pitchFamily="34" charset="-122"/>
                <a:ea typeface="微软雅黑" panose="020B0503020204020204" pitchFamily="34" charset="-122"/>
              </a:rPr>
              <a:t>8</a:t>
            </a:r>
            <a:r>
              <a:rPr lang="zh-CN" altLang="en-US" sz="2000" dirty="0">
                <a:latin typeface="微软雅黑" panose="020B0503020204020204" pitchFamily="34" charset="-122"/>
                <a:ea typeface="微软雅黑" panose="020B0503020204020204" pitchFamily="34" charset="-122"/>
              </a:rPr>
              <a:t>个金属触点与读卡器进行物理连接，来完成通信和数据交换。</a:t>
            </a:r>
          </a:p>
        </p:txBody>
      </p:sp>
      <p:sp>
        <p:nvSpPr>
          <p:cNvPr id="8" name="Rectangle 2">
            <a:extLst>
              <a:ext uri="{FF2B5EF4-FFF2-40B4-BE49-F238E27FC236}">
                <a16:creationId xmlns:a16="http://schemas.microsoft.com/office/drawing/2014/main" id="{1515DC56-9AFD-43B5-A36F-E5A1868E8BBB}"/>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pic>
        <p:nvPicPr>
          <p:cNvPr id="9" name="图片 8" descr="D:\黄玉兰2012-6-19\教材5-物联网-射频识别（RFID）核心技术详解\第2版\图\1.5a.bmp">
            <a:extLst>
              <a:ext uri="{FF2B5EF4-FFF2-40B4-BE49-F238E27FC236}">
                <a16:creationId xmlns:a16="http://schemas.microsoft.com/office/drawing/2014/main" id="{EB1349BF-03EC-46A1-A20A-1CF8E2C09356}"/>
              </a:ext>
            </a:extLst>
          </p:cNvPr>
          <p:cNvPicPr/>
          <p:nvPr/>
        </p:nvPicPr>
        <p:blipFill>
          <a:blip r:embed="rId2" cstate="print"/>
          <a:srcRect/>
          <a:stretch>
            <a:fillRect/>
          </a:stretch>
        </p:blipFill>
        <p:spPr bwMode="auto">
          <a:xfrm>
            <a:off x="1043608" y="4248199"/>
            <a:ext cx="2160240" cy="1368152"/>
          </a:xfrm>
          <a:prstGeom prst="rect">
            <a:avLst/>
          </a:prstGeom>
          <a:noFill/>
          <a:ln w="9525">
            <a:noFill/>
            <a:miter lim="800000"/>
            <a:headEnd/>
            <a:tailEnd/>
          </a:ln>
        </p:spPr>
      </p:pic>
      <p:pic>
        <p:nvPicPr>
          <p:cNvPr id="10" name="图片 9" descr="1.5（c）.jpg">
            <a:extLst>
              <a:ext uri="{FF2B5EF4-FFF2-40B4-BE49-F238E27FC236}">
                <a16:creationId xmlns:a16="http://schemas.microsoft.com/office/drawing/2014/main" id="{BDFBE9B7-D22D-4403-9CCF-0A8DE61157E0}"/>
              </a:ext>
            </a:extLst>
          </p:cNvPr>
          <p:cNvPicPr/>
          <p:nvPr/>
        </p:nvPicPr>
        <p:blipFill>
          <a:blip r:embed="rId3" cstate="print"/>
          <a:stretch>
            <a:fillRect/>
          </a:stretch>
        </p:blipFill>
        <p:spPr>
          <a:xfrm>
            <a:off x="6080542" y="4250645"/>
            <a:ext cx="2088232" cy="1351806"/>
          </a:xfrm>
          <a:prstGeom prst="rect">
            <a:avLst/>
          </a:prstGeom>
        </p:spPr>
      </p:pic>
      <p:pic>
        <p:nvPicPr>
          <p:cNvPr id="11" name="图片 10" descr="D:\黄玉兰2012-6-19\教材5-物联网-射频识别（RFID）核心技术详解\第2版\图\1.5d.bmp">
            <a:extLst>
              <a:ext uri="{FF2B5EF4-FFF2-40B4-BE49-F238E27FC236}">
                <a16:creationId xmlns:a16="http://schemas.microsoft.com/office/drawing/2014/main" id="{1239DB71-77DA-4869-9752-29D5E330FBF6}"/>
              </a:ext>
            </a:extLst>
          </p:cNvPr>
          <p:cNvPicPr/>
          <p:nvPr/>
        </p:nvPicPr>
        <p:blipFill>
          <a:blip r:embed="rId4" cstate="print"/>
          <a:srcRect l="7055"/>
          <a:stretch>
            <a:fillRect/>
          </a:stretch>
        </p:blipFill>
        <p:spPr bwMode="auto">
          <a:xfrm>
            <a:off x="3620277" y="4248199"/>
            <a:ext cx="2016224" cy="1368152"/>
          </a:xfrm>
          <a:prstGeom prst="rect">
            <a:avLst/>
          </a:prstGeom>
          <a:noFill/>
          <a:ln w="9525">
            <a:noFill/>
            <a:miter lim="800000"/>
            <a:headEnd/>
            <a:tailEnd/>
          </a:ln>
        </p:spPr>
      </p:pic>
    </p:spTree>
    <p:extLst>
      <p:ext uri="{BB962C8B-B14F-4D97-AF65-F5344CB8AC3E}">
        <p14:creationId xmlns:p14="http://schemas.microsoft.com/office/powerpoint/2010/main" val="761298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8EBDB1CB-25C9-4EC9-B03C-F2DA5B7A77E2}"/>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A60813D4-AA9D-419B-B4FD-B74BDDAE86DA}" type="slidenum">
              <a:rPr lang="en-US" altLang="ko-KR" sz="1323">
                <a:latin typeface="Times New Roman" panose="02020603050405020304" pitchFamily="18" charset="0"/>
                <a:ea typeface="-소망M" pitchFamily="18" charset="-127"/>
              </a:rPr>
              <a:pPr eaLnBrk="1" hangingPunct="1"/>
              <a:t>11</a:t>
            </a:fld>
            <a:endParaRPr lang="en-US" altLang="ko-KR" sz="1323">
              <a:latin typeface="Times New Roman" panose="02020603050405020304" pitchFamily="18" charset="0"/>
              <a:ea typeface="-소망M" pitchFamily="18" charset="-127"/>
            </a:endParaRPr>
          </a:p>
        </p:txBody>
      </p:sp>
      <p:sp>
        <p:nvSpPr>
          <p:cNvPr id="30724" name="Rectangle 3">
            <a:extLst>
              <a:ext uri="{FF2B5EF4-FFF2-40B4-BE49-F238E27FC236}">
                <a16:creationId xmlns:a16="http://schemas.microsoft.com/office/drawing/2014/main" id="{AC129511-1C96-475C-9DA3-5AD7E8791C67}"/>
              </a:ext>
            </a:extLst>
          </p:cNvPr>
          <p:cNvSpPr>
            <a:spLocks noGrp="1" noChangeArrowheads="1"/>
          </p:cNvSpPr>
          <p:nvPr>
            <p:ph type="body" idx="1"/>
          </p:nvPr>
        </p:nvSpPr>
        <p:spPr>
          <a:xfrm>
            <a:off x="899901" y="719807"/>
            <a:ext cx="7344198" cy="5400600"/>
          </a:xfrm>
        </p:spPr>
        <p:txBody>
          <a:bodyPr/>
          <a:lstStyle/>
          <a:p>
            <a:pPr eaLnBrk="1" hangingPunct="1"/>
            <a:r>
              <a:rPr lang="zh-CN" altLang="en-US" sz="2400" dirty="0">
                <a:latin typeface="微软雅黑" panose="020B0503020204020204" pitchFamily="34" charset="-122"/>
                <a:ea typeface="微软雅黑" panose="020B0503020204020204" pitchFamily="34" charset="-122"/>
              </a:rPr>
              <a:t>自动识别技术 </a:t>
            </a:r>
          </a:p>
          <a:p>
            <a:pPr lvl="1" eaLnBrk="1" hangingPunct="1">
              <a:lnSpc>
                <a:spcPct val="150000"/>
              </a:lnSpc>
            </a:pPr>
            <a:r>
              <a:rPr lang="zh-CN" altLang="en-US" sz="2000" dirty="0">
                <a:latin typeface="微软雅黑" panose="020B0503020204020204" pitchFamily="34" charset="-122"/>
                <a:ea typeface="微软雅黑" panose="020B0503020204020204" pitchFamily="34" charset="-122"/>
              </a:rPr>
              <a:t>与磁卡相比较，</a:t>
            </a:r>
            <a:r>
              <a:rPr lang="en-US" altLang="zh-CN" sz="2000" dirty="0">
                <a:latin typeface="微软雅黑" panose="020B0503020204020204" pitchFamily="34" charset="-122"/>
                <a:ea typeface="微软雅黑" panose="020B0503020204020204" pitchFamily="34" charset="-122"/>
              </a:rPr>
              <a:t>IC</a:t>
            </a:r>
            <a:r>
              <a:rPr lang="zh-CN" altLang="en-US" sz="2000" dirty="0">
                <a:latin typeface="微软雅黑" panose="020B0503020204020204" pitchFamily="34" charset="-122"/>
                <a:ea typeface="微软雅黑" panose="020B0503020204020204" pitchFamily="34" charset="-122"/>
              </a:rPr>
              <a:t>的优点： </a:t>
            </a:r>
            <a:r>
              <a:rPr lang="en-US" altLang="zh-CN" sz="2000" dirty="0">
                <a:latin typeface="微软雅黑" panose="020B0503020204020204" pitchFamily="34" charset="-122"/>
                <a:ea typeface="微软雅黑" panose="020B0503020204020204" pitchFamily="34" charset="-122"/>
              </a:rPr>
              <a:t>IC</a:t>
            </a:r>
            <a:r>
              <a:rPr lang="zh-CN" altLang="en-US" sz="2000" dirty="0">
                <a:latin typeface="微软雅黑" panose="020B0503020204020204" pitchFamily="34" charset="-122"/>
                <a:ea typeface="微软雅黑" panose="020B0503020204020204" pitchFamily="34" charset="-122"/>
              </a:rPr>
              <a:t>卡的外形与磁卡相似，它与磁卡的区别在于数据存储的媒体不同。磁卡是通过卡上磁条的磁场变化来存储信息，而</a:t>
            </a:r>
            <a:r>
              <a:rPr lang="en-US" altLang="zh-CN" sz="2000" dirty="0">
                <a:latin typeface="微软雅黑" panose="020B0503020204020204" pitchFamily="34" charset="-122"/>
                <a:ea typeface="微软雅黑" panose="020B0503020204020204" pitchFamily="34" charset="-122"/>
              </a:rPr>
              <a:t>IC</a:t>
            </a:r>
            <a:r>
              <a:rPr lang="zh-CN" altLang="en-US" sz="2000" dirty="0">
                <a:latin typeface="微软雅黑" panose="020B0503020204020204" pitchFamily="34" charset="-122"/>
                <a:ea typeface="微软雅黑" panose="020B0503020204020204" pitchFamily="34" charset="-122"/>
              </a:rPr>
              <a:t>卡是通过嵌入卡中的电擦除式可编程只读存储器集成电路芯片（</a:t>
            </a:r>
            <a:r>
              <a:rPr lang="en-US" altLang="zh-CN" sz="2000" dirty="0">
                <a:latin typeface="微软雅黑" panose="020B0503020204020204" pitchFamily="34" charset="-122"/>
                <a:ea typeface="微软雅黑" panose="020B0503020204020204" pitchFamily="34" charset="-122"/>
              </a:rPr>
              <a:t>EEPROM</a:t>
            </a:r>
            <a:r>
              <a:rPr lang="zh-CN" altLang="en-US" sz="2000" dirty="0">
                <a:latin typeface="微软雅黑" panose="020B0503020204020204" pitchFamily="34" charset="-122"/>
                <a:ea typeface="微软雅黑" panose="020B0503020204020204" pitchFamily="34" charset="-122"/>
              </a:rPr>
              <a:t>）来存储数据信息。</a:t>
            </a:r>
          </a:p>
          <a:p>
            <a:pPr marL="457200" lvl="1" indent="0" eaLnBrk="1" hangingPunct="1">
              <a:lnSpc>
                <a:spcPct val="150000"/>
              </a:lnSpc>
              <a:buNone/>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）存储容量大。</a:t>
            </a:r>
          </a:p>
          <a:p>
            <a:pPr marL="457200" lvl="1" indent="0" eaLnBrk="1" hangingPunct="1">
              <a:lnSpc>
                <a:spcPct val="150000"/>
              </a:lnSpc>
              <a:buNone/>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）安全保密性好。</a:t>
            </a:r>
          </a:p>
          <a:p>
            <a:pPr marL="457200" lvl="1" indent="0" eaLnBrk="1" hangingPunct="1">
              <a:lnSpc>
                <a:spcPct val="150000"/>
              </a:lnSpc>
              <a:buNone/>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）具有数据处理能力。</a:t>
            </a:r>
          </a:p>
          <a:p>
            <a:pPr marL="457200" lvl="1" indent="0" eaLnBrk="1" hangingPunct="1">
              <a:lnSpc>
                <a:spcPct val="150000"/>
              </a:lnSpc>
              <a:buNone/>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）使用寿命长。</a:t>
            </a:r>
          </a:p>
        </p:txBody>
      </p:sp>
      <p:sp>
        <p:nvSpPr>
          <p:cNvPr id="8" name="Rectangle 2">
            <a:extLst>
              <a:ext uri="{FF2B5EF4-FFF2-40B4-BE49-F238E27FC236}">
                <a16:creationId xmlns:a16="http://schemas.microsoft.com/office/drawing/2014/main" id="{1515DC56-9AFD-43B5-A36F-E5A1868E8BBB}"/>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Tree>
    <p:extLst>
      <p:ext uri="{BB962C8B-B14F-4D97-AF65-F5344CB8AC3E}">
        <p14:creationId xmlns:p14="http://schemas.microsoft.com/office/powerpoint/2010/main" val="12882474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8EBDB1CB-25C9-4EC9-B03C-F2DA5B7A77E2}"/>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A60813D4-AA9D-419B-B4FD-B74BDDAE86DA}" type="slidenum">
              <a:rPr lang="en-US" altLang="ko-KR" sz="1323">
                <a:latin typeface="Times New Roman" panose="02020603050405020304" pitchFamily="18" charset="0"/>
                <a:ea typeface="-소망M" pitchFamily="18" charset="-127"/>
              </a:rPr>
              <a:pPr eaLnBrk="1" hangingPunct="1"/>
              <a:t>12</a:t>
            </a:fld>
            <a:endParaRPr lang="en-US" altLang="ko-KR" sz="1323">
              <a:latin typeface="Times New Roman" panose="02020603050405020304" pitchFamily="18" charset="0"/>
              <a:ea typeface="-소망M" pitchFamily="18" charset="-127"/>
            </a:endParaRPr>
          </a:p>
        </p:txBody>
      </p:sp>
      <p:sp>
        <p:nvSpPr>
          <p:cNvPr id="30724" name="Rectangle 3">
            <a:extLst>
              <a:ext uri="{FF2B5EF4-FFF2-40B4-BE49-F238E27FC236}">
                <a16:creationId xmlns:a16="http://schemas.microsoft.com/office/drawing/2014/main" id="{AC129511-1C96-475C-9DA3-5AD7E8791C67}"/>
              </a:ext>
            </a:extLst>
          </p:cNvPr>
          <p:cNvSpPr>
            <a:spLocks noGrp="1" noChangeArrowheads="1"/>
          </p:cNvSpPr>
          <p:nvPr>
            <p:ph type="body" idx="1"/>
          </p:nvPr>
        </p:nvSpPr>
        <p:spPr>
          <a:xfrm>
            <a:off x="899901" y="719807"/>
            <a:ext cx="7344198" cy="5112568"/>
          </a:xfrm>
        </p:spPr>
        <p:txBody>
          <a:bodyPr/>
          <a:lstStyle/>
          <a:p>
            <a:pPr eaLnBrk="1" hangingPunct="1"/>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技术 </a:t>
            </a:r>
          </a:p>
          <a:p>
            <a:pPr lvl="1" eaLnBrk="1" hangingPunct="1">
              <a:lnSpc>
                <a:spcPct val="15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是无线电频率识别的简称，即通过无线电波进行识别，是通过射频无线信号进行数据传递的自动识别技术。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技术无须与被识别物体直接接触，即可完成信息的输入和处理，能快速、实时、准确地采集和处理信息。</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eaLnBrk="1" hangingPunct="1">
              <a:lnSpc>
                <a:spcPct val="15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系统中，识别信息存放在电子数据载体中，电子数据载体称为应答器。</a:t>
            </a:r>
          </a:p>
          <a:p>
            <a:pPr lvl="1" eaLnBrk="1" hangingPunct="1">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应答器中存放的识别信息由阅读器读出。</a:t>
            </a:r>
          </a:p>
          <a:p>
            <a:pPr lvl="1" eaLnBrk="1" hangingPunct="1">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阅读器不仅可以读出存放的信息，而且可以对其进行写入，读写过程是通过双方之间的无线通信来实现的。</a:t>
            </a:r>
          </a:p>
        </p:txBody>
      </p:sp>
      <p:sp>
        <p:nvSpPr>
          <p:cNvPr id="8" name="Rectangle 2">
            <a:extLst>
              <a:ext uri="{FF2B5EF4-FFF2-40B4-BE49-F238E27FC236}">
                <a16:creationId xmlns:a16="http://schemas.microsoft.com/office/drawing/2014/main" id="{1515DC56-9AFD-43B5-A36F-E5A1868E8BBB}"/>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Tree>
    <p:extLst>
      <p:ext uri="{BB962C8B-B14F-4D97-AF65-F5344CB8AC3E}">
        <p14:creationId xmlns:p14="http://schemas.microsoft.com/office/powerpoint/2010/main" val="3538369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8EBDB1CB-25C9-4EC9-B03C-F2DA5B7A77E2}"/>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A60813D4-AA9D-419B-B4FD-B74BDDAE86DA}" type="slidenum">
              <a:rPr lang="en-US" altLang="ko-KR" sz="1323">
                <a:latin typeface="Times New Roman" panose="02020603050405020304" pitchFamily="18" charset="0"/>
                <a:ea typeface="-소망M" pitchFamily="18" charset="-127"/>
              </a:rPr>
              <a:pPr eaLnBrk="1" hangingPunct="1"/>
              <a:t>13</a:t>
            </a:fld>
            <a:endParaRPr lang="en-US" altLang="ko-KR" sz="1323">
              <a:latin typeface="Times New Roman" panose="02020603050405020304" pitchFamily="18" charset="0"/>
              <a:ea typeface="-소망M" pitchFamily="18" charset="-127"/>
            </a:endParaRPr>
          </a:p>
        </p:txBody>
      </p:sp>
      <p:sp>
        <p:nvSpPr>
          <p:cNvPr id="30724" name="Rectangle 3">
            <a:extLst>
              <a:ext uri="{FF2B5EF4-FFF2-40B4-BE49-F238E27FC236}">
                <a16:creationId xmlns:a16="http://schemas.microsoft.com/office/drawing/2014/main" id="{AC129511-1C96-475C-9DA3-5AD7E8791C67}"/>
              </a:ext>
            </a:extLst>
          </p:cNvPr>
          <p:cNvSpPr>
            <a:spLocks noGrp="1" noChangeArrowheads="1"/>
          </p:cNvSpPr>
          <p:nvPr>
            <p:ph type="body" idx="1"/>
          </p:nvPr>
        </p:nvSpPr>
        <p:spPr>
          <a:xfrm>
            <a:off x="899901" y="719807"/>
            <a:ext cx="7344198" cy="5112568"/>
          </a:xfrm>
        </p:spPr>
        <p:txBody>
          <a:bodyPr/>
          <a:lstStyle/>
          <a:p>
            <a:pPr eaLnBrk="1" hangingPunct="1"/>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技术 </a:t>
            </a:r>
          </a:p>
          <a:p>
            <a:pPr marL="457200" lvl="1" indent="0" eaLnBrk="1" hangingPunct="1">
              <a:lnSpc>
                <a:spcPct val="150000"/>
              </a:lnSpc>
              <a:buNone/>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标签抗污损能力强</a:t>
            </a:r>
          </a:p>
          <a:p>
            <a:pPr marL="457200" lvl="1" indent="0" eaLnBrk="1" hangingPunct="1">
              <a:lnSpc>
                <a:spcPct val="150000"/>
              </a:lnSpc>
              <a:buNone/>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标签安全性高</a:t>
            </a:r>
          </a:p>
          <a:p>
            <a:pPr marL="457200" lvl="1" indent="0" eaLnBrk="1" hangingPunct="1">
              <a:lnSpc>
                <a:spcPct val="150000"/>
              </a:lnSpc>
              <a:buNone/>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标签容量大</a:t>
            </a:r>
          </a:p>
          <a:p>
            <a:pPr marL="457200" lvl="1" indent="0" eaLnBrk="1" hangingPunct="1">
              <a:lnSpc>
                <a:spcPct val="150000"/>
              </a:lnSpc>
              <a:buNone/>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可远距离、同时识别多个标签</a:t>
            </a:r>
          </a:p>
          <a:p>
            <a:pPr marL="457200" lvl="1" indent="0" eaLnBrk="1" hangingPunct="1">
              <a:lnSpc>
                <a:spcPct val="150000"/>
              </a:lnSpc>
              <a:buNone/>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是物联网的基石</a:t>
            </a:r>
          </a:p>
        </p:txBody>
      </p:sp>
      <p:sp>
        <p:nvSpPr>
          <p:cNvPr id="8" name="Rectangle 2">
            <a:extLst>
              <a:ext uri="{FF2B5EF4-FFF2-40B4-BE49-F238E27FC236}">
                <a16:creationId xmlns:a16="http://schemas.microsoft.com/office/drawing/2014/main" id="{1515DC56-9AFD-43B5-A36F-E5A1868E8BBB}"/>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Tree>
    <p:extLst>
      <p:ext uri="{BB962C8B-B14F-4D97-AF65-F5344CB8AC3E}">
        <p14:creationId xmlns:p14="http://schemas.microsoft.com/office/powerpoint/2010/main" val="3541240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8EBDB1CB-25C9-4EC9-B03C-F2DA5B7A77E2}"/>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A60813D4-AA9D-419B-B4FD-B74BDDAE86DA}" type="slidenum">
              <a:rPr lang="en-US" altLang="ko-KR" sz="1323">
                <a:latin typeface="Times New Roman" panose="02020603050405020304" pitchFamily="18" charset="0"/>
                <a:ea typeface="-소망M" pitchFamily="18" charset="-127"/>
              </a:rPr>
              <a:pPr eaLnBrk="1" hangingPunct="1"/>
              <a:t>14</a:t>
            </a:fld>
            <a:endParaRPr lang="en-US" altLang="ko-KR" sz="1323">
              <a:latin typeface="Times New Roman" panose="02020603050405020304" pitchFamily="18" charset="0"/>
              <a:ea typeface="-소망M" pitchFamily="18" charset="-127"/>
            </a:endParaRPr>
          </a:p>
        </p:txBody>
      </p:sp>
      <p:sp>
        <p:nvSpPr>
          <p:cNvPr id="30724" name="Rectangle 3">
            <a:extLst>
              <a:ext uri="{FF2B5EF4-FFF2-40B4-BE49-F238E27FC236}">
                <a16:creationId xmlns:a16="http://schemas.microsoft.com/office/drawing/2014/main" id="{AC129511-1C96-475C-9DA3-5AD7E8791C67}"/>
              </a:ext>
            </a:extLst>
          </p:cNvPr>
          <p:cNvSpPr>
            <a:spLocks noGrp="1" noChangeArrowheads="1"/>
          </p:cNvSpPr>
          <p:nvPr>
            <p:ph type="body" idx="1"/>
          </p:nvPr>
        </p:nvSpPr>
        <p:spPr>
          <a:xfrm>
            <a:off x="899901" y="719807"/>
            <a:ext cx="7344198" cy="5112568"/>
          </a:xfrm>
        </p:spPr>
        <p:txBody>
          <a:bodyPr/>
          <a:lstStyle/>
          <a:p>
            <a:pPr eaLnBrk="1" hangingPunct="1"/>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技术的发展历程 </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a:t>
            </a:r>
            <a:r>
              <a:rPr lang="zh-CN" altLang="en-US"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诞生</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源于战争的需要。二战期间，英国空军首先在飞机上使用</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技术，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用来分辨敌方飞机和我方飞机。在“不列颠空战”中，德国的“</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BF-109”</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战机与英国的“飓风</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MK.I”</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战机和“喷火</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MK.I”</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战机十分相似。</a:t>
            </a:r>
          </a:p>
        </p:txBody>
      </p:sp>
      <p:sp>
        <p:nvSpPr>
          <p:cNvPr id="8" name="Rectangle 2">
            <a:extLst>
              <a:ext uri="{FF2B5EF4-FFF2-40B4-BE49-F238E27FC236}">
                <a16:creationId xmlns:a16="http://schemas.microsoft.com/office/drawing/2014/main" id="{1515DC56-9AFD-43B5-A36F-E5A1868E8BBB}"/>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pic>
        <p:nvPicPr>
          <p:cNvPr id="2" name="图片 1">
            <a:extLst>
              <a:ext uri="{FF2B5EF4-FFF2-40B4-BE49-F238E27FC236}">
                <a16:creationId xmlns:a16="http://schemas.microsoft.com/office/drawing/2014/main" id="{9B0E06C1-77CE-44CE-9508-94CD63A25704}"/>
              </a:ext>
            </a:extLst>
          </p:cNvPr>
          <p:cNvPicPr>
            <a:picLocks noChangeAspect="1"/>
          </p:cNvPicPr>
          <p:nvPr/>
        </p:nvPicPr>
        <p:blipFill>
          <a:blip r:embed="rId2"/>
          <a:stretch>
            <a:fillRect/>
          </a:stretch>
        </p:blipFill>
        <p:spPr>
          <a:xfrm>
            <a:off x="251884" y="3096071"/>
            <a:ext cx="8681456" cy="1981372"/>
          </a:xfrm>
          <a:prstGeom prst="rect">
            <a:avLst/>
          </a:prstGeom>
        </p:spPr>
      </p:pic>
    </p:spTree>
    <p:extLst>
      <p:ext uri="{BB962C8B-B14F-4D97-AF65-F5344CB8AC3E}">
        <p14:creationId xmlns:p14="http://schemas.microsoft.com/office/powerpoint/2010/main" val="33786738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8EBDB1CB-25C9-4EC9-B03C-F2DA5B7A77E2}"/>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A60813D4-AA9D-419B-B4FD-B74BDDAE86DA}" type="slidenum">
              <a:rPr lang="en-US" altLang="ko-KR" sz="1323">
                <a:latin typeface="Times New Roman" panose="02020603050405020304" pitchFamily="18" charset="0"/>
                <a:ea typeface="-소망M" pitchFamily="18" charset="-127"/>
              </a:rPr>
              <a:pPr eaLnBrk="1" hangingPunct="1"/>
              <a:t>15</a:t>
            </a:fld>
            <a:endParaRPr lang="en-US" altLang="ko-KR" sz="1323">
              <a:latin typeface="Times New Roman" panose="02020603050405020304" pitchFamily="18" charset="0"/>
              <a:ea typeface="-소망M" pitchFamily="18" charset="-127"/>
            </a:endParaRPr>
          </a:p>
        </p:txBody>
      </p:sp>
      <p:sp>
        <p:nvSpPr>
          <p:cNvPr id="30724" name="Rectangle 3">
            <a:extLst>
              <a:ext uri="{FF2B5EF4-FFF2-40B4-BE49-F238E27FC236}">
                <a16:creationId xmlns:a16="http://schemas.microsoft.com/office/drawing/2014/main" id="{AC129511-1C96-475C-9DA3-5AD7E8791C67}"/>
              </a:ext>
            </a:extLst>
          </p:cNvPr>
          <p:cNvSpPr>
            <a:spLocks noGrp="1" noChangeArrowheads="1"/>
          </p:cNvSpPr>
          <p:nvPr>
            <p:ph type="body" idx="1"/>
          </p:nvPr>
        </p:nvSpPr>
        <p:spPr>
          <a:xfrm>
            <a:off x="899901" y="719807"/>
            <a:ext cx="7344198" cy="5112568"/>
          </a:xfrm>
        </p:spPr>
        <p:txBody>
          <a:bodyPr/>
          <a:lstStyle/>
          <a:p>
            <a:pPr eaLnBrk="1" hangingPunct="1"/>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技术的发展历程 </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1948</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年，</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Harry Stockman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发表的论文“用能量反射的方法进行通信”，是</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理论发展的里程碑。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世纪</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50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年代是</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技术的</a:t>
            </a:r>
            <a:r>
              <a:rPr lang="zh-CN" altLang="en-US"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探索阶段</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1961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1980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年间，</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技术变成了</a:t>
            </a:r>
            <a:r>
              <a:rPr lang="zh-CN" altLang="en-US"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现实</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0" eaLnBrk="1" hangingPunct="1">
              <a:buNone/>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20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世纪</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60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年代</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0" eaLnBrk="1" hangingPunct="1">
              <a:buNone/>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20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世纪</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60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年代是</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技术应用的初始期，一些公司引入</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技术，开发电子监控设备来保护财产、防止偷盗。例如，</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位的电子标签系统用于商场防盗。</a:t>
            </a:r>
          </a:p>
          <a:p>
            <a:pPr marL="457200" lvl="1" indent="0" eaLnBrk="1" hangingPunct="1">
              <a:lnSpc>
                <a:spcPct val="150000"/>
              </a:lnSpc>
              <a:buNone/>
            </a:pP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2">
            <a:extLst>
              <a:ext uri="{FF2B5EF4-FFF2-40B4-BE49-F238E27FC236}">
                <a16:creationId xmlns:a16="http://schemas.microsoft.com/office/drawing/2014/main" id="{1515DC56-9AFD-43B5-A36F-E5A1868E8BBB}"/>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pic>
        <p:nvPicPr>
          <p:cNvPr id="9" name="Picture 2" descr="C:\Users\黄玉兰\Desktop\get - 复制.jpg">
            <a:extLst>
              <a:ext uri="{FF2B5EF4-FFF2-40B4-BE49-F238E27FC236}">
                <a16:creationId xmlns:a16="http://schemas.microsoft.com/office/drawing/2014/main" id="{0027C00D-32BB-4FDB-AE6F-14C760CBD92E}"/>
              </a:ext>
            </a:extLst>
          </p:cNvPr>
          <p:cNvPicPr>
            <a:picLocks noChangeAspect="1" noChangeArrowheads="1"/>
          </p:cNvPicPr>
          <p:nvPr/>
        </p:nvPicPr>
        <p:blipFill>
          <a:blip r:embed="rId3" cstate="print"/>
          <a:srcRect t="13745"/>
          <a:stretch>
            <a:fillRect/>
          </a:stretch>
        </p:blipFill>
        <p:spPr bwMode="auto">
          <a:xfrm>
            <a:off x="4860032" y="4320207"/>
            <a:ext cx="2790825" cy="1807468"/>
          </a:xfrm>
          <a:prstGeom prst="rect">
            <a:avLst/>
          </a:prstGeom>
          <a:noFill/>
        </p:spPr>
      </p:pic>
      <p:pic>
        <p:nvPicPr>
          <p:cNvPr id="10" name="Picture 2" descr="D:\黄玉兰2015-10-15\教材11-物联网-射频识别（RFID）核心技术教程\新图和PPT\用于PPT的图片\1-6.jpg">
            <a:extLst>
              <a:ext uri="{FF2B5EF4-FFF2-40B4-BE49-F238E27FC236}">
                <a16:creationId xmlns:a16="http://schemas.microsoft.com/office/drawing/2014/main" id="{DA107837-4063-46B7-933C-440D6CECEF70}"/>
              </a:ext>
            </a:extLst>
          </p:cNvPr>
          <p:cNvPicPr>
            <a:picLocks noChangeAspect="1" noChangeArrowheads="1"/>
          </p:cNvPicPr>
          <p:nvPr/>
        </p:nvPicPr>
        <p:blipFill>
          <a:blip r:embed="rId4" cstate="print"/>
          <a:srcRect l="28575" b="7219"/>
          <a:stretch>
            <a:fillRect/>
          </a:stretch>
        </p:blipFill>
        <p:spPr bwMode="auto">
          <a:xfrm>
            <a:off x="2107798" y="4177618"/>
            <a:ext cx="1680394" cy="1944216"/>
          </a:xfrm>
          <a:prstGeom prst="rect">
            <a:avLst/>
          </a:prstGeom>
          <a:noFill/>
        </p:spPr>
      </p:pic>
    </p:spTree>
    <p:extLst>
      <p:ext uri="{BB962C8B-B14F-4D97-AF65-F5344CB8AC3E}">
        <p14:creationId xmlns:p14="http://schemas.microsoft.com/office/powerpoint/2010/main" val="1153683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8EBDB1CB-25C9-4EC9-B03C-F2DA5B7A77E2}"/>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A60813D4-AA9D-419B-B4FD-B74BDDAE86DA}" type="slidenum">
              <a:rPr lang="en-US" altLang="ko-KR" sz="1323">
                <a:latin typeface="Times New Roman" panose="02020603050405020304" pitchFamily="18" charset="0"/>
                <a:ea typeface="-소망M" pitchFamily="18" charset="-127"/>
              </a:rPr>
              <a:pPr eaLnBrk="1" hangingPunct="1"/>
              <a:t>16</a:t>
            </a:fld>
            <a:endParaRPr lang="en-US" altLang="ko-KR" sz="1323">
              <a:latin typeface="Times New Roman" panose="02020603050405020304" pitchFamily="18" charset="0"/>
              <a:ea typeface="-소망M" pitchFamily="18" charset="-127"/>
            </a:endParaRPr>
          </a:p>
        </p:txBody>
      </p:sp>
      <p:sp>
        <p:nvSpPr>
          <p:cNvPr id="30724" name="Rectangle 3">
            <a:extLst>
              <a:ext uri="{FF2B5EF4-FFF2-40B4-BE49-F238E27FC236}">
                <a16:creationId xmlns:a16="http://schemas.microsoft.com/office/drawing/2014/main" id="{AC129511-1C96-475C-9DA3-5AD7E8791C67}"/>
              </a:ext>
            </a:extLst>
          </p:cNvPr>
          <p:cNvSpPr>
            <a:spLocks noGrp="1" noChangeArrowheads="1"/>
          </p:cNvSpPr>
          <p:nvPr>
            <p:ph type="body" idx="1"/>
          </p:nvPr>
        </p:nvSpPr>
        <p:spPr>
          <a:xfrm>
            <a:off x="899901" y="719807"/>
            <a:ext cx="7344198" cy="5112568"/>
          </a:xfrm>
        </p:spPr>
        <p:txBody>
          <a:bodyPr/>
          <a:lstStyle/>
          <a:p>
            <a:pPr eaLnBrk="1" hangingPunct="1"/>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技术的发展历程 </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0" eaLnBrk="1" hangingPunct="1">
              <a:buNone/>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20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世纪</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70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年代</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0" eaLnBrk="1" hangingPunct="1">
              <a:buNone/>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20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世纪</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70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年代是</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技术应用的发展期，</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技术成为人们研究的热门课题，出现了一系列</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技术的研究成果。</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0" eaLnBrk="1" hangingPunct="1">
              <a:buNone/>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世纪</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80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年代</a:t>
            </a:r>
          </a:p>
          <a:p>
            <a:pPr marL="0" indent="0" eaLnBrk="1" hangingPunct="1">
              <a:buNone/>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世纪</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80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年代是</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技术应用的成熟期，挪威使用了</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电子收费系统，美国铁路用</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系统识别车辆，欧洲用</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电子标签跟踪野生动物来对野生动物进行研究。</a:t>
            </a:r>
          </a:p>
          <a:p>
            <a:pPr marL="0" indent="0" eaLnBrk="1" hangingPunct="1">
              <a:buNone/>
            </a:pP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2">
            <a:extLst>
              <a:ext uri="{FF2B5EF4-FFF2-40B4-BE49-F238E27FC236}">
                <a16:creationId xmlns:a16="http://schemas.microsoft.com/office/drawing/2014/main" id="{1515DC56-9AFD-43B5-A36F-E5A1868E8BBB}"/>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pic>
        <p:nvPicPr>
          <p:cNvPr id="11" name="Picture 2" descr="C:\Users\黄玉兰\Desktop\u=3876862054,581373502&amp;fm=15&amp;gp=0.jpg">
            <a:extLst>
              <a:ext uri="{FF2B5EF4-FFF2-40B4-BE49-F238E27FC236}">
                <a16:creationId xmlns:a16="http://schemas.microsoft.com/office/drawing/2014/main" id="{61561DD4-EBA9-4706-9AF3-164ADFA21382}"/>
              </a:ext>
            </a:extLst>
          </p:cNvPr>
          <p:cNvPicPr>
            <a:picLocks noChangeAspect="1" noChangeArrowheads="1"/>
          </p:cNvPicPr>
          <p:nvPr/>
        </p:nvPicPr>
        <p:blipFill>
          <a:blip r:embed="rId3" cstate="print"/>
          <a:srcRect b="7219"/>
          <a:stretch>
            <a:fillRect/>
          </a:stretch>
        </p:blipFill>
        <p:spPr bwMode="auto">
          <a:xfrm>
            <a:off x="313957" y="4032175"/>
            <a:ext cx="1800200" cy="1469807"/>
          </a:xfrm>
          <a:prstGeom prst="rect">
            <a:avLst/>
          </a:prstGeom>
          <a:noFill/>
        </p:spPr>
      </p:pic>
      <p:pic>
        <p:nvPicPr>
          <p:cNvPr id="12" name="Picture 2" descr="C:\Users\黄玉兰\Desktop\u=2227094547,430252836&amp;fm=21&amp;gp=0.jpg">
            <a:extLst>
              <a:ext uri="{FF2B5EF4-FFF2-40B4-BE49-F238E27FC236}">
                <a16:creationId xmlns:a16="http://schemas.microsoft.com/office/drawing/2014/main" id="{216660F3-4A09-4CF1-A834-73613757194A}"/>
              </a:ext>
            </a:extLst>
          </p:cNvPr>
          <p:cNvPicPr>
            <a:picLocks noChangeAspect="1" noChangeArrowheads="1"/>
          </p:cNvPicPr>
          <p:nvPr/>
        </p:nvPicPr>
        <p:blipFill>
          <a:blip r:embed="rId4" cstate="print">
            <a:duotone>
              <a:prstClr val="black"/>
              <a:schemeClr val="accent2">
                <a:tint val="45000"/>
                <a:satMod val="400000"/>
              </a:schemeClr>
            </a:duotone>
          </a:blip>
          <a:srcRect l="7462" r="24201"/>
          <a:stretch>
            <a:fillRect/>
          </a:stretch>
        </p:blipFill>
        <p:spPr bwMode="auto">
          <a:xfrm>
            <a:off x="2311097" y="4267425"/>
            <a:ext cx="2377442" cy="1743457"/>
          </a:xfrm>
          <a:prstGeom prst="rect">
            <a:avLst/>
          </a:prstGeom>
          <a:noFill/>
        </p:spPr>
      </p:pic>
      <p:pic>
        <p:nvPicPr>
          <p:cNvPr id="13" name="Picture 4" descr="D:\黄玉兰2015-10-15\教材11-物联网-射频识别（RFID）核心技术教程\新图和PPT\用于PPT的图片\1-13.jpg">
            <a:extLst>
              <a:ext uri="{FF2B5EF4-FFF2-40B4-BE49-F238E27FC236}">
                <a16:creationId xmlns:a16="http://schemas.microsoft.com/office/drawing/2014/main" id="{FA33455E-23B6-4266-AF95-E680E6E29D1C}"/>
              </a:ext>
            </a:extLst>
          </p:cNvPr>
          <p:cNvPicPr>
            <a:picLocks noChangeAspect="1" noChangeArrowheads="1"/>
          </p:cNvPicPr>
          <p:nvPr/>
        </p:nvPicPr>
        <p:blipFill>
          <a:blip r:embed="rId5" cstate="print"/>
          <a:srcRect/>
          <a:stretch>
            <a:fillRect/>
          </a:stretch>
        </p:blipFill>
        <p:spPr bwMode="auto">
          <a:xfrm>
            <a:off x="7226279" y="3688208"/>
            <a:ext cx="1665172" cy="1613823"/>
          </a:xfrm>
          <a:prstGeom prst="rect">
            <a:avLst/>
          </a:prstGeom>
          <a:noFill/>
        </p:spPr>
      </p:pic>
      <p:pic>
        <p:nvPicPr>
          <p:cNvPr id="14" name="Picture 3" descr="C:\Users\黄玉兰\Desktop\u=3473269327,1251351974&amp;fm=21&amp;gp=0.jpg">
            <a:extLst>
              <a:ext uri="{FF2B5EF4-FFF2-40B4-BE49-F238E27FC236}">
                <a16:creationId xmlns:a16="http://schemas.microsoft.com/office/drawing/2014/main" id="{DBF3A609-79E5-41FF-A31C-FD2C717ACA45}"/>
              </a:ext>
            </a:extLst>
          </p:cNvPr>
          <p:cNvPicPr>
            <a:picLocks noChangeAspect="1" noChangeArrowheads="1"/>
          </p:cNvPicPr>
          <p:nvPr/>
        </p:nvPicPr>
        <p:blipFill>
          <a:blip r:embed="rId6" cstate="print"/>
          <a:srcRect/>
          <a:stretch>
            <a:fillRect/>
          </a:stretch>
        </p:blipFill>
        <p:spPr bwMode="auto">
          <a:xfrm>
            <a:off x="4840392" y="4680247"/>
            <a:ext cx="2188947" cy="1486322"/>
          </a:xfrm>
          <a:prstGeom prst="rect">
            <a:avLst/>
          </a:prstGeom>
          <a:noFill/>
        </p:spPr>
      </p:pic>
    </p:spTree>
    <p:extLst>
      <p:ext uri="{BB962C8B-B14F-4D97-AF65-F5344CB8AC3E}">
        <p14:creationId xmlns:p14="http://schemas.microsoft.com/office/powerpoint/2010/main" val="9259611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5" descr="D:\黄玉兰2015-10-15\教材11-物联网-射频识别（RFID）核心技术教程\新图和PPT\用于PPT的图片\1-14.jpg"/>
          <p:cNvPicPr>
            <a:picLocks noChangeAspect="1" noChangeArrowheads="1"/>
          </p:cNvPicPr>
          <p:nvPr/>
        </p:nvPicPr>
        <p:blipFill>
          <a:blip r:embed="rId2" cstate="print"/>
          <a:srcRect t="7937"/>
          <a:stretch>
            <a:fillRect/>
          </a:stretch>
        </p:blipFill>
        <p:spPr bwMode="auto">
          <a:xfrm>
            <a:off x="625628" y="790615"/>
            <a:ext cx="3841674" cy="2642171"/>
          </a:xfrm>
          <a:prstGeom prst="rect">
            <a:avLst/>
          </a:prstGeom>
          <a:noFill/>
        </p:spPr>
      </p:pic>
      <p:pic>
        <p:nvPicPr>
          <p:cNvPr id="5122" name="Picture 2" descr="D:\黄玉兰2015-10-15\教材11-物联网-射频识别（RFID）核心技术教程\新图和PPT\用于PPT的图片\1-16.jpg"/>
          <p:cNvPicPr>
            <a:picLocks noChangeAspect="1" noChangeArrowheads="1"/>
          </p:cNvPicPr>
          <p:nvPr/>
        </p:nvPicPr>
        <p:blipFill>
          <a:blip r:embed="rId3" cstate="print"/>
          <a:srcRect r="6300"/>
          <a:stretch>
            <a:fillRect/>
          </a:stretch>
        </p:blipFill>
        <p:spPr bwMode="auto">
          <a:xfrm>
            <a:off x="5728695" y="4056578"/>
            <a:ext cx="2993799" cy="1980053"/>
          </a:xfrm>
          <a:prstGeom prst="rect">
            <a:avLst/>
          </a:prstGeom>
          <a:noFill/>
        </p:spPr>
      </p:pic>
      <p:pic>
        <p:nvPicPr>
          <p:cNvPr id="5123" name="Picture 3" descr="D:\黄玉兰2015-10-15\教材11-物联网-射频识别（RFID）核心技术教程\新图和PPT\用于PPT的图片\1-18.jpg"/>
          <p:cNvPicPr>
            <a:picLocks noChangeAspect="1" noChangeArrowheads="1"/>
          </p:cNvPicPr>
          <p:nvPr/>
        </p:nvPicPr>
        <p:blipFill>
          <a:blip r:embed="rId4" cstate="print"/>
          <a:srcRect/>
          <a:stretch>
            <a:fillRect/>
          </a:stretch>
        </p:blipFill>
        <p:spPr bwMode="auto">
          <a:xfrm>
            <a:off x="421506" y="3784414"/>
            <a:ext cx="2691073" cy="1980053"/>
          </a:xfrm>
          <a:prstGeom prst="rect">
            <a:avLst/>
          </a:prstGeom>
          <a:noFill/>
        </p:spPr>
      </p:pic>
      <p:pic>
        <p:nvPicPr>
          <p:cNvPr id="5124" name="Picture 4" descr="D:\黄玉兰2015-10-15\教材11-物联网-射频识别（RFID）核心技术教程\新图和PPT\用于PPT的图片\1-19.jpg"/>
          <p:cNvPicPr>
            <a:picLocks noChangeAspect="1" noChangeArrowheads="1"/>
          </p:cNvPicPr>
          <p:nvPr/>
        </p:nvPicPr>
        <p:blipFill>
          <a:blip r:embed="rId5" cstate="print"/>
          <a:srcRect/>
          <a:stretch>
            <a:fillRect/>
          </a:stretch>
        </p:blipFill>
        <p:spPr bwMode="auto">
          <a:xfrm>
            <a:off x="4844164" y="790615"/>
            <a:ext cx="3340189" cy="2449472"/>
          </a:xfrm>
          <a:prstGeom prst="rect">
            <a:avLst/>
          </a:prstGeom>
          <a:noFill/>
        </p:spPr>
      </p:pic>
      <p:pic>
        <p:nvPicPr>
          <p:cNvPr id="5125" name="Picture 5" descr="D:\黄玉兰2015-10-15\教材11-物联网-射频识别（RFID）核心技术教程\新图和PPT\用于PPT的图片\1-20.jpg"/>
          <p:cNvPicPr>
            <a:picLocks noChangeAspect="1" noChangeArrowheads="1"/>
          </p:cNvPicPr>
          <p:nvPr/>
        </p:nvPicPr>
        <p:blipFill>
          <a:blip r:embed="rId6" cstate="print"/>
          <a:srcRect/>
          <a:stretch>
            <a:fillRect/>
          </a:stretch>
        </p:blipFill>
        <p:spPr bwMode="auto">
          <a:xfrm>
            <a:off x="3279224" y="3580291"/>
            <a:ext cx="2286174" cy="2177309"/>
          </a:xfrm>
          <a:prstGeom prst="rect">
            <a:avLst/>
          </a:prstGeom>
          <a:noFill/>
        </p:spPr>
      </p:pic>
      <p:sp>
        <p:nvSpPr>
          <p:cNvPr id="17" name="Rectangle 2">
            <a:extLst>
              <a:ext uri="{FF2B5EF4-FFF2-40B4-BE49-F238E27FC236}">
                <a16:creationId xmlns:a16="http://schemas.microsoft.com/office/drawing/2014/main" id="{53357A9D-0B58-4794-B65F-8949AFA07318}"/>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8EBDB1CB-25C9-4EC9-B03C-F2DA5B7A77E2}"/>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A60813D4-AA9D-419B-B4FD-B74BDDAE86DA}" type="slidenum">
              <a:rPr lang="en-US" altLang="ko-KR" sz="1323">
                <a:latin typeface="Times New Roman" panose="02020603050405020304" pitchFamily="18" charset="0"/>
                <a:ea typeface="-소망M" pitchFamily="18" charset="-127"/>
              </a:rPr>
              <a:pPr eaLnBrk="1" hangingPunct="1"/>
              <a:t>18</a:t>
            </a:fld>
            <a:endParaRPr lang="en-US" altLang="ko-KR" sz="1323">
              <a:latin typeface="Times New Roman" panose="02020603050405020304" pitchFamily="18" charset="0"/>
              <a:ea typeface="-소망M" pitchFamily="18" charset="-127"/>
            </a:endParaRPr>
          </a:p>
        </p:txBody>
      </p:sp>
      <p:sp>
        <p:nvSpPr>
          <p:cNvPr id="30724" name="Rectangle 3">
            <a:extLst>
              <a:ext uri="{FF2B5EF4-FFF2-40B4-BE49-F238E27FC236}">
                <a16:creationId xmlns:a16="http://schemas.microsoft.com/office/drawing/2014/main" id="{AC129511-1C96-475C-9DA3-5AD7E8791C67}"/>
              </a:ext>
            </a:extLst>
          </p:cNvPr>
          <p:cNvSpPr>
            <a:spLocks noGrp="1" noChangeArrowheads="1"/>
          </p:cNvSpPr>
          <p:nvPr>
            <p:ph type="body" idx="1"/>
          </p:nvPr>
        </p:nvSpPr>
        <p:spPr>
          <a:xfrm>
            <a:off x="899901" y="719807"/>
            <a:ext cx="7344198" cy="5112568"/>
          </a:xfrm>
        </p:spPr>
        <p:txBody>
          <a:bodyPr/>
          <a:lstStyle/>
          <a:p>
            <a:pPr eaLnBrk="1" hangingPunct="1"/>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技术的发展历程 </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技术的</a:t>
            </a:r>
            <a:r>
              <a:rPr lang="zh-CN" altLang="zh-CN"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推广阶段</a:t>
            </a:r>
            <a:r>
              <a:rPr lang="zh-CN" altLang="en-US"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50000"/>
              </a:lnSpc>
              <a:buNone/>
            </a:pPr>
            <a:r>
              <a:rPr lang="en-US" altLang="zh-CN" sz="2000" b="1" dirty="0">
                <a:latin typeface="Times New Roman" pitchFamily="18" charset="0"/>
                <a:cs typeface="Times New Roman" pitchFamily="18" charset="0"/>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20</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世纪</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90</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年代是</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技术的推广期，发达国家配置了大量的</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电子收费系统，并将</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用于安全和控制系统。</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eaLnBrk="1" hangingPunct="1">
              <a:lnSpc>
                <a:spcPct val="150000"/>
              </a:lnSpc>
              <a:buNone/>
            </a:pP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2">
            <a:extLst>
              <a:ext uri="{FF2B5EF4-FFF2-40B4-BE49-F238E27FC236}">
                <a16:creationId xmlns:a16="http://schemas.microsoft.com/office/drawing/2014/main" id="{1515DC56-9AFD-43B5-A36F-E5A1868E8BBB}"/>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pic>
        <p:nvPicPr>
          <p:cNvPr id="11" name="Picture 3" descr="D:\黄玉兰2015-10-15\教材11-物联网-射频识别（RFID）核心技术教程\新图和PPT\用于PPT的图片\1-5.jpg">
            <a:extLst>
              <a:ext uri="{FF2B5EF4-FFF2-40B4-BE49-F238E27FC236}">
                <a16:creationId xmlns:a16="http://schemas.microsoft.com/office/drawing/2014/main" id="{6ABBAB4C-0FAE-4ECD-B2ED-9F610F7DFC5F}"/>
              </a:ext>
            </a:extLst>
          </p:cNvPr>
          <p:cNvPicPr>
            <a:picLocks noChangeAspect="1" noChangeArrowheads="1"/>
          </p:cNvPicPr>
          <p:nvPr/>
        </p:nvPicPr>
        <p:blipFill>
          <a:blip r:embed="rId3" cstate="print"/>
          <a:srcRect/>
          <a:stretch>
            <a:fillRect/>
          </a:stretch>
        </p:blipFill>
        <p:spPr bwMode="auto">
          <a:xfrm>
            <a:off x="367913" y="2766426"/>
            <a:ext cx="2448272" cy="1615144"/>
          </a:xfrm>
          <a:prstGeom prst="rect">
            <a:avLst/>
          </a:prstGeom>
          <a:noFill/>
        </p:spPr>
      </p:pic>
      <p:pic>
        <p:nvPicPr>
          <p:cNvPr id="12" name="Picture 2" descr="C:\Users\黄玉兰\Desktop\u=1823718001,4140712799&amp;fm=21&amp;gp=0.jpg">
            <a:extLst>
              <a:ext uri="{FF2B5EF4-FFF2-40B4-BE49-F238E27FC236}">
                <a16:creationId xmlns:a16="http://schemas.microsoft.com/office/drawing/2014/main" id="{F99F733A-79A4-491A-8E49-2651DA2971F6}"/>
              </a:ext>
            </a:extLst>
          </p:cNvPr>
          <p:cNvPicPr>
            <a:picLocks noChangeAspect="1" noChangeArrowheads="1"/>
          </p:cNvPicPr>
          <p:nvPr/>
        </p:nvPicPr>
        <p:blipFill>
          <a:blip r:embed="rId4" cstate="print">
            <a:duotone>
              <a:prstClr val="black"/>
              <a:schemeClr val="accent2">
                <a:tint val="45000"/>
                <a:satMod val="400000"/>
              </a:schemeClr>
            </a:duotone>
          </a:blip>
          <a:srcRect r="2392"/>
          <a:stretch>
            <a:fillRect/>
          </a:stretch>
        </p:blipFill>
        <p:spPr bwMode="auto">
          <a:xfrm>
            <a:off x="2515185" y="3666606"/>
            <a:ext cx="3312368" cy="2556777"/>
          </a:xfrm>
          <a:prstGeom prst="rect">
            <a:avLst/>
          </a:prstGeom>
          <a:noFill/>
        </p:spPr>
      </p:pic>
      <p:pic>
        <p:nvPicPr>
          <p:cNvPr id="13" name="Picture 2" descr="D:\黄玉兰2015-10-15\教材11-物联网-射频识别（RFID）核心技术教程\新图和PPT\用于PPT的图片\1-4.jpg">
            <a:extLst>
              <a:ext uri="{FF2B5EF4-FFF2-40B4-BE49-F238E27FC236}">
                <a16:creationId xmlns:a16="http://schemas.microsoft.com/office/drawing/2014/main" id="{35606BE5-43C8-4707-B86D-589978EE424C}"/>
              </a:ext>
            </a:extLst>
          </p:cNvPr>
          <p:cNvPicPr>
            <a:picLocks noChangeAspect="1" noChangeArrowheads="1"/>
          </p:cNvPicPr>
          <p:nvPr/>
        </p:nvPicPr>
        <p:blipFill>
          <a:blip r:embed="rId5" cstate="print"/>
          <a:srcRect/>
          <a:stretch>
            <a:fillRect/>
          </a:stretch>
        </p:blipFill>
        <p:spPr bwMode="auto">
          <a:xfrm>
            <a:off x="5724128" y="3024063"/>
            <a:ext cx="3245618" cy="2232248"/>
          </a:xfrm>
          <a:prstGeom prst="rect">
            <a:avLst/>
          </a:prstGeom>
          <a:noFill/>
        </p:spPr>
      </p:pic>
    </p:spTree>
    <p:extLst>
      <p:ext uri="{BB962C8B-B14F-4D97-AF65-F5344CB8AC3E}">
        <p14:creationId xmlns:p14="http://schemas.microsoft.com/office/powerpoint/2010/main" val="12337485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副标题 4"/>
          <p:cNvSpPr>
            <a:spLocks noGrp="1"/>
          </p:cNvSpPr>
          <p:nvPr>
            <p:ph type="subTitle" idx="1"/>
          </p:nvPr>
        </p:nvSpPr>
        <p:spPr>
          <a:xfrm>
            <a:off x="421506" y="926697"/>
            <a:ext cx="8300989" cy="5171108"/>
          </a:xfrm>
        </p:spPr>
        <p:txBody>
          <a:bodyPr>
            <a:noAutofit/>
          </a:bodyPr>
          <a:lstStyle/>
          <a:p>
            <a:pPr lvl="0" algn="l"/>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RFID</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技术首先在美国的公路自动收费系统得到了广泛应用</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社区和校园大门控制系统</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也</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开始使用射频识别系统。世界汽车行业也开始使用射频识别系统</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pPr>
            <a:endParaRPr lang="en-US" altLang="zh-CN" sz="2268" dirty="0"/>
          </a:p>
          <a:p>
            <a:endParaRPr lang="zh-CN" altLang="zh-CN" sz="2268" dirty="0"/>
          </a:p>
        </p:txBody>
      </p:sp>
      <p:pic>
        <p:nvPicPr>
          <p:cNvPr id="15" name="Picture 3"/>
          <p:cNvPicPr>
            <a:picLocks noChangeAspect="1" noChangeArrowheads="1"/>
          </p:cNvPicPr>
          <p:nvPr/>
        </p:nvPicPr>
        <p:blipFill>
          <a:blip r:embed="rId2" cstate="print">
            <a:duotone>
              <a:schemeClr val="accent5">
                <a:shade val="45000"/>
                <a:satMod val="135000"/>
              </a:schemeClr>
              <a:prstClr val="white"/>
            </a:duotone>
          </a:blip>
          <a:srcRect/>
          <a:stretch>
            <a:fillRect/>
          </a:stretch>
        </p:blipFill>
        <p:spPr bwMode="auto">
          <a:xfrm>
            <a:off x="5152812" y="2016652"/>
            <a:ext cx="3129881" cy="925568"/>
          </a:xfrm>
          <a:prstGeom prst="rect">
            <a:avLst/>
          </a:prstGeom>
          <a:noFill/>
          <a:ln w="9525" cmpd="sng">
            <a:noFill/>
            <a:miter lim="800000"/>
            <a:headEnd/>
            <a:tailEnd/>
          </a:ln>
        </p:spPr>
      </p:pic>
      <p:pic>
        <p:nvPicPr>
          <p:cNvPr id="6146" name="Picture 2" descr="D:\黄玉兰2015-10-15\教材11-物联网-射频识别（RFID）核心技术教程\新图和PPT\用于PPT的图片\1-3.jpg"/>
          <p:cNvPicPr>
            <a:picLocks noChangeAspect="1" noChangeArrowheads="1"/>
          </p:cNvPicPr>
          <p:nvPr/>
        </p:nvPicPr>
        <p:blipFill>
          <a:blip r:embed="rId3" cstate="print">
            <a:duotone>
              <a:prstClr val="black"/>
              <a:schemeClr val="accent5">
                <a:tint val="45000"/>
                <a:satMod val="400000"/>
              </a:schemeClr>
            </a:duotone>
          </a:blip>
          <a:srcRect/>
          <a:stretch>
            <a:fillRect/>
          </a:stretch>
        </p:blipFill>
        <p:spPr bwMode="auto">
          <a:xfrm>
            <a:off x="4644008" y="3537955"/>
            <a:ext cx="3582474" cy="2313032"/>
          </a:xfrm>
          <a:prstGeom prst="rect">
            <a:avLst/>
          </a:prstGeom>
          <a:noFill/>
        </p:spPr>
      </p:pic>
      <p:sp>
        <p:nvSpPr>
          <p:cNvPr id="16" name="Rectangle 2">
            <a:extLst>
              <a:ext uri="{FF2B5EF4-FFF2-40B4-BE49-F238E27FC236}">
                <a16:creationId xmlns:a16="http://schemas.microsoft.com/office/drawing/2014/main" id="{070B2629-0BAB-4C36-9F27-C75E6B7BA3BA}"/>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pic>
        <p:nvPicPr>
          <p:cNvPr id="4" name="图片 3">
            <a:extLst>
              <a:ext uri="{FF2B5EF4-FFF2-40B4-BE49-F238E27FC236}">
                <a16:creationId xmlns:a16="http://schemas.microsoft.com/office/drawing/2014/main" id="{E1C680D5-8462-4C5F-928D-F0E451A05DE2}"/>
              </a:ext>
            </a:extLst>
          </p:cNvPr>
          <p:cNvPicPr>
            <a:picLocks noChangeAspect="1"/>
          </p:cNvPicPr>
          <p:nvPr/>
        </p:nvPicPr>
        <p:blipFill>
          <a:blip r:embed="rId4"/>
          <a:stretch>
            <a:fillRect/>
          </a:stretch>
        </p:blipFill>
        <p:spPr>
          <a:xfrm>
            <a:off x="883243" y="2479436"/>
            <a:ext cx="3034308" cy="252454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D:\黄玉兰2015-10-15\教材8-物联网概论\物联网概论全稿\图\第4章\4.16.jpg"/>
          <p:cNvPicPr>
            <a:picLocks noChangeAspect="1" noChangeArrowheads="1"/>
          </p:cNvPicPr>
          <p:nvPr/>
        </p:nvPicPr>
        <p:blipFill>
          <a:blip r:embed="rId2" cstate="print"/>
          <a:srcRect/>
          <a:stretch>
            <a:fillRect/>
          </a:stretch>
        </p:blipFill>
        <p:spPr bwMode="auto">
          <a:xfrm>
            <a:off x="4708082" y="858656"/>
            <a:ext cx="3402045" cy="1842240"/>
          </a:xfrm>
          <a:prstGeom prst="rect">
            <a:avLst/>
          </a:prstGeom>
          <a:noFill/>
        </p:spPr>
      </p:pic>
      <p:sp>
        <p:nvSpPr>
          <p:cNvPr id="14" name="Text Box 9"/>
          <p:cNvSpPr txBox="1">
            <a:spLocks noChangeArrowheads="1"/>
          </p:cNvSpPr>
          <p:nvPr/>
        </p:nvSpPr>
        <p:spPr bwMode="auto">
          <a:xfrm>
            <a:off x="7633840" y="3035964"/>
            <a:ext cx="1020613" cy="964880"/>
          </a:xfrm>
          <a:prstGeom prst="rect">
            <a:avLst/>
          </a:prstGeom>
          <a:solidFill>
            <a:srgbClr val="FFC000"/>
          </a:solidFill>
          <a:ln w="9525">
            <a:noFill/>
            <a:miter lim="800000"/>
            <a:headEnd/>
            <a:tailEnd/>
          </a:ln>
          <a:effectLst/>
        </p:spPr>
        <p:txBody>
          <a:bodyPr wrap="square">
            <a:spAutoFit/>
          </a:bodyPr>
          <a:lstStyle/>
          <a:p>
            <a:pPr algn="ctr">
              <a:spcBef>
                <a:spcPct val="50000"/>
              </a:spcBef>
            </a:pPr>
            <a:r>
              <a:rPr lang="en-US" altLang="zh-CN" sz="1890" b="1" dirty="0"/>
              <a:t>ETC</a:t>
            </a:r>
            <a:r>
              <a:rPr lang="zh-CN" altLang="en-US" sz="1890" b="1" dirty="0"/>
              <a:t>不停车收费</a:t>
            </a:r>
          </a:p>
        </p:txBody>
      </p:sp>
      <p:pic>
        <p:nvPicPr>
          <p:cNvPr id="1026" name="Picture 2" descr="D:\黄玉兰2015-10-15\教材11-物联网-射频识别（RFID）核心技术教程\新图和PPT\用于PPT的图片\1-.png"/>
          <p:cNvPicPr>
            <a:picLocks noChangeAspect="1" noChangeArrowheads="1"/>
          </p:cNvPicPr>
          <p:nvPr/>
        </p:nvPicPr>
        <p:blipFill>
          <a:blip r:embed="rId3" cstate="print"/>
          <a:srcRect/>
          <a:stretch>
            <a:fillRect/>
          </a:stretch>
        </p:blipFill>
        <p:spPr bwMode="auto">
          <a:xfrm>
            <a:off x="489547" y="2695760"/>
            <a:ext cx="7200194" cy="3402092"/>
          </a:xfrm>
          <a:prstGeom prst="rect">
            <a:avLst/>
          </a:prstGeom>
          <a:noFill/>
        </p:spPr>
      </p:pic>
      <p:pic>
        <p:nvPicPr>
          <p:cNvPr id="1027" name="Picture 3" descr="D:\黄玉兰2015-10-15\教材11-物联网-射频识别（RFID）核心技术教程\新图和PPT\用于PPT的图片\1-2.jpg"/>
          <p:cNvPicPr>
            <a:picLocks noChangeAspect="1" noChangeArrowheads="1"/>
          </p:cNvPicPr>
          <p:nvPr/>
        </p:nvPicPr>
        <p:blipFill>
          <a:blip r:embed="rId4" cstate="print"/>
          <a:srcRect/>
          <a:stretch>
            <a:fillRect/>
          </a:stretch>
        </p:blipFill>
        <p:spPr bwMode="auto">
          <a:xfrm>
            <a:off x="625629" y="790615"/>
            <a:ext cx="3249088" cy="1980053"/>
          </a:xfrm>
          <a:prstGeom prst="rect">
            <a:avLst/>
          </a:prstGeom>
          <a:noFill/>
        </p:spPr>
      </p:pic>
      <p:sp>
        <p:nvSpPr>
          <p:cNvPr id="15" name="Rectangle 2">
            <a:extLst>
              <a:ext uri="{FF2B5EF4-FFF2-40B4-BE49-F238E27FC236}">
                <a16:creationId xmlns:a16="http://schemas.microsoft.com/office/drawing/2014/main" id="{1FE5EF4B-0DBC-431C-B0DF-6AC8842A9CCD}"/>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8EBDB1CB-25C9-4EC9-B03C-F2DA5B7A77E2}"/>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A60813D4-AA9D-419B-B4FD-B74BDDAE86DA}" type="slidenum">
              <a:rPr lang="en-US" altLang="ko-KR" sz="1323">
                <a:latin typeface="Times New Roman" panose="02020603050405020304" pitchFamily="18" charset="0"/>
                <a:ea typeface="-소망M" pitchFamily="18" charset="-127"/>
              </a:rPr>
              <a:pPr eaLnBrk="1" hangingPunct="1"/>
              <a:t>21</a:t>
            </a:fld>
            <a:endParaRPr lang="en-US" altLang="ko-KR" sz="1323">
              <a:latin typeface="Times New Roman" panose="02020603050405020304" pitchFamily="18" charset="0"/>
              <a:ea typeface="-소망M" pitchFamily="18" charset="-127"/>
            </a:endParaRPr>
          </a:p>
        </p:txBody>
      </p:sp>
      <p:sp>
        <p:nvSpPr>
          <p:cNvPr id="30724" name="Rectangle 3">
            <a:extLst>
              <a:ext uri="{FF2B5EF4-FFF2-40B4-BE49-F238E27FC236}">
                <a16:creationId xmlns:a16="http://schemas.microsoft.com/office/drawing/2014/main" id="{AC129511-1C96-475C-9DA3-5AD7E8791C67}"/>
              </a:ext>
            </a:extLst>
          </p:cNvPr>
          <p:cNvSpPr>
            <a:spLocks noGrp="1" noChangeArrowheads="1"/>
          </p:cNvSpPr>
          <p:nvPr>
            <p:ph type="body" idx="1"/>
          </p:nvPr>
        </p:nvSpPr>
        <p:spPr>
          <a:xfrm>
            <a:off x="899901" y="719807"/>
            <a:ext cx="7344198" cy="5112568"/>
          </a:xfrm>
        </p:spPr>
        <p:txBody>
          <a:bodyPr/>
          <a:lstStyle/>
          <a:p>
            <a:pPr eaLnBrk="1" hangingPunct="1"/>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技术的发展历程 </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技术的</a:t>
            </a:r>
            <a:r>
              <a:rPr lang="zh-CN" altLang="en-US"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普及阶段。</a:t>
            </a:r>
            <a:endParaRPr lang="en-US" altLang="zh-CN"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50000"/>
              </a:lnSpc>
              <a:buNone/>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随着物联网的大规模普及。</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种类更加丰富。</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技术在</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世纪掀起一场新的技术革命，随着技术的不断进步，射频识别已经成为人们日常生活的一部分。</a:t>
            </a:r>
          </a:p>
          <a:p>
            <a:pPr marL="457200" lvl="1" indent="0" eaLnBrk="1" hangingPunct="1">
              <a:lnSpc>
                <a:spcPct val="150000"/>
              </a:lnSpc>
              <a:buNone/>
            </a:pP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2">
            <a:extLst>
              <a:ext uri="{FF2B5EF4-FFF2-40B4-BE49-F238E27FC236}">
                <a16:creationId xmlns:a16="http://schemas.microsoft.com/office/drawing/2014/main" id="{1515DC56-9AFD-43B5-A36F-E5A1868E8BBB}"/>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Tree>
    <p:extLst>
      <p:ext uri="{BB962C8B-B14F-4D97-AF65-F5344CB8AC3E}">
        <p14:creationId xmlns:p14="http://schemas.microsoft.com/office/powerpoint/2010/main" val="803409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77117B31-9DED-42B5-9387-BF84683DF23A}"/>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ADDF704C-9CA7-4C7C-8B36-D8907736AE51}" type="slidenum">
              <a:rPr lang="en-US" altLang="ko-KR" sz="1323">
                <a:latin typeface="Times New Roman" panose="02020603050405020304" pitchFamily="18" charset="0"/>
                <a:ea typeface="-소망M" pitchFamily="18" charset="-127"/>
              </a:rPr>
              <a:pPr eaLnBrk="1" hangingPunct="1"/>
              <a:t>22</a:t>
            </a:fld>
            <a:endParaRPr lang="en-US" altLang="ko-KR" sz="1323">
              <a:latin typeface="Times New Roman" panose="02020603050405020304" pitchFamily="18" charset="0"/>
              <a:ea typeface="-소망M" pitchFamily="18" charset="-127"/>
            </a:endParaRPr>
          </a:p>
        </p:txBody>
      </p:sp>
      <p:graphicFrame>
        <p:nvGraphicFramePr>
          <p:cNvPr id="230404" name="Object 4">
            <a:extLst>
              <a:ext uri="{FF2B5EF4-FFF2-40B4-BE49-F238E27FC236}">
                <a16:creationId xmlns:a16="http://schemas.microsoft.com/office/drawing/2014/main" id="{2466E7B3-BD8B-47C5-8B7D-F219347C097D}"/>
              </a:ext>
            </a:extLst>
          </p:cNvPr>
          <p:cNvGraphicFramePr>
            <a:graphicFrameLocks noChangeAspect="1"/>
          </p:cNvGraphicFramePr>
          <p:nvPr>
            <p:extLst>
              <p:ext uri="{D42A27DB-BD31-4B8C-83A1-F6EECF244321}">
                <p14:modId xmlns:p14="http://schemas.microsoft.com/office/powerpoint/2010/main" val="1314184652"/>
              </p:ext>
            </p:extLst>
          </p:nvPr>
        </p:nvGraphicFramePr>
        <p:xfrm>
          <a:off x="1442165" y="1799927"/>
          <a:ext cx="6259670" cy="2437566"/>
        </p:xfrm>
        <a:graphic>
          <a:graphicData uri="http://schemas.openxmlformats.org/presentationml/2006/ole">
            <mc:AlternateContent xmlns:mc="http://schemas.openxmlformats.org/markup-compatibility/2006">
              <mc:Choice xmlns:v="urn:schemas-microsoft-com:vml" Requires="v">
                <p:oleObj spid="_x0000_s15382" name="Visio" r:id="rId3" imgW="2883713" imgH="1127455" progId="Visio.Drawing.11">
                  <p:embed/>
                </p:oleObj>
              </mc:Choice>
              <mc:Fallback>
                <p:oleObj name="Visio" r:id="rId3" imgW="2883713" imgH="1127455" progId="Visio.Drawing.11">
                  <p:embed/>
                  <p:pic>
                    <p:nvPicPr>
                      <p:cNvPr id="230404" name="Object 4">
                        <a:extLst>
                          <a:ext uri="{FF2B5EF4-FFF2-40B4-BE49-F238E27FC236}">
                            <a16:creationId xmlns:a16="http://schemas.microsoft.com/office/drawing/2014/main" id="{2466E7B3-BD8B-47C5-8B7D-F219347C09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2165" y="1799927"/>
                        <a:ext cx="6259670" cy="2437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2">
            <a:extLst>
              <a:ext uri="{FF2B5EF4-FFF2-40B4-BE49-F238E27FC236}">
                <a16:creationId xmlns:a16="http://schemas.microsoft.com/office/drawing/2014/main" id="{30FC811B-E609-4F43-AF7A-6CEA3612697E}"/>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
        <p:nvSpPr>
          <p:cNvPr id="8" name="Rectangle 3">
            <a:extLst>
              <a:ext uri="{FF2B5EF4-FFF2-40B4-BE49-F238E27FC236}">
                <a16:creationId xmlns:a16="http://schemas.microsoft.com/office/drawing/2014/main" id="{B05C34D8-F5B6-4F91-A401-51088579A4FA}"/>
              </a:ext>
            </a:extLst>
          </p:cNvPr>
          <p:cNvSpPr txBox="1">
            <a:spLocks noChangeArrowheads="1"/>
          </p:cNvSpPr>
          <p:nvPr/>
        </p:nvSpPr>
        <p:spPr bwMode="auto">
          <a:xfrm>
            <a:off x="776614" y="848712"/>
            <a:ext cx="2765993" cy="44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的工作原理</a:t>
            </a:r>
          </a:p>
        </p:txBody>
      </p:sp>
    </p:spTree>
    <p:extLst>
      <p:ext uri="{BB962C8B-B14F-4D97-AF65-F5344CB8AC3E}">
        <p14:creationId xmlns:p14="http://schemas.microsoft.com/office/powerpoint/2010/main" val="13977947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70E1CF5B-C741-461F-A28D-F726BE484AC5}"/>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375FF9D0-66F6-41DA-964D-2B9056D2782A}" type="slidenum">
              <a:rPr lang="en-US" altLang="ko-KR" sz="1323">
                <a:latin typeface="Times New Roman" panose="02020603050405020304" pitchFamily="18" charset="0"/>
                <a:ea typeface="-소망M" pitchFamily="18" charset="-127"/>
              </a:rPr>
              <a:pPr eaLnBrk="1" hangingPunct="1"/>
              <a:t>23</a:t>
            </a:fld>
            <a:endParaRPr lang="en-US" altLang="ko-KR" sz="1323">
              <a:latin typeface="Times New Roman" panose="02020603050405020304" pitchFamily="18" charset="0"/>
              <a:ea typeface="-소망M" pitchFamily="18" charset="-127"/>
            </a:endParaRPr>
          </a:p>
        </p:txBody>
      </p:sp>
      <p:sp>
        <p:nvSpPr>
          <p:cNvPr id="9221" name="Rectangle 6">
            <a:extLst>
              <a:ext uri="{FF2B5EF4-FFF2-40B4-BE49-F238E27FC236}">
                <a16:creationId xmlns:a16="http://schemas.microsoft.com/office/drawing/2014/main" id="{3C2BD677-906D-43CE-8F7F-946732BB4169}"/>
              </a:ext>
            </a:extLst>
          </p:cNvPr>
          <p:cNvSpPr>
            <a:spLocks noChangeArrowheads="1"/>
          </p:cNvSpPr>
          <p:nvPr/>
        </p:nvSpPr>
        <p:spPr bwMode="auto">
          <a:xfrm>
            <a:off x="3385616" y="5418508"/>
            <a:ext cx="23727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r>
              <a:rPr lang="en-US" altLang="zh-CN" sz="2000" dirty="0">
                <a:latin typeface="微软雅黑" panose="020B0503020204020204" pitchFamily="34" charset="-122"/>
                <a:ea typeface="微软雅黑" panose="020B0503020204020204" pitchFamily="34" charset="-122"/>
              </a:rPr>
              <a:t>RFID</a:t>
            </a:r>
            <a:r>
              <a:rPr lang="zh-CN" altLang="en-US" sz="2000" dirty="0">
                <a:latin typeface="微软雅黑" panose="020B0503020204020204" pitchFamily="34" charset="-122"/>
                <a:ea typeface="微软雅黑" panose="020B0503020204020204" pitchFamily="34" charset="-122"/>
              </a:rPr>
              <a:t>的基本原理图 </a:t>
            </a:r>
          </a:p>
        </p:txBody>
      </p:sp>
      <p:pic>
        <p:nvPicPr>
          <p:cNvPr id="9222" name="Picture 9">
            <a:extLst>
              <a:ext uri="{FF2B5EF4-FFF2-40B4-BE49-F238E27FC236}">
                <a16:creationId xmlns:a16="http://schemas.microsoft.com/office/drawing/2014/main" id="{D448FD6D-7BD7-4C27-9363-198CE3E126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146" y="1165531"/>
            <a:ext cx="7687707" cy="414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a:extLst>
              <a:ext uri="{FF2B5EF4-FFF2-40B4-BE49-F238E27FC236}">
                <a16:creationId xmlns:a16="http://schemas.microsoft.com/office/drawing/2014/main" id="{057AAD55-29FF-4A82-813E-6DFA97A15152}"/>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
        <p:nvSpPr>
          <p:cNvPr id="8" name="Rectangle 3">
            <a:extLst>
              <a:ext uri="{FF2B5EF4-FFF2-40B4-BE49-F238E27FC236}">
                <a16:creationId xmlns:a16="http://schemas.microsoft.com/office/drawing/2014/main" id="{B95FD673-E5C9-424A-B2B4-47C0D5E29435}"/>
              </a:ext>
            </a:extLst>
          </p:cNvPr>
          <p:cNvSpPr txBox="1">
            <a:spLocks noChangeArrowheads="1"/>
          </p:cNvSpPr>
          <p:nvPr/>
        </p:nvSpPr>
        <p:spPr bwMode="auto">
          <a:xfrm>
            <a:off x="776614" y="848712"/>
            <a:ext cx="2765993" cy="44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的工作原理</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灯片编号占位符 5">
            <a:extLst>
              <a:ext uri="{FF2B5EF4-FFF2-40B4-BE49-F238E27FC236}">
                <a16:creationId xmlns:a16="http://schemas.microsoft.com/office/drawing/2014/main" id="{CB229DBC-609C-41B6-B2AC-E50F7609E266}"/>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83E2C695-7B67-4CFB-8E95-524E4F835260}" type="slidenum">
              <a:rPr lang="en-US" altLang="ko-KR" sz="1323">
                <a:latin typeface="Times New Roman" panose="02020603050405020304" pitchFamily="18" charset="0"/>
                <a:ea typeface="-소망M" pitchFamily="18" charset="-127"/>
              </a:rPr>
              <a:pPr eaLnBrk="1" hangingPunct="1"/>
              <a:t>24</a:t>
            </a:fld>
            <a:endParaRPr lang="en-US" altLang="ko-KR" sz="1323">
              <a:latin typeface="Times New Roman" panose="02020603050405020304" pitchFamily="18" charset="0"/>
              <a:ea typeface="-소망M" pitchFamily="18" charset="-127"/>
            </a:endParaRPr>
          </a:p>
        </p:txBody>
      </p:sp>
      <p:sp>
        <p:nvSpPr>
          <p:cNvPr id="10244" name="Rectangle 3">
            <a:extLst>
              <a:ext uri="{FF2B5EF4-FFF2-40B4-BE49-F238E27FC236}">
                <a16:creationId xmlns:a16="http://schemas.microsoft.com/office/drawing/2014/main" id="{CB88CFEC-E21B-42B4-97BA-94C3BB06C342}"/>
              </a:ext>
            </a:extLst>
          </p:cNvPr>
          <p:cNvSpPr>
            <a:spLocks noGrp="1" noChangeArrowheads="1"/>
          </p:cNvSpPr>
          <p:nvPr>
            <p:ph type="body" idx="1"/>
          </p:nvPr>
        </p:nvSpPr>
        <p:spPr>
          <a:xfrm>
            <a:off x="776614" y="848712"/>
            <a:ext cx="2765993" cy="447160"/>
          </a:xfrm>
        </p:spPr>
        <p:txBody>
          <a:bodyPr/>
          <a:lstStyle/>
          <a:p>
            <a:pPr eaLnBrk="1" hangingPunct="1"/>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的工作频率</a:t>
            </a:r>
          </a:p>
        </p:txBody>
      </p:sp>
      <p:sp>
        <p:nvSpPr>
          <p:cNvPr id="10245" name="Rectangle 49">
            <a:extLst>
              <a:ext uri="{FF2B5EF4-FFF2-40B4-BE49-F238E27FC236}">
                <a16:creationId xmlns:a16="http://schemas.microsoft.com/office/drawing/2014/main" id="{2E3E68F4-DDF5-4F28-8879-2B139C3E4CCB}"/>
              </a:ext>
            </a:extLst>
          </p:cNvPr>
          <p:cNvSpPr>
            <a:spLocks noChangeArrowheads="1"/>
          </p:cNvSpPr>
          <p:nvPr/>
        </p:nvSpPr>
        <p:spPr bwMode="auto">
          <a:xfrm>
            <a:off x="3542607" y="5788719"/>
            <a:ext cx="20553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r>
              <a:rPr lang="zh-CN" altLang="en-US" sz="2000" dirty="0">
                <a:latin typeface="微软雅黑" panose="020B0503020204020204" pitchFamily="34" charset="-122"/>
                <a:ea typeface="微软雅黑" panose="020B0503020204020204" pitchFamily="34" charset="-122"/>
              </a:rPr>
              <a:t>工作频率分布图 </a:t>
            </a:r>
          </a:p>
        </p:txBody>
      </p:sp>
      <p:sp>
        <p:nvSpPr>
          <p:cNvPr id="10246" name="Line 51">
            <a:extLst>
              <a:ext uri="{FF2B5EF4-FFF2-40B4-BE49-F238E27FC236}">
                <a16:creationId xmlns:a16="http://schemas.microsoft.com/office/drawing/2014/main" id="{54354CAC-A786-4517-A117-1D55E5CCB65D}"/>
              </a:ext>
            </a:extLst>
          </p:cNvPr>
          <p:cNvSpPr>
            <a:spLocks noChangeShapeType="1"/>
          </p:cNvSpPr>
          <p:nvPr/>
        </p:nvSpPr>
        <p:spPr bwMode="auto">
          <a:xfrm flipV="1">
            <a:off x="4226991" y="3277589"/>
            <a:ext cx="4501" cy="162904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47" name="Line 52">
            <a:extLst>
              <a:ext uri="{FF2B5EF4-FFF2-40B4-BE49-F238E27FC236}">
                <a16:creationId xmlns:a16="http://schemas.microsoft.com/office/drawing/2014/main" id="{C27F6476-24F4-4F3F-8AAD-E9BF0BBAC2A2}"/>
              </a:ext>
            </a:extLst>
          </p:cNvPr>
          <p:cNvSpPr>
            <a:spLocks noChangeShapeType="1"/>
          </p:cNvSpPr>
          <p:nvPr/>
        </p:nvSpPr>
        <p:spPr bwMode="auto">
          <a:xfrm flipV="1">
            <a:off x="2228937" y="3277588"/>
            <a:ext cx="0" cy="163054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48" name="Line 53">
            <a:extLst>
              <a:ext uri="{FF2B5EF4-FFF2-40B4-BE49-F238E27FC236}">
                <a16:creationId xmlns:a16="http://schemas.microsoft.com/office/drawing/2014/main" id="{72A27794-4D4B-4DDC-8598-B3E3C5645694}"/>
              </a:ext>
            </a:extLst>
          </p:cNvPr>
          <p:cNvSpPr>
            <a:spLocks noChangeShapeType="1"/>
          </p:cNvSpPr>
          <p:nvPr/>
        </p:nvSpPr>
        <p:spPr bwMode="auto">
          <a:xfrm flipV="1">
            <a:off x="5815534" y="3087083"/>
            <a:ext cx="0" cy="181955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49" name="Line 54">
            <a:extLst>
              <a:ext uri="{FF2B5EF4-FFF2-40B4-BE49-F238E27FC236}">
                <a16:creationId xmlns:a16="http://schemas.microsoft.com/office/drawing/2014/main" id="{2B8049B0-FF2D-4A17-98B1-095AA24E7887}"/>
              </a:ext>
            </a:extLst>
          </p:cNvPr>
          <p:cNvSpPr>
            <a:spLocks noChangeShapeType="1"/>
          </p:cNvSpPr>
          <p:nvPr/>
        </p:nvSpPr>
        <p:spPr bwMode="auto">
          <a:xfrm flipV="1">
            <a:off x="5557527" y="4230114"/>
            <a:ext cx="0" cy="661518"/>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3527" name="Rectangle 55">
            <a:extLst>
              <a:ext uri="{FF2B5EF4-FFF2-40B4-BE49-F238E27FC236}">
                <a16:creationId xmlns:a16="http://schemas.microsoft.com/office/drawing/2014/main" id="{9F56038F-5F6E-4F98-A5F1-E09CEB4B9A8F}"/>
              </a:ext>
            </a:extLst>
          </p:cNvPr>
          <p:cNvSpPr>
            <a:spLocks noChangeArrowheads="1"/>
          </p:cNvSpPr>
          <p:nvPr/>
        </p:nvSpPr>
        <p:spPr bwMode="auto">
          <a:xfrm>
            <a:off x="1067906" y="5256142"/>
            <a:ext cx="608951" cy="213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3881" tIns="21552" rIns="53881" bIns="21552">
            <a:spAutoFit/>
          </a:bodyPr>
          <a:lstStyle/>
          <a:p>
            <a:pPr defTabSz="775515" eaLnBrk="0" hangingPunct="0">
              <a:lnSpc>
                <a:spcPct val="90000"/>
              </a:lnSpc>
              <a:defRPr/>
            </a:pPr>
            <a:r>
              <a:rPr lang="en-US" sz="1228" b="1">
                <a:solidFill>
                  <a:srgbClr val="000099"/>
                </a:solidFill>
                <a:effectLst>
                  <a:outerShdw blurRad="38100" dist="38100" dir="2700000" algn="tl">
                    <a:srgbClr val="C0C0C0"/>
                  </a:outerShdw>
                </a:effectLst>
                <a:cs typeface="宋体" pitchFamily="2" charset="-122"/>
              </a:rPr>
              <a:t>10 kHz</a:t>
            </a:r>
          </a:p>
        </p:txBody>
      </p:sp>
      <p:sp>
        <p:nvSpPr>
          <p:cNvPr id="233528" name="Rectangle 56">
            <a:extLst>
              <a:ext uri="{FF2B5EF4-FFF2-40B4-BE49-F238E27FC236}">
                <a16:creationId xmlns:a16="http://schemas.microsoft.com/office/drawing/2014/main" id="{F42B9F90-0837-4480-99D3-6F5C2A45EFC6}"/>
              </a:ext>
            </a:extLst>
          </p:cNvPr>
          <p:cNvSpPr>
            <a:spLocks noChangeArrowheads="1"/>
          </p:cNvSpPr>
          <p:nvPr/>
        </p:nvSpPr>
        <p:spPr bwMode="auto">
          <a:xfrm>
            <a:off x="1933429" y="5256142"/>
            <a:ext cx="697117" cy="213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3881" tIns="21552" rIns="53881" bIns="21552">
            <a:spAutoFit/>
          </a:bodyPr>
          <a:lstStyle/>
          <a:p>
            <a:pPr defTabSz="775515" eaLnBrk="0" hangingPunct="0">
              <a:lnSpc>
                <a:spcPct val="90000"/>
              </a:lnSpc>
              <a:defRPr/>
            </a:pPr>
            <a:r>
              <a:rPr lang="en-US" sz="1228" b="1">
                <a:solidFill>
                  <a:srgbClr val="000099"/>
                </a:solidFill>
                <a:effectLst>
                  <a:outerShdw blurRad="38100" dist="38100" dir="2700000" algn="tl">
                    <a:srgbClr val="C0C0C0"/>
                  </a:outerShdw>
                </a:effectLst>
                <a:cs typeface="宋体" pitchFamily="2" charset="-122"/>
              </a:rPr>
              <a:t>100 kHz</a:t>
            </a:r>
          </a:p>
        </p:txBody>
      </p:sp>
      <p:sp>
        <p:nvSpPr>
          <p:cNvPr id="233529" name="Rectangle 57">
            <a:extLst>
              <a:ext uri="{FF2B5EF4-FFF2-40B4-BE49-F238E27FC236}">
                <a16:creationId xmlns:a16="http://schemas.microsoft.com/office/drawing/2014/main" id="{81AD2C18-6F1C-44C2-99A6-BE834B92A6BD}"/>
              </a:ext>
            </a:extLst>
          </p:cNvPr>
          <p:cNvSpPr>
            <a:spLocks noChangeArrowheads="1"/>
          </p:cNvSpPr>
          <p:nvPr/>
        </p:nvSpPr>
        <p:spPr bwMode="auto">
          <a:xfrm>
            <a:off x="2918955" y="5256142"/>
            <a:ext cx="559516" cy="211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3881" tIns="21552" rIns="53881" bIns="21552">
            <a:spAutoFit/>
          </a:bodyPr>
          <a:lstStyle/>
          <a:p>
            <a:pPr defTabSz="775515" eaLnBrk="0" hangingPunct="0">
              <a:lnSpc>
                <a:spcPct val="90000"/>
              </a:lnSpc>
              <a:defRPr/>
            </a:pPr>
            <a:r>
              <a:rPr lang="en-US" sz="1228" b="1">
                <a:solidFill>
                  <a:srgbClr val="000099"/>
                </a:solidFill>
                <a:effectLst>
                  <a:outerShdw blurRad="38100" dist="38100" dir="2700000" algn="tl">
                    <a:srgbClr val="C0C0C0"/>
                  </a:outerShdw>
                </a:effectLst>
                <a:cs typeface="宋体" pitchFamily="2" charset="-122"/>
              </a:rPr>
              <a:t>1 MHz</a:t>
            </a:r>
          </a:p>
        </p:txBody>
      </p:sp>
      <p:sp>
        <p:nvSpPr>
          <p:cNvPr id="233530" name="Rectangle 58">
            <a:extLst>
              <a:ext uri="{FF2B5EF4-FFF2-40B4-BE49-F238E27FC236}">
                <a16:creationId xmlns:a16="http://schemas.microsoft.com/office/drawing/2014/main" id="{F6ED1830-0C7E-4E45-896C-CBDE53AD5977}"/>
              </a:ext>
            </a:extLst>
          </p:cNvPr>
          <p:cNvSpPr>
            <a:spLocks noChangeArrowheads="1"/>
          </p:cNvSpPr>
          <p:nvPr/>
        </p:nvSpPr>
        <p:spPr bwMode="auto">
          <a:xfrm>
            <a:off x="3796480" y="5245642"/>
            <a:ext cx="652233" cy="213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3881" tIns="21552" rIns="53881" bIns="21552">
            <a:spAutoFit/>
          </a:bodyPr>
          <a:lstStyle/>
          <a:p>
            <a:pPr defTabSz="775515" eaLnBrk="0" hangingPunct="0">
              <a:lnSpc>
                <a:spcPct val="90000"/>
              </a:lnSpc>
              <a:defRPr/>
            </a:pPr>
            <a:r>
              <a:rPr lang="en-US" sz="1228" b="1">
                <a:solidFill>
                  <a:srgbClr val="000099"/>
                </a:solidFill>
                <a:effectLst>
                  <a:outerShdw blurRad="38100" dist="38100" dir="2700000" algn="tl">
                    <a:srgbClr val="C0C0C0"/>
                  </a:outerShdw>
                </a:effectLst>
                <a:cs typeface="宋体" pitchFamily="2" charset="-122"/>
              </a:rPr>
              <a:t>10 MHz</a:t>
            </a:r>
          </a:p>
        </p:txBody>
      </p:sp>
      <p:sp>
        <p:nvSpPr>
          <p:cNvPr id="233531" name="Rectangle 59">
            <a:extLst>
              <a:ext uri="{FF2B5EF4-FFF2-40B4-BE49-F238E27FC236}">
                <a16:creationId xmlns:a16="http://schemas.microsoft.com/office/drawing/2014/main" id="{24B0F657-4B7D-47F2-BDA5-4120242CF5D2}"/>
              </a:ext>
            </a:extLst>
          </p:cNvPr>
          <p:cNvSpPr>
            <a:spLocks noChangeArrowheads="1"/>
          </p:cNvSpPr>
          <p:nvPr/>
        </p:nvSpPr>
        <p:spPr bwMode="auto">
          <a:xfrm>
            <a:off x="4662003" y="5256142"/>
            <a:ext cx="733520" cy="211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3881" tIns="21552" rIns="53881" bIns="21552">
            <a:spAutoFit/>
          </a:bodyPr>
          <a:lstStyle/>
          <a:p>
            <a:pPr defTabSz="775515" eaLnBrk="0" hangingPunct="0">
              <a:lnSpc>
                <a:spcPct val="90000"/>
              </a:lnSpc>
              <a:defRPr/>
            </a:pPr>
            <a:r>
              <a:rPr lang="en-US" sz="1228" b="1">
                <a:solidFill>
                  <a:srgbClr val="000099"/>
                </a:solidFill>
                <a:effectLst>
                  <a:outerShdw blurRad="38100" dist="38100" dir="2700000" algn="tl">
                    <a:srgbClr val="C0C0C0"/>
                  </a:outerShdw>
                </a:effectLst>
                <a:cs typeface="宋体" pitchFamily="2" charset="-122"/>
              </a:rPr>
              <a:t>100 MHz</a:t>
            </a:r>
          </a:p>
        </p:txBody>
      </p:sp>
      <p:sp>
        <p:nvSpPr>
          <p:cNvPr id="233532" name="Rectangle 60">
            <a:extLst>
              <a:ext uri="{FF2B5EF4-FFF2-40B4-BE49-F238E27FC236}">
                <a16:creationId xmlns:a16="http://schemas.microsoft.com/office/drawing/2014/main" id="{67AE82ED-0ADD-4DA8-B5FF-927239257825}"/>
              </a:ext>
            </a:extLst>
          </p:cNvPr>
          <p:cNvSpPr>
            <a:spLocks noChangeArrowheads="1"/>
          </p:cNvSpPr>
          <p:nvPr/>
        </p:nvSpPr>
        <p:spPr bwMode="auto">
          <a:xfrm>
            <a:off x="5673030" y="5256141"/>
            <a:ext cx="828563" cy="213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3881" tIns="21552" rIns="53881" bIns="21552">
            <a:spAutoFit/>
          </a:bodyPr>
          <a:lstStyle/>
          <a:p>
            <a:pPr defTabSz="775515" eaLnBrk="0" hangingPunct="0">
              <a:lnSpc>
                <a:spcPct val="90000"/>
              </a:lnSpc>
              <a:defRPr/>
            </a:pPr>
            <a:r>
              <a:rPr lang="en-US" sz="1228" b="1">
                <a:solidFill>
                  <a:srgbClr val="000099"/>
                </a:solidFill>
                <a:effectLst>
                  <a:outerShdw blurRad="38100" dist="38100" dir="2700000" algn="tl">
                    <a:srgbClr val="C0C0C0"/>
                  </a:outerShdw>
                </a:effectLst>
                <a:cs typeface="宋体" pitchFamily="2" charset="-122"/>
              </a:rPr>
              <a:t>1000 MHz</a:t>
            </a:r>
          </a:p>
        </p:txBody>
      </p:sp>
      <p:sp>
        <p:nvSpPr>
          <p:cNvPr id="233533" name="Rectangle 61">
            <a:extLst>
              <a:ext uri="{FF2B5EF4-FFF2-40B4-BE49-F238E27FC236}">
                <a16:creationId xmlns:a16="http://schemas.microsoft.com/office/drawing/2014/main" id="{E66CCF06-B0D4-4A45-8933-F91A991C7B6E}"/>
              </a:ext>
            </a:extLst>
          </p:cNvPr>
          <p:cNvSpPr>
            <a:spLocks noChangeArrowheads="1"/>
          </p:cNvSpPr>
          <p:nvPr/>
        </p:nvSpPr>
        <p:spPr bwMode="auto">
          <a:xfrm>
            <a:off x="7300575" y="5256141"/>
            <a:ext cx="730780" cy="213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3881" tIns="21552" rIns="53881" bIns="21552">
            <a:spAutoFit/>
          </a:bodyPr>
          <a:lstStyle/>
          <a:p>
            <a:pPr defTabSz="775515" eaLnBrk="0" hangingPunct="0">
              <a:lnSpc>
                <a:spcPct val="90000"/>
              </a:lnSpc>
              <a:defRPr/>
            </a:pPr>
            <a:r>
              <a:rPr lang="en-US" sz="1228" b="1">
                <a:solidFill>
                  <a:srgbClr val="000099"/>
                </a:solidFill>
                <a:effectLst>
                  <a:outerShdw blurRad="38100" dist="38100" dir="2700000" algn="tl">
                    <a:srgbClr val="C0C0C0"/>
                  </a:outerShdw>
                </a:effectLst>
                <a:cs typeface="宋体" pitchFamily="2" charset="-122"/>
              </a:rPr>
              <a:t>300 GHz</a:t>
            </a:r>
          </a:p>
        </p:txBody>
      </p:sp>
      <p:sp>
        <p:nvSpPr>
          <p:cNvPr id="10257" name="Line 62">
            <a:extLst>
              <a:ext uri="{FF2B5EF4-FFF2-40B4-BE49-F238E27FC236}">
                <a16:creationId xmlns:a16="http://schemas.microsoft.com/office/drawing/2014/main" id="{B39E3D97-AD1B-40E4-BAAB-0436DF9B3553}"/>
              </a:ext>
            </a:extLst>
          </p:cNvPr>
          <p:cNvSpPr>
            <a:spLocks noChangeShapeType="1"/>
          </p:cNvSpPr>
          <p:nvPr/>
        </p:nvSpPr>
        <p:spPr bwMode="auto">
          <a:xfrm flipV="1">
            <a:off x="5329521" y="4674126"/>
            <a:ext cx="0" cy="214506"/>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8" name="Line 63">
            <a:extLst>
              <a:ext uri="{FF2B5EF4-FFF2-40B4-BE49-F238E27FC236}">
                <a16:creationId xmlns:a16="http://schemas.microsoft.com/office/drawing/2014/main" id="{B85AD3EF-33F9-43DE-AF85-D31BE392876A}"/>
              </a:ext>
            </a:extLst>
          </p:cNvPr>
          <p:cNvSpPr>
            <a:spLocks noChangeShapeType="1"/>
          </p:cNvSpPr>
          <p:nvPr/>
        </p:nvSpPr>
        <p:spPr bwMode="auto">
          <a:xfrm flipV="1">
            <a:off x="5905536" y="4006608"/>
            <a:ext cx="0" cy="88202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3536" name="Rectangle 64">
            <a:extLst>
              <a:ext uri="{FF2B5EF4-FFF2-40B4-BE49-F238E27FC236}">
                <a16:creationId xmlns:a16="http://schemas.microsoft.com/office/drawing/2014/main" id="{DEF14AEB-C909-47B4-9AAD-F5136090D8D3}"/>
              </a:ext>
            </a:extLst>
          </p:cNvPr>
          <p:cNvSpPr>
            <a:spLocks noChangeArrowheads="1"/>
          </p:cNvSpPr>
          <p:nvPr/>
        </p:nvSpPr>
        <p:spPr bwMode="auto">
          <a:xfrm>
            <a:off x="6010218" y="3737609"/>
            <a:ext cx="318808" cy="204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3881" tIns="21552" rIns="53881" bIns="21552">
            <a:spAutoFit/>
          </a:bodyPr>
          <a:lstStyle/>
          <a:p>
            <a:pPr defTabSz="775515" eaLnBrk="0" hangingPunct="0">
              <a:lnSpc>
                <a:spcPct val="85000"/>
              </a:lnSpc>
              <a:defRPr/>
            </a:pPr>
            <a:r>
              <a:rPr lang="en-US" altLang="zh-CN" sz="1228" b="1" dirty="0">
                <a:solidFill>
                  <a:schemeClr val="folHlink"/>
                </a:solidFill>
                <a:effectLst>
                  <a:outerShdw blurRad="38100" dist="38100" dir="2700000" algn="tl">
                    <a:srgbClr val="C0C0C0"/>
                  </a:outerShdw>
                </a:effectLst>
              </a:rPr>
              <a:t>2G</a:t>
            </a:r>
            <a:endParaRPr lang="zh-CN" altLang="en-US" sz="1228" b="1" dirty="0">
              <a:solidFill>
                <a:schemeClr val="folHlink"/>
              </a:solidFill>
              <a:effectLst>
                <a:outerShdw blurRad="38100" dist="38100" dir="2700000" algn="tl">
                  <a:srgbClr val="C0C0C0"/>
                </a:outerShdw>
              </a:effectLst>
            </a:endParaRPr>
          </a:p>
        </p:txBody>
      </p:sp>
      <p:sp>
        <p:nvSpPr>
          <p:cNvPr id="233537" name="Rectangle 65">
            <a:extLst>
              <a:ext uri="{FF2B5EF4-FFF2-40B4-BE49-F238E27FC236}">
                <a16:creationId xmlns:a16="http://schemas.microsoft.com/office/drawing/2014/main" id="{513C2A0D-A966-453C-9E63-EC6E12AC5276}"/>
              </a:ext>
            </a:extLst>
          </p:cNvPr>
          <p:cNvSpPr>
            <a:spLocks noChangeArrowheads="1"/>
          </p:cNvSpPr>
          <p:nvPr/>
        </p:nvSpPr>
        <p:spPr bwMode="auto">
          <a:xfrm>
            <a:off x="6414258" y="2769074"/>
            <a:ext cx="743605" cy="364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3881" tIns="21552" rIns="53881" bIns="21552">
            <a:spAutoFit/>
          </a:bodyPr>
          <a:lstStyle/>
          <a:p>
            <a:pPr algn="ctr" defTabSz="775515" eaLnBrk="0" hangingPunct="0">
              <a:lnSpc>
                <a:spcPct val="85000"/>
              </a:lnSpc>
              <a:defRPr/>
            </a:pPr>
            <a:r>
              <a:rPr lang="zh-CN" altLang="en-US" sz="1228" b="1">
                <a:solidFill>
                  <a:srgbClr val="FF3300"/>
                </a:solidFill>
                <a:effectLst>
                  <a:outerShdw blurRad="38100" dist="38100" dir="2700000" algn="tl">
                    <a:srgbClr val="C0C0C0"/>
                  </a:outerShdw>
                </a:effectLst>
              </a:rPr>
              <a:t>物品管理</a:t>
            </a:r>
          </a:p>
          <a:p>
            <a:pPr algn="ctr" defTabSz="775515" eaLnBrk="0" hangingPunct="0">
              <a:lnSpc>
                <a:spcPct val="85000"/>
              </a:lnSpc>
              <a:defRPr/>
            </a:pPr>
            <a:r>
              <a:rPr lang="zh-CN" altLang="en-US" sz="1228" b="1">
                <a:solidFill>
                  <a:srgbClr val="FF3300"/>
                </a:solidFill>
                <a:effectLst>
                  <a:outerShdw blurRad="38100" dist="38100" dir="2700000" algn="tl">
                    <a:srgbClr val="C0C0C0"/>
                  </a:outerShdw>
                </a:effectLst>
              </a:rPr>
              <a:t>交通管理</a:t>
            </a:r>
          </a:p>
        </p:txBody>
      </p:sp>
      <p:sp>
        <p:nvSpPr>
          <p:cNvPr id="233538" name="Rectangle 66">
            <a:extLst>
              <a:ext uri="{FF2B5EF4-FFF2-40B4-BE49-F238E27FC236}">
                <a16:creationId xmlns:a16="http://schemas.microsoft.com/office/drawing/2014/main" id="{2CAFCF97-73CB-467D-BB62-6932CD8903ED}"/>
              </a:ext>
            </a:extLst>
          </p:cNvPr>
          <p:cNvSpPr>
            <a:spLocks noChangeArrowheads="1"/>
          </p:cNvSpPr>
          <p:nvPr/>
        </p:nvSpPr>
        <p:spPr bwMode="auto">
          <a:xfrm>
            <a:off x="2910163" y="4497122"/>
            <a:ext cx="743605" cy="204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3881" tIns="21552" rIns="53881" bIns="21552">
            <a:spAutoFit/>
          </a:bodyPr>
          <a:lstStyle/>
          <a:p>
            <a:pPr algn="ctr" defTabSz="775515" eaLnBrk="0" hangingPunct="0">
              <a:lnSpc>
                <a:spcPct val="85000"/>
              </a:lnSpc>
              <a:defRPr/>
            </a:pPr>
            <a:r>
              <a:rPr lang="zh-CN" altLang="en-US" sz="1228" b="1">
                <a:solidFill>
                  <a:schemeClr val="folHlink"/>
                </a:solidFill>
                <a:effectLst>
                  <a:outerShdw blurRad="38100" dist="38100" dir="2700000" algn="tl">
                    <a:srgbClr val="C0C0C0"/>
                  </a:outerShdw>
                </a:effectLst>
              </a:rPr>
              <a:t>调幅广播</a:t>
            </a:r>
          </a:p>
        </p:txBody>
      </p:sp>
      <p:sp>
        <p:nvSpPr>
          <p:cNvPr id="10262" name="Line 67">
            <a:extLst>
              <a:ext uri="{FF2B5EF4-FFF2-40B4-BE49-F238E27FC236}">
                <a16:creationId xmlns:a16="http://schemas.microsoft.com/office/drawing/2014/main" id="{B7FE6664-EFDD-4635-8EF2-900F7CF6FB90}"/>
              </a:ext>
            </a:extLst>
          </p:cNvPr>
          <p:cNvSpPr>
            <a:spLocks noChangeShapeType="1"/>
          </p:cNvSpPr>
          <p:nvPr/>
        </p:nvSpPr>
        <p:spPr bwMode="auto">
          <a:xfrm flipV="1">
            <a:off x="3280466" y="4674126"/>
            <a:ext cx="0" cy="217506"/>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3" name="Line 68">
            <a:extLst>
              <a:ext uri="{FF2B5EF4-FFF2-40B4-BE49-F238E27FC236}">
                <a16:creationId xmlns:a16="http://schemas.microsoft.com/office/drawing/2014/main" id="{58EC7123-77B5-4A92-8776-3FE6D3907DD7}"/>
              </a:ext>
            </a:extLst>
          </p:cNvPr>
          <p:cNvSpPr>
            <a:spLocks noChangeShapeType="1"/>
          </p:cNvSpPr>
          <p:nvPr/>
        </p:nvSpPr>
        <p:spPr bwMode="auto">
          <a:xfrm flipV="1">
            <a:off x="2612947" y="4674126"/>
            <a:ext cx="0" cy="217506"/>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3541" name="Rectangle 69">
            <a:extLst>
              <a:ext uri="{FF2B5EF4-FFF2-40B4-BE49-F238E27FC236}">
                <a16:creationId xmlns:a16="http://schemas.microsoft.com/office/drawing/2014/main" id="{DF59E3CD-5DA7-4698-9C03-14020A753300}"/>
              </a:ext>
            </a:extLst>
          </p:cNvPr>
          <p:cNvSpPr>
            <a:spLocks noChangeArrowheads="1"/>
          </p:cNvSpPr>
          <p:nvPr/>
        </p:nvSpPr>
        <p:spPr bwMode="auto">
          <a:xfrm>
            <a:off x="2380496" y="4336617"/>
            <a:ext cx="584907" cy="364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3881" tIns="21552" rIns="53881" bIns="21552">
            <a:spAutoFit/>
          </a:bodyPr>
          <a:lstStyle/>
          <a:p>
            <a:pPr algn="ctr" defTabSz="775515" eaLnBrk="0" hangingPunct="0">
              <a:lnSpc>
                <a:spcPct val="85000"/>
              </a:lnSpc>
              <a:defRPr/>
            </a:pPr>
            <a:r>
              <a:rPr lang="zh-CN" altLang="en-US" sz="1228" b="1">
                <a:solidFill>
                  <a:schemeClr val="folHlink"/>
                </a:solidFill>
                <a:effectLst>
                  <a:outerShdw blurRad="38100" dist="38100" dir="2700000" algn="tl">
                    <a:srgbClr val="C0C0C0"/>
                  </a:outerShdw>
                </a:effectLst>
              </a:rPr>
              <a:t>无线电</a:t>
            </a:r>
          </a:p>
          <a:p>
            <a:pPr algn="ctr" defTabSz="775515" eaLnBrk="0" hangingPunct="0">
              <a:lnSpc>
                <a:spcPct val="85000"/>
              </a:lnSpc>
              <a:defRPr/>
            </a:pPr>
            <a:r>
              <a:rPr lang="zh-CN" altLang="en-US" sz="1228" b="1">
                <a:solidFill>
                  <a:schemeClr val="folHlink"/>
                </a:solidFill>
                <a:effectLst>
                  <a:outerShdw blurRad="38100" dist="38100" dir="2700000" algn="tl">
                    <a:srgbClr val="C0C0C0"/>
                  </a:outerShdw>
                </a:effectLst>
              </a:rPr>
              <a:t>玩具</a:t>
            </a:r>
          </a:p>
        </p:txBody>
      </p:sp>
      <p:sp>
        <p:nvSpPr>
          <p:cNvPr id="233542" name="Rectangle 70">
            <a:extLst>
              <a:ext uri="{FF2B5EF4-FFF2-40B4-BE49-F238E27FC236}">
                <a16:creationId xmlns:a16="http://schemas.microsoft.com/office/drawing/2014/main" id="{93ACD5C0-2EFA-40A5-950D-C30AE2E2A55B}"/>
              </a:ext>
            </a:extLst>
          </p:cNvPr>
          <p:cNvSpPr>
            <a:spLocks noChangeArrowheads="1"/>
          </p:cNvSpPr>
          <p:nvPr/>
        </p:nvSpPr>
        <p:spPr bwMode="auto">
          <a:xfrm>
            <a:off x="5113416" y="4396619"/>
            <a:ext cx="426210" cy="204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3881" tIns="21552" rIns="53881" bIns="21552">
            <a:spAutoFit/>
          </a:bodyPr>
          <a:lstStyle/>
          <a:p>
            <a:pPr algn="ctr" defTabSz="775515" eaLnBrk="0" hangingPunct="0">
              <a:lnSpc>
                <a:spcPct val="85000"/>
              </a:lnSpc>
              <a:defRPr/>
            </a:pPr>
            <a:r>
              <a:rPr lang="zh-CN" altLang="en-US" sz="1228" b="1">
                <a:solidFill>
                  <a:schemeClr val="folHlink"/>
                </a:solidFill>
                <a:effectLst>
                  <a:outerShdw blurRad="38100" dist="38100" dir="2700000" algn="tl">
                    <a:srgbClr val="C0C0C0"/>
                  </a:outerShdw>
                </a:effectLst>
              </a:rPr>
              <a:t>车库</a:t>
            </a:r>
          </a:p>
        </p:txBody>
      </p:sp>
      <p:sp>
        <p:nvSpPr>
          <p:cNvPr id="10266" name="Line 71">
            <a:extLst>
              <a:ext uri="{FF2B5EF4-FFF2-40B4-BE49-F238E27FC236}">
                <a16:creationId xmlns:a16="http://schemas.microsoft.com/office/drawing/2014/main" id="{C746F3A6-976B-4050-B325-7E337D94FC68}"/>
              </a:ext>
            </a:extLst>
          </p:cNvPr>
          <p:cNvSpPr>
            <a:spLocks noChangeShapeType="1"/>
          </p:cNvSpPr>
          <p:nvPr/>
        </p:nvSpPr>
        <p:spPr bwMode="auto">
          <a:xfrm flipV="1">
            <a:off x="4656002" y="4257115"/>
            <a:ext cx="0" cy="634518"/>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7" name="Line 72">
            <a:extLst>
              <a:ext uri="{FF2B5EF4-FFF2-40B4-BE49-F238E27FC236}">
                <a16:creationId xmlns:a16="http://schemas.microsoft.com/office/drawing/2014/main" id="{93A55563-53F3-4135-8FB1-F0DE801737CE}"/>
              </a:ext>
            </a:extLst>
          </p:cNvPr>
          <p:cNvSpPr>
            <a:spLocks noChangeShapeType="1"/>
          </p:cNvSpPr>
          <p:nvPr/>
        </p:nvSpPr>
        <p:spPr bwMode="auto">
          <a:xfrm flipV="1">
            <a:off x="4921510" y="4674126"/>
            <a:ext cx="0" cy="217506"/>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3545" name="Rectangle 73">
            <a:extLst>
              <a:ext uri="{FF2B5EF4-FFF2-40B4-BE49-F238E27FC236}">
                <a16:creationId xmlns:a16="http://schemas.microsoft.com/office/drawing/2014/main" id="{6A7D4217-95B3-485C-BFB7-2F3FD638CCC6}"/>
              </a:ext>
            </a:extLst>
          </p:cNvPr>
          <p:cNvSpPr>
            <a:spLocks noChangeArrowheads="1"/>
          </p:cNvSpPr>
          <p:nvPr/>
        </p:nvSpPr>
        <p:spPr bwMode="auto">
          <a:xfrm>
            <a:off x="4639502" y="4464120"/>
            <a:ext cx="558015" cy="364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3881" tIns="21552" rIns="53881" bIns="21552">
            <a:spAutoFit/>
          </a:bodyPr>
          <a:lstStyle/>
          <a:p>
            <a:pPr algn="ctr" defTabSz="775515" eaLnBrk="0" hangingPunct="0">
              <a:lnSpc>
                <a:spcPct val="85000"/>
              </a:lnSpc>
              <a:defRPr/>
            </a:pPr>
            <a:r>
              <a:rPr lang="zh-CN" altLang="en-US" sz="1228" b="1">
                <a:solidFill>
                  <a:schemeClr val="folHlink"/>
                </a:solidFill>
                <a:effectLst>
                  <a:outerShdw blurRad="38100" dist="38100" dir="2700000" algn="tl">
                    <a:srgbClr val="C0C0C0"/>
                  </a:outerShdw>
                </a:effectLst>
              </a:rPr>
              <a:t>调频广播</a:t>
            </a:r>
          </a:p>
        </p:txBody>
      </p:sp>
      <p:sp>
        <p:nvSpPr>
          <p:cNvPr id="233546" name="Rectangle 74">
            <a:extLst>
              <a:ext uri="{FF2B5EF4-FFF2-40B4-BE49-F238E27FC236}">
                <a16:creationId xmlns:a16="http://schemas.microsoft.com/office/drawing/2014/main" id="{E6DFCEAC-27B5-478B-8EBD-970642C05C78}"/>
              </a:ext>
            </a:extLst>
          </p:cNvPr>
          <p:cNvSpPr>
            <a:spLocks noChangeArrowheads="1"/>
          </p:cNvSpPr>
          <p:nvPr/>
        </p:nvSpPr>
        <p:spPr bwMode="auto">
          <a:xfrm>
            <a:off x="1881135" y="2763074"/>
            <a:ext cx="743605" cy="364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3881" tIns="21552" rIns="53881" bIns="21552">
            <a:spAutoFit/>
          </a:bodyPr>
          <a:lstStyle/>
          <a:p>
            <a:pPr algn="ctr" defTabSz="775515" eaLnBrk="0" hangingPunct="0">
              <a:lnSpc>
                <a:spcPct val="85000"/>
              </a:lnSpc>
              <a:defRPr/>
            </a:pPr>
            <a:r>
              <a:rPr lang="zh-CN" altLang="en-US" sz="1228" b="1">
                <a:solidFill>
                  <a:srgbClr val="FF3300"/>
                </a:solidFill>
                <a:effectLst>
                  <a:outerShdw blurRad="38100" dist="38100" dir="2700000" algn="tl">
                    <a:srgbClr val="C0C0C0"/>
                  </a:outerShdw>
                </a:effectLst>
              </a:rPr>
              <a:t>门禁管理</a:t>
            </a:r>
          </a:p>
          <a:p>
            <a:pPr algn="ctr" defTabSz="775515" eaLnBrk="0" hangingPunct="0">
              <a:lnSpc>
                <a:spcPct val="85000"/>
              </a:lnSpc>
              <a:defRPr/>
            </a:pPr>
            <a:r>
              <a:rPr lang="zh-CN" altLang="en-US" sz="1228" b="1">
                <a:solidFill>
                  <a:srgbClr val="FF3300"/>
                </a:solidFill>
                <a:effectLst>
                  <a:outerShdw blurRad="38100" dist="38100" dir="2700000" algn="tl">
                    <a:srgbClr val="C0C0C0"/>
                  </a:outerShdw>
                </a:effectLst>
              </a:rPr>
              <a:t>动物识别</a:t>
            </a:r>
          </a:p>
        </p:txBody>
      </p:sp>
      <p:sp>
        <p:nvSpPr>
          <p:cNvPr id="233547" name="Rectangle 75">
            <a:extLst>
              <a:ext uri="{FF2B5EF4-FFF2-40B4-BE49-F238E27FC236}">
                <a16:creationId xmlns:a16="http://schemas.microsoft.com/office/drawing/2014/main" id="{C8F57E8A-2DFF-4BA3-8601-93470C9C3004}"/>
              </a:ext>
            </a:extLst>
          </p:cNvPr>
          <p:cNvSpPr>
            <a:spLocks noChangeArrowheads="1"/>
          </p:cNvSpPr>
          <p:nvPr/>
        </p:nvSpPr>
        <p:spPr bwMode="auto">
          <a:xfrm>
            <a:off x="5272520" y="2388065"/>
            <a:ext cx="743604" cy="421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3881" tIns="21552" rIns="53881" bIns="21552">
            <a:spAutoFit/>
          </a:bodyPr>
          <a:lstStyle/>
          <a:p>
            <a:pPr defTabSz="775515">
              <a:defRPr/>
            </a:pPr>
            <a:r>
              <a:rPr lang="zh-CN" altLang="en-US" sz="1228" b="1">
                <a:solidFill>
                  <a:srgbClr val="FF3300"/>
                </a:solidFill>
                <a:effectLst>
                  <a:outerShdw blurRad="38100" dist="38100" dir="2700000" algn="tl">
                    <a:srgbClr val="C0C0C0"/>
                  </a:outerShdw>
                </a:effectLst>
                <a:latin typeface="Tahoma" pitchFamily="34" charset="0"/>
              </a:rPr>
              <a:t>物品管理</a:t>
            </a:r>
          </a:p>
          <a:p>
            <a:pPr defTabSz="775515">
              <a:defRPr/>
            </a:pPr>
            <a:r>
              <a:rPr lang="zh-CN" altLang="en-US" sz="1228" b="1">
                <a:solidFill>
                  <a:srgbClr val="FF3300"/>
                </a:solidFill>
                <a:effectLst>
                  <a:outerShdw blurRad="38100" dist="38100" dir="2700000" algn="tl">
                    <a:srgbClr val="C0C0C0"/>
                  </a:outerShdw>
                </a:effectLst>
                <a:latin typeface="Tahoma" pitchFamily="34" charset="0"/>
              </a:rPr>
              <a:t>交通管理</a:t>
            </a:r>
            <a:endParaRPr lang="en-US" sz="1228" b="1">
              <a:solidFill>
                <a:srgbClr val="FF3300"/>
              </a:solidFill>
              <a:effectLst>
                <a:outerShdw blurRad="38100" dist="38100" dir="2700000" algn="tl">
                  <a:srgbClr val="C0C0C0"/>
                </a:outerShdw>
              </a:effectLst>
              <a:latin typeface="Tahoma" pitchFamily="34" charset="0"/>
            </a:endParaRPr>
          </a:p>
        </p:txBody>
      </p:sp>
      <p:sp>
        <p:nvSpPr>
          <p:cNvPr id="233548" name="Rectangle 76">
            <a:extLst>
              <a:ext uri="{FF2B5EF4-FFF2-40B4-BE49-F238E27FC236}">
                <a16:creationId xmlns:a16="http://schemas.microsoft.com/office/drawing/2014/main" id="{6EE8A36F-8377-4BBE-BBC8-358CA31E8330}"/>
              </a:ext>
            </a:extLst>
          </p:cNvPr>
          <p:cNvSpPr>
            <a:spLocks noChangeArrowheads="1"/>
          </p:cNvSpPr>
          <p:nvPr/>
        </p:nvSpPr>
        <p:spPr bwMode="auto">
          <a:xfrm>
            <a:off x="7149070" y="3375713"/>
            <a:ext cx="888024" cy="364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3881" tIns="21552" rIns="53881" bIns="21552" anchor="ctr">
            <a:spAutoFit/>
          </a:bodyPr>
          <a:lstStyle/>
          <a:p>
            <a:pPr algn="ctr" defTabSz="775515" eaLnBrk="0" hangingPunct="0">
              <a:lnSpc>
                <a:spcPct val="85000"/>
              </a:lnSpc>
              <a:defRPr/>
            </a:pPr>
            <a:r>
              <a:rPr lang="zh-CN" altLang="en-US" sz="1228" b="1">
                <a:solidFill>
                  <a:schemeClr val="hlink"/>
                </a:solidFill>
                <a:effectLst>
                  <a:outerShdw blurRad="38100" dist="38100" dir="2700000" algn="tl">
                    <a:srgbClr val="C0C0C0"/>
                  </a:outerShdw>
                </a:effectLst>
              </a:rPr>
              <a:t>无线局域网</a:t>
            </a:r>
            <a:endParaRPr lang="en-US" sz="1228" b="1">
              <a:solidFill>
                <a:schemeClr val="hlink"/>
              </a:solidFill>
              <a:effectLst>
                <a:outerShdw blurRad="38100" dist="38100" dir="2700000" algn="tl">
                  <a:srgbClr val="C0C0C0"/>
                </a:outerShdw>
              </a:effectLst>
              <a:cs typeface="宋体" pitchFamily="2" charset="-122"/>
            </a:endParaRPr>
          </a:p>
        </p:txBody>
      </p:sp>
      <p:sp>
        <p:nvSpPr>
          <p:cNvPr id="10272" name="Oval 77">
            <a:extLst>
              <a:ext uri="{FF2B5EF4-FFF2-40B4-BE49-F238E27FC236}">
                <a16:creationId xmlns:a16="http://schemas.microsoft.com/office/drawing/2014/main" id="{F5368E1B-42BB-40C3-8F24-D9A8A1BD79FC}"/>
              </a:ext>
            </a:extLst>
          </p:cNvPr>
          <p:cNvSpPr>
            <a:spLocks noChangeArrowheads="1"/>
          </p:cNvSpPr>
          <p:nvPr/>
        </p:nvSpPr>
        <p:spPr bwMode="auto">
          <a:xfrm>
            <a:off x="5875536" y="3973607"/>
            <a:ext cx="54001" cy="46501"/>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endParaRPr lang="zh-CN" altLang="en-US" sz="2268"/>
          </a:p>
        </p:txBody>
      </p:sp>
      <p:sp>
        <p:nvSpPr>
          <p:cNvPr id="10273" name="Oval 78">
            <a:extLst>
              <a:ext uri="{FF2B5EF4-FFF2-40B4-BE49-F238E27FC236}">
                <a16:creationId xmlns:a16="http://schemas.microsoft.com/office/drawing/2014/main" id="{8C9B7705-459F-417B-ACCA-6B675C4D1454}"/>
              </a:ext>
            </a:extLst>
          </p:cNvPr>
          <p:cNvSpPr>
            <a:spLocks noChangeArrowheads="1"/>
          </p:cNvSpPr>
          <p:nvPr/>
        </p:nvSpPr>
        <p:spPr bwMode="auto">
          <a:xfrm>
            <a:off x="5785533" y="3756101"/>
            <a:ext cx="54001" cy="4650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endParaRPr lang="zh-CN" altLang="en-US" sz="2268"/>
          </a:p>
        </p:txBody>
      </p:sp>
      <p:sp>
        <p:nvSpPr>
          <p:cNvPr id="10274" name="Oval 79">
            <a:extLst>
              <a:ext uri="{FF2B5EF4-FFF2-40B4-BE49-F238E27FC236}">
                <a16:creationId xmlns:a16="http://schemas.microsoft.com/office/drawing/2014/main" id="{6CEB44EC-7888-4B32-BE99-47456F2E4B1A}"/>
              </a:ext>
            </a:extLst>
          </p:cNvPr>
          <p:cNvSpPr>
            <a:spLocks noChangeArrowheads="1"/>
          </p:cNvSpPr>
          <p:nvPr/>
        </p:nvSpPr>
        <p:spPr bwMode="auto">
          <a:xfrm>
            <a:off x="4626002" y="4206113"/>
            <a:ext cx="54001" cy="4650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endParaRPr lang="zh-CN" altLang="en-US" sz="2268"/>
          </a:p>
        </p:txBody>
      </p:sp>
      <p:sp>
        <p:nvSpPr>
          <p:cNvPr id="10275" name="Line 80">
            <a:extLst>
              <a:ext uri="{FF2B5EF4-FFF2-40B4-BE49-F238E27FC236}">
                <a16:creationId xmlns:a16="http://schemas.microsoft.com/office/drawing/2014/main" id="{F6CCD015-F43E-4FAF-AF63-14F0EC44B4C9}"/>
              </a:ext>
            </a:extLst>
          </p:cNvPr>
          <p:cNvSpPr>
            <a:spLocks noChangeShapeType="1"/>
          </p:cNvSpPr>
          <p:nvPr/>
        </p:nvSpPr>
        <p:spPr bwMode="auto">
          <a:xfrm>
            <a:off x="5909692" y="3998543"/>
            <a:ext cx="457512"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6" name="Line 81">
            <a:extLst>
              <a:ext uri="{FF2B5EF4-FFF2-40B4-BE49-F238E27FC236}">
                <a16:creationId xmlns:a16="http://schemas.microsoft.com/office/drawing/2014/main" id="{9F479087-87F8-45A2-BC4A-1070B885002F}"/>
              </a:ext>
            </a:extLst>
          </p:cNvPr>
          <p:cNvSpPr>
            <a:spLocks noChangeShapeType="1"/>
          </p:cNvSpPr>
          <p:nvPr/>
        </p:nvSpPr>
        <p:spPr bwMode="auto">
          <a:xfrm flipH="1">
            <a:off x="4653002" y="4231614"/>
            <a:ext cx="157505"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3554" name="Rectangle 82">
            <a:extLst>
              <a:ext uri="{FF2B5EF4-FFF2-40B4-BE49-F238E27FC236}">
                <a16:creationId xmlns:a16="http://schemas.microsoft.com/office/drawing/2014/main" id="{77DC7450-8770-41F1-B9CF-1A1C4DEFF969}"/>
              </a:ext>
            </a:extLst>
          </p:cNvPr>
          <p:cNvSpPr>
            <a:spLocks noChangeArrowheads="1"/>
          </p:cNvSpPr>
          <p:nvPr/>
        </p:nvSpPr>
        <p:spPr bwMode="auto">
          <a:xfrm>
            <a:off x="4800006" y="4164113"/>
            <a:ext cx="378010" cy="204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3881" tIns="21552" rIns="53881" bIns="21552">
            <a:spAutoFit/>
          </a:bodyPr>
          <a:lstStyle/>
          <a:p>
            <a:pPr algn="ctr" defTabSz="775515" eaLnBrk="0" hangingPunct="0">
              <a:lnSpc>
                <a:spcPct val="85000"/>
              </a:lnSpc>
              <a:defRPr/>
            </a:pPr>
            <a:r>
              <a:rPr lang="en-US" sz="1228" b="1">
                <a:solidFill>
                  <a:schemeClr val="folHlink"/>
                </a:solidFill>
                <a:effectLst>
                  <a:outerShdw blurRad="38100" dist="38100" dir="2700000" algn="tl">
                    <a:srgbClr val="C0C0C0"/>
                  </a:outerShdw>
                </a:effectLst>
                <a:cs typeface="宋体" pitchFamily="2" charset="-122"/>
              </a:rPr>
              <a:t>TV</a:t>
            </a:r>
          </a:p>
        </p:txBody>
      </p:sp>
      <p:sp>
        <p:nvSpPr>
          <p:cNvPr id="10278" name="Line 83">
            <a:extLst>
              <a:ext uri="{FF2B5EF4-FFF2-40B4-BE49-F238E27FC236}">
                <a16:creationId xmlns:a16="http://schemas.microsoft.com/office/drawing/2014/main" id="{16F4E4F9-59CC-48CD-83B2-952C3FE811A9}"/>
              </a:ext>
            </a:extLst>
          </p:cNvPr>
          <p:cNvSpPr>
            <a:spLocks noChangeShapeType="1"/>
          </p:cNvSpPr>
          <p:nvPr/>
        </p:nvSpPr>
        <p:spPr bwMode="auto">
          <a:xfrm flipH="1">
            <a:off x="5365522" y="3783102"/>
            <a:ext cx="441012"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9" name="Oval 84">
            <a:extLst>
              <a:ext uri="{FF2B5EF4-FFF2-40B4-BE49-F238E27FC236}">
                <a16:creationId xmlns:a16="http://schemas.microsoft.com/office/drawing/2014/main" id="{42BA32F3-8D4F-43E4-B9F1-6829E797E83B}"/>
              </a:ext>
            </a:extLst>
          </p:cNvPr>
          <p:cNvSpPr>
            <a:spLocks noChangeArrowheads="1"/>
          </p:cNvSpPr>
          <p:nvPr/>
        </p:nvSpPr>
        <p:spPr bwMode="auto">
          <a:xfrm>
            <a:off x="6723058" y="3513095"/>
            <a:ext cx="55502" cy="45001"/>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endParaRPr lang="zh-CN" altLang="en-US" sz="2268"/>
          </a:p>
        </p:txBody>
      </p:sp>
      <p:sp>
        <p:nvSpPr>
          <p:cNvPr id="10280" name="Line 85">
            <a:extLst>
              <a:ext uri="{FF2B5EF4-FFF2-40B4-BE49-F238E27FC236}">
                <a16:creationId xmlns:a16="http://schemas.microsoft.com/office/drawing/2014/main" id="{2C9657A4-D8E6-4119-B9CC-5B00940F0A28}"/>
              </a:ext>
            </a:extLst>
          </p:cNvPr>
          <p:cNvSpPr>
            <a:spLocks noChangeShapeType="1"/>
          </p:cNvSpPr>
          <p:nvPr/>
        </p:nvSpPr>
        <p:spPr bwMode="auto">
          <a:xfrm flipH="1">
            <a:off x="6738059" y="3531095"/>
            <a:ext cx="37801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3558" name="Rectangle 86">
            <a:extLst>
              <a:ext uri="{FF2B5EF4-FFF2-40B4-BE49-F238E27FC236}">
                <a16:creationId xmlns:a16="http://schemas.microsoft.com/office/drawing/2014/main" id="{09E50A01-408E-4941-B858-37D7A825CACE}"/>
              </a:ext>
            </a:extLst>
          </p:cNvPr>
          <p:cNvSpPr>
            <a:spLocks noChangeArrowheads="1"/>
          </p:cNvSpPr>
          <p:nvPr/>
        </p:nvSpPr>
        <p:spPr bwMode="auto">
          <a:xfrm>
            <a:off x="4785214" y="3691600"/>
            <a:ext cx="743605" cy="204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3881" tIns="21552" rIns="53881" bIns="21552">
            <a:spAutoFit/>
          </a:bodyPr>
          <a:lstStyle/>
          <a:p>
            <a:pPr algn="ctr" defTabSz="775515" eaLnBrk="0" hangingPunct="0">
              <a:lnSpc>
                <a:spcPct val="85000"/>
              </a:lnSpc>
              <a:defRPr/>
            </a:pPr>
            <a:r>
              <a:rPr lang="zh-CN" altLang="en-US" sz="1228" b="1">
                <a:solidFill>
                  <a:schemeClr val="folHlink"/>
                </a:solidFill>
                <a:effectLst>
                  <a:outerShdw blurRad="38100" dist="38100" dir="2700000" algn="tl">
                    <a:srgbClr val="C0C0C0"/>
                  </a:outerShdw>
                </a:effectLst>
              </a:rPr>
              <a:t>数据终端</a:t>
            </a:r>
          </a:p>
        </p:txBody>
      </p:sp>
      <p:sp>
        <p:nvSpPr>
          <p:cNvPr id="10282" name="Oval 87">
            <a:extLst>
              <a:ext uri="{FF2B5EF4-FFF2-40B4-BE49-F238E27FC236}">
                <a16:creationId xmlns:a16="http://schemas.microsoft.com/office/drawing/2014/main" id="{4AE9535A-8E79-490A-B435-C6F9CE4F8443}"/>
              </a:ext>
            </a:extLst>
          </p:cNvPr>
          <p:cNvSpPr>
            <a:spLocks noChangeArrowheads="1"/>
          </p:cNvSpPr>
          <p:nvPr/>
        </p:nvSpPr>
        <p:spPr bwMode="auto">
          <a:xfrm>
            <a:off x="5527527" y="4200113"/>
            <a:ext cx="54001" cy="4650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endParaRPr lang="zh-CN" altLang="en-US" sz="2268"/>
          </a:p>
        </p:txBody>
      </p:sp>
      <p:sp>
        <p:nvSpPr>
          <p:cNvPr id="10283" name="Line 88">
            <a:extLst>
              <a:ext uri="{FF2B5EF4-FFF2-40B4-BE49-F238E27FC236}">
                <a16:creationId xmlns:a16="http://schemas.microsoft.com/office/drawing/2014/main" id="{CCC8A79D-2B35-490B-ABAA-63977E83CDB1}"/>
              </a:ext>
            </a:extLst>
          </p:cNvPr>
          <p:cNvSpPr>
            <a:spLocks noChangeShapeType="1"/>
          </p:cNvSpPr>
          <p:nvPr/>
        </p:nvSpPr>
        <p:spPr bwMode="auto">
          <a:xfrm flipH="1">
            <a:off x="5115014" y="4227114"/>
            <a:ext cx="432012"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3561" name="Rectangle 89">
            <a:extLst>
              <a:ext uri="{FF2B5EF4-FFF2-40B4-BE49-F238E27FC236}">
                <a16:creationId xmlns:a16="http://schemas.microsoft.com/office/drawing/2014/main" id="{FF092488-7C33-43B8-87F6-FB7F9EC38C0B}"/>
              </a:ext>
            </a:extLst>
          </p:cNvPr>
          <p:cNvSpPr>
            <a:spLocks noChangeArrowheads="1"/>
          </p:cNvSpPr>
          <p:nvPr/>
        </p:nvSpPr>
        <p:spPr bwMode="auto">
          <a:xfrm>
            <a:off x="3826688" y="2743574"/>
            <a:ext cx="743605" cy="364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3881" tIns="21552" rIns="53881" bIns="21552">
            <a:spAutoFit/>
          </a:bodyPr>
          <a:lstStyle/>
          <a:p>
            <a:pPr algn="ctr" defTabSz="775515" eaLnBrk="0" hangingPunct="0">
              <a:lnSpc>
                <a:spcPct val="85000"/>
              </a:lnSpc>
              <a:defRPr/>
            </a:pPr>
            <a:r>
              <a:rPr lang="zh-CN" altLang="en-US" sz="1228" b="1">
                <a:solidFill>
                  <a:srgbClr val="FF3300"/>
                </a:solidFill>
                <a:effectLst>
                  <a:outerShdw blurRad="38100" dist="38100" dir="2700000" algn="tl">
                    <a:srgbClr val="C0C0C0"/>
                  </a:outerShdw>
                </a:effectLst>
              </a:rPr>
              <a:t>智能卡</a:t>
            </a:r>
          </a:p>
          <a:p>
            <a:pPr algn="ctr" defTabSz="775515" eaLnBrk="0" hangingPunct="0">
              <a:lnSpc>
                <a:spcPct val="85000"/>
              </a:lnSpc>
              <a:defRPr/>
            </a:pPr>
            <a:r>
              <a:rPr lang="zh-CN" altLang="en-US" sz="1228" b="1">
                <a:solidFill>
                  <a:srgbClr val="FF3300"/>
                </a:solidFill>
                <a:effectLst>
                  <a:outerShdw blurRad="38100" dist="38100" dir="2700000" algn="tl">
                    <a:srgbClr val="C0C0C0"/>
                  </a:outerShdw>
                </a:effectLst>
              </a:rPr>
              <a:t>智能货架</a:t>
            </a:r>
            <a:endParaRPr lang="en-US" sz="1228" b="1">
              <a:solidFill>
                <a:srgbClr val="FF3300"/>
              </a:solidFill>
              <a:effectLst>
                <a:outerShdw blurRad="38100" dist="38100" dir="2700000" algn="tl">
                  <a:srgbClr val="C0C0C0"/>
                </a:outerShdw>
              </a:effectLst>
              <a:cs typeface="宋体" pitchFamily="2" charset="-122"/>
            </a:endParaRPr>
          </a:p>
        </p:txBody>
      </p:sp>
      <p:sp>
        <p:nvSpPr>
          <p:cNvPr id="10285" name="Line 90">
            <a:extLst>
              <a:ext uri="{FF2B5EF4-FFF2-40B4-BE49-F238E27FC236}">
                <a16:creationId xmlns:a16="http://schemas.microsoft.com/office/drawing/2014/main" id="{DE5F2EF3-4B5A-4A6F-ABDE-966ABF9F9379}"/>
              </a:ext>
            </a:extLst>
          </p:cNvPr>
          <p:cNvSpPr>
            <a:spLocks noChangeShapeType="1"/>
          </p:cNvSpPr>
          <p:nvPr/>
        </p:nvSpPr>
        <p:spPr bwMode="auto">
          <a:xfrm flipV="1">
            <a:off x="6758532" y="3353655"/>
            <a:ext cx="0" cy="1524041"/>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3563" name="Rectangle 91">
            <a:extLst>
              <a:ext uri="{FF2B5EF4-FFF2-40B4-BE49-F238E27FC236}">
                <a16:creationId xmlns:a16="http://schemas.microsoft.com/office/drawing/2014/main" id="{A1558B51-7CAD-45DF-8814-124875469859}"/>
              </a:ext>
            </a:extLst>
          </p:cNvPr>
          <p:cNvSpPr>
            <a:spLocks noChangeArrowheads="1"/>
          </p:cNvSpPr>
          <p:nvPr/>
        </p:nvSpPr>
        <p:spPr bwMode="auto">
          <a:xfrm>
            <a:off x="6519053" y="5256141"/>
            <a:ext cx="774061" cy="213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3881" tIns="21552" rIns="53881" bIns="21552">
            <a:spAutoFit/>
          </a:bodyPr>
          <a:lstStyle/>
          <a:p>
            <a:pPr defTabSz="775515" eaLnBrk="0" hangingPunct="0">
              <a:lnSpc>
                <a:spcPct val="90000"/>
              </a:lnSpc>
              <a:defRPr/>
            </a:pPr>
            <a:r>
              <a:rPr lang="en-US" sz="1228" b="1">
                <a:solidFill>
                  <a:srgbClr val="000099"/>
                </a:solidFill>
                <a:effectLst>
                  <a:outerShdw blurRad="38100" dist="38100" dir="2700000" algn="tl">
                    <a:srgbClr val="C0C0C0"/>
                  </a:outerShdw>
                </a:effectLst>
                <a:cs typeface="宋体" pitchFamily="2" charset="-122"/>
              </a:rPr>
              <a:t>2.45 GHz</a:t>
            </a:r>
          </a:p>
        </p:txBody>
      </p:sp>
      <p:sp>
        <p:nvSpPr>
          <p:cNvPr id="10287" name="Rectangle 92">
            <a:extLst>
              <a:ext uri="{FF2B5EF4-FFF2-40B4-BE49-F238E27FC236}">
                <a16:creationId xmlns:a16="http://schemas.microsoft.com/office/drawing/2014/main" id="{A3D28C3B-1F05-466E-9C62-5204DE5BDEE2}"/>
              </a:ext>
            </a:extLst>
          </p:cNvPr>
          <p:cNvSpPr>
            <a:spLocks noChangeArrowheads="1"/>
          </p:cNvSpPr>
          <p:nvPr/>
        </p:nvSpPr>
        <p:spPr bwMode="auto">
          <a:xfrm>
            <a:off x="7204571" y="4864631"/>
            <a:ext cx="204006" cy="300008"/>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endParaRPr lang="zh-CN" altLang="en-US" sz="2268"/>
          </a:p>
        </p:txBody>
      </p:sp>
      <p:sp>
        <p:nvSpPr>
          <p:cNvPr id="10288" name="Rectangle 93">
            <a:extLst>
              <a:ext uri="{FF2B5EF4-FFF2-40B4-BE49-F238E27FC236}">
                <a16:creationId xmlns:a16="http://schemas.microsoft.com/office/drawing/2014/main" id="{6F21AC31-0E92-4101-AC1B-97366CE4C238}"/>
              </a:ext>
            </a:extLst>
          </p:cNvPr>
          <p:cNvSpPr>
            <a:spLocks noChangeArrowheads="1"/>
          </p:cNvSpPr>
          <p:nvPr/>
        </p:nvSpPr>
        <p:spPr bwMode="auto">
          <a:xfrm>
            <a:off x="1102407" y="4873632"/>
            <a:ext cx="5794656" cy="297008"/>
          </a:xfrm>
          <a:prstGeom prst="rect">
            <a:avLst/>
          </a:prstGeom>
          <a:gradFill rotWithShape="0">
            <a:gsLst>
              <a:gs pos="0">
                <a:srgbClr val="0000CC"/>
              </a:gs>
              <a:gs pos="50000">
                <a:srgbClr val="00005E"/>
              </a:gs>
              <a:gs pos="100000">
                <a:srgbClr val="0000CC"/>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7589" tIns="38795" rIns="77589" bIns="38795" anchor="ctr"/>
          <a:lstStyle>
            <a:lvl1pPr defTabSz="820738"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defTabSz="820738"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defTabSz="820738"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defTabSz="820738"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defTabSz="820738"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defTabSz="820738"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defTabSz="820738"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defTabSz="820738"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defTabSz="820738"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algn="ctr" latinLnBrk="0"/>
            <a:endParaRPr kumimoji="0" lang="en-US" altLang="zh-CN" sz="1228" b="1">
              <a:solidFill>
                <a:srgbClr val="99CCFF"/>
              </a:solidFill>
              <a:latin typeface="Arial" panose="020B0604020202020204" pitchFamily="34" charset="0"/>
              <a:ea typeface="宋体" panose="02010600030101010101" pitchFamily="2" charset="-122"/>
            </a:endParaRPr>
          </a:p>
        </p:txBody>
      </p:sp>
      <p:sp>
        <p:nvSpPr>
          <p:cNvPr id="10289" name="Line 94">
            <a:extLst>
              <a:ext uri="{FF2B5EF4-FFF2-40B4-BE49-F238E27FC236}">
                <a16:creationId xmlns:a16="http://schemas.microsoft.com/office/drawing/2014/main" id="{8DC645DA-17BE-4E97-811B-A9D80C3AC06E}"/>
              </a:ext>
            </a:extLst>
          </p:cNvPr>
          <p:cNvSpPr>
            <a:spLocks noChangeShapeType="1"/>
          </p:cNvSpPr>
          <p:nvPr/>
        </p:nvSpPr>
        <p:spPr bwMode="auto">
          <a:xfrm>
            <a:off x="6919564" y="5118138"/>
            <a:ext cx="261007" cy="0"/>
          </a:xfrm>
          <a:prstGeom prst="line">
            <a:avLst/>
          </a:prstGeom>
          <a:noFill/>
          <a:ln w="12700">
            <a:solidFill>
              <a:srgbClr val="FF0000"/>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0" name="Line 95">
            <a:extLst>
              <a:ext uri="{FF2B5EF4-FFF2-40B4-BE49-F238E27FC236}">
                <a16:creationId xmlns:a16="http://schemas.microsoft.com/office/drawing/2014/main" id="{2FA58C08-6ED5-4222-AE48-9E35EEC2F3B6}"/>
              </a:ext>
            </a:extLst>
          </p:cNvPr>
          <p:cNvSpPr>
            <a:spLocks noChangeShapeType="1"/>
          </p:cNvSpPr>
          <p:nvPr/>
        </p:nvSpPr>
        <p:spPr bwMode="auto">
          <a:xfrm>
            <a:off x="6919564" y="4927633"/>
            <a:ext cx="261007" cy="0"/>
          </a:xfrm>
          <a:prstGeom prst="line">
            <a:avLst/>
          </a:prstGeom>
          <a:noFill/>
          <a:ln w="12700">
            <a:solidFill>
              <a:srgbClr val="FF0000"/>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1" name="Rectangle 96">
            <a:extLst>
              <a:ext uri="{FF2B5EF4-FFF2-40B4-BE49-F238E27FC236}">
                <a16:creationId xmlns:a16="http://schemas.microsoft.com/office/drawing/2014/main" id="{27CD339D-29B1-4E84-8F82-F8A5DD48E76E}"/>
              </a:ext>
            </a:extLst>
          </p:cNvPr>
          <p:cNvSpPr>
            <a:spLocks noChangeArrowheads="1"/>
          </p:cNvSpPr>
          <p:nvPr/>
        </p:nvSpPr>
        <p:spPr bwMode="auto">
          <a:xfrm>
            <a:off x="1714424" y="2220059"/>
            <a:ext cx="1261534" cy="301509"/>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7589" tIns="38795" rIns="77589" bIns="38795" anchor="ctr"/>
          <a:lstStyle>
            <a:lvl1pPr defTabSz="820738"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defTabSz="820738"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defTabSz="820738"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defTabSz="820738"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defTabSz="820738"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defTabSz="820738"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defTabSz="820738"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defTabSz="820738"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defTabSz="820738"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algn="ctr" latinLnBrk="0"/>
            <a:r>
              <a:rPr kumimoji="0" lang="en-US" altLang="zh-CN" sz="2079">
                <a:latin typeface="Arial" panose="020B0604020202020204" pitchFamily="34" charset="0"/>
                <a:ea typeface="宋体" panose="02010600030101010101" pitchFamily="2" charset="-122"/>
              </a:rPr>
              <a:t>125 KHz</a:t>
            </a:r>
          </a:p>
        </p:txBody>
      </p:sp>
      <p:sp>
        <p:nvSpPr>
          <p:cNvPr id="10292" name="Rectangle 97">
            <a:extLst>
              <a:ext uri="{FF2B5EF4-FFF2-40B4-BE49-F238E27FC236}">
                <a16:creationId xmlns:a16="http://schemas.microsoft.com/office/drawing/2014/main" id="{3A0AAB2B-381B-440B-928D-A7EC7134A208}"/>
              </a:ext>
            </a:extLst>
          </p:cNvPr>
          <p:cNvSpPr>
            <a:spLocks noChangeArrowheads="1"/>
          </p:cNvSpPr>
          <p:nvPr/>
        </p:nvSpPr>
        <p:spPr bwMode="auto">
          <a:xfrm>
            <a:off x="3482970" y="2220059"/>
            <a:ext cx="1261535" cy="301509"/>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7589" tIns="38795" rIns="77589" bIns="38795" anchor="ctr"/>
          <a:lstStyle>
            <a:lvl1pPr defTabSz="820738"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defTabSz="820738"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defTabSz="820738"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defTabSz="820738"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defTabSz="820738"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defTabSz="820738"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defTabSz="820738"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defTabSz="820738"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defTabSz="820738"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algn="ctr" latinLnBrk="0"/>
            <a:r>
              <a:rPr kumimoji="0" lang="en-US" altLang="zh-CN" sz="2079">
                <a:latin typeface="Times New Roman" panose="02020603050405020304" pitchFamily="18" charset="0"/>
                <a:ea typeface="宋体" panose="02010600030101010101" pitchFamily="2" charset="-122"/>
              </a:rPr>
              <a:t>13.56 MHz</a:t>
            </a:r>
          </a:p>
        </p:txBody>
      </p:sp>
      <p:sp>
        <p:nvSpPr>
          <p:cNvPr id="10293" name="Rectangle 98">
            <a:extLst>
              <a:ext uri="{FF2B5EF4-FFF2-40B4-BE49-F238E27FC236}">
                <a16:creationId xmlns:a16="http://schemas.microsoft.com/office/drawing/2014/main" id="{9E35EBA9-FF11-41F1-BCD4-483567EF6ABB}"/>
              </a:ext>
            </a:extLst>
          </p:cNvPr>
          <p:cNvSpPr>
            <a:spLocks noChangeArrowheads="1"/>
          </p:cNvSpPr>
          <p:nvPr/>
        </p:nvSpPr>
        <p:spPr bwMode="auto">
          <a:xfrm>
            <a:off x="5173517" y="1782047"/>
            <a:ext cx="1261534" cy="301509"/>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7589" tIns="38795" rIns="77589" bIns="38795" anchor="ctr"/>
          <a:lstStyle>
            <a:lvl1pPr defTabSz="820738"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defTabSz="820738"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defTabSz="820738"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defTabSz="820738"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defTabSz="820738"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defTabSz="820738"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defTabSz="820738"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defTabSz="820738"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defTabSz="820738"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algn="ctr" latinLnBrk="0"/>
            <a:r>
              <a:rPr kumimoji="0" lang="en-US" altLang="zh-CN" sz="2079" b="1">
                <a:latin typeface="Times New Roman" panose="02020603050405020304" pitchFamily="18" charset="0"/>
                <a:ea typeface="宋体" panose="02010600030101010101" pitchFamily="2" charset="-122"/>
              </a:rPr>
              <a:t>915 MHz</a:t>
            </a:r>
          </a:p>
        </p:txBody>
      </p:sp>
      <p:sp>
        <p:nvSpPr>
          <p:cNvPr id="10294" name="Rectangle 99">
            <a:extLst>
              <a:ext uri="{FF2B5EF4-FFF2-40B4-BE49-F238E27FC236}">
                <a16:creationId xmlns:a16="http://schemas.microsoft.com/office/drawing/2014/main" id="{CBC39CF5-A230-4423-977C-A24B6BCA6138}"/>
              </a:ext>
            </a:extLst>
          </p:cNvPr>
          <p:cNvSpPr>
            <a:spLocks noChangeArrowheads="1"/>
          </p:cNvSpPr>
          <p:nvPr/>
        </p:nvSpPr>
        <p:spPr bwMode="auto">
          <a:xfrm>
            <a:off x="6376549" y="2302563"/>
            <a:ext cx="1261534" cy="303008"/>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7589" tIns="38795" rIns="77589" bIns="38795" anchor="ctr"/>
          <a:lstStyle>
            <a:lvl1pPr defTabSz="820738"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defTabSz="820738"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defTabSz="820738"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defTabSz="820738"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defTabSz="820738"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defTabSz="820738"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defTabSz="820738"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defTabSz="820738"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defTabSz="820738"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algn="ctr" latinLnBrk="0"/>
            <a:r>
              <a:rPr kumimoji="0" lang="en-US" altLang="zh-CN" sz="2079">
                <a:latin typeface="Times New Roman" panose="02020603050405020304" pitchFamily="18" charset="0"/>
                <a:ea typeface="宋体" panose="02010600030101010101" pitchFamily="2" charset="-122"/>
              </a:rPr>
              <a:t>2.45 GHz</a:t>
            </a:r>
          </a:p>
        </p:txBody>
      </p:sp>
      <p:sp>
        <p:nvSpPr>
          <p:cNvPr id="10295" name="Line 100">
            <a:extLst>
              <a:ext uri="{FF2B5EF4-FFF2-40B4-BE49-F238E27FC236}">
                <a16:creationId xmlns:a16="http://schemas.microsoft.com/office/drawing/2014/main" id="{3FC7EBC6-0047-4F8A-A154-CF39AED1886F}"/>
              </a:ext>
            </a:extLst>
          </p:cNvPr>
          <p:cNvSpPr>
            <a:spLocks noChangeShapeType="1"/>
          </p:cNvSpPr>
          <p:nvPr/>
        </p:nvSpPr>
        <p:spPr bwMode="auto">
          <a:xfrm>
            <a:off x="1327413" y="5619151"/>
            <a:ext cx="700818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96" name="Text Box 101">
            <a:extLst>
              <a:ext uri="{FF2B5EF4-FFF2-40B4-BE49-F238E27FC236}">
                <a16:creationId xmlns:a16="http://schemas.microsoft.com/office/drawing/2014/main" id="{35556670-7087-4A45-A3CA-348865030EEE}"/>
              </a:ext>
            </a:extLst>
          </p:cNvPr>
          <p:cNvSpPr txBox="1">
            <a:spLocks noChangeArrowheads="1"/>
          </p:cNvSpPr>
          <p:nvPr/>
        </p:nvSpPr>
        <p:spPr bwMode="auto">
          <a:xfrm>
            <a:off x="7900590" y="4815879"/>
            <a:ext cx="684018" cy="394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7589" tIns="38795" rIns="77589" bIns="38795">
            <a:spAutoFit/>
          </a:bodyPr>
          <a:lstStyle>
            <a:lvl1pPr defTabSz="820738"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defTabSz="820738"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defTabSz="820738"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defTabSz="820738"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defTabSz="820738"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defTabSz="820738"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defTabSz="820738"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defTabSz="820738"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defTabSz="820738"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latinLnBrk="0"/>
            <a:r>
              <a:rPr kumimoji="0" lang="zh-CN" altLang="en-US" sz="2000" dirty="0">
                <a:latin typeface="微软雅黑" panose="020B0503020204020204" pitchFamily="34" charset="-122"/>
                <a:ea typeface="微软雅黑" panose="020B0503020204020204" pitchFamily="34" charset="-122"/>
              </a:rPr>
              <a:t>频谱</a:t>
            </a:r>
          </a:p>
        </p:txBody>
      </p:sp>
      <p:sp>
        <p:nvSpPr>
          <p:cNvPr id="57" name="Rectangle 2">
            <a:extLst>
              <a:ext uri="{FF2B5EF4-FFF2-40B4-BE49-F238E27FC236}">
                <a16:creationId xmlns:a16="http://schemas.microsoft.com/office/drawing/2014/main" id="{54985C3C-8C5F-4A0D-904B-AC17029E1D8E}"/>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
        <p:nvSpPr>
          <p:cNvPr id="60" name="Line 63">
            <a:extLst>
              <a:ext uri="{FF2B5EF4-FFF2-40B4-BE49-F238E27FC236}">
                <a16:creationId xmlns:a16="http://schemas.microsoft.com/office/drawing/2014/main" id="{B6DAB97E-4263-4E21-97CD-674847CE57E3}"/>
              </a:ext>
            </a:extLst>
          </p:cNvPr>
          <p:cNvSpPr>
            <a:spLocks noChangeShapeType="1"/>
          </p:cNvSpPr>
          <p:nvPr/>
        </p:nvSpPr>
        <p:spPr bwMode="auto">
          <a:xfrm flipV="1">
            <a:off x="6583024" y="4006608"/>
            <a:ext cx="0" cy="88202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Rectangle 64">
            <a:extLst>
              <a:ext uri="{FF2B5EF4-FFF2-40B4-BE49-F238E27FC236}">
                <a16:creationId xmlns:a16="http://schemas.microsoft.com/office/drawing/2014/main" id="{F6ED83EE-62F8-4C5F-8D83-FFF5F01B2EB0}"/>
              </a:ext>
            </a:extLst>
          </p:cNvPr>
          <p:cNvSpPr>
            <a:spLocks noChangeArrowheads="1"/>
          </p:cNvSpPr>
          <p:nvPr/>
        </p:nvSpPr>
        <p:spPr bwMode="auto">
          <a:xfrm>
            <a:off x="7110276" y="3913465"/>
            <a:ext cx="318808" cy="204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3881" tIns="21552" rIns="53881" bIns="21552">
            <a:spAutoFit/>
          </a:bodyPr>
          <a:lstStyle/>
          <a:p>
            <a:pPr defTabSz="775515" eaLnBrk="0" hangingPunct="0">
              <a:lnSpc>
                <a:spcPct val="85000"/>
              </a:lnSpc>
              <a:defRPr/>
            </a:pPr>
            <a:r>
              <a:rPr lang="en-US" altLang="zh-CN" sz="1228" b="1" dirty="0">
                <a:solidFill>
                  <a:schemeClr val="folHlink"/>
                </a:solidFill>
                <a:effectLst>
                  <a:outerShdw blurRad="38100" dist="38100" dir="2700000" algn="tl">
                    <a:srgbClr val="C0C0C0"/>
                  </a:outerShdw>
                </a:effectLst>
              </a:rPr>
              <a:t>3G</a:t>
            </a:r>
            <a:endParaRPr lang="zh-CN" altLang="en-US" sz="1228" b="1" dirty="0">
              <a:solidFill>
                <a:schemeClr val="folHlink"/>
              </a:solidFill>
              <a:effectLst>
                <a:outerShdw blurRad="38100" dist="38100" dir="2700000" algn="tl">
                  <a:srgbClr val="C0C0C0"/>
                </a:outerShdw>
              </a:effectLst>
            </a:endParaRPr>
          </a:p>
        </p:txBody>
      </p:sp>
      <p:sp>
        <p:nvSpPr>
          <p:cNvPr id="62" name="Line 80">
            <a:extLst>
              <a:ext uri="{FF2B5EF4-FFF2-40B4-BE49-F238E27FC236}">
                <a16:creationId xmlns:a16="http://schemas.microsoft.com/office/drawing/2014/main" id="{3EB4A537-E1F1-4FE8-8A21-9A9E3D941AA5}"/>
              </a:ext>
            </a:extLst>
          </p:cNvPr>
          <p:cNvSpPr>
            <a:spLocks noChangeShapeType="1"/>
          </p:cNvSpPr>
          <p:nvPr/>
        </p:nvSpPr>
        <p:spPr bwMode="auto">
          <a:xfrm>
            <a:off x="6584304" y="4006608"/>
            <a:ext cx="457512"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灯片编号占位符 5">
            <a:extLst>
              <a:ext uri="{FF2B5EF4-FFF2-40B4-BE49-F238E27FC236}">
                <a16:creationId xmlns:a16="http://schemas.microsoft.com/office/drawing/2014/main" id="{CB229DBC-609C-41B6-B2AC-E50F7609E266}"/>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83E2C695-7B67-4CFB-8E95-524E4F835260}" type="slidenum">
              <a:rPr lang="en-US" altLang="ko-KR" sz="1323">
                <a:latin typeface="Times New Roman" panose="02020603050405020304" pitchFamily="18" charset="0"/>
                <a:ea typeface="-소망M" pitchFamily="18" charset="-127"/>
              </a:rPr>
              <a:pPr eaLnBrk="1" hangingPunct="1"/>
              <a:t>25</a:t>
            </a:fld>
            <a:endParaRPr lang="en-US" altLang="ko-KR" sz="1323">
              <a:latin typeface="Times New Roman" panose="02020603050405020304" pitchFamily="18" charset="0"/>
              <a:ea typeface="-소망M" pitchFamily="18" charset="-127"/>
            </a:endParaRPr>
          </a:p>
        </p:txBody>
      </p:sp>
      <p:sp>
        <p:nvSpPr>
          <p:cNvPr id="10245" name="Rectangle 49">
            <a:extLst>
              <a:ext uri="{FF2B5EF4-FFF2-40B4-BE49-F238E27FC236}">
                <a16:creationId xmlns:a16="http://schemas.microsoft.com/office/drawing/2014/main" id="{2E3E68F4-DDF5-4F28-8879-2B139C3E4CCB}"/>
              </a:ext>
            </a:extLst>
          </p:cNvPr>
          <p:cNvSpPr>
            <a:spLocks noChangeArrowheads="1"/>
          </p:cNvSpPr>
          <p:nvPr/>
        </p:nvSpPr>
        <p:spPr bwMode="auto">
          <a:xfrm>
            <a:off x="3581985" y="5900738"/>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r>
              <a:rPr lang="zh-CN" altLang="en-US" sz="2000" dirty="0">
                <a:latin typeface="微软雅黑" panose="020B0503020204020204" pitchFamily="34" charset="-122"/>
                <a:ea typeface="微软雅黑" panose="020B0503020204020204" pitchFamily="34" charset="-122"/>
              </a:rPr>
              <a:t>电磁波谱的划分</a:t>
            </a:r>
          </a:p>
        </p:txBody>
      </p:sp>
      <p:sp>
        <p:nvSpPr>
          <p:cNvPr id="57" name="Rectangle 2">
            <a:extLst>
              <a:ext uri="{FF2B5EF4-FFF2-40B4-BE49-F238E27FC236}">
                <a16:creationId xmlns:a16="http://schemas.microsoft.com/office/drawing/2014/main" id="{54985C3C-8C5F-4A0D-904B-AC17029E1D8E}"/>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pic>
        <p:nvPicPr>
          <p:cNvPr id="5" name="图片 4">
            <a:extLst>
              <a:ext uri="{FF2B5EF4-FFF2-40B4-BE49-F238E27FC236}">
                <a16:creationId xmlns:a16="http://schemas.microsoft.com/office/drawing/2014/main" id="{81767628-18B1-47A0-AC89-9CCFABE026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2307" y="647799"/>
            <a:ext cx="4139383" cy="5284996"/>
          </a:xfrm>
          <a:prstGeom prst="rect">
            <a:avLst/>
          </a:prstGeom>
        </p:spPr>
      </p:pic>
    </p:spTree>
    <p:extLst>
      <p:ext uri="{BB962C8B-B14F-4D97-AF65-F5344CB8AC3E}">
        <p14:creationId xmlns:p14="http://schemas.microsoft.com/office/powerpoint/2010/main" val="31576441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AA9C036E-8C0D-41D3-924B-0EFE616A34FA}"/>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16A92F4B-D343-48D9-8DCE-0E980D7E6C3D}" type="slidenum">
              <a:rPr lang="en-US" altLang="ko-KR" sz="1323">
                <a:latin typeface="Times New Roman" panose="02020603050405020304" pitchFamily="18" charset="0"/>
                <a:ea typeface="-소망M" pitchFamily="18" charset="-127"/>
              </a:rPr>
              <a:pPr eaLnBrk="1" hangingPunct="1"/>
              <a:t>26</a:t>
            </a:fld>
            <a:endParaRPr lang="en-US" altLang="ko-KR" sz="1323">
              <a:latin typeface="Times New Roman" panose="02020603050405020304" pitchFamily="18" charset="0"/>
              <a:ea typeface="-소망M" pitchFamily="18" charset="-127"/>
            </a:endParaRPr>
          </a:p>
        </p:txBody>
      </p:sp>
      <p:graphicFrame>
        <p:nvGraphicFramePr>
          <p:cNvPr id="11270" name="Object 4">
            <a:extLst>
              <a:ext uri="{FF2B5EF4-FFF2-40B4-BE49-F238E27FC236}">
                <a16:creationId xmlns:a16="http://schemas.microsoft.com/office/drawing/2014/main" id="{D7EEEBC9-68B9-4892-B68A-CF22D1CF4B75}"/>
              </a:ext>
            </a:extLst>
          </p:cNvPr>
          <p:cNvGraphicFramePr>
            <a:graphicFrameLocks noChangeAspect="1"/>
          </p:cNvGraphicFramePr>
          <p:nvPr>
            <p:extLst>
              <p:ext uri="{D42A27DB-BD31-4B8C-83A1-F6EECF244321}">
                <p14:modId xmlns:p14="http://schemas.microsoft.com/office/powerpoint/2010/main" val="3050774006"/>
              </p:ext>
            </p:extLst>
          </p:nvPr>
        </p:nvGraphicFramePr>
        <p:xfrm>
          <a:off x="1403648" y="2103056"/>
          <a:ext cx="7381700" cy="2274061"/>
        </p:xfrm>
        <a:graphic>
          <a:graphicData uri="http://schemas.openxmlformats.org/presentationml/2006/ole">
            <mc:AlternateContent xmlns:mc="http://schemas.openxmlformats.org/markup-compatibility/2006">
              <mc:Choice xmlns:v="urn:schemas-microsoft-com:vml" Requires="v">
                <p:oleObj spid="_x0000_s2075" name="图片" r:id="rId3" imgW="2745542" imgH="1828233" progId="Word.Picture.8">
                  <p:embed/>
                </p:oleObj>
              </mc:Choice>
              <mc:Fallback>
                <p:oleObj name="图片" r:id="rId3" imgW="2745542" imgH="1828233" progId="Word.Picture.8">
                  <p:embed/>
                  <p:pic>
                    <p:nvPicPr>
                      <p:cNvPr id="11270" name="Object 4">
                        <a:extLst>
                          <a:ext uri="{FF2B5EF4-FFF2-40B4-BE49-F238E27FC236}">
                            <a16:creationId xmlns:a16="http://schemas.microsoft.com/office/drawing/2014/main" id="{D7EEEBC9-68B9-4892-B68A-CF22D1CF4B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250" t="4550" r="-78032" b="12465"/>
                      <a:stretch>
                        <a:fillRect/>
                      </a:stretch>
                    </p:blipFill>
                    <p:spPr bwMode="auto">
                      <a:xfrm>
                        <a:off x="1403648" y="2103056"/>
                        <a:ext cx="7381700" cy="2274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71" name="Rectangle 6">
            <a:extLst>
              <a:ext uri="{FF2B5EF4-FFF2-40B4-BE49-F238E27FC236}">
                <a16:creationId xmlns:a16="http://schemas.microsoft.com/office/drawing/2014/main" id="{1D2CE763-19E3-46A6-9EAB-978CFD5D9295}"/>
              </a:ext>
            </a:extLst>
          </p:cNvPr>
          <p:cNvSpPr>
            <a:spLocks noChangeArrowheads="1"/>
          </p:cNvSpPr>
          <p:nvPr/>
        </p:nvSpPr>
        <p:spPr bwMode="auto">
          <a:xfrm>
            <a:off x="3927736" y="4824263"/>
            <a:ext cx="128852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algn="ctr" eaLnBrk="1" hangingPunct="1"/>
            <a:r>
              <a:rPr lang="zh-CN" altLang="en-US" sz="2000" dirty="0">
                <a:latin typeface="微软雅黑" panose="020B0503020204020204" pitchFamily="34" charset="-122"/>
                <a:ea typeface="微软雅黑" panose="020B0503020204020204" pitchFamily="34" charset="-122"/>
              </a:rPr>
              <a:t>电感耦合 </a:t>
            </a:r>
          </a:p>
        </p:txBody>
      </p:sp>
      <p:sp>
        <p:nvSpPr>
          <p:cNvPr id="8" name="Rectangle 2">
            <a:extLst>
              <a:ext uri="{FF2B5EF4-FFF2-40B4-BE49-F238E27FC236}">
                <a16:creationId xmlns:a16="http://schemas.microsoft.com/office/drawing/2014/main" id="{9010B3C5-17E4-4DED-8563-9DA96D78EFB2}"/>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
        <p:nvSpPr>
          <p:cNvPr id="11" name="Rectangle 3">
            <a:extLst>
              <a:ext uri="{FF2B5EF4-FFF2-40B4-BE49-F238E27FC236}">
                <a16:creationId xmlns:a16="http://schemas.microsoft.com/office/drawing/2014/main" id="{E102A9C2-814A-49E4-BED4-732B70F8D4D8}"/>
              </a:ext>
            </a:extLst>
          </p:cNvPr>
          <p:cNvSpPr txBox="1">
            <a:spLocks noChangeArrowheads="1"/>
          </p:cNvSpPr>
          <p:nvPr/>
        </p:nvSpPr>
        <p:spPr bwMode="auto">
          <a:xfrm>
            <a:off x="776614" y="848712"/>
            <a:ext cx="2765993" cy="44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的工作方式</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a:extLst>
              <a:ext uri="{FF2B5EF4-FFF2-40B4-BE49-F238E27FC236}">
                <a16:creationId xmlns:a16="http://schemas.microsoft.com/office/drawing/2014/main" id="{FBEE009D-4CDF-40DD-8B16-748D71C65FE4}"/>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D7113719-BA18-4002-B400-5417B38B9657}" type="slidenum">
              <a:rPr lang="en-US" altLang="ko-KR" sz="1323">
                <a:latin typeface="Times New Roman" panose="02020603050405020304" pitchFamily="18" charset="0"/>
                <a:ea typeface="-소망M" pitchFamily="18" charset="-127"/>
              </a:rPr>
              <a:pPr eaLnBrk="1" hangingPunct="1"/>
              <a:t>27</a:t>
            </a:fld>
            <a:endParaRPr lang="en-US" altLang="ko-KR" sz="1323">
              <a:latin typeface="Times New Roman" panose="02020603050405020304" pitchFamily="18" charset="0"/>
              <a:ea typeface="-소망M" pitchFamily="18" charset="-127"/>
            </a:endParaRPr>
          </a:p>
        </p:txBody>
      </p:sp>
      <p:sp>
        <p:nvSpPr>
          <p:cNvPr id="12294" name="Rectangle 6">
            <a:extLst>
              <a:ext uri="{FF2B5EF4-FFF2-40B4-BE49-F238E27FC236}">
                <a16:creationId xmlns:a16="http://schemas.microsoft.com/office/drawing/2014/main" id="{8815582B-52B2-49B3-AC8A-D81953DCB16C}"/>
              </a:ext>
            </a:extLst>
          </p:cNvPr>
          <p:cNvSpPr>
            <a:spLocks noChangeArrowheads="1"/>
          </p:cNvSpPr>
          <p:nvPr/>
        </p:nvSpPr>
        <p:spPr bwMode="auto">
          <a:xfrm>
            <a:off x="3923928" y="5247847"/>
            <a:ext cx="129754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algn="ctr" eaLnBrk="1" hangingPunct="1"/>
            <a:r>
              <a:rPr lang="zh-CN" altLang="en-US" sz="2000" dirty="0">
                <a:latin typeface="微软雅黑" panose="020B0503020204020204" pitchFamily="34" charset="-122"/>
                <a:ea typeface="微软雅黑" panose="020B0503020204020204" pitchFamily="34" charset="-122"/>
              </a:rPr>
              <a:t>负载调制 </a:t>
            </a:r>
          </a:p>
        </p:txBody>
      </p:sp>
      <p:graphicFrame>
        <p:nvGraphicFramePr>
          <p:cNvPr id="12296" name="Object 7">
            <a:extLst>
              <a:ext uri="{FF2B5EF4-FFF2-40B4-BE49-F238E27FC236}">
                <a16:creationId xmlns:a16="http://schemas.microsoft.com/office/drawing/2014/main" id="{D130E78A-C750-41F9-94FD-76B166E0F747}"/>
              </a:ext>
            </a:extLst>
          </p:cNvPr>
          <p:cNvGraphicFramePr>
            <a:graphicFrameLocks noChangeAspect="1"/>
          </p:cNvGraphicFramePr>
          <p:nvPr>
            <p:extLst>
              <p:ext uri="{D42A27DB-BD31-4B8C-83A1-F6EECF244321}">
                <p14:modId xmlns:p14="http://schemas.microsoft.com/office/powerpoint/2010/main" val="129577480"/>
              </p:ext>
            </p:extLst>
          </p:nvPr>
        </p:nvGraphicFramePr>
        <p:xfrm>
          <a:off x="1460167" y="1749804"/>
          <a:ext cx="6088664" cy="3199587"/>
        </p:xfrm>
        <a:graphic>
          <a:graphicData uri="http://schemas.openxmlformats.org/presentationml/2006/ole">
            <mc:AlternateContent xmlns:mc="http://schemas.openxmlformats.org/markup-compatibility/2006">
              <mc:Choice xmlns:v="urn:schemas-microsoft-com:vml" Requires="v">
                <p:oleObj spid="_x0000_s3099" name="图片" r:id="rId3" imgW="3737238" imgH="1961418" progId="Word.Picture.8">
                  <p:embed/>
                </p:oleObj>
              </mc:Choice>
              <mc:Fallback>
                <p:oleObj name="图片" r:id="rId3" imgW="3737238" imgH="1961418" progId="Word.Picture.8">
                  <p:embed/>
                  <p:pic>
                    <p:nvPicPr>
                      <p:cNvPr id="12296" name="Object 7">
                        <a:extLst>
                          <a:ext uri="{FF2B5EF4-FFF2-40B4-BE49-F238E27FC236}">
                            <a16:creationId xmlns:a16="http://schemas.microsoft.com/office/drawing/2014/main" id="{D130E78A-C750-41F9-94FD-76B166E0F7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0167" y="1749804"/>
                        <a:ext cx="6088664" cy="319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2">
            <a:extLst>
              <a:ext uri="{FF2B5EF4-FFF2-40B4-BE49-F238E27FC236}">
                <a16:creationId xmlns:a16="http://schemas.microsoft.com/office/drawing/2014/main" id="{81ABCE26-5B9E-4278-ADDC-E87594AA071B}"/>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
        <p:nvSpPr>
          <p:cNvPr id="14" name="Rectangle 3">
            <a:extLst>
              <a:ext uri="{FF2B5EF4-FFF2-40B4-BE49-F238E27FC236}">
                <a16:creationId xmlns:a16="http://schemas.microsoft.com/office/drawing/2014/main" id="{A833ECB2-DA67-4068-BC74-BBF6BAA54C55}"/>
              </a:ext>
            </a:extLst>
          </p:cNvPr>
          <p:cNvSpPr txBox="1">
            <a:spLocks noChangeArrowheads="1"/>
          </p:cNvSpPr>
          <p:nvPr/>
        </p:nvSpPr>
        <p:spPr bwMode="auto">
          <a:xfrm>
            <a:off x="776614" y="848712"/>
            <a:ext cx="2765993" cy="44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的工作方式</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a:extLst>
              <a:ext uri="{FF2B5EF4-FFF2-40B4-BE49-F238E27FC236}">
                <a16:creationId xmlns:a16="http://schemas.microsoft.com/office/drawing/2014/main" id="{D7A68B0B-CB87-4F4D-A285-C21AAA1342D0}"/>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0EE90226-1958-43E4-A92D-33B4759A9233}" type="slidenum">
              <a:rPr lang="en-US" altLang="ko-KR" sz="1323">
                <a:latin typeface="Times New Roman" panose="02020603050405020304" pitchFamily="18" charset="0"/>
                <a:ea typeface="-소망M" pitchFamily="18" charset="-127"/>
              </a:rPr>
              <a:pPr eaLnBrk="1" hangingPunct="1"/>
              <a:t>28</a:t>
            </a:fld>
            <a:endParaRPr lang="en-US" altLang="ko-KR" sz="1323">
              <a:latin typeface="Times New Roman" panose="02020603050405020304" pitchFamily="18" charset="0"/>
              <a:ea typeface="-소망M" pitchFamily="18" charset="-127"/>
            </a:endParaRPr>
          </a:p>
        </p:txBody>
      </p:sp>
      <p:sp>
        <p:nvSpPr>
          <p:cNvPr id="13318" name="Rectangle 5">
            <a:extLst>
              <a:ext uri="{FF2B5EF4-FFF2-40B4-BE49-F238E27FC236}">
                <a16:creationId xmlns:a16="http://schemas.microsoft.com/office/drawing/2014/main" id="{95678665-AC02-4EE1-956D-18DAD08303CD}"/>
              </a:ext>
            </a:extLst>
          </p:cNvPr>
          <p:cNvSpPr>
            <a:spLocks noChangeArrowheads="1"/>
          </p:cNvSpPr>
          <p:nvPr/>
        </p:nvSpPr>
        <p:spPr bwMode="auto">
          <a:xfrm>
            <a:off x="3624305" y="4752255"/>
            <a:ext cx="17603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algn="ctr" eaLnBrk="1" hangingPunct="1"/>
            <a:r>
              <a:rPr lang="zh-CN" altLang="en-US" sz="2000" dirty="0">
                <a:latin typeface="微软雅黑" panose="020B0503020204020204" pitchFamily="34" charset="-122"/>
                <a:ea typeface="微软雅黑" panose="020B0503020204020204" pitchFamily="34" charset="-122"/>
              </a:rPr>
              <a:t>反向散射耦合</a:t>
            </a:r>
          </a:p>
        </p:txBody>
      </p:sp>
      <p:graphicFrame>
        <p:nvGraphicFramePr>
          <p:cNvPr id="13321" name="Object 8">
            <a:extLst>
              <a:ext uri="{FF2B5EF4-FFF2-40B4-BE49-F238E27FC236}">
                <a16:creationId xmlns:a16="http://schemas.microsoft.com/office/drawing/2014/main" id="{7111F20C-DFD0-498D-BF6F-A1501FADBB1D}"/>
              </a:ext>
            </a:extLst>
          </p:cNvPr>
          <p:cNvGraphicFramePr>
            <a:graphicFrameLocks noChangeAspect="1"/>
          </p:cNvGraphicFramePr>
          <p:nvPr>
            <p:extLst>
              <p:ext uri="{D42A27DB-BD31-4B8C-83A1-F6EECF244321}">
                <p14:modId xmlns:p14="http://schemas.microsoft.com/office/powerpoint/2010/main" val="3753405649"/>
              </p:ext>
            </p:extLst>
          </p:nvPr>
        </p:nvGraphicFramePr>
        <p:xfrm>
          <a:off x="983904" y="1726711"/>
          <a:ext cx="7041190" cy="2334063"/>
        </p:xfrm>
        <a:graphic>
          <a:graphicData uri="http://schemas.openxmlformats.org/presentationml/2006/ole">
            <mc:AlternateContent xmlns:mc="http://schemas.openxmlformats.org/markup-compatibility/2006">
              <mc:Choice xmlns:v="urn:schemas-microsoft-com:vml" Requires="v">
                <p:oleObj spid="_x0000_s4123" name="图片" r:id="rId3" imgW="3622646" imgH="1199744" progId="Word.Picture.8">
                  <p:embed/>
                </p:oleObj>
              </mc:Choice>
              <mc:Fallback>
                <p:oleObj name="图片" r:id="rId3" imgW="3622646" imgH="1199744" progId="Word.Picture.8">
                  <p:embed/>
                  <p:pic>
                    <p:nvPicPr>
                      <p:cNvPr id="13321" name="Object 8">
                        <a:extLst>
                          <a:ext uri="{FF2B5EF4-FFF2-40B4-BE49-F238E27FC236}">
                            <a16:creationId xmlns:a16="http://schemas.microsoft.com/office/drawing/2014/main" id="{7111F20C-DFD0-498D-BF6F-A1501FADBB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3904" y="1726711"/>
                        <a:ext cx="7041190" cy="233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2">
            <a:extLst>
              <a:ext uri="{FF2B5EF4-FFF2-40B4-BE49-F238E27FC236}">
                <a16:creationId xmlns:a16="http://schemas.microsoft.com/office/drawing/2014/main" id="{7FA11C2F-C705-486B-B0EA-4A9444257840}"/>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
        <p:nvSpPr>
          <p:cNvPr id="15" name="Rectangle 3">
            <a:extLst>
              <a:ext uri="{FF2B5EF4-FFF2-40B4-BE49-F238E27FC236}">
                <a16:creationId xmlns:a16="http://schemas.microsoft.com/office/drawing/2014/main" id="{A52E1FB6-64A2-4112-92ED-3F2B60C940C1}"/>
              </a:ext>
            </a:extLst>
          </p:cNvPr>
          <p:cNvSpPr txBox="1">
            <a:spLocks noChangeArrowheads="1"/>
          </p:cNvSpPr>
          <p:nvPr/>
        </p:nvSpPr>
        <p:spPr bwMode="auto">
          <a:xfrm>
            <a:off x="776614" y="848712"/>
            <a:ext cx="2765993" cy="44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的工作方式</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a:extLst>
              <a:ext uri="{FF2B5EF4-FFF2-40B4-BE49-F238E27FC236}">
                <a16:creationId xmlns:a16="http://schemas.microsoft.com/office/drawing/2014/main" id="{44DD5334-588A-486F-ABAF-7F38425FB851}"/>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96BA7A7F-074E-4B31-A3D7-3277A47D69B3}" type="slidenum">
              <a:rPr lang="en-US" altLang="ko-KR" sz="1323">
                <a:latin typeface="Times New Roman" panose="02020603050405020304" pitchFamily="18" charset="0"/>
                <a:ea typeface="-소망M" pitchFamily="18" charset="-127"/>
              </a:rPr>
              <a:pPr eaLnBrk="1" hangingPunct="1"/>
              <a:t>29</a:t>
            </a:fld>
            <a:endParaRPr lang="en-US" altLang="ko-KR" sz="1323">
              <a:latin typeface="Times New Roman" panose="02020603050405020304" pitchFamily="18" charset="0"/>
              <a:ea typeface="-소망M" pitchFamily="18" charset="-127"/>
            </a:endParaRPr>
          </a:p>
        </p:txBody>
      </p:sp>
      <p:sp>
        <p:nvSpPr>
          <p:cNvPr id="14340" name="Rectangle 3">
            <a:extLst>
              <a:ext uri="{FF2B5EF4-FFF2-40B4-BE49-F238E27FC236}">
                <a16:creationId xmlns:a16="http://schemas.microsoft.com/office/drawing/2014/main" id="{343ECD8D-6BA4-4D4D-ADCD-6E49399C0286}"/>
              </a:ext>
            </a:extLst>
          </p:cNvPr>
          <p:cNvSpPr>
            <a:spLocks noGrp="1" noChangeArrowheads="1"/>
          </p:cNvSpPr>
          <p:nvPr>
            <p:ph type="body" idx="1"/>
          </p:nvPr>
        </p:nvSpPr>
        <p:spPr>
          <a:xfrm>
            <a:off x="574807" y="1079847"/>
            <a:ext cx="7992888" cy="883523"/>
          </a:xfrm>
        </p:spPr>
        <p:txBody>
          <a:bodyPr/>
          <a:lstStyle/>
          <a:p>
            <a:pPr eaLnBrk="1" hangingPunct="1"/>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声表面波（</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Surface Acoustic Wave</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SAW</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）器件是以压电效应和与表面弹性相关的低速传播的声波为依据。 </a:t>
            </a:r>
          </a:p>
        </p:txBody>
      </p:sp>
      <p:graphicFrame>
        <p:nvGraphicFramePr>
          <p:cNvPr id="14345" name="Object 9">
            <a:extLst>
              <a:ext uri="{FF2B5EF4-FFF2-40B4-BE49-F238E27FC236}">
                <a16:creationId xmlns:a16="http://schemas.microsoft.com/office/drawing/2014/main" id="{8E118227-6237-4F2C-A4FB-E14615FBBE0F}"/>
              </a:ext>
            </a:extLst>
          </p:cNvPr>
          <p:cNvGraphicFramePr>
            <a:graphicFrameLocks noChangeAspect="1"/>
          </p:cNvGraphicFramePr>
          <p:nvPr>
            <p:extLst>
              <p:ext uri="{D42A27DB-BD31-4B8C-83A1-F6EECF244321}">
                <p14:modId xmlns:p14="http://schemas.microsoft.com/office/powerpoint/2010/main" val="3284305911"/>
              </p:ext>
            </p:extLst>
          </p:nvPr>
        </p:nvGraphicFramePr>
        <p:xfrm>
          <a:off x="1577920" y="2361669"/>
          <a:ext cx="5986662" cy="2608570"/>
        </p:xfrm>
        <a:graphic>
          <a:graphicData uri="http://schemas.openxmlformats.org/presentationml/2006/ole">
            <mc:AlternateContent xmlns:mc="http://schemas.openxmlformats.org/markup-compatibility/2006">
              <mc:Choice xmlns:v="urn:schemas-microsoft-com:vml" Requires="v">
                <p:oleObj spid="_x0000_s5147" name="图片" r:id="rId3" imgW="4375787" imgH="1904545" progId="Word.Picture.8">
                  <p:embed/>
                </p:oleObj>
              </mc:Choice>
              <mc:Fallback>
                <p:oleObj name="图片" r:id="rId3" imgW="4375787" imgH="1904545" progId="Word.Picture.8">
                  <p:embed/>
                  <p:pic>
                    <p:nvPicPr>
                      <p:cNvPr id="14345" name="Object 9">
                        <a:extLst>
                          <a:ext uri="{FF2B5EF4-FFF2-40B4-BE49-F238E27FC236}">
                            <a16:creationId xmlns:a16="http://schemas.microsoft.com/office/drawing/2014/main" id="{8E118227-6237-4F2C-A4FB-E14615FBBE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7920" y="2361669"/>
                        <a:ext cx="5986662" cy="2608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2">
            <a:extLst>
              <a:ext uri="{FF2B5EF4-FFF2-40B4-BE49-F238E27FC236}">
                <a16:creationId xmlns:a16="http://schemas.microsoft.com/office/drawing/2014/main" id="{60E36FAA-6399-465B-991C-814039964F97}"/>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a:extLst>
              <a:ext uri="{FF2B5EF4-FFF2-40B4-BE49-F238E27FC236}">
                <a16:creationId xmlns:a16="http://schemas.microsoft.com/office/drawing/2014/main" id="{876662AC-F71A-4201-B79F-D1CEEE48D2BD}"/>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BCC3CCBF-F9EA-4054-ACE4-27F8DE86B540}" type="slidenum">
              <a:rPr lang="en-US" altLang="ko-KR" sz="1323">
                <a:latin typeface="Times New Roman" panose="02020603050405020304" pitchFamily="18" charset="0"/>
                <a:ea typeface="-소망M" pitchFamily="18" charset="-127"/>
              </a:rPr>
              <a:pPr eaLnBrk="1" hangingPunct="1"/>
              <a:t>30</a:t>
            </a:fld>
            <a:endParaRPr lang="en-US" altLang="ko-KR" sz="1323">
              <a:latin typeface="Times New Roman" panose="02020603050405020304" pitchFamily="18" charset="0"/>
              <a:ea typeface="-소망M" pitchFamily="18" charset="-127"/>
            </a:endParaRPr>
          </a:p>
        </p:txBody>
      </p:sp>
      <p:sp>
        <p:nvSpPr>
          <p:cNvPr id="15364" name="Rectangle 3">
            <a:extLst>
              <a:ext uri="{FF2B5EF4-FFF2-40B4-BE49-F238E27FC236}">
                <a16:creationId xmlns:a16="http://schemas.microsoft.com/office/drawing/2014/main" id="{7613F7FB-A3EE-434A-99A9-743CCA1EEB80}"/>
              </a:ext>
            </a:extLst>
          </p:cNvPr>
          <p:cNvSpPr>
            <a:spLocks noGrp="1" noChangeArrowheads="1"/>
          </p:cNvSpPr>
          <p:nvPr>
            <p:ph type="body" idx="1"/>
          </p:nvPr>
        </p:nvSpPr>
        <p:spPr>
          <a:xfrm>
            <a:off x="396050" y="1105990"/>
            <a:ext cx="8351899" cy="864096"/>
          </a:xfrm>
        </p:spPr>
        <p:txBody>
          <a:bodyPr/>
          <a:lstStyle/>
          <a:p>
            <a:pPr eaLnBrk="1" hangingPunct="1"/>
            <a:r>
              <a:rPr lang="zh-CN" altLang="en-US" sz="2400" dirty="0">
                <a:latin typeface="微软雅黑" panose="020B0503020204020204" pitchFamily="34" charset="-122"/>
                <a:ea typeface="微软雅黑" panose="020B0503020204020204" pitchFamily="34" charset="-122"/>
              </a:rPr>
              <a:t>谐波检测法的工作原理基于反向散射耦合方式，它可用于电子防盗系统 </a:t>
            </a:r>
          </a:p>
        </p:txBody>
      </p:sp>
      <p:sp>
        <p:nvSpPr>
          <p:cNvPr id="15366" name="Rectangle 6">
            <a:extLst>
              <a:ext uri="{FF2B5EF4-FFF2-40B4-BE49-F238E27FC236}">
                <a16:creationId xmlns:a16="http://schemas.microsoft.com/office/drawing/2014/main" id="{AB2A3DF5-73EB-4EC2-BAAE-F1985974BE1A}"/>
              </a:ext>
            </a:extLst>
          </p:cNvPr>
          <p:cNvSpPr>
            <a:spLocks noChangeArrowheads="1"/>
          </p:cNvSpPr>
          <p:nvPr/>
        </p:nvSpPr>
        <p:spPr bwMode="auto">
          <a:xfrm>
            <a:off x="251884" y="2092394"/>
            <a:ext cx="184731" cy="441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endParaRPr lang="zh-CN" altLang="en-US" sz="2268"/>
          </a:p>
        </p:txBody>
      </p:sp>
      <p:graphicFrame>
        <p:nvGraphicFramePr>
          <p:cNvPr id="15369" name="Object 9">
            <a:extLst>
              <a:ext uri="{FF2B5EF4-FFF2-40B4-BE49-F238E27FC236}">
                <a16:creationId xmlns:a16="http://schemas.microsoft.com/office/drawing/2014/main" id="{E88AC98F-4C46-472F-BE5C-9524C9C34D6B}"/>
              </a:ext>
            </a:extLst>
          </p:cNvPr>
          <p:cNvGraphicFramePr>
            <a:graphicFrameLocks noChangeAspect="1"/>
          </p:cNvGraphicFramePr>
          <p:nvPr>
            <p:extLst>
              <p:ext uri="{D42A27DB-BD31-4B8C-83A1-F6EECF244321}">
                <p14:modId xmlns:p14="http://schemas.microsoft.com/office/powerpoint/2010/main" val="714861014"/>
              </p:ext>
            </p:extLst>
          </p:nvPr>
        </p:nvGraphicFramePr>
        <p:xfrm>
          <a:off x="1381840" y="2114090"/>
          <a:ext cx="6090164" cy="2532068"/>
        </p:xfrm>
        <a:graphic>
          <a:graphicData uri="http://schemas.openxmlformats.org/presentationml/2006/ole">
            <mc:AlternateContent xmlns:mc="http://schemas.openxmlformats.org/markup-compatibility/2006">
              <mc:Choice xmlns:v="urn:schemas-microsoft-com:vml" Requires="v">
                <p:oleObj spid="_x0000_s6171" name="图片" r:id="rId3" imgW="3622646" imgH="1504270" progId="Word.Picture.8">
                  <p:embed/>
                </p:oleObj>
              </mc:Choice>
              <mc:Fallback>
                <p:oleObj name="图片" r:id="rId3" imgW="3622646" imgH="1504270" progId="Word.Picture.8">
                  <p:embed/>
                  <p:pic>
                    <p:nvPicPr>
                      <p:cNvPr id="15369" name="Object 9">
                        <a:extLst>
                          <a:ext uri="{FF2B5EF4-FFF2-40B4-BE49-F238E27FC236}">
                            <a16:creationId xmlns:a16="http://schemas.microsoft.com/office/drawing/2014/main" id="{E88AC98F-4C46-472F-BE5C-9524C9C34D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1840" y="2114090"/>
                        <a:ext cx="6090164" cy="2532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70" name="Rectangle 11">
            <a:extLst>
              <a:ext uri="{FF2B5EF4-FFF2-40B4-BE49-F238E27FC236}">
                <a16:creationId xmlns:a16="http://schemas.microsoft.com/office/drawing/2014/main" id="{32B12C9A-894F-4BAB-AC71-0E00D3A973E4}"/>
              </a:ext>
            </a:extLst>
          </p:cNvPr>
          <p:cNvSpPr>
            <a:spLocks noChangeArrowheads="1"/>
          </p:cNvSpPr>
          <p:nvPr/>
        </p:nvSpPr>
        <p:spPr bwMode="auto">
          <a:xfrm>
            <a:off x="3696378" y="4993325"/>
            <a:ext cx="14610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r>
              <a:rPr lang="zh-CN" altLang="en-US" sz="2000" dirty="0">
                <a:latin typeface="微软雅黑" panose="020B0503020204020204" pitchFamily="34" charset="-122"/>
                <a:ea typeface="微软雅黑" panose="020B0503020204020204" pitchFamily="34" charset="-122"/>
              </a:rPr>
              <a:t>谐波法原理 </a:t>
            </a:r>
          </a:p>
        </p:txBody>
      </p:sp>
      <p:sp>
        <p:nvSpPr>
          <p:cNvPr id="11" name="Rectangle 2">
            <a:extLst>
              <a:ext uri="{FF2B5EF4-FFF2-40B4-BE49-F238E27FC236}">
                <a16:creationId xmlns:a16="http://schemas.microsoft.com/office/drawing/2014/main" id="{13B3A634-D0FF-4377-B5AF-ABA92B7D4CBB}"/>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1884BF6E-788A-49FB-8712-2B33D8EF8498}"/>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6E0C806D-8089-46F5-AB51-694703A901BE}" type="slidenum">
              <a:rPr lang="en-US" altLang="ko-KR" sz="1323">
                <a:latin typeface="Times New Roman" panose="02020603050405020304" pitchFamily="18" charset="0"/>
                <a:ea typeface="-소망M" pitchFamily="18" charset="-127"/>
              </a:rPr>
              <a:pPr eaLnBrk="1" hangingPunct="1"/>
              <a:t>31</a:t>
            </a:fld>
            <a:endParaRPr lang="en-US" altLang="ko-KR" sz="1323">
              <a:latin typeface="Times New Roman" panose="02020603050405020304" pitchFamily="18" charset="0"/>
              <a:ea typeface="-소망M" pitchFamily="18" charset="-127"/>
            </a:endParaRPr>
          </a:p>
        </p:txBody>
      </p:sp>
      <p:sp>
        <p:nvSpPr>
          <p:cNvPr id="16389" name="Rectangle 5">
            <a:extLst>
              <a:ext uri="{FF2B5EF4-FFF2-40B4-BE49-F238E27FC236}">
                <a16:creationId xmlns:a16="http://schemas.microsoft.com/office/drawing/2014/main" id="{12CCF435-23A7-4F87-B3D6-0BA725156929}"/>
              </a:ext>
            </a:extLst>
          </p:cNvPr>
          <p:cNvSpPr>
            <a:spLocks noChangeArrowheads="1"/>
          </p:cNvSpPr>
          <p:nvPr/>
        </p:nvSpPr>
        <p:spPr bwMode="auto">
          <a:xfrm>
            <a:off x="251884" y="1862888"/>
            <a:ext cx="184731" cy="441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endParaRPr lang="zh-CN" altLang="en-US" sz="2268"/>
          </a:p>
        </p:txBody>
      </p:sp>
      <p:graphicFrame>
        <p:nvGraphicFramePr>
          <p:cNvPr id="16390" name="Object 4">
            <a:extLst>
              <a:ext uri="{FF2B5EF4-FFF2-40B4-BE49-F238E27FC236}">
                <a16:creationId xmlns:a16="http://schemas.microsoft.com/office/drawing/2014/main" id="{1A95BF34-2F95-4ACC-8F46-5F4629D274EF}"/>
              </a:ext>
            </a:extLst>
          </p:cNvPr>
          <p:cNvGraphicFramePr>
            <a:graphicFrameLocks noChangeAspect="1"/>
          </p:cNvGraphicFramePr>
          <p:nvPr>
            <p:extLst>
              <p:ext uri="{D42A27DB-BD31-4B8C-83A1-F6EECF244321}">
                <p14:modId xmlns:p14="http://schemas.microsoft.com/office/powerpoint/2010/main" val="1988181187"/>
              </p:ext>
            </p:extLst>
          </p:nvPr>
        </p:nvGraphicFramePr>
        <p:xfrm>
          <a:off x="1115616" y="1727919"/>
          <a:ext cx="3202586" cy="3810103"/>
        </p:xfrm>
        <a:graphic>
          <a:graphicData uri="http://schemas.openxmlformats.org/presentationml/2006/ole">
            <mc:AlternateContent xmlns:mc="http://schemas.openxmlformats.org/markup-compatibility/2006">
              <mc:Choice xmlns:v="urn:schemas-microsoft-com:vml" Requires="v">
                <p:oleObj spid="_x0000_s7195" name="图片" r:id="rId3" imgW="2059067" imgH="2447363" progId="Word.Picture.8">
                  <p:embed/>
                </p:oleObj>
              </mc:Choice>
              <mc:Fallback>
                <p:oleObj name="图片" r:id="rId3" imgW="2059067" imgH="2447363" progId="Word.Picture.8">
                  <p:embed/>
                  <p:pic>
                    <p:nvPicPr>
                      <p:cNvPr id="16390" name="Object 4">
                        <a:extLst>
                          <a:ext uri="{FF2B5EF4-FFF2-40B4-BE49-F238E27FC236}">
                            <a16:creationId xmlns:a16="http://schemas.microsoft.com/office/drawing/2014/main" id="{1A95BF34-2F95-4ACC-8F46-5F4629D274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5616" y="1727919"/>
                        <a:ext cx="3202586" cy="3810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91" name="Rectangle 6">
            <a:extLst>
              <a:ext uri="{FF2B5EF4-FFF2-40B4-BE49-F238E27FC236}">
                <a16:creationId xmlns:a16="http://schemas.microsoft.com/office/drawing/2014/main" id="{DA371832-269B-4AB5-9C1D-99AAB65BB5E8}"/>
              </a:ext>
            </a:extLst>
          </p:cNvPr>
          <p:cNvSpPr>
            <a:spLocks noChangeArrowheads="1"/>
          </p:cNvSpPr>
          <p:nvPr/>
        </p:nvSpPr>
        <p:spPr bwMode="auto">
          <a:xfrm>
            <a:off x="4860032" y="1174375"/>
            <a:ext cx="3888432" cy="4654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lnSpc>
                <a:spcPct val="150000"/>
              </a:lnSpc>
            </a:pP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 最简单的应用系统只有单个阅读器，它一次对一个应答器进行操作，如公交汽车上的票务操作。</a:t>
            </a:r>
          </a:p>
          <a:p>
            <a:pPr eaLnBrk="1" hangingPunct="1">
              <a:lnSpc>
                <a:spcPct val="150000"/>
              </a:lnSpc>
            </a:pP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 较复杂的应用需要一个阅读器可同时对多个应答器进行操作，即要具有防碰撞（亦称防冲突）的能力。</a:t>
            </a:r>
          </a:p>
          <a:p>
            <a:pPr eaLnBrk="1" hangingPunct="1">
              <a:lnSpc>
                <a:spcPct val="150000"/>
              </a:lnSpc>
            </a:pP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 更复杂的应用系统要解决阅读器的高层处理问题，包括多阅读器的网络连接。 </a:t>
            </a:r>
          </a:p>
        </p:txBody>
      </p:sp>
      <p:sp>
        <p:nvSpPr>
          <p:cNvPr id="8" name="Rectangle 2">
            <a:extLst>
              <a:ext uri="{FF2B5EF4-FFF2-40B4-BE49-F238E27FC236}">
                <a16:creationId xmlns:a16="http://schemas.microsoft.com/office/drawing/2014/main" id="{95D27D95-DD14-4C5D-A86F-B79C0D3D72CF}"/>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
        <p:nvSpPr>
          <p:cNvPr id="13" name="Rectangle 3">
            <a:extLst>
              <a:ext uri="{FF2B5EF4-FFF2-40B4-BE49-F238E27FC236}">
                <a16:creationId xmlns:a16="http://schemas.microsoft.com/office/drawing/2014/main" id="{CEEEFA09-E884-4C07-A4B5-90D149D917C6}"/>
              </a:ext>
            </a:extLst>
          </p:cNvPr>
          <p:cNvSpPr txBox="1">
            <a:spLocks noChangeArrowheads="1"/>
          </p:cNvSpPr>
          <p:nvPr/>
        </p:nvSpPr>
        <p:spPr bwMode="auto">
          <a:xfrm>
            <a:off x="776614" y="848712"/>
            <a:ext cx="3435346" cy="44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的应用系统构架</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a:extLst>
              <a:ext uri="{FF2B5EF4-FFF2-40B4-BE49-F238E27FC236}">
                <a16:creationId xmlns:a16="http://schemas.microsoft.com/office/drawing/2014/main" id="{08F2D5F8-73D4-4F36-A088-054EDD805370}"/>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BB6469C0-3CA3-49AF-98FD-CB6EFE715A82}" type="slidenum">
              <a:rPr lang="en-US" altLang="ko-KR" sz="1323">
                <a:latin typeface="Times New Roman" panose="02020603050405020304" pitchFamily="18" charset="0"/>
                <a:ea typeface="-소망M" pitchFamily="18" charset="-127"/>
              </a:rPr>
              <a:pPr eaLnBrk="1" hangingPunct="1"/>
              <a:t>32</a:t>
            </a:fld>
            <a:endParaRPr lang="en-US" altLang="ko-KR" sz="1323">
              <a:latin typeface="Times New Roman" panose="02020603050405020304" pitchFamily="18" charset="0"/>
              <a:ea typeface="-소망M" pitchFamily="18" charset="-127"/>
            </a:endParaRPr>
          </a:p>
        </p:txBody>
      </p:sp>
      <p:sp>
        <p:nvSpPr>
          <p:cNvPr id="17412" name="Rectangle 3">
            <a:extLst>
              <a:ext uri="{FF2B5EF4-FFF2-40B4-BE49-F238E27FC236}">
                <a16:creationId xmlns:a16="http://schemas.microsoft.com/office/drawing/2014/main" id="{461D72EE-8ED8-4468-AB9E-FB3B766CE2F1}"/>
              </a:ext>
            </a:extLst>
          </p:cNvPr>
          <p:cNvSpPr>
            <a:spLocks noGrp="1" noChangeArrowheads="1"/>
          </p:cNvSpPr>
          <p:nvPr>
            <p:ph type="body" idx="1"/>
          </p:nvPr>
        </p:nvSpPr>
        <p:spPr>
          <a:xfrm>
            <a:off x="457200" y="875550"/>
            <a:ext cx="3637787" cy="503461"/>
          </a:xfrm>
        </p:spPr>
        <p:txBody>
          <a:bodyPr/>
          <a:lstStyle/>
          <a:p>
            <a:pPr eaLnBrk="1" hangingPunct="1"/>
            <a:r>
              <a:rPr lang="zh-CN" altLang="en-US" sz="2400" dirty="0">
                <a:latin typeface="微软雅黑" panose="020B0503020204020204" pitchFamily="34" charset="-122"/>
                <a:ea typeface="微软雅黑" panose="020B0503020204020204" pitchFamily="34" charset="-122"/>
              </a:rPr>
              <a:t>应答器（射频卡或标签）</a:t>
            </a:r>
          </a:p>
        </p:txBody>
      </p:sp>
      <p:graphicFrame>
        <p:nvGraphicFramePr>
          <p:cNvPr id="17414" name="Object 4">
            <a:extLst>
              <a:ext uri="{FF2B5EF4-FFF2-40B4-BE49-F238E27FC236}">
                <a16:creationId xmlns:a16="http://schemas.microsoft.com/office/drawing/2014/main" id="{491C4E68-6BA3-479F-B37B-DCE3F9DA9307}"/>
              </a:ext>
            </a:extLst>
          </p:cNvPr>
          <p:cNvGraphicFramePr>
            <a:graphicFrameLocks noChangeAspect="1"/>
          </p:cNvGraphicFramePr>
          <p:nvPr>
            <p:extLst>
              <p:ext uri="{D42A27DB-BD31-4B8C-83A1-F6EECF244321}">
                <p14:modId xmlns:p14="http://schemas.microsoft.com/office/powerpoint/2010/main" val="483939726"/>
              </p:ext>
            </p:extLst>
          </p:nvPr>
        </p:nvGraphicFramePr>
        <p:xfrm>
          <a:off x="1147988" y="1462068"/>
          <a:ext cx="6906187" cy="2103057"/>
        </p:xfrm>
        <a:graphic>
          <a:graphicData uri="http://schemas.openxmlformats.org/presentationml/2006/ole">
            <mc:AlternateContent xmlns:mc="http://schemas.openxmlformats.org/markup-compatibility/2006">
              <mc:Choice xmlns:v="urn:schemas-microsoft-com:vml" Requires="v">
                <p:oleObj spid="_x0000_s8219" name="图片" r:id="rId3" imgW="4633440" imgH="1485552" progId="Word.Picture.8">
                  <p:embed/>
                </p:oleObj>
              </mc:Choice>
              <mc:Fallback>
                <p:oleObj name="图片" r:id="rId3" imgW="4633440" imgH="1485552" progId="Word.Picture.8">
                  <p:embed/>
                  <p:pic>
                    <p:nvPicPr>
                      <p:cNvPr id="17414" name="Object 4">
                        <a:extLst>
                          <a:ext uri="{FF2B5EF4-FFF2-40B4-BE49-F238E27FC236}">
                            <a16:creationId xmlns:a16="http://schemas.microsoft.com/office/drawing/2014/main" id="{491C4E68-6BA3-479F-B37B-DCE3F9DA93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5118"/>
                      <a:stretch>
                        <a:fillRect/>
                      </a:stretch>
                    </p:blipFill>
                    <p:spPr bwMode="auto">
                      <a:xfrm>
                        <a:off x="1147988" y="1462068"/>
                        <a:ext cx="6906187" cy="2103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5" name="Rectangle 6">
            <a:extLst>
              <a:ext uri="{FF2B5EF4-FFF2-40B4-BE49-F238E27FC236}">
                <a16:creationId xmlns:a16="http://schemas.microsoft.com/office/drawing/2014/main" id="{66F34DCA-E059-4799-B7E4-C4F37A261064}"/>
              </a:ext>
            </a:extLst>
          </p:cNvPr>
          <p:cNvSpPr>
            <a:spLocks noChangeArrowheads="1"/>
          </p:cNvSpPr>
          <p:nvPr/>
        </p:nvSpPr>
        <p:spPr bwMode="auto">
          <a:xfrm>
            <a:off x="4067944" y="5785711"/>
            <a:ext cx="10108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r>
              <a:rPr lang="zh-CN" altLang="en-US" sz="2000" dirty="0">
                <a:latin typeface="微软雅黑" panose="020B0503020204020204" pitchFamily="34" charset="-122"/>
                <a:ea typeface="微软雅黑" panose="020B0503020204020204" pitchFamily="34" charset="-122"/>
              </a:rPr>
              <a:t>射频卡 </a:t>
            </a:r>
          </a:p>
        </p:txBody>
      </p:sp>
      <p:pic>
        <p:nvPicPr>
          <p:cNvPr id="17416" name="Picture 7">
            <a:extLst>
              <a:ext uri="{FF2B5EF4-FFF2-40B4-BE49-F238E27FC236}">
                <a16:creationId xmlns:a16="http://schemas.microsoft.com/office/drawing/2014/main" id="{BD3C0A0F-D9CD-413A-8F05-50C1EEF521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5710" y="3648182"/>
            <a:ext cx="2992580" cy="1897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2">
            <a:extLst>
              <a:ext uri="{FF2B5EF4-FFF2-40B4-BE49-F238E27FC236}">
                <a16:creationId xmlns:a16="http://schemas.microsoft.com/office/drawing/2014/main" id="{AAAF0E4D-2077-4C9E-8304-272941A4762C}"/>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a:extLst>
              <a:ext uri="{FF2B5EF4-FFF2-40B4-BE49-F238E27FC236}">
                <a16:creationId xmlns:a16="http://schemas.microsoft.com/office/drawing/2014/main" id="{CA8FD382-EE3F-4783-8E88-AF116F9F78D5}"/>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2689A9D2-4294-4180-8945-7A9C1FD0B7DA}" type="slidenum">
              <a:rPr lang="en-US" altLang="ko-KR" sz="1323">
                <a:latin typeface="Times New Roman" panose="02020603050405020304" pitchFamily="18" charset="0"/>
                <a:ea typeface="-소망M" pitchFamily="18" charset="-127"/>
              </a:rPr>
              <a:pPr eaLnBrk="1" hangingPunct="1"/>
              <a:t>33</a:t>
            </a:fld>
            <a:endParaRPr lang="en-US" altLang="ko-KR" sz="1323">
              <a:latin typeface="Times New Roman" panose="02020603050405020304" pitchFamily="18" charset="0"/>
              <a:ea typeface="-소망M" pitchFamily="18" charset="-127"/>
            </a:endParaRPr>
          </a:p>
        </p:txBody>
      </p:sp>
      <p:sp>
        <p:nvSpPr>
          <p:cNvPr id="18438" name="Rectangle 6">
            <a:extLst>
              <a:ext uri="{FF2B5EF4-FFF2-40B4-BE49-F238E27FC236}">
                <a16:creationId xmlns:a16="http://schemas.microsoft.com/office/drawing/2014/main" id="{0B1D2BA3-6195-4F0E-B25A-781C8433326F}"/>
              </a:ext>
            </a:extLst>
          </p:cNvPr>
          <p:cNvSpPr>
            <a:spLocks noChangeArrowheads="1"/>
          </p:cNvSpPr>
          <p:nvPr/>
        </p:nvSpPr>
        <p:spPr bwMode="auto">
          <a:xfrm>
            <a:off x="4108290" y="5636965"/>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r>
              <a:rPr lang="zh-CN" altLang="en-US" sz="2000" dirty="0">
                <a:latin typeface="微软雅黑" panose="020B0503020204020204" pitchFamily="34" charset="-122"/>
                <a:ea typeface="微软雅黑" panose="020B0503020204020204" pitchFamily="34" charset="-122"/>
              </a:rPr>
              <a:t>标签</a:t>
            </a:r>
          </a:p>
        </p:txBody>
      </p:sp>
      <p:sp>
        <p:nvSpPr>
          <p:cNvPr id="18439" name="Rectangle 8">
            <a:extLst>
              <a:ext uri="{FF2B5EF4-FFF2-40B4-BE49-F238E27FC236}">
                <a16:creationId xmlns:a16="http://schemas.microsoft.com/office/drawing/2014/main" id="{990F7618-78EA-4BDF-AB7C-AEF8A0BFB3CA}"/>
              </a:ext>
            </a:extLst>
          </p:cNvPr>
          <p:cNvSpPr>
            <a:spLocks noChangeArrowheads="1"/>
          </p:cNvSpPr>
          <p:nvPr/>
        </p:nvSpPr>
        <p:spPr bwMode="auto">
          <a:xfrm>
            <a:off x="251884" y="1520879"/>
            <a:ext cx="184731" cy="441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endParaRPr lang="zh-CN" altLang="en-US" sz="2268"/>
          </a:p>
        </p:txBody>
      </p:sp>
      <p:graphicFrame>
        <p:nvGraphicFramePr>
          <p:cNvPr id="18440" name="Object 7">
            <a:extLst>
              <a:ext uri="{FF2B5EF4-FFF2-40B4-BE49-F238E27FC236}">
                <a16:creationId xmlns:a16="http://schemas.microsoft.com/office/drawing/2014/main" id="{A39DD436-4511-46BF-A2BB-AF37140C1C29}"/>
              </a:ext>
            </a:extLst>
          </p:cNvPr>
          <p:cNvGraphicFramePr>
            <a:graphicFrameLocks noChangeAspect="1"/>
          </p:cNvGraphicFramePr>
          <p:nvPr>
            <p:extLst>
              <p:ext uri="{D42A27DB-BD31-4B8C-83A1-F6EECF244321}">
                <p14:modId xmlns:p14="http://schemas.microsoft.com/office/powerpoint/2010/main" val="244977231"/>
              </p:ext>
            </p:extLst>
          </p:nvPr>
        </p:nvGraphicFramePr>
        <p:xfrm>
          <a:off x="1655676" y="1496443"/>
          <a:ext cx="5832648" cy="4140522"/>
        </p:xfrm>
        <a:graphic>
          <a:graphicData uri="http://schemas.openxmlformats.org/presentationml/2006/ole">
            <mc:AlternateContent xmlns:mc="http://schemas.openxmlformats.org/markup-compatibility/2006">
              <mc:Choice xmlns:v="urn:schemas-microsoft-com:vml" Requires="v">
                <p:oleObj spid="_x0000_s9243" name="图片" r:id="rId3" imgW="4471281" imgH="3171242" progId="Word.Picture.8">
                  <p:embed/>
                </p:oleObj>
              </mc:Choice>
              <mc:Fallback>
                <p:oleObj name="图片" r:id="rId3" imgW="4471281" imgH="3171242" progId="Word.Picture.8">
                  <p:embed/>
                  <p:pic>
                    <p:nvPicPr>
                      <p:cNvPr id="18440" name="Object 7">
                        <a:extLst>
                          <a:ext uri="{FF2B5EF4-FFF2-40B4-BE49-F238E27FC236}">
                            <a16:creationId xmlns:a16="http://schemas.microsoft.com/office/drawing/2014/main" id="{A39DD436-4511-46BF-A2BB-AF37140C1C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5676" y="1496443"/>
                        <a:ext cx="5832648" cy="4140522"/>
                      </a:xfrm>
                      <a:prstGeom prst="rect">
                        <a:avLst/>
                      </a:prstGeom>
                      <a:noFill/>
                      <a:ln>
                        <a:noFill/>
                      </a:ln>
                    </p:spPr>
                  </p:pic>
                </p:oleObj>
              </mc:Fallback>
            </mc:AlternateContent>
          </a:graphicData>
        </a:graphic>
      </p:graphicFrame>
      <p:sp>
        <p:nvSpPr>
          <p:cNvPr id="9" name="Rectangle 2">
            <a:extLst>
              <a:ext uri="{FF2B5EF4-FFF2-40B4-BE49-F238E27FC236}">
                <a16:creationId xmlns:a16="http://schemas.microsoft.com/office/drawing/2014/main" id="{206A3C87-F7E6-4B03-8DFB-660FB7D1ADE1}"/>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
        <p:nvSpPr>
          <p:cNvPr id="14" name="Rectangle 3">
            <a:extLst>
              <a:ext uri="{FF2B5EF4-FFF2-40B4-BE49-F238E27FC236}">
                <a16:creationId xmlns:a16="http://schemas.microsoft.com/office/drawing/2014/main" id="{B585CE1B-8A08-411A-AE4D-5F0585D237D1}"/>
              </a:ext>
            </a:extLst>
          </p:cNvPr>
          <p:cNvSpPr txBox="1">
            <a:spLocks noChangeArrowheads="1"/>
          </p:cNvSpPr>
          <p:nvPr/>
        </p:nvSpPr>
        <p:spPr bwMode="auto">
          <a:xfrm>
            <a:off x="457200" y="875550"/>
            <a:ext cx="3637787"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应答器（射频卡或标签）</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5">
            <a:extLst>
              <a:ext uri="{FF2B5EF4-FFF2-40B4-BE49-F238E27FC236}">
                <a16:creationId xmlns:a16="http://schemas.microsoft.com/office/drawing/2014/main" id="{D60D3E0D-736D-45E6-8484-892656BC0B08}"/>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239A5170-6EBD-4398-A1C8-92C2EBF38489}" type="slidenum">
              <a:rPr lang="en-US" altLang="ko-KR" sz="1323">
                <a:latin typeface="Times New Roman" panose="02020603050405020304" pitchFamily="18" charset="0"/>
                <a:ea typeface="-소망M" pitchFamily="18" charset="-127"/>
              </a:rPr>
              <a:pPr eaLnBrk="1" hangingPunct="1"/>
              <a:t>34</a:t>
            </a:fld>
            <a:endParaRPr lang="en-US" altLang="ko-KR" sz="1323">
              <a:latin typeface="Times New Roman" panose="02020603050405020304" pitchFamily="18" charset="0"/>
              <a:ea typeface="-소망M" pitchFamily="18" charset="-127"/>
            </a:endParaRPr>
          </a:p>
        </p:txBody>
      </p:sp>
      <p:grpSp>
        <p:nvGrpSpPr>
          <p:cNvPr id="19459" name="Group 4">
            <a:extLst>
              <a:ext uri="{FF2B5EF4-FFF2-40B4-BE49-F238E27FC236}">
                <a16:creationId xmlns:a16="http://schemas.microsoft.com/office/drawing/2014/main" id="{94CCDF00-A280-471C-9F81-6AFBD50074F0}"/>
              </a:ext>
            </a:extLst>
          </p:cNvPr>
          <p:cNvGrpSpPr>
            <a:grpSpLocks/>
          </p:cNvGrpSpPr>
          <p:nvPr/>
        </p:nvGrpSpPr>
        <p:grpSpPr bwMode="auto">
          <a:xfrm>
            <a:off x="1340163" y="1655911"/>
            <a:ext cx="6463674" cy="3675099"/>
            <a:chOff x="975" y="1207"/>
            <a:chExt cx="4309" cy="2450"/>
          </a:xfrm>
        </p:grpSpPr>
        <p:pic>
          <p:nvPicPr>
            <p:cNvPr id="19460" name="Picture 5" descr="SE-Ca2601-04-A 3">
              <a:extLst>
                <a:ext uri="{FF2B5EF4-FFF2-40B4-BE49-F238E27FC236}">
                  <a16:creationId xmlns:a16="http://schemas.microsoft.com/office/drawing/2014/main" id="{B64D9F4B-B50B-41F6-AB6F-3DCE7DE105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0" y="2568"/>
              <a:ext cx="1225" cy="1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1" name="Picture 6" descr="8">
              <a:extLst>
                <a:ext uri="{FF2B5EF4-FFF2-40B4-BE49-F238E27FC236}">
                  <a16:creationId xmlns:a16="http://schemas.microsoft.com/office/drawing/2014/main" id="{055D0CC5-9059-4961-BE5F-B646C0354C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7" y="1253"/>
              <a:ext cx="1225" cy="1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Picture 7" descr="antenna7">
              <a:extLst>
                <a:ext uri="{FF2B5EF4-FFF2-40B4-BE49-F238E27FC236}">
                  <a16:creationId xmlns:a16="http://schemas.microsoft.com/office/drawing/2014/main" id="{D562A550-F492-463B-A838-30E7D57D16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14" y="2568"/>
              <a:ext cx="1225" cy="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3" name="Picture 8" descr="packagingC">
              <a:extLst>
                <a:ext uri="{FF2B5EF4-FFF2-40B4-BE49-F238E27FC236}">
                  <a16:creationId xmlns:a16="http://schemas.microsoft.com/office/drawing/2014/main" id="{DEF7A3C0-A203-412B-BC49-F8C6638F7DB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0" y="1253"/>
              <a:ext cx="1225" cy="1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4" name="Picture 9" descr="rfid04">
              <a:extLst>
                <a:ext uri="{FF2B5EF4-FFF2-40B4-BE49-F238E27FC236}">
                  <a16:creationId xmlns:a16="http://schemas.microsoft.com/office/drawing/2014/main" id="{5CC48A11-CB9C-48DF-B559-F45B4C0E3C5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14" y="1253"/>
              <a:ext cx="1225" cy="1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5" name="Picture 10">
              <a:extLst>
                <a:ext uri="{FF2B5EF4-FFF2-40B4-BE49-F238E27FC236}">
                  <a16:creationId xmlns:a16="http://schemas.microsoft.com/office/drawing/2014/main" id="{CA2AD398-04A8-4BD8-A952-944DE9702F4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17" y="2568"/>
              <a:ext cx="1225" cy="1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6" name="Rectangle 11">
              <a:extLst>
                <a:ext uri="{FF2B5EF4-FFF2-40B4-BE49-F238E27FC236}">
                  <a16:creationId xmlns:a16="http://schemas.microsoft.com/office/drawing/2014/main" id="{7A124A81-5B4E-4E09-A134-7FCDF678AC4A}"/>
                </a:ext>
              </a:extLst>
            </p:cNvPr>
            <p:cNvSpPr>
              <a:spLocks noChangeArrowheads="1"/>
            </p:cNvSpPr>
            <p:nvPr/>
          </p:nvSpPr>
          <p:spPr bwMode="auto">
            <a:xfrm>
              <a:off x="975" y="1207"/>
              <a:ext cx="1315" cy="1134"/>
            </a:xfrm>
            <a:prstGeom prst="rect">
              <a:avLst/>
            </a:prstGeom>
            <a:solidFill>
              <a:schemeClr val="accent1">
                <a:alpha val="0"/>
              </a:schemeClr>
            </a:solidFill>
            <a:ln w="38100">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endParaRPr lang="zh-CN" altLang="en-US" sz="2268"/>
            </a:p>
          </p:txBody>
        </p:sp>
        <p:sp>
          <p:nvSpPr>
            <p:cNvPr id="19467" name="Rectangle 12">
              <a:extLst>
                <a:ext uri="{FF2B5EF4-FFF2-40B4-BE49-F238E27FC236}">
                  <a16:creationId xmlns:a16="http://schemas.microsoft.com/office/drawing/2014/main" id="{BCF50036-6AAD-48B2-961C-7F6F7446FD5D}"/>
                </a:ext>
              </a:extLst>
            </p:cNvPr>
            <p:cNvSpPr>
              <a:spLocks noChangeArrowheads="1"/>
            </p:cNvSpPr>
            <p:nvPr/>
          </p:nvSpPr>
          <p:spPr bwMode="auto">
            <a:xfrm>
              <a:off x="2472" y="1207"/>
              <a:ext cx="1315" cy="1134"/>
            </a:xfrm>
            <a:prstGeom prst="rect">
              <a:avLst/>
            </a:prstGeom>
            <a:solidFill>
              <a:schemeClr val="accent1">
                <a:alpha val="0"/>
              </a:schemeClr>
            </a:solidFill>
            <a:ln w="38100">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endParaRPr lang="zh-CN" altLang="en-US" sz="2268"/>
            </a:p>
          </p:txBody>
        </p:sp>
        <p:sp>
          <p:nvSpPr>
            <p:cNvPr id="19468" name="Rectangle 13">
              <a:extLst>
                <a:ext uri="{FF2B5EF4-FFF2-40B4-BE49-F238E27FC236}">
                  <a16:creationId xmlns:a16="http://schemas.microsoft.com/office/drawing/2014/main" id="{72BCAC32-7C31-4A1B-B817-22EE1628A025}"/>
                </a:ext>
              </a:extLst>
            </p:cNvPr>
            <p:cNvSpPr>
              <a:spLocks noChangeArrowheads="1"/>
            </p:cNvSpPr>
            <p:nvPr/>
          </p:nvSpPr>
          <p:spPr bwMode="auto">
            <a:xfrm>
              <a:off x="3969" y="1207"/>
              <a:ext cx="1315" cy="1134"/>
            </a:xfrm>
            <a:prstGeom prst="rect">
              <a:avLst/>
            </a:prstGeom>
            <a:solidFill>
              <a:schemeClr val="accent1">
                <a:alpha val="0"/>
              </a:schemeClr>
            </a:solidFill>
            <a:ln w="38100">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endParaRPr lang="zh-CN" altLang="en-US" sz="2268"/>
            </a:p>
          </p:txBody>
        </p:sp>
        <p:sp>
          <p:nvSpPr>
            <p:cNvPr id="19469" name="Rectangle 14">
              <a:extLst>
                <a:ext uri="{FF2B5EF4-FFF2-40B4-BE49-F238E27FC236}">
                  <a16:creationId xmlns:a16="http://schemas.microsoft.com/office/drawing/2014/main" id="{903C9876-7B77-4F0F-827B-D015C65107EC}"/>
                </a:ext>
              </a:extLst>
            </p:cNvPr>
            <p:cNvSpPr>
              <a:spLocks noChangeArrowheads="1"/>
            </p:cNvSpPr>
            <p:nvPr/>
          </p:nvSpPr>
          <p:spPr bwMode="auto">
            <a:xfrm>
              <a:off x="3969" y="2523"/>
              <a:ext cx="1315" cy="1134"/>
            </a:xfrm>
            <a:prstGeom prst="rect">
              <a:avLst/>
            </a:prstGeom>
            <a:solidFill>
              <a:schemeClr val="accent1">
                <a:alpha val="0"/>
              </a:schemeClr>
            </a:solidFill>
            <a:ln w="38100">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endParaRPr lang="zh-CN" altLang="en-US" sz="2268"/>
            </a:p>
          </p:txBody>
        </p:sp>
        <p:sp>
          <p:nvSpPr>
            <p:cNvPr id="19470" name="Rectangle 15">
              <a:extLst>
                <a:ext uri="{FF2B5EF4-FFF2-40B4-BE49-F238E27FC236}">
                  <a16:creationId xmlns:a16="http://schemas.microsoft.com/office/drawing/2014/main" id="{2AD4A0A4-321B-4E47-A6DC-1A30A6FB27CC}"/>
                </a:ext>
              </a:extLst>
            </p:cNvPr>
            <p:cNvSpPr>
              <a:spLocks noChangeArrowheads="1"/>
            </p:cNvSpPr>
            <p:nvPr/>
          </p:nvSpPr>
          <p:spPr bwMode="auto">
            <a:xfrm>
              <a:off x="2472" y="2523"/>
              <a:ext cx="1315" cy="1134"/>
            </a:xfrm>
            <a:prstGeom prst="rect">
              <a:avLst/>
            </a:prstGeom>
            <a:solidFill>
              <a:schemeClr val="accent1">
                <a:alpha val="0"/>
              </a:schemeClr>
            </a:solidFill>
            <a:ln w="38100">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endParaRPr lang="zh-CN" altLang="en-US" sz="2268"/>
            </a:p>
          </p:txBody>
        </p:sp>
        <p:sp>
          <p:nvSpPr>
            <p:cNvPr id="19471" name="Rectangle 16">
              <a:extLst>
                <a:ext uri="{FF2B5EF4-FFF2-40B4-BE49-F238E27FC236}">
                  <a16:creationId xmlns:a16="http://schemas.microsoft.com/office/drawing/2014/main" id="{673D5E2E-0D4C-4D2D-AD30-6EDEC7E3321D}"/>
                </a:ext>
              </a:extLst>
            </p:cNvPr>
            <p:cNvSpPr>
              <a:spLocks noChangeArrowheads="1"/>
            </p:cNvSpPr>
            <p:nvPr/>
          </p:nvSpPr>
          <p:spPr bwMode="auto">
            <a:xfrm>
              <a:off x="975" y="2523"/>
              <a:ext cx="1315" cy="1134"/>
            </a:xfrm>
            <a:prstGeom prst="rect">
              <a:avLst/>
            </a:prstGeom>
            <a:solidFill>
              <a:schemeClr val="accent1">
                <a:alpha val="0"/>
              </a:schemeClr>
            </a:solidFill>
            <a:ln w="38100">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endParaRPr lang="zh-CN" altLang="en-US" sz="2268"/>
            </a:p>
          </p:txBody>
        </p:sp>
      </p:grpSp>
      <p:sp>
        <p:nvSpPr>
          <p:cNvPr id="16" name="Rectangle 2">
            <a:extLst>
              <a:ext uri="{FF2B5EF4-FFF2-40B4-BE49-F238E27FC236}">
                <a16:creationId xmlns:a16="http://schemas.microsoft.com/office/drawing/2014/main" id="{E67C2D1A-A7A9-4E1E-BD75-80927B8A2F4D}"/>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
        <p:nvSpPr>
          <p:cNvPr id="17" name="Rectangle 3">
            <a:extLst>
              <a:ext uri="{FF2B5EF4-FFF2-40B4-BE49-F238E27FC236}">
                <a16:creationId xmlns:a16="http://schemas.microsoft.com/office/drawing/2014/main" id="{4817F7E2-56F7-45C5-8DAE-7ECFB75EDF9E}"/>
              </a:ext>
            </a:extLst>
          </p:cNvPr>
          <p:cNvSpPr txBox="1">
            <a:spLocks noChangeArrowheads="1"/>
          </p:cNvSpPr>
          <p:nvPr/>
        </p:nvSpPr>
        <p:spPr bwMode="auto">
          <a:xfrm>
            <a:off x="457200" y="875550"/>
            <a:ext cx="3637787"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a:latin typeface="微软雅黑" panose="020B0503020204020204" pitchFamily="34" charset="-122"/>
                <a:ea typeface="微软雅黑" panose="020B0503020204020204" pitchFamily="34" charset="-122"/>
              </a:rPr>
              <a:t>应答器（射频卡或标签）</a:t>
            </a:r>
            <a:endParaRPr lang="zh-CN" altLang="en-US" sz="2400" dirty="0">
              <a:latin typeface="微软雅黑" panose="020B0503020204020204" pitchFamily="34" charset="-122"/>
              <a:ea typeface="微软雅黑" panose="020B0503020204020204" pitchFamily="34" charset="-122"/>
            </a:endParaRPr>
          </a:p>
        </p:txBody>
      </p:sp>
      <p:sp>
        <p:nvSpPr>
          <p:cNvPr id="18" name="Rectangle 6">
            <a:extLst>
              <a:ext uri="{FF2B5EF4-FFF2-40B4-BE49-F238E27FC236}">
                <a16:creationId xmlns:a16="http://schemas.microsoft.com/office/drawing/2014/main" id="{D71F9286-5BDF-4908-867D-2250264EC4C6}"/>
              </a:ext>
            </a:extLst>
          </p:cNvPr>
          <p:cNvSpPr>
            <a:spLocks noChangeArrowheads="1"/>
          </p:cNvSpPr>
          <p:nvPr/>
        </p:nvSpPr>
        <p:spPr bwMode="auto">
          <a:xfrm>
            <a:off x="4108290" y="5636965"/>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r>
              <a:rPr lang="zh-CN" altLang="en-US" sz="2000" dirty="0">
                <a:latin typeface="微软雅黑" panose="020B0503020204020204" pitchFamily="34" charset="-122"/>
                <a:ea typeface="微软雅黑" panose="020B0503020204020204" pitchFamily="34" charset="-122"/>
              </a:rPr>
              <a:t>标签</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a:extLst>
              <a:ext uri="{FF2B5EF4-FFF2-40B4-BE49-F238E27FC236}">
                <a16:creationId xmlns:a16="http://schemas.microsoft.com/office/drawing/2014/main" id="{B63017FC-8E2B-4907-A544-2B22411B765A}"/>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63CF5981-1875-401F-B08E-29B671FB89BF}" type="slidenum">
              <a:rPr lang="en-US" altLang="ko-KR" sz="1323">
                <a:latin typeface="Times New Roman" panose="02020603050405020304" pitchFamily="18" charset="0"/>
                <a:ea typeface="-소망M" pitchFamily="18" charset="-127"/>
              </a:rPr>
              <a:pPr eaLnBrk="1" hangingPunct="1"/>
              <a:t>35</a:t>
            </a:fld>
            <a:endParaRPr lang="en-US" altLang="ko-KR" sz="1323">
              <a:latin typeface="Times New Roman" panose="02020603050405020304" pitchFamily="18" charset="0"/>
              <a:ea typeface="-소망M" pitchFamily="18" charset="-127"/>
            </a:endParaRPr>
          </a:p>
        </p:txBody>
      </p:sp>
      <p:sp>
        <p:nvSpPr>
          <p:cNvPr id="5" name="Rectangle 2">
            <a:extLst>
              <a:ext uri="{FF2B5EF4-FFF2-40B4-BE49-F238E27FC236}">
                <a16:creationId xmlns:a16="http://schemas.microsoft.com/office/drawing/2014/main" id="{17FD7187-94B5-4CD9-B42E-E833A276A998}"/>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
        <p:nvSpPr>
          <p:cNvPr id="8" name="Rectangle 3">
            <a:extLst>
              <a:ext uri="{FF2B5EF4-FFF2-40B4-BE49-F238E27FC236}">
                <a16:creationId xmlns:a16="http://schemas.microsoft.com/office/drawing/2014/main" id="{B5231B84-C41F-4817-A9DB-F6B5DE7E9187}"/>
              </a:ext>
            </a:extLst>
          </p:cNvPr>
          <p:cNvSpPr txBox="1">
            <a:spLocks noChangeArrowheads="1"/>
          </p:cNvSpPr>
          <p:nvPr/>
        </p:nvSpPr>
        <p:spPr bwMode="auto">
          <a:xfrm>
            <a:off x="457200" y="875550"/>
            <a:ext cx="3637787"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应答器（射频卡或标签）</a:t>
            </a:r>
          </a:p>
        </p:txBody>
      </p:sp>
      <p:pic>
        <p:nvPicPr>
          <p:cNvPr id="9" name="内容占位符 8">
            <a:extLst>
              <a:ext uri="{FF2B5EF4-FFF2-40B4-BE49-F238E27FC236}">
                <a16:creationId xmlns:a16="http://schemas.microsoft.com/office/drawing/2014/main" id="{586DFA72-17F8-48AF-BEE4-F7DD33F3DD85}"/>
              </a:ext>
            </a:extLst>
          </p:cNvPr>
          <p:cNvPicPr>
            <a:picLocks noGrp="1" noChangeAspect="1"/>
          </p:cNvPicPr>
          <p:nvPr>
            <p:ph idx="1"/>
          </p:nvPr>
        </p:nvPicPr>
        <p:blipFill>
          <a:blip r:embed="rId2"/>
          <a:stretch>
            <a:fillRect/>
          </a:stretch>
        </p:blipFill>
        <p:spPr>
          <a:xfrm>
            <a:off x="1084786" y="2210882"/>
            <a:ext cx="6974428" cy="2877561"/>
          </a:xfrm>
          <a:prstGeom prst="rect">
            <a:avLst/>
          </a:prstGeom>
        </p:spPr>
      </p:pic>
      <p:sp>
        <p:nvSpPr>
          <p:cNvPr id="6" name="Rectangle 6">
            <a:extLst>
              <a:ext uri="{FF2B5EF4-FFF2-40B4-BE49-F238E27FC236}">
                <a16:creationId xmlns:a16="http://schemas.microsoft.com/office/drawing/2014/main" id="{681905D5-5CDA-48CF-9706-DD287EA4E9B5}"/>
              </a:ext>
            </a:extLst>
          </p:cNvPr>
          <p:cNvSpPr>
            <a:spLocks noChangeArrowheads="1"/>
          </p:cNvSpPr>
          <p:nvPr/>
        </p:nvSpPr>
        <p:spPr bwMode="auto">
          <a:xfrm>
            <a:off x="4108290" y="5636965"/>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r>
              <a:rPr lang="zh-CN" altLang="en-US" sz="2000" dirty="0">
                <a:latin typeface="微软雅黑" panose="020B0503020204020204" pitchFamily="34" charset="-122"/>
                <a:ea typeface="微软雅黑" panose="020B0503020204020204" pitchFamily="34" charset="-122"/>
              </a:rPr>
              <a:t>标签</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8F376FA1-C42E-4B57-94F4-219A31FE17FD}"/>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09F69E95-0851-42EE-A280-8A819F129707}" type="slidenum">
              <a:rPr lang="en-US" altLang="ko-KR" sz="1323">
                <a:latin typeface="Times New Roman" panose="02020603050405020304" pitchFamily="18" charset="0"/>
                <a:ea typeface="-소망M" pitchFamily="18" charset="-127"/>
              </a:rPr>
              <a:pPr eaLnBrk="1" hangingPunct="1"/>
              <a:t>36</a:t>
            </a:fld>
            <a:endParaRPr lang="en-US" altLang="ko-KR" sz="1323">
              <a:latin typeface="Times New Roman" panose="02020603050405020304" pitchFamily="18" charset="0"/>
              <a:ea typeface="-소망M" pitchFamily="18" charset="-127"/>
            </a:endParaRPr>
          </a:p>
        </p:txBody>
      </p:sp>
      <p:sp>
        <p:nvSpPr>
          <p:cNvPr id="20483" name="Rectangle 2">
            <a:extLst>
              <a:ext uri="{FF2B5EF4-FFF2-40B4-BE49-F238E27FC236}">
                <a16:creationId xmlns:a16="http://schemas.microsoft.com/office/drawing/2014/main" id="{F45E0D33-2E7D-44E3-BAD3-373E347C390F}"/>
              </a:ext>
            </a:extLst>
          </p:cNvPr>
          <p:cNvSpPr>
            <a:spLocks noGrp="1" noChangeArrowheads="1"/>
          </p:cNvSpPr>
          <p:nvPr>
            <p:ph type="title"/>
          </p:nvPr>
        </p:nvSpPr>
        <p:spPr>
          <a:xfrm>
            <a:off x="1310059" y="1615311"/>
            <a:ext cx="7344198" cy="276813"/>
          </a:xfrm>
        </p:spPr>
        <p:txBody>
          <a:bodyPr/>
          <a:lstStyle/>
          <a:p>
            <a:pPr algn="l" eaLnBrk="1" hangingPunct="1"/>
            <a:r>
              <a:rPr lang="zh-CN" altLang="en-US" sz="2000" dirty="0">
                <a:solidFill>
                  <a:schemeClr val="tx1"/>
                </a:solidFill>
                <a:latin typeface="微软雅黑" panose="020B0503020204020204" pitchFamily="34" charset="-122"/>
                <a:ea typeface="微软雅黑" panose="020B0503020204020204" pitchFamily="34" charset="-122"/>
              </a:rPr>
              <a:t>这种</a:t>
            </a:r>
            <a:r>
              <a:rPr lang="en-US" altLang="zh-CN" sz="2000" dirty="0">
                <a:solidFill>
                  <a:schemeClr val="tx1"/>
                </a:solidFill>
                <a:latin typeface="微软雅黑" panose="020B0503020204020204" pitchFamily="34" charset="-122"/>
                <a:ea typeface="微软雅黑" panose="020B0503020204020204" pitchFamily="34" charset="-122"/>
              </a:rPr>
              <a:t>RFID</a:t>
            </a:r>
            <a:r>
              <a:rPr lang="zh-CN" altLang="en-US" sz="2000" dirty="0">
                <a:solidFill>
                  <a:schemeClr val="tx1"/>
                </a:solidFill>
                <a:latin typeface="微软雅黑" panose="020B0503020204020204" pitchFamily="34" charset="-122"/>
                <a:ea typeface="微软雅黑" panose="020B0503020204020204" pitchFamily="34" charset="-122"/>
              </a:rPr>
              <a:t>芯片只有</a:t>
            </a:r>
            <a:r>
              <a:rPr lang="en-US" altLang="zh-CN" sz="2000" dirty="0">
                <a:solidFill>
                  <a:schemeClr val="tx1"/>
                </a:solidFill>
                <a:latin typeface="微软雅黑" panose="020B0503020204020204" pitchFamily="34" charset="-122"/>
                <a:ea typeface="微软雅黑" panose="020B0503020204020204" pitchFamily="34" charset="-122"/>
              </a:rPr>
              <a:t>0.05</a:t>
            </a:r>
            <a:r>
              <a:rPr lang="zh-CN" altLang="en-US" sz="2000" dirty="0">
                <a:solidFill>
                  <a:schemeClr val="tx1"/>
                </a:solidFill>
                <a:latin typeface="微软雅黑" panose="020B0503020204020204" pitchFamily="34" charset="-122"/>
                <a:ea typeface="微软雅黑" panose="020B0503020204020204" pitchFamily="34" charset="-122"/>
              </a:rPr>
              <a:t>毫米见方，看上去就像粉末。</a:t>
            </a:r>
            <a:br>
              <a:rPr lang="zh-CN" altLang="en-US" sz="2000" dirty="0">
                <a:solidFill>
                  <a:schemeClr val="tx1"/>
                </a:solidFill>
                <a:latin typeface="微软雅黑" panose="020B0503020204020204" pitchFamily="34" charset="-122"/>
                <a:ea typeface="微软雅黑" panose="020B0503020204020204" pitchFamily="34" charset="-122"/>
              </a:rPr>
            </a:br>
            <a:endParaRPr lang="zh-CN" altLang="en-US" sz="2000" dirty="0">
              <a:solidFill>
                <a:schemeClr val="tx1"/>
              </a:solidFill>
              <a:latin typeface="微软雅黑" panose="020B0503020204020204" pitchFamily="34" charset="-122"/>
              <a:ea typeface="微软雅黑" panose="020B0503020204020204" pitchFamily="34" charset="-122"/>
            </a:endParaRPr>
          </a:p>
        </p:txBody>
      </p:sp>
      <p:pic>
        <p:nvPicPr>
          <p:cNvPr id="20484" name="Picture 4" descr="070221mm1">
            <a:extLst>
              <a:ext uri="{FF2B5EF4-FFF2-40B4-BE49-F238E27FC236}">
                <a16:creationId xmlns:a16="http://schemas.microsoft.com/office/drawing/2014/main" id="{1D7DC529-7875-42F9-8CBA-D85BD2724D6D}"/>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961256" y="2060827"/>
            <a:ext cx="3663099" cy="360009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0485" name="Picture 5">
            <a:extLst>
              <a:ext uri="{FF2B5EF4-FFF2-40B4-BE49-F238E27FC236}">
                <a16:creationId xmlns:a16="http://schemas.microsoft.com/office/drawing/2014/main" id="{184250AF-74F0-44FF-BC05-9FE88BD7B2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0032" y="2492838"/>
            <a:ext cx="3600097" cy="2736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2">
            <a:extLst>
              <a:ext uri="{FF2B5EF4-FFF2-40B4-BE49-F238E27FC236}">
                <a16:creationId xmlns:a16="http://schemas.microsoft.com/office/drawing/2014/main" id="{A1878C14-628F-4B52-98B3-90D9DDB39320}"/>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
        <p:nvSpPr>
          <p:cNvPr id="2" name="矩形 1">
            <a:extLst>
              <a:ext uri="{FF2B5EF4-FFF2-40B4-BE49-F238E27FC236}">
                <a16:creationId xmlns:a16="http://schemas.microsoft.com/office/drawing/2014/main" id="{20509EAF-024C-4332-9AB6-C971055366D5}"/>
              </a:ext>
            </a:extLst>
          </p:cNvPr>
          <p:cNvSpPr/>
          <p:nvPr/>
        </p:nvSpPr>
        <p:spPr>
          <a:xfrm>
            <a:off x="2051720" y="5784512"/>
            <a:ext cx="5256584" cy="707886"/>
          </a:xfrm>
          <a:prstGeom prst="rect">
            <a:avLst/>
          </a:prstGeom>
        </p:spPr>
        <p:txBody>
          <a:bodyPr wrap="square">
            <a:spAutoFit/>
          </a:bodyPr>
          <a:lstStyle/>
          <a:p>
            <a:r>
              <a:rPr lang="en-US" altLang="zh-CN" sz="2000" dirty="0">
                <a:latin typeface="微软雅黑" panose="020B0503020204020204" pitchFamily="34" charset="-122"/>
                <a:ea typeface="微软雅黑" panose="020B0503020204020204" pitchFamily="34" charset="-122"/>
              </a:rPr>
              <a:t>0.05mm×0.05mm×5μm</a:t>
            </a:r>
            <a:r>
              <a:rPr lang="zh-CN" altLang="en-US" sz="2000" dirty="0">
                <a:latin typeface="微软雅黑" panose="020B0503020204020204" pitchFamily="34" charset="-122"/>
                <a:ea typeface="微软雅黑" panose="020B0503020204020204" pitchFamily="34" charset="-122"/>
              </a:rPr>
              <a:t>的超小型</a:t>
            </a:r>
            <a:r>
              <a:rPr lang="en-US" altLang="zh-CN" sz="2000" dirty="0">
                <a:latin typeface="微软雅黑" panose="020B0503020204020204" pitchFamily="34" charset="-122"/>
                <a:ea typeface="微软雅黑" panose="020B0503020204020204" pitchFamily="34" charset="-122"/>
              </a:rPr>
              <a:t>RFID</a:t>
            </a:r>
            <a:r>
              <a:rPr lang="zh-CN" altLang="en-US" sz="2000" dirty="0">
                <a:latin typeface="微软雅黑" panose="020B0503020204020204" pitchFamily="34" charset="-122"/>
                <a:ea typeface="微软雅黑" panose="020B0503020204020204" pitchFamily="34" charset="-122"/>
              </a:rPr>
              <a:t>标签</a:t>
            </a:r>
            <a:br>
              <a:rPr lang="zh-CN" altLang="en-US" sz="2000" dirty="0">
                <a:latin typeface="微软雅黑" panose="020B0503020204020204" pitchFamily="34" charset="-122"/>
                <a:ea typeface="微软雅黑" panose="020B0503020204020204" pitchFamily="34" charset="-122"/>
              </a:rPr>
            </a:br>
            <a:endParaRPr lang="zh-CN" altLang="en-US" sz="2000" dirty="0">
              <a:latin typeface="微软雅黑" panose="020B0503020204020204" pitchFamily="34" charset="-122"/>
              <a:ea typeface="微软雅黑" panose="020B0503020204020204" pitchFamily="34" charset="-122"/>
            </a:endParaRPr>
          </a:p>
        </p:txBody>
      </p:sp>
      <p:sp>
        <p:nvSpPr>
          <p:cNvPr id="10" name="Rectangle 3">
            <a:extLst>
              <a:ext uri="{FF2B5EF4-FFF2-40B4-BE49-F238E27FC236}">
                <a16:creationId xmlns:a16="http://schemas.microsoft.com/office/drawing/2014/main" id="{4E40BF7C-40BD-40EE-980B-123D8BD679EB}"/>
              </a:ext>
            </a:extLst>
          </p:cNvPr>
          <p:cNvSpPr txBox="1">
            <a:spLocks noChangeArrowheads="1"/>
          </p:cNvSpPr>
          <p:nvPr/>
        </p:nvSpPr>
        <p:spPr bwMode="auto">
          <a:xfrm>
            <a:off x="457200" y="875550"/>
            <a:ext cx="3637787"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应答器（射频卡或标签）</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02933F14-31DE-458C-869A-E9DBF57D11BF}"/>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8562775C-47CE-4318-8742-FBC055149FF1}" type="slidenum">
              <a:rPr lang="en-US" altLang="ko-KR" sz="1323">
                <a:latin typeface="Times New Roman" panose="02020603050405020304" pitchFamily="18" charset="0"/>
                <a:ea typeface="-소망M" pitchFamily="18" charset="-127"/>
              </a:rPr>
              <a:pPr eaLnBrk="1" hangingPunct="1"/>
              <a:t>37</a:t>
            </a:fld>
            <a:endParaRPr lang="en-US" altLang="ko-KR" sz="1323">
              <a:latin typeface="Times New Roman" panose="02020603050405020304" pitchFamily="18" charset="0"/>
              <a:ea typeface="-소망M" pitchFamily="18" charset="-127"/>
            </a:endParaRPr>
          </a:p>
        </p:txBody>
      </p:sp>
      <p:pic>
        <p:nvPicPr>
          <p:cNvPr id="22532" name="Picture 4" descr="标签1">
            <a:extLst>
              <a:ext uri="{FF2B5EF4-FFF2-40B4-BE49-F238E27FC236}">
                <a16:creationId xmlns:a16="http://schemas.microsoft.com/office/drawing/2014/main" id="{9D97F145-983E-44CE-BB4D-F043D00E96AA}"/>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2054932" y="2695573"/>
            <a:ext cx="1800049" cy="168004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2533" name="Picture 5" descr="标签2">
            <a:extLst>
              <a:ext uri="{FF2B5EF4-FFF2-40B4-BE49-F238E27FC236}">
                <a16:creationId xmlns:a16="http://schemas.microsoft.com/office/drawing/2014/main" id="{0808E67B-AA08-4319-9F8B-08D208B5A5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5497" y="2151058"/>
            <a:ext cx="2926579" cy="2926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a:extLst>
              <a:ext uri="{FF2B5EF4-FFF2-40B4-BE49-F238E27FC236}">
                <a16:creationId xmlns:a16="http://schemas.microsoft.com/office/drawing/2014/main" id="{F46A920C-9FC2-4F2B-B3AA-7447DCB07BD8}"/>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
        <p:nvSpPr>
          <p:cNvPr id="9" name="Rectangle 3">
            <a:extLst>
              <a:ext uri="{FF2B5EF4-FFF2-40B4-BE49-F238E27FC236}">
                <a16:creationId xmlns:a16="http://schemas.microsoft.com/office/drawing/2014/main" id="{62C38D47-DDB8-4A10-B1FA-C6C3F76BB05B}"/>
              </a:ext>
            </a:extLst>
          </p:cNvPr>
          <p:cNvSpPr txBox="1">
            <a:spLocks noChangeArrowheads="1"/>
          </p:cNvSpPr>
          <p:nvPr/>
        </p:nvSpPr>
        <p:spPr bwMode="auto">
          <a:xfrm>
            <a:off x="457200" y="875550"/>
            <a:ext cx="3637787"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应答器（射频卡或标签）</a:t>
            </a:r>
          </a:p>
        </p:txBody>
      </p:sp>
      <p:sp>
        <p:nvSpPr>
          <p:cNvPr id="7" name="Rectangle 6">
            <a:extLst>
              <a:ext uri="{FF2B5EF4-FFF2-40B4-BE49-F238E27FC236}">
                <a16:creationId xmlns:a16="http://schemas.microsoft.com/office/drawing/2014/main" id="{F607B2E6-B91B-4953-9B54-1D5666AA7E12}"/>
              </a:ext>
            </a:extLst>
          </p:cNvPr>
          <p:cNvSpPr>
            <a:spLocks noChangeArrowheads="1"/>
          </p:cNvSpPr>
          <p:nvPr/>
        </p:nvSpPr>
        <p:spPr bwMode="auto">
          <a:xfrm>
            <a:off x="4108290" y="5636965"/>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r>
              <a:rPr lang="zh-CN" altLang="en-US" sz="2000" dirty="0">
                <a:latin typeface="微软雅黑" panose="020B0503020204020204" pitchFamily="34" charset="-122"/>
                <a:ea typeface="微软雅黑" panose="020B0503020204020204" pitchFamily="34" charset="-122"/>
              </a:rPr>
              <a:t>标签</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3805C24-0D38-4736-9B11-A80CB8270F8B}"/>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8568226D-7C56-4722-8C63-3D8E780311CA}" type="slidenum">
              <a:rPr lang="en-US" altLang="ko-KR" sz="1323">
                <a:latin typeface="Times New Roman" panose="02020603050405020304" pitchFamily="18" charset="0"/>
                <a:ea typeface="-소망M" pitchFamily="18" charset="-127"/>
              </a:rPr>
              <a:pPr eaLnBrk="1" hangingPunct="1"/>
              <a:t>38</a:t>
            </a:fld>
            <a:endParaRPr lang="en-US" altLang="ko-KR" sz="1323">
              <a:latin typeface="Times New Roman" panose="02020603050405020304" pitchFamily="18" charset="0"/>
              <a:ea typeface="-소망M" pitchFamily="18" charset="-127"/>
            </a:endParaRPr>
          </a:p>
        </p:txBody>
      </p:sp>
      <p:sp>
        <p:nvSpPr>
          <p:cNvPr id="23556" name="Rectangle 3">
            <a:extLst>
              <a:ext uri="{FF2B5EF4-FFF2-40B4-BE49-F238E27FC236}">
                <a16:creationId xmlns:a16="http://schemas.microsoft.com/office/drawing/2014/main" id="{C7B59454-6F1F-42AB-A7B7-7366DF9A1447}"/>
              </a:ext>
            </a:extLst>
          </p:cNvPr>
          <p:cNvSpPr>
            <a:spLocks noGrp="1" noChangeArrowheads="1"/>
          </p:cNvSpPr>
          <p:nvPr>
            <p:ph type="body" idx="1"/>
          </p:nvPr>
        </p:nvSpPr>
        <p:spPr>
          <a:xfrm>
            <a:off x="457200" y="719807"/>
            <a:ext cx="8229600" cy="5544616"/>
          </a:xfrm>
        </p:spPr>
        <p:txBody>
          <a:bodyPr/>
          <a:lstStyle/>
          <a:p>
            <a:pPr eaLnBrk="1" hangingPunct="1">
              <a:lnSpc>
                <a:spcPct val="150000"/>
              </a:lnSpc>
            </a:pPr>
            <a:r>
              <a:rPr lang="zh-CN" altLang="en-US" sz="2400" dirty="0">
                <a:latin typeface="微软雅黑" panose="020B0503020204020204" pitchFamily="34" charset="-122"/>
                <a:ea typeface="微软雅黑" panose="020B0503020204020204" pitchFamily="34" charset="-122"/>
              </a:rPr>
              <a:t>应答器的主要性能参数</a:t>
            </a:r>
          </a:p>
          <a:p>
            <a:pPr lvl="1" eaLnBrk="1" hangingPunct="1">
              <a:lnSpc>
                <a:spcPct val="150000"/>
              </a:lnSpc>
            </a:pPr>
            <a:r>
              <a:rPr lang="zh-CN" altLang="en-US" sz="2000" dirty="0">
                <a:latin typeface="微软雅黑" panose="020B0503020204020204" pitchFamily="34" charset="-122"/>
                <a:ea typeface="微软雅黑" panose="020B0503020204020204" pitchFamily="34" charset="-122"/>
              </a:rPr>
              <a:t>工作频率</a:t>
            </a:r>
          </a:p>
          <a:p>
            <a:pPr lvl="1" eaLnBrk="1" hangingPunct="1">
              <a:lnSpc>
                <a:spcPct val="150000"/>
              </a:lnSpc>
            </a:pPr>
            <a:r>
              <a:rPr lang="zh-CN" altLang="en-US" sz="2000" dirty="0">
                <a:latin typeface="微软雅黑" panose="020B0503020204020204" pitchFamily="34" charset="-122"/>
                <a:ea typeface="微软雅黑" panose="020B0503020204020204" pitchFamily="34" charset="-122"/>
              </a:rPr>
              <a:t>读</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写能力</a:t>
            </a:r>
          </a:p>
          <a:p>
            <a:pPr lvl="1" eaLnBrk="1" hangingPunct="1">
              <a:lnSpc>
                <a:spcPct val="150000"/>
              </a:lnSpc>
            </a:pPr>
            <a:r>
              <a:rPr lang="zh-CN" altLang="en-US" sz="2000" dirty="0">
                <a:latin typeface="微软雅黑" panose="020B0503020204020204" pitchFamily="34" charset="-122"/>
                <a:ea typeface="微软雅黑" panose="020B0503020204020204" pitchFamily="34" charset="-122"/>
              </a:rPr>
              <a:t>编码调制方式</a:t>
            </a:r>
          </a:p>
          <a:p>
            <a:pPr lvl="1" eaLnBrk="1" hangingPunct="1">
              <a:lnSpc>
                <a:spcPct val="150000"/>
              </a:lnSpc>
            </a:pPr>
            <a:r>
              <a:rPr lang="zh-CN" altLang="en-US" sz="2000" dirty="0">
                <a:latin typeface="微软雅黑" panose="020B0503020204020204" pitchFamily="34" charset="-122"/>
                <a:ea typeface="微软雅黑" panose="020B0503020204020204" pitchFamily="34" charset="-122"/>
              </a:rPr>
              <a:t>数据传输速率</a:t>
            </a:r>
          </a:p>
          <a:p>
            <a:pPr lvl="1" eaLnBrk="1" hangingPunct="1">
              <a:lnSpc>
                <a:spcPct val="150000"/>
              </a:lnSpc>
            </a:pPr>
            <a:r>
              <a:rPr lang="zh-CN" altLang="en-US" sz="2000" dirty="0">
                <a:latin typeface="微软雅黑" panose="020B0503020204020204" pitchFamily="34" charset="-122"/>
                <a:ea typeface="微软雅黑" panose="020B0503020204020204" pitchFamily="34" charset="-122"/>
              </a:rPr>
              <a:t>信息数据存储容量</a:t>
            </a:r>
          </a:p>
          <a:p>
            <a:pPr lvl="1" eaLnBrk="1" hangingPunct="1">
              <a:lnSpc>
                <a:spcPct val="150000"/>
              </a:lnSpc>
            </a:pPr>
            <a:r>
              <a:rPr lang="zh-CN" altLang="en-US" sz="2000" dirty="0">
                <a:latin typeface="微软雅黑" panose="020B0503020204020204" pitchFamily="34" charset="-122"/>
                <a:ea typeface="微软雅黑" panose="020B0503020204020204" pitchFamily="34" charset="-122"/>
              </a:rPr>
              <a:t>工作距离</a:t>
            </a:r>
          </a:p>
          <a:p>
            <a:pPr lvl="1" eaLnBrk="1" hangingPunct="1">
              <a:lnSpc>
                <a:spcPct val="150000"/>
              </a:lnSpc>
            </a:pPr>
            <a:r>
              <a:rPr lang="zh-CN" altLang="en-US" sz="2000" dirty="0">
                <a:latin typeface="微软雅黑" panose="020B0503020204020204" pitchFamily="34" charset="-122"/>
                <a:ea typeface="微软雅黑" panose="020B0503020204020204" pitchFamily="34" charset="-122"/>
              </a:rPr>
              <a:t>多应答器识读能力（亦称防碰撞或防冲突能力）</a:t>
            </a:r>
          </a:p>
          <a:p>
            <a:pPr lvl="1" eaLnBrk="1" hangingPunct="1">
              <a:lnSpc>
                <a:spcPct val="150000"/>
              </a:lnSpc>
            </a:pPr>
            <a:r>
              <a:rPr lang="zh-CN" altLang="en-US" sz="2000" dirty="0">
                <a:latin typeface="微软雅黑" panose="020B0503020204020204" pitchFamily="34" charset="-122"/>
                <a:ea typeface="微软雅黑" panose="020B0503020204020204" pitchFamily="34" charset="-122"/>
              </a:rPr>
              <a:t>安全性能（密钥、认证）等</a:t>
            </a:r>
          </a:p>
        </p:txBody>
      </p:sp>
      <p:sp>
        <p:nvSpPr>
          <p:cNvPr id="7" name="Rectangle 2">
            <a:extLst>
              <a:ext uri="{FF2B5EF4-FFF2-40B4-BE49-F238E27FC236}">
                <a16:creationId xmlns:a16="http://schemas.microsoft.com/office/drawing/2014/main" id="{AFCC6781-F8E8-4749-A4C6-8C8E26A3D27C}"/>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1EBDB194-6B61-49EC-9020-D5B1F308B125}"/>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F3A2C4E0-6A4A-4E85-B273-9902E26497D1}" type="slidenum">
              <a:rPr lang="en-US" altLang="ko-KR" sz="1323">
                <a:latin typeface="Times New Roman" panose="02020603050405020304" pitchFamily="18" charset="0"/>
                <a:ea typeface="-소망M" pitchFamily="18" charset="-127"/>
              </a:rPr>
              <a:pPr eaLnBrk="1" hangingPunct="1"/>
              <a:t>39</a:t>
            </a:fld>
            <a:endParaRPr lang="en-US" altLang="ko-KR" sz="1323">
              <a:latin typeface="Times New Roman" panose="02020603050405020304" pitchFamily="18" charset="0"/>
              <a:ea typeface="-소망M" pitchFamily="18" charset="-127"/>
            </a:endParaRPr>
          </a:p>
        </p:txBody>
      </p:sp>
      <p:sp>
        <p:nvSpPr>
          <p:cNvPr id="24580" name="Rectangle 3">
            <a:extLst>
              <a:ext uri="{FF2B5EF4-FFF2-40B4-BE49-F238E27FC236}">
                <a16:creationId xmlns:a16="http://schemas.microsoft.com/office/drawing/2014/main" id="{39D37AF7-FDB9-4DA6-9A82-C55D9292A826}"/>
              </a:ext>
            </a:extLst>
          </p:cNvPr>
          <p:cNvSpPr>
            <a:spLocks noGrp="1" noChangeArrowheads="1"/>
          </p:cNvSpPr>
          <p:nvPr>
            <p:ph type="body" idx="1"/>
          </p:nvPr>
        </p:nvSpPr>
        <p:spPr>
          <a:xfrm>
            <a:off x="451249" y="1007839"/>
            <a:ext cx="8229600" cy="4176464"/>
          </a:xfrm>
        </p:spPr>
        <p:txBody>
          <a:bodyPr/>
          <a:lstStyle/>
          <a:p>
            <a:pPr eaLnBrk="1" hangingPunct="1">
              <a:lnSpc>
                <a:spcPct val="150000"/>
              </a:lnSpc>
            </a:pPr>
            <a:r>
              <a:rPr lang="zh-CN" altLang="en-US" sz="2400" dirty="0">
                <a:latin typeface="微软雅黑" panose="020B0503020204020204" pitchFamily="34" charset="-122"/>
                <a:ea typeface="微软雅黑" panose="020B0503020204020204" pitchFamily="34" charset="-122"/>
              </a:rPr>
              <a:t>无源、半无源与有源应答器 </a:t>
            </a:r>
          </a:p>
          <a:p>
            <a:pPr lvl="1" eaLnBrk="1" hangingPunct="1">
              <a:lnSpc>
                <a:spcPct val="150000"/>
              </a:lnSpc>
            </a:pPr>
            <a:r>
              <a:rPr lang="zh-CN" altLang="en-US" sz="2000" dirty="0">
                <a:latin typeface="微软雅黑" panose="020B0503020204020204" pitchFamily="34" charset="-122"/>
                <a:ea typeface="微软雅黑" panose="020B0503020204020204" pitchFamily="34" charset="-122"/>
              </a:rPr>
              <a:t>无源应答器：不附有电池 ，从阅读器发出射频能量中提取工作所需的电能。采用电感耦合方式的应答器多为无源应答器。 </a:t>
            </a:r>
          </a:p>
          <a:p>
            <a:pPr lvl="1" eaLnBrk="1" hangingPunct="1">
              <a:lnSpc>
                <a:spcPct val="150000"/>
              </a:lnSpc>
            </a:pPr>
            <a:r>
              <a:rPr lang="zh-CN" altLang="en-US" sz="2000" dirty="0">
                <a:latin typeface="微软雅黑" panose="020B0503020204020204" pitchFamily="34" charset="-122"/>
                <a:ea typeface="微软雅黑" panose="020B0503020204020204" pitchFamily="34" charset="-122"/>
              </a:rPr>
              <a:t>半无源应答器 ：内装有电池，起辅助作用，对维持数据的电路供电或对应答器芯片工作所需的电压作辅助支持，用于传输通信的射频能量源自阅读器。 </a:t>
            </a:r>
          </a:p>
          <a:p>
            <a:pPr lvl="1" eaLnBrk="1" hangingPunct="1">
              <a:lnSpc>
                <a:spcPct val="150000"/>
              </a:lnSpc>
            </a:pPr>
            <a:r>
              <a:rPr lang="zh-CN" altLang="en-US" sz="2000" dirty="0">
                <a:latin typeface="微软雅黑" panose="020B0503020204020204" pitchFamily="34" charset="-122"/>
                <a:ea typeface="微软雅黑" panose="020B0503020204020204" pitchFamily="34" charset="-122"/>
              </a:rPr>
              <a:t>有源应答器：工作电源完全由内部电池供给，同时内部电池能量也部分地转换为应答器与阅读器通信所需的射频能量。 </a:t>
            </a:r>
          </a:p>
        </p:txBody>
      </p:sp>
      <p:sp>
        <p:nvSpPr>
          <p:cNvPr id="24582" name="Rectangle 5">
            <a:extLst>
              <a:ext uri="{FF2B5EF4-FFF2-40B4-BE49-F238E27FC236}">
                <a16:creationId xmlns:a16="http://schemas.microsoft.com/office/drawing/2014/main" id="{187C50E3-B61B-40FF-8073-C4891D0E6089}"/>
              </a:ext>
            </a:extLst>
          </p:cNvPr>
          <p:cNvSpPr>
            <a:spLocks noChangeArrowheads="1"/>
          </p:cNvSpPr>
          <p:nvPr/>
        </p:nvSpPr>
        <p:spPr bwMode="auto">
          <a:xfrm>
            <a:off x="251884" y="1520879"/>
            <a:ext cx="184731" cy="441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endParaRPr lang="zh-CN" altLang="en-US" sz="2268"/>
          </a:p>
        </p:txBody>
      </p:sp>
      <p:sp>
        <p:nvSpPr>
          <p:cNvPr id="7" name="Rectangle 2">
            <a:extLst>
              <a:ext uri="{FF2B5EF4-FFF2-40B4-BE49-F238E27FC236}">
                <a16:creationId xmlns:a16="http://schemas.microsoft.com/office/drawing/2014/main" id="{EC91CC5E-5144-4844-9F95-413E22E17514}"/>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469B6588-50FA-4D86-B344-98C37F99059A}"/>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BB4DAA27-605A-476C-8EF8-DE29CF67B84E}" type="slidenum">
              <a:rPr lang="en-US" altLang="ko-KR" sz="1323">
                <a:latin typeface="Times New Roman" panose="02020603050405020304" pitchFamily="18" charset="0"/>
                <a:ea typeface="-소망M" pitchFamily="18" charset="-127"/>
              </a:rPr>
              <a:pPr eaLnBrk="1" hangingPunct="1"/>
              <a:t>40</a:t>
            </a:fld>
            <a:endParaRPr lang="en-US" altLang="ko-KR" sz="1323">
              <a:latin typeface="Times New Roman" panose="02020603050405020304" pitchFamily="18" charset="0"/>
              <a:ea typeface="-소망M" pitchFamily="18" charset="-127"/>
            </a:endParaRPr>
          </a:p>
        </p:txBody>
      </p:sp>
      <p:sp>
        <p:nvSpPr>
          <p:cNvPr id="25604" name="Rectangle 3">
            <a:extLst>
              <a:ext uri="{FF2B5EF4-FFF2-40B4-BE49-F238E27FC236}">
                <a16:creationId xmlns:a16="http://schemas.microsoft.com/office/drawing/2014/main" id="{3A217348-86FE-464A-9F3C-B27CCE6B8B29}"/>
              </a:ext>
            </a:extLst>
          </p:cNvPr>
          <p:cNvSpPr>
            <a:spLocks noGrp="1" noChangeArrowheads="1"/>
          </p:cNvSpPr>
          <p:nvPr>
            <p:ph type="body" idx="1"/>
          </p:nvPr>
        </p:nvSpPr>
        <p:spPr>
          <a:xfrm>
            <a:off x="539552" y="863823"/>
            <a:ext cx="3600400" cy="576064"/>
          </a:xfrm>
        </p:spPr>
        <p:txBody>
          <a:bodyPr/>
          <a:lstStyle/>
          <a:p>
            <a:pPr eaLnBrk="1" hangingPunct="1"/>
            <a:r>
              <a:rPr lang="zh-CN" altLang="en-US" sz="2400" dirty="0">
                <a:latin typeface="微软雅黑" panose="020B0503020204020204" pitchFamily="34" charset="-122"/>
                <a:ea typeface="微软雅黑" panose="020B0503020204020204" pitchFamily="34" charset="-122"/>
              </a:rPr>
              <a:t>应答器电路的基本结构 </a:t>
            </a:r>
          </a:p>
        </p:txBody>
      </p:sp>
      <p:graphicFrame>
        <p:nvGraphicFramePr>
          <p:cNvPr id="25606" name="Object 4">
            <a:extLst>
              <a:ext uri="{FF2B5EF4-FFF2-40B4-BE49-F238E27FC236}">
                <a16:creationId xmlns:a16="http://schemas.microsoft.com/office/drawing/2014/main" id="{A21752A8-CE9E-4CA0-9C43-170AE18573BC}"/>
              </a:ext>
            </a:extLst>
          </p:cNvPr>
          <p:cNvGraphicFramePr>
            <a:graphicFrameLocks noChangeAspect="1"/>
          </p:cNvGraphicFramePr>
          <p:nvPr>
            <p:extLst>
              <p:ext uri="{D42A27DB-BD31-4B8C-83A1-F6EECF244321}">
                <p14:modId xmlns:p14="http://schemas.microsoft.com/office/powerpoint/2010/main" val="384750257"/>
              </p:ext>
            </p:extLst>
          </p:nvPr>
        </p:nvGraphicFramePr>
        <p:xfrm>
          <a:off x="1259632" y="2159967"/>
          <a:ext cx="6157666" cy="2950579"/>
        </p:xfrm>
        <a:graphic>
          <a:graphicData uri="http://schemas.openxmlformats.org/presentationml/2006/ole">
            <mc:AlternateContent xmlns:mc="http://schemas.openxmlformats.org/markup-compatibility/2006">
              <mc:Choice xmlns:v="urn:schemas-microsoft-com:vml" Requires="v">
                <p:oleObj spid="_x0000_s10267" name="图片" r:id="rId3" imgW="2745542" imgH="1313851" progId="Word.Picture.8">
                  <p:embed/>
                </p:oleObj>
              </mc:Choice>
              <mc:Fallback>
                <p:oleObj name="图片" r:id="rId3" imgW="2745542" imgH="1313851" progId="Word.Picture.8">
                  <p:embed/>
                  <p:pic>
                    <p:nvPicPr>
                      <p:cNvPr id="25606" name="Object 4">
                        <a:extLst>
                          <a:ext uri="{FF2B5EF4-FFF2-40B4-BE49-F238E27FC236}">
                            <a16:creationId xmlns:a16="http://schemas.microsoft.com/office/drawing/2014/main" id="{A21752A8-CE9E-4CA0-9C43-170AE18573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2159967"/>
                        <a:ext cx="6157666" cy="2950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2">
            <a:extLst>
              <a:ext uri="{FF2B5EF4-FFF2-40B4-BE49-F238E27FC236}">
                <a16:creationId xmlns:a16="http://schemas.microsoft.com/office/drawing/2014/main" id="{6E8626A1-E86F-4F4F-B6F8-C4F47827DCF2}"/>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EAAFEA97-7FAD-4F12-89DD-1D8306532422}"/>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3B9760C1-FBA1-4C19-BC13-997DE6D8F1EC}" type="slidenum">
              <a:rPr lang="en-US" altLang="ko-KR" sz="1323">
                <a:latin typeface="Times New Roman" panose="02020603050405020304" pitchFamily="18" charset="0"/>
                <a:ea typeface="-소망M" pitchFamily="18" charset="-127"/>
              </a:rPr>
              <a:pPr eaLnBrk="1" hangingPunct="1"/>
              <a:t>41</a:t>
            </a:fld>
            <a:endParaRPr lang="en-US" altLang="ko-KR" sz="1323">
              <a:latin typeface="Times New Roman" panose="02020603050405020304" pitchFamily="18" charset="0"/>
              <a:ea typeface="-소망M" pitchFamily="18" charset="-127"/>
            </a:endParaRPr>
          </a:p>
        </p:txBody>
      </p:sp>
      <p:sp>
        <p:nvSpPr>
          <p:cNvPr id="26628" name="Rectangle 3">
            <a:extLst>
              <a:ext uri="{FF2B5EF4-FFF2-40B4-BE49-F238E27FC236}">
                <a16:creationId xmlns:a16="http://schemas.microsoft.com/office/drawing/2014/main" id="{4F31B0BD-67DB-4A10-BFC3-46BD63A12670}"/>
              </a:ext>
            </a:extLst>
          </p:cNvPr>
          <p:cNvSpPr>
            <a:spLocks noGrp="1" noChangeArrowheads="1"/>
          </p:cNvSpPr>
          <p:nvPr>
            <p:ph type="body" idx="1"/>
          </p:nvPr>
        </p:nvSpPr>
        <p:spPr>
          <a:xfrm>
            <a:off x="683568" y="791815"/>
            <a:ext cx="3682752" cy="576659"/>
          </a:xfrm>
        </p:spPr>
        <p:txBody>
          <a:bodyPr/>
          <a:lstStyle/>
          <a:p>
            <a:pPr eaLnBrk="1" hangingPunct="1"/>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阅读器（读写器或基站） </a:t>
            </a:r>
          </a:p>
        </p:txBody>
      </p:sp>
      <p:sp>
        <p:nvSpPr>
          <p:cNvPr id="26629" name="Rectangle 5">
            <a:extLst>
              <a:ext uri="{FF2B5EF4-FFF2-40B4-BE49-F238E27FC236}">
                <a16:creationId xmlns:a16="http://schemas.microsoft.com/office/drawing/2014/main" id="{033F884B-62A6-4A8D-B9C6-F34F207D7209}"/>
              </a:ext>
            </a:extLst>
          </p:cNvPr>
          <p:cNvSpPr>
            <a:spLocks noChangeArrowheads="1"/>
          </p:cNvSpPr>
          <p:nvPr/>
        </p:nvSpPr>
        <p:spPr bwMode="auto">
          <a:xfrm>
            <a:off x="251884" y="1192370"/>
            <a:ext cx="184731" cy="441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endParaRPr lang="zh-CN" altLang="en-US" sz="2268"/>
          </a:p>
        </p:txBody>
      </p:sp>
      <p:graphicFrame>
        <p:nvGraphicFramePr>
          <p:cNvPr id="26630" name="Object 4">
            <a:extLst>
              <a:ext uri="{FF2B5EF4-FFF2-40B4-BE49-F238E27FC236}">
                <a16:creationId xmlns:a16="http://schemas.microsoft.com/office/drawing/2014/main" id="{649F49AF-9886-46E3-BF22-0C40BF3E7968}"/>
              </a:ext>
            </a:extLst>
          </p:cNvPr>
          <p:cNvGraphicFramePr>
            <a:graphicFrameLocks noChangeAspect="1"/>
          </p:cNvGraphicFramePr>
          <p:nvPr>
            <p:extLst>
              <p:ext uri="{D42A27DB-BD31-4B8C-83A1-F6EECF244321}">
                <p14:modId xmlns:p14="http://schemas.microsoft.com/office/powerpoint/2010/main" val="1504559657"/>
              </p:ext>
            </p:extLst>
          </p:nvPr>
        </p:nvGraphicFramePr>
        <p:xfrm>
          <a:off x="1988756" y="1633709"/>
          <a:ext cx="4755128" cy="3997608"/>
        </p:xfrm>
        <a:graphic>
          <a:graphicData uri="http://schemas.openxmlformats.org/presentationml/2006/ole">
            <mc:AlternateContent xmlns:mc="http://schemas.openxmlformats.org/markup-compatibility/2006">
              <mc:Choice xmlns:v="urn:schemas-microsoft-com:vml" Requires="v">
                <p:oleObj spid="_x0000_s11291" name="图片" r:id="rId3" imgW="5205323" imgH="3866323" progId="Word.Picture.8">
                  <p:embed/>
                </p:oleObj>
              </mc:Choice>
              <mc:Fallback>
                <p:oleObj name="图片" r:id="rId3" imgW="5205323" imgH="3866323" progId="Word.Picture.8">
                  <p:embed/>
                  <p:pic>
                    <p:nvPicPr>
                      <p:cNvPr id="26630" name="Object 4">
                        <a:extLst>
                          <a:ext uri="{FF2B5EF4-FFF2-40B4-BE49-F238E27FC236}">
                            <a16:creationId xmlns:a16="http://schemas.microsoft.com/office/drawing/2014/main" id="{649F49AF-9886-46E3-BF22-0C40BF3E7968}"/>
                          </a:ext>
                        </a:extLst>
                      </p:cNvPr>
                      <p:cNvPicPr>
                        <a:picLocks noChangeAspect="1" noChangeArrowheads="1"/>
                      </p:cNvPicPr>
                      <p:nvPr/>
                    </p:nvPicPr>
                    <p:blipFill>
                      <a:blip r:embed="rId4">
                        <a:grayscl/>
                        <a:extLst>
                          <a:ext uri="{28A0092B-C50C-407E-A947-70E740481C1C}">
                            <a14:useLocalDpi xmlns:a14="http://schemas.microsoft.com/office/drawing/2010/main" val="0"/>
                          </a:ext>
                        </a:extLst>
                      </a:blip>
                      <a:srcRect l="5054" r="6645"/>
                      <a:stretch>
                        <a:fillRect/>
                      </a:stretch>
                    </p:blipFill>
                    <p:spPr bwMode="auto">
                      <a:xfrm>
                        <a:off x="1988756" y="1633709"/>
                        <a:ext cx="4755128" cy="3997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2">
            <a:extLst>
              <a:ext uri="{FF2B5EF4-FFF2-40B4-BE49-F238E27FC236}">
                <a16:creationId xmlns:a16="http://schemas.microsoft.com/office/drawing/2014/main" id="{000C666B-3693-4DEC-8E5C-A49DE1EED2EB}"/>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a:extLst>
              <a:ext uri="{FF2B5EF4-FFF2-40B4-BE49-F238E27FC236}">
                <a16:creationId xmlns:a16="http://schemas.microsoft.com/office/drawing/2014/main" id="{CDAA4DA8-7DD2-41A5-987F-4378AA303C9F}"/>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0F795D74-E965-4451-A7C7-909C5553ADC3}" type="slidenum">
              <a:rPr lang="en-US" altLang="ko-KR" sz="1323">
                <a:latin typeface="Times New Roman" panose="02020603050405020304" pitchFamily="18" charset="0"/>
                <a:ea typeface="-소망M" pitchFamily="18" charset="-127"/>
              </a:rPr>
              <a:pPr eaLnBrk="1" hangingPunct="1"/>
              <a:t>42</a:t>
            </a:fld>
            <a:endParaRPr lang="en-US" altLang="ko-KR" sz="1323">
              <a:latin typeface="Times New Roman" panose="02020603050405020304" pitchFamily="18" charset="0"/>
              <a:ea typeface="-소망M" pitchFamily="18" charset="-127"/>
            </a:endParaRPr>
          </a:p>
        </p:txBody>
      </p:sp>
      <p:sp>
        <p:nvSpPr>
          <p:cNvPr id="27652" name="Rectangle 3">
            <a:extLst>
              <a:ext uri="{FF2B5EF4-FFF2-40B4-BE49-F238E27FC236}">
                <a16:creationId xmlns:a16="http://schemas.microsoft.com/office/drawing/2014/main" id="{9B04C63D-0667-449B-8915-9CFE458C6CFC}"/>
              </a:ext>
            </a:extLst>
          </p:cNvPr>
          <p:cNvSpPr>
            <a:spLocks noGrp="1" noChangeArrowheads="1"/>
          </p:cNvSpPr>
          <p:nvPr>
            <p:ph type="body" idx="1"/>
          </p:nvPr>
        </p:nvSpPr>
        <p:spPr/>
        <p:txBody>
          <a:bodyPr/>
          <a:lstStyle/>
          <a:p>
            <a:pPr marL="396008" indent="-396008"/>
            <a:r>
              <a:rPr lang="zh-CN" altLang="en-US" sz="2400" dirty="0">
                <a:latin typeface="微软雅黑" panose="020B0503020204020204" pitchFamily="34" charset="-122"/>
                <a:ea typeface="微软雅黑" panose="020B0503020204020204" pitchFamily="34" charset="-122"/>
              </a:rPr>
              <a:t>阅读器的功能</a:t>
            </a:r>
          </a:p>
          <a:p>
            <a:pPr marL="792015" lvl="1" indent="-360007">
              <a:buNone/>
            </a:pPr>
            <a:endParaRPr lang="zh-CN" altLang="en-US" sz="2400" dirty="0">
              <a:latin typeface="微软雅黑" panose="020B0503020204020204" pitchFamily="34" charset="-122"/>
              <a:ea typeface="微软雅黑" panose="020B0503020204020204" pitchFamily="34" charset="-122"/>
            </a:endParaRPr>
          </a:p>
          <a:p>
            <a:pPr marL="792015" lvl="1" indent="-360007">
              <a:buFontTx/>
              <a:buAutoNum type="circleNumDbPlain"/>
            </a:pPr>
            <a:r>
              <a:rPr lang="zh-CN" altLang="en-US" sz="2000" dirty="0">
                <a:latin typeface="微软雅黑" panose="020B0503020204020204" pitchFamily="34" charset="-122"/>
                <a:ea typeface="微软雅黑" panose="020B0503020204020204" pitchFamily="34" charset="-122"/>
              </a:rPr>
              <a:t>以射频方式向应答器传输能量；</a:t>
            </a:r>
          </a:p>
          <a:p>
            <a:pPr marL="792015" lvl="1" indent="-360007">
              <a:buFontTx/>
              <a:buAutoNum type="circleNumDbPlain"/>
            </a:pPr>
            <a:endParaRPr lang="zh-CN" altLang="en-US" sz="2000" dirty="0">
              <a:latin typeface="微软雅黑" panose="020B0503020204020204" pitchFamily="34" charset="-122"/>
              <a:ea typeface="微软雅黑" panose="020B0503020204020204" pitchFamily="34" charset="-122"/>
            </a:endParaRPr>
          </a:p>
          <a:p>
            <a:pPr marL="792015" lvl="1" indent="-360007">
              <a:buFontTx/>
              <a:buAutoNum type="circleNumDbPlain" startAt="2"/>
            </a:pPr>
            <a:r>
              <a:rPr lang="zh-CN" altLang="en-US" sz="2000" dirty="0">
                <a:latin typeface="微软雅黑" panose="020B0503020204020204" pitchFamily="34" charset="-122"/>
                <a:ea typeface="微软雅黑" panose="020B0503020204020204" pitchFamily="34" charset="-122"/>
              </a:rPr>
              <a:t>从应答器中读出数据或向应答器写入数据；</a:t>
            </a:r>
          </a:p>
          <a:p>
            <a:pPr marL="792015" lvl="1" indent="-360007">
              <a:buFontTx/>
              <a:buAutoNum type="circleNumDbPlain" startAt="2"/>
            </a:pPr>
            <a:endParaRPr lang="zh-CN" altLang="en-US" sz="2000" dirty="0">
              <a:latin typeface="微软雅黑" panose="020B0503020204020204" pitchFamily="34" charset="-122"/>
              <a:ea typeface="微软雅黑" panose="020B0503020204020204" pitchFamily="34" charset="-122"/>
            </a:endParaRPr>
          </a:p>
          <a:p>
            <a:pPr marL="792015" lvl="1" indent="-360007">
              <a:buFontTx/>
              <a:buAutoNum type="circleNumDbPlain" startAt="3"/>
            </a:pPr>
            <a:r>
              <a:rPr lang="zh-CN" altLang="en-US" sz="2000" dirty="0">
                <a:latin typeface="微软雅黑" panose="020B0503020204020204" pitchFamily="34" charset="-122"/>
                <a:ea typeface="微软雅黑" panose="020B0503020204020204" pitchFamily="34" charset="-122"/>
              </a:rPr>
              <a:t>完成对读取数据的信息处理并实现应用操作；</a:t>
            </a:r>
          </a:p>
          <a:p>
            <a:pPr marL="792015" lvl="1" indent="-360007">
              <a:buFontTx/>
              <a:buAutoNum type="circleNumDbPlain" startAt="3"/>
            </a:pPr>
            <a:endParaRPr lang="zh-CN" altLang="en-US" sz="2000" dirty="0">
              <a:latin typeface="微软雅黑" panose="020B0503020204020204" pitchFamily="34" charset="-122"/>
              <a:ea typeface="微软雅黑" panose="020B0503020204020204" pitchFamily="34" charset="-122"/>
            </a:endParaRPr>
          </a:p>
          <a:p>
            <a:pPr marL="792015" lvl="1" indent="-360007">
              <a:buNone/>
            </a:pPr>
            <a:r>
              <a:rPr lang="zh-CN" altLang="en-US" sz="2000" dirty="0">
                <a:latin typeface="微软雅黑" panose="020B0503020204020204" pitchFamily="34" charset="-122"/>
                <a:ea typeface="微软雅黑" panose="020B0503020204020204" pitchFamily="34" charset="-122"/>
              </a:rPr>
              <a:t>④  若有需要，应能和高层处理交互信息。</a:t>
            </a:r>
          </a:p>
        </p:txBody>
      </p:sp>
      <p:sp>
        <p:nvSpPr>
          <p:cNvPr id="5" name="Rectangle 2">
            <a:extLst>
              <a:ext uri="{FF2B5EF4-FFF2-40B4-BE49-F238E27FC236}">
                <a16:creationId xmlns:a16="http://schemas.microsoft.com/office/drawing/2014/main" id="{47794DD7-AFFD-47E1-81FD-13A3743ED964}"/>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3A7AB711-AEED-4595-9264-41BD3957912A}"/>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5BF0FC7D-B9EF-4FBB-9E53-6766F911D8C8}" type="slidenum">
              <a:rPr lang="en-US" altLang="ko-KR" sz="1323">
                <a:latin typeface="Times New Roman" panose="02020603050405020304" pitchFamily="18" charset="0"/>
                <a:ea typeface="-소망M" pitchFamily="18" charset="-127"/>
              </a:rPr>
              <a:pPr eaLnBrk="1" hangingPunct="1"/>
              <a:t>43</a:t>
            </a:fld>
            <a:endParaRPr lang="en-US" altLang="ko-KR" sz="1323">
              <a:latin typeface="Times New Roman" panose="02020603050405020304" pitchFamily="18" charset="0"/>
              <a:ea typeface="-소망M" pitchFamily="18" charset="-127"/>
            </a:endParaRPr>
          </a:p>
        </p:txBody>
      </p:sp>
      <p:sp>
        <p:nvSpPr>
          <p:cNvPr id="28676" name="Rectangle 3">
            <a:extLst>
              <a:ext uri="{FF2B5EF4-FFF2-40B4-BE49-F238E27FC236}">
                <a16:creationId xmlns:a16="http://schemas.microsoft.com/office/drawing/2014/main" id="{B8D8B115-9A3D-49CD-B673-D9E7DC41F3D0}"/>
              </a:ext>
            </a:extLst>
          </p:cNvPr>
          <p:cNvSpPr>
            <a:spLocks noGrp="1" noChangeArrowheads="1"/>
          </p:cNvSpPr>
          <p:nvPr>
            <p:ph type="body" idx="1"/>
          </p:nvPr>
        </p:nvSpPr>
        <p:spPr>
          <a:xfrm>
            <a:off x="611560" y="791815"/>
            <a:ext cx="3178696" cy="613587"/>
          </a:xfrm>
        </p:spPr>
        <p:txBody>
          <a:bodyPr/>
          <a:lstStyle/>
          <a:p>
            <a:pPr eaLnBrk="1" hangingPunct="1"/>
            <a:r>
              <a:rPr lang="zh-CN" altLang="en-US" sz="2400" dirty="0">
                <a:latin typeface="微软雅黑" panose="020B0503020204020204" pitchFamily="34" charset="-122"/>
                <a:ea typeface="微软雅黑" panose="020B0503020204020204" pitchFamily="34" charset="-122"/>
              </a:rPr>
              <a:t>阅读器的电路组成 </a:t>
            </a:r>
          </a:p>
        </p:txBody>
      </p:sp>
      <p:graphicFrame>
        <p:nvGraphicFramePr>
          <p:cNvPr id="28678" name="Object 4">
            <a:extLst>
              <a:ext uri="{FF2B5EF4-FFF2-40B4-BE49-F238E27FC236}">
                <a16:creationId xmlns:a16="http://schemas.microsoft.com/office/drawing/2014/main" id="{5E73545F-7CB4-4BB6-BFB2-89C885246314}"/>
              </a:ext>
            </a:extLst>
          </p:cNvPr>
          <p:cNvGraphicFramePr>
            <a:graphicFrameLocks noChangeAspect="1"/>
          </p:cNvGraphicFramePr>
          <p:nvPr>
            <p:extLst>
              <p:ext uri="{D42A27DB-BD31-4B8C-83A1-F6EECF244321}">
                <p14:modId xmlns:p14="http://schemas.microsoft.com/office/powerpoint/2010/main" val="1226073083"/>
              </p:ext>
            </p:extLst>
          </p:nvPr>
        </p:nvGraphicFramePr>
        <p:xfrm>
          <a:off x="1259632" y="1871935"/>
          <a:ext cx="6498175" cy="3117084"/>
        </p:xfrm>
        <a:graphic>
          <a:graphicData uri="http://schemas.openxmlformats.org/presentationml/2006/ole">
            <mc:AlternateContent xmlns:mc="http://schemas.openxmlformats.org/markup-compatibility/2006">
              <mc:Choice xmlns:v="urn:schemas-microsoft-com:vml" Requires="v">
                <p:oleObj spid="_x0000_s12315" name="图片" r:id="rId3" imgW="2821937" imgH="1352007" progId="Word.Picture.8">
                  <p:embed/>
                </p:oleObj>
              </mc:Choice>
              <mc:Fallback>
                <p:oleObj name="图片" r:id="rId3" imgW="2821937" imgH="1352007" progId="Word.Picture.8">
                  <p:embed/>
                  <p:pic>
                    <p:nvPicPr>
                      <p:cNvPr id="28678" name="Object 4">
                        <a:extLst>
                          <a:ext uri="{FF2B5EF4-FFF2-40B4-BE49-F238E27FC236}">
                            <a16:creationId xmlns:a16="http://schemas.microsoft.com/office/drawing/2014/main" id="{5E73545F-7CB4-4BB6-BFB2-89C8852463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1871935"/>
                        <a:ext cx="6498175" cy="3117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2">
            <a:extLst>
              <a:ext uri="{FF2B5EF4-FFF2-40B4-BE49-F238E27FC236}">
                <a16:creationId xmlns:a16="http://schemas.microsoft.com/office/drawing/2014/main" id="{3FA5E0E6-5C82-4FEE-9634-C1992E91E7C7}"/>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a:extLst>
              <a:ext uri="{FF2B5EF4-FFF2-40B4-BE49-F238E27FC236}">
                <a16:creationId xmlns:a16="http://schemas.microsoft.com/office/drawing/2014/main" id="{6C297721-4A93-42B3-931F-F62780658BDA}"/>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BC687DB6-9E2B-4818-85A6-FB8C02606CFF}" type="slidenum">
              <a:rPr lang="en-US" altLang="ko-KR" sz="1323">
                <a:latin typeface="Times New Roman" panose="02020603050405020304" pitchFamily="18" charset="0"/>
                <a:ea typeface="-소망M" pitchFamily="18" charset="-127"/>
              </a:rPr>
              <a:pPr eaLnBrk="1" hangingPunct="1"/>
              <a:t>44</a:t>
            </a:fld>
            <a:endParaRPr lang="en-US" altLang="ko-KR" sz="1323">
              <a:latin typeface="Times New Roman" panose="02020603050405020304" pitchFamily="18" charset="0"/>
              <a:ea typeface="-소망M" pitchFamily="18" charset="-127"/>
            </a:endParaRPr>
          </a:p>
        </p:txBody>
      </p:sp>
      <p:sp>
        <p:nvSpPr>
          <p:cNvPr id="29700" name="Rectangle 3">
            <a:extLst>
              <a:ext uri="{FF2B5EF4-FFF2-40B4-BE49-F238E27FC236}">
                <a16:creationId xmlns:a16="http://schemas.microsoft.com/office/drawing/2014/main" id="{3C7CA322-284C-4FF7-B94B-747F4F810276}"/>
              </a:ext>
            </a:extLst>
          </p:cNvPr>
          <p:cNvSpPr>
            <a:spLocks noGrp="1" noChangeArrowheads="1"/>
          </p:cNvSpPr>
          <p:nvPr>
            <p:ph type="body" idx="1"/>
          </p:nvPr>
        </p:nvSpPr>
        <p:spPr>
          <a:xfrm>
            <a:off x="457200" y="1511300"/>
            <a:ext cx="8229600" cy="3240955"/>
          </a:xfrm>
        </p:spPr>
        <p:txBody>
          <a:bodyPr/>
          <a:lstStyle/>
          <a:p>
            <a:pPr eaLnBrk="1" hangingPunct="1"/>
            <a:r>
              <a:rPr lang="zh-CN" altLang="en-US" sz="2400" dirty="0">
                <a:latin typeface="微软雅黑" panose="020B0503020204020204" pitchFamily="34" charset="-122"/>
                <a:ea typeface="微软雅黑" panose="020B0503020204020204" pitchFamily="34" charset="-122"/>
              </a:rPr>
              <a:t>天线</a:t>
            </a:r>
          </a:p>
          <a:p>
            <a:pPr lvl="1" eaLnBrk="1" hangingPunct="1"/>
            <a:endParaRPr lang="zh-CN" altLang="en-US" sz="2400" dirty="0">
              <a:latin typeface="微软雅黑" panose="020B0503020204020204" pitchFamily="34" charset="-122"/>
              <a:ea typeface="微软雅黑" panose="020B0503020204020204" pitchFamily="34" charset="-122"/>
            </a:endParaRPr>
          </a:p>
          <a:p>
            <a:pPr lvl="1" eaLnBrk="1" hangingPunct="1">
              <a:lnSpc>
                <a:spcPct val="150000"/>
              </a:lnSpc>
            </a:pPr>
            <a:r>
              <a:rPr lang="zh-CN" altLang="en-US" sz="2000" dirty="0">
                <a:latin typeface="微软雅黑" panose="020B0503020204020204" pitchFamily="34" charset="-122"/>
                <a:ea typeface="微软雅黑" panose="020B0503020204020204" pitchFamily="34" charset="-122"/>
              </a:rPr>
              <a:t>天线的目标是取得最大的能量传输效果。 </a:t>
            </a:r>
          </a:p>
          <a:p>
            <a:pPr lvl="1" eaLnBrk="1" hangingPunct="1">
              <a:lnSpc>
                <a:spcPct val="150000"/>
              </a:lnSpc>
            </a:pPr>
            <a:r>
              <a:rPr lang="en-US" altLang="zh-CN" sz="2000" dirty="0">
                <a:latin typeface="微软雅黑" panose="020B0503020204020204" pitchFamily="34" charset="-122"/>
                <a:ea typeface="微软雅黑" panose="020B0503020204020204" pitchFamily="34" charset="-122"/>
              </a:rPr>
              <a:t>RFID</a:t>
            </a:r>
            <a:r>
              <a:rPr lang="zh-CN" altLang="en-US" sz="2000" dirty="0">
                <a:latin typeface="微软雅黑" panose="020B0503020204020204" pitchFamily="34" charset="-122"/>
                <a:ea typeface="微软雅黑" panose="020B0503020204020204" pitchFamily="34" charset="-122"/>
              </a:rPr>
              <a:t>系统所用的天线类型主要有偶极子天线、微带贴片天线、线圈天线等。 </a:t>
            </a:r>
          </a:p>
          <a:p>
            <a:pPr lvl="1" eaLnBrk="1" hangingPunct="1">
              <a:lnSpc>
                <a:spcPct val="150000"/>
              </a:lnSpc>
            </a:pPr>
            <a:r>
              <a:rPr lang="zh-CN" altLang="en-US" sz="2000" dirty="0">
                <a:latin typeface="微软雅黑" panose="020B0503020204020204" pitchFamily="34" charset="-122"/>
                <a:ea typeface="微软雅黑" panose="020B0503020204020204" pitchFamily="34" charset="-122"/>
              </a:rPr>
              <a:t>在应答器中，天线和应答器芯片封装在一起。</a:t>
            </a:r>
            <a:r>
              <a:rPr lang="en-US" altLang="zh-CN" sz="2000" dirty="0">
                <a:latin typeface="微软雅黑" panose="020B0503020204020204" pitchFamily="34" charset="-122"/>
                <a:ea typeface="微软雅黑" panose="020B0503020204020204" pitchFamily="34" charset="-122"/>
              </a:rPr>
              <a:t> </a:t>
            </a:r>
          </a:p>
        </p:txBody>
      </p:sp>
      <p:sp>
        <p:nvSpPr>
          <p:cNvPr id="5" name="Rectangle 2">
            <a:extLst>
              <a:ext uri="{FF2B5EF4-FFF2-40B4-BE49-F238E27FC236}">
                <a16:creationId xmlns:a16="http://schemas.microsoft.com/office/drawing/2014/main" id="{F13DE5AB-9A6A-4CAC-992D-55B1F30A2096}"/>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a:extLst>
              <a:ext uri="{FF2B5EF4-FFF2-40B4-BE49-F238E27FC236}">
                <a16:creationId xmlns:a16="http://schemas.microsoft.com/office/drawing/2014/main" id="{760F6587-A0A1-4540-AE60-494C13A96DFA}"/>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3A3DA754-1D46-46EE-B717-44D9D5C27189}" type="slidenum">
              <a:rPr lang="en-US" altLang="ko-KR" sz="1323">
                <a:latin typeface="Times New Roman" panose="02020603050405020304" pitchFamily="18" charset="0"/>
                <a:ea typeface="-소망M" pitchFamily="18" charset="-127"/>
              </a:rPr>
              <a:pPr eaLnBrk="1" hangingPunct="1"/>
              <a:t>45</a:t>
            </a:fld>
            <a:endParaRPr lang="en-US" altLang="ko-KR" sz="1323">
              <a:latin typeface="Times New Roman" panose="02020603050405020304" pitchFamily="18" charset="0"/>
              <a:ea typeface="-소망M" pitchFamily="18" charset="-127"/>
            </a:endParaRPr>
          </a:p>
        </p:txBody>
      </p:sp>
      <p:sp>
        <p:nvSpPr>
          <p:cNvPr id="31748" name="Rectangle 3">
            <a:extLst>
              <a:ext uri="{FF2B5EF4-FFF2-40B4-BE49-F238E27FC236}">
                <a16:creationId xmlns:a16="http://schemas.microsoft.com/office/drawing/2014/main" id="{511CD058-A6AC-46C6-B85A-AD0C24DAFC5D}"/>
              </a:ext>
            </a:extLst>
          </p:cNvPr>
          <p:cNvSpPr>
            <a:spLocks noGrp="1" noChangeArrowheads="1"/>
          </p:cNvSpPr>
          <p:nvPr>
            <p:ph type="body" idx="1"/>
          </p:nvPr>
        </p:nvSpPr>
        <p:spPr>
          <a:xfrm>
            <a:off x="457200" y="1007840"/>
            <a:ext cx="8229600" cy="1512168"/>
          </a:xfrm>
        </p:spPr>
        <p:txBody>
          <a:bodyPr/>
          <a:lstStyle/>
          <a:p>
            <a:pPr eaLnBrk="1" hangingPunct="1"/>
            <a:r>
              <a:rPr lang="en-US" altLang="zh-CN" sz="2400" dirty="0">
                <a:latin typeface="微软雅黑" panose="020B0503020204020204" pitchFamily="34" charset="-122"/>
                <a:ea typeface="微软雅黑" panose="020B0503020204020204" pitchFamily="34" charset="-122"/>
              </a:rPr>
              <a:t>RFID</a:t>
            </a:r>
            <a:r>
              <a:rPr lang="zh-CN" altLang="en-US" sz="2400" dirty="0">
                <a:latin typeface="微软雅黑" panose="020B0503020204020204" pitchFamily="34" charset="-122"/>
                <a:ea typeface="微软雅黑" panose="020B0503020204020204" pitchFamily="34" charset="-122"/>
              </a:rPr>
              <a:t>的应用</a:t>
            </a:r>
          </a:p>
          <a:p>
            <a:pPr lvl="1" eaLnBrk="1" hangingPunct="1">
              <a:lnSpc>
                <a:spcPct val="150000"/>
              </a:lnSpc>
            </a:pPr>
            <a:r>
              <a:rPr lang="en-US" altLang="zh-CN" sz="2000" dirty="0">
                <a:latin typeface="微软雅黑" panose="020B0503020204020204" pitchFamily="34" charset="-122"/>
                <a:ea typeface="微软雅黑" panose="020B0503020204020204" pitchFamily="34" charset="-122"/>
              </a:rPr>
              <a:t>RFID</a:t>
            </a:r>
            <a:r>
              <a:rPr lang="zh-CN" altLang="en-US" sz="2000" dirty="0">
                <a:latin typeface="微软雅黑" panose="020B0503020204020204" pitchFamily="34" charset="-122"/>
                <a:ea typeface="微软雅黑" panose="020B0503020204020204" pitchFamily="34" charset="-122"/>
              </a:rPr>
              <a:t>应用领域广泛，且每种应用的实现，都会形成一个庞大的市场，因此可以说射频识别是一个重要的新的经济增长点。 </a:t>
            </a:r>
            <a:endParaRPr lang="en-US" altLang="zh-CN" sz="2000" dirty="0">
              <a:latin typeface="微软雅黑" panose="020B0503020204020204" pitchFamily="34" charset="-122"/>
              <a:ea typeface="微软雅黑" panose="020B0503020204020204" pitchFamily="34" charset="-122"/>
            </a:endParaRPr>
          </a:p>
          <a:p>
            <a:pPr marL="0" lvl="0" indent="0" fontAlgn="auto">
              <a:spcAft>
                <a:spcPts val="0"/>
              </a:spcAft>
              <a:buNone/>
            </a:pP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eaLnBrk="1" hangingPunct="1">
              <a:lnSpc>
                <a:spcPct val="150000"/>
              </a:lnSpc>
              <a:buNone/>
            </a:pPr>
            <a:endParaRPr lang="zh-CN" altLang="en-US" sz="2000" dirty="0">
              <a:latin typeface="微软雅黑" panose="020B0503020204020204" pitchFamily="34" charset="-122"/>
              <a:ea typeface="微软雅黑" panose="020B0503020204020204" pitchFamily="34" charset="-122"/>
            </a:endParaRPr>
          </a:p>
        </p:txBody>
      </p:sp>
      <p:sp>
        <p:nvSpPr>
          <p:cNvPr id="7" name="Rectangle 2">
            <a:extLst>
              <a:ext uri="{FF2B5EF4-FFF2-40B4-BE49-F238E27FC236}">
                <a16:creationId xmlns:a16="http://schemas.microsoft.com/office/drawing/2014/main" id="{035A19AF-5D0B-400A-81D7-061885AF1209}"/>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
        <p:nvSpPr>
          <p:cNvPr id="6" name="文本框 5">
            <a:extLst>
              <a:ext uri="{FF2B5EF4-FFF2-40B4-BE49-F238E27FC236}">
                <a16:creationId xmlns:a16="http://schemas.microsoft.com/office/drawing/2014/main" id="{96D335E5-9003-4BBF-893E-AC60CC2CE6C6}"/>
              </a:ext>
            </a:extLst>
          </p:cNvPr>
          <p:cNvSpPr txBox="1"/>
          <p:nvPr/>
        </p:nvSpPr>
        <p:spPr>
          <a:xfrm>
            <a:off x="1979712" y="2625323"/>
            <a:ext cx="2387192" cy="3170099"/>
          </a:xfrm>
          <a:prstGeom prst="rect">
            <a:avLst/>
          </a:prstGeom>
          <a:noFill/>
        </p:spPr>
        <p:txBody>
          <a:bodyPr wrap="none" rtlCol="0">
            <a:spAutoFit/>
          </a:bodyPr>
          <a:lstStyle/>
          <a:p>
            <a:pPr marL="0" lvl="0" indent="0" fontAlgn="auto">
              <a:spcAft>
                <a:spcPts val="0"/>
              </a:spcAft>
              <a:buNone/>
            </a:pPr>
            <a:r>
              <a:rPr lang="zh-CN"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）制造领域</a:t>
            </a:r>
          </a:p>
          <a:p>
            <a:pPr marL="0" lvl="0" indent="0" fontAlgn="auto">
              <a:spcAft>
                <a:spcPts val="0"/>
              </a:spcAft>
              <a:buNone/>
            </a:pPr>
            <a:r>
              <a:rPr lang="zh-CN"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）物流领域</a:t>
            </a:r>
          </a:p>
          <a:p>
            <a:pPr marL="0" lvl="0" indent="0" fontAlgn="auto">
              <a:spcAft>
                <a:spcPts val="0"/>
              </a:spcAft>
              <a:buNone/>
            </a:pPr>
            <a:r>
              <a:rPr lang="zh-CN"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）零售领域</a:t>
            </a:r>
          </a:p>
          <a:p>
            <a:pPr marL="0" lvl="0" indent="0" fontAlgn="auto">
              <a:spcAft>
                <a:spcPts val="0"/>
              </a:spcAft>
              <a:buNone/>
            </a:pPr>
            <a:r>
              <a:rPr lang="zh-CN"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）医疗领域</a:t>
            </a:r>
          </a:p>
          <a:p>
            <a:pPr marL="0" lvl="0" indent="0" fontAlgn="auto">
              <a:spcAft>
                <a:spcPts val="0"/>
              </a:spcAft>
              <a:buNone/>
            </a:pPr>
            <a:r>
              <a:rPr lang="zh-CN"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）身份识别领域</a:t>
            </a:r>
          </a:p>
          <a:p>
            <a:pPr marL="0" lvl="0" indent="0" fontAlgn="auto">
              <a:spcAft>
                <a:spcPts val="0"/>
              </a:spcAft>
              <a:buNone/>
            </a:pPr>
            <a:r>
              <a:rPr lang="zh-CN"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6</a:t>
            </a:r>
            <a:r>
              <a:rPr lang="zh-CN"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）军事领域</a:t>
            </a:r>
            <a:endPar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fontAlgn="auto">
              <a:spcAft>
                <a:spcPts val="0"/>
              </a:spcAft>
              <a:buNone/>
            </a:pPr>
            <a:r>
              <a:rPr lang="zh-CN"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7</a:t>
            </a:r>
            <a:r>
              <a:rPr lang="zh-CN"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）防伪安全领域</a:t>
            </a:r>
          </a:p>
          <a:p>
            <a:pPr marL="0" lvl="0" indent="0" fontAlgn="auto">
              <a:spcAft>
                <a:spcPts val="0"/>
              </a:spcAft>
              <a:buNone/>
            </a:pPr>
            <a:r>
              <a:rPr lang="zh-CN"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8</a:t>
            </a:r>
            <a:r>
              <a:rPr lang="zh-CN"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）资产管理领域</a:t>
            </a:r>
            <a:endPar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fontAlgn="auto">
              <a:spcAft>
                <a:spcPts val="0"/>
              </a:spcAft>
              <a:buNone/>
            </a:pPr>
            <a:r>
              <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9</a:t>
            </a:r>
            <a:r>
              <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）交通领域</a:t>
            </a:r>
          </a:p>
          <a:p>
            <a:endParaRPr lang="zh-CN" altLang="en-US" sz="2000" dirty="0">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E8A67078-6D75-4B30-85EA-7C3ED253C887}"/>
              </a:ext>
            </a:extLst>
          </p:cNvPr>
          <p:cNvSpPr txBox="1"/>
          <p:nvPr/>
        </p:nvSpPr>
        <p:spPr>
          <a:xfrm>
            <a:off x="4543589" y="2687310"/>
            <a:ext cx="2695260" cy="2862322"/>
          </a:xfrm>
          <a:prstGeom prst="rect">
            <a:avLst/>
          </a:prstGeom>
          <a:noFill/>
        </p:spPr>
        <p:txBody>
          <a:bodyPr wrap="square" rtlCol="0">
            <a:spAutoFit/>
          </a:bodyPr>
          <a:lstStyle/>
          <a:p>
            <a:pPr marL="0" lvl="0" indent="0" fontAlgn="auto">
              <a:spcAft>
                <a:spcPts val="0"/>
              </a:spcAft>
              <a:buNone/>
            </a:pP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）食品领域</a:t>
            </a:r>
          </a:p>
          <a:p>
            <a:pPr marL="0" lvl="0" indent="0" fontAlgn="auto">
              <a:spcAft>
                <a:spcPts val="0"/>
              </a:spcAft>
              <a:buNone/>
            </a:pP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11</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）图书领域</a:t>
            </a:r>
          </a:p>
          <a:p>
            <a:pPr marL="0" lvl="0" indent="0" fontAlgn="auto">
              <a:spcAft>
                <a:spcPts val="0"/>
              </a:spcAft>
              <a:buNone/>
            </a:pP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12</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）动物领域</a:t>
            </a:r>
          </a:p>
          <a:p>
            <a:pPr marL="0" lvl="0" indent="0" fontAlgn="auto">
              <a:spcAft>
                <a:spcPts val="0"/>
              </a:spcAft>
              <a:buNone/>
            </a:pP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13</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）农业领域</a:t>
            </a:r>
          </a:p>
          <a:p>
            <a:pPr marL="0" lvl="0" indent="0" fontAlgn="auto">
              <a:spcAft>
                <a:spcPts val="0"/>
              </a:spcAft>
              <a:buNone/>
            </a:pP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14</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）电力管理领域</a:t>
            </a:r>
          </a:p>
          <a:p>
            <a:pPr marL="0" lvl="0" indent="0" fontAlgn="auto">
              <a:spcAft>
                <a:spcPts val="0"/>
              </a:spcAft>
              <a:buNone/>
            </a:pP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15</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）电子支付领域</a:t>
            </a:r>
          </a:p>
          <a:p>
            <a:pPr marL="0" lvl="0" indent="0" fontAlgn="auto">
              <a:spcAft>
                <a:spcPts val="0"/>
              </a:spcAft>
              <a:buNone/>
            </a:pP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16</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）环境监测领域</a:t>
            </a:r>
          </a:p>
          <a:p>
            <a:pPr marL="0" lvl="0" indent="0" fontAlgn="auto">
              <a:spcAft>
                <a:spcPts val="0"/>
              </a:spcAft>
              <a:buNone/>
            </a:pP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17</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）智能家居领域</a:t>
            </a:r>
          </a:p>
          <a:p>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E4E989D-7970-4D6C-8977-C2F25D59ABDC}"/>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A3D0979B-378F-4308-9ABD-2BE59CDFCB0A}" type="slidenum">
              <a:rPr lang="en-US" altLang="ko-KR" sz="1323">
                <a:latin typeface="Times New Roman" panose="02020603050405020304" pitchFamily="18" charset="0"/>
                <a:ea typeface="-소망M" pitchFamily="18" charset="-127"/>
              </a:rPr>
              <a:pPr eaLnBrk="1" hangingPunct="1"/>
              <a:t>46</a:t>
            </a:fld>
            <a:endParaRPr lang="en-US" altLang="ko-KR" sz="1323">
              <a:latin typeface="Times New Roman" panose="02020603050405020304" pitchFamily="18" charset="0"/>
              <a:ea typeface="-소망M" pitchFamily="18" charset="-127"/>
            </a:endParaRPr>
          </a:p>
        </p:txBody>
      </p:sp>
      <p:sp>
        <p:nvSpPr>
          <p:cNvPr id="33796" name="Rectangle 3">
            <a:extLst>
              <a:ext uri="{FF2B5EF4-FFF2-40B4-BE49-F238E27FC236}">
                <a16:creationId xmlns:a16="http://schemas.microsoft.com/office/drawing/2014/main" id="{52A44086-ACF1-4C76-80AF-C44CBBFF2D17}"/>
              </a:ext>
            </a:extLst>
          </p:cNvPr>
          <p:cNvSpPr>
            <a:spLocks noGrp="1" noChangeArrowheads="1"/>
          </p:cNvSpPr>
          <p:nvPr>
            <p:ph type="body" idx="1"/>
          </p:nvPr>
        </p:nvSpPr>
        <p:spPr>
          <a:xfrm>
            <a:off x="611560" y="885117"/>
            <a:ext cx="3394720" cy="441340"/>
          </a:xfrm>
        </p:spPr>
        <p:txBody>
          <a:bodyPr/>
          <a:lstStyle/>
          <a:p>
            <a:pPr eaLnBrk="1" hangingPunct="1"/>
            <a:r>
              <a:rPr lang="en-US" altLang="zh-CN" sz="2400" dirty="0">
                <a:latin typeface="微软雅黑" panose="020B0503020204020204" pitchFamily="34" charset="-122"/>
                <a:ea typeface="微软雅黑" panose="020B0503020204020204" pitchFamily="34" charset="-122"/>
              </a:rPr>
              <a:t>RFID</a:t>
            </a:r>
            <a:r>
              <a:rPr lang="zh-CN" altLang="en-US" sz="2400" dirty="0">
                <a:latin typeface="微软雅黑" panose="020B0503020204020204" pitchFamily="34" charset="-122"/>
                <a:ea typeface="微软雅黑" panose="020B0503020204020204" pitchFamily="34" charset="-122"/>
              </a:rPr>
              <a:t>的应用</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身份证</a:t>
            </a:r>
          </a:p>
        </p:txBody>
      </p:sp>
      <p:sp>
        <p:nvSpPr>
          <p:cNvPr id="33797" name="Rectangle 5">
            <a:extLst>
              <a:ext uri="{FF2B5EF4-FFF2-40B4-BE49-F238E27FC236}">
                <a16:creationId xmlns:a16="http://schemas.microsoft.com/office/drawing/2014/main" id="{5CFD1CF2-F4FA-4BA2-8A8E-94EC230CABA6}"/>
              </a:ext>
            </a:extLst>
          </p:cNvPr>
          <p:cNvSpPr>
            <a:spLocks noChangeArrowheads="1"/>
          </p:cNvSpPr>
          <p:nvPr/>
        </p:nvSpPr>
        <p:spPr bwMode="auto">
          <a:xfrm>
            <a:off x="251884" y="1448877"/>
            <a:ext cx="184731" cy="441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굴림" panose="020B0503020000020004" pitchFamily="34" charset="-127"/>
                <a:ea typeface="굴림" panose="020B0503020000020004" pitchFamily="34" charset="-127"/>
              </a:defRPr>
            </a:lvl1pPr>
            <a:lvl2pPr marL="742950" indent="-285750" eaLnBrk="0" hangingPunct="0">
              <a:defRPr kumimoji="1" sz="2400">
                <a:solidFill>
                  <a:schemeClr val="tx1"/>
                </a:solidFill>
                <a:latin typeface="굴림" panose="020B0503020000020004" pitchFamily="34" charset="-127"/>
                <a:ea typeface="굴림" panose="020B0503020000020004" pitchFamily="34" charset="-127"/>
              </a:defRPr>
            </a:lvl2pPr>
            <a:lvl3pPr marL="1143000" indent="-228600" eaLnBrk="0" hangingPunct="0">
              <a:defRPr kumimoji="1" sz="2400">
                <a:solidFill>
                  <a:schemeClr val="tx1"/>
                </a:solidFill>
                <a:latin typeface="굴림" panose="020B0503020000020004" pitchFamily="34" charset="-127"/>
                <a:ea typeface="굴림" panose="020B0503020000020004" pitchFamily="34" charset="-127"/>
              </a:defRPr>
            </a:lvl3pPr>
            <a:lvl4pPr marL="1600200" indent="-228600" eaLnBrk="0" hangingPunct="0">
              <a:defRPr kumimoji="1" sz="2400">
                <a:solidFill>
                  <a:schemeClr val="tx1"/>
                </a:solidFill>
                <a:latin typeface="굴림" panose="020B0503020000020004" pitchFamily="34" charset="-127"/>
                <a:ea typeface="굴림" panose="020B0503020000020004" pitchFamily="34" charset="-127"/>
              </a:defRPr>
            </a:lvl4pPr>
            <a:lvl5pPr marL="2057400" indent="-228600" eaLnBrk="0" hangingPunct="0">
              <a:defRPr kumimoji="1" sz="2400">
                <a:solidFill>
                  <a:schemeClr val="tx1"/>
                </a:solidFill>
                <a:latin typeface="굴림" panose="020B0503020000020004" pitchFamily="34" charset="-127"/>
                <a:ea typeface="굴림" panose="020B0503020000020004" pitchFamily="34" charset="-127"/>
              </a:defRPr>
            </a:lvl5pPr>
            <a:lvl6pPr marL="25146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6pPr>
            <a:lvl7pPr marL="29718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7pPr>
            <a:lvl8pPr marL="34290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8pPr>
            <a:lvl9pPr marL="3886200" indent="-228600" eaLnBrk="0" fontAlgn="base" latinLnBrk="1" hangingPunct="0">
              <a:spcBef>
                <a:spcPct val="0"/>
              </a:spcBef>
              <a:spcAft>
                <a:spcPct val="0"/>
              </a:spcAft>
              <a:defRPr kumimoji="1" sz="2400">
                <a:solidFill>
                  <a:schemeClr val="tx1"/>
                </a:solidFill>
                <a:latin typeface="굴림" panose="020B0503020000020004" pitchFamily="34" charset="-127"/>
                <a:ea typeface="굴림" panose="020B0503020000020004" pitchFamily="34" charset="-127"/>
              </a:defRPr>
            </a:lvl9pPr>
          </a:lstStyle>
          <a:p>
            <a:pPr eaLnBrk="1" hangingPunct="1"/>
            <a:endParaRPr lang="zh-CN" altLang="en-US" sz="2268"/>
          </a:p>
        </p:txBody>
      </p:sp>
      <p:graphicFrame>
        <p:nvGraphicFramePr>
          <p:cNvPr id="33798" name="Object 4">
            <a:extLst>
              <a:ext uri="{FF2B5EF4-FFF2-40B4-BE49-F238E27FC236}">
                <a16:creationId xmlns:a16="http://schemas.microsoft.com/office/drawing/2014/main" id="{546A4D5B-58D5-4439-9FD1-FFFFBF9B385A}"/>
              </a:ext>
            </a:extLst>
          </p:cNvPr>
          <p:cNvGraphicFramePr>
            <a:graphicFrameLocks noChangeAspect="1"/>
          </p:cNvGraphicFramePr>
          <p:nvPr>
            <p:extLst>
              <p:ext uri="{D42A27DB-BD31-4B8C-83A1-F6EECF244321}">
                <p14:modId xmlns:p14="http://schemas.microsoft.com/office/powerpoint/2010/main" val="3364111979"/>
              </p:ext>
            </p:extLst>
          </p:nvPr>
        </p:nvGraphicFramePr>
        <p:xfrm>
          <a:off x="2042931" y="1799927"/>
          <a:ext cx="5058137" cy="3573096"/>
        </p:xfrm>
        <a:graphic>
          <a:graphicData uri="http://schemas.openxmlformats.org/presentationml/2006/ole">
            <mc:AlternateContent xmlns:mc="http://schemas.openxmlformats.org/markup-compatibility/2006">
              <mc:Choice xmlns:v="urn:schemas-microsoft-com:vml" Requires="v">
                <p:oleObj spid="_x0000_s14364" name="图片" r:id="rId3" imgW="4709475" imgH="3323504" progId="Word.Picture.8">
                  <p:embed/>
                </p:oleObj>
              </mc:Choice>
              <mc:Fallback>
                <p:oleObj name="图片" r:id="rId3" imgW="4709475" imgH="3323504" progId="Word.Picture.8">
                  <p:embed/>
                  <p:pic>
                    <p:nvPicPr>
                      <p:cNvPr id="33798" name="Object 4">
                        <a:extLst>
                          <a:ext uri="{FF2B5EF4-FFF2-40B4-BE49-F238E27FC236}">
                            <a16:creationId xmlns:a16="http://schemas.microsoft.com/office/drawing/2014/main" id="{546A4D5B-58D5-4439-9FD1-FFFFBF9B385A}"/>
                          </a:ext>
                        </a:extLst>
                      </p:cNvPr>
                      <p:cNvPicPr>
                        <a:picLocks noChangeAspect="1" noChangeArrowheads="1"/>
                      </p:cNvPicPr>
                      <p:nvPr/>
                    </p:nvPicPr>
                    <p:blipFill>
                      <a:blip r:embed="rId4">
                        <a:grayscl/>
                        <a:extLst>
                          <a:ext uri="{28A0092B-C50C-407E-A947-70E740481C1C}">
                            <a14:useLocalDpi xmlns:a14="http://schemas.microsoft.com/office/drawing/2010/main" val="0"/>
                          </a:ext>
                        </a:extLst>
                      </a:blip>
                      <a:srcRect/>
                      <a:stretch>
                        <a:fillRect/>
                      </a:stretch>
                    </p:blipFill>
                    <p:spPr bwMode="auto">
                      <a:xfrm>
                        <a:off x="2042931" y="1799927"/>
                        <a:ext cx="5058137" cy="3573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2">
            <a:extLst>
              <a:ext uri="{FF2B5EF4-FFF2-40B4-BE49-F238E27FC236}">
                <a16:creationId xmlns:a16="http://schemas.microsoft.com/office/drawing/2014/main" id="{5C6F1AE2-CCA8-4DAC-B8CD-ABA4A58A9B19}"/>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a:extLst>
              <a:ext uri="{FF2B5EF4-FFF2-40B4-BE49-F238E27FC236}">
                <a16:creationId xmlns:a16="http://schemas.microsoft.com/office/drawing/2014/main" id="{2588BE96-0B38-4033-B61B-D88181C68CFF}"/>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27BE4883-DA74-4648-A366-C4CF4ED73CBD}" type="slidenum">
              <a:rPr lang="en-US" altLang="ko-KR" sz="1323">
                <a:latin typeface="Times New Roman" panose="02020603050405020304" pitchFamily="18" charset="0"/>
                <a:ea typeface="-소망M" pitchFamily="18" charset="-127"/>
              </a:rPr>
              <a:pPr eaLnBrk="1" hangingPunct="1"/>
              <a:t>47</a:t>
            </a:fld>
            <a:endParaRPr lang="en-US" altLang="ko-KR" sz="1323">
              <a:latin typeface="Times New Roman" panose="02020603050405020304" pitchFamily="18" charset="0"/>
              <a:ea typeface="-소망M" pitchFamily="18" charset="-127"/>
            </a:endParaRPr>
          </a:p>
        </p:txBody>
      </p:sp>
      <p:sp>
        <p:nvSpPr>
          <p:cNvPr id="36867" name="Rectangle 4">
            <a:extLst>
              <a:ext uri="{FF2B5EF4-FFF2-40B4-BE49-F238E27FC236}">
                <a16:creationId xmlns:a16="http://schemas.microsoft.com/office/drawing/2014/main" id="{8A917863-CE35-4D29-B71E-37F39E98B9DC}"/>
              </a:ext>
            </a:extLst>
          </p:cNvPr>
          <p:cNvSpPr>
            <a:spLocks noGrp="1" noChangeArrowheads="1"/>
          </p:cNvSpPr>
          <p:nvPr>
            <p:ph type="title"/>
          </p:nvPr>
        </p:nvSpPr>
        <p:spPr>
          <a:xfrm>
            <a:off x="3744422" y="1079847"/>
            <a:ext cx="1655156" cy="398951"/>
          </a:xfrm>
          <a:noFill/>
        </p:spPr>
        <p:txBody>
          <a:bodyPr/>
          <a:lstStyle/>
          <a:p>
            <a:pPr eaLnBrk="1" hangingPunct="1"/>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市场</a:t>
            </a:r>
          </a:p>
        </p:txBody>
      </p:sp>
      <p:sp>
        <p:nvSpPr>
          <p:cNvPr id="36868" name="Rectangle 5">
            <a:extLst>
              <a:ext uri="{FF2B5EF4-FFF2-40B4-BE49-F238E27FC236}">
                <a16:creationId xmlns:a16="http://schemas.microsoft.com/office/drawing/2014/main" id="{44089ED2-E79F-4996-BF63-4D3EF113BF02}"/>
              </a:ext>
            </a:extLst>
          </p:cNvPr>
          <p:cNvSpPr>
            <a:spLocks noGrp="1" noChangeArrowheads="1"/>
          </p:cNvSpPr>
          <p:nvPr>
            <p:ph type="body" idx="1"/>
          </p:nvPr>
        </p:nvSpPr>
        <p:spPr>
          <a:xfrm>
            <a:off x="457200" y="2159967"/>
            <a:ext cx="8229600" cy="1872803"/>
          </a:xfrm>
          <a:noFill/>
        </p:spPr>
        <p:txBody>
          <a:bodyPr/>
          <a:lstStyle/>
          <a:p>
            <a:pPr eaLnBrk="1" hangingPunct="1"/>
            <a:r>
              <a:rPr lang="zh-CN" altLang="en-US" sz="2000" dirty="0">
                <a:latin typeface="微软雅黑" panose="020B0503020204020204" pitchFamily="34" charset="-122"/>
                <a:ea typeface="微软雅黑" panose="020B0503020204020204" pitchFamily="34" charset="-122"/>
              </a:rPr>
              <a:t>物联网的连接数量将会达到数百亿甚至上千亿，连接是商业价值的基础，基于这些庞大的物联网连接，将会衍生出万亿美元级的市场。</a:t>
            </a:r>
          </a:p>
          <a:p>
            <a:pPr eaLnBrk="1" hangingPunct="1"/>
            <a:endParaRPr lang="zh-CN" altLang="en-US" sz="2000" dirty="0">
              <a:latin typeface="微软雅黑" panose="020B0503020204020204" pitchFamily="34" charset="-122"/>
              <a:ea typeface="微软雅黑" panose="020B0503020204020204" pitchFamily="34" charset="-122"/>
            </a:endParaRPr>
          </a:p>
          <a:p>
            <a:pPr eaLnBrk="1" hangingPunct="1"/>
            <a:r>
              <a:rPr lang="zh-CN" altLang="en-US" sz="2000" dirty="0">
                <a:latin typeface="微软雅黑" panose="020B0503020204020204" pitchFamily="34" charset="-122"/>
                <a:ea typeface="微软雅黑" panose="020B0503020204020204" pitchFamily="34" charset="-122"/>
              </a:rPr>
              <a:t>而从出货量来说，目前全球每年消耗的</a:t>
            </a:r>
            <a:r>
              <a:rPr lang="en-US" altLang="zh-CN" sz="2000" dirty="0">
                <a:latin typeface="微软雅黑" panose="020B0503020204020204" pitchFamily="34" charset="-122"/>
                <a:ea typeface="微软雅黑" panose="020B0503020204020204" pitchFamily="34" charset="-122"/>
              </a:rPr>
              <a:t>RFID</a:t>
            </a:r>
            <a:r>
              <a:rPr lang="zh-CN" altLang="en-US" sz="2000" dirty="0">
                <a:latin typeface="微软雅黑" panose="020B0503020204020204" pitchFamily="34" charset="-122"/>
                <a:ea typeface="微软雅黑" panose="020B0503020204020204" pitchFamily="34" charset="-122"/>
              </a:rPr>
              <a:t>标签产品超过</a:t>
            </a:r>
            <a:r>
              <a:rPr lang="en-US" altLang="zh-CN" sz="2000" dirty="0">
                <a:latin typeface="微软雅黑" panose="020B0503020204020204" pitchFamily="34" charset="-122"/>
                <a:ea typeface="微软雅黑" panose="020B0503020204020204" pitchFamily="34" charset="-122"/>
              </a:rPr>
              <a:t>200</a:t>
            </a:r>
            <a:r>
              <a:rPr lang="zh-CN" altLang="en-US" sz="2000" dirty="0">
                <a:latin typeface="微软雅黑" panose="020B0503020204020204" pitchFamily="34" charset="-122"/>
                <a:ea typeface="微软雅黑" panose="020B0503020204020204" pitchFamily="34" charset="-122"/>
              </a:rPr>
              <a:t>亿，并且随着超高频</a:t>
            </a:r>
            <a:r>
              <a:rPr lang="en-US" altLang="zh-CN" sz="2000" dirty="0">
                <a:latin typeface="微软雅黑" panose="020B0503020204020204" pitchFamily="34" charset="-122"/>
                <a:ea typeface="微软雅黑" panose="020B0503020204020204" pitchFamily="34" charset="-122"/>
              </a:rPr>
              <a:t>RFID</a:t>
            </a:r>
            <a:r>
              <a:rPr lang="zh-CN" altLang="en-US" sz="2000" dirty="0">
                <a:latin typeface="微软雅黑" panose="020B0503020204020204" pitchFamily="34" charset="-122"/>
                <a:ea typeface="微软雅黑" panose="020B0503020204020204" pitchFamily="34" charset="-122"/>
              </a:rPr>
              <a:t>的持续增长，这个数字仍然在增加。</a:t>
            </a:r>
          </a:p>
          <a:p>
            <a:pPr eaLnBrk="1" hangingPunct="1"/>
            <a:endParaRPr lang="zh-CN" altLang="en-US" sz="2000" dirty="0">
              <a:latin typeface="微软雅黑" panose="020B0503020204020204" pitchFamily="34" charset="-122"/>
              <a:ea typeface="微软雅黑" panose="020B0503020204020204" pitchFamily="34" charset="-122"/>
            </a:endParaRPr>
          </a:p>
          <a:p>
            <a:pPr eaLnBrk="1" hangingPunct="1"/>
            <a:endParaRPr lang="zh-CN" altLang="en-US" sz="2000" dirty="0">
              <a:latin typeface="微软雅黑" panose="020B0503020204020204" pitchFamily="34" charset="-122"/>
              <a:ea typeface="微软雅黑" panose="020B0503020204020204" pitchFamily="34" charset="-122"/>
            </a:endParaRPr>
          </a:p>
          <a:p>
            <a:pPr eaLnBrk="1" hangingPunct="1"/>
            <a:endParaRPr lang="zh-CN" altLang="en-US" sz="2000" dirty="0">
              <a:latin typeface="微软雅黑" panose="020B0503020204020204" pitchFamily="34" charset="-122"/>
              <a:ea typeface="微软雅黑" panose="020B0503020204020204" pitchFamily="34" charset="-122"/>
            </a:endParaRPr>
          </a:p>
          <a:p>
            <a:pPr eaLnBrk="1" hangingPunct="1"/>
            <a:endParaRPr lang="zh-CN" altLang="en-US" sz="2000" dirty="0">
              <a:latin typeface="微软雅黑" panose="020B0503020204020204" pitchFamily="34" charset="-122"/>
              <a:ea typeface="微软雅黑" panose="020B0503020204020204" pitchFamily="34" charset="-122"/>
            </a:endParaRPr>
          </a:p>
        </p:txBody>
      </p:sp>
      <p:sp>
        <p:nvSpPr>
          <p:cNvPr id="5" name="Rectangle 2">
            <a:extLst>
              <a:ext uri="{FF2B5EF4-FFF2-40B4-BE49-F238E27FC236}">
                <a16:creationId xmlns:a16="http://schemas.microsoft.com/office/drawing/2014/main" id="{C0CF2E4C-630E-4F87-B331-59D7D116660D}"/>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a:extLst>
              <a:ext uri="{FF2B5EF4-FFF2-40B4-BE49-F238E27FC236}">
                <a16:creationId xmlns:a16="http://schemas.microsoft.com/office/drawing/2014/main" id="{42BB698F-1235-49A1-B02A-2174070AD4F9}"/>
              </a:ext>
            </a:extLst>
          </p:cNvPr>
          <p:cNvSpPr>
            <a:spLocks noGrp="1"/>
          </p:cNvSpPr>
          <p:nvPr>
            <p:ph type="sldNum" sz="quarter" idx="12"/>
          </p:nvPr>
        </p:nvSpPr>
        <p:spPr/>
        <p:txBody>
          <a:bodyPr/>
          <a:lstStyle>
            <a:lvl1pPr eaLnBrk="0" hangingPunct="0">
              <a:defRPr kumimoji="1" sz="2268">
                <a:solidFill>
                  <a:schemeClr val="tx1"/>
                </a:solidFill>
                <a:latin typeface="굴림" panose="020B0503020000020004" pitchFamily="34" charset="-127"/>
                <a:ea typeface="굴림" panose="020B0503020000020004" pitchFamily="34" charset="-127"/>
              </a:defRPr>
            </a:lvl1pPr>
            <a:lvl2pPr marL="702013" indent="-270005" eaLnBrk="0" hangingPunct="0">
              <a:defRPr kumimoji="1" sz="2268">
                <a:solidFill>
                  <a:schemeClr val="tx1"/>
                </a:solidFill>
                <a:latin typeface="굴림" panose="020B0503020000020004" pitchFamily="34" charset="-127"/>
                <a:ea typeface="굴림" panose="020B0503020000020004" pitchFamily="34" charset="-127"/>
              </a:defRPr>
            </a:lvl2pPr>
            <a:lvl3pPr marL="1080021" indent="-216004" eaLnBrk="0" hangingPunct="0">
              <a:defRPr kumimoji="1" sz="2268">
                <a:solidFill>
                  <a:schemeClr val="tx1"/>
                </a:solidFill>
                <a:latin typeface="굴림" panose="020B0503020000020004" pitchFamily="34" charset="-127"/>
                <a:ea typeface="굴림" panose="020B0503020000020004" pitchFamily="34" charset="-127"/>
              </a:defRPr>
            </a:lvl3pPr>
            <a:lvl4pPr marL="1512029" indent="-216004" eaLnBrk="0" hangingPunct="0">
              <a:defRPr kumimoji="1" sz="2268">
                <a:solidFill>
                  <a:schemeClr val="tx1"/>
                </a:solidFill>
                <a:latin typeface="굴림" panose="020B0503020000020004" pitchFamily="34" charset="-127"/>
                <a:ea typeface="굴림" panose="020B0503020000020004" pitchFamily="34" charset="-127"/>
              </a:defRPr>
            </a:lvl4pPr>
            <a:lvl5pPr marL="1944037" indent="-216004" eaLnBrk="0" hangingPunct="0">
              <a:defRPr kumimoji="1" sz="2268">
                <a:solidFill>
                  <a:schemeClr val="tx1"/>
                </a:solidFill>
                <a:latin typeface="굴림" panose="020B0503020000020004" pitchFamily="34" charset="-127"/>
                <a:ea typeface="굴림" panose="020B0503020000020004" pitchFamily="34" charset="-127"/>
              </a:defRPr>
            </a:lvl5pPr>
            <a:lvl6pPr marL="2376046"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6pPr>
            <a:lvl7pPr marL="2808054"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7pPr>
            <a:lvl8pPr marL="3240062"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8pPr>
            <a:lvl9pPr marL="3672070" indent="-216004" eaLnBrk="0" fontAlgn="base" latinLnBrk="1" hangingPunct="0">
              <a:spcBef>
                <a:spcPct val="0"/>
              </a:spcBef>
              <a:spcAft>
                <a:spcPct val="0"/>
              </a:spcAft>
              <a:defRPr kumimoji="1" sz="2268">
                <a:solidFill>
                  <a:schemeClr val="tx1"/>
                </a:solidFill>
                <a:latin typeface="굴림" panose="020B0503020000020004" pitchFamily="34" charset="-127"/>
                <a:ea typeface="굴림" panose="020B0503020000020004" pitchFamily="34" charset="-127"/>
              </a:defRPr>
            </a:lvl9pPr>
          </a:lstStyle>
          <a:p>
            <a:pPr eaLnBrk="1" hangingPunct="1"/>
            <a:fld id="{0B5F9347-9351-44B2-9476-99D7C16286B3}" type="slidenum">
              <a:rPr lang="en-US" altLang="ko-KR" sz="1323">
                <a:latin typeface="Times New Roman" panose="02020603050405020304" pitchFamily="18" charset="0"/>
                <a:ea typeface="-소망M" pitchFamily="18" charset="-127"/>
              </a:rPr>
              <a:pPr eaLnBrk="1" hangingPunct="1"/>
              <a:t>48</a:t>
            </a:fld>
            <a:endParaRPr lang="en-US" altLang="ko-KR" sz="1323">
              <a:latin typeface="Times New Roman" panose="02020603050405020304" pitchFamily="18" charset="0"/>
              <a:ea typeface="-소망M" pitchFamily="18" charset="-127"/>
            </a:endParaRPr>
          </a:p>
        </p:txBody>
      </p:sp>
      <p:sp>
        <p:nvSpPr>
          <p:cNvPr id="38916" name="Rectangle 3">
            <a:extLst>
              <a:ext uri="{FF2B5EF4-FFF2-40B4-BE49-F238E27FC236}">
                <a16:creationId xmlns:a16="http://schemas.microsoft.com/office/drawing/2014/main" id="{916AC314-2332-40A5-B7C2-FF373729E532}"/>
              </a:ext>
            </a:extLst>
          </p:cNvPr>
          <p:cNvSpPr>
            <a:spLocks noGrp="1" noChangeArrowheads="1"/>
          </p:cNvSpPr>
          <p:nvPr>
            <p:ph type="body" idx="1"/>
          </p:nvPr>
        </p:nvSpPr>
        <p:spPr>
          <a:xfrm>
            <a:off x="502952" y="2159967"/>
            <a:ext cx="8138095" cy="1291534"/>
          </a:xfrm>
        </p:spPr>
        <p:txBody>
          <a:bodyPr/>
          <a:lstStyle/>
          <a:p>
            <a:pPr eaLnBrk="1" hangingPunct="1">
              <a:lnSpc>
                <a:spcPct val="150000"/>
              </a:lnSpc>
              <a:buFontTx/>
              <a:buNone/>
            </a:pPr>
            <a:r>
              <a:rPr lang="en-US" altLang="zh-CN" sz="2400" dirty="0">
                <a:latin typeface="微软雅黑" panose="020B0503020204020204" pitchFamily="34" charset="-122"/>
                <a:ea typeface="微软雅黑" panose="020B0503020204020204" pitchFamily="34" charset="-122"/>
              </a:rPr>
              <a:t>    RFID</a:t>
            </a:r>
            <a:r>
              <a:rPr lang="zh-CN" altLang="en-US" sz="2400" dirty="0">
                <a:latin typeface="微软雅黑" panose="020B0503020204020204" pitchFamily="34" charset="-122"/>
                <a:ea typeface="微软雅黑" panose="020B0503020204020204" pitchFamily="34" charset="-122"/>
              </a:rPr>
              <a:t>技术被认为是近</a:t>
            </a:r>
            <a:r>
              <a:rPr lang="en-US" altLang="zh-CN" sz="2400" dirty="0">
                <a:latin typeface="微软雅黑" panose="020B0503020204020204" pitchFamily="34" charset="-122"/>
                <a:ea typeface="微软雅黑" panose="020B0503020204020204" pitchFamily="34" charset="-122"/>
              </a:rPr>
              <a:t>30</a:t>
            </a:r>
            <a:r>
              <a:rPr lang="zh-CN" altLang="en-US" sz="2400" dirty="0">
                <a:latin typeface="微软雅黑" panose="020B0503020204020204" pitchFamily="34" charset="-122"/>
                <a:ea typeface="微软雅黑" panose="020B0503020204020204" pitchFamily="34" charset="-122"/>
              </a:rPr>
              <a:t>年来</a:t>
            </a:r>
            <a:r>
              <a:rPr lang="en-US" altLang="zh-CN" sz="2400" dirty="0">
                <a:latin typeface="微软雅黑" panose="020B0503020204020204" pitchFamily="34" charset="-122"/>
                <a:ea typeface="微软雅黑" panose="020B0503020204020204" pitchFamily="34" charset="-122"/>
              </a:rPr>
              <a:t>10</a:t>
            </a:r>
            <a:r>
              <a:rPr lang="zh-CN" altLang="en-US" sz="2400" dirty="0">
                <a:latin typeface="微软雅黑" panose="020B0503020204020204" pitchFamily="34" charset="-122"/>
                <a:ea typeface="微软雅黑" panose="020B0503020204020204" pitchFamily="34" charset="-122"/>
              </a:rPr>
              <a:t>大最具生命力的技术之一，它正朝着无所不在的方向快速发展。 </a:t>
            </a:r>
          </a:p>
        </p:txBody>
      </p:sp>
      <p:sp>
        <p:nvSpPr>
          <p:cNvPr id="5" name="Rectangle 2">
            <a:extLst>
              <a:ext uri="{FF2B5EF4-FFF2-40B4-BE49-F238E27FC236}">
                <a16:creationId xmlns:a16="http://schemas.microsoft.com/office/drawing/2014/main" id="{86D2668D-47A2-4667-AE4E-AADAA9E52148}"/>
              </a:ext>
            </a:extLst>
          </p:cNvPr>
          <p:cNvSpPr txBox="1">
            <a:spLocks noChangeArrowheads="1"/>
          </p:cNvSpPr>
          <p:nvPr/>
        </p:nvSpPr>
        <p:spPr bwMode="auto">
          <a:xfrm>
            <a:off x="7236296" y="65896"/>
            <a:ext cx="1655155" cy="503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RFID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概论</a:t>
            </a:r>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157255527</TotalTime>
  <Pages>0</Pages>
  <Words>2268</Words>
  <Characters>0</Characters>
  <Application>Microsoft Office PowerPoint</Application>
  <DocSecurity>0</DocSecurity>
  <PresentationFormat>自定义</PresentationFormat>
  <Lines>0</Lines>
  <Paragraphs>289</Paragraphs>
  <Slides>48</Slides>
  <Notes>4</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48</vt:i4>
      </vt:variant>
    </vt:vector>
  </HeadingPairs>
  <TitlesOfParts>
    <vt:vector size="58" baseType="lpstr">
      <vt:lpstr>굴림</vt:lpstr>
      <vt:lpstr>等线</vt:lpstr>
      <vt:lpstr>隶书</vt:lpstr>
      <vt:lpstr>微软雅黑</vt:lpstr>
      <vt:lpstr>Arial</vt:lpstr>
      <vt:lpstr>Tahoma</vt:lpstr>
      <vt:lpstr>Times New Roman</vt:lpstr>
      <vt:lpstr>默认设计模板</vt:lpstr>
      <vt:lpstr>图片</vt:lpstr>
      <vt:lpstr>Visio</vt:lpstr>
      <vt:lpstr>RFID原理及应用</vt:lpstr>
      <vt:lpstr>课程简介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这种RFID芯片只有0.05毫米见方，看上去就像粉末。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RFID市场</vt:lpstr>
      <vt:lpstr>PowerPoint 演示文稿</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Administrator</dc:creator>
  <cp:keywords/>
  <dc:description/>
  <cp:lastModifiedBy>lost niu</cp:lastModifiedBy>
  <cp:revision>32</cp:revision>
  <cp:lastPrinted>1899-12-30T00:00:00Z</cp:lastPrinted>
  <dcterms:created xsi:type="dcterms:W3CDTF">2011-11-16T21:06:53Z</dcterms:created>
  <dcterms:modified xsi:type="dcterms:W3CDTF">2023-02-19T13:04:07Z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2052-8.1.0.2998</vt:lpwstr>
  </property>
</Properties>
</file>