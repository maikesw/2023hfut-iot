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4" r:id="rId1"/>
  </p:sldMasterIdLst>
  <p:notesMasterIdLst>
    <p:notesMasterId r:id="rId55"/>
  </p:notesMasterIdLst>
  <p:sldIdLst>
    <p:sldId id="256" r:id="rId2"/>
    <p:sldId id="257" r:id="rId3"/>
    <p:sldId id="286" r:id="rId4"/>
    <p:sldId id="258" r:id="rId5"/>
    <p:sldId id="259" r:id="rId6"/>
    <p:sldId id="260" r:id="rId7"/>
    <p:sldId id="261" r:id="rId8"/>
    <p:sldId id="262" r:id="rId9"/>
    <p:sldId id="263" r:id="rId10"/>
    <p:sldId id="300" r:id="rId11"/>
    <p:sldId id="287" r:id="rId12"/>
    <p:sldId id="288" r:id="rId13"/>
    <p:sldId id="301" r:id="rId14"/>
    <p:sldId id="289" r:id="rId15"/>
    <p:sldId id="302" r:id="rId16"/>
    <p:sldId id="290" r:id="rId17"/>
    <p:sldId id="291" r:id="rId18"/>
    <p:sldId id="303" r:id="rId19"/>
    <p:sldId id="264" r:id="rId20"/>
    <p:sldId id="265" r:id="rId21"/>
    <p:sldId id="292" r:id="rId22"/>
    <p:sldId id="266" r:id="rId23"/>
    <p:sldId id="293" r:id="rId24"/>
    <p:sldId id="294" r:id="rId25"/>
    <p:sldId id="295" r:id="rId26"/>
    <p:sldId id="296" r:id="rId27"/>
    <p:sldId id="304" r:id="rId28"/>
    <p:sldId id="305" r:id="rId29"/>
    <p:sldId id="306" r:id="rId30"/>
    <p:sldId id="267" r:id="rId31"/>
    <p:sldId id="268" r:id="rId32"/>
    <p:sldId id="307" r:id="rId33"/>
    <p:sldId id="269" r:id="rId34"/>
    <p:sldId id="270" r:id="rId35"/>
    <p:sldId id="271" r:id="rId36"/>
    <p:sldId id="272" r:id="rId37"/>
    <p:sldId id="297" r:id="rId38"/>
    <p:sldId id="298" r:id="rId39"/>
    <p:sldId id="273" r:id="rId40"/>
    <p:sldId id="308" r:id="rId41"/>
    <p:sldId id="309" r:id="rId42"/>
    <p:sldId id="274" r:id="rId43"/>
    <p:sldId id="275" r:id="rId44"/>
    <p:sldId id="310" r:id="rId45"/>
    <p:sldId id="276" r:id="rId46"/>
    <p:sldId id="277" r:id="rId47"/>
    <p:sldId id="311" r:id="rId48"/>
    <p:sldId id="312" r:id="rId49"/>
    <p:sldId id="313" r:id="rId50"/>
    <p:sldId id="314" r:id="rId51"/>
    <p:sldId id="299" r:id="rId52"/>
    <p:sldId id="278" r:id="rId53"/>
    <p:sldId id="315" r:id="rId54"/>
  </p:sldIdLst>
  <p:sldSz cx="9144000" cy="6858000" type="screen4x3"/>
  <p:notesSz cx="6858000" cy="9144000"/>
  <p:embeddedFontLst>
    <p:embeddedFont>
      <p:font typeface="굴림" panose="020B0600000101010101" pitchFamily="34" charset="-127"/>
      <p:regular r:id="rId56"/>
    </p:embeddedFont>
    <p:embeddedFont>
      <p:font typeface="-윤체M" panose="02010600030101010101" charset="-127"/>
      <p:regular r:id="rId57"/>
    </p:embeddedFont>
    <p:embeddedFont>
      <p:font typeface="Cambria Math" panose="02040503050406030204" pitchFamily="18" charset="0"/>
      <p:regular r:id="rId58"/>
    </p:embeddedFont>
    <p:embeddedFont>
      <p:font typeface="微软雅黑" panose="020B0503020204020204" pitchFamily="34" charset="-122"/>
      <p:regular r:id="rId59"/>
      <p:bold r:id="rId60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11" autoAdjust="0"/>
    <p:restoredTop sz="94590" autoAdjust="0"/>
  </p:normalViewPr>
  <p:slideViewPr>
    <p:cSldViewPr>
      <p:cViewPr varScale="1">
        <p:scale>
          <a:sx n="82" d="100"/>
          <a:sy n="82" d="100"/>
        </p:scale>
        <p:origin x="126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3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3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1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image" Target="../media/image37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CF59A42-72FE-4D79-AA5D-C942379AADC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B740EAB3-0179-4E5A-9CBB-98E33417FAC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D29E213-3861-48EB-9EC0-B46492A5C68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29E49B09-1E13-4127-9DE5-3C561D466DF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462947ED-F5C6-4DD7-88DA-DAC7B8016BE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463" name="Rectangle 7">
            <a:extLst>
              <a:ext uri="{FF2B5EF4-FFF2-40B4-BE49-F238E27FC236}">
                <a16:creationId xmlns:a16="http://schemas.microsoft.com/office/drawing/2014/main" id="{F40CECBC-B86F-4FF7-BDF7-68F569FC9E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8A019542-035B-4CBF-B024-D1A5BD0A540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34" charset="-127"/>
        <a:ea typeface="굴림" pitchFamily="34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34" charset="-127"/>
        <a:ea typeface="굴림" pitchFamily="34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34" charset="-127"/>
        <a:ea typeface="굴림" pitchFamily="34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34" charset="-127"/>
        <a:ea typeface="굴림" pitchFamily="34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34" charset="-127"/>
        <a:ea typeface="굴림" pitchFamily="34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F92CD3A-65F3-461B-9E67-08E5DD4BB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788" y="2655888"/>
            <a:ext cx="201612" cy="2159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8CAFE77-C1BD-438D-9381-CCABB01EC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788" y="2897188"/>
            <a:ext cx="201612" cy="2127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6B277E8-CFE2-4FDE-A58A-2339D4519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788" y="3135313"/>
            <a:ext cx="201612" cy="2143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0D28268-D84F-46F0-AA5A-5F49BB668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2213" y="2655888"/>
            <a:ext cx="200025" cy="2159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85917824-3BAB-4BF9-A67A-B335AC18C82F}"/>
              </a:ext>
            </a:extLst>
          </p:cNvPr>
          <p:cNvSpPr>
            <a:spLocks noEditPoints="1"/>
          </p:cNvSpPr>
          <p:nvPr/>
        </p:nvSpPr>
        <p:spPr bwMode="auto">
          <a:xfrm>
            <a:off x="1417638" y="2655888"/>
            <a:ext cx="200025" cy="215900"/>
          </a:xfrm>
          <a:custGeom>
            <a:avLst/>
            <a:gdLst>
              <a:gd name="T0" fmla="*/ 2147483646 w 74"/>
              <a:gd name="T1" fmla="*/ 0 h 75"/>
              <a:gd name="T2" fmla="*/ 0 w 74"/>
              <a:gd name="T3" fmla="*/ 0 h 75"/>
              <a:gd name="T4" fmla="*/ 0 w 74"/>
              <a:gd name="T5" fmla="*/ 2147483646 h 75"/>
              <a:gd name="T6" fmla="*/ 2147483646 w 74"/>
              <a:gd name="T7" fmla="*/ 2147483646 h 75"/>
              <a:gd name="T8" fmla="*/ 2147483646 w 74"/>
              <a:gd name="T9" fmla="*/ 0 h 75"/>
              <a:gd name="T10" fmla="*/ 2147483646 w 74"/>
              <a:gd name="T11" fmla="*/ 0 h 75"/>
              <a:gd name="T12" fmla="*/ 2147483646 w 74"/>
              <a:gd name="T13" fmla="*/ 2147483646 h 75"/>
              <a:gd name="T14" fmla="*/ 2147483646 w 74"/>
              <a:gd name="T15" fmla="*/ 2147483646 h 75"/>
              <a:gd name="T16" fmla="*/ 2147483646 w 74"/>
              <a:gd name="T17" fmla="*/ 2147483646 h 75"/>
              <a:gd name="T18" fmla="*/ 2147483646 w 74"/>
              <a:gd name="T19" fmla="*/ 2147483646 h 75"/>
              <a:gd name="T20" fmla="*/ 2147483646 w 74"/>
              <a:gd name="T21" fmla="*/ 2147483646 h 7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4" h="75">
                <a:moveTo>
                  <a:pt x="72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5"/>
                  <a:pt x="0" y="75"/>
                  <a:pt x="0" y="75"/>
                </a:cubicBezTo>
                <a:cubicBezTo>
                  <a:pt x="74" y="75"/>
                  <a:pt x="74" y="75"/>
                  <a:pt x="74" y="75"/>
                </a:cubicBezTo>
                <a:cubicBezTo>
                  <a:pt x="74" y="0"/>
                  <a:pt x="74" y="0"/>
                  <a:pt x="74" y="0"/>
                </a:cubicBezTo>
                <a:lnTo>
                  <a:pt x="72" y="0"/>
                </a:lnTo>
                <a:close/>
                <a:moveTo>
                  <a:pt x="70" y="4"/>
                </a:moveTo>
                <a:cubicBezTo>
                  <a:pt x="70" y="8"/>
                  <a:pt x="70" y="68"/>
                  <a:pt x="70" y="71"/>
                </a:cubicBezTo>
                <a:cubicBezTo>
                  <a:pt x="67" y="71"/>
                  <a:pt x="7" y="71"/>
                  <a:pt x="3" y="71"/>
                </a:cubicBezTo>
                <a:cubicBezTo>
                  <a:pt x="3" y="68"/>
                  <a:pt x="3" y="8"/>
                  <a:pt x="3" y="4"/>
                </a:cubicBezTo>
                <a:cubicBezTo>
                  <a:pt x="7" y="4"/>
                  <a:pt x="67" y="4"/>
                  <a:pt x="70" y="4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0468C498-CD44-4D41-BD78-9DF472B25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0025" y="3660775"/>
            <a:ext cx="203200" cy="2111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442B6820-1A4C-4148-B8C2-8AAA18DFD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0025" y="3419475"/>
            <a:ext cx="203200" cy="21431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9C47D8A9-8EAC-4C3C-8200-724CF599B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0025" y="3181350"/>
            <a:ext cx="203200" cy="2127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A7278AFE-006C-4B45-AF89-AAD1A4AFC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4600" y="3660775"/>
            <a:ext cx="203200" cy="2111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F0E08DBD-4B02-4273-893C-EE2051D1C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0238" y="6008688"/>
            <a:ext cx="142875" cy="1524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9451703A-657A-457B-A160-E65986C84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5138" y="6008688"/>
            <a:ext cx="142875" cy="1524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6959928A-CECF-4FA9-92F4-3292D118D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5338" y="6008688"/>
            <a:ext cx="144462" cy="1524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D1E60647-6BF5-4DEE-AB42-B23AF7D3FB16}"/>
              </a:ext>
            </a:extLst>
          </p:cNvPr>
          <p:cNvSpPr>
            <a:spLocks noEditPoints="1"/>
          </p:cNvSpPr>
          <p:nvPr/>
        </p:nvSpPr>
        <p:spPr bwMode="auto">
          <a:xfrm>
            <a:off x="8582025" y="6008688"/>
            <a:ext cx="139700" cy="152400"/>
          </a:xfrm>
          <a:custGeom>
            <a:avLst/>
            <a:gdLst>
              <a:gd name="T0" fmla="*/ 2147483646 w 52"/>
              <a:gd name="T1" fmla="*/ 0 h 53"/>
              <a:gd name="T2" fmla="*/ 0 w 52"/>
              <a:gd name="T3" fmla="*/ 0 h 53"/>
              <a:gd name="T4" fmla="*/ 0 w 52"/>
              <a:gd name="T5" fmla="*/ 2147483646 h 53"/>
              <a:gd name="T6" fmla="*/ 2147483646 w 52"/>
              <a:gd name="T7" fmla="*/ 2147483646 h 53"/>
              <a:gd name="T8" fmla="*/ 2147483646 w 52"/>
              <a:gd name="T9" fmla="*/ 0 h 53"/>
              <a:gd name="T10" fmla="*/ 2147483646 w 52"/>
              <a:gd name="T11" fmla="*/ 0 h 53"/>
              <a:gd name="T12" fmla="*/ 2147483646 w 52"/>
              <a:gd name="T13" fmla="*/ 2147483646 h 53"/>
              <a:gd name="T14" fmla="*/ 2147483646 w 52"/>
              <a:gd name="T15" fmla="*/ 2147483646 h 53"/>
              <a:gd name="T16" fmla="*/ 2147483646 w 52"/>
              <a:gd name="T17" fmla="*/ 2147483646 h 53"/>
              <a:gd name="T18" fmla="*/ 2147483646 w 52"/>
              <a:gd name="T19" fmla="*/ 2147483646 h 53"/>
              <a:gd name="T20" fmla="*/ 2147483646 w 52"/>
              <a:gd name="T21" fmla="*/ 2147483646 h 5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2" h="53">
                <a:moveTo>
                  <a:pt x="5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53"/>
                  <a:pt x="0" y="53"/>
                  <a:pt x="0" y="53"/>
                </a:cubicBezTo>
                <a:cubicBezTo>
                  <a:pt x="52" y="53"/>
                  <a:pt x="52" y="53"/>
                  <a:pt x="52" y="53"/>
                </a:cubicBezTo>
                <a:cubicBezTo>
                  <a:pt x="52" y="0"/>
                  <a:pt x="52" y="0"/>
                  <a:pt x="52" y="0"/>
                </a:cubicBezTo>
                <a:lnTo>
                  <a:pt x="50" y="0"/>
                </a:lnTo>
                <a:close/>
                <a:moveTo>
                  <a:pt x="49" y="4"/>
                </a:moveTo>
                <a:cubicBezTo>
                  <a:pt x="49" y="7"/>
                  <a:pt x="49" y="46"/>
                  <a:pt x="49" y="50"/>
                </a:cubicBezTo>
                <a:cubicBezTo>
                  <a:pt x="45" y="50"/>
                  <a:pt x="7" y="50"/>
                  <a:pt x="3" y="50"/>
                </a:cubicBezTo>
                <a:cubicBezTo>
                  <a:pt x="3" y="46"/>
                  <a:pt x="3" y="7"/>
                  <a:pt x="3" y="4"/>
                </a:cubicBezTo>
                <a:cubicBezTo>
                  <a:pt x="7" y="4"/>
                  <a:pt x="45" y="4"/>
                  <a:pt x="49" y="4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7" name="Rectangle 15"/>
          <p:cNvSpPr>
            <a:spLocks noGrp="1" noChangeArrowheads="1"/>
          </p:cNvSpPr>
          <p:nvPr>
            <p:ph type="ctrTitle"/>
          </p:nvPr>
        </p:nvSpPr>
        <p:spPr>
          <a:xfrm>
            <a:off x="0" y="2703513"/>
            <a:ext cx="9144000" cy="1143000"/>
          </a:xfrm>
        </p:spPr>
        <p:txBody>
          <a:bodyPr/>
          <a:lstStyle>
            <a:lvl1pPr algn="ctr">
              <a:defRPr sz="4000"/>
            </a:lvl1pPr>
          </a:lstStyle>
          <a:p>
            <a:pPr lvl="0"/>
            <a:r>
              <a:rPr lang="ko-KR" altLang="en-US" noProof="0"/>
              <a:t>마스터 제목 스타일 편집</a:t>
            </a:r>
          </a:p>
        </p:txBody>
      </p:sp>
      <p:sp>
        <p:nvSpPr>
          <p:cNvPr id="18448" name="Rectangle 16"/>
          <p:cNvSpPr>
            <a:spLocks noGrp="1" noChangeArrowheads="1"/>
          </p:cNvSpPr>
          <p:nvPr>
            <p:ph type="subTitle" idx="1"/>
          </p:nvPr>
        </p:nvSpPr>
        <p:spPr>
          <a:xfrm>
            <a:off x="0" y="3810000"/>
            <a:ext cx="9144000" cy="838200"/>
          </a:xfrm>
        </p:spPr>
        <p:txBody>
          <a:bodyPr/>
          <a:lstStyle>
            <a:lvl1pPr marL="0" indent="0" algn="ctr">
              <a:defRPr sz="2800"/>
            </a:lvl1pPr>
          </a:lstStyle>
          <a:p>
            <a:pPr lvl="0"/>
            <a:r>
              <a:rPr lang="ko-KR" altLang="en-US" noProof="0"/>
              <a:t>마스터 부제목 스타일 편집</a:t>
            </a:r>
          </a:p>
        </p:txBody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EB90ED7B-8E75-4719-8613-34D8DF779C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213475"/>
            <a:ext cx="18986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2539C0C8-84B5-4A63-8B3A-926E65D336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65475" y="6213475"/>
            <a:ext cx="2813050" cy="457200"/>
          </a:xfrm>
        </p:spPr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/>
              <a:t>合肥工业大学 计算机与信息学院</a:t>
            </a:r>
            <a:endParaRPr lang="en-US" altLang="zh-CN"/>
          </a:p>
        </p:txBody>
      </p:sp>
      <p:sp>
        <p:nvSpPr>
          <p:cNvPr id="19" name="Rectangle 19">
            <a:extLst>
              <a:ext uri="{FF2B5EF4-FFF2-40B4-BE49-F238E27FC236}">
                <a16:creationId xmlns:a16="http://schemas.microsoft.com/office/drawing/2014/main" id="{A9A8EDAB-FDF9-43C3-BF38-CEE0011193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42088" y="6213475"/>
            <a:ext cx="18986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BB6208-A4AE-407D-8B00-4AE6C4F7549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78166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278809D0-0E03-4763-A10F-77AFE74CC6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8DDFE7A1-C9BE-4469-AA05-6BDAE588FF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E441890E-966E-4709-9E62-F83CF7442A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B38B0D-9A32-46B1-B60F-8F3EBF06994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36331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E445A152-C51C-43AC-9CFD-C9648C4FC3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502DC94B-8254-4984-B03A-32DA48492D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FF173CB9-6E4E-4675-9572-0A80A7B4EA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529304-CE59-476A-8DA7-70D57CFBE9E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1450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46150" y="1600200"/>
            <a:ext cx="3228975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327525" y="1600200"/>
            <a:ext cx="3230563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252658DD-166C-4A68-B8CA-F894D9715F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5A9E1970-F6FD-42C5-879D-DFF931007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8">
            <a:extLst>
              <a:ext uri="{FF2B5EF4-FFF2-40B4-BE49-F238E27FC236}">
                <a16:creationId xmlns:a16="http://schemas.microsoft.com/office/drawing/2014/main" id="{C15FC1F5-52B2-4372-8F21-B89331D8A1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A91A54-3920-45A9-AB3A-1CC7476D2AD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72309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0CCD0E36-D8E4-46BB-BE6E-B8711D5FAC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7">
            <a:extLst>
              <a:ext uri="{FF2B5EF4-FFF2-40B4-BE49-F238E27FC236}">
                <a16:creationId xmlns:a16="http://schemas.microsoft.com/office/drawing/2014/main" id="{2260865C-E452-49A1-9C26-6AF88C806C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D5413107-D4A8-473B-99E1-C8E6CE73A4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215703-1AD4-4BA6-ACDC-73F767BD186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96100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CD166FE8-8B6C-44DD-A63D-5FA4097C80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822D6C2E-9350-49CF-A9BE-862A14AC50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524A8EE3-ABF9-4D37-A76B-B01892CCF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8E5486-C6A9-4FB6-8AF7-01DF47B4C5F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10468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DAEBCEAE-8495-4476-94AB-A6B8FC72BD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17">
            <a:extLst>
              <a:ext uri="{FF2B5EF4-FFF2-40B4-BE49-F238E27FC236}">
                <a16:creationId xmlns:a16="http://schemas.microsoft.com/office/drawing/2014/main" id="{E7E8CD93-52C2-41C0-8BBF-962FEA650B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920754EF-8E07-4A2C-8F15-1FF2B0996A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B98322-146D-42FD-98DF-72DB239202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83595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40082987-3DD3-49DE-99B0-871C43A60A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EB7710F7-74BB-450D-9A7B-FDD6328AF0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8">
            <a:extLst>
              <a:ext uri="{FF2B5EF4-FFF2-40B4-BE49-F238E27FC236}">
                <a16:creationId xmlns:a16="http://schemas.microsoft.com/office/drawing/2014/main" id="{7C2B846F-FCDC-4460-ABE3-C28D42867A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223A23-A438-4067-8020-A264B9A2040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2784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8FD8B972-20ED-4975-BC2B-22ED1BDF45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30D6583F-3289-4C3F-9D8B-6311C7343C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8">
            <a:extLst>
              <a:ext uri="{FF2B5EF4-FFF2-40B4-BE49-F238E27FC236}">
                <a16:creationId xmlns:a16="http://schemas.microsoft.com/office/drawing/2014/main" id="{98E8156B-8988-4503-9FA3-E5FDA79979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8B490E-E3DE-4500-AFC7-02937F6D112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97976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4E7E1BF8-2F87-4C98-A61A-829EBFB851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76C8A85A-B3F7-4E91-9BC0-09A6548E5F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AC0F88BE-9F95-413D-BF1B-C266392D91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B64B8C-4B3E-4A3C-9642-A977FC928D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99886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5900738" y="615950"/>
            <a:ext cx="1660525" cy="52514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15950"/>
            <a:ext cx="4833938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C9014CB8-F775-4145-8AF2-A05B6743AD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43FCCFD9-ED3E-4060-BAC1-0D0D11F81B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3F7E038D-A21E-4F64-9CCF-9F7DB30E04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E312B4-4487-4404-9D28-4A299B01DD4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45458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15950"/>
            <a:ext cx="6646863" cy="7556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46150" y="1600200"/>
            <a:ext cx="3228975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327525" y="1600200"/>
            <a:ext cx="3230563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665CF973-3B89-4645-84B4-883D0F5C58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4DAE9018-73A9-4908-AB45-3FB50AF12B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8">
            <a:extLst>
              <a:ext uri="{FF2B5EF4-FFF2-40B4-BE49-F238E27FC236}">
                <a16:creationId xmlns:a16="http://schemas.microsoft.com/office/drawing/2014/main" id="{C284C917-139E-45D0-9AC1-8A30EDBAC9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6D78F5-0DD2-4481-96CE-52B41FEF839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83658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6DCF5CEC-B151-4B81-B5EE-64CE125DF46E}"/>
              </a:ext>
            </a:extLst>
          </p:cNvPr>
          <p:cNvGrpSpPr>
            <a:grpSpLocks/>
          </p:cNvGrpSpPr>
          <p:nvPr/>
        </p:nvGrpSpPr>
        <p:grpSpPr bwMode="auto">
          <a:xfrm>
            <a:off x="8085138" y="6008688"/>
            <a:ext cx="636587" cy="152400"/>
            <a:chOff x="5517" y="3785"/>
            <a:chExt cx="435" cy="96"/>
          </a:xfrm>
        </p:grpSpPr>
        <p:sp>
          <p:nvSpPr>
            <p:cNvPr id="1039" name="Rectangle 3">
              <a:extLst>
                <a:ext uri="{FF2B5EF4-FFF2-40B4-BE49-F238E27FC236}">
                  <a16:creationId xmlns:a16="http://schemas.microsoft.com/office/drawing/2014/main" id="{36557851-FF3D-4883-924F-ABD06A8DEEA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630" y="3785"/>
              <a:ext cx="99" cy="9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" name="Rectangle 4">
              <a:extLst>
                <a:ext uri="{FF2B5EF4-FFF2-40B4-BE49-F238E27FC236}">
                  <a16:creationId xmlns:a16="http://schemas.microsoft.com/office/drawing/2014/main" id="{B22E869F-32A7-4DBA-9096-098FFDA681F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517" y="3785"/>
              <a:ext cx="98" cy="9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" name="Rectangle 5">
              <a:extLst>
                <a:ext uri="{FF2B5EF4-FFF2-40B4-BE49-F238E27FC236}">
                  <a16:creationId xmlns:a16="http://schemas.microsoft.com/office/drawing/2014/main" id="{5D3E0781-7411-4E03-8E62-51FFC4EF754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743" y="3785"/>
              <a:ext cx="101" cy="9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4FC46710-05A4-44DD-AEA8-BD992EECB5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857" y="3785"/>
              <a:ext cx="95" cy="96"/>
            </a:xfrm>
            <a:custGeom>
              <a:avLst/>
              <a:gdLst>
                <a:gd name="T0" fmla="*/ 1025 w 52"/>
                <a:gd name="T1" fmla="*/ 0 h 53"/>
                <a:gd name="T2" fmla="*/ 0 w 52"/>
                <a:gd name="T3" fmla="*/ 0 h 53"/>
                <a:gd name="T4" fmla="*/ 0 w 52"/>
                <a:gd name="T5" fmla="*/ 1034 h 53"/>
                <a:gd name="T6" fmla="*/ 1069 w 52"/>
                <a:gd name="T7" fmla="*/ 1034 h 53"/>
                <a:gd name="T8" fmla="*/ 1069 w 52"/>
                <a:gd name="T9" fmla="*/ 0 h 53"/>
                <a:gd name="T10" fmla="*/ 1025 w 52"/>
                <a:gd name="T11" fmla="*/ 0 h 53"/>
                <a:gd name="T12" fmla="*/ 1001 w 52"/>
                <a:gd name="T13" fmla="*/ 78 h 53"/>
                <a:gd name="T14" fmla="*/ 1001 w 52"/>
                <a:gd name="T15" fmla="*/ 982 h 53"/>
                <a:gd name="T16" fmla="*/ 68 w 52"/>
                <a:gd name="T17" fmla="*/ 982 h 53"/>
                <a:gd name="T18" fmla="*/ 68 w 52"/>
                <a:gd name="T19" fmla="*/ 78 h 53"/>
                <a:gd name="T20" fmla="*/ 1001 w 52"/>
                <a:gd name="T21" fmla="*/ 78 h 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2" h="53">
                  <a:moveTo>
                    <a:pt x="5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0"/>
                    <a:pt x="52" y="0"/>
                    <a:pt x="52" y="0"/>
                  </a:cubicBezTo>
                  <a:lnTo>
                    <a:pt x="50" y="0"/>
                  </a:lnTo>
                  <a:close/>
                  <a:moveTo>
                    <a:pt x="49" y="4"/>
                  </a:moveTo>
                  <a:cubicBezTo>
                    <a:pt x="49" y="7"/>
                    <a:pt x="49" y="46"/>
                    <a:pt x="49" y="50"/>
                  </a:cubicBezTo>
                  <a:cubicBezTo>
                    <a:pt x="45" y="50"/>
                    <a:pt x="7" y="50"/>
                    <a:pt x="3" y="50"/>
                  </a:cubicBezTo>
                  <a:cubicBezTo>
                    <a:pt x="3" y="46"/>
                    <a:pt x="3" y="7"/>
                    <a:pt x="3" y="4"/>
                  </a:cubicBezTo>
                  <a:cubicBezTo>
                    <a:pt x="7" y="4"/>
                    <a:pt x="45" y="4"/>
                    <a:pt x="49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7" name="Group 7">
            <a:extLst>
              <a:ext uri="{FF2B5EF4-FFF2-40B4-BE49-F238E27FC236}">
                <a16:creationId xmlns:a16="http://schemas.microsoft.com/office/drawing/2014/main" id="{077B7A58-173C-4DA6-9A55-CAA614985E90}"/>
              </a:ext>
            </a:extLst>
          </p:cNvPr>
          <p:cNvGrpSpPr>
            <a:grpSpLocks/>
          </p:cNvGrpSpPr>
          <p:nvPr/>
        </p:nvGrpSpPr>
        <p:grpSpPr bwMode="auto">
          <a:xfrm>
            <a:off x="385763" y="952500"/>
            <a:ext cx="469900" cy="323850"/>
            <a:chOff x="263" y="600"/>
            <a:chExt cx="321" cy="204"/>
          </a:xfrm>
        </p:grpSpPr>
        <p:sp>
          <p:nvSpPr>
            <p:cNvPr id="1035" name="Rectangle 8">
              <a:extLst>
                <a:ext uri="{FF2B5EF4-FFF2-40B4-BE49-F238E27FC236}">
                  <a16:creationId xmlns:a16="http://schemas.microsoft.com/office/drawing/2014/main" id="{991EAA9E-1CC1-4459-A464-536E09F0920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63" y="600"/>
              <a:ext cx="97" cy="9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36" name="Rectangle 9">
              <a:extLst>
                <a:ext uri="{FF2B5EF4-FFF2-40B4-BE49-F238E27FC236}">
                  <a16:creationId xmlns:a16="http://schemas.microsoft.com/office/drawing/2014/main" id="{9B1D7C18-DD6A-419E-AA62-5AFE2AD9467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74" y="600"/>
              <a:ext cx="101" cy="9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37" name="Freeform 10">
              <a:extLst>
                <a:ext uri="{FF2B5EF4-FFF2-40B4-BE49-F238E27FC236}">
                  <a16:creationId xmlns:a16="http://schemas.microsoft.com/office/drawing/2014/main" id="{3C1BB82F-821A-4886-9EFE-498AB94317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" y="600"/>
              <a:ext cx="98" cy="96"/>
            </a:xfrm>
            <a:custGeom>
              <a:avLst/>
              <a:gdLst>
                <a:gd name="T0" fmla="*/ 1100 w 53"/>
                <a:gd name="T1" fmla="*/ 0 h 53"/>
                <a:gd name="T2" fmla="*/ 0 w 53"/>
                <a:gd name="T3" fmla="*/ 0 h 53"/>
                <a:gd name="T4" fmla="*/ 0 w 53"/>
                <a:gd name="T5" fmla="*/ 1034 h 53"/>
                <a:gd name="T6" fmla="*/ 1145 w 53"/>
                <a:gd name="T7" fmla="*/ 1034 h 53"/>
                <a:gd name="T8" fmla="*/ 1145 w 53"/>
                <a:gd name="T9" fmla="*/ 0 h 53"/>
                <a:gd name="T10" fmla="*/ 1100 w 53"/>
                <a:gd name="T11" fmla="*/ 0 h 53"/>
                <a:gd name="T12" fmla="*/ 1063 w 53"/>
                <a:gd name="T13" fmla="*/ 78 h 53"/>
                <a:gd name="T14" fmla="*/ 1063 w 53"/>
                <a:gd name="T15" fmla="*/ 958 h 53"/>
                <a:gd name="T16" fmla="*/ 81 w 53"/>
                <a:gd name="T17" fmla="*/ 958 h 53"/>
                <a:gd name="T18" fmla="*/ 81 w 53"/>
                <a:gd name="T19" fmla="*/ 78 h 53"/>
                <a:gd name="T20" fmla="*/ 1063 w 53"/>
                <a:gd name="T21" fmla="*/ 78 h 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3" h="53">
                  <a:moveTo>
                    <a:pt x="5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0"/>
                    <a:pt x="53" y="0"/>
                    <a:pt x="53" y="0"/>
                  </a:cubicBezTo>
                  <a:lnTo>
                    <a:pt x="51" y="0"/>
                  </a:lnTo>
                  <a:close/>
                  <a:moveTo>
                    <a:pt x="49" y="4"/>
                  </a:moveTo>
                  <a:cubicBezTo>
                    <a:pt x="49" y="7"/>
                    <a:pt x="49" y="46"/>
                    <a:pt x="49" y="49"/>
                  </a:cubicBezTo>
                  <a:cubicBezTo>
                    <a:pt x="46" y="49"/>
                    <a:pt x="7" y="49"/>
                    <a:pt x="4" y="49"/>
                  </a:cubicBezTo>
                  <a:cubicBezTo>
                    <a:pt x="4" y="46"/>
                    <a:pt x="4" y="7"/>
                    <a:pt x="4" y="4"/>
                  </a:cubicBezTo>
                  <a:cubicBezTo>
                    <a:pt x="7" y="4"/>
                    <a:pt x="46" y="4"/>
                    <a:pt x="49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8" name="Rectangle 11">
              <a:extLst>
                <a:ext uri="{FF2B5EF4-FFF2-40B4-BE49-F238E27FC236}">
                  <a16:creationId xmlns:a16="http://schemas.microsoft.com/office/drawing/2014/main" id="{20AFB126-8F8B-470E-8D9C-748D11F6870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87" y="710"/>
              <a:ext cx="97" cy="9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1028" name="Freeform 12">
            <a:extLst>
              <a:ext uri="{FF2B5EF4-FFF2-40B4-BE49-F238E27FC236}">
                <a16:creationId xmlns:a16="http://schemas.microsoft.com/office/drawing/2014/main" id="{7DD4FA79-16ED-470D-AAE0-6831E92661BE}"/>
              </a:ext>
            </a:extLst>
          </p:cNvPr>
          <p:cNvSpPr>
            <a:spLocks/>
          </p:cNvSpPr>
          <p:nvPr/>
        </p:nvSpPr>
        <p:spPr bwMode="auto">
          <a:xfrm>
            <a:off x="839788" y="1265238"/>
            <a:ext cx="7256462" cy="4781550"/>
          </a:xfrm>
          <a:custGeom>
            <a:avLst/>
            <a:gdLst>
              <a:gd name="T0" fmla="*/ 2147483646 w 2678"/>
              <a:gd name="T1" fmla="*/ 0 h 1667"/>
              <a:gd name="T2" fmla="*/ 0 w 2678"/>
              <a:gd name="T3" fmla="*/ 0 h 1667"/>
              <a:gd name="T4" fmla="*/ 0 w 2678"/>
              <a:gd name="T5" fmla="*/ 2147483646 h 1667"/>
              <a:gd name="T6" fmla="*/ 2147483646 w 2678"/>
              <a:gd name="T7" fmla="*/ 2147483646 h 1667"/>
              <a:gd name="T8" fmla="*/ 2147483646 w 2678"/>
              <a:gd name="T9" fmla="*/ 2147483646 h 1667"/>
              <a:gd name="T10" fmla="*/ 2147483646 w 2678"/>
              <a:gd name="T11" fmla="*/ 2147483646 h 1667"/>
              <a:gd name="T12" fmla="*/ 2147483646 w 2678"/>
              <a:gd name="T13" fmla="*/ 0 h 1667"/>
              <a:gd name="T14" fmla="*/ 2147483646 w 2678"/>
              <a:gd name="T15" fmla="*/ 0 h 166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678" h="1667">
                <a:moveTo>
                  <a:pt x="2676" y="0"/>
                </a:moveTo>
                <a:cubicBezTo>
                  <a:pt x="0" y="0"/>
                  <a:pt x="0" y="0"/>
                  <a:pt x="0" y="0"/>
                </a:cubicBezTo>
                <a:cubicBezTo>
                  <a:pt x="0" y="4"/>
                  <a:pt x="0" y="4"/>
                  <a:pt x="0" y="4"/>
                </a:cubicBezTo>
                <a:cubicBezTo>
                  <a:pt x="0" y="4"/>
                  <a:pt x="2670" y="4"/>
                  <a:pt x="2674" y="4"/>
                </a:cubicBezTo>
                <a:cubicBezTo>
                  <a:pt x="2674" y="8"/>
                  <a:pt x="2674" y="1667"/>
                  <a:pt x="2674" y="1667"/>
                </a:cubicBezTo>
                <a:cubicBezTo>
                  <a:pt x="2678" y="1667"/>
                  <a:pt x="2678" y="1667"/>
                  <a:pt x="2678" y="1667"/>
                </a:cubicBezTo>
                <a:cubicBezTo>
                  <a:pt x="2678" y="0"/>
                  <a:pt x="2678" y="0"/>
                  <a:pt x="2678" y="0"/>
                </a:cubicBezTo>
                <a:lnTo>
                  <a:pt x="26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9" name="Rectangle 13">
            <a:extLst>
              <a:ext uri="{FF2B5EF4-FFF2-40B4-BE49-F238E27FC236}">
                <a16:creationId xmlns:a16="http://schemas.microsoft.com/office/drawing/2014/main" id="{419C5CF8-6DE6-4209-B796-2A961DCF7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63" y="1712913"/>
            <a:ext cx="141287" cy="1524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0" name="Rectangle 14">
            <a:extLst>
              <a:ext uri="{FF2B5EF4-FFF2-40B4-BE49-F238E27FC236}">
                <a16:creationId xmlns:a16="http://schemas.microsoft.com/office/drawing/2014/main" id="{B978F6F2-E34F-49CD-9928-547C2017EF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15950"/>
            <a:ext cx="6646863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31" name="Rectangle 15">
            <a:extLst>
              <a:ext uri="{FF2B5EF4-FFF2-40B4-BE49-F238E27FC236}">
                <a16:creationId xmlns:a16="http://schemas.microsoft.com/office/drawing/2014/main" id="{3BBCD443-7977-405A-A294-3CFDB08E45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6150" y="1600200"/>
            <a:ext cx="6611938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40" name="Rectangle 16">
            <a:extLst>
              <a:ext uri="{FF2B5EF4-FFF2-40B4-BE49-F238E27FC236}">
                <a16:creationId xmlns:a16="http://schemas.microsoft.com/office/drawing/2014/main" id="{08218FD7-E3CD-455A-87B1-13C2F28B95B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6813" y="6261100"/>
            <a:ext cx="1535112" cy="3683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-윤체M" pitchFamily="18" charset="-127"/>
                <a:ea typeface="-윤체M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41" name="Rectangle 17">
            <a:extLst>
              <a:ext uri="{FF2B5EF4-FFF2-40B4-BE49-F238E27FC236}">
                <a16:creationId xmlns:a16="http://schemas.microsoft.com/office/drawing/2014/main" id="{DB2B89B6-114E-4AE2-907B-56AEEFC91B8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248400"/>
            <a:ext cx="2333625" cy="3683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-윤체M" pitchFamily="18" charset="-127"/>
                <a:ea typeface="-윤체M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42" name="Rectangle 18">
            <a:extLst>
              <a:ext uri="{FF2B5EF4-FFF2-40B4-BE49-F238E27FC236}">
                <a16:creationId xmlns:a16="http://schemas.microsoft.com/office/drawing/2014/main" id="{AD51199D-02E8-4C3D-9C99-8902701E853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380288" y="6489700"/>
            <a:ext cx="1535112" cy="3683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5C64D2E-3C69-47A2-AFAB-B620D2D617D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defRPr kumimoji="1" sz="2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8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image" Target="../media/image1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1.png"/><Relationship Id="rId4" Type="http://schemas.openxmlformats.org/officeDocument/2006/relationships/image" Target="../media/image9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9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4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5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7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8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9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0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1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2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25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26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27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29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30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32.e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31.e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33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34.e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38.e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37.e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44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45.emf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4" Type="http://schemas.openxmlformats.org/officeDocument/2006/relationships/image" Target="../media/image51.emf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8">
            <a:extLst>
              <a:ext uri="{FF2B5EF4-FFF2-40B4-BE49-F238E27FC236}">
                <a16:creationId xmlns:a16="http://schemas.microsoft.com/office/drawing/2014/main" id="{D2D3F1D8-429B-4D6C-83B1-913D1C909A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合肥工业大学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470787C1-132B-4702-8632-F23A81268F6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-36513" y="1700213"/>
            <a:ext cx="9144001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002060"/>
                </a:solidFill>
                <a:latin typeface="+mn-lt"/>
                <a:ea typeface="微软雅黑" panose="020B0503020204020204" pitchFamily="34" charset="-122"/>
              </a:rPr>
              <a:t>《RFID</a:t>
            </a:r>
            <a:r>
              <a:rPr lang="zh-CN" altLang="en-US" dirty="0">
                <a:solidFill>
                  <a:srgbClr val="002060"/>
                </a:solidFill>
                <a:latin typeface="+mn-lt"/>
                <a:ea typeface="微软雅黑" panose="020B0503020204020204" pitchFamily="34" charset="-122"/>
              </a:rPr>
              <a:t>原理与应用</a:t>
            </a:r>
            <a:r>
              <a:rPr lang="en-US" altLang="zh-CN" dirty="0">
                <a:solidFill>
                  <a:srgbClr val="002060"/>
                </a:solidFill>
                <a:latin typeface="+mn-lt"/>
                <a:ea typeface="微软雅黑" panose="020B0503020204020204" pitchFamily="34" charset="-122"/>
              </a:rPr>
              <a:t>》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DE5DD5B-A7E0-4F91-A2A8-A5A4DAE4B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1263" y="3259138"/>
            <a:ext cx="6646862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200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  编码和调制</a:t>
            </a:r>
            <a:r>
              <a:rPr lang="zh-CN" altLang="en-US" sz="32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5">
            <a:extLst>
              <a:ext uri="{FF2B5EF4-FFF2-40B4-BE49-F238E27FC236}">
                <a16:creationId xmlns:a16="http://schemas.microsoft.com/office/drawing/2014/main" id="{22A9B620-A5D2-4B5F-815B-774A7009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59A124D-BB7C-4E1E-99B3-8BAC90691F92}" type="slidenum">
              <a:rPr lang="en-US" altLang="ko-KR" sz="1400" smtClean="0"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2</a:t>
            </a:fld>
            <a:endParaRPr lang="en-US" altLang="ko-KR" sz="1400">
              <a:cs typeface="Times New Roman" panose="02020603050405020304" pitchFamily="18" charset="0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5AA42AC3-3935-4079-96E7-9711213DD8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342AED32-C7E3-4093-B598-F074D1E38C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1600200"/>
            <a:ext cx="6865938" cy="42672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信号和编码</a:t>
            </a:r>
            <a:endParaRPr lang="en-US" altLang="zh-CN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3.1.1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数据和信号 	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数据可定义为表意的实体，分为模拟数据和数字数据。模拟数据在某些时间间隔上取连续的值，例如，语音、温度、压力等。     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数字数据取离散值，为人们所熟悉的例子是文本或字符串。在射频识别应答器中存放的数据是数字数据 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>
            <a:extLst>
              <a:ext uri="{FF2B5EF4-FFF2-40B4-BE49-F238E27FC236}">
                <a16:creationId xmlns:a16="http://schemas.microsoft.com/office/drawing/2014/main" id="{BEBAAE7E-FC4A-4ECC-83C3-370941958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defRPr/>
            </a:pPr>
            <a:fld id="{758CEC79-07A7-4E8A-A785-53C16F576239}" type="slidenum">
              <a:rPr lang="en-US" altLang="ko-KR" sz="1400" smtClean="0">
                <a:latin typeface="+mn-lt"/>
                <a:ea typeface="微软雅黑" panose="020B0503020204020204" pitchFamily="34" charset="-122"/>
              </a:rPr>
              <a:pPr>
                <a:spcBef>
                  <a:spcPct val="0"/>
                </a:spcBef>
                <a:defRPr/>
              </a:pPr>
              <a:t>3</a:t>
            </a:fld>
            <a:endParaRPr lang="en-US" altLang="ko-KR" sz="1400"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C164E1D4-E750-4E22-9974-6764BC4ADE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>
                <a:solidFill>
                  <a:srgbClr val="FF0000"/>
                </a:solidFill>
                <a:latin typeface="+mn-lt"/>
                <a:ea typeface="微软雅黑" panose="020B0503020204020204" pitchFamily="34" charset="-122"/>
              </a:rPr>
              <a:t>第</a:t>
            </a:r>
            <a:r>
              <a:rPr lang="en-US" altLang="zh-CN" b="1">
                <a:solidFill>
                  <a:srgbClr val="FF0000"/>
                </a:solidFill>
                <a:latin typeface="+mn-lt"/>
                <a:ea typeface="微软雅黑" panose="020B0503020204020204" pitchFamily="34" charset="-122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+mn-lt"/>
                <a:ea typeface="微软雅黑" panose="020B0503020204020204" pitchFamily="34" charset="-122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latin typeface="+mn-lt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9EECCDE9-7154-464B-876F-22C686E5E5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1600200"/>
            <a:ext cx="6865938" cy="4267200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3.1.1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数据和信号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	    模拟信号在时域表现为连续的变化，在频域其频谱是离散的。模拟信号用来表示模拟数据。     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         数字信号是一种电压脉冲序列，数据取离散值，通常可用信号的两个稳态电平来表示，一个表示二进制的</a:t>
            </a:r>
            <a:r>
              <a:rPr lang="en-US" altLang="zh-CN" dirty="0">
                <a:ea typeface="微软雅黑" panose="020B0503020204020204" pitchFamily="34" charset="-122"/>
              </a:rPr>
              <a:t>0</a:t>
            </a:r>
            <a:r>
              <a:rPr lang="zh-CN" altLang="en-US" dirty="0">
                <a:ea typeface="微软雅黑" panose="020B0503020204020204" pitchFamily="34" charset="-122"/>
              </a:rPr>
              <a:t>，另一个表示二进制的</a:t>
            </a:r>
            <a:r>
              <a:rPr lang="en-US" altLang="zh-CN" dirty="0">
                <a:ea typeface="微软雅黑" panose="020B0503020204020204" pitchFamily="34" charset="-122"/>
              </a:rPr>
              <a:t>1</a:t>
            </a:r>
            <a:r>
              <a:rPr lang="zh-CN" altLang="en-US" dirty="0"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>
            <a:extLst>
              <a:ext uri="{FF2B5EF4-FFF2-40B4-BE49-F238E27FC236}">
                <a16:creationId xmlns:a16="http://schemas.microsoft.com/office/drawing/2014/main" id="{AE4A21EE-F6ED-4E97-99D9-07256B183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6135576-1C4A-4B26-91A8-9F164B0CDAAC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4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362F205F-DAEF-4CAA-ACD4-D89DFFC1D1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章  编码和调制</a:t>
            </a:r>
            <a:r>
              <a:rPr lang="zh-CN" altLang="en-US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073DFA70-9625-4AE3-9522-0FFF953AD8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3.1.2  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信道</a:t>
            </a:r>
            <a:endParaRPr lang="en-US" altLang="zh-CN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传输介质</a:t>
            </a:r>
          </a:p>
          <a:p>
            <a:pPr eaLnBrk="1" hangingPunct="1"/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	       传输介质是数据传输系统里发送器和接收器之间的物理通路。</a:t>
            </a:r>
          </a:p>
          <a:p>
            <a:pPr eaLnBrk="1" hangingPunct="1"/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无线传输   </a:t>
            </a:r>
          </a:p>
        </p:txBody>
      </p:sp>
      <p:graphicFrame>
        <p:nvGraphicFramePr>
          <p:cNvPr id="7173" name="Object 4">
            <a:extLst>
              <a:ext uri="{FF2B5EF4-FFF2-40B4-BE49-F238E27FC236}">
                <a16:creationId xmlns:a16="http://schemas.microsoft.com/office/drawing/2014/main" id="{6340B8D9-4EB0-4F55-88C8-FE3E638056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3284538"/>
          <a:ext cx="6840537" cy="184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" name="图片" r:id="rId3" imgW="4661908" imgH="1256978" progId="Word.Picture.8">
                  <p:embed/>
                </p:oleObj>
              </mc:Choice>
              <mc:Fallback>
                <p:oleObj name="图片" r:id="rId3" imgW="4661908" imgH="1256978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284538"/>
                        <a:ext cx="6840537" cy="184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Rectangle 6">
            <a:extLst>
              <a:ext uri="{FF2B5EF4-FFF2-40B4-BE49-F238E27FC236}">
                <a16:creationId xmlns:a16="http://schemas.microsoft.com/office/drawing/2014/main" id="{92DB6F47-A2DC-4C4B-9EC8-04DAEAB2E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229225"/>
            <a:ext cx="7272337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1800">
                <a:ea typeface="微软雅黑" panose="020B0503020204020204" pitchFamily="34" charset="-122"/>
                <a:cs typeface="Times New Roman" panose="02020603050405020304" pitchFamily="18" charset="0"/>
              </a:rPr>
              <a:t>     射频识别所用的频率为</a:t>
            </a:r>
            <a:r>
              <a:rPr lang="en-US" altLang="zh-CN" sz="1800">
                <a:ea typeface="微软雅黑" panose="020B0503020204020204" pitchFamily="34" charset="-122"/>
                <a:cs typeface="Times New Roman" panose="02020603050405020304" pitchFamily="18" charset="0"/>
              </a:rPr>
              <a:t>&lt;135 kHz</a:t>
            </a:r>
            <a:r>
              <a:rPr lang="zh-CN" altLang="en-US" sz="1800"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800">
                <a:ea typeface="微软雅黑" panose="020B0503020204020204" pitchFamily="34" charset="-122"/>
                <a:cs typeface="Times New Roman" panose="02020603050405020304" pitchFamily="18" charset="0"/>
              </a:rPr>
              <a:t>LF</a:t>
            </a:r>
            <a:r>
              <a:rPr lang="zh-CN" altLang="en-US" sz="1800">
                <a:ea typeface="微软雅黑" panose="020B0503020204020204" pitchFamily="34" charset="-122"/>
                <a:cs typeface="Times New Roman" panose="02020603050405020304" pitchFamily="18" charset="0"/>
              </a:rPr>
              <a:t>）及</a:t>
            </a:r>
            <a:r>
              <a:rPr lang="en-US" altLang="zh-CN" sz="1800">
                <a:ea typeface="微软雅黑" panose="020B0503020204020204" pitchFamily="34" charset="-122"/>
                <a:cs typeface="Times New Roman" panose="02020603050405020304" pitchFamily="18" charset="0"/>
              </a:rPr>
              <a:t>ISM</a:t>
            </a:r>
            <a:r>
              <a:rPr lang="zh-CN" altLang="en-US" sz="1800">
                <a:ea typeface="微软雅黑" panose="020B0503020204020204" pitchFamily="34" charset="-122"/>
                <a:cs typeface="Times New Roman" panose="02020603050405020304" pitchFamily="18" charset="0"/>
              </a:rPr>
              <a:t>频率的</a:t>
            </a:r>
            <a:r>
              <a:rPr lang="en-US" altLang="zh-CN" sz="1800">
                <a:ea typeface="微软雅黑" panose="020B0503020204020204" pitchFamily="34" charset="-122"/>
                <a:cs typeface="Times New Roman" panose="02020603050405020304" pitchFamily="18" charset="0"/>
              </a:rPr>
              <a:t>13.56 MHz</a:t>
            </a:r>
            <a:r>
              <a:rPr lang="zh-CN" altLang="en-US" sz="1800"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800">
                <a:ea typeface="微软雅黑" panose="020B0503020204020204" pitchFamily="34" charset="-122"/>
                <a:cs typeface="Times New Roman" panose="02020603050405020304" pitchFamily="18" charset="0"/>
              </a:rPr>
              <a:t>HF</a:t>
            </a:r>
            <a:r>
              <a:rPr lang="zh-CN" altLang="en-US" sz="1800">
                <a:ea typeface="微软雅黑" panose="020B0503020204020204" pitchFamily="34" charset="-122"/>
                <a:cs typeface="Times New Roman" panose="02020603050405020304" pitchFamily="18" charset="0"/>
              </a:rPr>
              <a:t>），</a:t>
            </a:r>
            <a:r>
              <a:rPr lang="en-US" altLang="zh-CN" sz="1800">
                <a:ea typeface="微软雅黑" panose="020B0503020204020204" pitchFamily="34" charset="-122"/>
                <a:cs typeface="Times New Roman" panose="02020603050405020304" pitchFamily="18" charset="0"/>
              </a:rPr>
              <a:t>433 MHz</a:t>
            </a:r>
            <a:r>
              <a:rPr lang="zh-CN" altLang="en-US" sz="1800"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800">
                <a:ea typeface="微软雅黑" panose="020B0503020204020204" pitchFamily="34" charset="-122"/>
                <a:cs typeface="Times New Roman" panose="02020603050405020304" pitchFamily="18" charset="0"/>
              </a:rPr>
              <a:t>UHF</a:t>
            </a:r>
            <a:r>
              <a:rPr lang="zh-CN" altLang="en-US" sz="1800">
                <a:ea typeface="微软雅黑" panose="020B0503020204020204" pitchFamily="34" charset="-122"/>
                <a:cs typeface="Times New Roman" panose="02020603050405020304" pitchFamily="18" charset="0"/>
              </a:rPr>
              <a:t>），</a:t>
            </a:r>
            <a:r>
              <a:rPr lang="en-US" altLang="zh-CN" sz="1800">
                <a:ea typeface="微软雅黑" panose="020B0503020204020204" pitchFamily="34" charset="-122"/>
                <a:cs typeface="Times New Roman" panose="02020603050405020304" pitchFamily="18" charset="0"/>
              </a:rPr>
              <a:t>869 MHz</a:t>
            </a:r>
            <a:r>
              <a:rPr lang="zh-CN" altLang="en-US" sz="1800"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800">
                <a:ea typeface="微软雅黑" panose="020B0503020204020204" pitchFamily="34" charset="-122"/>
                <a:cs typeface="Times New Roman" panose="02020603050405020304" pitchFamily="18" charset="0"/>
              </a:rPr>
              <a:t>UHF</a:t>
            </a:r>
            <a:r>
              <a:rPr lang="zh-CN" altLang="en-US" sz="1800">
                <a:ea typeface="微软雅黑" panose="020B0503020204020204" pitchFamily="34" charset="-122"/>
                <a:cs typeface="Times New Roman" panose="02020603050405020304" pitchFamily="18" charset="0"/>
              </a:rPr>
              <a:t>），</a:t>
            </a:r>
            <a:r>
              <a:rPr lang="en-US" altLang="zh-CN" sz="1800">
                <a:ea typeface="微软雅黑" panose="020B0503020204020204" pitchFamily="34" charset="-122"/>
                <a:cs typeface="Times New Roman" panose="02020603050405020304" pitchFamily="18" charset="0"/>
              </a:rPr>
              <a:t>915 MHz</a:t>
            </a:r>
            <a:r>
              <a:rPr lang="zh-CN" altLang="en-US" sz="1800"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800">
                <a:ea typeface="微软雅黑" panose="020B0503020204020204" pitchFamily="34" charset="-122"/>
                <a:cs typeface="Times New Roman" panose="02020603050405020304" pitchFamily="18" charset="0"/>
              </a:rPr>
              <a:t>UHF</a:t>
            </a:r>
            <a:r>
              <a:rPr lang="zh-CN" altLang="en-US" sz="1800">
                <a:ea typeface="微软雅黑" panose="020B0503020204020204" pitchFamily="34" charset="-122"/>
                <a:cs typeface="Times New Roman" panose="02020603050405020304" pitchFamily="18" charset="0"/>
              </a:rPr>
              <a:t>），</a:t>
            </a:r>
            <a:r>
              <a:rPr lang="en-US" altLang="zh-CN" sz="1800">
                <a:ea typeface="微软雅黑" panose="020B0503020204020204" pitchFamily="34" charset="-122"/>
                <a:cs typeface="Times New Roman" panose="02020603050405020304" pitchFamily="18" charset="0"/>
              </a:rPr>
              <a:t>2.45 GHz</a:t>
            </a:r>
            <a:r>
              <a:rPr lang="zh-CN" altLang="en-US" sz="1800"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800">
                <a:ea typeface="微软雅黑" panose="020B0503020204020204" pitchFamily="34" charset="-122"/>
                <a:cs typeface="Times New Roman" panose="02020603050405020304" pitchFamily="18" charset="0"/>
              </a:rPr>
              <a:t>UHF</a:t>
            </a:r>
            <a:r>
              <a:rPr lang="zh-CN" altLang="en-US" sz="1800">
                <a:ea typeface="微软雅黑" panose="020B0503020204020204" pitchFamily="34" charset="-122"/>
                <a:cs typeface="Times New Roman" panose="02020603050405020304" pitchFamily="18" charset="0"/>
              </a:rPr>
              <a:t>），</a:t>
            </a:r>
            <a:r>
              <a:rPr lang="en-US" altLang="zh-CN" sz="1800">
                <a:ea typeface="微软雅黑" panose="020B0503020204020204" pitchFamily="34" charset="-122"/>
                <a:cs typeface="Times New Roman" panose="02020603050405020304" pitchFamily="18" charset="0"/>
              </a:rPr>
              <a:t>5.8 GHz</a:t>
            </a:r>
            <a:r>
              <a:rPr lang="zh-CN" altLang="en-US" sz="1800"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800">
                <a:ea typeface="微软雅黑" panose="020B0503020204020204" pitchFamily="34" charset="-122"/>
                <a:cs typeface="Times New Roman" panose="02020603050405020304" pitchFamily="18" charset="0"/>
              </a:rPr>
              <a:t>SHF</a:t>
            </a:r>
            <a:r>
              <a:rPr lang="zh-CN" altLang="en-US" sz="1800">
                <a:ea typeface="微软雅黑" panose="020B0503020204020204" pitchFamily="34" charset="-122"/>
                <a:cs typeface="Times New Roman" panose="02020603050405020304" pitchFamily="18" charset="0"/>
              </a:rPr>
              <a:t>）。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>
            <a:extLst>
              <a:ext uri="{FF2B5EF4-FFF2-40B4-BE49-F238E27FC236}">
                <a16:creationId xmlns:a16="http://schemas.microsoft.com/office/drawing/2014/main" id="{BB60BC1D-5828-48B0-A367-923008264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044D005-2016-4D2D-A255-B0EA0929086B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5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0E4FE5F8-D5B1-4D01-B5B5-831463C087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D35D6068-4565-4A73-9E86-A014DE41BC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  <a:cs typeface="Times New Roman" panose="02020603050405020304" pitchFamily="18" charset="0"/>
              </a:rPr>
              <a:t>信道的容量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>
                <a:ea typeface="微软雅黑" panose="020B0503020204020204" pitchFamily="34" charset="-122"/>
                <a:cs typeface="Times New Roman" panose="02020603050405020304" pitchFamily="18" charset="0"/>
              </a:rPr>
              <a:t>	对在给定条件，给定通信路径或信道上的数据传输速率称为信道容量。</a:t>
            </a:r>
          </a:p>
          <a:p>
            <a:pPr algn="ctr" eaLnBrk="1" hangingPunct="1">
              <a:lnSpc>
                <a:spcPct val="150000"/>
              </a:lnSpc>
            </a:pPr>
            <a:r>
              <a:rPr lang="zh-CN" altLang="en-US">
                <a:ea typeface="微软雅黑" panose="020B0503020204020204" pitchFamily="34" charset="-122"/>
                <a:cs typeface="Times New Roman" panose="02020603050405020304" pitchFamily="18" charset="0"/>
              </a:rPr>
              <a:t>数据传输速率</a:t>
            </a:r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zh-CN" altLang="en-US">
                <a:ea typeface="微软雅黑" panose="020B0503020204020204" pitchFamily="34" charset="-122"/>
                <a:cs typeface="Times New Roman" panose="02020603050405020304" pitchFamily="18" charset="0"/>
              </a:rPr>
              <a:t>码元传输速率</a:t>
            </a:r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×log</a:t>
            </a:r>
            <a:r>
              <a:rPr lang="en-US" altLang="zh-CN" baseline="-25000"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i="1"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>
                <a:ea typeface="微软雅黑" panose="020B0503020204020204" pitchFamily="34" charset="-122"/>
                <a:cs typeface="Times New Roman" panose="02020603050405020304" pitchFamily="18" charset="0"/>
              </a:rPr>
              <a:t>信道的最大容量</a:t>
            </a:r>
            <a:r>
              <a:rPr lang="en-US" altLang="zh-CN" i="1"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</a:p>
          <a:p>
            <a:pPr algn="ctr" eaLnBrk="1" hangingPunct="1">
              <a:lnSpc>
                <a:spcPct val="150000"/>
              </a:lnSpc>
            </a:pPr>
            <a:r>
              <a:rPr lang="en-US" altLang="zh-CN" i="1"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=2BW log</a:t>
            </a:r>
            <a:r>
              <a:rPr lang="en-US" altLang="zh-CN" baseline="-25000"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i="1"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>
                <a:ea typeface="微软雅黑" panose="020B0503020204020204" pitchFamily="34" charset="-122"/>
                <a:cs typeface="Times New Roman" panose="02020603050405020304" pitchFamily="18" charset="0"/>
              </a:rPr>
              <a:t>带宽受限且有高斯白噪声干扰的信道最大容量 </a:t>
            </a:r>
          </a:p>
          <a:p>
            <a:pPr algn="ctr" eaLnBrk="1" hangingPunct="1">
              <a:lnSpc>
                <a:spcPct val="150000"/>
              </a:lnSpc>
            </a:pPr>
            <a:r>
              <a:rPr lang="en-US" altLang="zh-CN" i="1"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= BW log</a:t>
            </a:r>
            <a:r>
              <a:rPr lang="en-US" altLang="zh-CN" baseline="-25000"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>
                <a:ea typeface="微软雅黑" panose="020B0503020204020204" pitchFamily="34" charset="-122"/>
                <a:cs typeface="Times New Roman" panose="02020603050405020304" pitchFamily="18" charset="0"/>
              </a:rPr>
              <a:t>＋</a:t>
            </a:r>
            <a:r>
              <a:rPr lang="en-US" altLang="zh-CN" i="1"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i="1"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>
                <a:ea typeface="微软雅黑" panose="020B0503020204020204" pitchFamily="34" charset="-122"/>
                <a:cs typeface="Times New Roman" panose="02020603050405020304" pitchFamily="18" charset="0"/>
              </a:rPr>
              <a:t>） </a:t>
            </a:r>
          </a:p>
          <a:p>
            <a:pPr eaLnBrk="1" hangingPunct="1"/>
            <a:endParaRPr lang="zh-CN" altLang="en-US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>
            <a:extLst>
              <a:ext uri="{FF2B5EF4-FFF2-40B4-BE49-F238E27FC236}">
                <a16:creationId xmlns:a16="http://schemas.microsoft.com/office/drawing/2014/main" id="{0553760A-1D8E-42D3-8E8A-73A140CC5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FA8DA2C-4A20-48B7-BF8F-E6C23DDC6D4D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6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EDCD9D8F-5CCC-4388-A2D3-32C5CA6093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0C0FA659-87EF-4261-BF71-7CB44F1EC1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1600200"/>
            <a:ext cx="6611938" cy="478155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微软雅黑" panose="020B0503020204020204" pitchFamily="34" charset="-122"/>
                <a:cs typeface="Times New Roman" panose="02020603050405020304" pitchFamily="18" charset="0"/>
              </a:rPr>
              <a:t>3.1.3  </a:t>
            </a:r>
            <a:r>
              <a:rPr lang="zh-CN" altLang="en-US" sz="2800" dirty="0">
                <a:ea typeface="微软雅黑" panose="020B0503020204020204" pitchFamily="34" charset="-122"/>
                <a:cs typeface="Times New Roman" panose="02020603050405020304" pitchFamily="18" charset="0"/>
              </a:rPr>
              <a:t>编码</a:t>
            </a:r>
            <a:r>
              <a:rPr lang="en-US" altLang="zh-CN" sz="2800" dirty="0"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ea typeface="微软雅黑" panose="020B0503020204020204" pitchFamily="34" charset="-122"/>
                <a:cs typeface="Times New Roman" panose="02020603050405020304" pitchFamily="18" charset="0"/>
              </a:rPr>
              <a:t>信源编码和信道编码 </a:t>
            </a:r>
            <a:r>
              <a:rPr lang="en-US" altLang="zh-CN" sz="2800" dirty="0"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	    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信源编码是对信源信息进行加工处理，模拟数据要经过采样、量化和编码变换为数字数据，为降低所需要传输的数据量，在信源编码中还采用了数据压缩技术。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	    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信道编码是将数字数据编码成适合于在数字信道上传输的数字信号，并具有所需的抵抗差错的能力，即通过相应的编码方法使接收端能具有检错或纠错能力。 </a:t>
            </a:r>
            <a:endParaRPr lang="en-US" altLang="zh-CN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>
            <a:extLst>
              <a:ext uri="{FF2B5EF4-FFF2-40B4-BE49-F238E27FC236}">
                <a16:creationId xmlns:a16="http://schemas.microsoft.com/office/drawing/2014/main" id="{AD7550CE-6FC3-496E-83BE-9DECB5BD2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58B51B7-27BA-4E1C-A6A0-B69D766727C4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7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79969860-CFD6-42EE-A594-AB5784092C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9AB9A3B5-BD3F-4E9A-81D4-DA33CE284A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  <a:cs typeface="Times New Roman" panose="02020603050405020304" pitchFamily="18" charset="0"/>
              </a:rPr>
              <a:t>数字基带信号波形 </a:t>
            </a:r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36EAA2FE-7250-47F9-88CE-6951402EC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79613"/>
            <a:ext cx="1841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zh-CN" altLang="en-US" sz="2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246" name="Object 4">
            <a:extLst>
              <a:ext uri="{FF2B5EF4-FFF2-40B4-BE49-F238E27FC236}">
                <a16:creationId xmlns:a16="http://schemas.microsoft.com/office/drawing/2014/main" id="{CE471A8A-A124-419B-A5CB-450C3A6AA1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2205038"/>
          <a:ext cx="7056437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2" name="图片" r:id="rId3" imgW="4185159" imgH="2437644" progId="Word.Picture.8">
                  <p:embed/>
                </p:oleObj>
              </mc:Choice>
              <mc:Fallback>
                <p:oleObj name="图片" r:id="rId3" imgW="4185159" imgH="2437644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205038"/>
                        <a:ext cx="7056437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>
            <a:extLst>
              <a:ext uri="{FF2B5EF4-FFF2-40B4-BE49-F238E27FC236}">
                <a16:creationId xmlns:a16="http://schemas.microsoft.com/office/drawing/2014/main" id="{4368A6C6-C209-406A-A6F6-518ABD384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3678141-212C-43DB-A767-DDC4901115E3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8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1AAE54A2-6BE8-4A1E-ABB8-4E0317FF07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10561510-003B-41D5-BC8D-D4DD46DE42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1600200"/>
            <a:ext cx="6611938" cy="4565650"/>
          </a:xfrm>
        </p:spPr>
        <p:txBody>
          <a:bodyPr/>
          <a:lstStyle/>
          <a:p>
            <a:pPr eaLnBrk="1" hangingPunct="1"/>
            <a:r>
              <a:rPr lang="zh-CN" altLang="en-US" sz="1800">
                <a:ea typeface="微软雅黑" panose="020B0503020204020204" pitchFamily="34" charset="-122"/>
                <a:cs typeface="Times New Roman" panose="02020603050405020304" pitchFamily="18" charset="0"/>
              </a:rPr>
              <a:t>数字基带信号的频谱 </a:t>
            </a:r>
            <a:endParaRPr lang="en-US" altLang="zh-CN" sz="180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1800"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en-US" sz="1800">
                <a:ea typeface="微软雅黑" panose="020B0503020204020204" pitchFamily="34" charset="-122"/>
                <a:cs typeface="Times New Roman" panose="02020603050405020304" pitchFamily="18" charset="0"/>
              </a:rPr>
              <a:t>单个数字码的频谱</a:t>
            </a:r>
          </a:p>
        </p:txBody>
      </p:sp>
      <p:graphicFrame>
        <p:nvGraphicFramePr>
          <p:cNvPr id="11269" name="Object 4">
            <a:extLst>
              <a:ext uri="{FF2B5EF4-FFF2-40B4-BE49-F238E27FC236}">
                <a16:creationId xmlns:a16="http://schemas.microsoft.com/office/drawing/2014/main" id="{8C26901B-9E5F-45CE-A4AF-AE8352E6AE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2133600"/>
          <a:ext cx="7056438" cy="240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6" name="图片" r:id="rId3" imgW="4557045" imgH="1552145" progId="Word.Picture.8">
                  <p:embed/>
                </p:oleObj>
              </mc:Choice>
              <mc:Fallback>
                <p:oleObj name="图片" r:id="rId3" imgW="4557045" imgH="1552145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133600"/>
                        <a:ext cx="7056438" cy="240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270" name="Object 6">
                <a:extLst>
                  <a:ext uri="{FF2B5EF4-FFF2-40B4-BE49-F238E27FC236}">
                    <a16:creationId xmlns:a16="http://schemas.microsoft.com/office/drawing/2014/main" id="{AAF395C5-1DB8-4F1C-B60D-51F54A78B0A9}"/>
                  </a:ext>
                </a:extLst>
              </p:cNvPr>
              <p:cNvSpPr txBox="1"/>
              <p:nvPr/>
            </p:nvSpPr>
            <p:spPr bwMode="auto">
              <a:xfrm>
                <a:off x="755650" y="4581525"/>
                <a:ext cx="2808288" cy="93027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/>
                                  <m:e/>
                                </m:mr>
                              </m: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/>
                                  <m:e/>
                                </m:mr>
                              </m: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其他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270" name="Object 6">
                <a:extLst>
                  <a:ext uri="{FF2B5EF4-FFF2-40B4-BE49-F238E27FC236}">
                    <a16:creationId xmlns:a16="http://schemas.microsoft.com/office/drawing/2014/main" id="{AAF395C5-1DB8-4F1C-B60D-51F54A78B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650" y="4581525"/>
                <a:ext cx="2808288" cy="9302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71" name="Object 8">
                <a:extLst>
                  <a:ext uri="{FF2B5EF4-FFF2-40B4-BE49-F238E27FC236}">
                    <a16:creationId xmlns:a16="http://schemas.microsoft.com/office/drawing/2014/main" id="{0182655F-5711-4AF1-9FB9-13CC43767BB9}"/>
                  </a:ext>
                </a:extLst>
              </p:cNvPr>
              <p:cNvSpPr txBox="1"/>
              <p:nvPr/>
            </p:nvSpPr>
            <p:spPr bwMode="auto">
              <a:xfrm>
                <a:off x="5076825" y="4724400"/>
                <a:ext cx="2578100" cy="1839913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   =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𝜔𝜏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/2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𝜔𝜏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   =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𝑆𝑎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𝜔𝜏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271" name="Object 8">
                <a:extLst>
                  <a:ext uri="{FF2B5EF4-FFF2-40B4-BE49-F238E27FC236}">
                    <a16:creationId xmlns:a16="http://schemas.microsoft.com/office/drawing/2014/main" id="{0182655F-5711-4AF1-9FB9-13CC43767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76825" y="4724400"/>
                <a:ext cx="2578100" cy="18399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72" name="AutoShape 10">
            <a:extLst>
              <a:ext uri="{FF2B5EF4-FFF2-40B4-BE49-F238E27FC236}">
                <a16:creationId xmlns:a16="http://schemas.microsoft.com/office/drawing/2014/main" id="{5BEDB3F9-0828-4E1A-B74C-158121C7C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4868863"/>
            <a:ext cx="863600" cy="360362"/>
          </a:xfrm>
          <a:prstGeom prst="rightArrow">
            <a:avLst>
              <a:gd name="adj1" fmla="val 50000"/>
              <a:gd name="adj2" fmla="val 59912"/>
            </a:avLst>
          </a:prstGeom>
          <a:noFill/>
          <a:ln w="7938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zh-CN" altLang="en-US" sz="2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>
            <a:extLst>
              <a:ext uri="{FF2B5EF4-FFF2-40B4-BE49-F238E27FC236}">
                <a16:creationId xmlns:a16="http://schemas.microsoft.com/office/drawing/2014/main" id="{E7AEAF17-5ED7-4AEA-9441-AA6314A08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F4B8798-2590-480F-9805-C1B03B33E677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9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042B29AE-B3A9-495B-973F-8549AB0198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6BE3DB2D-7182-42C2-B92F-C89BF0ABFD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800" dirty="0">
                <a:ea typeface="微软雅黑" panose="020B0503020204020204" pitchFamily="34" charset="-122"/>
                <a:cs typeface="Times New Roman" panose="02020603050405020304" pitchFamily="18" charset="0"/>
              </a:rPr>
              <a:t>3.2  RFID</a:t>
            </a:r>
            <a:r>
              <a:rPr lang="zh-CN" altLang="en-US" sz="2800" dirty="0">
                <a:ea typeface="微软雅黑" panose="020B0503020204020204" pitchFamily="34" charset="-122"/>
                <a:cs typeface="Times New Roman" panose="02020603050405020304" pitchFamily="18" charset="0"/>
              </a:rPr>
              <a:t>中常用的编码方式及编解码器</a:t>
            </a:r>
          </a:p>
          <a:p>
            <a:pPr eaLnBrk="1" hangingPunct="1">
              <a:defRPr/>
            </a:pP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3.2.1   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曼彻斯特码和密勒码</a:t>
            </a:r>
            <a:endParaRPr lang="en-US" altLang="zh-CN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     曼彻斯特（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Manchester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）码 </a:t>
            </a:r>
            <a:endParaRPr lang="zh-CN" altLang="en-US" sz="2400" kern="12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zh-CN" dirty="0">
              <a:solidFill>
                <a:srgbClr val="FF000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zh-CN" dirty="0">
              <a:solidFill>
                <a:srgbClr val="FF000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altLang="zh-CN" dirty="0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endParaRPr lang="zh-CN" altLang="en-US" dirty="0">
              <a:solidFill>
                <a:srgbClr val="FF000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293" name="Object 4">
            <a:extLst>
              <a:ext uri="{FF2B5EF4-FFF2-40B4-BE49-F238E27FC236}">
                <a16:creationId xmlns:a16="http://schemas.microsoft.com/office/drawing/2014/main" id="{622A73B9-8133-4E1F-BE3D-9C0FF880AC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3500438"/>
          <a:ext cx="5976937" cy="219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9" name="图片" r:id="rId3" imgW="3584448" imgH="1313851" progId="Word.Picture.8">
                  <p:embed/>
                </p:oleObj>
              </mc:Choice>
              <mc:Fallback>
                <p:oleObj name="图片" r:id="rId3" imgW="3584448" imgH="1313851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500438"/>
                        <a:ext cx="5976937" cy="219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>
            <a:extLst>
              <a:ext uri="{FF2B5EF4-FFF2-40B4-BE49-F238E27FC236}">
                <a16:creationId xmlns:a16="http://schemas.microsoft.com/office/drawing/2014/main" id="{CCF7970C-4BD5-44C6-97D7-B1D07DEE5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D729300-F655-434D-8640-ED0413DE67A2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10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37005C15-934A-400E-9D73-34490D6954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6794DC3F-B3F7-42E9-B426-64E02C37C1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481138"/>
            <a:ext cx="6611937" cy="4267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RFID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中常用的编码方式及编解码器</a:t>
            </a:r>
          </a:p>
          <a:p>
            <a:pPr eaLnBrk="1" hangingPunct="1">
              <a:defRPr/>
            </a:pP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	曼彻斯特（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Manchester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）码 </a:t>
            </a:r>
            <a:endParaRPr lang="zh-CN" altLang="en-US" sz="2400" kern="12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317" name="Rectangle 8">
            <a:extLst>
              <a:ext uri="{FF2B5EF4-FFF2-40B4-BE49-F238E27FC236}">
                <a16:creationId xmlns:a16="http://schemas.microsoft.com/office/drawing/2014/main" id="{A034215B-D95A-487A-BC72-E45D6A65B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5559425"/>
            <a:ext cx="28495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zh-CN" sz="2400">
                <a:ea typeface="微软雅黑" panose="020B0503020204020204" pitchFamily="34" charset="-122"/>
                <a:cs typeface="Times New Roman" panose="02020603050405020304" pitchFamily="18" charset="0"/>
              </a:rPr>
              <a:t>简单异或的缺陷</a:t>
            </a:r>
            <a:endParaRPr lang="zh-CN" altLang="en-US" sz="2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3318" name="Picture 2" descr="3t5">
            <a:extLst>
              <a:ext uri="{FF2B5EF4-FFF2-40B4-BE49-F238E27FC236}">
                <a16:creationId xmlns:a16="http://schemas.microsoft.com/office/drawing/2014/main" id="{613F3D4B-D26D-4393-8148-2876BDC5D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863" y="2576513"/>
            <a:ext cx="3889375" cy="276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>
            <a:extLst>
              <a:ext uri="{FF2B5EF4-FFF2-40B4-BE49-F238E27FC236}">
                <a16:creationId xmlns:a16="http://schemas.microsoft.com/office/drawing/2014/main" id="{266B4557-4FEF-43E4-83B4-893DFC20F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9A5E96A-2FDA-430F-87CB-E9A1354EF09C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11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5FF6CBA7-413F-41F0-A78B-DDB47E976B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A6D4D5ED-B09A-4449-B586-B2BD62D240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RFID</a:t>
            </a:r>
            <a:r>
              <a:rPr lang="zh-CN" altLang="en-US">
                <a:ea typeface="微软雅黑" panose="020B0503020204020204" pitchFamily="34" charset="-122"/>
                <a:cs typeface="Times New Roman" panose="02020603050405020304" pitchFamily="18" charset="0"/>
              </a:rPr>
              <a:t>中常用的编码方式及编解码器</a:t>
            </a:r>
          </a:p>
          <a:p>
            <a:pPr eaLnBrk="1" hangingPunct="1"/>
            <a:r>
              <a:rPr lang="zh-CN" altLang="en-US">
                <a:ea typeface="微软雅黑" panose="020B0503020204020204" pitchFamily="34" charset="-122"/>
                <a:cs typeface="Times New Roman" panose="02020603050405020304" pitchFamily="18" charset="0"/>
              </a:rPr>
              <a:t>	曼彻斯特（</a:t>
            </a:r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Manchester</a:t>
            </a:r>
            <a:r>
              <a:rPr lang="zh-CN" altLang="en-US">
                <a:ea typeface="微软雅黑" panose="020B0503020204020204" pitchFamily="34" charset="-122"/>
                <a:cs typeface="Times New Roman" panose="02020603050405020304" pitchFamily="18" charset="0"/>
              </a:rPr>
              <a:t>）码 </a:t>
            </a:r>
          </a:p>
        </p:txBody>
      </p:sp>
      <p:graphicFrame>
        <p:nvGraphicFramePr>
          <p:cNvPr id="14341" name="Object 6">
            <a:extLst>
              <a:ext uri="{FF2B5EF4-FFF2-40B4-BE49-F238E27FC236}">
                <a16:creationId xmlns:a16="http://schemas.microsoft.com/office/drawing/2014/main" id="{509A094B-DDD9-4340-96AA-999B092EF6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2565400"/>
          <a:ext cx="5184775" cy="290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8" name="图片" r:id="rId3" imgW="2993466" imgH="1675971" progId="Word.Picture.8">
                  <p:embed/>
                </p:oleObj>
              </mc:Choice>
              <mc:Fallback>
                <p:oleObj name="图片" r:id="rId3" imgW="2993466" imgH="1675971" progId="Word.Picture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565400"/>
                        <a:ext cx="5184775" cy="290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Rectangle 8">
            <a:extLst>
              <a:ext uri="{FF2B5EF4-FFF2-40B4-BE49-F238E27FC236}">
                <a16:creationId xmlns:a16="http://schemas.microsoft.com/office/drawing/2014/main" id="{C7901F9E-2673-43A5-B4E0-C2CBFF418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5589588"/>
            <a:ext cx="180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400">
                <a:ea typeface="微软雅黑" panose="020B0503020204020204" pitchFamily="34" charset="-122"/>
                <a:cs typeface="Times New Roman" panose="02020603050405020304" pitchFamily="18" charset="0"/>
              </a:rPr>
              <a:t>编码器电路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>
            <a:extLst>
              <a:ext uri="{FF2B5EF4-FFF2-40B4-BE49-F238E27FC236}">
                <a16:creationId xmlns:a16="http://schemas.microsoft.com/office/drawing/2014/main" id="{1F24A5A2-F4BC-41D4-89E9-0B761F00D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BC94AD3-7D06-4677-A9AD-9E9802042A65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12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A25F94DA-A3CF-4661-9510-7410D54227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CE15086C-719A-4B71-A773-C11995F17A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RFID</a:t>
            </a:r>
            <a:r>
              <a:rPr lang="zh-CN" altLang="en-US">
                <a:ea typeface="微软雅黑" panose="020B0503020204020204" pitchFamily="34" charset="-122"/>
                <a:cs typeface="Times New Roman" panose="02020603050405020304" pitchFamily="18" charset="0"/>
              </a:rPr>
              <a:t>中常用的编码方式及编解码器</a:t>
            </a:r>
          </a:p>
          <a:p>
            <a:pPr eaLnBrk="1" hangingPunct="1"/>
            <a:r>
              <a:rPr lang="zh-CN" altLang="en-US">
                <a:ea typeface="微软雅黑" panose="020B0503020204020204" pitchFamily="34" charset="-122"/>
                <a:cs typeface="Times New Roman" panose="02020603050405020304" pitchFamily="18" charset="0"/>
              </a:rPr>
              <a:t>	曼彻斯特（</a:t>
            </a:r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Manchester</a:t>
            </a:r>
            <a:r>
              <a:rPr lang="zh-CN" altLang="en-US">
                <a:ea typeface="微软雅黑" panose="020B0503020204020204" pitchFamily="34" charset="-122"/>
                <a:cs typeface="Times New Roman" panose="02020603050405020304" pitchFamily="18" charset="0"/>
              </a:rPr>
              <a:t>）码 </a:t>
            </a:r>
          </a:p>
        </p:txBody>
      </p:sp>
      <p:graphicFrame>
        <p:nvGraphicFramePr>
          <p:cNvPr id="15365" name="Object 8">
            <a:extLst>
              <a:ext uri="{FF2B5EF4-FFF2-40B4-BE49-F238E27FC236}">
                <a16:creationId xmlns:a16="http://schemas.microsoft.com/office/drawing/2014/main" id="{D82854FF-BBAD-4565-8189-A2C683E18C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2492375"/>
          <a:ext cx="4968875" cy="387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2" name="图片" r:id="rId3" imgW="4270924" imgH="3323504" progId="Word.Picture.8">
                  <p:embed/>
                </p:oleObj>
              </mc:Choice>
              <mc:Fallback>
                <p:oleObj name="图片" r:id="rId3" imgW="4270924" imgH="3323504" progId="Word.Picture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492375"/>
                        <a:ext cx="4968875" cy="3870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6" name="Rectangle 10">
            <a:extLst>
              <a:ext uri="{FF2B5EF4-FFF2-40B4-BE49-F238E27FC236}">
                <a16:creationId xmlns:a16="http://schemas.microsoft.com/office/drawing/2014/main" id="{09F70F29-4B29-454D-BEC2-1C66AF1C8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3575" y="6381750"/>
            <a:ext cx="4078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rPr>
              <a:t>曼彻斯特码编码器时序波形图示例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>
            <a:extLst>
              <a:ext uri="{FF2B5EF4-FFF2-40B4-BE49-F238E27FC236}">
                <a16:creationId xmlns:a16="http://schemas.microsoft.com/office/drawing/2014/main" id="{C6B8FEB3-360D-4C9F-9EDD-51EB39BB0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F08FED4-FE71-4A4B-B484-136984683CBC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13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308FABFA-1913-48E3-B1D9-81DC90661A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4B8DF183-1F05-4403-B1FB-44A73F229C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RFID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中常用的编码方式及编解码器</a:t>
            </a:r>
          </a:p>
          <a:p>
            <a:pPr eaLnBrk="1" hangingPunct="1"/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	曼彻斯特（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Manchester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）码 </a:t>
            </a:r>
          </a:p>
        </p:txBody>
      </p:sp>
      <p:sp>
        <p:nvSpPr>
          <p:cNvPr id="16389" name="Rectangle 10">
            <a:extLst>
              <a:ext uri="{FF2B5EF4-FFF2-40B4-BE49-F238E27FC236}">
                <a16:creationId xmlns:a16="http://schemas.microsoft.com/office/drawing/2014/main" id="{CEFFA426-12F6-4FF4-A088-B23C3B3C1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2492375"/>
            <a:ext cx="1889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000">
                <a:ea typeface="微软雅黑" panose="020B0503020204020204" pitchFamily="34" charset="-122"/>
                <a:cs typeface="Times New Roman" panose="02020603050405020304" pitchFamily="18" charset="0"/>
              </a:rPr>
              <a:t> 74HC74</a:t>
            </a:r>
            <a:r>
              <a:rPr lang="zh-CN" altLang="zh-CN" sz="2000">
                <a:ea typeface="微软雅黑" panose="020B0503020204020204" pitchFamily="34" charset="-122"/>
                <a:cs typeface="Times New Roman" panose="02020603050405020304" pitchFamily="18" charset="0"/>
              </a:rPr>
              <a:t>功能表</a:t>
            </a:r>
            <a:endParaRPr lang="zh-CN" altLang="en-US" sz="20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390" name="对象 5">
            <a:extLst>
              <a:ext uri="{FF2B5EF4-FFF2-40B4-BE49-F238E27FC236}">
                <a16:creationId xmlns:a16="http://schemas.microsoft.com/office/drawing/2014/main" id="{2A07E8A8-F719-4417-8702-32434D4E90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323850" y="2924175"/>
          <a:ext cx="11455400" cy="2674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5" name="文档" r:id="rId3" imgW="5483233" imgH="1278957" progId="Word.Document.12">
                  <p:embed/>
                </p:oleObj>
              </mc:Choice>
              <mc:Fallback>
                <p:oleObj name="文档" r:id="rId3" imgW="5483233" imgH="1278957" progId="Word.Document.12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23850" y="2924175"/>
                        <a:ext cx="11455400" cy="2674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矩形 6">
            <a:extLst>
              <a:ext uri="{FF2B5EF4-FFF2-40B4-BE49-F238E27FC236}">
                <a16:creationId xmlns:a16="http://schemas.microsoft.com/office/drawing/2014/main" id="{ABB626A1-9470-4AE4-902C-274D8203E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5950" y="3111500"/>
            <a:ext cx="1108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zh-CN" sz="2400">
                <a:ea typeface="微软雅黑" panose="020B0503020204020204" pitchFamily="34" charset="-122"/>
                <a:cs typeface="Times New Roman" panose="02020603050405020304" pitchFamily="18" charset="0"/>
              </a:rPr>
              <a:t>信息块</a:t>
            </a:r>
            <a:endParaRPr lang="zh-CN" altLang="en-US" sz="2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6392" name="Picture 3" descr="3t8">
            <a:extLst>
              <a:ext uri="{FF2B5EF4-FFF2-40B4-BE49-F238E27FC236}">
                <a16:creationId xmlns:a16="http://schemas.microsoft.com/office/drawing/2014/main" id="{8366E72A-0151-44A8-BF72-13715DCFD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3789363"/>
            <a:ext cx="3097213" cy="55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6393" name="对象 7">
            <a:extLst>
              <a:ext uri="{FF2B5EF4-FFF2-40B4-BE49-F238E27FC236}">
                <a16:creationId xmlns:a16="http://schemas.microsoft.com/office/drawing/2014/main" id="{226CAF42-D88B-4078-AC67-577C63F071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1287463" y="5848350"/>
          <a:ext cx="10899776" cy="125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6" name="文档" r:id="rId6" imgW="5483233" imgH="631005" progId="Word.Document.12">
                  <p:embed/>
                </p:oleObj>
              </mc:Choice>
              <mc:Fallback>
                <p:oleObj name="文档" r:id="rId6" imgW="5483233" imgH="631005" progId="Word.Document.12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287463" y="5848350"/>
                        <a:ext cx="10899776" cy="1252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4" name="矩形 8">
            <a:extLst>
              <a:ext uri="{FF2B5EF4-FFF2-40B4-BE49-F238E27FC236}">
                <a16:creationId xmlns:a16="http://schemas.microsoft.com/office/drawing/2014/main" id="{B49FF171-3C75-4ED2-999D-F516B98D8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1175" y="5373688"/>
            <a:ext cx="55991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zh-CN" sz="2400">
                <a:ea typeface="微软雅黑" panose="020B0503020204020204" pitchFamily="34" charset="-122"/>
                <a:cs typeface="Times New Roman" panose="02020603050405020304" pitchFamily="18" charset="0"/>
              </a:rPr>
              <a:t>曼彻斯特码与</a:t>
            </a:r>
            <a:r>
              <a:rPr lang="en-US" altLang="zh-CN" sz="2400"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2400">
                <a:ea typeface="微软雅黑" panose="020B0503020204020204" pitchFamily="34" charset="-122"/>
                <a:cs typeface="Times New Roman" panose="02020603050405020304" pitchFamily="18" charset="0"/>
              </a:rPr>
              <a:t>倍数据时钟频率的</a:t>
            </a:r>
            <a:r>
              <a:rPr lang="en-US" altLang="zh-CN" sz="2400">
                <a:ea typeface="微软雅黑" panose="020B0503020204020204" pitchFamily="34" charset="-122"/>
                <a:cs typeface="Times New Roman" panose="02020603050405020304" pitchFamily="18" charset="0"/>
              </a:rPr>
              <a:t>NRZ</a:t>
            </a:r>
            <a:r>
              <a:rPr lang="zh-CN" altLang="zh-CN" sz="2400">
                <a:ea typeface="微软雅黑" panose="020B0503020204020204" pitchFamily="34" charset="-122"/>
                <a:cs typeface="Times New Roman" panose="02020603050405020304" pitchFamily="18" charset="0"/>
              </a:rPr>
              <a:t>码</a:t>
            </a:r>
            <a:endParaRPr lang="zh-CN" altLang="en-US" sz="2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6">
            <a:extLst>
              <a:ext uri="{FF2B5EF4-FFF2-40B4-BE49-F238E27FC236}">
                <a16:creationId xmlns:a16="http://schemas.microsoft.com/office/drawing/2014/main" id="{D470DA43-8EA1-4A51-BDF7-0BF04003C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6EC6940-95D9-4E13-ABF2-2A04489A110D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14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2F4F6979-65D7-42AD-99B5-C85C084433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BE3D69C6-F3D3-48EB-AF56-3F2F39080ED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46150" y="1600200"/>
            <a:ext cx="5570538" cy="4267200"/>
          </a:xfrm>
        </p:spPr>
        <p:txBody>
          <a:bodyPr/>
          <a:lstStyle/>
          <a:p>
            <a:pPr marL="0" indent="0" eaLnBrk="1" hangingPunct="1"/>
            <a:r>
              <a:rPr lang="en-US" altLang="zh-CN" sz="2400" dirty="0">
                <a:ea typeface="微软雅黑" panose="020B0503020204020204" pitchFamily="34" charset="-122"/>
                <a:cs typeface="Times New Roman" panose="02020603050405020304" pitchFamily="18" charset="0"/>
              </a:rPr>
              <a:t>RFID</a:t>
            </a:r>
            <a:r>
              <a:rPr lang="zh-CN" altLang="en-US" sz="2400" dirty="0">
                <a:ea typeface="微软雅黑" panose="020B0503020204020204" pitchFamily="34" charset="-122"/>
                <a:cs typeface="Times New Roman" panose="02020603050405020304" pitchFamily="18" charset="0"/>
              </a:rPr>
              <a:t>中常用的编码方式及编解码器</a:t>
            </a:r>
          </a:p>
          <a:p>
            <a:pPr marL="0" indent="0" eaLnBrk="1" hangingPunct="1"/>
            <a:r>
              <a:rPr lang="zh-CN" altLang="en-US" sz="2400" dirty="0">
                <a:ea typeface="微软雅黑" panose="020B0503020204020204" pitchFamily="34" charset="-122"/>
                <a:cs typeface="Times New Roman" panose="02020603050405020304" pitchFamily="18" charset="0"/>
              </a:rPr>
              <a:t>  密勒（</a:t>
            </a:r>
            <a:r>
              <a:rPr lang="en-US" altLang="zh-CN" sz="2400" dirty="0">
                <a:ea typeface="微软雅黑" panose="020B0503020204020204" pitchFamily="34" charset="-122"/>
                <a:cs typeface="Times New Roman" panose="02020603050405020304" pitchFamily="18" charset="0"/>
              </a:rPr>
              <a:t>Miller</a:t>
            </a:r>
            <a:r>
              <a:rPr lang="zh-CN" altLang="en-US" sz="2400" dirty="0">
                <a:ea typeface="微软雅黑" panose="020B0503020204020204" pitchFamily="34" charset="-122"/>
                <a:cs typeface="Times New Roman" panose="02020603050405020304" pitchFamily="18" charset="0"/>
              </a:rPr>
              <a:t>）码 </a:t>
            </a:r>
          </a:p>
        </p:txBody>
      </p:sp>
      <p:sp>
        <p:nvSpPr>
          <p:cNvPr id="17413" name="Rectangle 9">
            <a:extLst>
              <a:ext uri="{FF2B5EF4-FFF2-40B4-BE49-F238E27FC236}">
                <a16:creationId xmlns:a16="http://schemas.microsoft.com/office/drawing/2014/main" id="{CD8ABA6F-F498-4D7D-8AB9-82DD6DF53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2636838"/>
            <a:ext cx="2419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400">
                <a:ea typeface="微软雅黑" panose="020B0503020204020204" pitchFamily="34" charset="-122"/>
                <a:cs typeface="Times New Roman" panose="02020603050405020304" pitchFamily="18" charset="0"/>
              </a:rPr>
              <a:t>密勒码编码规则 </a:t>
            </a:r>
          </a:p>
        </p:txBody>
      </p:sp>
      <p:graphicFrame>
        <p:nvGraphicFramePr>
          <p:cNvPr id="52344" name="Group 120">
            <a:extLst>
              <a:ext uri="{FF2B5EF4-FFF2-40B4-BE49-F238E27FC236}">
                <a16:creationId xmlns:a16="http://schemas.microsoft.com/office/drawing/2014/main" id="{90FA982D-6618-449F-85A1-43AE51EB383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25637195"/>
              </p:ext>
            </p:extLst>
          </p:nvPr>
        </p:nvGraphicFramePr>
        <p:xfrm>
          <a:off x="1042988" y="3213100"/>
          <a:ext cx="6769100" cy="2016126"/>
        </p:xfrm>
        <a:graphic>
          <a:graphicData uri="http://schemas.openxmlformats.org/drawingml/2006/table">
            <a:tbl>
              <a:tblPr/>
              <a:tblGrid>
                <a:gridCol w="1217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9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bit(i-1)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bit 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密勒码编码规则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bit i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的起始位置不变化，中间位置跳变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bit i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的起始位置跳变，中间位置不跳变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 latinLnBrk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bit </a:t>
                      </a:r>
                      <a:r>
                        <a:rPr kumimoji="1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的起始位置不跳变，中间位置不跳变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6">
            <a:extLst>
              <a:ext uri="{FF2B5EF4-FFF2-40B4-BE49-F238E27FC236}">
                <a16:creationId xmlns:a16="http://schemas.microsoft.com/office/drawing/2014/main" id="{ABE307D2-AC97-4851-BBE4-5F0653F00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F1B4550-2CEE-4D94-A011-D3E983432B14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15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95EB886D-5AAD-47DB-819C-26E9815657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FD98FD48-2C24-4954-9D1E-6824E42034E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46150" y="1600200"/>
            <a:ext cx="5570538" cy="4267200"/>
          </a:xfrm>
        </p:spPr>
        <p:txBody>
          <a:bodyPr/>
          <a:lstStyle/>
          <a:p>
            <a:pPr marL="0" indent="0" eaLnBrk="1" hangingPunct="1"/>
            <a:r>
              <a:rPr lang="en-US" altLang="zh-CN" sz="2000">
                <a:ea typeface="微软雅黑" panose="020B0503020204020204" pitchFamily="34" charset="-122"/>
                <a:cs typeface="Times New Roman" panose="02020603050405020304" pitchFamily="18" charset="0"/>
              </a:rPr>
              <a:t>RFID</a:t>
            </a:r>
            <a:r>
              <a: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rPr>
              <a:t>中常用的编码方式及编解码器</a:t>
            </a:r>
          </a:p>
          <a:p>
            <a:pPr marL="0" indent="0" eaLnBrk="1" hangingPunct="1"/>
            <a:r>
              <a: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rPr>
              <a:t>        密勒（</a:t>
            </a:r>
            <a:r>
              <a:rPr lang="en-US" altLang="zh-CN" sz="2000">
                <a:ea typeface="微软雅黑" panose="020B0503020204020204" pitchFamily="34" charset="-122"/>
                <a:cs typeface="Times New Roman" panose="02020603050405020304" pitchFamily="18" charset="0"/>
              </a:rPr>
              <a:t>Miller</a:t>
            </a:r>
            <a:r>
              <a: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rPr>
              <a:t>）码 </a:t>
            </a:r>
          </a:p>
        </p:txBody>
      </p:sp>
      <p:sp>
        <p:nvSpPr>
          <p:cNvPr id="18437" name="Rectangle 9">
            <a:extLst>
              <a:ext uri="{FF2B5EF4-FFF2-40B4-BE49-F238E27FC236}">
                <a16:creationId xmlns:a16="http://schemas.microsoft.com/office/drawing/2014/main" id="{2740B29A-8770-46CA-9C27-DC0D8865B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2928938"/>
            <a:ext cx="23399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400">
                <a:ea typeface="微软雅黑" panose="020B0503020204020204" pitchFamily="34" charset="-122"/>
                <a:cs typeface="Times New Roman" panose="02020603050405020304" pitchFamily="18" charset="0"/>
              </a:rPr>
              <a:t>密勒码传输格式</a:t>
            </a:r>
          </a:p>
        </p:txBody>
      </p:sp>
      <p:pic>
        <p:nvPicPr>
          <p:cNvPr id="18438" name="Picture 4" descr="3t11">
            <a:extLst>
              <a:ext uri="{FF2B5EF4-FFF2-40B4-BE49-F238E27FC236}">
                <a16:creationId xmlns:a16="http://schemas.microsoft.com/office/drawing/2014/main" id="{F8D26116-CA6C-4CD3-9F07-1AD4D47A4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798763"/>
            <a:ext cx="4370387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8439" name="对象 4">
            <a:extLst>
              <a:ext uri="{FF2B5EF4-FFF2-40B4-BE49-F238E27FC236}">
                <a16:creationId xmlns:a16="http://schemas.microsoft.com/office/drawing/2014/main" id="{10B69540-BCBF-42E6-AAB6-A7E7C92A64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3132138" y="4581525"/>
          <a:ext cx="11483976" cy="175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6" name="文档" r:id="rId4" imgW="5483233" imgH="836893" progId="Word.Document.12">
                  <p:embed/>
                </p:oleObj>
              </mc:Choice>
              <mc:Fallback>
                <p:oleObj name="文档" r:id="rId4" imgW="5483233" imgH="836893" progId="Word.Document.12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132138" y="4581525"/>
                        <a:ext cx="11483976" cy="175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0" name="Rectangle 9">
            <a:extLst>
              <a:ext uri="{FF2B5EF4-FFF2-40B4-BE49-F238E27FC236}">
                <a16:creationId xmlns:a16="http://schemas.microsoft.com/office/drawing/2014/main" id="{5943C829-1B7F-4938-ADE6-3041D4B30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4625" y="4941888"/>
            <a:ext cx="26463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400">
                <a:ea typeface="微软雅黑" panose="020B0503020204020204" pitchFamily="34" charset="-122"/>
                <a:cs typeface="Times New Roman" panose="02020603050405020304" pitchFamily="18" charset="0"/>
              </a:rPr>
              <a:t>密勒码两位表示法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6">
            <a:extLst>
              <a:ext uri="{FF2B5EF4-FFF2-40B4-BE49-F238E27FC236}">
                <a16:creationId xmlns:a16="http://schemas.microsoft.com/office/drawing/2014/main" id="{E4E8434B-740D-424D-944E-3F0125ACD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46EF97A-37E1-404E-A1AA-E77C76BDCA29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16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2BBF0ACD-EE0B-44C3-9605-48F176F4C9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章    编码和调制</a:t>
            </a:r>
            <a:r>
              <a:rPr lang="zh-CN" altLang="en-US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0BF6F2FA-8930-4948-B399-64997E6EFDF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46150" y="1600200"/>
            <a:ext cx="5570538" cy="4267200"/>
          </a:xfrm>
        </p:spPr>
        <p:txBody>
          <a:bodyPr/>
          <a:lstStyle/>
          <a:p>
            <a:pPr marL="0" indent="0" eaLnBrk="1" hangingPunct="1"/>
            <a:r>
              <a:rPr lang="en-US" altLang="zh-CN" sz="2000">
                <a:ea typeface="微软雅黑" panose="020B0503020204020204" pitchFamily="34" charset="-122"/>
                <a:cs typeface="Times New Roman" panose="02020603050405020304" pitchFamily="18" charset="0"/>
              </a:rPr>
              <a:t>RFID</a:t>
            </a:r>
            <a:r>
              <a: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rPr>
              <a:t>中常用的编码方式及编解码器</a:t>
            </a:r>
          </a:p>
          <a:p>
            <a:pPr marL="0" indent="0" eaLnBrk="1" hangingPunct="1"/>
            <a:r>
              <a: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</a:p>
        </p:txBody>
      </p:sp>
      <p:graphicFrame>
        <p:nvGraphicFramePr>
          <p:cNvPr id="19461" name="Object 31">
            <a:extLst>
              <a:ext uri="{FF2B5EF4-FFF2-40B4-BE49-F238E27FC236}">
                <a16:creationId xmlns:a16="http://schemas.microsoft.com/office/drawing/2014/main" id="{73573DBC-A6C8-4839-A626-534C87337E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276475"/>
          <a:ext cx="6480175" cy="278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8" name="图片" r:id="rId3" imgW="4347319" imgH="1866389" progId="Word.Picture.8">
                  <p:embed/>
                </p:oleObj>
              </mc:Choice>
              <mc:Fallback>
                <p:oleObj name="图片" r:id="rId3" imgW="4347319" imgH="1866389" progId="Word.Picture.8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276475"/>
                        <a:ext cx="6480175" cy="2786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Rectangle 33">
            <a:extLst>
              <a:ext uri="{FF2B5EF4-FFF2-40B4-BE49-F238E27FC236}">
                <a16:creationId xmlns:a16="http://schemas.microsoft.com/office/drawing/2014/main" id="{F1C1F58E-5CF1-4F4F-98A5-F6D154179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5186363"/>
            <a:ext cx="5667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rPr>
              <a:t>密勒码波形及与</a:t>
            </a:r>
            <a:r>
              <a:rPr lang="en-US" altLang="zh-CN" sz="2000">
                <a:ea typeface="微软雅黑" panose="020B0503020204020204" pitchFamily="34" charset="-122"/>
                <a:cs typeface="Times New Roman" panose="02020603050405020304" pitchFamily="18" charset="0"/>
              </a:rPr>
              <a:t>NRZ</a:t>
            </a:r>
            <a:r>
              <a: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rPr>
              <a:t>码、曼彻斯特码的波形关系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6">
            <a:extLst>
              <a:ext uri="{FF2B5EF4-FFF2-40B4-BE49-F238E27FC236}">
                <a16:creationId xmlns:a16="http://schemas.microsoft.com/office/drawing/2014/main" id="{86E43C16-9374-4C7A-A3CE-B09841958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4A517CA-D584-4A66-83A5-C83EC68C2D68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17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1F60F578-FB89-45D9-B117-D70C98D9D0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章  编码和调制</a:t>
            </a:r>
            <a:r>
              <a:rPr lang="zh-CN" altLang="en-US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9C7F12BB-33B1-4937-982F-88A3BD6A83F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46150" y="1600200"/>
            <a:ext cx="5570538" cy="4267200"/>
          </a:xfrm>
        </p:spPr>
        <p:txBody>
          <a:bodyPr/>
          <a:lstStyle/>
          <a:p>
            <a:pPr marL="0" indent="0" eaLnBrk="1" hangingPunct="1"/>
            <a:r>
              <a:rPr lang="en-US" altLang="zh-CN" sz="2000">
                <a:ea typeface="微软雅黑" panose="020B0503020204020204" pitchFamily="34" charset="-122"/>
                <a:cs typeface="Times New Roman" panose="02020603050405020304" pitchFamily="18" charset="0"/>
              </a:rPr>
              <a:t>RFID</a:t>
            </a:r>
            <a:r>
              <a: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rPr>
              <a:t>中常用的编码方式及编解码器</a:t>
            </a:r>
          </a:p>
          <a:p>
            <a:pPr marL="0" indent="0" eaLnBrk="1" hangingPunct="1"/>
            <a:r>
              <a: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rPr>
              <a:t>        密勒（</a:t>
            </a:r>
            <a:r>
              <a:rPr lang="en-US" altLang="zh-CN" sz="2000">
                <a:ea typeface="微软雅黑" panose="020B0503020204020204" pitchFamily="34" charset="-122"/>
                <a:cs typeface="Times New Roman" panose="02020603050405020304" pitchFamily="18" charset="0"/>
              </a:rPr>
              <a:t>Miller</a:t>
            </a:r>
            <a:r>
              <a: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rPr>
              <a:t>）码 </a:t>
            </a:r>
          </a:p>
        </p:txBody>
      </p:sp>
      <p:graphicFrame>
        <p:nvGraphicFramePr>
          <p:cNvPr id="20485" name="Object 31">
            <a:extLst>
              <a:ext uri="{FF2B5EF4-FFF2-40B4-BE49-F238E27FC236}">
                <a16:creationId xmlns:a16="http://schemas.microsoft.com/office/drawing/2014/main" id="{6536E53F-27F6-4A0B-89FF-23E6C48972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420938"/>
          <a:ext cx="6011863" cy="330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2" name="图片" r:id="rId3" imgW="3069862" imgH="1685329" progId="Word.Picture.8">
                  <p:embed/>
                </p:oleObj>
              </mc:Choice>
              <mc:Fallback>
                <p:oleObj name="图片" r:id="rId3" imgW="3069862" imgH="1685329" progId="Word.Picture.8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420938"/>
                        <a:ext cx="6011863" cy="330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Rectangle 33">
            <a:extLst>
              <a:ext uri="{FF2B5EF4-FFF2-40B4-BE49-F238E27FC236}">
                <a16:creationId xmlns:a16="http://schemas.microsoft.com/office/drawing/2014/main" id="{5DAAADFB-F90B-48A8-A515-45F2AF1F2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5835650"/>
            <a:ext cx="3824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rPr>
              <a:t>用曼彻斯特码产生密勒码的电路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3t13">
            <a:extLst>
              <a:ext uri="{FF2B5EF4-FFF2-40B4-BE49-F238E27FC236}">
                <a16:creationId xmlns:a16="http://schemas.microsoft.com/office/drawing/2014/main" id="{F73EA15A-33C0-41BF-BA6F-236EBB4B8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188913"/>
            <a:ext cx="5184775" cy="642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灯片编号占位符 6">
            <a:extLst>
              <a:ext uri="{FF2B5EF4-FFF2-40B4-BE49-F238E27FC236}">
                <a16:creationId xmlns:a16="http://schemas.microsoft.com/office/drawing/2014/main" id="{0498583C-C687-448B-8235-F94C84FC0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77244F3-654B-44FE-8382-17AECDBA2DE7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18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C70387B1-9BC8-40FE-B1E7-32D96E5B38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1550" y="620713"/>
            <a:ext cx="6646863" cy="75565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1509" name="Rectangle 3">
            <a:extLst>
              <a:ext uri="{FF2B5EF4-FFF2-40B4-BE49-F238E27FC236}">
                <a16:creationId xmlns:a16="http://schemas.microsoft.com/office/drawing/2014/main" id="{F521C900-19FD-4846-96D7-4AB3A7EE32D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46150" y="1600200"/>
            <a:ext cx="5570538" cy="4267200"/>
          </a:xfrm>
        </p:spPr>
        <p:txBody>
          <a:bodyPr/>
          <a:lstStyle/>
          <a:p>
            <a:pPr marL="0" indent="0" eaLnBrk="1" hangingPunct="1"/>
            <a:r>
              <a:rPr lang="en-US" altLang="zh-CN" sz="2000">
                <a:ea typeface="微软雅黑" panose="020B0503020204020204" pitchFamily="34" charset="-122"/>
                <a:cs typeface="Times New Roman" panose="02020603050405020304" pitchFamily="18" charset="0"/>
              </a:rPr>
              <a:t>RFID</a:t>
            </a:r>
            <a:r>
              <a: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rPr>
              <a:t>中常用的编码方式及编解码器</a:t>
            </a:r>
          </a:p>
          <a:p>
            <a:pPr marL="0" indent="0" eaLnBrk="1" hangingPunct="1"/>
            <a:r>
              <a: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rPr>
              <a:t>        密勒码软件编码流程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8A19A710-121B-468B-B787-29C7B7C9F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DC577A7-F72D-4A72-985E-9576125B86FB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19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45073F5A-B3D3-4109-AE7A-FB815E9D86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473AFA26-CA83-4155-8B50-F704F43735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3.2.2  </a:t>
            </a:r>
            <a:r>
              <a:rPr lang="zh-CN" altLang="en-US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修正密勒码编码器</a:t>
            </a:r>
          </a:p>
          <a:p>
            <a:pPr eaLnBrk="1" hangingPunct="1"/>
            <a:r>
              <a:rPr lang="zh-CN" altLang="en-US">
                <a:ea typeface="微软雅黑" panose="020B0503020204020204" pitchFamily="34" charset="-122"/>
                <a:cs typeface="Times New Roman" panose="02020603050405020304" pitchFamily="18" charset="0"/>
              </a:rPr>
              <a:t>	假设输出数据为</a:t>
            </a:r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01 1010 </a:t>
            </a:r>
            <a:r>
              <a:rPr lang="zh-CN" altLang="en-US"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22533" name="Object 4">
            <a:extLst>
              <a:ext uri="{FF2B5EF4-FFF2-40B4-BE49-F238E27FC236}">
                <a16:creationId xmlns:a16="http://schemas.microsoft.com/office/drawing/2014/main" id="{02065EFD-5739-4A67-B492-415A976F14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2420938"/>
          <a:ext cx="5832475" cy="443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9" name="图片" r:id="rId3" imgW="4566775" imgH="3466408" progId="Word.Picture.8">
                  <p:embed/>
                </p:oleObj>
              </mc:Choice>
              <mc:Fallback>
                <p:oleObj name="图片" r:id="rId3" imgW="4566775" imgH="3466408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420938"/>
                        <a:ext cx="5832475" cy="443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>
            <a:extLst>
              <a:ext uri="{FF2B5EF4-FFF2-40B4-BE49-F238E27FC236}">
                <a16:creationId xmlns:a16="http://schemas.microsoft.com/office/drawing/2014/main" id="{12D1525E-1AD7-47DC-A916-65D7C1878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0F1AE07-266B-42E3-B6DB-345B855F2206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20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DD3D2FFE-5580-438F-B7DE-4E9185EF98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6DD6D084-1EF7-4BB3-9BEC-F183265644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  <a:cs typeface="Times New Roman" panose="02020603050405020304" pitchFamily="18" charset="0"/>
              </a:rPr>
              <a:t>修正密勒码解码 </a:t>
            </a:r>
          </a:p>
        </p:txBody>
      </p:sp>
      <p:graphicFrame>
        <p:nvGraphicFramePr>
          <p:cNvPr id="23557" name="Object 4">
            <a:extLst>
              <a:ext uri="{FF2B5EF4-FFF2-40B4-BE49-F238E27FC236}">
                <a16:creationId xmlns:a16="http://schemas.microsoft.com/office/drawing/2014/main" id="{8173AAFB-D3F8-491B-8279-31ADF3AC0D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2205038"/>
          <a:ext cx="7956550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4" name="图片" r:id="rId3" imgW="5281719" imgH="1456755" progId="Word.Picture.8">
                  <p:embed/>
                </p:oleObj>
              </mc:Choice>
              <mc:Fallback>
                <p:oleObj name="图片" r:id="rId3" imgW="5281719" imgH="1456755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205038"/>
                        <a:ext cx="7956550" cy="221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Rectangle 6">
            <a:extLst>
              <a:ext uri="{FF2B5EF4-FFF2-40B4-BE49-F238E27FC236}">
                <a16:creationId xmlns:a16="http://schemas.microsoft.com/office/drawing/2014/main" id="{8BCCB44E-7A02-42E2-B1C2-55769ABA9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4611688"/>
            <a:ext cx="3316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rPr>
              <a:t>修正密勒码解码器原理框图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>
            <a:extLst>
              <a:ext uri="{FF2B5EF4-FFF2-40B4-BE49-F238E27FC236}">
                <a16:creationId xmlns:a16="http://schemas.microsoft.com/office/drawing/2014/main" id="{A4ADBCDC-6F48-4A5D-B4B5-EB6A44F69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CDA848A-0D78-4DCF-AF9F-D7A58DA4DEF2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21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C67CA43D-6246-462E-A097-499356C530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43F5ACAE-3E71-49CA-88DE-B66D987960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  <a:cs typeface="Times New Roman" panose="02020603050405020304" pitchFamily="18" charset="0"/>
              </a:rPr>
              <a:t>修正密勒码解码 </a:t>
            </a:r>
          </a:p>
        </p:txBody>
      </p:sp>
      <p:graphicFrame>
        <p:nvGraphicFramePr>
          <p:cNvPr id="24581" name="Object 7">
            <a:extLst>
              <a:ext uri="{FF2B5EF4-FFF2-40B4-BE49-F238E27FC236}">
                <a16:creationId xmlns:a16="http://schemas.microsoft.com/office/drawing/2014/main" id="{F77CDD21-D38D-4B03-ADB6-A5C3DFDD7E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2060575"/>
          <a:ext cx="7056437" cy="477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8" name="图片" r:id="rId3" imgW="5100460" imgH="3447330" progId="Word.Picture.8">
                  <p:embed/>
                </p:oleObj>
              </mc:Choice>
              <mc:Fallback>
                <p:oleObj name="图片" r:id="rId3" imgW="5100460" imgH="3447330" progId="Word.Picture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060575"/>
                        <a:ext cx="7056437" cy="477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2" name="Rectangle 9">
            <a:extLst>
              <a:ext uri="{FF2B5EF4-FFF2-40B4-BE49-F238E27FC236}">
                <a16:creationId xmlns:a16="http://schemas.microsoft.com/office/drawing/2014/main" id="{D0A066EC-0FA0-449D-AD09-485DBEAF2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850" y="2979738"/>
            <a:ext cx="576263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rPr>
              <a:t>解码时序波形图示例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5">
            <a:extLst>
              <a:ext uri="{FF2B5EF4-FFF2-40B4-BE49-F238E27FC236}">
                <a16:creationId xmlns:a16="http://schemas.microsoft.com/office/drawing/2014/main" id="{5719B44D-C257-4BE0-8329-CE228B975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3014A91-C5B3-4545-84B7-D4D2FB05DF25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22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E29FF1AB-D990-498E-A38D-7A6C8C5B6B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8AE0760F-692B-409A-BAE0-7800533DCC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3.3 </a:t>
            </a:r>
            <a:r>
              <a:rPr lang="zh-CN" altLang="en-US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脉冲调制 </a:t>
            </a:r>
          </a:p>
          <a:p>
            <a:pPr eaLnBrk="1" hangingPunct="1"/>
            <a:endParaRPr lang="zh-CN" altLang="en-US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	    将数据的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NRZ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码变换为更高频率的脉冲串，该脉冲串的脉冲波形参数受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NRZ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码的值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调制。</a:t>
            </a:r>
          </a:p>
          <a:p>
            <a:pPr eaLnBrk="1" hangingPunct="1">
              <a:lnSpc>
                <a:spcPct val="150000"/>
              </a:lnSpc>
            </a:pPr>
            <a:endParaRPr lang="zh-CN" altLang="en-US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	     主要的调制方式为：</a:t>
            </a:r>
            <a:endParaRPr lang="en-US" altLang="zh-CN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频移键控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FSK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相移键控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PSK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。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>
            <a:extLst>
              <a:ext uri="{FF2B5EF4-FFF2-40B4-BE49-F238E27FC236}">
                <a16:creationId xmlns:a16="http://schemas.microsoft.com/office/drawing/2014/main" id="{FDFB3852-3077-4DC4-8F28-F98EFCD29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330328C-08D0-4EB5-9F09-BA65BD4AC3E0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23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7BF7F460-E871-4D50-928B-972A820D0C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1C7AC18A-CCB8-4037-9039-339141F7A6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脉冲调制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3.3.1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FSK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6630" name="Object 4">
            <a:extLst>
              <a:ext uri="{FF2B5EF4-FFF2-40B4-BE49-F238E27FC236}">
                <a16:creationId xmlns:a16="http://schemas.microsoft.com/office/drawing/2014/main" id="{682A4B6B-9557-4AE8-8071-EFCA97DAE7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2492375"/>
          <a:ext cx="6696075" cy="221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7" name="图片" r:id="rId3" imgW="4127863" imgH="1361726" progId="Word.Picture.8">
                  <p:embed/>
                </p:oleObj>
              </mc:Choice>
              <mc:Fallback>
                <p:oleObj name="图片" r:id="rId3" imgW="4127863" imgH="1361726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492375"/>
                        <a:ext cx="6696075" cy="2211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Rectangle 6">
            <a:extLst>
              <a:ext uri="{FF2B5EF4-FFF2-40B4-BE49-F238E27FC236}">
                <a16:creationId xmlns:a16="http://schemas.microsoft.com/office/drawing/2014/main" id="{3CEDA594-91C3-42F6-9068-A792F0246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4825971"/>
            <a:ext cx="224247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000">
                <a:ea typeface="微软雅黑" panose="020B0503020204020204" pitchFamily="34" charset="-122"/>
                <a:cs typeface="Times New Roman" panose="02020603050405020304" pitchFamily="18" charset="0"/>
              </a:rPr>
              <a:t>FSK</a:t>
            </a:r>
            <a:r>
              <a: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rPr>
              <a:t>脉冲调制波形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5">
            <a:extLst>
              <a:ext uri="{FF2B5EF4-FFF2-40B4-BE49-F238E27FC236}">
                <a16:creationId xmlns:a16="http://schemas.microsoft.com/office/drawing/2014/main" id="{B26B4EBA-79BA-4760-B01B-0A762671F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C0AFB8C-412F-48AB-BD69-A2C35961C1D1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24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6E2AA649-C016-426F-AF24-C031AC04F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8234A62B-58C4-4685-9936-1234BB3C06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脉冲调制 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FSK</a:t>
            </a:r>
            <a:r>
              <a: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调制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655" name="Object 7">
            <a:extLst>
              <a:ext uri="{FF2B5EF4-FFF2-40B4-BE49-F238E27FC236}">
                <a16:creationId xmlns:a16="http://schemas.microsoft.com/office/drawing/2014/main" id="{05984725-8235-4D84-93DE-FDF322946E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565400"/>
          <a:ext cx="6985000" cy="203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2" name="图片" r:id="rId3" imgW="4099395" imgH="1190025" progId="Word.Picture.8">
                  <p:embed/>
                </p:oleObj>
              </mc:Choice>
              <mc:Fallback>
                <p:oleObj name="图片" r:id="rId3" imgW="4099395" imgH="1190025" progId="Word.Picture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565400"/>
                        <a:ext cx="6985000" cy="203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6" name="Rectangle 9">
            <a:extLst>
              <a:ext uri="{FF2B5EF4-FFF2-40B4-BE49-F238E27FC236}">
                <a16:creationId xmlns:a16="http://schemas.microsoft.com/office/drawing/2014/main" id="{774DAC0D-D340-4188-B42F-60FE16C8B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899025"/>
            <a:ext cx="2492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000">
                <a:ea typeface="微软雅黑" panose="020B0503020204020204" pitchFamily="34" charset="-122"/>
                <a:cs typeface="Times New Roman" panose="02020603050405020304" pitchFamily="18" charset="0"/>
              </a:rPr>
              <a:t>FSK</a:t>
            </a:r>
            <a:r>
              <a: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rPr>
              <a:t>实现的原理框图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>
            <a:extLst>
              <a:ext uri="{FF2B5EF4-FFF2-40B4-BE49-F238E27FC236}">
                <a16:creationId xmlns:a16="http://schemas.microsoft.com/office/drawing/2014/main" id="{E94974EB-0709-4F07-8D00-48632B49B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BB7643F-072C-46AE-AB82-ACDC603601B0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25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1E2D5769-ACC7-4A5B-BD72-298CE9E25B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8753DCF2-4DDE-476A-9D9B-A584F3C24B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脉冲调制 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FSK</a:t>
            </a:r>
            <a:r>
              <a: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解调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8680" name="Object 8">
            <a:extLst>
              <a:ext uri="{FF2B5EF4-FFF2-40B4-BE49-F238E27FC236}">
                <a16:creationId xmlns:a16="http://schemas.microsoft.com/office/drawing/2014/main" id="{684DBE35-9A11-4A77-BF8E-01E2779C6F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2565400"/>
          <a:ext cx="5616575" cy="367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7" name="图片" r:id="rId3" imgW="3842102" imgH="2513956" progId="Word.Picture.8">
                  <p:embed/>
                </p:oleObj>
              </mc:Choice>
              <mc:Fallback>
                <p:oleObj name="图片" r:id="rId3" imgW="3842102" imgH="2513956" progId="Word.Picture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565400"/>
                        <a:ext cx="5616575" cy="367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1" name="Rectangle 10">
            <a:extLst>
              <a:ext uri="{FF2B5EF4-FFF2-40B4-BE49-F238E27FC236}">
                <a16:creationId xmlns:a16="http://schemas.microsoft.com/office/drawing/2014/main" id="{6568FEB9-B979-4F2F-8A7A-BFE3325E2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6196013"/>
            <a:ext cx="2492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000">
                <a:ea typeface="微软雅黑" panose="020B0503020204020204" pitchFamily="34" charset="-122"/>
                <a:cs typeface="Times New Roman" panose="02020603050405020304" pitchFamily="18" charset="0"/>
              </a:rPr>
              <a:t>FSK</a:t>
            </a:r>
            <a:r>
              <a: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rPr>
              <a:t>解调电路原理图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>
            <a:extLst>
              <a:ext uri="{FF2B5EF4-FFF2-40B4-BE49-F238E27FC236}">
                <a16:creationId xmlns:a16="http://schemas.microsoft.com/office/drawing/2014/main" id="{31AF2133-DD30-41DC-8B2C-51EE8AABD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B493E67-0691-40F8-AE2B-0AB628E1686F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26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74A995D6-24AB-40EC-B693-00417E10DD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  编码和调制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1B55C200-A080-4952-B435-2EE5CE9369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脉冲调制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FSK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解调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工作原理如下：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触发器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D1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将输入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FSK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信号变为窄脉冲。触发器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D1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采用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74HC74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，当端为高时，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FSK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上跳沿将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端置高，但由于此时为低，故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CL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端为低，又使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端回到低电平。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端的该脉冲使十进计数器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4017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复零并可重新计数。 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>
            <a:extLst>
              <a:ext uri="{FF2B5EF4-FFF2-40B4-BE49-F238E27FC236}">
                <a16:creationId xmlns:a16="http://schemas.microsoft.com/office/drawing/2014/main" id="{61F11DD4-BEBD-42BF-893F-3AB22DEDB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1A61680-0E83-46BE-A012-05DFDAA7AD2B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27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FF856C91-BD99-47CB-9C28-12F155F0DF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46B19BCA-6B79-48DC-BDD6-06BAF269D1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脉冲调制 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FSK</a:t>
            </a:r>
            <a:r>
              <a: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解调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十进计数器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4017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0728" name="Picture 2" descr="3t21">
            <a:extLst>
              <a:ext uri="{FF2B5EF4-FFF2-40B4-BE49-F238E27FC236}">
                <a16:creationId xmlns:a16="http://schemas.microsoft.com/office/drawing/2014/main" id="{8DC5F304-867C-401D-A511-60ADA73C0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3213100"/>
            <a:ext cx="4176713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>
            <a:extLst>
              <a:ext uri="{FF2B5EF4-FFF2-40B4-BE49-F238E27FC236}">
                <a16:creationId xmlns:a16="http://schemas.microsoft.com/office/drawing/2014/main" id="{11D0A171-423F-4DC0-91B3-577E34751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468B23A-92B7-447B-8959-B00F61FD74F2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28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DB058E0C-0129-4AC7-A409-C227FC207E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7BC73C4F-B6BE-451E-A446-3D32C9F6D1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3" y="1268413"/>
            <a:ext cx="6611937" cy="4267200"/>
          </a:xfrm>
        </p:spPr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FSK</a:t>
            </a:r>
            <a:r>
              <a:rPr lang="zh-CN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解调波形图例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</a:p>
        </p:txBody>
      </p:sp>
      <p:pic>
        <p:nvPicPr>
          <p:cNvPr id="31752" name="Picture 2" descr="3t22">
            <a:extLst>
              <a:ext uri="{FF2B5EF4-FFF2-40B4-BE49-F238E27FC236}">
                <a16:creationId xmlns:a16="http://schemas.microsoft.com/office/drawing/2014/main" id="{2AF27F3F-BA84-47CC-A807-97FBC98D7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903" y="1628800"/>
            <a:ext cx="7180481" cy="4198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>
            <a:extLst>
              <a:ext uri="{FF2B5EF4-FFF2-40B4-BE49-F238E27FC236}">
                <a16:creationId xmlns:a16="http://schemas.microsoft.com/office/drawing/2014/main" id="{BB5A5F6D-9CDA-4E4F-893A-BDE10FEE5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61E5774-9118-491F-8603-EE387E739107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29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3F2D748E-34A4-42DA-A602-D7AE79D48B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AE163EDF-F17F-4551-9857-FBDF1ADF3F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1550" y="1628775"/>
            <a:ext cx="6611938" cy="4267200"/>
          </a:xfrm>
        </p:spPr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e5551</a:t>
            </a:r>
            <a:r>
              <a:rPr lang="zh-CN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芯片的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种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FSK</a:t>
            </a:r>
            <a:r>
              <a:rPr lang="zh-CN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模式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</a:p>
        </p:txBody>
      </p:sp>
      <p:graphicFrame>
        <p:nvGraphicFramePr>
          <p:cNvPr id="32776" name="对象 1">
            <a:extLst>
              <a:ext uri="{FF2B5EF4-FFF2-40B4-BE49-F238E27FC236}">
                <a16:creationId xmlns:a16="http://schemas.microsoft.com/office/drawing/2014/main" id="{0F704CE0-E846-40C7-90B7-9BC6ECC9D8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1908175" y="2833688"/>
          <a:ext cx="12641263" cy="287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2" name="文档" r:id="rId3" imgW="5483233" imgH="1249029" progId="Word.Document.12">
                  <p:embed/>
                </p:oleObj>
              </mc:Choice>
              <mc:Fallback>
                <p:oleObj name="文档" r:id="rId3" imgW="5483233" imgH="1249029" progId="Word.Document.12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908175" y="2833688"/>
                        <a:ext cx="12641263" cy="287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5">
            <a:extLst>
              <a:ext uri="{FF2B5EF4-FFF2-40B4-BE49-F238E27FC236}">
                <a16:creationId xmlns:a16="http://schemas.microsoft.com/office/drawing/2014/main" id="{D3AB1DFF-D5DC-4DEF-896C-F617A96D6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EA432A7-8EAE-4713-ABA9-52B11E74EFB6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30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CA5CC059-0516-4FB3-9180-C0D7285704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21F48A59-EAD1-4D36-BFA2-A62002E539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2" y="1447024"/>
            <a:ext cx="7024514" cy="515032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脉冲调制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3.3.2   PSK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PSK1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PSK2  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3798" name="Object 4">
            <a:extLst>
              <a:ext uri="{FF2B5EF4-FFF2-40B4-BE49-F238E27FC236}">
                <a16:creationId xmlns:a16="http://schemas.microsoft.com/office/drawing/2014/main" id="{61DAA5BC-2007-4ECB-9ABA-9A9D0FA631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2708275"/>
          <a:ext cx="6624637" cy="235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5" name="图片" r:id="rId3" imgW="3031664" imgH="1075918" progId="Word.Picture.8">
                  <p:embed/>
                </p:oleObj>
              </mc:Choice>
              <mc:Fallback>
                <p:oleObj name="图片" r:id="rId3" imgW="3031664" imgH="1075918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708275"/>
                        <a:ext cx="6624637" cy="2354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9" name="Rectangle 6">
            <a:extLst>
              <a:ext uri="{FF2B5EF4-FFF2-40B4-BE49-F238E27FC236}">
                <a16:creationId xmlns:a16="http://schemas.microsoft.com/office/drawing/2014/main" id="{0B106C8D-E234-4D87-9B0A-7C7C22CED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5211762"/>
            <a:ext cx="6624637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000" dirty="0">
                <a:ea typeface="微软雅黑" panose="020B0503020204020204" pitchFamily="34" charset="-122"/>
                <a:cs typeface="Times New Roman" panose="02020603050405020304" pitchFamily="18" charset="0"/>
              </a:rPr>
              <a:t>    采用</a:t>
            </a:r>
            <a:r>
              <a:rPr lang="en-US" altLang="zh-CN" sz="2000" dirty="0">
                <a:ea typeface="微软雅黑" panose="020B0503020204020204" pitchFamily="34" charset="-122"/>
                <a:cs typeface="Times New Roman" panose="02020603050405020304" pitchFamily="18" charset="0"/>
              </a:rPr>
              <a:t>PSK1</a:t>
            </a:r>
            <a:r>
              <a:rPr lang="zh-CN" altLang="en-US" sz="2000" dirty="0">
                <a:ea typeface="微软雅黑" panose="020B0503020204020204" pitchFamily="34" charset="-122"/>
                <a:cs typeface="Times New Roman" panose="02020603050405020304" pitchFamily="18" charset="0"/>
              </a:rPr>
              <a:t>调制时，若在数据位的起始处出现上升沿或下降沿（即出现</a:t>
            </a:r>
            <a:r>
              <a:rPr lang="en-US" altLang="zh-CN" sz="2000" dirty="0"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000" dirty="0"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en-US" altLang="zh-CN" sz="2000" dirty="0"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000" dirty="0"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ea typeface="微软雅黑" panose="020B0503020204020204" pitchFamily="34" charset="-122"/>
                <a:cs typeface="Times New Roman" panose="02020603050405020304" pitchFamily="18" charset="0"/>
              </a:rPr>
              <a:t>交替），则相位将于位起始处跳变</a:t>
            </a:r>
            <a:r>
              <a:rPr lang="en-US" altLang="zh-CN" sz="2000" dirty="0">
                <a:ea typeface="微软雅黑" panose="020B0503020204020204" pitchFamily="34" charset="-122"/>
                <a:cs typeface="Times New Roman" panose="02020603050405020304" pitchFamily="18" charset="0"/>
              </a:rPr>
              <a:t>180°</a:t>
            </a:r>
            <a:r>
              <a:rPr lang="zh-CN" altLang="en-US" sz="2000" dirty="0">
                <a:ea typeface="微软雅黑" panose="020B0503020204020204" pitchFamily="34" charset="-122"/>
                <a:cs typeface="Times New Roman" panose="02020603050405020304" pitchFamily="18" charset="0"/>
              </a:rPr>
              <a:t>。而</a:t>
            </a:r>
            <a:r>
              <a:rPr lang="en-US" altLang="zh-CN" sz="2000" dirty="0">
                <a:ea typeface="微软雅黑" panose="020B0503020204020204" pitchFamily="34" charset="-122"/>
                <a:cs typeface="Times New Roman" panose="02020603050405020304" pitchFamily="18" charset="0"/>
              </a:rPr>
              <a:t>PSK2</a:t>
            </a:r>
            <a:r>
              <a:rPr lang="zh-CN" altLang="en-US" sz="2000" dirty="0">
                <a:ea typeface="微软雅黑" panose="020B0503020204020204" pitchFamily="34" charset="-122"/>
                <a:cs typeface="Times New Roman" panose="02020603050405020304" pitchFamily="18" charset="0"/>
              </a:rPr>
              <a:t>调制时，相位在数据位为</a:t>
            </a:r>
            <a:r>
              <a:rPr lang="en-US" altLang="zh-CN" sz="2000" dirty="0"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ea typeface="微软雅黑" panose="020B0503020204020204" pitchFamily="34" charset="-122"/>
                <a:cs typeface="Times New Roman" panose="02020603050405020304" pitchFamily="18" charset="0"/>
              </a:rPr>
              <a:t>时从位起始处跳变</a:t>
            </a:r>
            <a:r>
              <a:rPr lang="en-US" altLang="zh-CN" sz="2000" dirty="0">
                <a:ea typeface="微软雅黑" panose="020B0503020204020204" pitchFamily="34" charset="-122"/>
                <a:cs typeface="Times New Roman" panose="02020603050405020304" pitchFamily="18" charset="0"/>
              </a:rPr>
              <a:t>180°</a:t>
            </a:r>
            <a:r>
              <a:rPr lang="zh-CN" altLang="en-US" sz="2000" dirty="0">
                <a:ea typeface="微软雅黑" panose="020B0503020204020204" pitchFamily="34" charset="-122"/>
                <a:cs typeface="Times New Roman" panose="02020603050405020304" pitchFamily="18" charset="0"/>
              </a:rPr>
              <a:t>，在数据位为</a:t>
            </a:r>
            <a:r>
              <a:rPr lang="en-US" altLang="zh-CN" sz="2000" dirty="0"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000" dirty="0">
                <a:ea typeface="微软雅黑" panose="020B0503020204020204" pitchFamily="34" charset="-122"/>
                <a:cs typeface="Times New Roman" panose="02020603050405020304" pitchFamily="18" charset="0"/>
              </a:rPr>
              <a:t>时则相位不变。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>
            <a:extLst>
              <a:ext uri="{FF2B5EF4-FFF2-40B4-BE49-F238E27FC236}">
                <a16:creationId xmlns:a16="http://schemas.microsoft.com/office/drawing/2014/main" id="{A8A8E4A9-0232-4DC7-AE34-CAADBCDBF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E9A2B0A-070A-410C-B140-8BD0FAE78D7E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31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AA5CB856-EF23-4D00-9E0C-E235A67DF3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A186D991-AB27-41FB-9CE2-263E29C365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PSK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调制电路 </a:t>
            </a:r>
          </a:p>
        </p:txBody>
      </p:sp>
      <p:graphicFrame>
        <p:nvGraphicFramePr>
          <p:cNvPr id="34822" name="Object 4">
            <a:extLst>
              <a:ext uri="{FF2B5EF4-FFF2-40B4-BE49-F238E27FC236}">
                <a16:creationId xmlns:a16="http://schemas.microsoft.com/office/drawing/2014/main" id="{0F5A6541-BA4D-4DF4-8F69-4A744FB051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2276475"/>
          <a:ext cx="6769100" cy="196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9" name="图片" r:id="rId3" imgW="4099395" imgH="1190025" progId="Word.Picture.8">
                  <p:embed/>
                </p:oleObj>
              </mc:Choice>
              <mc:Fallback>
                <p:oleObj name="图片" r:id="rId3" imgW="4099395" imgH="1190025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276475"/>
                        <a:ext cx="6769100" cy="196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3" name="Rectangle 6">
            <a:extLst>
              <a:ext uri="{FF2B5EF4-FFF2-40B4-BE49-F238E27FC236}">
                <a16:creationId xmlns:a16="http://schemas.microsoft.com/office/drawing/2014/main" id="{0F0D9F23-110E-477F-BD50-16705237C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4395788"/>
            <a:ext cx="2554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rPr>
              <a:t>选择相位法电路框图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5">
            <a:extLst>
              <a:ext uri="{FF2B5EF4-FFF2-40B4-BE49-F238E27FC236}">
                <a16:creationId xmlns:a16="http://schemas.microsoft.com/office/drawing/2014/main" id="{AB6D94F5-1A7C-4A6D-85DE-07821A642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C24A83B-8855-448D-A7CB-FB94EE19DA6A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32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B6726D75-7C24-4470-8091-AE02678567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93056691-37B4-4C06-A4B5-2C42A07C8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PSK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调制 </a:t>
            </a:r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846" name="Rectangle 6">
            <a:extLst>
              <a:ext uri="{FF2B5EF4-FFF2-40B4-BE49-F238E27FC236}">
                <a16:creationId xmlns:a16="http://schemas.microsoft.com/office/drawing/2014/main" id="{F6F745E5-53F4-4ACA-B00E-30A7EFD45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5189538"/>
            <a:ext cx="2879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zh-CN" sz="2000">
                <a:ea typeface="微软雅黑" panose="020B0503020204020204" pitchFamily="34" charset="-122"/>
                <a:cs typeface="Times New Roman" panose="02020603050405020304" pitchFamily="18" charset="0"/>
              </a:rPr>
              <a:t>绝对码与相对码转换</a:t>
            </a:r>
            <a:endParaRPr lang="zh-CN" altLang="en-US" sz="20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5848" name="Picture 4" descr="3t25">
            <a:extLst>
              <a:ext uri="{FF2B5EF4-FFF2-40B4-BE49-F238E27FC236}">
                <a16:creationId xmlns:a16="http://schemas.microsoft.com/office/drawing/2014/main" id="{3A426709-8D17-4454-8BCC-E32421A64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719388"/>
            <a:ext cx="6932612" cy="152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9" name="Rectangle 6">
            <a:extLst>
              <a:ext uri="{FF2B5EF4-FFF2-40B4-BE49-F238E27FC236}">
                <a16:creationId xmlns:a16="http://schemas.microsoft.com/office/drawing/2014/main" id="{D6FD04B7-B36C-4AB9-A797-76FE58D29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4679950"/>
            <a:ext cx="63373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9875"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1600">
                <a:ea typeface="微软雅黑" panose="020B0503020204020204" pitchFamily="34" charset="-122"/>
                <a:cs typeface="Times New Roman" panose="02020603050405020304" pitchFamily="18" charset="0"/>
              </a:rPr>
              <a:t> (a) </a:t>
            </a:r>
            <a:r>
              <a:rPr lang="zh-CN" altLang="en-US" sz="1600">
                <a:ea typeface="微软雅黑" panose="020B0503020204020204" pitchFamily="34" charset="-122"/>
                <a:cs typeface="Times New Roman" panose="02020603050405020304" pitchFamily="18" charset="0"/>
              </a:rPr>
              <a:t>绝对码转换为相对码                  </a:t>
            </a:r>
            <a:r>
              <a:rPr lang="en-US" altLang="zh-CN" sz="1600">
                <a:ea typeface="微软雅黑" panose="020B0503020204020204" pitchFamily="34" charset="-122"/>
                <a:cs typeface="Times New Roman" panose="02020603050405020304" pitchFamily="18" charset="0"/>
              </a:rPr>
              <a:t>(b) </a:t>
            </a:r>
            <a:r>
              <a:rPr lang="zh-CN" altLang="en-US" sz="1600">
                <a:ea typeface="微软雅黑" panose="020B0503020204020204" pitchFamily="34" charset="-122"/>
                <a:cs typeface="Times New Roman" panose="02020603050405020304" pitchFamily="18" charset="0"/>
              </a:rPr>
              <a:t>将相对码转换为绝对码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>
            <a:extLst>
              <a:ext uri="{FF2B5EF4-FFF2-40B4-BE49-F238E27FC236}">
                <a16:creationId xmlns:a16="http://schemas.microsoft.com/office/drawing/2014/main" id="{64FBDDC7-E1AA-489F-910D-271DD06C3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40588CE-595F-4BF4-BB19-72CC57B56643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33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642BD2E9-F8E0-4652-8434-0C6197C9EF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PSK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解调电路 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阅读器能正确将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PSK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调制信号变换为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NRZ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码的关键。</a:t>
            </a:r>
          </a:p>
        </p:txBody>
      </p:sp>
      <p:graphicFrame>
        <p:nvGraphicFramePr>
          <p:cNvPr id="31748" name="Object 4">
            <a:extLst>
              <a:ext uri="{FF2B5EF4-FFF2-40B4-BE49-F238E27FC236}">
                <a16:creationId xmlns:a16="http://schemas.microsoft.com/office/drawing/2014/main" id="{46393682-56C9-4B56-B145-612EA965C5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2284506"/>
              </p:ext>
            </p:extLst>
          </p:nvPr>
        </p:nvGraphicFramePr>
        <p:xfrm>
          <a:off x="919450" y="1371600"/>
          <a:ext cx="6946900" cy="5112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6" name="图片" r:id="rId3" imgW="5091091" imgH="3742497" progId="Word.Picture.8">
                  <p:embed/>
                </p:oleObj>
              </mc:Choice>
              <mc:Fallback>
                <p:oleObj name="图片" r:id="rId3" imgW="5091091" imgH="3742497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450" y="1371600"/>
                        <a:ext cx="6946900" cy="511202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FCC30C4F-FC49-4A00-994E-45BD5F3199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615950"/>
            <a:ext cx="6646863" cy="755650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5">
            <a:extLst>
              <a:ext uri="{FF2B5EF4-FFF2-40B4-BE49-F238E27FC236}">
                <a16:creationId xmlns:a16="http://schemas.microsoft.com/office/drawing/2014/main" id="{5A456E7D-35B6-40ED-960F-71D5EE5AD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DD08D9D-8403-47CD-8A76-0CF781ADD556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34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E7546455-1B51-499C-9012-98F048B841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50017B20-0296-45F2-8EF6-B219BE802A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6650" y="1295400"/>
            <a:ext cx="7183741" cy="51943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设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PSK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信号的数据速率为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c/2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为射频载波频率值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125 kHz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），则加至解调器的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PSK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信号是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125 kHz/2=62.5 kHz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的方波信号。该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PSK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信号进入解调器后分为两路：一路加至触发器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D3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的时钟输入端（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CLK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），触发器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D3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是位值判决电路；另一路用于形成相位差为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90°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的基准信号。触发器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D3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输入端加入的是由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125 kHz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载波基准形成的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62.5 kHz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基准方波信号，这样，若触发器的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D3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的时钟与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输入端两信号相位差为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90°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（或相位差不偏至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0°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180°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附近），则触发器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D3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端输出信号即为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NRZ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码，可供微控制器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MCU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读入。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>
            <a:extLst>
              <a:ext uri="{FF2B5EF4-FFF2-40B4-BE49-F238E27FC236}">
                <a16:creationId xmlns:a16="http://schemas.microsoft.com/office/drawing/2014/main" id="{F2DE7439-58DF-41F8-891A-8F2A00C5B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A3840CE-A855-416C-9B6C-9AC74804370D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35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865432FD-2401-4534-899E-8EA9C76566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38917" name="Object 4">
            <a:extLst>
              <a:ext uri="{FF2B5EF4-FFF2-40B4-BE49-F238E27FC236}">
                <a16:creationId xmlns:a16="http://schemas.microsoft.com/office/drawing/2014/main" id="{D2F022F7-92D6-4C81-8A7A-6E81AB2AAB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1341438"/>
          <a:ext cx="6192837" cy="538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4" name="图片" r:id="rId3" imgW="4433083" imgH="3771294" progId="Word.Picture.8">
                  <p:embed/>
                </p:oleObj>
              </mc:Choice>
              <mc:Fallback>
                <p:oleObj name="图片" r:id="rId3" imgW="4433083" imgH="3771294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037"/>
                      <a:stretch>
                        <a:fillRect/>
                      </a:stretch>
                    </p:blipFill>
                    <p:spPr bwMode="auto">
                      <a:xfrm>
                        <a:off x="1116013" y="1341438"/>
                        <a:ext cx="6192837" cy="538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8" name="Rectangle 6">
            <a:extLst>
              <a:ext uri="{FF2B5EF4-FFF2-40B4-BE49-F238E27FC236}">
                <a16:creationId xmlns:a16="http://schemas.microsoft.com/office/drawing/2014/main" id="{948B57CA-45F9-48AC-A6BE-F32BB80E5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288" y="2250549"/>
            <a:ext cx="504825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000"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sz="2000">
                <a:ea typeface="微软雅黑" panose="020B0503020204020204" pitchFamily="34" charset="-122"/>
                <a:cs typeface="Times New Roman" panose="02020603050405020304" pitchFamily="18" charset="0"/>
              </a:rPr>
              <a:t>SK</a:t>
            </a:r>
            <a:r>
              <a: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rPr>
              <a:t>解调电路的相关波形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5">
            <a:extLst>
              <a:ext uri="{FF2B5EF4-FFF2-40B4-BE49-F238E27FC236}">
                <a16:creationId xmlns:a16="http://schemas.microsoft.com/office/drawing/2014/main" id="{0E363CE8-0C34-4E24-8EE8-7116D441F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C611C76-54A3-4169-B38C-585C6A33A070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36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04630697-3980-427A-A3B8-359566D7FC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A9F98D17-E337-4D19-B80E-E71A92D19B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3.3.3  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副载波与副载波调制解调 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TYPE A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中的副载波调制 </a:t>
            </a:r>
          </a:p>
        </p:txBody>
      </p:sp>
      <p:graphicFrame>
        <p:nvGraphicFramePr>
          <p:cNvPr id="39942" name="Object 4">
            <a:extLst>
              <a:ext uri="{FF2B5EF4-FFF2-40B4-BE49-F238E27FC236}">
                <a16:creationId xmlns:a16="http://schemas.microsoft.com/office/drawing/2014/main" id="{0D45FA72-517D-4D4F-A116-3613972E2B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492375"/>
          <a:ext cx="648017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7" name="图片" r:id="rId3" imgW="3679942" imgH="313885" progId="Word.Picture.8">
                  <p:embed/>
                </p:oleObj>
              </mc:Choice>
              <mc:Fallback>
                <p:oleObj name="图片" r:id="rId3" imgW="3679942" imgH="313885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492375"/>
                        <a:ext cx="6480175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3" name="Rectangle 6">
            <a:extLst>
              <a:ext uri="{FF2B5EF4-FFF2-40B4-BE49-F238E27FC236}">
                <a16:creationId xmlns:a16="http://schemas.microsoft.com/office/drawing/2014/main" id="{AABD0DF7-3505-4CC6-A874-920669C6D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3098800"/>
            <a:ext cx="1792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rPr>
              <a:t>标准帧的结构 </a:t>
            </a:r>
          </a:p>
        </p:txBody>
      </p:sp>
      <p:graphicFrame>
        <p:nvGraphicFramePr>
          <p:cNvPr id="39945" name="Object 7">
            <a:extLst>
              <a:ext uri="{FF2B5EF4-FFF2-40B4-BE49-F238E27FC236}">
                <a16:creationId xmlns:a16="http://schemas.microsoft.com/office/drawing/2014/main" id="{1FFE2365-8DCF-49AD-B5F2-BF84407B45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3644900"/>
          <a:ext cx="6480175" cy="185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8" name="图片" r:id="rId5" imgW="4023000" imgH="1151870" progId="Word.Picture.8">
                  <p:embed/>
                </p:oleObj>
              </mc:Choice>
              <mc:Fallback>
                <p:oleObj name="图片" r:id="rId5" imgW="4023000" imgH="1151870" progId="Word.Picture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644900"/>
                        <a:ext cx="6480175" cy="185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6" name="Rectangle 9">
            <a:extLst>
              <a:ext uri="{FF2B5EF4-FFF2-40B4-BE49-F238E27FC236}">
                <a16:creationId xmlns:a16="http://schemas.microsoft.com/office/drawing/2014/main" id="{96592798-3D7F-493B-A586-94A7E1B76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3413" y="5373688"/>
            <a:ext cx="20462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rPr>
              <a:t>副载波调制波形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>
            <a:extLst>
              <a:ext uri="{FF2B5EF4-FFF2-40B4-BE49-F238E27FC236}">
                <a16:creationId xmlns:a16="http://schemas.microsoft.com/office/drawing/2014/main" id="{06038582-10A7-4F81-B257-75E5F0E8A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BED45F2-1CA1-43E1-B9E1-8C535A223453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37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3C914B16-434D-4912-9E90-8BF1448B5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37B1FA68-1D48-4C88-8CD7-7E120C785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副载波与副载波调制解调 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TYPE B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中的副载波调制 ：	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    位编码采用不归零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NRZ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编码，副载波调制采用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BPSK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方式，逻辑状态的转换用副载波相移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180°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来表示，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表示逻辑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＋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180°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表示逻辑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，副载波频率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=847 kHz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，数据传输速率为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106 kbps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5">
            <a:extLst>
              <a:ext uri="{FF2B5EF4-FFF2-40B4-BE49-F238E27FC236}">
                <a16:creationId xmlns:a16="http://schemas.microsoft.com/office/drawing/2014/main" id="{2C7BE58E-A4EA-42FC-ACB1-0EBC29E9B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FE043BB-04E7-465D-B206-8E340CF9D8AE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38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F32E2CCF-BF3A-415A-9095-100563E1A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50561A0D-35FA-4802-91D6-58B9A959CB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副载波与副载波调制解调 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TYPE B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中的副载波调制 ：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</a:p>
        </p:txBody>
      </p:sp>
      <p:graphicFrame>
        <p:nvGraphicFramePr>
          <p:cNvPr id="41992" name="Object 6">
            <a:extLst>
              <a:ext uri="{FF2B5EF4-FFF2-40B4-BE49-F238E27FC236}">
                <a16:creationId xmlns:a16="http://schemas.microsoft.com/office/drawing/2014/main" id="{D90AFA6A-B8C1-495C-A1D0-392D71FE79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2708275"/>
          <a:ext cx="6335712" cy="191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9" name="图片" r:id="rId3" imgW="3412919" imgH="1028404" progId="Word.Picture.8">
                  <p:embed/>
                </p:oleObj>
              </mc:Choice>
              <mc:Fallback>
                <p:oleObj name="图片" r:id="rId3" imgW="3412919" imgH="1028404" progId="Word.Picture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708275"/>
                        <a:ext cx="6335712" cy="191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3" name="Rectangle 8">
            <a:extLst>
              <a:ext uri="{FF2B5EF4-FFF2-40B4-BE49-F238E27FC236}">
                <a16:creationId xmlns:a16="http://schemas.microsoft.com/office/drawing/2014/main" id="{45D9A951-FF1C-4C68-91B4-C40DB375E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4754563"/>
            <a:ext cx="3570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rPr>
              <a:t>数位的副载波调制加负载调制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5">
            <a:extLst>
              <a:ext uri="{FF2B5EF4-FFF2-40B4-BE49-F238E27FC236}">
                <a16:creationId xmlns:a16="http://schemas.microsoft.com/office/drawing/2014/main" id="{D4CCC61F-3726-4AB4-ACA6-A980E5050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F0BE4BA-00A1-4F83-83F9-E1478F3CBA40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39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F4497729-9348-4956-BB8F-B76DC7E47E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751A80A5-4414-4893-8AAD-F5D088E342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1600200"/>
            <a:ext cx="6611938" cy="4493096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TYPE A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中的副载波解调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相干解调（同步解调 ）  </a:t>
            </a:r>
          </a:p>
          <a:p>
            <a:pPr eaLnBrk="1" hangingPunct="1"/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非相干解调 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   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ASK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调制时，其包络线与基带信号成正比，因此采用包络检波就可以复现基带信号，这种方法无须同频同相的副载波基准信号。</a:t>
            </a:r>
          </a:p>
        </p:txBody>
      </p:sp>
      <p:graphicFrame>
        <p:nvGraphicFramePr>
          <p:cNvPr id="43014" name="Object 4">
            <a:extLst>
              <a:ext uri="{FF2B5EF4-FFF2-40B4-BE49-F238E27FC236}">
                <a16:creationId xmlns:a16="http://schemas.microsoft.com/office/drawing/2014/main" id="{02DECE16-B542-4D80-A23A-82896EBA3F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2781300"/>
          <a:ext cx="6551612" cy="155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0" name="图片" r:id="rId3" imgW="3222292" imgH="761674" progId="Word.Picture.8">
                  <p:embed/>
                </p:oleObj>
              </mc:Choice>
              <mc:Fallback>
                <p:oleObj name="图片" r:id="rId3" imgW="3222292" imgH="761674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781300"/>
                        <a:ext cx="6551612" cy="155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5">
            <a:extLst>
              <a:ext uri="{FF2B5EF4-FFF2-40B4-BE49-F238E27FC236}">
                <a16:creationId xmlns:a16="http://schemas.microsoft.com/office/drawing/2014/main" id="{A2AA53C7-BAD1-410B-AE4F-C47CDA391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F1B677B-D20C-4D24-935A-5C62EADF16A1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40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84D523B3-3E7D-44A5-AFD3-0A66DA1C05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编码和调制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E7484D74-7A69-48F8-8557-4CDA48726B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TYPE A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中的副载波解调</a:t>
            </a:r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zh-CN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可重复触发单稳态触发器波形</a:t>
            </a:r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</a:p>
          <a:p>
            <a:pPr eaLnBrk="1" hangingPunct="1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</a:p>
        </p:txBody>
      </p:sp>
      <p:pic>
        <p:nvPicPr>
          <p:cNvPr id="44038" name="Picture 2" descr="3t32">
            <a:extLst>
              <a:ext uri="{FF2B5EF4-FFF2-40B4-BE49-F238E27FC236}">
                <a16:creationId xmlns:a16="http://schemas.microsoft.com/office/drawing/2014/main" id="{14CBD160-B299-4D07-B3BB-6DBFD135D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349500"/>
            <a:ext cx="6134100" cy="338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5">
            <a:extLst>
              <a:ext uri="{FF2B5EF4-FFF2-40B4-BE49-F238E27FC236}">
                <a16:creationId xmlns:a16="http://schemas.microsoft.com/office/drawing/2014/main" id="{4037CB98-0BC2-40A7-AB76-DF4082C62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CEB80D7-38C4-4A84-BD9C-C6079253AB19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41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1BC65412-7BD2-49F5-B628-214844A1AF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C65EE4FD-4723-4901-B005-EB0B6C846D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1600200"/>
            <a:ext cx="6611938" cy="4708525"/>
          </a:xfrm>
        </p:spPr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TYPE A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中的副载波解调</a:t>
            </a:r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           </a:t>
            </a:r>
            <a:r>
              <a:rPr lang="zh-CN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解调器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</a:p>
          <a:p>
            <a:pPr eaLnBrk="1" hangingPunct="1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</a:p>
        </p:txBody>
      </p:sp>
      <p:pic>
        <p:nvPicPr>
          <p:cNvPr id="45062" name="Picture 2" descr="3t33">
            <a:extLst>
              <a:ext uri="{FF2B5EF4-FFF2-40B4-BE49-F238E27FC236}">
                <a16:creationId xmlns:a16="http://schemas.microsoft.com/office/drawing/2014/main" id="{73484890-C5BE-47FF-ADB8-63EBC2A698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636838"/>
            <a:ext cx="7124700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5">
            <a:extLst>
              <a:ext uri="{FF2B5EF4-FFF2-40B4-BE49-F238E27FC236}">
                <a16:creationId xmlns:a16="http://schemas.microsoft.com/office/drawing/2014/main" id="{B6664E9C-3BE9-4133-95B3-BF9A9DCD0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6E52A6C-B1BF-4A94-A39B-C0FF221A80C8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42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064C2F22-B68E-4371-B9CB-F0EDBF84DC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1550" y="620713"/>
            <a:ext cx="6646863" cy="75565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FF712584-1683-43B0-B4A7-9D8D142D34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3.4 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正弦波调制</a:t>
            </a:r>
          </a:p>
          <a:p>
            <a:pPr eaLnBrk="1" hangingPunct="1"/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载波信号 </a:t>
            </a:r>
          </a:p>
          <a:p>
            <a:pPr eaLnBrk="1" hangingPunct="1"/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调制信号</a:t>
            </a:r>
          </a:p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</a:p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产生的调幅波</a:t>
            </a:r>
          </a:p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设上式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的相位角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φ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=0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086" name="Object 4">
                <a:extLst>
                  <a:ext uri="{FF2B5EF4-FFF2-40B4-BE49-F238E27FC236}">
                    <a16:creationId xmlns:a16="http://schemas.microsoft.com/office/drawing/2014/main" id="{1D9DF182-388E-4137-8B7F-06C7A17162AF}"/>
                  </a:ext>
                </a:extLst>
              </p:cNvPr>
              <p:cNvSpPr txBox="1"/>
              <p:nvPr/>
            </p:nvSpPr>
            <p:spPr bwMode="auto">
              <a:xfrm>
                <a:off x="2481279" y="1953105"/>
                <a:ext cx="5545138" cy="576262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6086" name="Object 4">
                <a:extLst>
                  <a:ext uri="{FF2B5EF4-FFF2-40B4-BE49-F238E27FC236}">
                    <a16:creationId xmlns:a16="http://schemas.microsoft.com/office/drawing/2014/main" id="{1D9DF182-388E-4137-8B7F-06C7A1716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1279" y="1953105"/>
                <a:ext cx="5545138" cy="5762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088" name="Object 6">
                <a:extLst>
                  <a:ext uri="{FF2B5EF4-FFF2-40B4-BE49-F238E27FC236}">
                    <a16:creationId xmlns:a16="http://schemas.microsoft.com/office/drawing/2014/main" id="{E57F565A-0202-4E6E-932F-FEC791698D71}"/>
                  </a:ext>
                </a:extLst>
              </p:cNvPr>
              <p:cNvSpPr txBox="1"/>
              <p:nvPr/>
            </p:nvSpPr>
            <p:spPr bwMode="auto">
              <a:xfrm>
                <a:off x="2612971" y="2628036"/>
                <a:ext cx="4103688" cy="588962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6088" name="Object 6">
                <a:extLst>
                  <a:ext uri="{FF2B5EF4-FFF2-40B4-BE49-F238E27FC236}">
                    <a16:creationId xmlns:a16="http://schemas.microsoft.com/office/drawing/2014/main" id="{E57F565A-0202-4E6E-932F-FEC791698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12971" y="2628036"/>
                <a:ext cx="4103688" cy="5889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090" name="Object 8">
                <a:extLst>
                  <a:ext uri="{FF2B5EF4-FFF2-40B4-BE49-F238E27FC236}">
                    <a16:creationId xmlns:a16="http://schemas.microsoft.com/office/drawing/2014/main" id="{000DEA11-7ACC-47B0-8F97-2C8822D30154}"/>
                  </a:ext>
                </a:extLst>
              </p:cNvPr>
              <p:cNvSpPr txBox="1"/>
              <p:nvPr/>
            </p:nvSpPr>
            <p:spPr bwMode="auto">
              <a:xfrm>
                <a:off x="3075781" y="3348109"/>
                <a:ext cx="2992438" cy="585788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AM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6090" name="Object 8">
                <a:extLst>
                  <a:ext uri="{FF2B5EF4-FFF2-40B4-BE49-F238E27FC236}">
                    <a16:creationId xmlns:a16="http://schemas.microsoft.com/office/drawing/2014/main" id="{000DEA11-7ACC-47B0-8F97-2C8822D30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75781" y="3348109"/>
                <a:ext cx="2992438" cy="5857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092" name="Object 10">
                <a:extLst>
                  <a:ext uri="{FF2B5EF4-FFF2-40B4-BE49-F238E27FC236}">
                    <a16:creationId xmlns:a16="http://schemas.microsoft.com/office/drawing/2014/main" id="{7B3CB36C-7F8F-44FE-A197-4B6904E32211}"/>
                  </a:ext>
                </a:extLst>
              </p:cNvPr>
              <p:cNvSpPr txBox="1"/>
              <p:nvPr/>
            </p:nvSpPr>
            <p:spPr bwMode="auto">
              <a:xfrm>
                <a:off x="3075781" y="4367248"/>
                <a:ext cx="4319588" cy="53340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AM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  <m:func>
                            <m:func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6092" name="Object 10">
                <a:extLst>
                  <a:ext uri="{FF2B5EF4-FFF2-40B4-BE49-F238E27FC236}">
                    <a16:creationId xmlns:a16="http://schemas.microsoft.com/office/drawing/2014/main" id="{7B3CB36C-7F8F-44FE-A197-4B6904E32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75781" y="4367248"/>
                <a:ext cx="4319588" cy="533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093" name="Rectangle 12">
            <a:extLst>
              <a:ext uri="{FF2B5EF4-FFF2-40B4-BE49-F238E27FC236}">
                <a16:creationId xmlns:a16="http://schemas.microsoft.com/office/drawing/2014/main" id="{FC253B8D-E78C-4591-8FBD-3C86C1E9F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569" y="5057745"/>
            <a:ext cx="12747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000" dirty="0">
                <a:ea typeface="微软雅黑" panose="020B0503020204020204" pitchFamily="34" charset="-122"/>
                <a:cs typeface="Times New Roman" panose="02020603050405020304" pitchFamily="18" charset="0"/>
              </a:rPr>
              <a:t>积化和差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095" name="Object 13">
                <a:extLst>
                  <a:ext uri="{FF2B5EF4-FFF2-40B4-BE49-F238E27FC236}">
                    <a16:creationId xmlns:a16="http://schemas.microsoft.com/office/drawing/2014/main" id="{69CB5634-EE55-498E-8E45-1C54BF6C5A17}"/>
                  </a:ext>
                </a:extLst>
              </p:cNvPr>
              <p:cNvSpPr txBox="1"/>
              <p:nvPr/>
            </p:nvSpPr>
            <p:spPr bwMode="auto">
              <a:xfrm>
                <a:off x="1907704" y="5518599"/>
                <a:ext cx="6048375" cy="468313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AM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</m:d>
                            </m:e>
                          </m:func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</m:d>
                            </m:e>
                          </m:func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6095" name="Object 13">
                <a:extLst>
                  <a:ext uri="{FF2B5EF4-FFF2-40B4-BE49-F238E27FC236}">
                    <a16:creationId xmlns:a16="http://schemas.microsoft.com/office/drawing/2014/main" id="{69CB5634-EE55-498E-8E45-1C54BF6C5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7704" y="5518599"/>
                <a:ext cx="6048375" cy="4683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5">
            <a:extLst>
              <a:ext uri="{FF2B5EF4-FFF2-40B4-BE49-F238E27FC236}">
                <a16:creationId xmlns:a16="http://schemas.microsoft.com/office/drawing/2014/main" id="{ECB99989-79EB-4E0A-BEC5-999E16F8D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ABB9548-FE89-4D71-B1F4-AAEBFF492F7E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43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B1EFADE-1267-4EFD-B311-7EA42F2CEF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2712CFB9-F51C-4D61-A4A0-72EE33DA3A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振幅调制模型</a:t>
            </a:r>
          </a:p>
          <a:p>
            <a:pPr eaLnBrk="1" hangingPunct="1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调幅波的频域  </a:t>
            </a:r>
          </a:p>
        </p:txBody>
      </p:sp>
      <p:graphicFrame>
        <p:nvGraphicFramePr>
          <p:cNvPr id="47110" name="Object 4">
            <a:extLst>
              <a:ext uri="{FF2B5EF4-FFF2-40B4-BE49-F238E27FC236}">
                <a16:creationId xmlns:a16="http://schemas.microsoft.com/office/drawing/2014/main" id="{842BBC5D-D522-4AC2-B67A-4B0BCFEE52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2060575"/>
          <a:ext cx="5832475" cy="180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43" name="图片" r:id="rId3" imgW="2688246" imgH="961451" progId="Word.Picture.8">
                  <p:embed/>
                </p:oleObj>
              </mc:Choice>
              <mc:Fallback>
                <p:oleObj name="图片" r:id="rId3" imgW="2688246" imgH="961451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259" b="13655"/>
                      <a:stretch>
                        <a:fillRect/>
                      </a:stretch>
                    </p:blipFill>
                    <p:spPr bwMode="auto">
                      <a:xfrm>
                        <a:off x="1403350" y="2060575"/>
                        <a:ext cx="5832475" cy="180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2" name="Object 6">
            <a:extLst>
              <a:ext uri="{FF2B5EF4-FFF2-40B4-BE49-F238E27FC236}">
                <a16:creationId xmlns:a16="http://schemas.microsoft.com/office/drawing/2014/main" id="{F340DB14-7372-488D-99BB-BEB82140BC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4005263"/>
          <a:ext cx="5051425" cy="281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44" name="图片" r:id="rId5" imgW="2821937" imgH="1571222" progId="Word.Picture.8">
                  <p:embed/>
                </p:oleObj>
              </mc:Choice>
              <mc:Fallback>
                <p:oleObj name="图片" r:id="rId5" imgW="2821937" imgH="1571222" progId="Word.Picture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005263"/>
                        <a:ext cx="5051425" cy="281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5">
            <a:extLst>
              <a:ext uri="{FF2B5EF4-FFF2-40B4-BE49-F238E27FC236}">
                <a16:creationId xmlns:a16="http://schemas.microsoft.com/office/drawing/2014/main" id="{43A5880F-44B7-412F-BDE3-D26479CBC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967ECF3-5B2E-4ED8-8276-AB25A7C73F0E}" type="slidenum">
              <a:rPr lang="en-US" altLang="ko-KR" sz="1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0"/>
                </a:spcBef>
              </a:pPr>
              <a:t>44</a:t>
            </a:fld>
            <a:endParaRPr lang="en-US" altLang="ko-KR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B458C8B3-314B-47D8-AB42-026A6F2DBD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36496696-E429-4617-A41F-4C8990A919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调幅波的时域波形  </a:t>
            </a:r>
          </a:p>
        </p:txBody>
      </p:sp>
      <p:pic>
        <p:nvPicPr>
          <p:cNvPr id="48135" name="Picture 3" descr="3t36">
            <a:extLst>
              <a:ext uri="{FF2B5EF4-FFF2-40B4-BE49-F238E27FC236}">
                <a16:creationId xmlns:a16="http://schemas.microsoft.com/office/drawing/2014/main" id="{9FFEA8D6-422D-4F51-B67D-27EA5B824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973263"/>
            <a:ext cx="6192837" cy="390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5">
            <a:extLst>
              <a:ext uri="{FF2B5EF4-FFF2-40B4-BE49-F238E27FC236}">
                <a16:creationId xmlns:a16="http://schemas.microsoft.com/office/drawing/2014/main" id="{74364217-C18E-4EE4-85DC-52EFA3E80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1DD1C23-69B7-482F-AA76-D0562AE5E2AF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45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BAF94E7A-B30C-4923-AD00-6288B31910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80253879-028A-45B5-AB15-741CB7542B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脉冲调幅波 </a:t>
            </a:r>
          </a:p>
        </p:txBody>
      </p:sp>
      <p:graphicFrame>
        <p:nvGraphicFramePr>
          <p:cNvPr id="49158" name="Object 4">
            <a:extLst>
              <a:ext uri="{FF2B5EF4-FFF2-40B4-BE49-F238E27FC236}">
                <a16:creationId xmlns:a16="http://schemas.microsoft.com/office/drawing/2014/main" id="{38700700-081C-4216-9AB0-56CEC35A0A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1989138"/>
          <a:ext cx="6911975" cy="463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4" name="图片" r:id="rId3" imgW="4595243" imgH="3075852" progId="Word.Picture.8">
                  <p:embed/>
                </p:oleObj>
              </mc:Choice>
              <mc:Fallback>
                <p:oleObj name="图片" r:id="rId3" imgW="4595243" imgH="3075852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989138"/>
                        <a:ext cx="6911975" cy="463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5">
            <a:extLst>
              <a:ext uri="{FF2B5EF4-FFF2-40B4-BE49-F238E27FC236}">
                <a16:creationId xmlns:a16="http://schemas.microsoft.com/office/drawing/2014/main" id="{8DCBA8C8-E447-46F8-82EB-68120CBBB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51AD150-9240-42B1-B3A5-51CD6BEA5E7F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46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2B476079-33EF-4CA1-A350-8FB9DF331E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B5203821-E95D-4E6B-9552-C15F0891FC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数字调制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ASK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方式的实现 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国际标准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ISO 14443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的负载调制测试用的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PICC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电路 </a:t>
            </a:r>
          </a:p>
        </p:txBody>
      </p:sp>
      <p:graphicFrame>
        <p:nvGraphicFramePr>
          <p:cNvPr id="50182" name="Object 4">
            <a:extLst>
              <a:ext uri="{FF2B5EF4-FFF2-40B4-BE49-F238E27FC236}">
                <a16:creationId xmlns:a16="http://schemas.microsoft.com/office/drawing/2014/main" id="{82C33809-59C0-4FE8-926C-0D5EF4B3DB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2565400"/>
          <a:ext cx="7200900" cy="380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8" name="图片" r:id="rId3" imgW="4004261" imgH="2114041" progId="Word.Picture.8">
                  <p:embed/>
                </p:oleObj>
              </mc:Choice>
              <mc:Fallback>
                <p:oleObj name="图片" r:id="rId3" imgW="4004261" imgH="2114041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565400"/>
                        <a:ext cx="7200900" cy="380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5">
            <a:extLst>
              <a:ext uri="{FF2B5EF4-FFF2-40B4-BE49-F238E27FC236}">
                <a16:creationId xmlns:a16="http://schemas.microsoft.com/office/drawing/2014/main" id="{7C94F84A-135B-4E45-A7B3-32696FBA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A7DB50E-69CE-46ED-A814-F3FB68295784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47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3101E666-8664-4245-A999-83A291A4F8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913B9077-8FAB-4E8A-AA3A-84CA1A7D97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数字调制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ASK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方式的实现 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NRZ</a:t>
            </a:r>
            <a:r>
              <a:rPr lang="zh-CN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码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10%ASK</a:t>
            </a:r>
            <a:r>
              <a:rPr lang="zh-CN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调制的实现</a:t>
            </a:r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1206" name="Picture 2" descr="3t40">
            <a:extLst>
              <a:ext uri="{FF2B5EF4-FFF2-40B4-BE49-F238E27FC236}">
                <a16:creationId xmlns:a16="http://schemas.microsoft.com/office/drawing/2014/main" id="{CE31A115-77EE-4E9F-92E1-E43BAF731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2133600"/>
            <a:ext cx="4105275" cy="246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5">
            <a:extLst>
              <a:ext uri="{FF2B5EF4-FFF2-40B4-BE49-F238E27FC236}">
                <a16:creationId xmlns:a16="http://schemas.microsoft.com/office/drawing/2014/main" id="{E0462C80-0834-48F9-A860-25963886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A2B0D2D-D5C9-45BF-9AEC-7D99D093EDCC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48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DCDBDEE9-5C37-4BAB-BAAB-50ABAC1540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416CCE56-F941-4E23-99FD-AA3797FC53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5188" y="1600200"/>
            <a:ext cx="7091362" cy="42672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数字调制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ASK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方式的实现 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TYPE B</a:t>
            </a:r>
            <a:r>
              <a:rPr lang="zh-CN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的调制波形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</a:t>
            </a:r>
            <a:r>
              <a:rPr lang="zh-CN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修正密勒码调制的波形</a:t>
            </a:r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2230" name="Picture 2" descr="3t39">
            <a:extLst>
              <a:ext uri="{FF2B5EF4-FFF2-40B4-BE49-F238E27FC236}">
                <a16:creationId xmlns:a16="http://schemas.microsoft.com/office/drawing/2014/main" id="{36F82931-236D-432A-8790-59DAEBC56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708275"/>
            <a:ext cx="2981325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31" name="Picture 3" descr="3t41">
            <a:extLst>
              <a:ext uri="{FF2B5EF4-FFF2-40B4-BE49-F238E27FC236}">
                <a16:creationId xmlns:a16="http://schemas.microsoft.com/office/drawing/2014/main" id="{D54423A8-DE00-4D98-9EED-DA32741EF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350" y="2871788"/>
            <a:ext cx="3409950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5">
            <a:extLst>
              <a:ext uri="{FF2B5EF4-FFF2-40B4-BE49-F238E27FC236}">
                <a16:creationId xmlns:a16="http://schemas.microsoft.com/office/drawing/2014/main" id="{25210335-97E0-4AA1-8F00-CA3A690DA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ADC16B3-E367-412B-BAD0-8B7B0C9FE36C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49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9C61DBB7-FB68-4A14-A881-6547DDAB70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08EB33AE-7BBF-46FA-8D72-B66F8618C3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5188" y="1600200"/>
            <a:ext cx="7091362" cy="42672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数字调制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ASK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方式的解调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     </a:t>
            </a:r>
            <a:r>
              <a:rPr lang="zh-CN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包络检波器</a:t>
            </a:r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3254" name="Picture 2" descr="3T42">
            <a:extLst>
              <a:ext uri="{FF2B5EF4-FFF2-40B4-BE49-F238E27FC236}">
                <a16:creationId xmlns:a16="http://schemas.microsoft.com/office/drawing/2014/main" id="{164A6DCC-4EC1-468F-B21E-06EE99F56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75" y="2371725"/>
            <a:ext cx="7254875" cy="199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5">
            <a:extLst>
              <a:ext uri="{FF2B5EF4-FFF2-40B4-BE49-F238E27FC236}">
                <a16:creationId xmlns:a16="http://schemas.microsoft.com/office/drawing/2014/main" id="{66006595-0A2B-4CCD-8ED3-0031371D9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273C5B9-0D38-4618-A06D-0F05C3D12D05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50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667B5703-FFFD-4611-823E-846730B151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4ED74E95-272F-4373-BB7A-35B951FBC7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5188" y="1600200"/>
            <a:ext cx="7091362" cy="42672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数字调制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ASK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方式的解调 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</a:t>
            </a:r>
            <a:r>
              <a:rPr lang="zh-CN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三极管射极检波电路</a:t>
            </a:r>
          </a:p>
          <a:p>
            <a:pPr eaLnBrk="1" hangingPunct="1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4278" name="Picture 2" descr="3t43">
            <a:extLst>
              <a:ext uri="{FF2B5EF4-FFF2-40B4-BE49-F238E27FC236}">
                <a16:creationId xmlns:a16="http://schemas.microsoft.com/office/drawing/2014/main" id="{EB2C7A2D-961E-4A23-9315-436FF5A1D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2371725"/>
            <a:ext cx="3455987" cy="261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5">
            <a:extLst>
              <a:ext uri="{FF2B5EF4-FFF2-40B4-BE49-F238E27FC236}">
                <a16:creationId xmlns:a16="http://schemas.microsoft.com/office/drawing/2014/main" id="{8FDFC385-996C-406A-BD09-2A30F51A1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47E59D1-5649-45F3-AA26-378E28248886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51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335D2BAB-CB0A-4D0A-AB49-4813AAA5EB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92C50D3A-5C07-4091-B521-53B5852228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数字调制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ASK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方式的实现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国际标准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ISO 14443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的负载调制测试用的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PICC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电路</a:t>
            </a:r>
          </a:p>
          <a:p>
            <a:pPr eaLnBrk="1" hangingPunct="1"/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    应答器谐振回路由线圈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和电容器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CV1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组成，其谐振电压经桥式整流器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VD1~VD4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整流，并用齐纳二极管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VD5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稳压在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 V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左右。副载波信号（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874 kHz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）可通过跳线选择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mod1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mod1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进行负载调制。由曼彻斯特码或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NRZ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码进行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ASK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BPSK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副载波调制。  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5">
            <a:extLst>
              <a:ext uri="{FF2B5EF4-FFF2-40B4-BE49-F238E27FC236}">
                <a16:creationId xmlns:a16="http://schemas.microsoft.com/office/drawing/2014/main" id="{4C2C4FBD-79AF-45C7-A090-C5644ECB4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FDCD4AF-3554-4A61-B822-FDDAE2B202BA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52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1B311ACE-F8CE-41BF-9E14-C9C3AEE589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520A88F1-DD62-446E-892E-D49DE7E189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数字调频和调相 </a:t>
            </a:r>
          </a:p>
        </p:txBody>
      </p:sp>
      <p:graphicFrame>
        <p:nvGraphicFramePr>
          <p:cNvPr id="56326" name="Object 4">
            <a:extLst>
              <a:ext uri="{FF2B5EF4-FFF2-40B4-BE49-F238E27FC236}">
                <a16:creationId xmlns:a16="http://schemas.microsoft.com/office/drawing/2014/main" id="{C07C10B1-97EF-413A-AEBD-5211DD543B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1989138"/>
          <a:ext cx="7416800" cy="3754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2" name="图片" r:id="rId3" imgW="3842102" imgH="1942700" progId="Word.Picture.8">
                  <p:embed/>
                </p:oleObj>
              </mc:Choice>
              <mc:Fallback>
                <p:oleObj name="图片" r:id="rId3" imgW="3842102" imgH="1942700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989138"/>
                        <a:ext cx="7416800" cy="3754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5">
            <a:extLst>
              <a:ext uri="{FF2B5EF4-FFF2-40B4-BE49-F238E27FC236}">
                <a16:creationId xmlns:a16="http://schemas.microsoft.com/office/drawing/2014/main" id="{43BB2E8C-4D1F-4B54-8300-35CAA7CC3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45CB1DE-9D3F-47B9-ACA2-31A4ECB38649}" type="slidenum">
              <a:rPr lang="en-US" altLang="ko-KR" sz="1400" smtClean="0"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spcBef>
                  <a:spcPct val="0"/>
                </a:spcBef>
              </a:pPr>
              <a:t>53</a:t>
            </a:fld>
            <a:endParaRPr lang="en-US" altLang="ko-KR" sz="140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4800ACB8-7311-478F-B6F8-7F77499417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 编码和调制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8887F842-A8C3-4118-9F24-5D70D0CD70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数字调频和调相</a:t>
            </a:r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zh-CN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相位抖动调制</a:t>
            </a:r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7350" name="Picture 2" descr="3t45">
            <a:extLst>
              <a:ext uri="{FF2B5EF4-FFF2-40B4-BE49-F238E27FC236}">
                <a16:creationId xmlns:a16="http://schemas.microsoft.com/office/drawing/2014/main" id="{CF0DFF5A-FB40-4DB3-850C-7956C7BF0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2457450"/>
            <a:ext cx="4248150" cy="304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097">
  <a:themeElements>
    <a:clrScheme name="B097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97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793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34" charset="-127"/>
            <a:ea typeface="굴림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793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34" charset="-127"/>
            <a:ea typeface="굴림" pitchFamily="34" charset="-127"/>
          </a:defRPr>
        </a:defPPr>
      </a:lstStyle>
    </a:lnDef>
  </a:objectDefaults>
  <a:extraClrSchemeLst>
    <a:extraClrScheme>
      <a:clrScheme name="B097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97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97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97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C:\coolpt\TempSlide\B097.POT</Template>
  <TotalTime>1832</TotalTime>
  <Words>1986</Words>
  <Application>Microsoft Office PowerPoint</Application>
  <PresentationFormat>全屏显示(4:3)</PresentationFormat>
  <Paragraphs>346</Paragraphs>
  <Slides>53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53</vt:i4>
      </vt:variant>
    </vt:vector>
  </HeadingPairs>
  <TitlesOfParts>
    <vt:vector size="62" baseType="lpstr">
      <vt:lpstr>Times New Roman</vt:lpstr>
      <vt:lpstr>微软雅黑</vt:lpstr>
      <vt:lpstr>-윤체M</vt:lpstr>
      <vt:lpstr>굴림</vt:lpstr>
      <vt:lpstr>宋体</vt:lpstr>
      <vt:lpstr>Cambria Math</vt:lpstr>
      <vt:lpstr>B097</vt:lpstr>
      <vt:lpstr>图片</vt:lpstr>
      <vt:lpstr>文档</vt:lpstr>
      <vt:lpstr>《RFID原理与应用》</vt:lpstr>
      <vt:lpstr>第3章   编码和调制 </vt:lpstr>
      <vt:lpstr>第3章   编码和调制 </vt:lpstr>
      <vt:lpstr>第3章  编码和调制 </vt:lpstr>
      <vt:lpstr>第3章   编码和调制 </vt:lpstr>
      <vt:lpstr>第3章   编码和调制 </vt:lpstr>
      <vt:lpstr>第3章   编码和调制 </vt:lpstr>
      <vt:lpstr>第3章   编码和调制 </vt:lpstr>
      <vt:lpstr>第3章   编码和调制 </vt:lpstr>
      <vt:lpstr>第3章   编码和调制 </vt:lpstr>
      <vt:lpstr>第3章   编码和调制 </vt:lpstr>
      <vt:lpstr>第3章   编码和调制 </vt:lpstr>
      <vt:lpstr>第3章   编码和调制 </vt:lpstr>
      <vt:lpstr>第3章   编码和调制 </vt:lpstr>
      <vt:lpstr>第3章   编码和调制 </vt:lpstr>
      <vt:lpstr>第3章    编码和调制 </vt:lpstr>
      <vt:lpstr>第3 章  编码和调制 </vt:lpstr>
      <vt:lpstr>第3章   编码和调制 </vt:lpstr>
      <vt:lpstr>第3章   编码和调制 </vt:lpstr>
      <vt:lpstr>第3章   编码和调制 </vt:lpstr>
      <vt:lpstr>第3章   编码和调制 </vt:lpstr>
      <vt:lpstr>第3章   编码和调制 </vt:lpstr>
      <vt:lpstr>第3章   编码和调制 </vt:lpstr>
      <vt:lpstr>第3章   编码和调制 </vt:lpstr>
      <vt:lpstr>第3章   编码和调制 </vt:lpstr>
      <vt:lpstr>第3章    编码和调制 </vt:lpstr>
      <vt:lpstr>第3章   编码和调制 </vt:lpstr>
      <vt:lpstr>第3章   编码和调制 </vt:lpstr>
      <vt:lpstr>第3章   编码和调制 </vt:lpstr>
      <vt:lpstr>第3章   编码和调制 </vt:lpstr>
      <vt:lpstr>第3章   编码和调制 </vt:lpstr>
      <vt:lpstr>第3章   编码和调制 </vt:lpstr>
      <vt:lpstr>第3章   编码和调制 </vt:lpstr>
      <vt:lpstr>第3章   编码和调制 </vt:lpstr>
      <vt:lpstr>第3章   编码和调制 </vt:lpstr>
      <vt:lpstr>第3章   编码和调制 </vt:lpstr>
      <vt:lpstr>第3章   编码和调制 </vt:lpstr>
      <vt:lpstr>第3章   编码和调制 </vt:lpstr>
      <vt:lpstr>第3章   编码和调制 </vt:lpstr>
      <vt:lpstr>第3章  编码和调制 </vt:lpstr>
      <vt:lpstr>第3章   编码和调制 </vt:lpstr>
      <vt:lpstr>第3章   编码和调制 </vt:lpstr>
      <vt:lpstr>第3章   编码和调制 </vt:lpstr>
      <vt:lpstr>第3章   编码和调制 </vt:lpstr>
      <vt:lpstr>第3章   编码和调制 </vt:lpstr>
      <vt:lpstr>第3章   编码和调制 </vt:lpstr>
      <vt:lpstr>第3章   编码和调制 </vt:lpstr>
      <vt:lpstr>第3章   编码和调制 </vt:lpstr>
      <vt:lpstr>第3章   编码和调制 </vt:lpstr>
      <vt:lpstr>第3章   编码和调制 </vt:lpstr>
      <vt:lpstr>第3章   编码和调制 </vt:lpstr>
      <vt:lpstr>第3章   编码和调制 </vt:lpstr>
      <vt:lpstr>第3章   编码和调制 </vt:lpstr>
    </vt:vector>
  </TitlesOfParts>
  <Company>(주)윤디자인연구소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art5</dc:creator>
  <cp:lastModifiedBy>Administrator</cp:lastModifiedBy>
  <cp:revision>71</cp:revision>
  <dcterms:created xsi:type="dcterms:W3CDTF">2001-07-24T02:41:22Z</dcterms:created>
  <dcterms:modified xsi:type="dcterms:W3CDTF">2021-04-08T14:45:27Z</dcterms:modified>
</cp:coreProperties>
</file>