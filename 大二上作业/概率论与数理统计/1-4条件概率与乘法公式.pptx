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35" r:id="rId2"/>
    <p:sldId id="260" r:id="rId3"/>
    <p:sldId id="336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317" r:id="rId13"/>
    <p:sldId id="318" r:id="rId14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40" y="102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4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2024/11/28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B87DAF9-A30E-46CE-BF0B-C1B2290A8B49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2024/11/28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3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1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8.emf"/><Relationship Id="rId17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7.e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0.e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e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5.e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1793125" y="1965993"/>
            <a:ext cx="7416800" cy="1230313"/>
          </a:xfrm>
          <a:prstGeom prst="roundRect">
            <a:avLst/>
          </a:prstGeom>
          <a:solidFill>
            <a:schemeClr val="bg1"/>
          </a:solidFill>
          <a:ln>
            <a:solidFill>
              <a:srgbClr val="0099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441296" y="1256905"/>
            <a:ext cx="399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C00000"/>
                </a:solidFill>
                <a:latin typeface="宋体" panose="02010600030101010101" pitchFamily="2" charset="-122"/>
              </a:rPr>
              <a:t>应用举例：男孩女孩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005850" y="1809979"/>
            <a:ext cx="6991350" cy="120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设某家庭有两个小孩，并且已知至少有一个男孩，问另外一个为女孩的概率为多少？</a:t>
            </a: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431402" y="3377901"/>
            <a:ext cx="1125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分析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776582" y="3306565"/>
            <a:ext cx="54498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一般而言，有两个小孩时共有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种情况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2505819" y="3838276"/>
            <a:ext cx="6434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（男，男）（男，女）（女，男）（女，女）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2089150" y="4251428"/>
            <a:ext cx="7607300" cy="120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由题意可知，不可能出现（女，女），故知可能为（男，男）（男，女）（女，男）</a:t>
            </a: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2525873" y="5528863"/>
            <a:ext cx="56530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</a:rPr>
              <a:t>因此另外一个为女孩的概率为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2/3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1793970" y="597696"/>
          <a:ext cx="799147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Document" r:id="rId3" imgW="5054600" imgH="647700" progId="Word.Document.8">
                  <p:embed/>
                </p:oleObj>
              </mc:Choice>
              <mc:Fallback>
                <p:oleObj name="Document" r:id="rId3" imgW="5054600" imgH="6477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970" y="597696"/>
                        <a:ext cx="799147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1302405" y="1000772"/>
          <a:ext cx="81438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Document" r:id="rId3" imgW="5575300" imgH="584200" progId="Word.Document.8">
                  <p:embed/>
                </p:oleObj>
              </mc:Choice>
              <mc:Fallback>
                <p:oleObj name="Document" r:id="rId3" imgW="5575300" imgH="584200" progId="Word.Document.8">
                  <p:embed/>
                  <p:pic>
                    <p:nvPicPr>
                      <p:cNvPr id="0" name="图片 1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405" y="1000772"/>
                        <a:ext cx="81438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45587" y="2808038"/>
          <a:ext cx="8627046" cy="1161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Document" r:id="rId5" imgW="3843655" imgH="518160" progId="Word.Document.8">
                  <p:embed/>
                </p:oleObj>
              </mc:Choice>
              <mc:Fallback>
                <p:oleObj name="Document" r:id="rId5" imgW="3843655" imgH="518160" progId="Word.Document.8">
                  <p:embed/>
                  <p:pic>
                    <p:nvPicPr>
                      <p:cNvPr id="0" name="图片 1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587" y="2808038"/>
                        <a:ext cx="8627046" cy="1161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595313" y="1790700"/>
          <a:ext cx="11006137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" name="Document" r:id="rId7" imgW="4883785" imgH="599440" progId="Word.Document.8">
                  <p:embed/>
                </p:oleObj>
              </mc:Choice>
              <mc:Fallback>
                <p:oleObj name="Document" r:id="rId7" imgW="4883785" imgH="599440" progId="Word.Document.8">
                  <p:embed/>
                  <p:pic>
                    <p:nvPicPr>
                      <p:cNvPr id="0" name="图片 1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1790700"/>
                        <a:ext cx="11006137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245586" y="3310183"/>
          <a:ext cx="8539859" cy="130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Document" r:id="rId9" imgW="3865245" imgH="599440" progId="Word.Document.8">
                  <p:embed/>
                </p:oleObj>
              </mc:Choice>
              <mc:Fallback>
                <p:oleObj name="Document" r:id="rId9" imgW="3865245" imgH="599440" progId="Word.Document.8">
                  <p:embed/>
                  <p:pic>
                    <p:nvPicPr>
                      <p:cNvPr id="0" name="图片 1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586" y="3310183"/>
                        <a:ext cx="8539859" cy="130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245586" y="4373094"/>
          <a:ext cx="8539859" cy="804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" name="Document" r:id="rId11" imgW="3850005" imgH="367030" progId="Word.Document.8">
                  <p:embed/>
                </p:oleObj>
              </mc:Choice>
              <mc:Fallback>
                <p:oleObj name="Document" r:id="rId11" imgW="3850005" imgH="367030" progId="Word.Document.8">
                  <p:embed/>
                  <p:pic>
                    <p:nvPicPr>
                      <p:cNvPr id="0" name="图片 1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586" y="4373094"/>
                        <a:ext cx="8539859" cy="804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595313" y="5022443"/>
          <a:ext cx="102123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" name="Document" r:id="rId13" imgW="4740275" imgH="302895" progId="Word.Document.8">
                  <p:embed/>
                </p:oleObj>
              </mc:Choice>
              <mc:Fallback>
                <p:oleObj name="Document" r:id="rId13" imgW="4740275" imgH="302895" progId="Word.Document.8">
                  <p:embed/>
                  <p:pic>
                    <p:nvPicPr>
                      <p:cNvPr id="0" name="图片 1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5022443"/>
                        <a:ext cx="102123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171016" y="5582531"/>
            <a:ext cx="46157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800" b="1" kern="1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800" b="1" kern="100" dirty="0">
                <a:latin typeface="宋体" panose="02010600030101010101" pitchFamily="2" charset="-122"/>
                <a:ea typeface="宋体" panose="02010600030101010101" pitchFamily="2" charset="-122"/>
              </a:rPr>
              <a:t>参见第三章条件密度</a:t>
            </a:r>
            <a:r>
              <a:rPr lang="zh-CN" altLang="en-US" sz="2800" b="1" kern="1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zh-CN" sz="2800" b="1" kern="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83274" y="4380607"/>
            <a:ext cx="2491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（缩减样本空间）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1761034" y="774100"/>
            <a:ext cx="554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482851" y="774100"/>
            <a:ext cx="6607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表示有一个男孩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表示另一个为女孩，则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489200" y="3457576"/>
            <a:ext cx="730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有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2489201" y="4376739"/>
            <a:ext cx="6016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故</a:t>
            </a:r>
          </a:p>
        </p:txBody>
      </p:sp>
      <p:graphicFrame>
        <p:nvGraphicFramePr>
          <p:cNvPr id="9" name="对象 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394075" y="3357563"/>
          <a:ext cx="207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r:id="rId3" imgW="2070100" imgH="723900" progId="Equation.KSEE3">
                  <p:embed/>
                </p:oleObj>
              </mc:Choice>
              <mc:Fallback>
                <p:oleObj r:id="rId3" imgW="2070100" imgH="723900" progId="Equation.KSEE3">
                  <p:embed/>
                  <p:pic>
                    <p:nvPicPr>
                      <p:cNvPr id="0" name="对象 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3357563"/>
                        <a:ext cx="2070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859463" y="3357563"/>
          <a:ext cx="21193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r:id="rId5" imgW="2120900" imgH="723900" progId="Equation.KSEE3">
                  <p:embed/>
                </p:oleObj>
              </mc:Choice>
              <mc:Fallback>
                <p:oleObj r:id="rId5" imgW="2120900" imgH="723900" progId="Equation.KSEE3">
                  <p:embed/>
                  <p:pic>
                    <p:nvPicPr>
                      <p:cNvPr id="0" name="对象 9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463" y="3357563"/>
                        <a:ext cx="21193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279775" y="4244975"/>
          <a:ext cx="358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r:id="rId7" imgW="3581400" imgH="787400" progId="Equation.KSEE3">
                  <p:embed/>
                </p:oleObj>
              </mc:Choice>
              <mc:Fallback>
                <p:oleObj r:id="rId7" imgW="3581400" imgH="787400" progId="Equation.KSEE3">
                  <p:embed/>
                  <p:pic>
                    <p:nvPicPr>
                      <p:cNvPr id="0" name="对象 1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5" y="4244975"/>
                        <a:ext cx="3581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 bwMode="auto">
          <a:xfrm>
            <a:off x="2909525" y="1441572"/>
            <a:ext cx="6626225" cy="522288"/>
            <a:chOff x="2740" y="1695"/>
            <a:chExt cx="10436" cy="823"/>
          </a:xfrm>
        </p:grpSpPr>
        <p:graphicFrame>
          <p:nvGraphicFramePr>
            <p:cNvPr id="55305" name="对象 11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2740" y="1877"/>
            <a:ext cx="920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5" r:id="rId9" imgW="584200" imgH="292100" progId="Equation.KSEE3">
                    <p:embed/>
                  </p:oleObj>
                </mc:Choice>
                <mc:Fallback>
                  <p:oleObj r:id="rId9" imgW="584200" imgH="292100" progId="Equation.KSEE3">
                    <p:embed/>
                    <p:pic>
                      <p:nvPicPr>
                        <p:cNvPr id="0" name="对象 11">
                          <a:hlinkClick r:id="" action="ppaction://ole?verb=1"/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1877"/>
                          <a:ext cx="920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6" name="文本框 12"/>
            <p:cNvSpPr txBox="1">
              <a:spLocks noChangeArrowheads="1"/>
            </p:cNvSpPr>
            <p:nvPr/>
          </p:nvSpPr>
          <p:spPr bwMode="auto">
            <a:xfrm>
              <a:off x="3561" y="1695"/>
              <a:ext cx="9615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{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（男男）（男女）（女男）（女女）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}</a:t>
              </a: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2924175" y="1949450"/>
            <a:ext cx="5481638" cy="522288"/>
            <a:chOff x="2771" y="1695"/>
            <a:chExt cx="10405" cy="821"/>
          </a:xfrm>
        </p:grpSpPr>
        <p:graphicFrame>
          <p:nvGraphicFramePr>
            <p:cNvPr id="55308" name="对象 15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2771" y="1868"/>
            <a:ext cx="859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6" r:id="rId11" imgW="545465" imgH="304800" progId="Equation.KSEE3">
                    <p:embed/>
                  </p:oleObj>
                </mc:Choice>
                <mc:Fallback>
                  <p:oleObj r:id="rId11" imgW="545465" imgH="304800" progId="Equation.KSEE3">
                    <p:embed/>
                    <p:pic>
                      <p:nvPicPr>
                        <p:cNvPr id="0" name="对象 15">
                          <a:hlinkClick r:id="" action="ppaction://ole?verb=1"/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" y="1868"/>
                          <a:ext cx="859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9" name="文本框 16"/>
            <p:cNvSpPr txBox="1">
              <a:spLocks noChangeArrowheads="1"/>
            </p:cNvSpPr>
            <p:nvPr/>
          </p:nvSpPr>
          <p:spPr bwMode="auto">
            <a:xfrm>
              <a:off x="3561" y="1695"/>
              <a:ext cx="9615" cy="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latin typeface="Times New Roman" panose="02020603050405020304" pitchFamily="18" charset="0"/>
                  <a:ea typeface="楷体" panose="02010609060101010101" pitchFamily="49" charset="-122"/>
                </a:rPr>
                <a:t>{</a:t>
              </a:r>
              <a:r>
                <a:rPr lang="zh-CN" altLang="en-US" sz="2400" b="1">
                  <a:latin typeface="宋体" panose="02010600030101010101" pitchFamily="2" charset="-122"/>
                </a:rPr>
                <a:t>（男男）（男女）（女男）</a:t>
              </a:r>
              <a:r>
                <a:rPr lang="en-US" altLang="zh-CN" sz="2800" b="1">
                  <a:latin typeface="Times New Roman" panose="02020603050405020304" pitchFamily="18" charset="0"/>
                  <a:ea typeface="楷体" panose="02010609060101010101" pitchFamily="49" charset="-122"/>
                </a:rPr>
                <a:t>}</a:t>
              </a:r>
            </a:p>
          </p:txBody>
        </p:sp>
      </p:grpSp>
      <p:grpSp>
        <p:nvGrpSpPr>
          <p:cNvPr id="21" name="组合 20"/>
          <p:cNvGrpSpPr/>
          <p:nvPr/>
        </p:nvGrpSpPr>
        <p:grpSpPr bwMode="auto">
          <a:xfrm>
            <a:off x="2922588" y="2578100"/>
            <a:ext cx="4838700" cy="522288"/>
            <a:chOff x="2202" y="3722"/>
            <a:chExt cx="7621" cy="821"/>
          </a:xfrm>
        </p:grpSpPr>
        <p:sp>
          <p:nvSpPr>
            <p:cNvPr id="55311" name="文本框 17"/>
            <p:cNvSpPr txBox="1">
              <a:spLocks noChangeArrowheads="1"/>
            </p:cNvSpPr>
            <p:nvPr/>
          </p:nvSpPr>
          <p:spPr bwMode="auto">
            <a:xfrm>
              <a:off x="2861" y="3722"/>
              <a:ext cx="6962" cy="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latin typeface="Times New Roman" panose="02020603050405020304" pitchFamily="18" charset="0"/>
                  <a:ea typeface="楷体" panose="02010609060101010101" pitchFamily="49" charset="-122"/>
                </a:rPr>
                <a:t>{</a:t>
              </a:r>
              <a:r>
                <a:rPr lang="zh-CN" altLang="en-US" sz="2400" b="1">
                  <a:latin typeface="宋体" panose="02010600030101010101" pitchFamily="2" charset="-122"/>
                </a:rPr>
                <a:t>（男女）（女男）</a:t>
              </a:r>
              <a:r>
                <a:rPr lang="en-US" altLang="zh-CN" sz="2400" b="1">
                  <a:latin typeface="宋体" panose="02010600030101010101" pitchFamily="2" charset="-122"/>
                </a:rPr>
                <a:t>(</a:t>
              </a:r>
              <a:r>
                <a:rPr lang="zh-CN" altLang="en-US" sz="2400" b="1">
                  <a:latin typeface="宋体" panose="02010600030101010101" pitchFamily="2" charset="-122"/>
                </a:rPr>
                <a:t>女女</a:t>
              </a:r>
              <a:r>
                <a:rPr lang="en-US" altLang="zh-CN" sz="2400" b="1">
                  <a:latin typeface="宋体" panose="02010600030101010101" pitchFamily="2" charset="-122"/>
                </a:rPr>
                <a:t>)</a:t>
              </a:r>
              <a:r>
                <a:rPr lang="en-US" altLang="zh-CN" sz="2800" b="1">
                  <a:latin typeface="Times New Roman" panose="02020603050405020304" pitchFamily="18" charset="0"/>
                  <a:ea typeface="楷体" panose="02010609060101010101" pitchFamily="49" charset="-122"/>
                </a:rPr>
                <a:t>}</a:t>
              </a:r>
            </a:p>
          </p:txBody>
        </p:sp>
        <p:graphicFrame>
          <p:nvGraphicFramePr>
            <p:cNvPr id="55312" name="对象 18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2202" y="3903"/>
            <a:ext cx="713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7" r:id="rId13" imgW="545465" imgH="292100" progId="Equation.KSEE3">
                    <p:embed/>
                  </p:oleObj>
                </mc:Choice>
                <mc:Fallback>
                  <p:oleObj r:id="rId13" imgW="545465" imgH="292100" progId="Equation.KSEE3">
                    <p:embed/>
                    <p:pic>
                      <p:nvPicPr>
                        <p:cNvPr id="0" name="对象 18">
                          <a:hlinkClick r:id="" action="ppaction://ole?verb=1"/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2" y="3903"/>
                          <a:ext cx="713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552923" y="830169"/>
          <a:ext cx="11088687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Document" r:id="rId3" imgW="5171440" imgH="492125" progId="Word.Document.8">
                  <p:embed/>
                </p:oleObj>
              </mc:Choice>
              <mc:Fallback>
                <p:oleObj name="Document" r:id="rId3" imgW="5171440" imgH="492125" progId="Word.Document.8">
                  <p:embed/>
                  <p:pic>
                    <p:nvPicPr>
                      <p:cNvPr id="0" name="图片 2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3" y="830169"/>
                        <a:ext cx="11088687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87381" y="1838325"/>
          <a:ext cx="10972800" cy="198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Document" r:id="rId5" imgW="5003165" imgH="911225" progId="Word.Document.8">
                  <p:embed/>
                </p:oleObj>
              </mc:Choice>
              <mc:Fallback>
                <p:oleObj name="Document" r:id="rId5" imgW="5003165" imgH="911225" progId="Word.Document.8">
                  <p:embed/>
                  <p:pic>
                    <p:nvPicPr>
                      <p:cNvPr id="0" name="图片 2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81" y="1838325"/>
                        <a:ext cx="10972800" cy="198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587381" y="3642624"/>
          <a:ext cx="11083925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Document" r:id="rId7" imgW="5232400" imgH="1192530" progId="Word.Document.8">
                  <p:embed/>
                </p:oleObj>
              </mc:Choice>
              <mc:Fallback>
                <p:oleObj name="Document" r:id="rId7" imgW="5232400" imgH="1192530" progId="Word.Document.8">
                  <p:embed/>
                  <p:pic>
                    <p:nvPicPr>
                      <p:cNvPr id="0" name="图片 2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81" y="3642624"/>
                        <a:ext cx="11083925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982763" y="2447085"/>
          <a:ext cx="33194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Document" r:id="rId9" imgW="1428115" imgH="443230" progId="Word.Document.8">
                  <p:embed/>
                </p:oleObj>
              </mc:Choice>
              <mc:Fallback>
                <p:oleObj name="Document" r:id="rId9" imgW="1428115" imgH="443230" progId="Word.Document.8">
                  <p:embed/>
                  <p:pic>
                    <p:nvPicPr>
                      <p:cNvPr id="0" name="图片 2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763" y="2447085"/>
                        <a:ext cx="3319463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1" name="Object 5"/>
          <p:cNvGraphicFramePr>
            <a:graphicFrameLocks noChangeAspect="1"/>
          </p:cNvGraphicFramePr>
          <p:nvPr/>
        </p:nvGraphicFramePr>
        <p:xfrm>
          <a:off x="1311275" y="711200"/>
          <a:ext cx="8243888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Document" r:id="rId3" imgW="3850005" imgH="721995" progId="Word.Document.8">
                  <p:embed/>
                </p:oleObj>
              </mc:Choice>
              <mc:Fallback>
                <p:oleObj name="Document" r:id="rId3" imgW="3850005" imgH="721995" progId="Word.Document.8">
                  <p:embed/>
                  <p:pic>
                    <p:nvPicPr>
                      <p:cNvPr id="0" name="图片 4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711200"/>
                        <a:ext cx="8243888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275418" y="1940631"/>
          <a:ext cx="3756191" cy="1486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Document" r:id="rId5" imgW="1633220" imgH="648335" progId="Word.Document.8">
                  <p:embed/>
                </p:oleObj>
              </mc:Choice>
              <mc:Fallback>
                <p:oleObj name="Document" r:id="rId5" imgW="1633220" imgH="648335" progId="Word.Document.8">
                  <p:embed/>
                  <p:pic>
                    <p:nvPicPr>
                      <p:cNvPr id="0" name="图片 4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418" y="1940631"/>
                        <a:ext cx="3756191" cy="1486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95534" y="2018134"/>
          <a:ext cx="3084054" cy="1289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Document" r:id="rId7" imgW="1424940" imgH="595630" progId="Word.Document.8">
                  <p:embed/>
                </p:oleObj>
              </mc:Choice>
              <mc:Fallback>
                <p:oleObj name="Document" r:id="rId7" imgW="1424940" imgH="595630" progId="Word.Document.8">
                  <p:embed/>
                  <p:pic>
                    <p:nvPicPr>
                      <p:cNvPr id="0" name="图片 4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534" y="2018134"/>
                        <a:ext cx="3084054" cy="1289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7268976" y="1940632"/>
          <a:ext cx="2595989" cy="1359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Document" r:id="rId9" imgW="1136650" imgH="595630" progId="Word.Document.8">
                  <p:embed/>
                </p:oleObj>
              </mc:Choice>
              <mc:Fallback>
                <p:oleObj name="Document" r:id="rId9" imgW="1136650" imgH="595630" progId="Word.Document.8">
                  <p:embed/>
                  <p:pic>
                    <p:nvPicPr>
                      <p:cNvPr id="0" name="图片 4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8976" y="1940632"/>
                        <a:ext cx="2595989" cy="1359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578672" y="3240825"/>
          <a:ext cx="10734675" cy="229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" name="Document" r:id="rId11" imgW="4706620" imgH="1009015" progId="Word.Document.8">
                  <p:embed/>
                </p:oleObj>
              </mc:Choice>
              <mc:Fallback>
                <p:oleObj name="Document" r:id="rId11" imgW="4706620" imgH="1009015" progId="Word.Document.8">
                  <p:embed/>
                  <p:pic>
                    <p:nvPicPr>
                      <p:cNvPr id="0" name="图片 4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72" y="3240825"/>
                        <a:ext cx="10734675" cy="229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692150" y="860425"/>
          <a:ext cx="1244758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Document" r:id="rId3" imgW="4679315" imgH="290830" progId="Word.Document.8">
                  <p:embed/>
                </p:oleObj>
              </mc:Choice>
              <mc:Fallback>
                <p:oleObj name="Document" r:id="rId3" imgW="4679315" imgH="290830" progId="Word.Document.8">
                  <p:embed/>
                  <p:pic>
                    <p:nvPicPr>
                      <p:cNvPr id="0" name="图片 5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860425"/>
                        <a:ext cx="1244758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47327" y="1290731"/>
          <a:ext cx="10729913" cy="434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Document" r:id="rId5" imgW="4666615" imgH="1902460" progId="Word.Document.8">
                  <p:embed/>
                </p:oleObj>
              </mc:Choice>
              <mc:Fallback>
                <p:oleObj name="Document" r:id="rId5" imgW="4666615" imgH="1902460" progId="Word.Document.8">
                  <p:embed/>
                  <p:pic>
                    <p:nvPicPr>
                      <p:cNvPr id="0" name="图片 5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27" y="1290731"/>
                        <a:ext cx="10729913" cy="434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173727" y="3664013"/>
          <a:ext cx="4776226" cy="89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Document" r:id="rId7" imgW="2113280" imgH="400685" progId="Word.Document.8">
                  <p:embed/>
                </p:oleObj>
              </mc:Choice>
              <mc:Fallback>
                <p:oleObj name="Document" r:id="rId7" imgW="2113280" imgH="400685" progId="Word.Document.8">
                  <p:embed/>
                  <p:pic>
                    <p:nvPicPr>
                      <p:cNvPr id="0" name="图片 5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3727" y="3664013"/>
                        <a:ext cx="4776226" cy="894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380006" y="801875"/>
          <a:ext cx="565467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" name="Document" r:id="rId3" imgW="3530600" imgH="685800" progId="Word.Document.8">
                  <p:embed/>
                </p:oleObj>
              </mc:Choice>
              <mc:Fallback>
                <p:oleObj name="Document" r:id="rId3" imgW="3530600" imgH="685800" progId="Word.Document.8">
                  <p:embed/>
                  <p:pic>
                    <p:nvPicPr>
                      <p:cNvPr id="0" name="图片 62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006" y="801875"/>
                        <a:ext cx="5654675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380007" y="1611361"/>
          <a:ext cx="8508064" cy="1174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" name="Document" r:id="rId5" imgW="3418205" imgH="473710" progId="Word.Document.8">
                  <p:embed/>
                </p:oleObj>
              </mc:Choice>
              <mc:Fallback>
                <p:oleObj name="Document" r:id="rId5" imgW="3418205" imgH="473710" progId="Word.Document.8">
                  <p:embed/>
                  <p:pic>
                    <p:nvPicPr>
                      <p:cNvPr id="0" name="图片 6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007" y="1611361"/>
                        <a:ext cx="8508064" cy="1174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380006" y="2390479"/>
          <a:ext cx="1254258" cy="79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" name="Document" r:id="rId7" imgW="507365" imgH="318135" progId="Word.Document.8">
                  <p:embed/>
                </p:oleObj>
              </mc:Choice>
              <mc:Fallback>
                <p:oleObj name="Document" r:id="rId7" imgW="507365" imgH="318135" progId="Word.Document.8">
                  <p:embed/>
                  <p:pic>
                    <p:nvPicPr>
                      <p:cNvPr id="0" name="图片 62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006" y="2390479"/>
                        <a:ext cx="1254258" cy="790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1380006" y="4316505"/>
          <a:ext cx="8522903" cy="1214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" name="Document" r:id="rId9" imgW="3516630" imgH="504825" progId="Word.Document.8">
                  <p:embed/>
                </p:oleObj>
              </mc:Choice>
              <mc:Fallback>
                <p:oleObj name="Document" r:id="rId9" imgW="3516630" imgH="504825" progId="Word.Document.8">
                  <p:embed/>
                  <p:pic>
                    <p:nvPicPr>
                      <p:cNvPr id="0" name="图片 6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006" y="4316505"/>
                        <a:ext cx="8522903" cy="1214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379538" y="3676650"/>
          <a:ext cx="92202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" name="Document" r:id="rId11" imgW="3749040" imgH="324485" progId="Word.Document.8">
                  <p:embed/>
                </p:oleObj>
              </mc:Choice>
              <mc:Fallback>
                <p:oleObj name="Document" r:id="rId11" imgW="3749040" imgH="324485" progId="Word.Document.8">
                  <p:embed/>
                  <p:pic>
                    <p:nvPicPr>
                      <p:cNvPr id="0" name="图片 6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3676650"/>
                        <a:ext cx="92202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668338" y="2152650"/>
          <a:ext cx="10952162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" name="Document" r:id="rId13" imgW="4801235" imgH="608330" progId="Word.Document.8">
                  <p:embed/>
                </p:oleObj>
              </mc:Choice>
              <mc:Fallback>
                <p:oleObj name="Document" r:id="rId13" imgW="4801235" imgH="608330" progId="Word.Document.8">
                  <p:embed/>
                  <p:pic>
                    <p:nvPicPr>
                      <p:cNvPr id="0" name="图片 62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2152650"/>
                        <a:ext cx="10952162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27050" y="3005138"/>
          <a:ext cx="11166475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6" name="Document" r:id="rId3" imgW="5306060" imgH="761365" progId="Word.Document.8">
                  <p:embed/>
                </p:oleObj>
              </mc:Choice>
              <mc:Fallback>
                <p:oleObj name="Document" r:id="rId3" imgW="5306060" imgH="761365" progId="Word.Document.8">
                  <p:embed/>
                  <p:pic>
                    <p:nvPicPr>
                      <p:cNvPr id="0" name="图片 7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3005138"/>
                        <a:ext cx="11166475" cy="159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527050" y="850900"/>
          <a:ext cx="11176000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7" name="Document" r:id="rId5" imgW="4954270" imgH="1094740" progId="Word.Document.8">
                  <p:embed/>
                </p:oleObj>
              </mc:Choice>
              <mc:Fallback>
                <p:oleObj name="Document" r:id="rId5" imgW="4954270" imgH="1094740" progId="Word.Document.8">
                  <p:embed/>
                  <p:pic>
                    <p:nvPicPr>
                      <p:cNvPr id="0" name="图片 7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850900"/>
                        <a:ext cx="11176000" cy="245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106020" y="4389579"/>
          <a:ext cx="8590008" cy="1425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8" name="Document" r:id="rId7" imgW="4635500" imgH="774700" progId="Word.Document.8">
                  <p:embed/>
                </p:oleObj>
              </mc:Choice>
              <mc:Fallback>
                <p:oleObj name="Document" r:id="rId7" imgW="4635500" imgH="774700" progId="Word.Document.8">
                  <p:embed/>
                  <p:pic>
                    <p:nvPicPr>
                      <p:cNvPr id="0" name="图片 72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020" y="4389579"/>
                        <a:ext cx="8590008" cy="1425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282825" y="5016500"/>
          <a:ext cx="53228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9" name="Document" r:id="rId9" imgW="2247900" imgH="400685" progId="Word.Document.8">
                  <p:embed/>
                </p:oleObj>
              </mc:Choice>
              <mc:Fallback>
                <p:oleObj name="Document" r:id="rId9" imgW="2247900" imgH="400685" progId="Word.Document.8">
                  <p:embed/>
                  <p:pic>
                    <p:nvPicPr>
                      <p:cNvPr id="0" name="图片 7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5016500"/>
                        <a:ext cx="53228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7148748" y="4988649"/>
          <a:ext cx="4773519" cy="885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" name="Document" r:id="rId11" imgW="2113915" imgH="397510" progId="Word.Document.8">
                  <p:embed/>
                </p:oleObj>
              </mc:Choice>
              <mc:Fallback>
                <p:oleObj name="Document" r:id="rId11" imgW="2113915" imgH="397510" progId="Word.Document.8">
                  <p:embed/>
                  <p:pic>
                    <p:nvPicPr>
                      <p:cNvPr id="0" name="图片 7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8748" y="4988649"/>
                        <a:ext cx="4773519" cy="885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1106020" y="5064804"/>
          <a:ext cx="136048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1" name="Document" r:id="rId13" imgW="553720" imgH="299720" progId="Word.Document.8">
                  <p:embed/>
                </p:oleObj>
              </mc:Choice>
              <mc:Fallback>
                <p:oleObj name="Document" r:id="rId13" imgW="553720" imgH="299720" progId="Word.Document.8">
                  <p:embed/>
                  <p:pic>
                    <p:nvPicPr>
                      <p:cNvPr id="0" name="图片 72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020" y="5064804"/>
                        <a:ext cx="136048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3872355" y="5016500"/>
          <a:ext cx="53213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" name="Document" r:id="rId15" imgW="2247900" imgH="400685" progId="Word.Document.8">
                  <p:embed/>
                </p:oleObj>
              </mc:Choice>
              <mc:Fallback>
                <p:oleObj name="Document" r:id="rId15" imgW="2247900" imgH="400685" progId="Word.Document.8">
                  <p:embed/>
                  <p:pic>
                    <p:nvPicPr>
                      <p:cNvPr id="0" name="图片 7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2355" y="5016500"/>
                        <a:ext cx="53213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466507" y="1655441"/>
            <a:ext cx="507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32889" y="1655441"/>
            <a:ext cx="562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01024" y="1655441"/>
            <a:ext cx="485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3917" y="1714501"/>
            <a:ext cx="371473" cy="359491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52463" y="725488"/>
          <a:ext cx="11142662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Document" r:id="rId3" imgW="5327650" imgH="648335" progId="Word.Document.8">
                  <p:embed/>
                </p:oleObj>
              </mc:Choice>
              <mc:Fallback>
                <p:oleObj name="Document" r:id="rId3" imgW="5327650" imgH="648335" progId="Word.Document.8">
                  <p:embed/>
                  <p:pic>
                    <p:nvPicPr>
                      <p:cNvPr id="0" name="图片 82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725488"/>
                        <a:ext cx="11142662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652463" y="1828800"/>
          <a:ext cx="1106487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" name="Document" r:id="rId5" imgW="5159375" imgH="685165" progId="Word.Document.8">
                  <p:embed/>
                </p:oleObj>
              </mc:Choice>
              <mc:Fallback>
                <p:oleObj name="Document" r:id="rId5" imgW="5159375" imgH="685165" progId="Word.Document.8">
                  <p:embed/>
                  <p:pic>
                    <p:nvPicPr>
                      <p:cNvPr id="0" name="图片 8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1828800"/>
                        <a:ext cx="11064875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57488" y="3886200"/>
          <a:ext cx="8746364" cy="1470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6" name="Document" r:id="rId7" imgW="3851275" imgH="647700" progId="Word.Document.8">
                  <p:embed/>
                </p:oleObj>
              </mc:Choice>
              <mc:Fallback>
                <p:oleObj name="Document" r:id="rId7" imgW="3851275" imgH="647700" progId="Word.Document.8">
                  <p:embed/>
                  <p:pic>
                    <p:nvPicPr>
                      <p:cNvPr id="0" name="图片 8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488" y="3886200"/>
                        <a:ext cx="8746364" cy="1470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952626" y="2467769"/>
          <a:ext cx="8355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7" name="Document" r:id="rId9" imgW="3856355" imgH="400685" progId="Word.Document.8">
                  <p:embed/>
                </p:oleObj>
              </mc:Choice>
              <mc:Fallback>
                <p:oleObj name="Document" r:id="rId9" imgW="3856355" imgH="400685" progId="Word.Document.8">
                  <p:embed/>
                  <p:pic>
                    <p:nvPicPr>
                      <p:cNvPr id="0" name="图片 8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6" y="2467769"/>
                        <a:ext cx="83550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981200" y="2683669"/>
          <a:ext cx="8158162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8" name="Document" r:id="rId11" imgW="3856355" imgH="602615" progId="Word.Document.8">
                  <p:embed/>
                </p:oleObj>
              </mc:Choice>
              <mc:Fallback>
                <p:oleObj name="Document" r:id="rId11" imgW="3856355" imgH="602615" progId="Word.Document.8">
                  <p:embed/>
                  <p:pic>
                    <p:nvPicPr>
                      <p:cNvPr id="0" name="图片 82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683669"/>
                        <a:ext cx="8158162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101819" y="896938"/>
          <a:ext cx="11190287" cy="190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" name="Document" r:id="rId3" imgW="5400675" imgH="929640" progId="Word.Document.8">
                  <p:embed/>
                </p:oleObj>
              </mc:Choice>
              <mc:Fallback>
                <p:oleObj name="Document" r:id="rId3" imgW="5400675" imgH="929640" progId="Word.Document.8">
                  <p:embed/>
                  <p:pic>
                    <p:nvPicPr>
                      <p:cNvPr id="0" name="图片 93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819" y="896938"/>
                        <a:ext cx="11190287" cy="190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101819" y="2608403"/>
          <a:ext cx="8637008" cy="1063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" name="Document" r:id="rId5" imgW="3919855" imgH="484505" progId="Word.Document.8">
                  <p:embed/>
                </p:oleObj>
              </mc:Choice>
              <mc:Fallback>
                <p:oleObj name="Document" r:id="rId5" imgW="3919855" imgH="484505" progId="Word.Document.8">
                  <p:embed/>
                  <p:pic>
                    <p:nvPicPr>
                      <p:cNvPr id="0" name="图片 93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819" y="2608403"/>
                        <a:ext cx="8637008" cy="1063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101819" y="3543675"/>
          <a:ext cx="25400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" name="Document" r:id="rId7" imgW="1229995" imgH="301625" progId="Word.Document.8">
                  <p:embed/>
                </p:oleObj>
              </mc:Choice>
              <mc:Fallback>
                <p:oleObj name="Document" r:id="rId7" imgW="1229995" imgH="301625" progId="Word.Document.8">
                  <p:embed/>
                  <p:pic>
                    <p:nvPicPr>
                      <p:cNvPr id="0" name="图片 93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819" y="3543675"/>
                        <a:ext cx="25400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084607" y="3505574"/>
          <a:ext cx="571976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1" name="Document" r:id="rId9" imgW="2769235" imgH="389890" progId="Word.Document.8">
                  <p:embed/>
                </p:oleObj>
              </mc:Choice>
              <mc:Fallback>
                <p:oleObj name="Document" r:id="rId9" imgW="2769235" imgH="389890" progId="Word.Document.8">
                  <p:embed/>
                  <p:pic>
                    <p:nvPicPr>
                      <p:cNvPr id="0" name="图片 93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607" y="3505574"/>
                        <a:ext cx="571976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084606" y="4037388"/>
          <a:ext cx="499903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2" name="Document" r:id="rId11" imgW="2428240" imgH="614680" progId="Word.Document.8">
                  <p:embed/>
                </p:oleObj>
              </mc:Choice>
              <mc:Fallback>
                <p:oleObj name="Document" r:id="rId11" imgW="2428240" imgH="614680" progId="Word.Document.8">
                  <p:embed/>
                  <p:pic>
                    <p:nvPicPr>
                      <p:cNvPr id="0" name="图片 9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606" y="4037388"/>
                        <a:ext cx="499903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12763" y="942975"/>
          <a:ext cx="1804987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" name="Document" r:id="rId3" imgW="877570" imgH="523240" progId="Word.Document.8">
                  <p:embed/>
                </p:oleObj>
              </mc:Choice>
              <mc:Fallback>
                <p:oleObj name="Document" r:id="rId3" imgW="877570" imgH="523240" progId="Word.Document.8">
                  <p:embed/>
                  <p:pic>
                    <p:nvPicPr>
                      <p:cNvPr id="0" name="图片 103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942975"/>
                        <a:ext cx="1804987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646206" y="3533215"/>
          <a:ext cx="10977563" cy="210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Document" r:id="rId5" imgW="5223510" imgH="1005840" progId="Word.Document.8">
                  <p:embed/>
                </p:oleObj>
              </mc:Choice>
              <mc:Fallback>
                <p:oleObj name="Document" r:id="rId5" imgW="5223510" imgH="1005840" progId="Word.Document.8">
                  <p:embed/>
                  <p:pic>
                    <p:nvPicPr>
                      <p:cNvPr id="0" name="图片 103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06" y="3533215"/>
                        <a:ext cx="10977563" cy="210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457294" y="1753628"/>
          <a:ext cx="40735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" name="Document" r:id="rId7" imgW="1871345" imgH="360680" progId="Word.Document.8">
                  <p:embed/>
                </p:oleObj>
              </mc:Choice>
              <mc:Fallback>
                <p:oleObj name="Document" r:id="rId7" imgW="1871345" imgH="360680" progId="Word.Document.8">
                  <p:embed/>
                  <p:pic>
                    <p:nvPicPr>
                      <p:cNvPr id="0" name="图片 10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94" y="1753628"/>
                        <a:ext cx="40735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3248679" y="1759184"/>
          <a:ext cx="8251107" cy="957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Document" r:id="rId9" imgW="3782695" imgH="440690" progId="Word.Document.8">
                  <p:embed/>
                </p:oleObj>
              </mc:Choice>
              <mc:Fallback>
                <p:oleObj name="Document" r:id="rId9" imgW="3782695" imgH="440690" progId="Word.Document.8">
                  <p:embed/>
                  <p:pic>
                    <p:nvPicPr>
                      <p:cNvPr id="0" name="图片 10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679" y="1759184"/>
                        <a:ext cx="8251107" cy="957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46849" y="2531503"/>
          <a:ext cx="9233531" cy="119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Document" r:id="rId11" imgW="4198620" imgH="544195" progId="Word.Document.8">
                  <p:embed/>
                </p:oleObj>
              </mc:Choice>
              <mc:Fallback>
                <p:oleObj name="Document" r:id="rId11" imgW="4198620" imgH="544195" progId="Word.Document.8">
                  <p:embed/>
                  <p:pic>
                    <p:nvPicPr>
                      <p:cNvPr id="0" name="图片 103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49" y="2531503"/>
                        <a:ext cx="9233531" cy="119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1732150" y="936719"/>
          <a:ext cx="997108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Document" r:id="rId13" imgW="4829175" imgH="520065" progId="Word.Document.8">
                  <p:embed/>
                </p:oleObj>
              </mc:Choice>
              <mc:Fallback>
                <p:oleObj name="Document" r:id="rId13" imgW="4829175" imgH="520065" progId="Word.Document.8">
                  <p:embed/>
                  <p:pic>
                    <p:nvPicPr>
                      <p:cNvPr id="0" name="图片 103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150" y="936719"/>
                        <a:ext cx="997108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2368550" y="873125"/>
          <a:ext cx="8352580" cy="262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4" imgW="7556500" imgH="2628900" progId="Equation.3">
                  <p:embed/>
                </p:oleObj>
              </mc:Choice>
              <mc:Fallback>
                <p:oleObj name="Equation" r:id="rId4" imgW="7556500" imgH="2628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873125"/>
                        <a:ext cx="8352580" cy="262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2116139" y="3717926"/>
            <a:ext cx="1316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2998788" y="3805238"/>
          <a:ext cx="6769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6" imgW="6769100" imgH="457200" progId="Equation.3">
                  <p:embed/>
                </p:oleObj>
              </mc:Choice>
              <mc:Fallback>
                <p:oleObj name="Equation" r:id="rId6" imgW="67691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3805238"/>
                        <a:ext cx="6769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3000375" y="4471988"/>
          <a:ext cx="6108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8" imgW="6108700" imgH="469900" progId="Equation.3">
                  <p:embed/>
                </p:oleObj>
              </mc:Choice>
              <mc:Fallback>
                <p:oleObj name="Equation" r:id="rId8" imgW="61087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471988"/>
                        <a:ext cx="6108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2362200" y="800101"/>
            <a:ext cx="1212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 autoUpdateAnimBg="0"/>
      <p:bldP spid="788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1026"/>
          <p:cNvGraphicFramePr>
            <a:graphicFrameLocks noChangeAspect="1"/>
          </p:cNvGraphicFramePr>
          <p:nvPr/>
        </p:nvGraphicFramePr>
        <p:xfrm>
          <a:off x="2438400" y="914400"/>
          <a:ext cx="250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Equation" r:id="rId3" imgW="2501900" imgH="393700" progId="Equation.3">
                  <p:embed/>
                </p:oleObj>
              </mc:Choice>
              <mc:Fallback>
                <p:oleObj name="Equation" r:id="rId3" imgW="2501900" imgH="3937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14400"/>
                        <a:ext cx="2501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" name="Object 1027"/>
          <p:cNvGraphicFramePr>
            <a:graphicFrameLocks noChangeAspect="1"/>
          </p:cNvGraphicFramePr>
          <p:nvPr/>
        </p:nvGraphicFramePr>
        <p:xfrm>
          <a:off x="2063750" y="1628775"/>
          <a:ext cx="2044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Equation" r:id="rId5" imgW="2044700" imgH="469900" progId="Equation.3">
                  <p:embed/>
                </p:oleObj>
              </mc:Choice>
              <mc:Fallback>
                <p:oleObj name="Equation" r:id="rId5" imgW="2044700" imgH="46990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628775"/>
                        <a:ext cx="2044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" name="Object 1028"/>
          <p:cNvGraphicFramePr>
            <a:graphicFrameLocks noChangeAspect="1"/>
          </p:cNvGraphicFramePr>
          <p:nvPr/>
        </p:nvGraphicFramePr>
        <p:xfrm>
          <a:off x="4151313" y="1628775"/>
          <a:ext cx="6146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Equation" r:id="rId7" imgW="6146800" imgH="520700" progId="Equation.3">
                  <p:embed/>
                </p:oleObj>
              </mc:Choice>
              <mc:Fallback>
                <p:oleObj name="Equation" r:id="rId7" imgW="6146800" imgH="5207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1628775"/>
                        <a:ext cx="6146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1029"/>
          <p:cNvGraphicFramePr>
            <a:graphicFrameLocks noChangeAspect="1"/>
          </p:cNvGraphicFramePr>
          <p:nvPr/>
        </p:nvGraphicFramePr>
        <p:xfrm>
          <a:off x="4154488" y="2349500"/>
          <a:ext cx="566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Equation" r:id="rId9" imgW="5664200" imgH="838200" progId="Equation.3">
                  <p:embed/>
                </p:oleObj>
              </mc:Choice>
              <mc:Fallback>
                <p:oleObj name="Equation" r:id="rId9" imgW="5664200" imgH="83820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488" y="2349500"/>
                        <a:ext cx="5664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Rectangle 1031"/>
          <p:cNvSpPr>
            <a:spLocks noChangeArrowheads="1"/>
          </p:cNvSpPr>
          <p:nvPr/>
        </p:nvSpPr>
        <p:spPr bwMode="auto">
          <a:xfrm>
            <a:off x="2290763" y="3716338"/>
            <a:ext cx="8126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此模型被波利亚用来作为描述传染病的数学模型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400" b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80" name="Text Box 1032"/>
          <p:cNvSpPr txBox="1">
            <a:spLocks noChangeArrowheads="1"/>
          </p:cNvSpPr>
          <p:nvPr/>
        </p:nvSpPr>
        <p:spPr bwMode="auto">
          <a:xfrm>
            <a:off x="2063750" y="4432300"/>
            <a:ext cx="813593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当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>
                <a:latin typeface="Times New Roman" panose="02020603050405020304" pitchFamily="18" charset="0"/>
              </a:rPr>
              <a:t> &gt; 0 </a:t>
            </a:r>
            <a:r>
              <a:rPr kumimoji="1" lang="zh-CN" altLang="en-US" sz="2800">
                <a:latin typeface="Times New Roman" panose="02020603050405020304" pitchFamily="18" charset="0"/>
              </a:rPr>
              <a:t>时，由于每次取出球后会增加下一次也取到同色球的概率</a:t>
            </a:r>
            <a:r>
              <a:rPr kumimoji="1" lang="en-US" altLang="zh-CN" sz="2800">
                <a:latin typeface="Times New Roman" panose="02020603050405020304" pitchFamily="18" charset="0"/>
              </a:rPr>
              <a:t>.   </a:t>
            </a:r>
            <a:r>
              <a:rPr kumimoji="1" lang="zh-CN" altLang="en-US" sz="2800">
                <a:latin typeface="Times New Roman" panose="02020603050405020304" pitchFamily="18" charset="0"/>
              </a:rPr>
              <a:t>这是一个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传染病模型</a:t>
            </a:r>
            <a:r>
              <a:rPr kumimoji="1" lang="en-US" altLang="zh-CN" sz="2800">
                <a:latin typeface="Times New Roman" panose="02020603050405020304" pitchFamily="18" charset="0"/>
              </a:rPr>
              <a:t>.   </a:t>
            </a:r>
            <a:r>
              <a:rPr kumimoji="1" lang="zh-CN" altLang="en-US" sz="2800">
                <a:latin typeface="Times New Roman" panose="02020603050405020304" pitchFamily="18" charset="0"/>
              </a:rPr>
              <a:t>每次发现一个传染病患者，都会增加再传染的概率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9" grpId="0" autoUpdateAnimBg="0"/>
      <p:bldP spid="79880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k5ZWZiYmE1ZDE0Njc4ZjNmMjg3NWEyZGM2YjNkOD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宽屏</PresentationFormat>
  <Paragraphs>25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黑体</vt:lpstr>
      <vt:lpstr>楷体</vt:lpstr>
      <vt:lpstr>宋体</vt:lpstr>
      <vt:lpstr>微软雅黑</vt:lpstr>
      <vt:lpstr>Arial</vt:lpstr>
      <vt:lpstr>Times New Roman</vt:lpstr>
      <vt:lpstr>Office 主题​​</vt:lpstr>
      <vt:lpstr>Document</vt:lpstr>
      <vt:lpstr>WPS 公式 3.0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Administrator</cp:lastModifiedBy>
  <cp:revision>63</cp:revision>
  <dcterms:created xsi:type="dcterms:W3CDTF">2019-06-19T02:08:00Z</dcterms:created>
  <dcterms:modified xsi:type="dcterms:W3CDTF">2024-11-28T00:08:21Z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E0703C96E9E64D15AA1BD881239744C7_12</vt:lpwstr>
  </property>
</Properties>
</file>